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7"/>
  </p:notesMasterIdLst>
  <p:sldIdLst>
    <p:sldId id="410" r:id="rId2"/>
    <p:sldId id="578" r:id="rId3"/>
    <p:sldId id="577" r:id="rId4"/>
    <p:sldId id="353" r:id="rId5"/>
    <p:sldId id="354" r:id="rId6"/>
  </p:sldIdLst>
  <p:sldSz cx="6858000" cy="9144000" type="screen4x3"/>
  <p:notesSz cx="6807200"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465" userDrawn="1">
          <p15:clr>
            <a:srgbClr val="A4A3A4"/>
          </p15:clr>
        </p15:guide>
        <p15:guide id="2" pos="2160">
          <p15:clr>
            <a:srgbClr val="A4A3A4"/>
          </p15:clr>
        </p15:guide>
      </p15:sldGuideLst>
    </p:ext>
    <p:ext uri="{2D200454-40CA-4A62-9FC3-DE9A4176ACB9}">
      <p15:notesGuideLst xmlns:p15="http://schemas.microsoft.com/office/powerpoint/2012/main">
        <p15:guide id="1" orient="horz" pos="3130" userDrawn="1">
          <p15:clr>
            <a:srgbClr val="A4A3A4"/>
          </p15:clr>
        </p15:guide>
        <p15:guide id="2" pos="214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5968"/>
    <a:srgbClr val="EDEDED"/>
    <a:srgbClr val="FFCCCC"/>
    <a:srgbClr val="A17D3D"/>
    <a:srgbClr val="F2F2F2"/>
    <a:srgbClr val="AC1D3F"/>
    <a:srgbClr val="1C3765"/>
    <a:srgbClr val="A6A6A6"/>
    <a:srgbClr val="162A4C"/>
    <a:srgbClr val="2D7A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845" autoAdjust="0"/>
    <p:restoredTop sz="96357" autoAdjust="0"/>
  </p:normalViewPr>
  <p:slideViewPr>
    <p:cSldViewPr>
      <p:cViewPr>
        <p:scale>
          <a:sx n="125" d="100"/>
          <a:sy n="125" d="100"/>
        </p:scale>
        <p:origin x="456" y="-1182"/>
      </p:cViewPr>
      <p:guideLst>
        <p:guide orient="horz" pos="5465"/>
        <p:guide pos="2160"/>
      </p:guideLst>
    </p:cSldViewPr>
  </p:slideViewPr>
  <p:notesTextViewPr>
    <p:cViewPr>
      <p:scale>
        <a:sx n="150" d="100"/>
        <a:sy n="150" d="100"/>
      </p:scale>
      <p:origin x="0" y="0"/>
    </p:cViewPr>
  </p:notesTextViewPr>
  <p:notesViewPr>
    <p:cSldViewPr>
      <p:cViewPr varScale="1">
        <p:scale>
          <a:sx n="75" d="100"/>
          <a:sy n="75" d="100"/>
        </p:scale>
        <p:origin x="-4020" y="-84"/>
      </p:cViewPr>
      <p:guideLst>
        <p:guide orient="horz" pos="3130"/>
        <p:guide pos="214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6" y="6"/>
            <a:ext cx="2949533" cy="496427"/>
          </a:xfrm>
          <a:prstGeom prst="rect">
            <a:avLst/>
          </a:prstGeom>
        </p:spPr>
        <p:txBody>
          <a:bodyPr vert="horz" lIns="88249" tIns="44125" rIns="88249" bIns="44125" rtlCol="0"/>
          <a:lstStyle>
            <a:lvl1pPr algn="l">
              <a:defRPr sz="1200"/>
            </a:lvl1pPr>
          </a:lstStyle>
          <a:p>
            <a:endParaRPr lang="en-US"/>
          </a:p>
        </p:txBody>
      </p:sp>
      <p:sp>
        <p:nvSpPr>
          <p:cNvPr id="3" name="Date Placeholder 2"/>
          <p:cNvSpPr>
            <a:spLocks noGrp="1"/>
          </p:cNvSpPr>
          <p:nvPr>
            <p:ph type="dt" idx="1"/>
          </p:nvPr>
        </p:nvSpPr>
        <p:spPr>
          <a:xfrm>
            <a:off x="3856146" y="6"/>
            <a:ext cx="2949532" cy="496427"/>
          </a:xfrm>
          <a:prstGeom prst="rect">
            <a:avLst/>
          </a:prstGeom>
        </p:spPr>
        <p:txBody>
          <a:bodyPr vert="horz" lIns="88249" tIns="44125" rIns="88249" bIns="44125" rtlCol="0"/>
          <a:lstStyle>
            <a:lvl1pPr algn="r">
              <a:defRPr sz="1200"/>
            </a:lvl1pPr>
          </a:lstStyle>
          <a:p>
            <a:fld id="{E0B721B7-C9AF-4FEC-A17C-5AA640F24497}" type="datetimeFigureOut">
              <a:rPr lang="en-US" smtClean="0"/>
              <a:t>08-May-26</a:t>
            </a:fld>
            <a:endParaRPr lang="en-US"/>
          </a:p>
        </p:txBody>
      </p:sp>
      <p:sp>
        <p:nvSpPr>
          <p:cNvPr id="4" name="Slide Image Placeholder 3"/>
          <p:cNvSpPr>
            <a:spLocks noGrp="1" noRot="1" noChangeAspect="1"/>
          </p:cNvSpPr>
          <p:nvPr>
            <p:ph type="sldImg" idx="2"/>
          </p:nvPr>
        </p:nvSpPr>
        <p:spPr>
          <a:xfrm>
            <a:off x="2006600" y="746125"/>
            <a:ext cx="2794000" cy="3725863"/>
          </a:xfrm>
          <a:prstGeom prst="rect">
            <a:avLst/>
          </a:prstGeom>
          <a:noFill/>
          <a:ln w="12700">
            <a:solidFill>
              <a:prstClr val="black"/>
            </a:solidFill>
          </a:ln>
        </p:spPr>
        <p:txBody>
          <a:bodyPr vert="horz" lIns="88249" tIns="44125" rIns="88249" bIns="44125" rtlCol="0" anchor="ctr"/>
          <a:lstStyle/>
          <a:p>
            <a:endParaRPr lang="en-US"/>
          </a:p>
        </p:txBody>
      </p:sp>
      <p:sp>
        <p:nvSpPr>
          <p:cNvPr id="5" name="Notes Placeholder 4"/>
          <p:cNvSpPr>
            <a:spLocks noGrp="1"/>
          </p:cNvSpPr>
          <p:nvPr>
            <p:ph type="body" sz="quarter" idx="3"/>
          </p:nvPr>
        </p:nvSpPr>
        <p:spPr>
          <a:xfrm>
            <a:off x="681480" y="4720684"/>
            <a:ext cx="5445760" cy="4472471"/>
          </a:xfrm>
          <a:prstGeom prst="rect">
            <a:avLst/>
          </a:prstGeom>
        </p:spPr>
        <p:txBody>
          <a:bodyPr vert="horz" lIns="88249" tIns="44125" rIns="88249" bIns="4412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6" y="9441374"/>
            <a:ext cx="2949533" cy="496427"/>
          </a:xfrm>
          <a:prstGeom prst="rect">
            <a:avLst/>
          </a:prstGeom>
        </p:spPr>
        <p:txBody>
          <a:bodyPr vert="horz" lIns="88249" tIns="44125" rIns="88249" bIns="44125" rtlCol="0" anchor="b"/>
          <a:lstStyle>
            <a:lvl1pPr algn="l">
              <a:defRPr sz="1200"/>
            </a:lvl1pPr>
          </a:lstStyle>
          <a:p>
            <a:endParaRPr lang="en-US"/>
          </a:p>
        </p:txBody>
      </p:sp>
      <p:sp>
        <p:nvSpPr>
          <p:cNvPr id="7" name="Slide Number Placeholder 6"/>
          <p:cNvSpPr>
            <a:spLocks noGrp="1"/>
          </p:cNvSpPr>
          <p:nvPr>
            <p:ph type="sldNum" sz="quarter" idx="5"/>
          </p:nvPr>
        </p:nvSpPr>
        <p:spPr>
          <a:xfrm>
            <a:off x="3856146" y="9441374"/>
            <a:ext cx="2949532" cy="496427"/>
          </a:xfrm>
          <a:prstGeom prst="rect">
            <a:avLst/>
          </a:prstGeom>
        </p:spPr>
        <p:txBody>
          <a:bodyPr vert="horz" lIns="88249" tIns="44125" rIns="88249" bIns="44125" rtlCol="0" anchor="b"/>
          <a:lstStyle>
            <a:lvl1pPr algn="r">
              <a:defRPr sz="1200"/>
            </a:lvl1pPr>
          </a:lstStyle>
          <a:p>
            <a:fld id="{2CD61325-C3CE-4DCC-9429-B8D45AC53B9F}" type="slidenum">
              <a:rPr lang="en-US" smtClean="0"/>
              <a:t>‹#›</a:t>
            </a:fld>
            <a:endParaRPr lang="en-US"/>
          </a:p>
        </p:txBody>
      </p:sp>
    </p:spTree>
    <p:extLst>
      <p:ext uri="{BB962C8B-B14F-4D97-AF65-F5344CB8AC3E}">
        <p14:creationId xmlns:p14="http://schemas.microsoft.com/office/powerpoint/2010/main" val="100085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BEC07-B796-FBF0-EC48-E64CC6314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81B8B-4C9C-0128-3F2A-081F2D1B0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D090-7278-53B1-530D-6B9EFC847460}"/>
              </a:ext>
            </a:extLst>
          </p:cNvPr>
          <p:cNvSpPr>
            <a:spLocks noGrp="1"/>
          </p:cNvSpPr>
          <p:nvPr>
            <p:ph type="body" idx="1"/>
          </p:nvPr>
        </p:nvSpPr>
        <p:spPr/>
        <p:txBody>
          <a:bodyPr/>
          <a:lstStyle/>
          <a:p>
            <a:r>
              <a:rPr lang="th-TH" sz="950" dirty="0"/>
              <a:t>10 ตัวหลักแรก แต่ละช่วง มีตัวไหนบ้าง แต่ละรอบ </a:t>
            </a:r>
            <a:r>
              <a:rPr lang="en-US" sz="950" dirty="0"/>
              <a:t>list</a:t>
            </a:r>
            <a:r>
              <a:rPr lang="th-TH" sz="950" dirty="0"/>
              <a:t> มา ---</a:t>
            </a:r>
            <a:r>
              <a:rPr lang="en-US" sz="950" dirty="0"/>
              <a:t> </a:t>
            </a:r>
            <a:r>
              <a:rPr lang="th-TH" sz="950" dirty="0"/>
              <a:t>ค่อยเติม ตัวใหม่เข้ามา </a:t>
            </a:r>
            <a:r>
              <a:rPr lang="en-US" sz="950" dirty="0"/>
              <a:t>&gt;&gt;&gt;</a:t>
            </a:r>
            <a:r>
              <a:rPr lang="th-TH" sz="950" dirty="0"/>
              <a:t> </a:t>
            </a:r>
            <a:r>
              <a:rPr lang="en-US" sz="950" dirty="0"/>
              <a:t>infra + financial  &gt;&gt;&gt; </a:t>
            </a:r>
            <a:r>
              <a:rPr lang="th-TH" sz="950" dirty="0"/>
              <a:t>เข้าหุ้น </a:t>
            </a:r>
            <a:r>
              <a:rPr lang="en-US" sz="950" dirty="0"/>
              <a:t>top 10, + essential sector / infra . </a:t>
            </a:r>
            <a:r>
              <a:rPr lang="en-US" sz="950" dirty="0" err="1"/>
              <a:t>ict</a:t>
            </a:r>
            <a:r>
              <a:rPr lang="en-US" sz="950" dirty="0"/>
              <a:t> bank  / </a:t>
            </a:r>
            <a:endParaRPr lang="th-TH" sz="950" dirty="0"/>
          </a:p>
          <a:p>
            <a:r>
              <a:rPr lang="en-US" sz="950" dirty="0"/>
              <a:t>Manufact + earnings </a:t>
            </a:r>
            <a:r>
              <a:rPr lang="th-TH" sz="950" dirty="0"/>
              <a:t>ฟื้น</a:t>
            </a:r>
            <a:r>
              <a:rPr lang="en-US" sz="950" dirty="0"/>
              <a:t> &gt;&gt;&gt;&gt;</a:t>
            </a:r>
            <a:r>
              <a:rPr lang="th-TH" sz="950" dirty="0"/>
              <a:t> เทียบ 3 วงจร </a:t>
            </a:r>
          </a:p>
        </p:txBody>
      </p:sp>
      <p:sp>
        <p:nvSpPr>
          <p:cNvPr id="4" name="Slide Number Placeholder 3">
            <a:extLst>
              <a:ext uri="{FF2B5EF4-FFF2-40B4-BE49-F238E27FC236}">
                <a16:creationId xmlns:a16="http://schemas.microsoft.com/office/drawing/2014/main" id="{3DED5535-8828-2418-BED8-8BE95BEEAE40}"/>
              </a:ext>
            </a:extLst>
          </p:cNvPr>
          <p:cNvSpPr>
            <a:spLocks noGrp="1"/>
          </p:cNvSpPr>
          <p:nvPr>
            <p:ph type="sldNum" sz="quarter" idx="10"/>
          </p:nvPr>
        </p:nvSpPr>
        <p:spPr/>
        <p:txBody>
          <a:bodyPr/>
          <a:lstStyle/>
          <a:p>
            <a:fld id="{2CD61325-C3CE-4DCC-9429-B8D45AC53B9F}" type="slidenum">
              <a:rPr lang="en-US" smtClean="0"/>
              <a:t>1</a:t>
            </a:fld>
            <a:endParaRPr lang="en-US"/>
          </a:p>
        </p:txBody>
      </p:sp>
    </p:spTree>
    <p:extLst>
      <p:ext uri="{BB962C8B-B14F-4D97-AF65-F5344CB8AC3E}">
        <p14:creationId xmlns:p14="http://schemas.microsoft.com/office/powerpoint/2010/main" val="3015434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BEC07-B796-FBF0-EC48-E64CC6314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81B8B-4C9C-0128-3F2A-081F2D1B0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D090-7278-53B1-530D-6B9EFC847460}"/>
              </a:ext>
            </a:extLst>
          </p:cNvPr>
          <p:cNvSpPr>
            <a:spLocks noGrp="1"/>
          </p:cNvSpPr>
          <p:nvPr>
            <p:ph type="body" idx="1"/>
          </p:nvPr>
        </p:nvSpPr>
        <p:spPr/>
        <p:txBody>
          <a:bodyPr/>
          <a:lstStyle/>
          <a:p>
            <a:r>
              <a:rPr lang="th-TH" sz="950" dirty="0"/>
              <a:t>10 ตัวหลักแรก แต่ละช่วง มีตัวไหนบ้าง แต่ละรอบ </a:t>
            </a:r>
            <a:r>
              <a:rPr lang="en-US" sz="950" dirty="0"/>
              <a:t>list</a:t>
            </a:r>
            <a:r>
              <a:rPr lang="th-TH" sz="950" dirty="0"/>
              <a:t> มา ---</a:t>
            </a:r>
            <a:r>
              <a:rPr lang="en-US" sz="950" dirty="0"/>
              <a:t> </a:t>
            </a:r>
            <a:r>
              <a:rPr lang="th-TH" sz="950" dirty="0"/>
              <a:t>ค่อยเติม ตัวใหม่เข้ามา </a:t>
            </a:r>
            <a:r>
              <a:rPr lang="en-US" sz="950" dirty="0"/>
              <a:t>&gt;&gt;&gt;</a:t>
            </a:r>
            <a:r>
              <a:rPr lang="th-TH" sz="950" dirty="0"/>
              <a:t> </a:t>
            </a:r>
            <a:r>
              <a:rPr lang="en-US" sz="950" dirty="0"/>
              <a:t>infra + financial  &gt;&gt;&gt; </a:t>
            </a:r>
            <a:r>
              <a:rPr lang="th-TH" sz="950" dirty="0"/>
              <a:t>เข้าหุ้น </a:t>
            </a:r>
            <a:r>
              <a:rPr lang="en-US" sz="950" dirty="0"/>
              <a:t>top 10, + essential sector / infra . </a:t>
            </a:r>
            <a:r>
              <a:rPr lang="en-US" sz="950" dirty="0" err="1"/>
              <a:t>ict</a:t>
            </a:r>
            <a:r>
              <a:rPr lang="en-US" sz="950" dirty="0"/>
              <a:t> bank  / </a:t>
            </a:r>
            <a:endParaRPr lang="th-TH" sz="950" dirty="0"/>
          </a:p>
          <a:p>
            <a:r>
              <a:rPr lang="en-US" sz="950" dirty="0"/>
              <a:t>Manufact + earnings </a:t>
            </a:r>
            <a:r>
              <a:rPr lang="th-TH" sz="950" dirty="0"/>
              <a:t>ฟื้น</a:t>
            </a:r>
            <a:r>
              <a:rPr lang="en-US" sz="950" dirty="0"/>
              <a:t> &gt;&gt;&gt;&gt;</a:t>
            </a:r>
            <a:r>
              <a:rPr lang="th-TH" sz="950" dirty="0"/>
              <a:t> เทียบ 3 วงจร </a:t>
            </a:r>
          </a:p>
        </p:txBody>
      </p:sp>
      <p:sp>
        <p:nvSpPr>
          <p:cNvPr id="4" name="Slide Number Placeholder 3">
            <a:extLst>
              <a:ext uri="{FF2B5EF4-FFF2-40B4-BE49-F238E27FC236}">
                <a16:creationId xmlns:a16="http://schemas.microsoft.com/office/drawing/2014/main" id="{3DED5535-8828-2418-BED8-8BE95BEEAE40}"/>
              </a:ext>
            </a:extLst>
          </p:cNvPr>
          <p:cNvSpPr>
            <a:spLocks noGrp="1"/>
          </p:cNvSpPr>
          <p:nvPr>
            <p:ph type="sldNum" sz="quarter" idx="10"/>
          </p:nvPr>
        </p:nvSpPr>
        <p:spPr/>
        <p:txBody>
          <a:bodyPr/>
          <a:lstStyle/>
          <a:p>
            <a:fld id="{2CD61325-C3CE-4DCC-9429-B8D45AC53B9F}" type="slidenum">
              <a:rPr lang="en-US" smtClean="0"/>
              <a:t>2</a:t>
            </a:fld>
            <a:endParaRPr lang="en-US"/>
          </a:p>
        </p:txBody>
      </p:sp>
    </p:spTree>
    <p:extLst>
      <p:ext uri="{BB962C8B-B14F-4D97-AF65-F5344CB8AC3E}">
        <p14:creationId xmlns:p14="http://schemas.microsoft.com/office/powerpoint/2010/main" val="8918033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BEC07-B796-FBF0-EC48-E64CC6314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81B8B-4C9C-0128-3F2A-081F2D1B0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D090-7278-53B1-530D-6B9EFC847460}"/>
              </a:ext>
            </a:extLst>
          </p:cNvPr>
          <p:cNvSpPr>
            <a:spLocks noGrp="1"/>
          </p:cNvSpPr>
          <p:nvPr>
            <p:ph type="body" idx="1"/>
          </p:nvPr>
        </p:nvSpPr>
        <p:spPr/>
        <p:txBody>
          <a:bodyPr/>
          <a:lstStyle/>
          <a:p>
            <a:r>
              <a:rPr lang="th-TH" sz="950" dirty="0"/>
              <a:t>10 ตัวหลักแรก แต่ละช่วง มีตัวไหนบ้าง แต่ละรอบ </a:t>
            </a:r>
            <a:r>
              <a:rPr lang="en-US" sz="950" dirty="0"/>
              <a:t>list</a:t>
            </a:r>
            <a:r>
              <a:rPr lang="th-TH" sz="950" dirty="0"/>
              <a:t> มา ---</a:t>
            </a:r>
            <a:r>
              <a:rPr lang="en-US" sz="950" dirty="0"/>
              <a:t> </a:t>
            </a:r>
            <a:r>
              <a:rPr lang="th-TH" sz="950" dirty="0"/>
              <a:t>ค่อยเติม ตัวใหม่เข้ามา </a:t>
            </a:r>
            <a:r>
              <a:rPr lang="en-US" sz="950" dirty="0"/>
              <a:t>&gt;&gt;&gt;</a:t>
            </a:r>
            <a:r>
              <a:rPr lang="th-TH" sz="950" dirty="0"/>
              <a:t> </a:t>
            </a:r>
            <a:r>
              <a:rPr lang="en-US" sz="950" dirty="0"/>
              <a:t>infra + financial  &gt;&gt;&gt; </a:t>
            </a:r>
            <a:r>
              <a:rPr lang="th-TH" sz="950" dirty="0"/>
              <a:t>เข้าหุ้น </a:t>
            </a:r>
            <a:r>
              <a:rPr lang="en-US" sz="950" dirty="0"/>
              <a:t>top 10, + essential sector / infra . </a:t>
            </a:r>
            <a:r>
              <a:rPr lang="en-US" sz="950" dirty="0" err="1"/>
              <a:t>ict</a:t>
            </a:r>
            <a:r>
              <a:rPr lang="en-US" sz="950" dirty="0"/>
              <a:t> bank  / </a:t>
            </a:r>
            <a:endParaRPr lang="th-TH" sz="950" dirty="0"/>
          </a:p>
          <a:p>
            <a:r>
              <a:rPr lang="en-US" sz="950" dirty="0"/>
              <a:t>Manufact + earnings </a:t>
            </a:r>
            <a:r>
              <a:rPr lang="th-TH" sz="950" dirty="0"/>
              <a:t>ฟื้น</a:t>
            </a:r>
            <a:r>
              <a:rPr lang="en-US" sz="950" dirty="0"/>
              <a:t> &gt;&gt;&gt;&gt;</a:t>
            </a:r>
            <a:r>
              <a:rPr lang="th-TH" sz="950" dirty="0"/>
              <a:t> เทียบ 3 วงจร </a:t>
            </a:r>
          </a:p>
        </p:txBody>
      </p:sp>
      <p:sp>
        <p:nvSpPr>
          <p:cNvPr id="4" name="Slide Number Placeholder 3">
            <a:extLst>
              <a:ext uri="{FF2B5EF4-FFF2-40B4-BE49-F238E27FC236}">
                <a16:creationId xmlns:a16="http://schemas.microsoft.com/office/drawing/2014/main" id="{3DED5535-8828-2418-BED8-8BE95BEEAE40}"/>
              </a:ext>
            </a:extLst>
          </p:cNvPr>
          <p:cNvSpPr>
            <a:spLocks noGrp="1"/>
          </p:cNvSpPr>
          <p:nvPr>
            <p:ph type="sldNum" sz="quarter" idx="10"/>
          </p:nvPr>
        </p:nvSpPr>
        <p:spPr/>
        <p:txBody>
          <a:bodyPr/>
          <a:lstStyle/>
          <a:p>
            <a:fld id="{2CD61325-C3CE-4DCC-9429-B8D45AC53B9F}" type="slidenum">
              <a:rPr lang="en-US" smtClean="0"/>
              <a:t>3</a:t>
            </a:fld>
            <a:endParaRPr lang="en-US"/>
          </a:p>
        </p:txBody>
      </p:sp>
    </p:spTree>
    <p:extLst>
      <p:ext uri="{BB962C8B-B14F-4D97-AF65-F5344CB8AC3E}">
        <p14:creationId xmlns:p14="http://schemas.microsoft.com/office/powerpoint/2010/main" val="19522335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D61325-C3CE-4DCC-9429-B8D45AC53B9F}" type="slidenum">
              <a:rPr lang="en-US" smtClean="0"/>
              <a:t>4</a:t>
            </a:fld>
            <a:endParaRPr lang="en-US"/>
          </a:p>
        </p:txBody>
      </p:sp>
    </p:spTree>
    <p:extLst>
      <p:ext uri="{BB962C8B-B14F-4D97-AF65-F5344CB8AC3E}">
        <p14:creationId xmlns:p14="http://schemas.microsoft.com/office/powerpoint/2010/main" val="837200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2840568"/>
            <a:ext cx="5829300" cy="1960033"/>
          </a:xfrm>
        </p:spPr>
        <p:txBody>
          <a:bodyPr/>
          <a:lstStyle/>
          <a:p>
            <a:r>
              <a:rPr lang="en-US"/>
              <a:t>Click to edit Master title style</a:t>
            </a:r>
          </a:p>
        </p:txBody>
      </p:sp>
      <p:sp>
        <p:nvSpPr>
          <p:cNvPr id="3" name="Subtitle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047A014-A296-4BC7-B627-8AC2C71DC79A}" type="datetime1">
              <a:rPr lang="en-US" smtClean="0"/>
              <a:t>08-May-26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958133076"/>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CDB215-8979-4C4B-8BFF-594D56AA267D}" type="datetime1">
              <a:rPr lang="en-US" smtClean="0"/>
              <a:t>08-May-26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2975940730"/>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735" y="5875867"/>
            <a:ext cx="5829300" cy="181610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CDC7C3-8DAC-42B5-992E-67718E4C44E5}" type="datetime1">
              <a:rPr lang="en-US" smtClean="0"/>
              <a:t>08-May-26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4183853049"/>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57175"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628900"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9922C08-459E-4CD8-B5EB-31D4A04C5811}" type="datetime1">
              <a:rPr lang="en-US" smtClean="0"/>
              <a:t>08-May-26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3487619625"/>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6184"/>
            <a:ext cx="6172200" cy="1524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52B8B4D-A61B-4297-B86B-E166B5F5EE8D}" type="datetime1">
              <a:rPr lang="en-US" smtClean="0"/>
              <a:t>08-May-26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633737455"/>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01687B9-2387-4B48-9744-8FAC5A1118EE}" type="datetime1">
              <a:rPr lang="en-US" smtClean="0"/>
              <a:t>08-May-26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1819670914"/>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5B9114-7087-471F-AF84-A0410930461A}" type="datetime1">
              <a:rPr lang="en-US" smtClean="0"/>
              <a:t>08-May-26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983966796"/>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4067"/>
            <a:ext cx="2256235" cy="154940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F0D1AB-4ECA-4B83-BD72-A342722AC28A}" type="datetime1">
              <a:rPr lang="en-US" smtClean="0"/>
              <a:t>08-May-26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544862049"/>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216" y="6400800"/>
            <a:ext cx="4114800" cy="755651"/>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AE8CDB0-7FCC-4FCC-8459-EB9C4EEE4A94}" type="datetime1">
              <a:rPr lang="en-US" smtClean="0"/>
              <a:t>08-May-26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4174542708"/>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0A88985-0A44-49F4-87FE-C728C8ADB646}" type="datetime1">
              <a:rPr lang="en-US" smtClean="0"/>
              <a:t>08-May-26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2371311106"/>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729037" y="488951"/>
            <a:ext cx="1157288" cy="104013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57175" y="488951"/>
            <a:ext cx="3357563" cy="10401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C6D9C90-B8D6-4F33-9BC1-9F057637A2EC}" type="datetime1">
              <a:rPr lang="en-US" smtClean="0"/>
              <a:t>08-May-26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18977486"/>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0A8762D2-009C-48A5-857B-14D015A0005E}" type="datetime1">
              <a:rPr lang="en-US" smtClean="0"/>
              <a:t>08-May-26</a:t>
            </a:fld>
            <a:endParaRPr lang="en-US"/>
          </a:p>
        </p:txBody>
      </p:sp>
      <p:sp>
        <p:nvSpPr>
          <p:cNvPr id="5" name="Footer Placeholder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10452F14-DDA8-46AC-9FFA-A749C5B763D3}" type="slidenum">
              <a:rPr lang="en-US" smtClean="0"/>
              <a:t>‹#›</a:t>
            </a:fld>
            <a:endParaRPr lang="en-US"/>
          </a:p>
        </p:txBody>
      </p:sp>
      <p:sp>
        <p:nvSpPr>
          <p:cNvPr id="7" name="TextBox 6">
            <a:extLst>
              <a:ext uri="{FF2B5EF4-FFF2-40B4-BE49-F238E27FC236}">
                <a16:creationId xmlns:a16="http://schemas.microsoft.com/office/drawing/2014/main" id="{5A981C10-AEFA-B2EB-219B-8A42B27A49D4}"/>
              </a:ext>
            </a:extLst>
          </p:cNvPr>
          <p:cNvSpPr txBox="1"/>
          <p:nvPr userDrawn="1"/>
        </p:nvSpPr>
        <p:spPr>
          <a:xfrm>
            <a:off x="5373216" y="8821052"/>
            <a:ext cx="1440160" cy="215444"/>
          </a:xfrm>
          <a:prstGeom prst="rect">
            <a:avLst/>
          </a:prstGeom>
          <a:noFill/>
        </p:spPr>
        <p:txBody>
          <a:bodyPr wrap="square">
            <a:spAutoFit/>
          </a:bodyPr>
          <a:lstStyle/>
          <a:p>
            <a:r>
              <a:rPr lang="en-US" sz="800" b="0" dirty="0">
                <a:solidFill>
                  <a:schemeClr val="bg1">
                    <a:lumMod val="50000"/>
                  </a:schemeClr>
                </a:solidFill>
                <a:effectLst/>
                <a:latin typeface="Arial" panose="020B0604020202020204" pitchFamily="34" charset="0"/>
                <a:ea typeface="Times New Roman" panose="02020603050405020304" pitchFamily="18" charset="0"/>
                <a:cs typeface="Arial" panose="020B0604020202020204" pitchFamily="34" charset="0"/>
              </a:rPr>
              <a:t>      Wealth Strategy </a:t>
            </a:r>
            <a:fld id="{10452F14-DDA8-46AC-9FFA-A749C5B763D3}" type="slidenum">
              <a:rPr lang="en-US" sz="800" b="0" smtClean="0">
                <a:solidFill>
                  <a:schemeClr val="bg1">
                    <a:lumMod val="50000"/>
                  </a:schemeClr>
                </a:solidFill>
                <a:latin typeface="Arial" panose="020B0604020202020204" pitchFamily="34" charset="0"/>
                <a:cs typeface="Arial" panose="020B0604020202020204" pitchFamily="34" charset="0"/>
              </a:rPr>
              <a:pPr/>
              <a:t>‹#›</a:t>
            </a:fld>
            <a:r>
              <a:rPr lang="en-US" sz="800" b="0" dirty="0">
                <a:solidFill>
                  <a:schemeClr val="bg1">
                    <a:lumMod val="50000"/>
                  </a:schemeClr>
                </a:solidFill>
                <a:effectLst/>
                <a:latin typeface="Arial" panose="020B0604020202020204" pitchFamily="34" charset="0"/>
                <a:ea typeface="Times New Roman" panose="02020603050405020304" pitchFamily="18" charset="0"/>
                <a:cs typeface="Arial" panose="020B0604020202020204" pitchFamily="34" charset="0"/>
              </a:rPr>
              <a:t> </a:t>
            </a:r>
            <a:endParaRPr lang="en-US" sz="800" b="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21983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emf"/></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9AD5D-75DD-7C3E-4E12-95FE9E6DA851}"/>
            </a:ext>
          </a:extLst>
        </p:cNvPr>
        <p:cNvGrpSpPr/>
        <p:nvPr/>
      </p:nvGrpSpPr>
      <p:grpSpPr>
        <a:xfrm>
          <a:off x="0" y="0"/>
          <a:ext cx="0" cy="0"/>
          <a:chOff x="0" y="0"/>
          <a:chExt cx="0" cy="0"/>
        </a:xfrm>
      </p:grpSpPr>
      <p:pic>
        <p:nvPicPr>
          <p:cNvPr id="5" name="Picture 4" descr="Watercolor of trees in the fog&#10;&#10;Description automatically generated">
            <a:extLst>
              <a:ext uri="{FF2B5EF4-FFF2-40B4-BE49-F238E27FC236}">
                <a16:creationId xmlns:a16="http://schemas.microsoft.com/office/drawing/2014/main" id="{FB46D737-2FF6-5661-E106-CBC8C1117565}"/>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6" r="16272" b="3959"/>
          <a:stretch/>
        </p:blipFill>
        <p:spPr>
          <a:xfrm>
            <a:off x="0" y="0"/>
            <a:ext cx="6858000" cy="9144000"/>
          </a:xfrm>
          <a:prstGeom prst="rect">
            <a:avLst/>
          </a:prstGeom>
        </p:spPr>
      </p:pic>
      <p:sp>
        <p:nvSpPr>
          <p:cNvPr id="24" name="TextBox 23">
            <a:extLst>
              <a:ext uri="{FF2B5EF4-FFF2-40B4-BE49-F238E27FC236}">
                <a16:creationId xmlns:a16="http://schemas.microsoft.com/office/drawing/2014/main" id="{8C8CCC20-1C5E-6125-6A36-E7FC910AC4BE}"/>
              </a:ext>
            </a:extLst>
          </p:cNvPr>
          <p:cNvSpPr txBox="1"/>
          <p:nvPr/>
        </p:nvSpPr>
        <p:spPr>
          <a:xfrm>
            <a:off x="5517232" y="454697"/>
            <a:ext cx="1196244" cy="246221"/>
          </a:xfrm>
          <a:prstGeom prst="rect">
            <a:avLst/>
          </a:prstGeom>
          <a:noFill/>
        </p:spPr>
        <p:txBody>
          <a:bodyPr wrap="square" rtlCol="0">
            <a:spAutoFit/>
          </a:bodyPr>
          <a:lstStyle/>
          <a:p>
            <a:r>
              <a:rPr lang="en-US" sz="1000" b="1" dirty="0">
                <a:solidFill>
                  <a:schemeClr val="tx2"/>
                </a:solidFill>
                <a:latin typeface="BLS Bold" panose="00000800000000000000" pitchFamily="50" charset="-34"/>
                <a:cs typeface="BLS Bold" panose="00000800000000000000" pitchFamily="50" charset="-34"/>
              </a:rPr>
              <a:t>May 11, 2026</a:t>
            </a:r>
          </a:p>
        </p:txBody>
      </p:sp>
      <p:pic>
        <p:nvPicPr>
          <p:cNvPr id="40" name="Picture 2">
            <a:extLst>
              <a:ext uri="{FF2B5EF4-FFF2-40B4-BE49-F238E27FC236}">
                <a16:creationId xmlns:a16="http://schemas.microsoft.com/office/drawing/2014/main" id="{D40CF1FE-6670-0F86-7CBF-4A474C22E170}"/>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3218" y="194588"/>
            <a:ext cx="1725613"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TextBox 41">
            <a:extLst>
              <a:ext uri="{FF2B5EF4-FFF2-40B4-BE49-F238E27FC236}">
                <a16:creationId xmlns:a16="http://schemas.microsoft.com/office/drawing/2014/main" id="{E1F831D5-46CB-EB78-341D-EACF1E4B4898}"/>
              </a:ext>
            </a:extLst>
          </p:cNvPr>
          <p:cNvSpPr txBox="1"/>
          <p:nvPr/>
        </p:nvSpPr>
        <p:spPr>
          <a:xfrm>
            <a:off x="1162281" y="138550"/>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 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44" name="TextBox 43">
            <a:extLst>
              <a:ext uri="{FF2B5EF4-FFF2-40B4-BE49-F238E27FC236}">
                <a16:creationId xmlns:a16="http://schemas.microsoft.com/office/drawing/2014/main" id="{7D94CCD9-3CD7-7EBD-08D1-4EDC6069CD8F}"/>
              </a:ext>
            </a:extLst>
          </p:cNvPr>
          <p:cNvSpPr txBox="1"/>
          <p:nvPr/>
        </p:nvSpPr>
        <p:spPr>
          <a:xfrm>
            <a:off x="259758" y="539552"/>
            <a:ext cx="4825426" cy="1015663"/>
          </a:xfrm>
          <a:prstGeom prst="rect">
            <a:avLst/>
          </a:prstGeom>
          <a:noFill/>
        </p:spPr>
        <p:txBody>
          <a:bodyPr wrap="square" rtlCol="0">
            <a:spAutoFit/>
          </a:bodyPr>
          <a:lstStyle/>
          <a:p>
            <a:r>
              <a:rPr lang="el-GR" sz="6000" dirty="0">
                <a:solidFill>
                  <a:schemeClr val="accent3">
                    <a:lumMod val="75000"/>
                  </a:schemeClr>
                </a:solidFill>
                <a:latin typeface="BLS Condensed Bold" pitchFamily="2" charset="-34"/>
                <a:ea typeface="Tahoma" pitchFamily="34" charset="0"/>
                <a:cs typeface="BLS Condensed Bold" pitchFamily="2" charset="-34"/>
              </a:rPr>
              <a:t>α</a:t>
            </a:r>
            <a:r>
              <a:rPr lang="en-US" sz="3600" dirty="0" err="1">
                <a:latin typeface="BLS Condensed Bold" pitchFamily="2" charset="-34"/>
                <a:ea typeface="Tahoma" pitchFamily="34" charset="0"/>
                <a:cs typeface="BLS Condensed Bold" pitchFamily="2" charset="-34"/>
              </a:rPr>
              <a:t>lpha</a:t>
            </a:r>
            <a:r>
              <a:rPr lang="en-US" sz="3600" dirty="0">
                <a:latin typeface="BLS Condensed Bold" pitchFamily="2" charset="-34"/>
                <a:ea typeface="Tahoma" pitchFamily="34" charset="0"/>
                <a:cs typeface="BLS Condensed Bold" pitchFamily="2" charset="-34"/>
              </a:rPr>
              <a:t> </a:t>
            </a:r>
            <a:r>
              <a:rPr lang="en-US" sz="3200" dirty="0">
                <a:latin typeface="BLS Condensed Bold" pitchFamily="2" charset="-34"/>
                <a:ea typeface="Tahoma" pitchFamily="34" charset="0"/>
                <a:cs typeface="BLS Condensed Bold" pitchFamily="2" charset="-34"/>
              </a:rPr>
              <a:t>PULSE </a:t>
            </a:r>
            <a:r>
              <a:rPr lang="en-US" sz="2800" b="1" dirty="0">
                <a:solidFill>
                  <a:schemeClr val="tx1">
                    <a:lumMod val="65000"/>
                    <a:lumOff val="35000"/>
                  </a:schemeClr>
                </a:solidFill>
                <a:latin typeface="BLS Condensed "/>
                <a:ea typeface="Tahoma" pitchFamily="34" charset="0"/>
                <a:cs typeface="BLS Condensed Bold" pitchFamily="2" charset="-34"/>
              </a:rPr>
              <a:t>|</a:t>
            </a:r>
            <a:r>
              <a:rPr lang="en-GB" sz="3000" dirty="0">
                <a:solidFill>
                  <a:srgbClr val="DB002A"/>
                </a:solidFill>
                <a:latin typeface="BLS Condensed Bold" pitchFamily="2" charset="-34"/>
                <a:ea typeface="Tahoma" pitchFamily="34" charset="0"/>
                <a:cs typeface="BLS Condensed Bold" pitchFamily="2" charset="-34"/>
              </a:rPr>
              <a:t> </a:t>
            </a:r>
            <a:r>
              <a:rPr lang="en-US" sz="2400" dirty="0">
                <a:solidFill>
                  <a:schemeClr val="bg1">
                    <a:lumMod val="50000"/>
                  </a:schemeClr>
                </a:solidFill>
                <a:latin typeface="BLS Condensed Bold" pitchFamily="2" charset="-34"/>
                <a:ea typeface="Tahoma" pitchFamily="34" charset="0"/>
                <a:cs typeface="BLS Condensed Bold" pitchFamily="2" charset="-34"/>
              </a:rPr>
              <a:t>W</a:t>
            </a:r>
            <a:r>
              <a:rPr lang="en-GB" sz="2400" dirty="0" err="1">
                <a:solidFill>
                  <a:schemeClr val="bg1">
                    <a:lumMod val="50000"/>
                  </a:schemeClr>
                </a:solidFill>
                <a:latin typeface="BLS Condensed Bold" pitchFamily="2" charset="-34"/>
                <a:ea typeface="Tahoma" pitchFamily="34" charset="0"/>
                <a:cs typeface="BLS Condensed Bold" pitchFamily="2" charset="-34"/>
              </a:rPr>
              <a:t>eekly</a:t>
            </a:r>
            <a:r>
              <a:rPr lang="en-GB" sz="2400" dirty="0">
                <a:solidFill>
                  <a:schemeClr val="bg1">
                    <a:lumMod val="50000"/>
                  </a:schemeClr>
                </a:solidFill>
                <a:latin typeface="BLS Condensed Bold" pitchFamily="2" charset="-34"/>
                <a:ea typeface="Tahoma" pitchFamily="34" charset="0"/>
                <a:cs typeface="BLS Condensed Bold" pitchFamily="2" charset="-34"/>
              </a:rPr>
              <a:t> strategy</a:t>
            </a:r>
            <a:endParaRPr lang="en-GB" sz="2000" dirty="0">
              <a:solidFill>
                <a:schemeClr val="bg1">
                  <a:lumMod val="50000"/>
                </a:schemeClr>
              </a:solidFill>
              <a:latin typeface="BLS Condensed Bold" pitchFamily="2" charset="-34"/>
              <a:ea typeface="Tahoma" pitchFamily="34" charset="0"/>
              <a:cs typeface="BLS Condensed Bold" pitchFamily="2" charset="-34"/>
            </a:endParaRPr>
          </a:p>
        </p:txBody>
      </p:sp>
      <p:sp>
        <p:nvSpPr>
          <p:cNvPr id="45" name="TextBox 44">
            <a:extLst>
              <a:ext uri="{FF2B5EF4-FFF2-40B4-BE49-F238E27FC236}">
                <a16:creationId xmlns:a16="http://schemas.microsoft.com/office/drawing/2014/main" id="{EDDE772F-3591-A6B2-8675-AD72CCBF567B}"/>
              </a:ext>
            </a:extLst>
          </p:cNvPr>
          <p:cNvSpPr txBox="1"/>
          <p:nvPr/>
        </p:nvSpPr>
        <p:spPr>
          <a:xfrm>
            <a:off x="44624" y="1450975"/>
            <a:ext cx="7069675" cy="353943"/>
          </a:xfrm>
          <a:prstGeom prst="rect">
            <a:avLst/>
          </a:prstGeom>
          <a:noFill/>
          <a:ln>
            <a:noFill/>
          </a:ln>
        </p:spPr>
        <p:txBody>
          <a:bodyPr wrap="square" rtlCol="0">
            <a:spAutoFit/>
          </a:bodyPr>
          <a:lstStyle/>
          <a:p>
            <a:r>
              <a:rPr lang="en-US" altLang="en-US" sz="1700" b="1" dirty="0">
                <a:solidFill>
                  <a:schemeClr val="tx2"/>
                </a:solidFill>
                <a:latin typeface="BLS Condensed" pitchFamily="2" charset="-34"/>
                <a:ea typeface="Tahoma" pitchFamily="34" charset="0"/>
                <a:cs typeface="BLS Condensed" pitchFamily="2" charset="-34"/>
              </a:rPr>
              <a:t>1Q26 First-Batch Earnings Checkpoint | </a:t>
            </a:r>
            <a:r>
              <a:rPr lang="th-TH" altLang="en-US" sz="1700" b="1" dirty="0">
                <a:solidFill>
                  <a:schemeClr val="tx2"/>
                </a:solidFill>
                <a:latin typeface="BLS Condensed" pitchFamily="2" charset="-34"/>
                <a:ea typeface="Tahoma" pitchFamily="34" charset="0"/>
                <a:cs typeface="BLS Condensed" pitchFamily="2" charset="-34"/>
              </a:rPr>
              <a:t>สัญญาณแรกจากฤดูงบ</a:t>
            </a:r>
            <a:r>
              <a:rPr lang="en-US" altLang="en-US" sz="1700" b="1" dirty="0">
                <a:solidFill>
                  <a:schemeClr val="tx2"/>
                </a:solidFill>
                <a:latin typeface="BLS Condensed" pitchFamily="2" charset="-34"/>
                <a:ea typeface="Tahoma" pitchFamily="34" charset="0"/>
                <a:cs typeface="BLS Condensed" pitchFamily="2" charset="-34"/>
              </a:rPr>
              <a:t> </a:t>
            </a:r>
            <a:r>
              <a:rPr lang="th-TH" altLang="en-US" sz="1700" b="1" dirty="0">
                <a:solidFill>
                  <a:schemeClr val="tx2"/>
                </a:solidFill>
                <a:latin typeface="BLS Condensed" pitchFamily="2" charset="-34"/>
                <a:ea typeface="Tahoma" pitchFamily="34" charset="0"/>
                <a:cs typeface="BLS Condensed" pitchFamily="2" charset="-34"/>
              </a:rPr>
              <a:t>… กำลังบอกอะไร</a:t>
            </a:r>
            <a:endParaRPr lang="en-US" altLang="en-US" sz="1700" b="1" dirty="0">
              <a:solidFill>
                <a:schemeClr val="tx2"/>
              </a:solidFill>
              <a:latin typeface="BLS Condensed" pitchFamily="2" charset="-34"/>
              <a:ea typeface="Tahoma" pitchFamily="34" charset="0"/>
              <a:cs typeface="BLS Condensed" pitchFamily="2" charset="-34"/>
            </a:endParaRPr>
          </a:p>
        </p:txBody>
      </p:sp>
      <p:sp>
        <p:nvSpPr>
          <p:cNvPr id="49" name="TextBox 48">
            <a:extLst>
              <a:ext uri="{FF2B5EF4-FFF2-40B4-BE49-F238E27FC236}">
                <a16:creationId xmlns:a16="http://schemas.microsoft.com/office/drawing/2014/main" id="{5CFB5291-3F9E-F04A-57ED-EC8540FF0A70}"/>
              </a:ext>
            </a:extLst>
          </p:cNvPr>
          <p:cNvSpPr txBox="1"/>
          <p:nvPr/>
        </p:nvSpPr>
        <p:spPr>
          <a:xfrm>
            <a:off x="4039911" y="1838921"/>
            <a:ext cx="2848745" cy="246221"/>
          </a:xfrm>
          <a:prstGeom prst="rect">
            <a:avLst/>
          </a:prstGeom>
          <a:noFill/>
        </p:spPr>
        <p:txBody>
          <a:bodyPr wrap="square" rtlCol="0">
            <a:spAutoFit/>
          </a:bodyPr>
          <a:lstStyle/>
          <a:p>
            <a:r>
              <a:rPr lang="en-US" sz="1000" b="1" dirty="0">
                <a:solidFill>
                  <a:schemeClr val="tx2"/>
                </a:solidFill>
                <a:latin typeface="BLS Bold" panose="00000800000000000000" pitchFamily="2" charset="-34"/>
                <a:cs typeface="BLS Bold" panose="00000800000000000000" pitchFamily="2" charset="-34"/>
              </a:rPr>
              <a:t>SET target: 15</a:t>
            </a:r>
            <a:r>
              <a:rPr lang="th-TH" sz="1000" b="1" dirty="0">
                <a:solidFill>
                  <a:schemeClr val="tx2"/>
                </a:solidFill>
                <a:latin typeface="BLS Bold" panose="00000800000000000000" pitchFamily="2" charset="-34"/>
                <a:cs typeface="BLS Bold" panose="00000800000000000000" pitchFamily="2" charset="-34"/>
              </a:rPr>
              <a:t>5</a:t>
            </a:r>
            <a:r>
              <a:rPr lang="en-US" sz="1000" b="1" dirty="0">
                <a:solidFill>
                  <a:schemeClr val="tx2"/>
                </a:solidFill>
                <a:latin typeface="BLS Bold" panose="00000800000000000000" pitchFamily="2" charset="-34"/>
                <a:cs typeface="BLS Bold" panose="00000800000000000000" pitchFamily="2" charset="-34"/>
              </a:rPr>
              <a:t>0</a:t>
            </a:r>
          </a:p>
        </p:txBody>
      </p:sp>
      <p:cxnSp>
        <p:nvCxnSpPr>
          <p:cNvPr id="51" name="Straight Connector 50">
            <a:extLst>
              <a:ext uri="{FF2B5EF4-FFF2-40B4-BE49-F238E27FC236}">
                <a16:creationId xmlns:a16="http://schemas.microsoft.com/office/drawing/2014/main" id="{AA859AB4-FEB7-E719-3157-D4109949119E}"/>
              </a:ext>
            </a:extLst>
          </p:cNvPr>
          <p:cNvCxnSpPr>
            <a:cxnSpLocks/>
          </p:cNvCxnSpPr>
          <p:nvPr/>
        </p:nvCxnSpPr>
        <p:spPr>
          <a:xfrm>
            <a:off x="4008212" y="2092837"/>
            <a:ext cx="274320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FCD14692-5E72-A147-72A0-450B7B453809}"/>
              </a:ext>
            </a:extLst>
          </p:cNvPr>
          <p:cNvSpPr txBox="1"/>
          <p:nvPr/>
        </p:nvSpPr>
        <p:spPr>
          <a:xfrm>
            <a:off x="4018706" y="2073840"/>
            <a:ext cx="2290634" cy="230832"/>
          </a:xfrm>
          <a:prstGeom prst="rect">
            <a:avLst/>
          </a:prstGeom>
          <a:noFill/>
        </p:spPr>
        <p:txBody>
          <a:bodyPr wrap="square" lIns="0" rIns="0" rtlCol="0">
            <a:spAutoFit/>
          </a:bodyPr>
          <a:lstStyle/>
          <a:p>
            <a:r>
              <a:rPr lang="en-US" sz="900" dirty="0">
                <a:solidFill>
                  <a:srgbClr val="A17D3D"/>
                </a:solidFill>
                <a:latin typeface="BLS Condensed" pitchFamily="2" charset="-34"/>
                <a:ea typeface="Tahoma" pitchFamily="34" charset="0"/>
                <a:cs typeface="BLS Condensed" pitchFamily="2" charset="-34"/>
              </a:rPr>
              <a:t>Weekly PULSE:</a:t>
            </a:r>
          </a:p>
        </p:txBody>
      </p:sp>
      <p:sp>
        <p:nvSpPr>
          <p:cNvPr id="2" name="TextBox 1">
            <a:extLst>
              <a:ext uri="{FF2B5EF4-FFF2-40B4-BE49-F238E27FC236}">
                <a16:creationId xmlns:a16="http://schemas.microsoft.com/office/drawing/2014/main" id="{9E85ABDE-7CE6-F0E6-1824-B9305003B1AB}"/>
              </a:ext>
            </a:extLst>
          </p:cNvPr>
          <p:cNvSpPr txBox="1"/>
          <p:nvPr/>
        </p:nvSpPr>
        <p:spPr>
          <a:xfrm>
            <a:off x="188640" y="1859779"/>
            <a:ext cx="3711820" cy="7330725"/>
          </a:xfrm>
          <a:prstGeom prst="rect">
            <a:avLst/>
          </a:prstGeom>
          <a:solidFill>
            <a:schemeClr val="accent5">
              <a:lumMod val="20000"/>
              <a:lumOff val="80000"/>
            </a:schemeClr>
          </a:solidFill>
          <a:ln>
            <a:noFill/>
          </a:ln>
        </p:spPr>
        <p:txBody>
          <a:bodyPr wrap="square" rtlCol="0">
            <a:spAutoFit/>
          </a:bodyPr>
          <a:lstStyle/>
          <a:p>
            <a:pPr algn="thaiDist">
              <a:lnSpc>
                <a:spcPct val="120000"/>
              </a:lnSpc>
              <a:spcBef>
                <a:spcPts val="400"/>
              </a:spcBef>
              <a:buSzPct val="120000"/>
            </a:pPr>
            <a:r>
              <a:rPr lang="th-TH" sz="800" b="1" dirty="0">
                <a:solidFill>
                  <a:schemeClr val="tx1">
                    <a:lumMod val="65000"/>
                    <a:lumOff val="35000"/>
                  </a:schemeClr>
                </a:solidFill>
                <a:latin typeface="BLS Text" panose="00000500000000000000" pitchFamily="2" charset="-34"/>
                <a:cs typeface="BLS Text" pitchFamily="2" charset="-34"/>
              </a:rPr>
              <a:t>กำไรสุทธิไตรมาส 1 (สำหรับ 30% ของหุ้นใน </a:t>
            </a:r>
            <a:r>
              <a:rPr lang="en-US" sz="800" b="1" dirty="0">
                <a:solidFill>
                  <a:schemeClr val="tx1">
                    <a:lumMod val="65000"/>
                    <a:lumOff val="35000"/>
                  </a:schemeClr>
                </a:solidFill>
                <a:latin typeface="BLS Text" panose="00000500000000000000" pitchFamily="2" charset="-34"/>
                <a:cs typeface="BLS Text" pitchFamily="2" charset="-34"/>
              </a:rPr>
              <a:t>BLS coverage) </a:t>
            </a:r>
            <a:r>
              <a:rPr lang="th-TH" sz="800" b="1" dirty="0">
                <a:solidFill>
                  <a:schemeClr val="tx1">
                    <a:lumMod val="65000"/>
                    <a:lumOff val="35000"/>
                  </a:schemeClr>
                </a:solidFill>
                <a:latin typeface="BLS Text" panose="00000500000000000000" pitchFamily="2" charset="-34"/>
                <a:cs typeface="BLS Text" pitchFamily="2" charset="-34"/>
              </a:rPr>
              <a:t>ออกมาสูงกว่าตลาดคาด 13.9% และสูงกว่าเราคาด 16%</a:t>
            </a:r>
            <a:r>
              <a:rPr lang="en-US" sz="800" b="1" dirty="0">
                <a:solidFill>
                  <a:schemeClr val="tx1">
                    <a:lumMod val="65000"/>
                    <a:lumOff val="35000"/>
                  </a:schemeClr>
                </a:solidFill>
                <a:latin typeface="BLS Text" panose="00000500000000000000" pitchFamily="2" charset="-34"/>
                <a:cs typeface="BLS Text" pitchFamily="2" charset="-34"/>
              </a:rPr>
              <a:t>:</a:t>
            </a:r>
            <a:r>
              <a:rPr lang="th-TH" sz="800" b="1" dirty="0">
                <a:solidFill>
                  <a:schemeClr val="tx1">
                    <a:lumMod val="65000"/>
                    <a:lumOff val="35000"/>
                  </a:schemeClr>
                </a:solidFill>
                <a:latin typeface="BLS Text" panose="00000500000000000000" pitchFamily="2" charset="-34"/>
                <a:cs typeface="BLS Text" pitchFamily="2" charset="-34"/>
              </a:rPr>
              <a:t> </a:t>
            </a:r>
            <a:r>
              <a:rPr lang="th-TH" sz="800" dirty="0">
                <a:solidFill>
                  <a:schemeClr val="tx1">
                    <a:lumMod val="65000"/>
                    <a:lumOff val="35000"/>
                  </a:schemeClr>
                </a:solidFill>
                <a:latin typeface="BLS Text" panose="00000500000000000000" pitchFamily="2" charset="-34"/>
                <a:cs typeface="BLS Text" pitchFamily="2" charset="-34"/>
              </a:rPr>
              <a:t>รายได้จากบริการมือถือ–อินเทอร์เน็ต-ต้นทุนค่าโครงข่ายที่ลดลง ดีมานด์อิเล็กทรอนิกส์สำหรับ </a:t>
            </a:r>
            <a:r>
              <a:rPr lang="en-US" sz="800" dirty="0">
                <a:solidFill>
                  <a:schemeClr val="tx1">
                    <a:lumMod val="65000"/>
                    <a:lumOff val="35000"/>
                  </a:schemeClr>
                </a:solidFill>
                <a:latin typeface="BLS Text" panose="00000500000000000000" pitchFamily="2" charset="-34"/>
                <a:cs typeface="BLS Text" pitchFamily="2" charset="-34"/>
              </a:rPr>
              <a:t>AI/data center </a:t>
            </a:r>
            <a:r>
              <a:rPr lang="th-TH" sz="800" dirty="0">
                <a:solidFill>
                  <a:schemeClr val="tx1">
                    <a:lumMod val="65000"/>
                    <a:lumOff val="35000"/>
                  </a:schemeClr>
                </a:solidFill>
                <a:latin typeface="BLS Text" panose="00000500000000000000" pitchFamily="2" charset="-34"/>
                <a:cs typeface="BLS Text" pitchFamily="2" charset="-34"/>
              </a:rPr>
              <a:t>ค่าการกลั่น-ส่วนต่างปิโตรฯ ที่ขยายตัว กำลังการผลิตไฟฟ้าใหม่และกำไรจากธุรกิจโรงไฟฟ้าต่างประเทศที่เพิ่มขึ้นของ </a:t>
            </a:r>
            <a:r>
              <a:rPr lang="en-US" sz="800" dirty="0">
                <a:solidFill>
                  <a:schemeClr val="tx1">
                    <a:lumMod val="65000"/>
                    <a:lumOff val="35000"/>
                  </a:schemeClr>
                </a:solidFill>
                <a:latin typeface="BLS Text" panose="00000500000000000000" pitchFamily="2" charset="-34"/>
                <a:cs typeface="BLS Text" pitchFamily="2" charset="-34"/>
              </a:rPr>
              <a:t>GULF </a:t>
            </a:r>
            <a:r>
              <a:rPr lang="th-TH" sz="800" dirty="0">
                <a:solidFill>
                  <a:schemeClr val="tx1">
                    <a:lumMod val="65000"/>
                    <a:lumOff val="35000"/>
                  </a:schemeClr>
                </a:solidFill>
                <a:latin typeface="BLS Text" panose="00000500000000000000" pitchFamily="2" charset="-34"/>
                <a:cs typeface="BLS Text" pitchFamily="2" charset="-34"/>
              </a:rPr>
              <a:t>ยังคงเป็นแรงส่งสำคัญ</a:t>
            </a:r>
            <a:r>
              <a:rPr lang="en-US" sz="800" dirty="0">
                <a:solidFill>
                  <a:schemeClr val="tx1">
                    <a:lumMod val="65000"/>
                    <a:lumOff val="35000"/>
                  </a:schemeClr>
                </a:solidFill>
                <a:latin typeface="BLS Text" panose="00000500000000000000" pitchFamily="2" charset="-34"/>
                <a:cs typeface="BLS Text" pitchFamily="2" charset="-34"/>
              </a:rPr>
              <a:t> </a:t>
            </a:r>
          </a:p>
          <a:p>
            <a:pPr algn="thaiDist">
              <a:lnSpc>
                <a:spcPct val="120000"/>
              </a:lnSpc>
              <a:spcBef>
                <a:spcPts val="400"/>
              </a:spcBef>
              <a:buSzPct val="120000"/>
            </a:pPr>
            <a:r>
              <a:rPr lang="th-TH" sz="800" b="1" dirty="0">
                <a:solidFill>
                  <a:schemeClr val="tx1">
                    <a:lumMod val="65000"/>
                    <a:lumOff val="35000"/>
                  </a:schemeClr>
                </a:solidFill>
                <a:latin typeface="BLS Text" panose="00000500000000000000" pitchFamily="2" charset="-34"/>
                <a:cs typeface="BLS Text" pitchFamily="2" charset="-34"/>
              </a:rPr>
              <a:t>สัดส่วนของหุ้นที่กำไรออกมาสูงกว่าคาดเบื้องต้นอยู่ที่ 71% เทียบ 35% ในไตรมาสก่อน </a:t>
            </a:r>
            <a:r>
              <a:rPr lang="th-TH" sz="800" dirty="0">
                <a:solidFill>
                  <a:schemeClr val="tx1">
                    <a:lumMod val="65000"/>
                    <a:lumOff val="35000"/>
                  </a:schemeClr>
                </a:solidFill>
                <a:latin typeface="BLS Text" panose="00000500000000000000" pitchFamily="2" charset="-34"/>
                <a:cs typeface="BLS Text" pitchFamily="2" charset="-34"/>
              </a:rPr>
              <a:t>ขณะที่ สัดส่วนของหุ้นที่กำไรออกมาต่ำกว่าคาดอยู่ที่ 8</a:t>
            </a:r>
            <a:r>
              <a:rPr lang="en-US" sz="800" dirty="0">
                <a:solidFill>
                  <a:schemeClr val="tx1">
                    <a:lumMod val="65000"/>
                    <a:lumOff val="35000"/>
                  </a:schemeClr>
                </a:solidFill>
                <a:latin typeface="BLS Text" panose="00000500000000000000" pitchFamily="2" charset="-34"/>
                <a:cs typeface="BLS Text" pitchFamily="2" charset="-34"/>
              </a:rPr>
              <a:t>%</a:t>
            </a:r>
            <a:r>
              <a:rPr lang="th-TH" sz="800" dirty="0">
                <a:solidFill>
                  <a:schemeClr val="tx1">
                    <a:lumMod val="65000"/>
                    <a:lumOff val="35000"/>
                  </a:schemeClr>
                </a:solidFill>
                <a:latin typeface="BLS Text" panose="00000500000000000000" pitchFamily="2" charset="-34"/>
                <a:cs typeface="BLS Text" pitchFamily="2" charset="-34"/>
              </a:rPr>
              <a:t> เทียบ 36</a:t>
            </a:r>
            <a:r>
              <a:rPr lang="en-US" sz="800" dirty="0">
                <a:solidFill>
                  <a:schemeClr val="tx1">
                    <a:lumMod val="65000"/>
                    <a:lumOff val="35000"/>
                  </a:schemeClr>
                </a:solidFill>
                <a:latin typeface="BLS Text" panose="00000500000000000000" pitchFamily="2" charset="-34"/>
                <a:cs typeface="BLS Text" pitchFamily="2" charset="-34"/>
              </a:rPr>
              <a:t>% </a:t>
            </a:r>
            <a:r>
              <a:rPr lang="th-TH" sz="800" dirty="0">
                <a:solidFill>
                  <a:schemeClr val="tx1">
                    <a:lumMod val="65000"/>
                    <a:lumOff val="35000"/>
                  </a:schemeClr>
                </a:solidFill>
                <a:latin typeface="BLS Text" panose="00000500000000000000" pitchFamily="2" charset="-34"/>
                <a:cs typeface="BLS Text" pitchFamily="2" charset="-34"/>
              </a:rPr>
              <a:t>ในไตรมาสก่อน</a:t>
            </a:r>
            <a:r>
              <a:rPr lang="en-US" sz="800" dirty="0">
                <a:solidFill>
                  <a:schemeClr val="tx1">
                    <a:lumMod val="65000"/>
                    <a:lumOff val="35000"/>
                  </a:schemeClr>
                </a:solidFill>
                <a:latin typeface="BLS Text" panose="00000500000000000000" pitchFamily="2" charset="-34"/>
                <a:cs typeface="BLS Text" pitchFamily="2" charset="-34"/>
              </a:rPr>
              <a:t> </a:t>
            </a:r>
            <a:r>
              <a:rPr lang="th-TH" sz="800" dirty="0">
                <a:solidFill>
                  <a:schemeClr val="tx1">
                    <a:lumMod val="65000"/>
                    <a:lumOff val="35000"/>
                  </a:schemeClr>
                </a:solidFill>
                <a:latin typeface="BLS Text" panose="00000500000000000000" pitchFamily="2" charset="-34"/>
                <a:cs typeface="BLS Text" pitchFamily="2" charset="-34"/>
              </a:rPr>
              <a:t>สำหรับกลุ่มที่กำไรดีกว่าคาด นำโดย</a:t>
            </a:r>
            <a:r>
              <a:rPr lang="th-TH" sz="800" b="1" dirty="0">
                <a:solidFill>
                  <a:schemeClr val="tx1">
                    <a:lumMod val="65000"/>
                    <a:lumOff val="35000"/>
                  </a:schemeClr>
                </a:solidFill>
                <a:latin typeface="BLS Text" panose="00000500000000000000" pitchFamily="2" charset="-34"/>
                <a:cs typeface="BLS Text" pitchFamily="2" charset="-34"/>
              </a:rPr>
              <a:t>กลุ่มแพ็คเกจจิ้ง </a:t>
            </a:r>
            <a:r>
              <a:rPr lang="en-US" sz="800" b="1" dirty="0">
                <a:solidFill>
                  <a:schemeClr val="tx1">
                    <a:lumMod val="65000"/>
                    <a:lumOff val="35000"/>
                  </a:schemeClr>
                </a:solidFill>
                <a:latin typeface="BLS Text" panose="00000500000000000000" pitchFamily="2" charset="-34"/>
                <a:cs typeface="BLS Text" pitchFamily="2" charset="-34"/>
              </a:rPr>
              <a:t>SCGP</a:t>
            </a:r>
            <a:r>
              <a:rPr lang="th-TH" sz="800" b="1" dirty="0">
                <a:solidFill>
                  <a:schemeClr val="tx1">
                    <a:lumMod val="65000"/>
                    <a:lumOff val="35000"/>
                  </a:schemeClr>
                </a:solidFill>
                <a:latin typeface="BLS Text" panose="00000500000000000000" pitchFamily="2" charset="-34"/>
                <a:cs typeface="BLS Text" pitchFamily="2" charset="-34"/>
              </a:rPr>
              <a:t> สูงกว่าตลาดคาด 30.9%</a:t>
            </a:r>
            <a:r>
              <a:rPr lang="en-US" sz="800" b="1" dirty="0">
                <a:solidFill>
                  <a:schemeClr val="tx1">
                    <a:lumMod val="65000"/>
                    <a:lumOff val="35000"/>
                  </a:schemeClr>
                </a:solidFill>
                <a:latin typeface="BLS Text" panose="00000500000000000000" pitchFamily="2" charset="-34"/>
                <a:cs typeface="BLS Text" pitchFamily="2" charset="-34"/>
              </a:rPr>
              <a:t>,</a:t>
            </a:r>
            <a:r>
              <a:rPr lang="th-TH" sz="800" b="1" dirty="0">
                <a:solidFill>
                  <a:schemeClr val="tx1">
                    <a:lumMod val="65000"/>
                    <a:lumOff val="35000"/>
                  </a:schemeClr>
                </a:solidFill>
                <a:latin typeface="BLS Text" panose="00000500000000000000" pitchFamily="2" charset="-34"/>
                <a:cs typeface="BLS Text" pitchFamily="2" charset="-34"/>
              </a:rPr>
              <a:t> กลุ่มวัสดุก่อสร้าง </a:t>
            </a:r>
            <a:r>
              <a:rPr lang="en-US" sz="800" b="1" dirty="0">
                <a:solidFill>
                  <a:schemeClr val="tx1">
                    <a:lumMod val="65000"/>
                    <a:lumOff val="35000"/>
                  </a:schemeClr>
                </a:solidFill>
                <a:latin typeface="BLS Text" panose="00000500000000000000" pitchFamily="2" charset="-34"/>
                <a:cs typeface="BLS Text" pitchFamily="2" charset="-34"/>
              </a:rPr>
              <a:t>SCC</a:t>
            </a:r>
            <a:r>
              <a:rPr lang="th-TH" sz="800" b="1" dirty="0">
                <a:solidFill>
                  <a:schemeClr val="tx1">
                    <a:lumMod val="65000"/>
                    <a:lumOff val="35000"/>
                  </a:schemeClr>
                </a:solidFill>
                <a:latin typeface="BLS Text" panose="00000500000000000000" pitchFamily="2" charset="-34"/>
                <a:cs typeface="BLS Text" pitchFamily="2" charset="-34"/>
              </a:rPr>
              <a:t> 22.9%</a:t>
            </a:r>
            <a:r>
              <a:rPr lang="en-US" sz="800" b="1" dirty="0">
                <a:solidFill>
                  <a:schemeClr val="tx1">
                    <a:lumMod val="65000"/>
                    <a:lumOff val="35000"/>
                  </a:schemeClr>
                </a:solidFill>
                <a:latin typeface="BLS Text" panose="00000500000000000000" pitchFamily="2" charset="-34"/>
                <a:cs typeface="BLS Text" pitchFamily="2" charset="-34"/>
              </a:rPr>
              <a:t>,</a:t>
            </a:r>
            <a:r>
              <a:rPr lang="th-TH" sz="800" b="1" dirty="0">
                <a:solidFill>
                  <a:schemeClr val="tx1">
                    <a:lumMod val="65000"/>
                    <a:lumOff val="35000"/>
                  </a:schemeClr>
                </a:solidFill>
                <a:latin typeface="BLS Text" panose="00000500000000000000" pitchFamily="2" charset="-34"/>
                <a:cs typeface="BLS Text" pitchFamily="2" charset="-34"/>
              </a:rPr>
              <a:t> กลุ่มปิโตรฯ </a:t>
            </a:r>
            <a:r>
              <a:rPr lang="en-US" sz="800" b="1" dirty="0">
                <a:solidFill>
                  <a:schemeClr val="tx1">
                    <a:lumMod val="65000"/>
                    <a:lumOff val="35000"/>
                  </a:schemeClr>
                </a:solidFill>
                <a:latin typeface="BLS Text" panose="00000500000000000000" pitchFamily="2" charset="-34"/>
                <a:cs typeface="BLS Text" pitchFamily="2" charset="-34"/>
              </a:rPr>
              <a:t>PTTGC</a:t>
            </a:r>
            <a:r>
              <a:rPr lang="th-TH" sz="800" b="1" dirty="0">
                <a:solidFill>
                  <a:schemeClr val="tx1">
                    <a:lumMod val="65000"/>
                    <a:lumOff val="35000"/>
                  </a:schemeClr>
                </a:solidFill>
                <a:latin typeface="BLS Text" panose="00000500000000000000" pitchFamily="2" charset="-34"/>
                <a:cs typeface="BLS Text" pitchFamily="2" charset="-34"/>
              </a:rPr>
              <a:t> 21.5%</a:t>
            </a:r>
            <a:r>
              <a:rPr lang="en-US" sz="800" b="1" dirty="0">
                <a:solidFill>
                  <a:schemeClr val="tx1">
                    <a:lumMod val="65000"/>
                    <a:lumOff val="35000"/>
                  </a:schemeClr>
                </a:solidFill>
                <a:latin typeface="BLS Text" panose="00000500000000000000" pitchFamily="2" charset="-34"/>
                <a:cs typeface="BLS Text" pitchFamily="2" charset="-34"/>
              </a:rPr>
              <a:t>,</a:t>
            </a:r>
            <a:r>
              <a:rPr lang="th-TH" sz="800" b="1" dirty="0">
                <a:solidFill>
                  <a:schemeClr val="tx1">
                    <a:lumMod val="65000"/>
                    <a:lumOff val="35000"/>
                  </a:schemeClr>
                </a:solidFill>
                <a:latin typeface="BLS Text" panose="00000500000000000000" pitchFamily="2" charset="-34"/>
                <a:cs typeface="BLS Text" pitchFamily="2" charset="-34"/>
              </a:rPr>
              <a:t> กลุ่มพลังงาน/โรงไฟฟ้า 19.9% โดย </a:t>
            </a:r>
            <a:r>
              <a:rPr lang="en-US" sz="800" b="1" dirty="0">
                <a:solidFill>
                  <a:schemeClr val="tx1">
                    <a:lumMod val="65000"/>
                    <a:lumOff val="35000"/>
                  </a:schemeClr>
                </a:solidFill>
                <a:latin typeface="BLS Text" panose="00000500000000000000" pitchFamily="2" charset="-34"/>
                <a:cs typeface="BLS Text" pitchFamily="2" charset="-34"/>
              </a:rPr>
              <a:t>PTTEP, GPSC, GULF, </a:t>
            </a:r>
            <a:r>
              <a:rPr lang="th-TH" sz="800" b="1" dirty="0">
                <a:solidFill>
                  <a:schemeClr val="tx1">
                    <a:lumMod val="65000"/>
                    <a:lumOff val="35000"/>
                  </a:schemeClr>
                </a:solidFill>
                <a:latin typeface="BLS Text" panose="00000500000000000000" pitchFamily="2" charset="-34"/>
                <a:cs typeface="BLS Text" pitchFamily="2" charset="-34"/>
              </a:rPr>
              <a:t>กลุ่มอิเล็กทรอนิกส์  </a:t>
            </a:r>
            <a:r>
              <a:rPr lang="en-US" sz="800" b="1" dirty="0">
                <a:solidFill>
                  <a:schemeClr val="tx1">
                    <a:lumMod val="65000"/>
                    <a:lumOff val="35000"/>
                  </a:schemeClr>
                </a:solidFill>
                <a:latin typeface="BLS Text" panose="00000500000000000000" pitchFamily="2" charset="-34"/>
                <a:cs typeface="BLS Text" pitchFamily="2" charset="-34"/>
              </a:rPr>
              <a:t>DELTA </a:t>
            </a:r>
            <a:r>
              <a:rPr lang="th-TH" sz="800" b="1" dirty="0">
                <a:solidFill>
                  <a:schemeClr val="tx1">
                    <a:lumMod val="65000"/>
                    <a:lumOff val="35000"/>
                  </a:schemeClr>
                </a:solidFill>
                <a:latin typeface="BLS Text" panose="00000500000000000000" pitchFamily="2" charset="-34"/>
                <a:cs typeface="BLS Text" pitchFamily="2" charset="-34"/>
              </a:rPr>
              <a:t>16.2%</a:t>
            </a:r>
            <a:r>
              <a:rPr lang="en-US" sz="800" b="1" dirty="0">
                <a:solidFill>
                  <a:schemeClr val="tx1">
                    <a:lumMod val="65000"/>
                    <a:lumOff val="35000"/>
                  </a:schemeClr>
                </a:solidFill>
                <a:latin typeface="BLS Text" panose="00000500000000000000" pitchFamily="2" charset="-34"/>
                <a:cs typeface="BLS Text" pitchFamily="2" charset="-34"/>
              </a:rPr>
              <a:t>, </a:t>
            </a:r>
            <a:r>
              <a:rPr lang="th-TH" sz="800" b="1" dirty="0">
                <a:solidFill>
                  <a:schemeClr val="tx1">
                    <a:lumMod val="65000"/>
                    <a:lumOff val="35000"/>
                  </a:schemeClr>
                </a:solidFill>
                <a:latin typeface="BLS Text" panose="00000500000000000000" pitchFamily="2" charset="-34"/>
                <a:cs typeface="BLS Text" pitchFamily="2" charset="-34"/>
              </a:rPr>
              <a:t>กลุ่มสื่อสาร 12.1%</a:t>
            </a:r>
            <a:r>
              <a:rPr lang="en-US" sz="800" b="1" dirty="0">
                <a:solidFill>
                  <a:schemeClr val="tx1">
                    <a:lumMod val="65000"/>
                    <a:lumOff val="35000"/>
                  </a:schemeClr>
                </a:solidFill>
                <a:latin typeface="BLS Text" panose="00000500000000000000" pitchFamily="2" charset="-34"/>
                <a:cs typeface="BLS Text" pitchFamily="2" charset="-34"/>
              </a:rPr>
              <a:t>, </a:t>
            </a:r>
            <a:r>
              <a:rPr lang="th-TH" sz="800" b="1" dirty="0">
                <a:solidFill>
                  <a:schemeClr val="tx1">
                    <a:lumMod val="65000"/>
                    <a:lumOff val="35000"/>
                  </a:schemeClr>
                </a:solidFill>
                <a:latin typeface="BLS Text" panose="00000500000000000000" pitchFamily="2" charset="-34"/>
                <a:cs typeface="BLS Text" pitchFamily="2" charset="-34"/>
              </a:rPr>
              <a:t>กลุ่มธนาคาร 11.6% และกลุ่มการเงิน-ธุรกิจจำนำทะเบียน </a:t>
            </a:r>
            <a:r>
              <a:rPr lang="en-US" sz="800" b="1" dirty="0">
                <a:solidFill>
                  <a:schemeClr val="tx1">
                    <a:lumMod val="65000"/>
                    <a:lumOff val="35000"/>
                  </a:schemeClr>
                </a:solidFill>
                <a:latin typeface="BLS Text" panose="00000500000000000000" pitchFamily="2" charset="-34"/>
                <a:cs typeface="BLS Text" pitchFamily="2" charset="-34"/>
              </a:rPr>
              <a:t>TIDLOR </a:t>
            </a:r>
            <a:r>
              <a:rPr lang="th-TH" sz="800" b="1" dirty="0">
                <a:solidFill>
                  <a:schemeClr val="tx1">
                    <a:lumMod val="65000"/>
                    <a:lumOff val="35000"/>
                  </a:schemeClr>
                </a:solidFill>
                <a:latin typeface="BLS Text" panose="00000500000000000000" pitchFamily="2" charset="-34"/>
                <a:cs typeface="BLS Text" pitchFamily="2" charset="-34"/>
              </a:rPr>
              <a:t>15.4% </a:t>
            </a:r>
            <a:r>
              <a:rPr lang="en-US" sz="800" dirty="0">
                <a:solidFill>
                  <a:schemeClr val="tx2"/>
                </a:solidFill>
                <a:latin typeface="BLS Text" panose="00000500000000000000" pitchFamily="2" charset="-34"/>
                <a:cs typeface="BLS Text" pitchFamily="2" charset="-34"/>
              </a:rPr>
              <a:t>(</a:t>
            </a:r>
            <a:r>
              <a:rPr lang="th-TH" sz="800" dirty="0">
                <a:solidFill>
                  <a:schemeClr val="tx2"/>
                </a:solidFill>
                <a:latin typeface="BLS Text" panose="00000500000000000000" pitchFamily="2" charset="-34"/>
                <a:cs typeface="BLS Text" pitchFamily="2" charset="-34"/>
              </a:rPr>
              <a:t>รายละเอียดหน้า 2</a:t>
            </a:r>
            <a:r>
              <a:rPr lang="en-US" sz="800" dirty="0">
                <a:solidFill>
                  <a:schemeClr val="tx2"/>
                </a:solidFill>
                <a:latin typeface="BLS Text" panose="00000500000000000000" pitchFamily="2" charset="-34"/>
                <a:cs typeface="BLS Text" pitchFamily="2" charset="-34"/>
              </a:rPr>
              <a:t>)</a:t>
            </a:r>
          </a:p>
          <a:p>
            <a:pPr algn="thaiDist">
              <a:lnSpc>
                <a:spcPct val="120000"/>
              </a:lnSpc>
              <a:spcBef>
                <a:spcPts val="400"/>
              </a:spcBef>
              <a:buSzPct val="120000"/>
            </a:pPr>
            <a:r>
              <a:rPr lang="th-TH" sz="800" b="1" dirty="0">
                <a:solidFill>
                  <a:schemeClr val="tx1">
                    <a:lumMod val="65000"/>
                    <a:lumOff val="35000"/>
                  </a:schemeClr>
                </a:solidFill>
                <a:latin typeface="BLS Text" panose="00000500000000000000" pitchFamily="2" charset="-34"/>
                <a:cs typeface="BLS Text" pitchFamily="2" charset="-34"/>
              </a:rPr>
              <a:t>กลุ่มวัฏจักรยังมีทิศทางกำไรแข็งแกร่งต่อเนื่อง หนุนจากราคาพลังงานยังอยู่ในระดับสูงในเดือนเม.ย.</a:t>
            </a:r>
            <a:r>
              <a:rPr lang="en-US" sz="800" b="1" dirty="0">
                <a:solidFill>
                  <a:schemeClr val="tx1">
                    <a:lumMod val="65000"/>
                    <a:lumOff val="35000"/>
                  </a:schemeClr>
                </a:solidFill>
                <a:latin typeface="BLS Text" panose="00000500000000000000" pitchFamily="2" charset="-34"/>
                <a:cs typeface="BLS Text" pitchFamily="2" charset="-34"/>
              </a:rPr>
              <a:t>:</a:t>
            </a:r>
            <a:r>
              <a:rPr lang="th-TH" sz="800" b="1" dirty="0">
                <a:solidFill>
                  <a:schemeClr val="tx1">
                    <a:lumMod val="65000"/>
                    <a:lumOff val="35000"/>
                  </a:schemeClr>
                </a:solidFill>
                <a:latin typeface="BLS Text" panose="00000500000000000000" pitchFamily="2" charset="-34"/>
                <a:cs typeface="BLS Text" pitchFamily="2" charset="-34"/>
              </a:rPr>
              <a:t> </a:t>
            </a:r>
            <a:r>
              <a:rPr lang="th-TH" sz="800" dirty="0">
                <a:solidFill>
                  <a:schemeClr val="tx1">
                    <a:lumMod val="65000"/>
                    <a:lumOff val="35000"/>
                  </a:schemeClr>
                </a:solidFill>
                <a:latin typeface="BLS Text" panose="00000500000000000000" pitchFamily="2" charset="-34"/>
                <a:cs typeface="BLS Text" pitchFamily="2" charset="-34"/>
              </a:rPr>
              <a:t>กลุ่มโรงกลั่น-ปิโตรฯ ยังคาดเห็นกำไรเติบโตดีต่อ หลังค่าการกลั่น </a:t>
            </a:r>
            <a:r>
              <a:rPr lang="en-US" sz="800" dirty="0">
                <a:solidFill>
                  <a:schemeClr val="tx1">
                    <a:lumMod val="65000"/>
                    <a:lumOff val="35000"/>
                  </a:schemeClr>
                </a:solidFill>
                <a:latin typeface="BLS Text" panose="00000500000000000000" pitchFamily="2" charset="-34"/>
                <a:cs typeface="BLS Text" pitchFamily="2" charset="-34"/>
              </a:rPr>
              <a:t>GRM </a:t>
            </a:r>
            <a:r>
              <a:rPr lang="th-TH" sz="800" dirty="0">
                <a:solidFill>
                  <a:schemeClr val="tx1">
                    <a:lumMod val="65000"/>
                    <a:lumOff val="35000"/>
                  </a:schemeClr>
                </a:solidFill>
                <a:latin typeface="BLS Text" panose="00000500000000000000" pitchFamily="2" charset="-34"/>
                <a:cs typeface="BLS Text" pitchFamily="2" charset="-34"/>
              </a:rPr>
              <a:t>เฉลี่ยเดือนเม.ย. อยู่ที่ราว $30 ต่อ </a:t>
            </a:r>
            <a:r>
              <a:rPr lang="en-US" sz="800" dirty="0" err="1">
                <a:solidFill>
                  <a:schemeClr val="tx1">
                    <a:lumMod val="65000"/>
                    <a:lumOff val="35000"/>
                  </a:schemeClr>
                </a:solidFill>
                <a:latin typeface="BLS Text" panose="00000500000000000000" pitchFamily="2" charset="-34"/>
                <a:cs typeface="BLS Text" pitchFamily="2" charset="-34"/>
              </a:rPr>
              <a:t>bbl</a:t>
            </a:r>
            <a:r>
              <a:rPr lang="en-US" sz="800" dirty="0">
                <a:solidFill>
                  <a:schemeClr val="tx1">
                    <a:lumMod val="65000"/>
                    <a:lumOff val="35000"/>
                  </a:schemeClr>
                </a:solidFill>
                <a:latin typeface="BLS Text" panose="00000500000000000000" pitchFamily="2" charset="-34"/>
                <a:cs typeface="BLS Text" pitchFamily="2" charset="-34"/>
              </a:rPr>
              <a:t> (+441% YoY, +344% </a:t>
            </a:r>
            <a:r>
              <a:rPr lang="en-US" sz="800" dirty="0" err="1">
                <a:solidFill>
                  <a:schemeClr val="tx1">
                    <a:lumMod val="65000"/>
                    <a:lumOff val="35000"/>
                  </a:schemeClr>
                </a:solidFill>
                <a:latin typeface="BLS Text" panose="00000500000000000000" pitchFamily="2" charset="-34"/>
                <a:cs typeface="BLS Text" pitchFamily="2" charset="-34"/>
              </a:rPr>
              <a:t>QoQ</a:t>
            </a:r>
            <a:r>
              <a:rPr lang="en-US" sz="800" dirty="0">
                <a:solidFill>
                  <a:schemeClr val="tx1">
                    <a:lumMod val="65000"/>
                    <a:lumOff val="35000"/>
                  </a:schemeClr>
                </a:solidFill>
                <a:latin typeface="BLS Text" panose="00000500000000000000" pitchFamily="2" charset="-34"/>
                <a:cs typeface="BLS Text" pitchFamily="2" charset="-34"/>
              </a:rPr>
              <a:t>) </a:t>
            </a:r>
            <a:r>
              <a:rPr lang="th-TH" sz="800" dirty="0">
                <a:solidFill>
                  <a:schemeClr val="tx1">
                    <a:lumMod val="65000"/>
                    <a:lumOff val="35000"/>
                  </a:schemeClr>
                </a:solidFill>
                <a:latin typeface="BLS Text" panose="00000500000000000000" pitchFamily="2" charset="-34"/>
                <a:cs typeface="BLS Text" pitchFamily="2" charset="-34"/>
              </a:rPr>
              <a:t>ขณะที่ ส่วนต่างปิโตรฯ </a:t>
            </a:r>
            <a:r>
              <a:rPr lang="en-US" sz="800" dirty="0">
                <a:solidFill>
                  <a:schemeClr val="tx1">
                    <a:lumMod val="65000"/>
                    <a:lumOff val="35000"/>
                  </a:schemeClr>
                </a:solidFill>
                <a:latin typeface="BLS Text" panose="00000500000000000000" pitchFamily="2" charset="-34"/>
                <a:cs typeface="BLS Text" pitchFamily="2" charset="-34"/>
              </a:rPr>
              <a:t>HDPE</a:t>
            </a:r>
            <a:r>
              <a:rPr lang="th-TH" sz="800" dirty="0">
                <a:solidFill>
                  <a:schemeClr val="tx1">
                    <a:lumMod val="65000"/>
                    <a:lumOff val="35000"/>
                  </a:schemeClr>
                </a:solidFill>
                <a:latin typeface="BLS Text" panose="00000500000000000000" pitchFamily="2" charset="-34"/>
                <a:cs typeface="BLS Text" pitchFamily="2" charset="-34"/>
              </a:rPr>
              <a:t> เฉลี่ยเดือนเม.ย. อยู่ที่ $557 ต่อตัน (+53% </a:t>
            </a:r>
            <a:r>
              <a:rPr lang="en-US" sz="800" dirty="0">
                <a:solidFill>
                  <a:schemeClr val="tx1">
                    <a:lumMod val="65000"/>
                    <a:lumOff val="35000"/>
                  </a:schemeClr>
                </a:solidFill>
                <a:latin typeface="BLS Text" panose="00000500000000000000" pitchFamily="2" charset="-34"/>
                <a:cs typeface="BLS Text" pitchFamily="2" charset="-34"/>
              </a:rPr>
              <a:t>YoY, +72% </a:t>
            </a:r>
            <a:r>
              <a:rPr lang="en-US" sz="800" dirty="0" err="1">
                <a:solidFill>
                  <a:schemeClr val="tx1">
                    <a:lumMod val="65000"/>
                    <a:lumOff val="35000"/>
                  </a:schemeClr>
                </a:solidFill>
                <a:latin typeface="BLS Text" panose="00000500000000000000" pitchFamily="2" charset="-34"/>
                <a:cs typeface="BLS Text" pitchFamily="2" charset="-34"/>
              </a:rPr>
              <a:t>QoQ</a:t>
            </a:r>
            <a:r>
              <a:rPr lang="en-US" sz="800" dirty="0">
                <a:solidFill>
                  <a:schemeClr val="tx1">
                    <a:lumMod val="65000"/>
                    <a:lumOff val="35000"/>
                  </a:schemeClr>
                </a:solidFill>
                <a:latin typeface="BLS Text" panose="00000500000000000000" pitchFamily="2" charset="-34"/>
                <a:cs typeface="BLS Text" pitchFamily="2" charset="-34"/>
              </a:rPr>
              <a:t>)</a:t>
            </a:r>
            <a:endParaRPr lang="th-TH" sz="800" dirty="0">
              <a:solidFill>
                <a:schemeClr val="tx1">
                  <a:lumMod val="65000"/>
                  <a:lumOff val="35000"/>
                </a:schemeClr>
              </a:solidFill>
              <a:latin typeface="BLS Text" panose="00000500000000000000" pitchFamily="2" charset="-34"/>
              <a:cs typeface="BLS Text" pitchFamily="2" charset="-34"/>
            </a:endParaRPr>
          </a:p>
          <a:p>
            <a:pPr algn="thaiDist">
              <a:lnSpc>
                <a:spcPct val="120000"/>
              </a:lnSpc>
              <a:spcBef>
                <a:spcPts val="400"/>
              </a:spcBef>
              <a:buSzPct val="120000"/>
            </a:pPr>
            <a:r>
              <a:rPr lang="th-TH" sz="800" b="1" dirty="0">
                <a:solidFill>
                  <a:schemeClr val="tx1">
                    <a:lumMod val="65000"/>
                    <a:lumOff val="35000"/>
                  </a:schemeClr>
                </a:solidFill>
                <a:latin typeface="BLS Text" panose="00000500000000000000" pitchFamily="2" charset="-34"/>
                <a:cs typeface="BLS Text" pitchFamily="2" charset="-34"/>
              </a:rPr>
              <a:t>การบริโภคโดยรวมยังทรงตัวได้ในเดือนเม.ย. หนุนจากแรงซื้อกักตุนสินค้า การปรับราคาขายขึ้น แรงซื้อเครื่องปรับอากาศ และฐานต่ำ แต่ผลกระทบจากกำลังซื้ออ่อนแออาจเริ่มรุนแรงขึ้นในปลายไตรมาส 2 และเห็นชัดเจนในครึ่งหลัง</a:t>
            </a:r>
            <a:r>
              <a:rPr lang="en-US" sz="800" b="1" dirty="0">
                <a:solidFill>
                  <a:schemeClr val="tx1">
                    <a:lumMod val="65000"/>
                    <a:lumOff val="35000"/>
                  </a:schemeClr>
                </a:solidFill>
                <a:latin typeface="BLS Text" panose="00000500000000000000" pitchFamily="2" charset="-34"/>
                <a:cs typeface="BLS Text" pitchFamily="2" charset="-34"/>
              </a:rPr>
              <a:t>:</a:t>
            </a:r>
            <a:r>
              <a:rPr lang="th-TH" sz="800" b="1" dirty="0">
                <a:solidFill>
                  <a:schemeClr val="tx1">
                    <a:lumMod val="65000"/>
                    <a:lumOff val="35000"/>
                  </a:schemeClr>
                </a:solidFill>
                <a:latin typeface="BLS Text" panose="00000500000000000000" pitchFamily="2" charset="-34"/>
                <a:cs typeface="BLS Text" pitchFamily="2" charset="-34"/>
              </a:rPr>
              <a:t> </a:t>
            </a:r>
            <a:r>
              <a:rPr lang="th-TH" sz="800" dirty="0">
                <a:solidFill>
                  <a:schemeClr val="tx1">
                    <a:lumMod val="65000"/>
                    <a:lumOff val="35000"/>
                  </a:schemeClr>
                </a:solidFill>
                <a:latin typeface="BLS Text" panose="00000500000000000000" pitchFamily="2" charset="-34"/>
                <a:cs typeface="BLS Text" pitchFamily="2" charset="-34"/>
              </a:rPr>
              <a:t> ตัวเลขยอดขายสาขาเดิม (</a:t>
            </a:r>
            <a:r>
              <a:rPr lang="en-US" sz="800" dirty="0">
                <a:solidFill>
                  <a:schemeClr val="tx1">
                    <a:lumMod val="65000"/>
                    <a:lumOff val="35000"/>
                  </a:schemeClr>
                </a:solidFill>
                <a:latin typeface="BLS Text" panose="00000500000000000000" pitchFamily="2" charset="-34"/>
                <a:cs typeface="BLS Text" pitchFamily="2" charset="-34"/>
              </a:rPr>
              <a:t>SSSG) </a:t>
            </a:r>
            <a:r>
              <a:rPr lang="th-TH" sz="800" dirty="0">
                <a:solidFill>
                  <a:schemeClr val="tx1">
                    <a:lumMod val="65000"/>
                    <a:lumOff val="35000"/>
                  </a:schemeClr>
                </a:solidFill>
                <a:latin typeface="BLS Text" panose="00000500000000000000" pitchFamily="2" charset="-34"/>
                <a:cs typeface="BLS Text" pitchFamily="2" charset="-34"/>
              </a:rPr>
              <a:t>กลุ่มค้าปลีกกลับมา +1% ในเดือนเม.ย. แรงหนุนจากการปรับราคาสินค้าวัสดุก่อสร้างขึ้น โดยสินค้าที่มีต้นทุนเชื่อมโยงราคาพลังงาน เช่น เหล็ก ท่อพีวีซี สี ปรับราคาขายขึ้นราว 10-15% ยอดขายเครื่องปรับอากาศเร่งตัวในช่วงอากาศร้อน </a:t>
            </a:r>
            <a:r>
              <a:rPr lang="en-US" sz="800" dirty="0">
                <a:solidFill>
                  <a:schemeClr val="tx1">
                    <a:lumMod val="65000"/>
                    <a:lumOff val="35000"/>
                  </a:schemeClr>
                </a:solidFill>
                <a:latin typeface="BLS Text" panose="00000500000000000000" pitchFamily="2" charset="-34"/>
                <a:cs typeface="BLS Text" pitchFamily="2" charset="-34"/>
              </a:rPr>
              <a:t>(</a:t>
            </a:r>
            <a:r>
              <a:rPr lang="th-TH" sz="800" dirty="0">
                <a:solidFill>
                  <a:schemeClr val="tx1">
                    <a:lumMod val="65000"/>
                    <a:lumOff val="35000"/>
                  </a:schemeClr>
                </a:solidFill>
                <a:latin typeface="BLS Text" panose="00000500000000000000" pitchFamily="2" charset="-34"/>
                <a:cs typeface="BLS Text" pitchFamily="2" charset="-34"/>
              </a:rPr>
              <a:t>คิดเป็นสัดส่วนราว 10% ของยอดขาย</a:t>
            </a:r>
            <a:r>
              <a:rPr lang="en-US" sz="800" dirty="0">
                <a:solidFill>
                  <a:schemeClr val="tx1">
                    <a:lumMod val="65000"/>
                    <a:lumOff val="35000"/>
                  </a:schemeClr>
                </a:solidFill>
                <a:latin typeface="BLS Text" panose="00000500000000000000" pitchFamily="2" charset="-34"/>
                <a:cs typeface="BLS Text" pitchFamily="2" charset="-34"/>
              </a:rPr>
              <a:t>)</a:t>
            </a:r>
            <a:r>
              <a:rPr lang="th-TH" sz="800" dirty="0">
                <a:solidFill>
                  <a:schemeClr val="tx1">
                    <a:lumMod val="65000"/>
                    <a:lumOff val="35000"/>
                  </a:schemeClr>
                </a:solidFill>
                <a:latin typeface="BLS Text" panose="00000500000000000000" pitchFamily="2" charset="-34"/>
                <a:cs typeface="BLS Text" pitchFamily="2" charset="-34"/>
              </a:rPr>
              <a:t> และแรงซื้อกักตุนสินค้าจากความกังวลราคาขายปรับขึ้นช่วยหนุนยอดขาย ประกอบกับฐานต่ำในปีก่อนจากผลกระทบของแผ่นดินไหวปลายเดือนมี.ค. 2025 หนุน </a:t>
            </a:r>
            <a:r>
              <a:rPr lang="en-US" sz="800" dirty="0">
                <a:solidFill>
                  <a:schemeClr val="tx1">
                    <a:lumMod val="65000"/>
                    <a:lumOff val="35000"/>
                  </a:schemeClr>
                </a:solidFill>
                <a:latin typeface="BLS Text" panose="00000500000000000000" pitchFamily="2" charset="-34"/>
                <a:cs typeface="BLS Text" pitchFamily="2" charset="-34"/>
              </a:rPr>
              <a:t>SSSG </a:t>
            </a:r>
            <a:r>
              <a:rPr lang="th-TH" sz="800" dirty="0">
                <a:solidFill>
                  <a:schemeClr val="tx1">
                    <a:lumMod val="65000"/>
                    <a:lumOff val="35000"/>
                  </a:schemeClr>
                </a:solidFill>
                <a:latin typeface="BLS Text" panose="00000500000000000000" pitchFamily="2" charset="-34"/>
                <a:cs typeface="BLS Text" pitchFamily="2" charset="-34"/>
              </a:rPr>
              <a:t>ของกลุ่มค้าปลีกวัสดุก่อสร้างกลับมา +1% ในเดือนเม.ย. โดย </a:t>
            </a:r>
            <a:r>
              <a:rPr lang="en-US" sz="800" dirty="0">
                <a:solidFill>
                  <a:schemeClr val="tx1">
                    <a:lumMod val="65000"/>
                    <a:lumOff val="35000"/>
                  </a:schemeClr>
                </a:solidFill>
                <a:latin typeface="BLS Text" panose="00000500000000000000" pitchFamily="2" charset="-34"/>
                <a:cs typeface="BLS Text" pitchFamily="2" charset="-34"/>
              </a:rPr>
              <a:t>GLOBAL +2%, DOHOME +4%, HMPRO +2% </a:t>
            </a:r>
          </a:p>
          <a:p>
            <a:pPr algn="thaiDist">
              <a:lnSpc>
                <a:spcPct val="120000"/>
              </a:lnSpc>
              <a:spcBef>
                <a:spcPts val="300"/>
              </a:spcBef>
              <a:buSzPct val="120000"/>
            </a:pPr>
            <a:r>
              <a:rPr lang="th-TH" sz="800" dirty="0">
                <a:solidFill>
                  <a:schemeClr val="tx1">
                    <a:lumMod val="65000"/>
                    <a:lumOff val="35000"/>
                  </a:schemeClr>
                </a:solidFill>
                <a:latin typeface="BLS Text" panose="00000500000000000000" pitchFamily="2" charset="-34"/>
                <a:cs typeface="BLS Text" pitchFamily="2" charset="-34"/>
              </a:rPr>
              <a:t>ขณะที่ </a:t>
            </a:r>
            <a:r>
              <a:rPr lang="en-US" sz="800" dirty="0">
                <a:solidFill>
                  <a:schemeClr val="tx1">
                    <a:lumMod val="65000"/>
                    <a:lumOff val="35000"/>
                  </a:schemeClr>
                </a:solidFill>
                <a:latin typeface="BLS Text" panose="00000500000000000000" pitchFamily="2" charset="-34"/>
                <a:cs typeface="BLS Text" pitchFamily="2" charset="-34"/>
              </a:rPr>
              <a:t>SSSG </a:t>
            </a:r>
            <a:r>
              <a:rPr lang="th-TH" sz="800" dirty="0">
                <a:solidFill>
                  <a:schemeClr val="tx1">
                    <a:lumMod val="65000"/>
                    <a:lumOff val="35000"/>
                  </a:schemeClr>
                </a:solidFill>
                <a:latin typeface="BLS Text" panose="00000500000000000000" pitchFamily="2" charset="-34"/>
                <a:cs typeface="BLS Text" pitchFamily="2" charset="-34"/>
              </a:rPr>
              <a:t>กลุ่มค้าปลีกสินค้าอุปโภคบริโภค (</a:t>
            </a:r>
            <a:r>
              <a:rPr lang="en-US" sz="800" dirty="0">
                <a:solidFill>
                  <a:schemeClr val="tx1">
                    <a:lumMod val="65000"/>
                    <a:lumOff val="35000"/>
                  </a:schemeClr>
                </a:solidFill>
                <a:latin typeface="BLS Text" panose="00000500000000000000" pitchFamily="2" charset="-34"/>
                <a:cs typeface="BLS Text" pitchFamily="2" charset="-34"/>
              </a:rPr>
              <a:t>grocery) </a:t>
            </a:r>
            <a:r>
              <a:rPr lang="th-TH" sz="800" dirty="0">
                <a:solidFill>
                  <a:schemeClr val="tx1">
                    <a:lumMod val="65000"/>
                    <a:lumOff val="35000"/>
                  </a:schemeClr>
                </a:solidFill>
                <a:latin typeface="BLS Text" panose="00000500000000000000" pitchFamily="2" charset="-34"/>
                <a:cs typeface="BLS Text" pitchFamily="2" charset="-34"/>
              </a:rPr>
              <a:t>ค่อนข้างทรงตัว </a:t>
            </a:r>
            <a:r>
              <a:rPr lang="en-US" sz="800" dirty="0">
                <a:solidFill>
                  <a:schemeClr val="tx1">
                    <a:lumMod val="65000"/>
                    <a:lumOff val="35000"/>
                  </a:schemeClr>
                </a:solidFill>
                <a:latin typeface="BLS Text" panose="00000500000000000000" pitchFamily="2" charset="-34"/>
                <a:cs typeface="BLS Text" pitchFamily="2" charset="-34"/>
              </a:rPr>
              <a:t>CPALL +1%, Makro +1% </a:t>
            </a:r>
            <a:r>
              <a:rPr lang="th-TH" sz="800" dirty="0">
                <a:solidFill>
                  <a:schemeClr val="tx1">
                    <a:lumMod val="65000"/>
                    <a:lumOff val="35000"/>
                  </a:schemeClr>
                </a:solidFill>
                <a:latin typeface="BLS Text" panose="00000500000000000000" pitchFamily="2" charset="-34"/>
                <a:cs typeface="BLS Text" pitchFamily="2" charset="-34"/>
              </a:rPr>
              <a:t>และ </a:t>
            </a:r>
            <a:r>
              <a:rPr lang="en-US" sz="800" dirty="0">
                <a:solidFill>
                  <a:schemeClr val="tx1">
                    <a:lumMod val="65000"/>
                    <a:lumOff val="35000"/>
                  </a:schemeClr>
                </a:solidFill>
                <a:latin typeface="BLS Text" panose="00000500000000000000" pitchFamily="2" charset="-34"/>
                <a:cs typeface="BLS Text" pitchFamily="2" charset="-34"/>
              </a:rPr>
              <a:t>Lotus’s </a:t>
            </a:r>
            <a:r>
              <a:rPr lang="th-TH" sz="800" dirty="0">
                <a:solidFill>
                  <a:schemeClr val="tx1">
                    <a:lumMod val="65000"/>
                    <a:lumOff val="35000"/>
                  </a:schemeClr>
                </a:solidFill>
                <a:latin typeface="BLS Text" panose="00000500000000000000" pitchFamily="2" charset="-34"/>
                <a:cs typeface="BLS Text" pitchFamily="2" charset="-34"/>
              </a:rPr>
              <a:t>ทรงตัว สำหรับกลุ่มที่ยังคงเห็นการเติบโตต่อเนื่องได้แก่ กลุ่มค้าปลีกสินค้า </a:t>
            </a:r>
            <a:r>
              <a:rPr lang="en-US" sz="800" dirty="0">
                <a:solidFill>
                  <a:schemeClr val="tx1">
                    <a:lumMod val="65000"/>
                    <a:lumOff val="35000"/>
                  </a:schemeClr>
                </a:solidFill>
                <a:latin typeface="BLS Text" panose="00000500000000000000" pitchFamily="2" charset="-34"/>
                <a:cs typeface="BLS Text" pitchFamily="2" charset="-34"/>
              </a:rPr>
              <a:t>IT </a:t>
            </a:r>
            <a:r>
              <a:rPr lang="th-TH" sz="800" dirty="0">
                <a:solidFill>
                  <a:schemeClr val="tx1">
                    <a:lumMod val="65000"/>
                    <a:lumOff val="35000"/>
                  </a:schemeClr>
                </a:solidFill>
                <a:latin typeface="BLS Text" panose="00000500000000000000" pitchFamily="2" charset="-34"/>
                <a:cs typeface="BLS Text" pitchFamily="2" charset="-34"/>
              </a:rPr>
              <a:t>ประเมินยอดขายเติบโตราว 7-9% สำหรับ </a:t>
            </a:r>
            <a:r>
              <a:rPr lang="en-US" sz="800" dirty="0">
                <a:solidFill>
                  <a:schemeClr val="tx1">
                    <a:lumMod val="65000"/>
                    <a:lumOff val="35000"/>
                  </a:schemeClr>
                </a:solidFill>
                <a:latin typeface="BLS Text" panose="00000500000000000000" pitchFamily="2" charset="-34"/>
                <a:cs typeface="BLS Text" pitchFamily="2" charset="-34"/>
              </a:rPr>
              <a:t>COM7 </a:t>
            </a:r>
            <a:r>
              <a:rPr lang="th-TH" sz="800" dirty="0">
                <a:solidFill>
                  <a:schemeClr val="tx1">
                    <a:lumMod val="65000"/>
                    <a:lumOff val="35000"/>
                  </a:schemeClr>
                </a:solidFill>
                <a:latin typeface="BLS Text" panose="00000500000000000000" pitchFamily="2" charset="-34"/>
                <a:cs typeface="BLS Text" pitchFamily="2" charset="-34"/>
              </a:rPr>
              <a:t>และ </a:t>
            </a:r>
            <a:r>
              <a:rPr lang="en-US" sz="800" dirty="0">
                <a:solidFill>
                  <a:schemeClr val="tx1">
                    <a:lumMod val="65000"/>
                    <a:lumOff val="35000"/>
                  </a:schemeClr>
                </a:solidFill>
                <a:latin typeface="BLS Text" panose="00000500000000000000" pitchFamily="2" charset="-34"/>
                <a:cs typeface="BLS Text" pitchFamily="2" charset="-34"/>
              </a:rPr>
              <a:t>ADVICE </a:t>
            </a:r>
            <a:r>
              <a:rPr lang="th-TH" sz="800" dirty="0">
                <a:solidFill>
                  <a:schemeClr val="tx1">
                    <a:lumMod val="65000"/>
                    <a:lumOff val="35000"/>
                  </a:schemeClr>
                </a:solidFill>
                <a:latin typeface="BLS Text" panose="00000500000000000000" pitchFamily="2" charset="-34"/>
                <a:cs typeface="BLS Text" pitchFamily="2" charset="-34"/>
              </a:rPr>
              <a:t>ราว 11-12% ในเดือนเม.ย. สำหรับห้างสรรพสินค้า ประเมินยอดขายผู้เช่าเติบโตราว 5% ในเดือนเม.ย.</a:t>
            </a:r>
          </a:p>
          <a:p>
            <a:pPr algn="thaiDist">
              <a:lnSpc>
                <a:spcPct val="120000"/>
              </a:lnSpc>
              <a:spcBef>
                <a:spcPts val="400"/>
              </a:spcBef>
              <a:buSzPct val="120000"/>
            </a:pPr>
            <a:r>
              <a:rPr lang="th-TH" sz="800" b="1" dirty="0">
                <a:solidFill>
                  <a:schemeClr val="tx1">
                    <a:lumMod val="65000"/>
                    <a:lumOff val="35000"/>
                  </a:schemeClr>
                </a:solidFill>
                <a:latin typeface="BLS Text" panose="00000500000000000000" pitchFamily="2" charset="-34"/>
                <a:cs typeface="BLS Text" pitchFamily="2" charset="-34"/>
              </a:rPr>
              <a:t>การท่องเที่ยวเริ่มโดนกระทบจากสงคราม</a:t>
            </a:r>
            <a:r>
              <a:rPr lang="en-US" sz="800" b="1" dirty="0">
                <a:solidFill>
                  <a:schemeClr val="tx1">
                    <a:lumMod val="65000"/>
                    <a:lumOff val="35000"/>
                  </a:schemeClr>
                </a:solidFill>
                <a:latin typeface="BLS Text" panose="00000500000000000000" pitchFamily="2" charset="-34"/>
                <a:cs typeface="BLS Text" pitchFamily="2" charset="-34"/>
              </a:rPr>
              <a:t>:</a:t>
            </a:r>
            <a:r>
              <a:rPr lang="th-TH" sz="800" b="1" dirty="0">
                <a:solidFill>
                  <a:schemeClr val="tx1">
                    <a:lumMod val="65000"/>
                    <a:lumOff val="35000"/>
                  </a:schemeClr>
                </a:solidFill>
                <a:latin typeface="BLS Text" panose="00000500000000000000" pitchFamily="2" charset="-34"/>
                <a:cs typeface="BLS Text" pitchFamily="2" charset="-34"/>
              </a:rPr>
              <a:t> </a:t>
            </a:r>
            <a:r>
              <a:rPr lang="th-TH" sz="800" dirty="0">
                <a:solidFill>
                  <a:schemeClr val="tx1">
                    <a:lumMod val="65000"/>
                    <a:lumOff val="35000"/>
                  </a:schemeClr>
                </a:solidFill>
                <a:latin typeface="BLS Text" panose="00000500000000000000" pitchFamily="2" charset="-34"/>
                <a:cs typeface="BLS Text" pitchFamily="2" charset="-34"/>
              </a:rPr>
              <a:t>จำนวนนักท่องเที่ยวอยู่ราว 2.4 ล้านคนในเดือนเม.ย. ลดลง 7% </a:t>
            </a:r>
            <a:r>
              <a:rPr lang="en-US" sz="800" dirty="0">
                <a:solidFill>
                  <a:schemeClr val="tx1">
                    <a:lumMod val="65000"/>
                    <a:lumOff val="35000"/>
                  </a:schemeClr>
                </a:solidFill>
                <a:latin typeface="BLS Text" panose="00000500000000000000" pitchFamily="2" charset="-34"/>
                <a:cs typeface="BLS Text" pitchFamily="2" charset="-34"/>
              </a:rPr>
              <a:t>YoY </a:t>
            </a:r>
            <a:r>
              <a:rPr lang="th-TH" sz="800" dirty="0">
                <a:solidFill>
                  <a:schemeClr val="tx1">
                    <a:lumMod val="65000"/>
                    <a:lumOff val="35000"/>
                  </a:schemeClr>
                </a:solidFill>
                <a:latin typeface="BLS Text" panose="00000500000000000000" pitchFamily="2" charset="-34"/>
                <a:cs typeface="BLS Text" pitchFamily="2" charset="-34"/>
              </a:rPr>
              <a:t>ความต้องการเดินทางเริ่มอ่อนตัวลงอย่างมีนัยสำคัญ โดยสายการบินทยอยลดเที่ยวบิน โดย </a:t>
            </a:r>
            <a:r>
              <a:rPr lang="en-US" sz="800" dirty="0">
                <a:solidFill>
                  <a:schemeClr val="tx1">
                    <a:lumMod val="65000"/>
                    <a:lumOff val="35000"/>
                  </a:schemeClr>
                </a:solidFill>
                <a:latin typeface="BLS Text" panose="00000500000000000000" pitchFamily="2" charset="-34"/>
                <a:cs typeface="BLS Text" pitchFamily="2" charset="-34"/>
              </a:rPr>
              <a:t>Thai AirAsia </a:t>
            </a:r>
            <a:r>
              <a:rPr lang="th-TH" sz="800" dirty="0">
                <a:solidFill>
                  <a:schemeClr val="tx1">
                    <a:lumMod val="65000"/>
                    <a:lumOff val="35000"/>
                  </a:schemeClr>
                </a:solidFill>
                <a:latin typeface="BLS Text" panose="00000500000000000000" pitchFamily="2" charset="-34"/>
                <a:cs typeface="BLS Text" pitchFamily="2" charset="-34"/>
              </a:rPr>
              <a:t>ปรับลดเส้นทางบินภูมิภาค 26 เส้นทาง ขณะที่ </a:t>
            </a:r>
            <a:r>
              <a:rPr lang="en-US" sz="800" dirty="0">
                <a:solidFill>
                  <a:schemeClr val="tx1">
                    <a:lumMod val="65000"/>
                    <a:lumOff val="35000"/>
                  </a:schemeClr>
                </a:solidFill>
                <a:latin typeface="BLS Text" panose="00000500000000000000" pitchFamily="2" charset="-34"/>
                <a:cs typeface="BLS Text" pitchFamily="2" charset="-34"/>
              </a:rPr>
              <a:t>Thai AirAsia X </a:t>
            </a:r>
            <a:r>
              <a:rPr lang="th-TH" sz="800" dirty="0">
                <a:solidFill>
                  <a:schemeClr val="tx1">
                    <a:lumMod val="65000"/>
                    <a:lumOff val="35000"/>
                  </a:schemeClr>
                </a:solidFill>
                <a:latin typeface="BLS Text" panose="00000500000000000000" pitchFamily="2" charset="-34"/>
                <a:cs typeface="BLS Text" pitchFamily="2" charset="-34"/>
              </a:rPr>
              <a:t>ยกเลิกเที่ยวบินไปเซี่ยงไฮ้และริยาด และลดความถี่ในเส้นทางโตเกียว โอซาก้า และเดลี ด้าน </a:t>
            </a:r>
            <a:r>
              <a:rPr lang="en-US" sz="800" dirty="0">
                <a:solidFill>
                  <a:schemeClr val="tx1">
                    <a:lumMod val="65000"/>
                    <a:lumOff val="35000"/>
                  </a:schemeClr>
                </a:solidFill>
                <a:latin typeface="BLS Text" panose="00000500000000000000" pitchFamily="2" charset="-34"/>
                <a:cs typeface="BLS Text" pitchFamily="2" charset="-34"/>
              </a:rPr>
              <a:t>Thai Airways</a:t>
            </a:r>
            <a:r>
              <a:rPr lang="th-TH" sz="800" dirty="0">
                <a:solidFill>
                  <a:schemeClr val="tx1">
                    <a:lumMod val="65000"/>
                    <a:lumOff val="35000"/>
                  </a:schemeClr>
                </a:solidFill>
                <a:latin typeface="BLS Text" panose="00000500000000000000" pitchFamily="2" charset="-34"/>
                <a:cs typeface="BLS Text" pitchFamily="2" charset="-34"/>
              </a:rPr>
              <a:t> ประกาศยกเลิก/ลดเที่ยวบินมากกว่า 46 เที่ยวตั้งแต่เดือนพ.ค. 2026 จากต้นทุนน้ำมันที่สูงและ </a:t>
            </a:r>
            <a:r>
              <a:rPr lang="en-US" sz="800" dirty="0">
                <a:solidFill>
                  <a:schemeClr val="tx1">
                    <a:lumMod val="65000"/>
                    <a:lumOff val="35000"/>
                  </a:schemeClr>
                </a:solidFill>
                <a:latin typeface="BLS Text" panose="00000500000000000000" pitchFamily="2" charset="-34"/>
                <a:cs typeface="BLS Text" pitchFamily="2" charset="-34"/>
              </a:rPr>
              <a:t>load</a:t>
            </a:r>
            <a:r>
              <a:rPr lang="th-TH" sz="800" dirty="0">
                <a:solidFill>
                  <a:schemeClr val="tx1">
                    <a:lumMod val="65000"/>
                    <a:lumOff val="35000"/>
                  </a:schemeClr>
                </a:solidFill>
                <a:latin typeface="BLS Text" panose="00000500000000000000" pitchFamily="2" charset="-34"/>
                <a:cs typeface="BLS Text" pitchFamily="2" charset="-34"/>
              </a:rPr>
              <a:t> </a:t>
            </a:r>
            <a:r>
              <a:rPr lang="en-US" sz="800" dirty="0">
                <a:solidFill>
                  <a:schemeClr val="tx1">
                    <a:lumMod val="65000"/>
                    <a:lumOff val="35000"/>
                  </a:schemeClr>
                </a:solidFill>
                <a:latin typeface="BLS Text" panose="00000500000000000000" pitchFamily="2" charset="-34"/>
                <a:cs typeface="BLS Text" pitchFamily="2" charset="-34"/>
              </a:rPr>
              <a:t>factor</a:t>
            </a:r>
            <a:r>
              <a:rPr lang="th-TH" sz="800" dirty="0">
                <a:solidFill>
                  <a:schemeClr val="tx1">
                    <a:lumMod val="65000"/>
                    <a:lumOff val="35000"/>
                  </a:schemeClr>
                </a:solidFill>
                <a:latin typeface="BLS Text" panose="00000500000000000000" pitchFamily="2" charset="-34"/>
                <a:cs typeface="BLS Text" pitchFamily="2" charset="-34"/>
              </a:rPr>
              <a:t> อ่อนตัว ทั้งนี้ คาดกดดันแนวโน้มธุรกิจสนามบิน </a:t>
            </a:r>
            <a:r>
              <a:rPr lang="en-US" sz="800" dirty="0">
                <a:solidFill>
                  <a:schemeClr val="tx1">
                    <a:lumMod val="65000"/>
                    <a:lumOff val="35000"/>
                  </a:schemeClr>
                </a:solidFill>
                <a:latin typeface="BLS Text" panose="00000500000000000000" pitchFamily="2" charset="-34"/>
                <a:cs typeface="BLS Text" pitchFamily="2" charset="-34"/>
              </a:rPr>
              <a:t>AOT</a:t>
            </a:r>
            <a:r>
              <a:rPr lang="th-TH" sz="800" dirty="0">
                <a:solidFill>
                  <a:schemeClr val="tx1">
                    <a:lumMod val="65000"/>
                    <a:lumOff val="35000"/>
                  </a:schemeClr>
                </a:solidFill>
                <a:latin typeface="BLS Text" panose="00000500000000000000" pitchFamily="2" charset="-34"/>
                <a:cs typeface="BLS Text" pitchFamily="2" charset="-34"/>
              </a:rPr>
              <a:t> หลังสัดส่วนผู้โดยสารจากสายการบิน </a:t>
            </a:r>
            <a:r>
              <a:rPr lang="en-US" sz="800" dirty="0">
                <a:solidFill>
                  <a:schemeClr val="tx1">
                    <a:lumMod val="65000"/>
                    <a:lumOff val="35000"/>
                  </a:schemeClr>
                </a:solidFill>
                <a:latin typeface="BLS Text" panose="00000500000000000000" pitchFamily="2" charset="-34"/>
                <a:cs typeface="BLS Text" pitchFamily="2" charset="-34"/>
              </a:rPr>
              <a:t>Thai Airways </a:t>
            </a:r>
            <a:r>
              <a:rPr lang="th-TH" sz="800" dirty="0">
                <a:solidFill>
                  <a:schemeClr val="tx1">
                    <a:lumMod val="65000"/>
                    <a:lumOff val="35000"/>
                  </a:schemeClr>
                </a:solidFill>
                <a:latin typeface="BLS Text" panose="00000500000000000000" pitchFamily="2" charset="-34"/>
                <a:cs typeface="BLS Text" pitchFamily="2" charset="-34"/>
              </a:rPr>
              <a:t>และ </a:t>
            </a:r>
            <a:r>
              <a:rPr lang="en-US" sz="800" dirty="0">
                <a:solidFill>
                  <a:schemeClr val="tx1">
                    <a:lumMod val="65000"/>
                    <a:lumOff val="35000"/>
                  </a:schemeClr>
                </a:solidFill>
                <a:latin typeface="BLS Text" panose="00000500000000000000" pitchFamily="2" charset="-34"/>
                <a:cs typeface="BLS Text" pitchFamily="2" charset="-34"/>
              </a:rPr>
              <a:t>Thai AirAsia </a:t>
            </a:r>
            <a:r>
              <a:rPr lang="th-TH" sz="800" dirty="0">
                <a:solidFill>
                  <a:schemeClr val="tx1">
                    <a:lumMod val="65000"/>
                    <a:lumOff val="35000"/>
                  </a:schemeClr>
                </a:solidFill>
                <a:latin typeface="BLS Text" panose="00000500000000000000" pitchFamily="2" charset="-34"/>
                <a:cs typeface="BLS Text" pitchFamily="2" charset="-34"/>
              </a:rPr>
              <a:t>รวมกันคิดเป็น 73% ของผู้โดยสารทั้งหมดของ </a:t>
            </a:r>
            <a:r>
              <a:rPr lang="en-US" sz="800" dirty="0">
                <a:solidFill>
                  <a:schemeClr val="tx1">
                    <a:lumMod val="65000"/>
                    <a:lumOff val="35000"/>
                  </a:schemeClr>
                </a:solidFill>
                <a:latin typeface="BLS Text" panose="00000500000000000000" pitchFamily="2" charset="-34"/>
                <a:cs typeface="BLS Text" pitchFamily="2" charset="-34"/>
              </a:rPr>
              <a:t>AOT </a:t>
            </a:r>
            <a:r>
              <a:rPr lang="th-TH" sz="800" dirty="0">
                <a:solidFill>
                  <a:schemeClr val="tx1">
                    <a:lumMod val="65000"/>
                    <a:lumOff val="35000"/>
                  </a:schemeClr>
                </a:solidFill>
                <a:latin typeface="BLS Text" panose="00000500000000000000" pitchFamily="2" charset="-34"/>
                <a:cs typeface="BLS Text" pitchFamily="2" charset="-34"/>
              </a:rPr>
              <a:t>ในปี 2025 ขณะที่ การเก็บค่าธรรมเนียมขาออกนักท่องเที่ยว 1,000 บาท อาจเป็นความเสี่ยงเพิ่มเติม ทั้งนี้ ตัวเลขผู้โดยสารรวมสนามบิน </a:t>
            </a:r>
            <a:r>
              <a:rPr lang="en-US" sz="800" dirty="0">
                <a:solidFill>
                  <a:schemeClr val="tx1">
                    <a:lumMod val="65000"/>
                    <a:lumOff val="35000"/>
                  </a:schemeClr>
                </a:solidFill>
                <a:latin typeface="BLS Text" panose="00000500000000000000" pitchFamily="2" charset="-34"/>
                <a:cs typeface="BLS Text" pitchFamily="2" charset="-34"/>
              </a:rPr>
              <a:t>AOT -1% YoY </a:t>
            </a:r>
            <a:r>
              <a:rPr lang="th-TH" sz="800" dirty="0">
                <a:solidFill>
                  <a:schemeClr val="tx1">
                    <a:lumMod val="65000"/>
                    <a:lumOff val="35000"/>
                  </a:schemeClr>
                </a:solidFill>
                <a:latin typeface="BLS Text" panose="00000500000000000000" pitchFamily="2" charset="-34"/>
                <a:cs typeface="BLS Text" pitchFamily="2" charset="-34"/>
              </a:rPr>
              <a:t>และจำนวนเที่ยวบินลดลง -0.6% </a:t>
            </a:r>
            <a:r>
              <a:rPr lang="en-US" sz="800" dirty="0">
                <a:solidFill>
                  <a:schemeClr val="tx1">
                    <a:lumMod val="65000"/>
                    <a:lumOff val="35000"/>
                  </a:schemeClr>
                </a:solidFill>
                <a:latin typeface="BLS Text" panose="00000500000000000000" pitchFamily="2" charset="-34"/>
                <a:cs typeface="BLS Text" pitchFamily="2" charset="-34"/>
              </a:rPr>
              <a:t>YoY</a:t>
            </a:r>
            <a:r>
              <a:rPr lang="th-TH" sz="800" dirty="0">
                <a:solidFill>
                  <a:schemeClr val="tx1">
                    <a:lumMod val="65000"/>
                    <a:lumOff val="35000"/>
                  </a:schemeClr>
                </a:solidFill>
                <a:latin typeface="BLS Text" panose="00000500000000000000" pitchFamily="2" charset="-34"/>
                <a:cs typeface="BLS Text" pitchFamily="2" charset="-34"/>
              </a:rPr>
              <a:t> ในเดือนเม.ย. และมีความเสี่ยงอ่อนแอต่อเนื่อง เราคาดจำนวนนักท่องเที่ยวลดลงเหลือ 30.4 ล้านราย (ลดลง 5% </a:t>
            </a:r>
            <a:r>
              <a:rPr lang="en-US" sz="800" dirty="0">
                <a:solidFill>
                  <a:schemeClr val="tx1">
                    <a:lumMod val="65000"/>
                    <a:lumOff val="35000"/>
                  </a:schemeClr>
                </a:solidFill>
                <a:latin typeface="BLS Text" panose="00000500000000000000" pitchFamily="2" charset="-34"/>
                <a:cs typeface="BLS Text" pitchFamily="2" charset="-34"/>
              </a:rPr>
              <a:t>YoY) </a:t>
            </a:r>
            <a:r>
              <a:rPr lang="th-TH" sz="800" dirty="0">
                <a:solidFill>
                  <a:schemeClr val="tx1">
                    <a:lumMod val="65000"/>
                    <a:lumOff val="35000"/>
                  </a:schemeClr>
                </a:solidFill>
                <a:latin typeface="BLS Text" panose="00000500000000000000" pitchFamily="2" charset="-34"/>
                <a:cs typeface="BLS Text" pitchFamily="2" charset="-34"/>
              </a:rPr>
              <a:t>ในปี 2026 จาก 33.0 ล้านคนในปี 2025 จากผลกระทบของสงคราม</a:t>
            </a:r>
          </a:p>
          <a:p>
            <a:pPr algn="thaiDist">
              <a:lnSpc>
                <a:spcPct val="120000"/>
              </a:lnSpc>
              <a:spcBef>
                <a:spcPts val="300"/>
              </a:spcBef>
              <a:buSzPct val="120000"/>
            </a:pPr>
            <a:r>
              <a:rPr lang="th-TH" sz="800" dirty="0">
                <a:solidFill>
                  <a:schemeClr val="tx1">
                    <a:lumMod val="65000"/>
                    <a:lumOff val="35000"/>
                  </a:schemeClr>
                </a:solidFill>
                <a:latin typeface="BLS Text" panose="00000500000000000000" pitchFamily="2" charset="-34"/>
                <a:cs typeface="BLS Text" pitchFamily="2" charset="-34"/>
              </a:rPr>
              <a:t>ขณะที่กลุ่มโรงแรมให้ภาพสอดคล้องกัน ประเมินตัวเลขรายได้เฉลี่ยต่อห้องพักที่เปิดให้บริการ </a:t>
            </a:r>
            <a:r>
              <a:rPr lang="en-US" sz="800" dirty="0">
                <a:solidFill>
                  <a:schemeClr val="tx1">
                    <a:lumMod val="65000"/>
                    <a:lumOff val="35000"/>
                  </a:schemeClr>
                </a:solidFill>
                <a:latin typeface="BLS Text" panose="00000500000000000000" pitchFamily="2" charset="-34"/>
                <a:cs typeface="BLS Text" pitchFamily="2" charset="-34"/>
              </a:rPr>
              <a:t>RevPAR (Revenue Per Available Room) </a:t>
            </a:r>
            <a:r>
              <a:rPr lang="th-TH" sz="800" dirty="0">
                <a:solidFill>
                  <a:schemeClr val="tx1">
                    <a:lumMod val="65000"/>
                    <a:lumOff val="35000"/>
                  </a:schemeClr>
                </a:solidFill>
                <a:latin typeface="BLS Text" panose="00000500000000000000" pitchFamily="2" charset="-34"/>
                <a:cs typeface="BLS Text" pitchFamily="2" charset="-34"/>
              </a:rPr>
              <a:t>ในเดือนเม.ย. หดตัวราว -2% สำหรับ </a:t>
            </a:r>
            <a:r>
              <a:rPr lang="en-US" sz="800" dirty="0">
                <a:solidFill>
                  <a:schemeClr val="tx1">
                    <a:lumMod val="65000"/>
                    <a:lumOff val="35000"/>
                  </a:schemeClr>
                </a:solidFill>
                <a:latin typeface="BLS Text" panose="00000500000000000000" pitchFamily="2" charset="-34"/>
                <a:cs typeface="BLS Text" pitchFamily="2" charset="-34"/>
              </a:rPr>
              <a:t>AWC, CENTEL, MINT </a:t>
            </a:r>
            <a:r>
              <a:rPr lang="th-TH" sz="800" dirty="0">
                <a:solidFill>
                  <a:schemeClr val="tx1">
                    <a:lumMod val="65000"/>
                    <a:lumOff val="35000"/>
                  </a:schemeClr>
                </a:solidFill>
                <a:latin typeface="BLS Text" panose="00000500000000000000" pitchFamily="2" charset="-34"/>
                <a:cs typeface="BLS Text" pitchFamily="2" charset="-34"/>
              </a:rPr>
              <a:t>ขณะที่ </a:t>
            </a:r>
            <a:r>
              <a:rPr lang="en-US" sz="800" dirty="0">
                <a:solidFill>
                  <a:schemeClr val="tx1">
                    <a:lumMod val="65000"/>
                    <a:lumOff val="35000"/>
                  </a:schemeClr>
                </a:solidFill>
                <a:latin typeface="BLS Text" panose="00000500000000000000" pitchFamily="2" charset="-34"/>
                <a:cs typeface="BLS Text" pitchFamily="2" charset="-34"/>
              </a:rPr>
              <a:t>ERW </a:t>
            </a:r>
            <a:r>
              <a:rPr lang="th-TH" sz="800" dirty="0">
                <a:solidFill>
                  <a:schemeClr val="tx1">
                    <a:lumMod val="65000"/>
                    <a:lumOff val="35000"/>
                  </a:schemeClr>
                </a:solidFill>
                <a:latin typeface="BLS Text" panose="00000500000000000000" pitchFamily="2" charset="-34"/>
                <a:cs typeface="BLS Text" pitchFamily="2" charset="-34"/>
              </a:rPr>
              <a:t>ทรงตัว และมีแนวโน้มอ่อนแอต่อเนื่อง</a:t>
            </a:r>
          </a:p>
        </p:txBody>
      </p:sp>
      <p:cxnSp>
        <p:nvCxnSpPr>
          <p:cNvPr id="3" name="Straight Connector 2">
            <a:extLst>
              <a:ext uri="{FF2B5EF4-FFF2-40B4-BE49-F238E27FC236}">
                <a16:creationId xmlns:a16="http://schemas.microsoft.com/office/drawing/2014/main" id="{3FB7FD5E-C2F4-696F-9623-665905EA508D}"/>
              </a:ext>
            </a:extLst>
          </p:cNvPr>
          <p:cNvCxnSpPr/>
          <p:nvPr/>
        </p:nvCxnSpPr>
        <p:spPr>
          <a:xfrm>
            <a:off x="2161884" y="410050"/>
            <a:ext cx="0" cy="230832"/>
          </a:xfrm>
          <a:prstGeom prst="line">
            <a:avLst/>
          </a:prstGeom>
          <a:ln w="3175">
            <a:solidFill>
              <a:srgbClr val="002060"/>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492222F-6A22-6060-8AE7-28693619881E}"/>
              </a:ext>
            </a:extLst>
          </p:cNvPr>
          <p:cNvSpPr txBox="1"/>
          <p:nvPr/>
        </p:nvSpPr>
        <p:spPr>
          <a:xfrm>
            <a:off x="2161884" y="337471"/>
            <a:ext cx="1411131" cy="369332"/>
          </a:xfrm>
          <a:prstGeom prst="rect">
            <a:avLst/>
          </a:prstGeom>
          <a:noFill/>
        </p:spPr>
        <p:txBody>
          <a:bodyPr wrap="square" rtlCol="0">
            <a:spAutoFit/>
          </a:bodyPr>
          <a:lstStyle/>
          <a:p>
            <a:r>
              <a:rPr lang="en-US" sz="900" b="1" dirty="0">
                <a:solidFill>
                  <a:schemeClr val="accent3">
                    <a:lumMod val="50000"/>
                  </a:schemeClr>
                </a:solidFill>
                <a:latin typeface="Arial" pitchFamily="34" charset="0"/>
                <a:cs typeface="Arial" pitchFamily="34" charset="0"/>
              </a:rPr>
              <a:t>Data-driven</a:t>
            </a:r>
            <a:endParaRPr lang="th-TH" sz="900" b="1" dirty="0">
              <a:solidFill>
                <a:schemeClr val="accent3">
                  <a:lumMod val="50000"/>
                </a:schemeClr>
              </a:solidFill>
              <a:latin typeface="Arial" pitchFamily="34" charset="0"/>
              <a:cs typeface="Arial" pitchFamily="34" charset="0"/>
            </a:endParaRPr>
          </a:p>
          <a:p>
            <a:r>
              <a:rPr lang="en-US" sz="900" b="1" dirty="0">
                <a:solidFill>
                  <a:schemeClr val="tx2">
                    <a:lumMod val="50000"/>
                  </a:schemeClr>
                </a:solidFill>
                <a:latin typeface="Arial" pitchFamily="34" charset="0"/>
                <a:cs typeface="Arial" pitchFamily="34" charset="0"/>
              </a:rPr>
              <a:t>RESEARCH</a:t>
            </a:r>
          </a:p>
        </p:txBody>
      </p:sp>
      <p:sp>
        <p:nvSpPr>
          <p:cNvPr id="47" name="TextBox 46">
            <a:extLst>
              <a:ext uri="{FF2B5EF4-FFF2-40B4-BE49-F238E27FC236}">
                <a16:creationId xmlns:a16="http://schemas.microsoft.com/office/drawing/2014/main" id="{C9066BA8-BE99-5985-B984-4F43D0AC32DB}"/>
              </a:ext>
            </a:extLst>
          </p:cNvPr>
          <p:cNvSpPr txBox="1"/>
          <p:nvPr/>
        </p:nvSpPr>
        <p:spPr>
          <a:xfrm>
            <a:off x="4293096" y="8486854"/>
            <a:ext cx="2471462" cy="261610"/>
          </a:xfrm>
          <a:prstGeom prst="rect">
            <a:avLst/>
          </a:prstGeom>
          <a:noFill/>
          <a:ln>
            <a:noFill/>
          </a:ln>
        </p:spPr>
        <p:txBody>
          <a:bodyPr wrap="square" rtlCol="0">
            <a:spAutoFit/>
          </a:bodyPr>
          <a:lstStyle/>
          <a:p>
            <a:pPr algn="r"/>
            <a:r>
              <a:rPr lang="en-US" sz="900" b="1" dirty="0">
                <a:solidFill>
                  <a:schemeClr val="accent5">
                    <a:lumMod val="75000"/>
                  </a:schemeClr>
                </a:solidFill>
                <a:latin typeface="BLS Condensed" pitchFamily="2" charset="-34"/>
                <a:ea typeface="Tahoma" pitchFamily="34" charset="0"/>
                <a:cs typeface="BLS Condensed" pitchFamily="2" charset="-34"/>
              </a:rPr>
              <a:t>Wealth Research</a:t>
            </a:r>
            <a:endParaRPr lang="en-US" sz="500" dirty="0">
              <a:solidFill>
                <a:schemeClr val="tx1">
                  <a:lumMod val="95000"/>
                  <a:lumOff val="5000"/>
                </a:schemeClr>
              </a:solidFill>
              <a:latin typeface="BLS Condensed" pitchFamily="2" charset="-34"/>
              <a:ea typeface="Tahoma" pitchFamily="34" charset="0"/>
              <a:cs typeface="BLS Condensed" pitchFamily="2" charset="-34"/>
            </a:endParaRPr>
          </a:p>
          <a:p>
            <a:pPr algn="r"/>
            <a:endParaRPr lang="en-US" sz="200" dirty="0">
              <a:solidFill>
                <a:srgbClr val="404040"/>
              </a:solidFill>
              <a:latin typeface="BLS Condensed" pitchFamily="2" charset="-34"/>
              <a:ea typeface="Tahoma" pitchFamily="34" charset="0"/>
              <a:cs typeface="BLS Condensed" pitchFamily="2" charset="-34"/>
            </a:endParaRPr>
          </a:p>
        </p:txBody>
      </p:sp>
      <p:sp>
        <p:nvSpPr>
          <p:cNvPr id="11" name="TextBox 10">
            <a:extLst>
              <a:ext uri="{FF2B5EF4-FFF2-40B4-BE49-F238E27FC236}">
                <a16:creationId xmlns:a16="http://schemas.microsoft.com/office/drawing/2014/main" id="{C7236C13-3759-8FB1-0CD1-5FC325CB7A9A}"/>
              </a:ext>
            </a:extLst>
          </p:cNvPr>
          <p:cNvSpPr txBox="1"/>
          <p:nvPr/>
        </p:nvSpPr>
        <p:spPr>
          <a:xfrm>
            <a:off x="3461403" y="8611125"/>
            <a:ext cx="2471462" cy="569387"/>
          </a:xfrm>
          <a:prstGeom prst="rect">
            <a:avLst/>
          </a:prstGeom>
          <a:noFill/>
          <a:ln>
            <a:noFill/>
          </a:ln>
        </p:spPr>
        <p:txBody>
          <a:bodyPr wrap="square" rtlCol="0">
            <a:spAutoFit/>
          </a:bodyPr>
          <a:lstStyle/>
          <a:p>
            <a:pPr algn="r"/>
            <a:r>
              <a:rPr lang="th-TH" sz="700" dirty="0">
                <a:solidFill>
                  <a:srgbClr val="404040"/>
                </a:solidFill>
                <a:latin typeface="BLS Condensed" pitchFamily="2" charset="-34"/>
                <a:ea typeface="Tahoma" pitchFamily="34" charset="0"/>
                <a:cs typeface="BLS Condensed" pitchFamily="2" charset="-34"/>
              </a:rPr>
              <a:t>พิริยพล  คงวาณิช</a:t>
            </a:r>
            <a:endParaRPr lang="en-US" sz="700" dirty="0">
              <a:solidFill>
                <a:srgbClr val="404040"/>
              </a:solidFill>
              <a:latin typeface="BLS Condensed" pitchFamily="2" charset="-34"/>
              <a:ea typeface="Tahoma" pitchFamily="34" charset="0"/>
              <a:cs typeface="BLS Condensed" pitchFamily="2" charset="-34"/>
            </a:endParaRPr>
          </a:p>
          <a:p>
            <a:pPr algn="r"/>
            <a:r>
              <a:rPr lang="th-TH" sz="500" dirty="0">
                <a:solidFill>
                  <a:srgbClr val="404040"/>
                </a:solidFill>
                <a:latin typeface="BLS Condensed" pitchFamily="2" charset="-34"/>
                <a:ea typeface="Tahoma" pitchFamily="34" charset="0"/>
                <a:cs typeface="BLS Condensed" pitchFamily="2" charset="-34"/>
              </a:rPr>
              <a:t>นักกลยุทธ์/ผู้จัดการกองทุน/</a:t>
            </a:r>
            <a:endParaRPr lang="en-US" sz="500" dirty="0">
              <a:solidFill>
                <a:srgbClr val="404040"/>
              </a:solidFill>
              <a:latin typeface="BLS Condensed" pitchFamily="2" charset="-34"/>
              <a:ea typeface="Tahoma" pitchFamily="34" charset="0"/>
              <a:cs typeface="BLS Condensed" pitchFamily="2" charset="-34"/>
            </a:endParaRPr>
          </a:p>
          <a:p>
            <a:pPr algn="r"/>
            <a:r>
              <a:rPr lang="th-TH" sz="500" dirty="0">
                <a:solidFill>
                  <a:srgbClr val="404040"/>
                </a:solidFill>
                <a:latin typeface="BLS Condensed" pitchFamily="2" charset="-34"/>
                <a:ea typeface="Tahoma" pitchFamily="34" charset="0"/>
                <a:cs typeface="BLS Condensed" pitchFamily="2" charset="-34"/>
              </a:rPr>
              <a:t>นักวิเคราะห์การลงทุนปัจจัยพื้นฐานด้านหลักทรัพย์</a:t>
            </a:r>
          </a:p>
          <a:p>
            <a:pPr algn="r"/>
            <a:r>
              <a:rPr lang="en-US" sz="500" dirty="0">
                <a:solidFill>
                  <a:srgbClr val="404040"/>
                </a:solidFill>
                <a:latin typeface="BLS Condensed" pitchFamily="2" charset="-34"/>
                <a:ea typeface="Tahoma" pitchFamily="34" charset="0"/>
                <a:cs typeface="BLS Condensed" pitchFamily="2" charset="-34"/>
              </a:rPr>
              <a:t>Piriyapon.kon@bualuang.co.th</a:t>
            </a:r>
          </a:p>
          <a:p>
            <a:pPr algn="r"/>
            <a:r>
              <a:rPr lang="en-US" sz="500" dirty="0">
                <a:solidFill>
                  <a:schemeClr val="accent5">
                    <a:lumMod val="75000"/>
                  </a:schemeClr>
                </a:solidFill>
                <a:latin typeface="BLS Condensed" pitchFamily="2" charset="-34"/>
                <a:ea typeface="Tahoma" pitchFamily="34" charset="0"/>
                <a:cs typeface="BLS Condensed" pitchFamily="2" charset="-34"/>
              </a:rPr>
              <a:t>+66 2 618 1333</a:t>
            </a:r>
            <a:endParaRPr lang="en-US" sz="700" dirty="0">
              <a:solidFill>
                <a:srgbClr val="404040"/>
              </a:solidFill>
              <a:latin typeface="BLS Condensed" pitchFamily="2" charset="-34"/>
              <a:ea typeface="Tahoma" pitchFamily="34" charset="0"/>
              <a:cs typeface="BLS Condensed" pitchFamily="2" charset="-34"/>
            </a:endParaRPr>
          </a:p>
          <a:p>
            <a:pPr algn="r"/>
            <a:endParaRPr lang="en-US" sz="200" dirty="0">
              <a:solidFill>
                <a:srgbClr val="404040"/>
              </a:solidFill>
              <a:latin typeface="BLS Condensed" pitchFamily="2" charset="-34"/>
              <a:ea typeface="Tahoma" pitchFamily="34" charset="0"/>
              <a:cs typeface="BLS Condensed" pitchFamily="2" charset="-34"/>
            </a:endParaRPr>
          </a:p>
          <a:p>
            <a:pPr algn="r"/>
            <a:endParaRPr lang="en-US" sz="200" dirty="0">
              <a:solidFill>
                <a:srgbClr val="404040"/>
              </a:solidFill>
              <a:latin typeface="BLS Condensed" pitchFamily="2" charset="-34"/>
              <a:ea typeface="Tahoma" pitchFamily="34" charset="0"/>
              <a:cs typeface="BLS Condensed" pitchFamily="2" charset="-34"/>
            </a:endParaRPr>
          </a:p>
        </p:txBody>
      </p:sp>
      <p:sp>
        <p:nvSpPr>
          <p:cNvPr id="13" name="TextBox 12">
            <a:extLst>
              <a:ext uri="{FF2B5EF4-FFF2-40B4-BE49-F238E27FC236}">
                <a16:creationId xmlns:a16="http://schemas.microsoft.com/office/drawing/2014/main" id="{6DCBF6DF-DDD7-732E-1011-21022104764B}"/>
              </a:ext>
            </a:extLst>
          </p:cNvPr>
          <p:cNvSpPr txBox="1"/>
          <p:nvPr/>
        </p:nvSpPr>
        <p:spPr>
          <a:xfrm>
            <a:off x="4317629" y="8676456"/>
            <a:ext cx="2471462" cy="338554"/>
          </a:xfrm>
          <a:prstGeom prst="rect">
            <a:avLst/>
          </a:prstGeom>
          <a:noFill/>
          <a:ln>
            <a:noFill/>
          </a:ln>
        </p:spPr>
        <p:txBody>
          <a:bodyPr wrap="square" rtlCol="0">
            <a:spAutoFit/>
          </a:bodyPr>
          <a:lstStyle/>
          <a:p>
            <a:pPr algn="r"/>
            <a:endParaRPr lang="en-US" sz="200" dirty="0">
              <a:solidFill>
                <a:srgbClr val="404040"/>
              </a:solidFill>
              <a:latin typeface="BLS Condensed" pitchFamily="2" charset="-34"/>
              <a:ea typeface="Tahoma" pitchFamily="34" charset="0"/>
              <a:cs typeface="BLS Condensed" pitchFamily="2" charset="-34"/>
            </a:endParaRPr>
          </a:p>
          <a:p>
            <a:pPr algn="r"/>
            <a:r>
              <a:rPr lang="th-TH" sz="700" dirty="0">
                <a:solidFill>
                  <a:srgbClr val="404040"/>
                </a:solidFill>
                <a:latin typeface="BLS Condensed" pitchFamily="2" charset="-34"/>
                <a:ea typeface="Tahoma" pitchFamily="34" charset="0"/>
                <a:cs typeface="BLS Condensed" pitchFamily="2" charset="-34"/>
              </a:rPr>
              <a:t>อิทธิ สุตัณฑวิบูลย์ </a:t>
            </a:r>
          </a:p>
          <a:p>
            <a:pPr algn="r"/>
            <a:r>
              <a:rPr lang="th-TH" sz="500" dirty="0">
                <a:solidFill>
                  <a:srgbClr val="404040"/>
                </a:solidFill>
                <a:latin typeface="BLS Condensed" pitchFamily="2" charset="-34"/>
                <a:ea typeface="Tahoma" pitchFamily="34" charset="0"/>
                <a:cs typeface="BLS Condensed" pitchFamily="2" charset="-34"/>
              </a:rPr>
              <a:t>ผู้ช่วยนักวิเคราะห์</a:t>
            </a:r>
            <a:endParaRPr lang="en-US" sz="500" dirty="0">
              <a:solidFill>
                <a:srgbClr val="404040"/>
              </a:solidFill>
              <a:latin typeface="BLS Condensed" pitchFamily="2" charset="-34"/>
              <a:ea typeface="Tahoma" pitchFamily="34" charset="0"/>
              <a:cs typeface="BLS Condensed" pitchFamily="2" charset="-34"/>
            </a:endParaRPr>
          </a:p>
          <a:p>
            <a:pPr algn="r"/>
            <a:endParaRPr lang="en-US" sz="200" dirty="0">
              <a:solidFill>
                <a:srgbClr val="404040"/>
              </a:solidFill>
              <a:latin typeface="BLS Condensed" pitchFamily="2" charset="-34"/>
              <a:ea typeface="Tahoma" pitchFamily="34" charset="0"/>
              <a:cs typeface="BLS Condensed" pitchFamily="2" charset="-34"/>
            </a:endParaRPr>
          </a:p>
        </p:txBody>
      </p:sp>
      <p:cxnSp>
        <p:nvCxnSpPr>
          <p:cNvPr id="48" name="Straight Connector 47">
            <a:extLst>
              <a:ext uri="{FF2B5EF4-FFF2-40B4-BE49-F238E27FC236}">
                <a16:creationId xmlns:a16="http://schemas.microsoft.com/office/drawing/2014/main" id="{DB442B00-E779-9C8E-61D1-873917185A99}"/>
              </a:ext>
            </a:extLst>
          </p:cNvPr>
          <p:cNvCxnSpPr/>
          <p:nvPr/>
        </p:nvCxnSpPr>
        <p:spPr>
          <a:xfrm>
            <a:off x="4437360" y="8486141"/>
            <a:ext cx="223200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11C7C5D5-EAE4-B3E6-9DF7-E15CEA3E4EEB}"/>
              </a:ext>
            </a:extLst>
          </p:cNvPr>
          <p:cNvCxnSpPr>
            <a:cxnSpLocks/>
          </p:cNvCxnSpPr>
          <p:nvPr/>
        </p:nvCxnSpPr>
        <p:spPr>
          <a:xfrm>
            <a:off x="4008212" y="5076056"/>
            <a:ext cx="274320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241A465B-AFF2-BD30-A3C3-2B78B03168F9}"/>
              </a:ext>
            </a:extLst>
          </p:cNvPr>
          <p:cNvSpPr txBox="1"/>
          <p:nvPr/>
        </p:nvSpPr>
        <p:spPr>
          <a:xfrm>
            <a:off x="4018706" y="5087103"/>
            <a:ext cx="2290634" cy="230832"/>
          </a:xfrm>
          <a:prstGeom prst="rect">
            <a:avLst/>
          </a:prstGeom>
          <a:noFill/>
        </p:spPr>
        <p:txBody>
          <a:bodyPr wrap="square" lIns="0" rIns="0" rtlCol="0">
            <a:spAutoFit/>
          </a:bodyPr>
          <a:lstStyle/>
          <a:p>
            <a:r>
              <a:rPr lang="en-US" sz="900" dirty="0">
                <a:solidFill>
                  <a:srgbClr val="A17D3D"/>
                </a:solidFill>
                <a:latin typeface="BLS Condensed" pitchFamily="2" charset="-34"/>
                <a:ea typeface="Tahoma" pitchFamily="34" charset="0"/>
                <a:cs typeface="BLS Condensed" pitchFamily="2" charset="-34"/>
              </a:rPr>
              <a:t>Fundamental picks</a:t>
            </a:r>
          </a:p>
        </p:txBody>
      </p:sp>
      <p:graphicFrame>
        <p:nvGraphicFramePr>
          <p:cNvPr id="6" name="Table 5">
            <a:extLst>
              <a:ext uri="{FF2B5EF4-FFF2-40B4-BE49-F238E27FC236}">
                <a16:creationId xmlns:a16="http://schemas.microsoft.com/office/drawing/2014/main" id="{1054EC8F-5E13-8C19-036C-16C69372E744}"/>
              </a:ext>
            </a:extLst>
          </p:cNvPr>
          <p:cNvGraphicFramePr>
            <a:graphicFrameLocks noGrp="1"/>
          </p:cNvGraphicFramePr>
          <p:nvPr>
            <p:extLst>
              <p:ext uri="{D42A27DB-BD31-4B8C-83A1-F6EECF244321}">
                <p14:modId xmlns:p14="http://schemas.microsoft.com/office/powerpoint/2010/main" val="1274082888"/>
              </p:ext>
            </p:extLst>
          </p:nvPr>
        </p:nvGraphicFramePr>
        <p:xfrm>
          <a:off x="3933056" y="5292081"/>
          <a:ext cx="2818356" cy="3138275"/>
        </p:xfrm>
        <a:graphic>
          <a:graphicData uri="http://schemas.openxmlformats.org/drawingml/2006/table">
            <a:tbl>
              <a:tblPr bandRow="1">
                <a:tableStyleId>{3B4B98B0-60AC-42C2-AFA5-B58CD77FA1E5}</a:tableStyleId>
              </a:tblPr>
              <a:tblGrid>
                <a:gridCol w="380512">
                  <a:extLst>
                    <a:ext uri="{9D8B030D-6E8A-4147-A177-3AD203B41FA5}">
                      <a16:colId xmlns:a16="http://schemas.microsoft.com/office/drawing/2014/main" val="1245123072"/>
                    </a:ext>
                  </a:extLst>
                </a:gridCol>
                <a:gridCol w="2437844">
                  <a:extLst>
                    <a:ext uri="{9D8B030D-6E8A-4147-A177-3AD203B41FA5}">
                      <a16:colId xmlns:a16="http://schemas.microsoft.com/office/drawing/2014/main" val="2306194084"/>
                    </a:ext>
                  </a:extLst>
                </a:gridCol>
              </a:tblGrid>
              <a:tr h="136383">
                <a:tc>
                  <a:txBody>
                    <a:bodyPr/>
                    <a:lstStyle/>
                    <a:p>
                      <a:pPr algn="ctr"/>
                      <a:r>
                        <a:rPr lang="th-TH" sz="900" b="1" dirty="0">
                          <a:solidFill>
                            <a:schemeClr val="bg1"/>
                          </a:solidFill>
                          <a:latin typeface="BLS Text" panose="00000500000000000000" pitchFamily="2" charset="-34"/>
                          <a:cs typeface="BLS Text" panose="00000500000000000000" pitchFamily="2" charset="-34"/>
                        </a:rPr>
                        <a:t>หุ้น</a:t>
                      </a:r>
                    </a:p>
                  </a:txBody>
                  <a:tcPr marL="7982" marR="7982" marT="3991" marB="3991" anchor="ctr">
                    <a:lnL>
                      <a:noFill/>
                    </a:lnL>
                    <a:lnR>
                      <a:noFill/>
                    </a:lnR>
                    <a:lnT w="12700" cmpd="sng">
                      <a:noFill/>
                    </a:lnT>
                    <a:lnB>
                      <a:noFill/>
                    </a:lnB>
                    <a:lnTlToBr w="12700" cmpd="sng">
                      <a:noFill/>
                      <a:prstDash val="solid"/>
                    </a:lnTlToBr>
                    <a:lnBlToTr w="12700" cmpd="sng">
                      <a:noFill/>
                      <a:prstDash val="solid"/>
                    </a:lnBlToTr>
                    <a:solidFill>
                      <a:srgbClr val="215968"/>
                    </a:solidFill>
                  </a:tcPr>
                </a:tc>
                <a:tc>
                  <a:txBody>
                    <a:bodyPr/>
                    <a:lstStyle/>
                    <a:p>
                      <a:pPr algn="ctr"/>
                      <a:r>
                        <a:rPr lang="th-TH" sz="900" b="1" dirty="0">
                          <a:solidFill>
                            <a:schemeClr val="bg1"/>
                          </a:solidFill>
                          <a:latin typeface="BLS Text" panose="00000500000000000000" pitchFamily="2" charset="-34"/>
                          <a:cs typeface="BLS Text" panose="00000500000000000000" pitchFamily="2" charset="-34"/>
                        </a:rPr>
                        <a:t>ปัจจัยหนุน</a:t>
                      </a:r>
                    </a:p>
                  </a:txBody>
                  <a:tcPr marL="7982" marR="7982" marT="3991" marB="3991" anchor="ctr">
                    <a:lnL>
                      <a:noFill/>
                    </a:lnL>
                    <a:lnR>
                      <a:noFill/>
                    </a:lnR>
                    <a:lnT w="12700" cmpd="sng">
                      <a:noFill/>
                    </a:lnT>
                    <a:lnB>
                      <a:noFill/>
                    </a:lnB>
                    <a:lnTlToBr w="12700" cmpd="sng">
                      <a:noFill/>
                      <a:prstDash val="solid"/>
                    </a:lnTlToBr>
                    <a:lnBlToTr w="12700" cmpd="sng">
                      <a:noFill/>
                      <a:prstDash val="solid"/>
                    </a:lnBlToTr>
                    <a:solidFill>
                      <a:srgbClr val="215968"/>
                    </a:solidFill>
                  </a:tcPr>
                </a:tc>
                <a:extLst>
                  <a:ext uri="{0D108BD9-81ED-4DB2-BD59-A6C34878D82A}">
                    <a16:rowId xmlns:a16="http://schemas.microsoft.com/office/drawing/2014/main" val="4035294127"/>
                  </a:ext>
                </a:extLst>
              </a:tr>
              <a:tr h="919769">
                <a:tc>
                  <a:txBody>
                    <a:bodyPr/>
                    <a:lstStyle/>
                    <a:p>
                      <a:pPr algn="ctr"/>
                      <a:r>
                        <a:rPr lang="en-US" sz="1000" b="1" dirty="0">
                          <a:latin typeface="BLS Text" panose="00000500000000000000" pitchFamily="2" charset="-34"/>
                          <a:cs typeface="BLS Text" panose="00000500000000000000" pitchFamily="2" charset="-34"/>
                        </a:rPr>
                        <a:t>CPN </a:t>
                      </a:r>
                    </a:p>
                  </a:txBody>
                  <a:tcPr marL="7982" marR="7982" marT="3991" marB="3991" anchor="ctr">
                    <a:lnL>
                      <a:noFill/>
                    </a:lnL>
                    <a:lnR>
                      <a:noFill/>
                    </a:lnR>
                    <a:lnT>
                      <a:noFill/>
                    </a:lnT>
                    <a:lnB>
                      <a:noFill/>
                    </a:lnB>
                    <a:lnTlToBr w="12700" cmpd="sng">
                      <a:noFill/>
                      <a:prstDash val="solid"/>
                    </a:lnTlToBr>
                    <a:lnBlToTr w="12700" cmpd="sng">
                      <a:noFill/>
                      <a:prstDash val="solid"/>
                    </a:lnBlToTr>
                  </a:tcPr>
                </a:tc>
                <a:tc>
                  <a:txBody>
                    <a:bodyPr/>
                    <a:lstStyle/>
                    <a:p>
                      <a:pPr marL="262890" indent="-171450" algn="l">
                        <a:buFont typeface="Arial" panose="020B0604020202020204" pitchFamily="34" charset="0"/>
                        <a:buChar char="•"/>
                      </a:pPr>
                      <a:r>
                        <a:rPr lang="th-TH" sz="900" b="0" dirty="0">
                          <a:latin typeface="BLS Text" panose="00000500000000000000" pitchFamily="2" charset="-34"/>
                          <a:cs typeface="BLS Text" panose="00000500000000000000" pitchFamily="2" charset="-34"/>
                        </a:rPr>
                        <a:t>กำไรผันผวนต่ำจากโครงสร้างรายได้ที่พึ่งพาค่าเช่า (87% ของรายได้) </a:t>
                      </a:r>
                    </a:p>
                    <a:p>
                      <a:pPr marL="262890" indent="-171450" algn="l">
                        <a:buFont typeface="Arial" panose="020B0604020202020204" pitchFamily="34" charset="0"/>
                        <a:buChar char="•"/>
                      </a:pPr>
                      <a:r>
                        <a:rPr lang="th-TH" sz="900" b="0" dirty="0">
                          <a:latin typeface="BLS Text" panose="00000500000000000000" pitchFamily="2" charset="-34"/>
                          <a:cs typeface="BLS Text" panose="00000500000000000000" pitchFamily="2" charset="-34"/>
                        </a:rPr>
                        <a:t>มีความสามารถส่งผ่านต้นทุนได้-ความเสี่ยงจากต้นทุนค่าไฟจำกัด </a:t>
                      </a:r>
                    </a:p>
                    <a:p>
                      <a:pPr marL="262890" indent="-171450" algn="l">
                        <a:buFont typeface="Arial" panose="020B0604020202020204" pitchFamily="34" charset="0"/>
                        <a:buChar char="•"/>
                      </a:pPr>
                      <a:r>
                        <a:rPr lang="th-TH" sz="900" b="1" dirty="0">
                          <a:solidFill>
                            <a:schemeClr val="accent1"/>
                          </a:solidFill>
                          <a:latin typeface="BLS Text" panose="00000500000000000000" pitchFamily="2" charset="-34"/>
                          <a:cs typeface="BLS Text" panose="00000500000000000000" pitchFamily="2" charset="-34"/>
                        </a:rPr>
                        <a:t>ยอดขายผู้เช่าคาดโตต่อ ประเมิน +5% </a:t>
                      </a:r>
                      <a:r>
                        <a:rPr lang="en-US" sz="900" b="1" dirty="0">
                          <a:solidFill>
                            <a:schemeClr val="accent1"/>
                          </a:solidFill>
                          <a:latin typeface="BLS Text" panose="00000500000000000000" pitchFamily="2" charset="-34"/>
                          <a:cs typeface="BLS Text" panose="00000500000000000000" pitchFamily="2" charset="-34"/>
                        </a:rPr>
                        <a:t>YoY </a:t>
                      </a:r>
                      <a:r>
                        <a:rPr lang="th-TH" sz="900" b="1" dirty="0">
                          <a:solidFill>
                            <a:schemeClr val="accent1"/>
                          </a:solidFill>
                          <a:latin typeface="BLS Text" panose="00000500000000000000" pitchFamily="2" charset="-34"/>
                          <a:cs typeface="BLS Text" panose="00000500000000000000" pitchFamily="2" charset="-34"/>
                        </a:rPr>
                        <a:t>ในเดือนเม.ย. </a:t>
                      </a:r>
                    </a:p>
                    <a:p>
                      <a:pPr marL="262890" indent="-171450" algn="l">
                        <a:buFont typeface="Arial" panose="020B0604020202020204" pitchFamily="34" charset="0"/>
                        <a:buChar char="•"/>
                      </a:pPr>
                      <a:r>
                        <a:rPr lang="th-TH" sz="900" b="0" dirty="0">
                          <a:latin typeface="BLS Text" panose="00000500000000000000" pitchFamily="2" charset="-34"/>
                          <a:cs typeface="BLS Text" panose="00000500000000000000" pitchFamily="2" charset="-34"/>
                        </a:rPr>
                        <a:t>คาดผลตอบแทนเงินปันผลปี 2026 สูง ~4.0%</a:t>
                      </a:r>
                      <a:endParaRPr lang="en-US" sz="900" b="0" dirty="0">
                        <a:latin typeface="BLS Text" panose="00000500000000000000" pitchFamily="2" charset="-34"/>
                        <a:cs typeface="BLS Text" panose="00000500000000000000" pitchFamily="2" charset="-34"/>
                      </a:endParaRPr>
                    </a:p>
                  </a:txBody>
                  <a:tcPr marL="7982" marR="7982" marT="3991" marB="3991"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984291075"/>
                  </a:ext>
                </a:extLst>
              </a:tr>
              <a:tr h="919769">
                <a:tc>
                  <a:txBody>
                    <a:bodyPr/>
                    <a:lstStyle/>
                    <a:p>
                      <a:pPr algn="ctr"/>
                      <a:r>
                        <a:rPr lang="en-US" sz="1000" b="1" dirty="0">
                          <a:latin typeface="BLS Text" panose="00000500000000000000" pitchFamily="2" charset="-34"/>
                          <a:cs typeface="BLS Text" panose="00000500000000000000" pitchFamily="2" charset="-34"/>
                        </a:rPr>
                        <a:t>COM7</a:t>
                      </a:r>
                    </a:p>
                  </a:txBody>
                  <a:tcPr marL="7982" marR="7982" marT="3991" marB="3991" anchor="ctr">
                    <a:lnL>
                      <a:noFill/>
                    </a:lnL>
                    <a:lnR>
                      <a:noFill/>
                    </a:lnR>
                    <a:lnT>
                      <a:noFill/>
                    </a:lnT>
                    <a:lnB>
                      <a:noFill/>
                    </a:lnB>
                    <a:lnTlToBr w="12700" cmpd="sng">
                      <a:noFill/>
                      <a:prstDash val="solid"/>
                    </a:lnTlToBr>
                    <a:lnBlToTr w="12700" cmpd="sng">
                      <a:noFill/>
                      <a:prstDash val="solid"/>
                    </a:lnBlToTr>
                  </a:tcPr>
                </a:tc>
                <a:tc>
                  <a:txBody>
                    <a:bodyPr/>
                    <a:lstStyle/>
                    <a:p>
                      <a:pPr marL="262890" indent="-171450" algn="l">
                        <a:buFont typeface="Arial" panose="020B0604020202020204" pitchFamily="34" charset="0"/>
                        <a:buChar char="•"/>
                      </a:pPr>
                      <a:r>
                        <a:rPr lang="th-TH" sz="900" b="0" dirty="0">
                          <a:latin typeface="BLS Text" panose="00000500000000000000" pitchFamily="2" charset="-34"/>
                          <a:cs typeface="BLS Text" panose="00000500000000000000" pitchFamily="2" charset="-34"/>
                        </a:rPr>
                        <a:t>ความต้องการสินค้า </a:t>
                      </a:r>
                      <a:r>
                        <a:rPr lang="en-US" sz="900" b="0" dirty="0">
                          <a:latin typeface="BLS Text" panose="00000500000000000000" pitchFamily="2" charset="-34"/>
                          <a:cs typeface="BLS Text" panose="00000500000000000000" pitchFamily="2" charset="-34"/>
                        </a:rPr>
                        <a:t>IT </a:t>
                      </a:r>
                      <a:r>
                        <a:rPr lang="th-TH" sz="900" b="0" dirty="0">
                          <a:latin typeface="BLS Text" panose="00000500000000000000" pitchFamily="2" charset="-34"/>
                          <a:cs typeface="BLS Text" panose="00000500000000000000" pitchFamily="2" charset="-34"/>
                        </a:rPr>
                        <a:t>ยังคงแข็งแกร่ง </a:t>
                      </a:r>
                    </a:p>
                    <a:p>
                      <a:pPr marL="262890" indent="-171450" algn="l">
                        <a:buFont typeface="Arial" panose="020B0604020202020204" pitchFamily="34" charset="0"/>
                        <a:buChar char="•"/>
                      </a:pPr>
                      <a:r>
                        <a:rPr lang="th-TH" sz="900" b="1" dirty="0">
                          <a:solidFill>
                            <a:schemeClr val="accent1"/>
                          </a:solidFill>
                          <a:latin typeface="BLS Text" panose="00000500000000000000" pitchFamily="2" charset="-34"/>
                          <a:cs typeface="BLS Text" panose="00000500000000000000" pitchFamily="2" charset="-34"/>
                        </a:rPr>
                        <a:t>ประเมินยอดขายเติบโตราว 7-9% </a:t>
                      </a:r>
                      <a:r>
                        <a:rPr lang="en-US" sz="900" b="1" dirty="0">
                          <a:solidFill>
                            <a:schemeClr val="accent1"/>
                          </a:solidFill>
                          <a:latin typeface="BLS Text" panose="00000500000000000000" pitchFamily="2" charset="-34"/>
                          <a:cs typeface="BLS Text" panose="00000500000000000000" pitchFamily="2" charset="-34"/>
                        </a:rPr>
                        <a:t>YoY </a:t>
                      </a:r>
                      <a:r>
                        <a:rPr lang="th-TH" sz="900" b="1" dirty="0">
                          <a:solidFill>
                            <a:schemeClr val="accent1"/>
                          </a:solidFill>
                          <a:latin typeface="BLS Text" panose="00000500000000000000" pitchFamily="2" charset="-34"/>
                          <a:cs typeface="BLS Text" panose="00000500000000000000" pitchFamily="2" charset="-34"/>
                        </a:rPr>
                        <a:t>ในเดือนเม.ย. </a:t>
                      </a:r>
                    </a:p>
                    <a:p>
                      <a:pPr marL="262890" indent="-171450" algn="l">
                        <a:buFont typeface="Arial" panose="020B0604020202020204" pitchFamily="34" charset="0"/>
                        <a:buChar char="•"/>
                      </a:pPr>
                      <a:r>
                        <a:rPr lang="th-TH" sz="900" b="0" dirty="0">
                          <a:latin typeface="BLS Text" panose="00000500000000000000" pitchFamily="2" charset="-34"/>
                          <a:cs typeface="BLS Text" panose="00000500000000000000" pitchFamily="2" charset="-34"/>
                        </a:rPr>
                        <a:t>คาดผลตอบแทนเงินปันผลปี 2026 สูง ~4.7%</a:t>
                      </a:r>
                      <a:endParaRPr lang="en-US" sz="800" b="0" dirty="0">
                        <a:solidFill>
                          <a:schemeClr val="tx2"/>
                        </a:solidFill>
                        <a:latin typeface="BLS Text" panose="00000500000000000000" pitchFamily="2" charset="-34"/>
                        <a:cs typeface="BLS Text" panose="00000500000000000000" pitchFamily="2" charset="-34"/>
                      </a:endParaRPr>
                    </a:p>
                  </a:txBody>
                  <a:tcPr marL="7982" marR="7982" marT="3991" marB="3991"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978584856"/>
                  </a:ext>
                </a:extLst>
              </a:tr>
              <a:tr h="1038559">
                <a:tc>
                  <a:txBody>
                    <a:bodyPr/>
                    <a:lstStyle/>
                    <a:p>
                      <a:pPr algn="ctr"/>
                      <a:r>
                        <a:rPr lang="en-US" sz="1000" b="1" dirty="0">
                          <a:latin typeface="BLS Text" panose="00000500000000000000" pitchFamily="2" charset="-34"/>
                          <a:cs typeface="BLS Text" panose="00000500000000000000" pitchFamily="2" charset="-34"/>
                        </a:rPr>
                        <a:t>KTB</a:t>
                      </a:r>
                    </a:p>
                  </a:txBody>
                  <a:tcPr marL="7982" marR="7982" marT="3991" marB="3991" anchor="ctr">
                    <a:lnL>
                      <a:noFill/>
                    </a:lnL>
                    <a:lnR>
                      <a:noFill/>
                    </a:lnR>
                    <a:lnT>
                      <a:noFill/>
                    </a:lnT>
                    <a:lnB w="12700" cmpd="sng">
                      <a:noFill/>
                    </a:lnB>
                    <a:lnTlToBr w="12700" cmpd="sng">
                      <a:noFill/>
                      <a:prstDash val="solid"/>
                    </a:lnTlToBr>
                    <a:lnBlToTr w="12700" cmpd="sng">
                      <a:noFill/>
                      <a:prstDash val="solid"/>
                    </a:lnBlToTr>
                  </a:tcPr>
                </a:tc>
                <a:tc>
                  <a:txBody>
                    <a:bodyPr/>
                    <a:lstStyle/>
                    <a:p>
                      <a:pPr marL="262890" indent="-171450" algn="l">
                        <a:buFont typeface="Arial" panose="020B0604020202020204" pitchFamily="34" charset="0"/>
                        <a:buChar char="•"/>
                      </a:pPr>
                      <a:r>
                        <a:rPr lang="th-TH" sz="900" b="0" dirty="0">
                          <a:latin typeface="BLS Text" panose="00000500000000000000" pitchFamily="2" charset="-34"/>
                          <a:cs typeface="BLS Text" panose="00000500000000000000" pitchFamily="2" charset="-34"/>
                        </a:rPr>
                        <a:t>ธุรกิจบริหารความมั่งคั่ง</a:t>
                      </a:r>
                      <a:r>
                        <a:rPr lang="en-US" sz="900" b="0" dirty="0">
                          <a:latin typeface="BLS Text" panose="00000500000000000000" pitchFamily="2" charset="-34"/>
                          <a:cs typeface="BLS Text" panose="00000500000000000000" pitchFamily="2" charset="-34"/>
                        </a:rPr>
                        <a:t>-</a:t>
                      </a:r>
                      <a:r>
                        <a:rPr lang="th-TH" sz="900" b="0" dirty="0">
                          <a:latin typeface="BLS Text" panose="00000500000000000000" pitchFamily="2" charset="-34"/>
                          <a:cs typeface="BLS Text" panose="00000500000000000000" pitchFamily="2" charset="-34"/>
                        </a:rPr>
                        <a:t>กำไรจากเงินลงทุนเติบโตแข็งแกร่งในไตรมาส 1 หนุนรายได้ไม่ใช่ดอกเบี้ยโต 29% </a:t>
                      </a:r>
                      <a:r>
                        <a:rPr lang="en-US" sz="900" b="0" dirty="0">
                          <a:latin typeface="BLS Text" panose="00000500000000000000" pitchFamily="2" charset="-34"/>
                          <a:cs typeface="BLS Text" panose="00000500000000000000" pitchFamily="2" charset="-34"/>
                        </a:rPr>
                        <a:t>YoY </a:t>
                      </a:r>
                      <a:r>
                        <a:rPr lang="th-TH" sz="900" b="0" dirty="0">
                          <a:latin typeface="BLS Text" panose="00000500000000000000" pitchFamily="2" charset="-34"/>
                          <a:cs typeface="BLS Text" panose="00000500000000000000" pitchFamily="2" charset="-34"/>
                        </a:rPr>
                        <a:t>และ 29</a:t>
                      </a:r>
                      <a:r>
                        <a:rPr lang="en-US" sz="900" b="0" dirty="0">
                          <a:latin typeface="BLS Text" panose="00000500000000000000" pitchFamily="2" charset="-34"/>
                          <a:cs typeface="BLS Text" panose="00000500000000000000" pitchFamily="2" charset="-34"/>
                        </a:rPr>
                        <a:t>%</a:t>
                      </a:r>
                      <a:r>
                        <a:rPr lang="th-TH" sz="900" b="0" dirty="0">
                          <a:latin typeface="BLS Text" panose="00000500000000000000" pitchFamily="2" charset="-34"/>
                          <a:cs typeface="BLS Text" panose="00000500000000000000" pitchFamily="2" charset="-34"/>
                        </a:rPr>
                        <a:t> </a:t>
                      </a:r>
                      <a:r>
                        <a:rPr lang="en-US" sz="900" b="0" dirty="0" err="1">
                          <a:latin typeface="BLS Text" panose="00000500000000000000" pitchFamily="2" charset="-34"/>
                          <a:cs typeface="BLS Text" panose="00000500000000000000" pitchFamily="2" charset="-34"/>
                        </a:rPr>
                        <a:t>QoQ</a:t>
                      </a:r>
                      <a:r>
                        <a:rPr lang="en-US" sz="900" b="0" dirty="0">
                          <a:latin typeface="BLS Text" panose="00000500000000000000" pitchFamily="2" charset="-34"/>
                          <a:cs typeface="BLS Text" panose="00000500000000000000" pitchFamily="2" charset="-34"/>
                        </a:rPr>
                        <a:t> (</a:t>
                      </a:r>
                      <a:r>
                        <a:rPr lang="th-TH" sz="900" b="0" dirty="0">
                          <a:latin typeface="BLS Text" panose="00000500000000000000" pitchFamily="2" charset="-34"/>
                          <a:cs typeface="BLS Text" panose="00000500000000000000" pitchFamily="2" charset="-34"/>
                        </a:rPr>
                        <a:t>มากกว่าเราคาด 46%) </a:t>
                      </a:r>
                    </a:p>
                    <a:p>
                      <a:pPr marL="262890" indent="-171450" algn="l">
                        <a:buFont typeface="Arial" panose="020B0604020202020204" pitchFamily="34" charset="0"/>
                        <a:buChar char="•"/>
                      </a:pPr>
                      <a:r>
                        <a:rPr lang="th-TH" sz="900" b="0" dirty="0">
                          <a:latin typeface="BLS Text" panose="00000500000000000000" pitchFamily="2" charset="-34"/>
                          <a:cs typeface="BLS Text" panose="00000500000000000000" pitchFamily="2" charset="-34"/>
                        </a:rPr>
                        <a:t>ความเสี่ยงเครดิตต่ำ-สัดส่วนสำรองสูงถึง 201% สิ้นเดือนมี.ค. 2026 รองรับความเสี่ยงเศรษฐกิจในอนาคต </a:t>
                      </a:r>
                    </a:p>
                    <a:p>
                      <a:pPr marL="262890" indent="-171450" algn="l">
                        <a:buFont typeface="Arial" panose="020B0604020202020204" pitchFamily="34" charset="0"/>
                        <a:buChar char="•"/>
                      </a:pPr>
                      <a:r>
                        <a:rPr lang="th-TH" sz="900" b="1" dirty="0">
                          <a:solidFill>
                            <a:schemeClr val="accent1"/>
                          </a:solidFill>
                          <a:latin typeface="BLS Text" panose="00000500000000000000" pitchFamily="2" charset="-34"/>
                          <a:cs typeface="BLS Text" panose="00000500000000000000" pitchFamily="2" charset="-34"/>
                        </a:rPr>
                        <a:t>คาดผลตอบแทนเงินปันผลปี 2026 สูง ~6.9%</a:t>
                      </a:r>
                      <a:endParaRPr lang="en-US" sz="900" b="1" dirty="0">
                        <a:solidFill>
                          <a:schemeClr val="accent1"/>
                        </a:solidFill>
                        <a:latin typeface="BLS Text" panose="00000500000000000000" pitchFamily="2" charset="-34"/>
                        <a:cs typeface="BLS Text" panose="00000500000000000000" pitchFamily="2" charset="-34"/>
                      </a:endParaRPr>
                    </a:p>
                  </a:txBody>
                  <a:tcPr marL="7982" marR="7982" marT="3991" marB="3991"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9658935"/>
                  </a:ext>
                </a:extLst>
              </a:tr>
            </a:tbl>
          </a:graphicData>
        </a:graphic>
      </p:graphicFrame>
    </p:spTree>
    <p:extLst>
      <p:ext uri="{BB962C8B-B14F-4D97-AF65-F5344CB8AC3E}">
        <p14:creationId xmlns:p14="http://schemas.microsoft.com/office/powerpoint/2010/main" val="50812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9AD5D-75DD-7C3E-4E12-95FE9E6DA851}"/>
            </a:ext>
          </a:extLst>
        </p:cNvPr>
        <p:cNvGrpSpPr/>
        <p:nvPr/>
      </p:nvGrpSpPr>
      <p:grpSpPr>
        <a:xfrm>
          <a:off x="0" y="0"/>
          <a:ext cx="0" cy="0"/>
          <a:chOff x="0" y="0"/>
          <a:chExt cx="0" cy="0"/>
        </a:xfrm>
      </p:grpSpPr>
      <p:pic>
        <p:nvPicPr>
          <p:cNvPr id="5" name="Picture 4" descr="Watercolor of trees in the fog&#10;&#10;Description automatically generated">
            <a:extLst>
              <a:ext uri="{FF2B5EF4-FFF2-40B4-BE49-F238E27FC236}">
                <a16:creationId xmlns:a16="http://schemas.microsoft.com/office/drawing/2014/main" id="{FB46D737-2FF6-5661-E106-CBC8C1117565}"/>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6" r="8181" b="74177"/>
          <a:stretch/>
        </p:blipFill>
        <p:spPr>
          <a:xfrm>
            <a:off x="0" y="-1"/>
            <a:ext cx="6858000" cy="8748461"/>
          </a:xfrm>
          <a:prstGeom prst="rect">
            <a:avLst/>
          </a:prstGeom>
        </p:spPr>
      </p:pic>
      <p:cxnSp>
        <p:nvCxnSpPr>
          <p:cNvPr id="18" name="Straight Connector 17">
            <a:extLst>
              <a:ext uri="{FF2B5EF4-FFF2-40B4-BE49-F238E27FC236}">
                <a16:creationId xmlns:a16="http://schemas.microsoft.com/office/drawing/2014/main" id="{811E1CC9-D26F-1122-558A-414813438452}"/>
              </a:ext>
            </a:extLst>
          </p:cNvPr>
          <p:cNvCxnSpPr>
            <a:cxnSpLocks/>
          </p:cNvCxnSpPr>
          <p:nvPr/>
        </p:nvCxnSpPr>
        <p:spPr>
          <a:xfrm>
            <a:off x="320593" y="8748464"/>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47AA2941-9659-DEF5-69DF-BE120C176F29}"/>
              </a:ext>
            </a:extLst>
          </p:cNvPr>
          <p:cNvSpPr/>
          <p:nvPr/>
        </p:nvSpPr>
        <p:spPr>
          <a:xfrm>
            <a:off x="297857" y="8748464"/>
            <a:ext cx="6235107"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a:extLst>
              <a:ext uri="{FF2B5EF4-FFF2-40B4-BE49-F238E27FC236}">
                <a16:creationId xmlns:a16="http://schemas.microsoft.com/office/drawing/2014/main" id="{974B464D-079C-66D5-267A-B0271C83992E}"/>
              </a:ext>
            </a:extLst>
          </p:cNvPr>
          <p:cNvPicPr>
            <a:picLocks noChangeAspect="1" noChangeArrowheads="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59793" y="125733"/>
            <a:ext cx="1252983" cy="413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716ED43-E385-A160-9D3A-0264F1B0EE0B}"/>
              </a:ext>
            </a:extLst>
          </p:cNvPr>
          <p:cNvSpPr txBox="1"/>
          <p:nvPr/>
        </p:nvSpPr>
        <p:spPr>
          <a:xfrm>
            <a:off x="514209" y="61918"/>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a:t>
            </a:r>
            <a:r>
              <a:rPr lang="th-TH" sz="1050" b="1" dirty="0">
                <a:solidFill>
                  <a:srgbClr val="CCAE8A"/>
                </a:solidFill>
                <a:latin typeface="Aharoni" panose="020F0502020204030204" pitchFamily="2" charset="-79"/>
                <a:ea typeface="Tahoma" pitchFamily="34" charset="0"/>
                <a:cs typeface="Aharoni" panose="020F0502020204030204" pitchFamily="2" charset="-79"/>
              </a:rPr>
              <a:t> </a:t>
            </a:r>
            <a:r>
              <a:rPr lang="en-US" sz="1050" b="1" dirty="0">
                <a:solidFill>
                  <a:srgbClr val="CCAE8A"/>
                </a:solidFill>
                <a:latin typeface="Aharoni" panose="020F0502020204030204" pitchFamily="2" charset="-79"/>
                <a:ea typeface="Tahoma" pitchFamily="34" charset="0"/>
                <a:cs typeface="Aharoni" panose="020F0502020204030204" pitchFamily="2" charset="-79"/>
              </a:rPr>
              <a:t>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9" name="TextBox 8">
            <a:extLst>
              <a:ext uri="{FF2B5EF4-FFF2-40B4-BE49-F238E27FC236}">
                <a16:creationId xmlns:a16="http://schemas.microsoft.com/office/drawing/2014/main" id="{C8FA6393-E3EE-E08E-89C6-D50BB8050980}"/>
              </a:ext>
            </a:extLst>
          </p:cNvPr>
          <p:cNvSpPr txBox="1"/>
          <p:nvPr/>
        </p:nvSpPr>
        <p:spPr>
          <a:xfrm>
            <a:off x="1886145" y="-177626"/>
            <a:ext cx="4999239" cy="1015663"/>
          </a:xfrm>
          <a:prstGeom prst="rect">
            <a:avLst/>
          </a:prstGeom>
          <a:noFill/>
        </p:spPr>
        <p:txBody>
          <a:bodyPr wrap="square" rtlCol="0">
            <a:spAutoFit/>
          </a:bodyPr>
          <a:lstStyle/>
          <a:p>
            <a:pPr algn="r"/>
            <a:r>
              <a:rPr lang="el-GR" sz="4000" dirty="0">
                <a:solidFill>
                  <a:schemeClr val="accent3"/>
                </a:solidFill>
                <a:latin typeface="BLS Condensed Bold" pitchFamily="2" charset="-34"/>
                <a:ea typeface="Tahoma" pitchFamily="34" charset="0"/>
                <a:cs typeface="BLS Condensed Bold" pitchFamily="2" charset="-34"/>
              </a:rPr>
              <a:t>α</a:t>
            </a:r>
            <a:r>
              <a:rPr lang="en-US" sz="2400" dirty="0" err="1">
                <a:solidFill>
                  <a:schemeClr val="tx1">
                    <a:lumMod val="95000"/>
                    <a:lumOff val="5000"/>
                  </a:schemeClr>
                </a:solidFill>
                <a:latin typeface="BLS Condensed Bold" pitchFamily="2" charset="-34"/>
                <a:ea typeface="Tahoma" pitchFamily="34" charset="0"/>
                <a:cs typeface="BLS Condensed Bold" pitchFamily="2" charset="-34"/>
              </a:rPr>
              <a:t>lpha</a:t>
            </a:r>
            <a:r>
              <a:rPr lang="en-US" sz="2400" dirty="0">
                <a:solidFill>
                  <a:schemeClr val="tx1">
                    <a:lumMod val="95000"/>
                    <a:lumOff val="5000"/>
                  </a:schemeClr>
                </a:solidFill>
                <a:latin typeface="BLS Condensed Bold" pitchFamily="2" charset="-34"/>
                <a:ea typeface="Tahoma" pitchFamily="34" charset="0"/>
                <a:cs typeface="BLS Condensed Bold" pitchFamily="2" charset="-34"/>
              </a:rPr>
              <a:t> PULSE | </a:t>
            </a:r>
            <a:endParaRPr lang="th-TH" sz="2400" dirty="0">
              <a:solidFill>
                <a:schemeClr val="tx1">
                  <a:lumMod val="95000"/>
                  <a:lumOff val="5000"/>
                </a:schemeClr>
              </a:solidFill>
              <a:latin typeface="BLS Condensed Bold" pitchFamily="2" charset="-34"/>
              <a:ea typeface="Tahoma" pitchFamily="34" charset="0"/>
              <a:cs typeface="BLS Condensed Bold" pitchFamily="2" charset="-34"/>
            </a:endParaRPr>
          </a:p>
          <a:p>
            <a:pPr algn="r"/>
            <a:r>
              <a:rPr lang="en-US" sz="2000" dirty="0">
                <a:solidFill>
                  <a:schemeClr val="accent5"/>
                </a:solidFill>
                <a:latin typeface="BLS Condensed Bold" pitchFamily="2" charset="-34"/>
                <a:ea typeface="Tahoma" pitchFamily="34" charset="0"/>
                <a:cs typeface="BLS Condensed Bold" pitchFamily="2" charset="-34"/>
              </a:rPr>
              <a:t>Weekly strategy</a:t>
            </a:r>
          </a:p>
        </p:txBody>
      </p:sp>
      <p:sp>
        <p:nvSpPr>
          <p:cNvPr id="10" name="TextBox 9">
            <a:extLst>
              <a:ext uri="{FF2B5EF4-FFF2-40B4-BE49-F238E27FC236}">
                <a16:creationId xmlns:a16="http://schemas.microsoft.com/office/drawing/2014/main" id="{C2139EFA-0963-F3E4-30F9-FE4954797181}"/>
              </a:ext>
            </a:extLst>
          </p:cNvPr>
          <p:cNvSpPr txBox="1"/>
          <p:nvPr/>
        </p:nvSpPr>
        <p:spPr>
          <a:xfrm>
            <a:off x="44624" y="827584"/>
            <a:ext cx="6712521" cy="907941"/>
          </a:xfrm>
          <a:prstGeom prst="rect">
            <a:avLst/>
          </a:prstGeom>
          <a:noFill/>
        </p:spPr>
        <p:txBody>
          <a:bodyPr wrap="square">
            <a:spAutoFit/>
          </a:bodyPr>
          <a:lstStyle/>
          <a:p>
            <a:pPr algn="r"/>
            <a:r>
              <a:rPr lang="th-TH" altLang="en-US" sz="2800" dirty="0">
                <a:solidFill>
                  <a:schemeClr val="accent2"/>
                </a:solidFill>
                <a:latin typeface="BLS Condensed Bold" panose="00000800000000000000" pitchFamily="2" charset="-34"/>
                <a:ea typeface="Tahoma" pitchFamily="34" charset="0"/>
                <a:cs typeface="BLS Condensed Bold" panose="00000800000000000000" pitchFamily="2" charset="-34"/>
              </a:rPr>
              <a:t>กำไรสุทธิไตรมาส 1 ออกมาสูงกว่าตลาดคาด 13.9% </a:t>
            </a:r>
            <a:r>
              <a:rPr lang="th-TH" altLang="en-US" sz="2500" dirty="0">
                <a:solidFill>
                  <a:schemeClr val="tx2"/>
                </a:solidFill>
                <a:latin typeface="BLS Condensed Bold" panose="00000800000000000000" pitchFamily="2" charset="-34"/>
                <a:ea typeface="Tahoma" pitchFamily="34" charset="0"/>
                <a:cs typeface="BLS Condensed Bold" panose="00000800000000000000" pitchFamily="2" charset="-34"/>
              </a:rPr>
              <a:t>(สำหรับ 30% ของหุ้นใน </a:t>
            </a:r>
            <a:r>
              <a:rPr lang="en-US" altLang="en-US" sz="2500" dirty="0">
                <a:solidFill>
                  <a:schemeClr val="tx2"/>
                </a:solidFill>
                <a:latin typeface="BLS Condensed Bold" panose="00000800000000000000" pitchFamily="2" charset="-34"/>
                <a:ea typeface="Tahoma" pitchFamily="34" charset="0"/>
                <a:cs typeface="BLS Condensed Bold" panose="00000800000000000000" pitchFamily="2" charset="-34"/>
              </a:rPr>
              <a:t>BLS coverage) </a:t>
            </a:r>
          </a:p>
        </p:txBody>
      </p:sp>
      <p:graphicFrame>
        <p:nvGraphicFramePr>
          <p:cNvPr id="12" name="Table 11">
            <a:extLst>
              <a:ext uri="{FF2B5EF4-FFF2-40B4-BE49-F238E27FC236}">
                <a16:creationId xmlns:a16="http://schemas.microsoft.com/office/drawing/2014/main" id="{3AC423D4-E526-4F44-AC89-8CAB2C448AF4}"/>
              </a:ext>
            </a:extLst>
          </p:cNvPr>
          <p:cNvGraphicFramePr>
            <a:graphicFrameLocks noGrp="1"/>
          </p:cNvGraphicFramePr>
          <p:nvPr>
            <p:extLst>
              <p:ext uri="{D42A27DB-BD31-4B8C-83A1-F6EECF244321}">
                <p14:modId xmlns:p14="http://schemas.microsoft.com/office/powerpoint/2010/main" val="1183747534"/>
              </p:ext>
            </p:extLst>
          </p:nvPr>
        </p:nvGraphicFramePr>
        <p:xfrm>
          <a:off x="159792" y="1763688"/>
          <a:ext cx="6581577" cy="6839994"/>
        </p:xfrm>
        <a:graphic>
          <a:graphicData uri="http://schemas.openxmlformats.org/drawingml/2006/table">
            <a:tbl>
              <a:tblPr bandRow="1">
                <a:tableStyleId>{3B4B98B0-60AC-42C2-AFA5-B58CD77FA1E5}</a:tableStyleId>
              </a:tblPr>
              <a:tblGrid>
                <a:gridCol w="964952">
                  <a:extLst>
                    <a:ext uri="{9D8B030D-6E8A-4147-A177-3AD203B41FA5}">
                      <a16:colId xmlns:a16="http://schemas.microsoft.com/office/drawing/2014/main" val="1245123072"/>
                    </a:ext>
                  </a:extLst>
                </a:gridCol>
                <a:gridCol w="864096">
                  <a:extLst>
                    <a:ext uri="{9D8B030D-6E8A-4147-A177-3AD203B41FA5}">
                      <a16:colId xmlns:a16="http://schemas.microsoft.com/office/drawing/2014/main" val="2306194084"/>
                    </a:ext>
                  </a:extLst>
                </a:gridCol>
                <a:gridCol w="4752529">
                  <a:extLst>
                    <a:ext uri="{9D8B030D-6E8A-4147-A177-3AD203B41FA5}">
                      <a16:colId xmlns:a16="http://schemas.microsoft.com/office/drawing/2014/main" val="4020263589"/>
                    </a:ext>
                  </a:extLst>
                </a:gridCol>
              </a:tblGrid>
              <a:tr h="327247">
                <a:tc>
                  <a:txBody>
                    <a:bodyPr/>
                    <a:lstStyle/>
                    <a:p>
                      <a:pPr algn="ctr"/>
                      <a:r>
                        <a:rPr lang="th-TH" sz="1000" b="1" dirty="0">
                          <a:solidFill>
                            <a:schemeClr val="bg1"/>
                          </a:solidFill>
                          <a:latin typeface="BLS Text" panose="00000500000000000000" pitchFamily="2" charset="-34"/>
                          <a:cs typeface="BLS Text" panose="00000500000000000000" pitchFamily="2" charset="-34"/>
                        </a:rPr>
                        <a:t>อุตสาหกรรม</a:t>
                      </a:r>
                    </a:p>
                  </a:txBody>
                  <a:tcPr marL="7982" marR="7982" marT="3991" marB="3991" anchor="ctr">
                    <a:solidFill>
                      <a:srgbClr val="215968"/>
                    </a:solidFill>
                  </a:tcPr>
                </a:tc>
                <a:tc>
                  <a:txBody>
                    <a:bodyPr/>
                    <a:lstStyle/>
                    <a:p>
                      <a:pPr algn="ctr"/>
                      <a:r>
                        <a:rPr lang="th-TH" sz="1000" b="1" dirty="0">
                          <a:solidFill>
                            <a:schemeClr val="bg1"/>
                          </a:solidFill>
                          <a:latin typeface="BLS Text" panose="00000500000000000000" pitchFamily="2" charset="-34"/>
                          <a:cs typeface="BLS Text" panose="00000500000000000000" pitchFamily="2" charset="-34"/>
                        </a:rPr>
                        <a:t>หุ้นกำไรสูงกว่าตลาดคาด</a:t>
                      </a:r>
                    </a:p>
                  </a:txBody>
                  <a:tcPr marL="7982" marR="7982" marT="3991" marB="3991" anchor="ctr">
                    <a:solidFill>
                      <a:srgbClr val="215968"/>
                    </a:solidFill>
                  </a:tcPr>
                </a:tc>
                <a:tc>
                  <a:txBody>
                    <a:bodyPr/>
                    <a:lstStyle/>
                    <a:p>
                      <a:pPr algn="ctr"/>
                      <a:r>
                        <a:rPr lang="th-TH" sz="1000" b="1" dirty="0">
                          <a:solidFill>
                            <a:schemeClr val="bg1"/>
                          </a:solidFill>
                          <a:latin typeface="BLS Text" panose="00000500000000000000" pitchFamily="2" charset="-34"/>
                          <a:cs typeface="BLS Text" panose="00000500000000000000" pitchFamily="2" charset="-34"/>
                        </a:rPr>
                        <a:t>รายละเอียด</a:t>
                      </a:r>
                    </a:p>
                  </a:txBody>
                  <a:tcPr marL="7982" marR="7982" marT="3991" marB="3991" anchor="ctr">
                    <a:solidFill>
                      <a:srgbClr val="215968"/>
                    </a:solidFill>
                  </a:tcPr>
                </a:tc>
                <a:extLst>
                  <a:ext uri="{0D108BD9-81ED-4DB2-BD59-A6C34878D82A}">
                    <a16:rowId xmlns:a16="http://schemas.microsoft.com/office/drawing/2014/main" val="4035294127"/>
                  </a:ext>
                </a:extLst>
              </a:tr>
              <a:tr h="102976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h-TH" sz="1050" b="1" dirty="0">
                          <a:solidFill>
                            <a:schemeClr val="accent1"/>
                          </a:solidFill>
                          <a:latin typeface="BLS Text" panose="00000500000000000000" pitchFamily="2" charset="-34"/>
                          <a:cs typeface="BLS Text" pitchFamily="2" charset="-34"/>
                        </a:rPr>
                        <a:t>กลุ่มแพ็คเกจจิ้ง</a:t>
                      </a:r>
                      <a:endParaRPr lang="th-TH" sz="1050" b="0" dirty="0">
                        <a:solidFill>
                          <a:schemeClr val="accent1"/>
                        </a:solidFill>
                        <a:latin typeface="BLS Text" panose="00000500000000000000" pitchFamily="2" charset="-34"/>
                        <a:cs typeface="BLS Text" panose="00000500000000000000" pitchFamily="2" charset="-34"/>
                      </a:endParaRPr>
                    </a:p>
                  </a:txBody>
                  <a:tcPr marL="7982" marR="7982" marT="3991" marB="3991" anchor="ctr">
                    <a:lnB>
                      <a:noFill/>
                    </a:lnB>
                  </a:tcPr>
                </a:tc>
                <a:tc>
                  <a:txBody>
                    <a:bodyPr/>
                    <a:lstStyle/>
                    <a:p>
                      <a:pPr algn="ctr"/>
                      <a:r>
                        <a:rPr lang="en-US" sz="1050" b="1" dirty="0">
                          <a:solidFill>
                            <a:schemeClr val="accent1"/>
                          </a:solidFill>
                          <a:latin typeface="BLS Text" panose="00000500000000000000" pitchFamily="2" charset="-34"/>
                          <a:cs typeface="BLS Text" pitchFamily="2" charset="-34"/>
                        </a:rPr>
                        <a:t>SCGP </a:t>
                      </a:r>
                      <a:endParaRPr lang="th-TH" sz="1050" b="1" dirty="0">
                        <a:solidFill>
                          <a:schemeClr val="accent1"/>
                        </a:solidFill>
                        <a:latin typeface="BLS Text" panose="00000500000000000000" pitchFamily="2" charset="-34"/>
                        <a:cs typeface="BLS Text" pitchFamily="2" charset="-34"/>
                      </a:endParaRPr>
                    </a:p>
                    <a:p>
                      <a:pPr algn="ctr"/>
                      <a:r>
                        <a:rPr lang="th-TH" sz="1050" b="1" dirty="0">
                          <a:solidFill>
                            <a:schemeClr val="accent1"/>
                          </a:solidFill>
                          <a:latin typeface="BLS Text" panose="00000500000000000000" pitchFamily="2" charset="-34"/>
                          <a:cs typeface="BLS Text" pitchFamily="2" charset="-34"/>
                        </a:rPr>
                        <a:t>+30.9%</a:t>
                      </a:r>
                      <a:endParaRPr lang="en-US" sz="1050" b="1" dirty="0">
                        <a:solidFill>
                          <a:schemeClr val="accent1"/>
                        </a:solidFill>
                        <a:latin typeface="BLS Text" panose="00000500000000000000" pitchFamily="2" charset="-34"/>
                        <a:cs typeface="BLS Text" panose="00000500000000000000" pitchFamily="2" charset="-34"/>
                      </a:endParaRPr>
                    </a:p>
                  </a:txBody>
                  <a:tcPr marL="7982" marR="7982" marT="3991" marB="3991" anchor="ctr">
                    <a:lnB>
                      <a:noFill/>
                    </a:lnB>
                  </a:tcPr>
                </a:tc>
                <a:tc>
                  <a:txBody>
                    <a:bodyPr/>
                    <a:lstStyle/>
                    <a:p>
                      <a:pPr marL="26289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th-TH" sz="1000" dirty="0">
                          <a:solidFill>
                            <a:schemeClr val="tx1"/>
                          </a:solidFill>
                          <a:latin typeface="BLS Text" panose="00000500000000000000" pitchFamily="2" charset="-34"/>
                          <a:cs typeface="BLS Text" pitchFamily="2" charset="-34"/>
                        </a:rPr>
                        <a:t>หลังกำไรจากธุรกิจ </a:t>
                      </a:r>
                      <a:r>
                        <a:rPr lang="en-US" sz="1000" dirty="0">
                          <a:solidFill>
                            <a:schemeClr val="tx1"/>
                          </a:solidFill>
                          <a:latin typeface="BLS Text" panose="00000500000000000000" pitchFamily="2" charset="-34"/>
                          <a:cs typeface="BLS Text" pitchFamily="2" charset="-34"/>
                        </a:rPr>
                        <a:t>Recycle </a:t>
                      </a:r>
                      <a:r>
                        <a:rPr lang="th-TH" sz="1000" dirty="0">
                          <a:solidFill>
                            <a:schemeClr val="tx1"/>
                          </a:solidFill>
                          <a:latin typeface="BLS Text" panose="00000500000000000000" pitchFamily="2" charset="-34"/>
                          <a:cs typeface="BLS Text" pitchFamily="2" charset="-34"/>
                        </a:rPr>
                        <a:t>และกำไรพิเศษที่มากกว่าคาด ภาพรวมธุรกิจบรรจุภัณฑ์ครบวงจร (</a:t>
                      </a:r>
                      <a:r>
                        <a:rPr lang="en-US" sz="1000" dirty="0">
                          <a:solidFill>
                            <a:schemeClr val="tx1"/>
                          </a:solidFill>
                          <a:latin typeface="BLS Text" panose="00000500000000000000" pitchFamily="2" charset="-34"/>
                          <a:cs typeface="BLS Text" pitchFamily="2" charset="-34"/>
                        </a:rPr>
                        <a:t>IPB) [</a:t>
                      </a:r>
                      <a:r>
                        <a:rPr lang="th-TH" sz="1000" dirty="0">
                          <a:solidFill>
                            <a:schemeClr val="tx1"/>
                          </a:solidFill>
                          <a:latin typeface="BLS Text" panose="00000500000000000000" pitchFamily="2" charset="-34"/>
                          <a:cs typeface="BLS Text" pitchFamily="2" charset="-34"/>
                        </a:rPr>
                        <a:t>รวมถึง </a:t>
                      </a:r>
                      <a:r>
                        <a:rPr lang="en-US" sz="1000" dirty="0">
                          <a:solidFill>
                            <a:schemeClr val="tx1"/>
                          </a:solidFill>
                          <a:latin typeface="BLS Text" panose="00000500000000000000" pitchFamily="2" charset="-34"/>
                          <a:cs typeface="BLS Text" pitchFamily="2" charset="-34"/>
                        </a:rPr>
                        <a:t>Fajar] </a:t>
                      </a:r>
                      <a:r>
                        <a:rPr lang="th-TH" sz="1000" dirty="0">
                          <a:solidFill>
                            <a:schemeClr val="tx1"/>
                          </a:solidFill>
                          <a:latin typeface="BLS Text" panose="00000500000000000000" pitchFamily="2" charset="-34"/>
                          <a:cs typeface="BLS Text" pitchFamily="2" charset="-34"/>
                        </a:rPr>
                        <a:t>ฟื้นตัว </a:t>
                      </a:r>
                      <a:endParaRPr lang="en-US" sz="1000" dirty="0">
                        <a:solidFill>
                          <a:schemeClr val="tx1"/>
                        </a:solidFill>
                        <a:latin typeface="BLS Text" panose="00000500000000000000" pitchFamily="2" charset="-34"/>
                        <a:cs typeface="BLS Text" pitchFamily="2" charset="-34"/>
                      </a:endParaRPr>
                    </a:p>
                    <a:p>
                      <a:pPr marL="26289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th-TH" sz="1000" dirty="0">
                          <a:solidFill>
                            <a:schemeClr val="tx1"/>
                          </a:solidFill>
                          <a:latin typeface="BLS Text" panose="00000500000000000000" pitchFamily="2" charset="-34"/>
                          <a:cs typeface="BLS Text" pitchFamily="2" charset="-34"/>
                        </a:rPr>
                        <a:t>คาดผลการดำเนินงานธุรกิจบรรจุภัณฑ์ครบวงจรและธุรกิจเยื่อและกระดาษดีขึ้น </a:t>
                      </a:r>
                      <a:r>
                        <a:rPr lang="en-US" sz="1000" dirty="0">
                          <a:solidFill>
                            <a:schemeClr val="tx1"/>
                          </a:solidFill>
                          <a:latin typeface="BLS Text" panose="00000500000000000000" pitchFamily="2" charset="-34"/>
                          <a:cs typeface="BLS Text" pitchFamily="2" charset="-34"/>
                        </a:rPr>
                        <a:t>YoY </a:t>
                      </a:r>
                      <a:r>
                        <a:rPr lang="th-TH" sz="1000" dirty="0">
                          <a:solidFill>
                            <a:schemeClr val="tx1"/>
                          </a:solidFill>
                          <a:latin typeface="BLS Text" panose="00000500000000000000" pitchFamily="2" charset="-34"/>
                          <a:cs typeface="BLS Text" pitchFamily="2" charset="-34"/>
                        </a:rPr>
                        <a:t>ใน 2</a:t>
                      </a:r>
                      <a:r>
                        <a:rPr lang="en-US" sz="1000" dirty="0">
                          <a:solidFill>
                            <a:schemeClr val="tx1"/>
                          </a:solidFill>
                          <a:latin typeface="BLS Text" panose="00000500000000000000" pitchFamily="2" charset="-34"/>
                          <a:cs typeface="BLS Text" pitchFamily="2" charset="-34"/>
                        </a:rPr>
                        <a:t>Q26 </a:t>
                      </a:r>
                      <a:r>
                        <a:rPr lang="th-TH" sz="1000" dirty="0">
                          <a:solidFill>
                            <a:schemeClr val="tx1"/>
                          </a:solidFill>
                          <a:latin typeface="BLS Text" panose="00000500000000000000" pitchFamily="2" charset="-34"/>
                          <a:cs typeface="BLS Text" pitchFamily="2" charset="-34"/>
                        </a:rPr>
                        <a:t>หนุนจากปริมาณขายที่เพิ่มขึ้น, ราคาขายที่สูงขึ้น, และต้นทุนวัตถุดิบที่ลดลง </a:t>
                      </a:r>
                      <a:endParaRPr lang="en-US" sz="1000" dirty="0">
                        <a:solidFill>
                          <a:schemeClr val="tx1"/>
                        </a:solidFill>
                        <a:latin typeface="BLS Text" panose="00000500000000000000" pitchFamily="2" charset="-34"/>
                        <a:cs typeface="BLS Text" pitchFamily="2" charset="-34"/>
                      </a:endParaRPr>
                    </a:p>
                    <a:p>
                      <a:pPr marL="26289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th-TH" sz="1000" dirty="0">
                          <a:solidFill>
                            <a:schemeClr val="tx1"/>
                          </a:solidFill>
                          <a:latin typeface="BLS Text" panose="00000500000000000000" pitchFamily="2" charset="-34"/>
                          <a:cs typeface="BLS Text" pitchFamily="2" charset="-34"/>
                        </a:rPr>
                        <a:t>ผลกระทบจากสงครามยังจำกัด แม้ต้นทุนค่าขนส่งและต้นทุนถ่านหินสูงขึ้น แต่บริษัทฯ ได้เพิ่มสัดส่วนการใช้เชื้อเพลิงทางเลือกอย่างต่อเนื่อง</a:t>
                      </a:r>
                    </a:p>
                  </a:txBody>
                  <a:tcPr marL="7982" marR="7982" marT="3991" marB="3991" anchor="ctr">
                    <a:lnB>
                      <a:noFill/>
                    </a:lnB>
                  </a:tcPr>
                </a:tc>
                <a:extLst>
                  <a:ext uri="{0D108BD9-81ED-4DB2-BD59-A6C34878D82A}">
                    <a16:rowId xmlns:a16="http://schemas.microsoft.com/office/drawing/2014/main" val="1984291075"/>
                  </a:ext>
                </a:extLst>
              </a:tr>
              <a:tr h="102976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h-TH" sz="1050" b="1" dirty="0">
                          <a:solidFill>
                            <a:schemeClr val="accent1"/>
                          </a:solidFill>
                          <a:latin typeface="BLS Text" panose="00000500000000000000" pitchFamily="2" charset="-34"/>
                          <a:cs typeface="BLS Text" pitchFamily="2" charset="-34"/>
                        </a:rPr>
                        <a:t>กลุ่มวัสดุก่อสร้าง</a:t>
                      </a:r>
                      <a:endParaRPr lang="th-TH" sz="1050" b="0" dirty="0">
                        <a:solidFill>
                          <a:schemeClr val="accent1"/>
                        </a:solidFill>
                        <a:latin typeface="BLS Text" panose="00000500000000000000" pitchFamily="2" charset="-34"/>
                        <a:cs typeface="BLS Text" panose="00000500000000000000" pitchFamily="2" charset="-34"/>
                      </a:endParaRPr>
                    </a:p>
                  </a:txBody>
                  <a:tcPr marL="7982" marR="7982" marT="3991" marB="3991"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050" b="1" dirty="0">
                          <a:solidFill>
                            <a:schemeClr val="accent1"/>
                          </a:solidFill>
                          <a:latin typeface="BLS Text" panose="00000500000000000000" pitchFamily="2" charset="-34"/>
                          <a:cs typeface="BLS Text" pitchFamily="2" charset="-34"/>
                        </a:rPr>
                        <a:t>SCC </a:t>
                      </a:r>
                      <a:endParaRPr lang="th-TH" sz="1050" b="1" dirty="0">
                        <a:solidFill>
                          <a:schemeClr val="accent1"/>
                        </a:solidFill>
                        <a:latin typeface="BLS Text" panose="00000500000000000000" pitchFamily="2" charset="-34"/>
                        <a:cs typeface="BLS Text" pitchFamily="2" charset="-34"/>
                      </a:endParaRPr>
                    </a:p>
                    <a:p>
                      <a:pPr algn="ctr"/>
                      <a:r>
                        <a:rPr lang="th-TH" sz="1050" b="1" dirty="0">
                          <a:solidFill>
                            <a:schemeClr val="accent1"/>
                          </a:solidFill>
                          <a:latin typeface="BLS Text" panose="00000500000000000000" pitchFamily="2" charset="-34"/>
                          <a:cs typeface="BLS Text" pitchFamily="2" charset="-34"/>
                        </a:rPr>
                        <a:t>+22.9%</a:t>
                      </a:r>
                      <a:endParaRPr lang="en-US" sz="1050" b="0" dirty="0">
                        <a:solidFill>
                          <a:schemeClr val="accent1"/>
                        </a:solidFill>
                        <a:latin typeface="BLS Text" panose="00000500000000000000" pitchFamily="2" charset="-34"/>
                        <a:cs typeface="BLS Text" panose="00000500000000000000" pitchFamily="2" charset="-34"/>
                      </a:endParaRPr>
                    </a:p>
                  </a:txBody>
                  <a:tcPr marL="7982" marR="7982" marT="3991" marB="3991" anchor="ctr">
                    <a:lnL>
                      <a:noFill/>
                    </a:lnL>
                    <a:lnR>
                      <a:noFill/>
                    </a:lnR>
                    <a:lnT>
                      <a:noFill/>
                    </a:lnT>
                    <a:lnB>
                      <a:noFill/>
                    </a:lnB>
                    <a:lnTlToBr w="12700" cmpd="sng">
                      <a:noFill/>
                      <a:prstDash val="solid"/>
                    </a:lnTlToBr>
                    <a:lnBlToTr w="12700" cmpd="sng">
                      <a:noFill/>
                      <a:prstDash val="solid"/>
                    </a:lnBlToTr>
                  </a:tcPr>
                </a:tc>
                <a:tc>
                  <a:txBody>
                    <a:bodyPr/>
                    <a:lstStyle/>
                    <a:p>
                      <a:pPr marL="26289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th-TH" sz="1000" dirty="0">
                          <a:solidFill>
                            <a:schemeClr val="tx1"/>
                          </a:solidFill>
                          <a:latin typeface="BLS Text" panose="00000500000000000000" pitchFamily="2" charset="-34"/>
                          <a:cs typeface="BLS Text" pitchFamily="2" charset="-34"/>
                        </a:rPr>
                        <a:t>หลังค่าใช้จ่ายต่ำกว่าคาด และกำไรพิเศษสูงกว่าคาด ภาพรวมฟื้นตัวจากทุกธุรกิจทั้งวัสดุก่อสร้าง ปิโตรฯ และแพ็คเกจจิ้ง ขณะที่ ราคาปูนที่สูงขึ้น ต้นทุนลดลง หนุนธุรกิจวัสดุก่อสร้าง ปริมาณขาย และส่วนต่างปิโตรฯ ขยายตัวช่วยหนุนธุรกิจปิโตรฯ</a:t>
                      </a:r>
                      <a:endParaRPr lang="en-US" sz="1000" dirty="0">
                        <a:solidFill>
                          <a:schemeClr val="tx1"/>
                        </a:solidFill>
                        <a:latin typeface="BLS Text" panose="00000500000000000000" pitchFamily="2" charset="-34"/>
                        <a:cs typeface="BLS Text" pitchFamily="2" charset="-34"/>
                      </a:endParaRPr>
                    </a:p>
                    <a:p>
                      <a:pPr marL="26289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th-TH" sz="1000" dirty="0">
                          <a:solidFill>
                            <a:schemeClr val="tx1"/>
                          </a:solidFill>
                          <a:latin typeface="BLS Text" panose="00000500000000000000" pitchFamily="2" charset="-34"/>
                          <a:cs typeface="BLS Text" pitchFamily="2" charset="-34"/>
                        </a:rPr>
                        <a:t>อุปสงค์ธุรกิจปูนซีเมนต์มีแนวโน้มเติบโตต่อเนื่องในปีนี้ทั้งในไทย (โครงการสาธารณูปโภคของภาครัฐ) และ </a:t>
                      </a:r>
                      <a:r>
                        <a:rPr lang="en-US" sz="1000" dirty="0">
                          <a:solidFill>
                            <a:schemeClr val="tx1"/>
                          </a:solidFill>
                          <a:latin typeface="BLS Text" panose="00000500000000000000" pitchFamily="2" charset="-34"/>
                          <a:cs typeface="BLS Text" pitchFamily="2" charset="-34"/>
                        </a:rPr>
                        <a:t>ASEAN </a:t>
                      </a:r>
                      <a:r>
                        <a:rPr lang="th-TH" sz="1000" dirty="0">
                          <a:solidFill>
                            <a:schemeClr val="tx1"/>
                          </a:solidFill>
                          <a:latin typeface="BLS Text" panose="00000500000000000000" pitchFamily="2" charset="-34"/>
                          <a:cs typeface="BLS Text" pitchFamily="2" charset="-34"/>
                        </a:rPr>
                        <a:t>นำโดยเวียดนามและกัมพูชา </a:t>
                      </a:r>
                    </a:p>
                  </a:txBody>
                  <a:tcPr marL="7982" marR="7982" marT="3991" marB="3991"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978584856"/>
                  </a:ext>
                </a:extLst>
              </a:tr>
              <a:tr h="102976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h-TH" sz="1050" b="1" dirty="0">
                          <a:solidFill>
                            <a:schemeClr val="accent1"/>
                          </a:solidFill>
                          <a:latin typeface="BLS Text" panose="00000500000000000000" pitchFamily="2" charset="-34"/>
                          <a:cs typeface="BLS Text" pitchFamily="2" charset="-34"/>
                        </a:rPr>
                        <a:t>กลุ่มปิโตรฯ</a:t>
                      </a:r>
                      <a:endParaRPr lang="th-TH" sz="1050" dirty="0">
                        <a:solidFill>
                          <a:schemeClr val="accent1"/>
                        </a:solidFill>
                        <a:latin typeface="BLS Text" panose="00000500000000000000" pitchFamily="2" charset="-34"/>
                        <a:cs typeface="BLS Text" pitchFamily="2" charset="-34"/>
                      </a:endParaRPr>
                    </a:p>
                  </a:txBody>
                  <a:tcPr marL="7982" marR="7982" marT="3991" marB="3991" anchor="ctr">
                    <a:lnT>
                      <a:noFill/>
                    </a:lnT>
                  </a:tcPr>
                </a:tc>
                <a:tc>
                  <a:txBody>
                    <a:bodyPr/>
                    <a:lstStyle/>
                    <a:p>
                      <a:pPr algn="ctr"/>
                      <a:r>
                        <a:rPr lang="en-US" sz="1050" b="1" dirty="0">
                          <a:solidFill>
                            <a:schemeClr val="accent1"/>
                          </a:solidFill>
                          <a:latin typeface="BLS Text" panose="00000500000000000000" pitchFamily="2" charset="-34"/>
                          <a:cs typeface="BLS Text" pitchFamily="2" charset="-34"/>
                        </a:rPr>
                        <a:t>PTTGC </a:t>
                      </a:r>
                      <a:endParaRPr lang="th-TH" sz="1050" b="1" dirty="0">
                        <a:solidFill>
                          <a:schemeClr val="accent1"/>
                        </a:solidFill>
                        <a:latin typeface="BLS Text" panose="00000500000000000000" pitchFamily="2" charset="-34"/>
                        <a:cs typeface="BLS Text" pitchFamily="2" charset="-34"/>
                      </a:endParaRPr>
                    </a:p>
                    <a:p>
                      <a:pPr algn="ctr"/>
                      <a:r>
                        <a:rPr lang="th-TH" sz="1050" b="1" dirty="0">
                          <a:solidFill>
                            <a:schemeClr val="accent1"/>
                          </a:solidFill>
                          <a:latin typeface="BLS Text" panose="00000500000000000000" pitchFamily="2" charset="-34"/>
                          <a:cs typeface="BLS Text" pitchFamily="2" charset="-34"/>
                        </a:rPr>
                        <a:t>+21.5%</a:t>
                      </a:r>
                      <a:endParaRPr lang="en-US" sz="1050" b="1" dirty="0">
                        <a:solidFill>
                          <a:schemeClr val="accent1"/>
                        </a:solidFill>
                        <a:latin typeface="BLS Text" panose="00000500000000000000" pitchFamily="2" charset="-34"/>
                        <a:cs typeface="BLS Text" panose="00000500000000000000" pitchFamily="2" charset="-34"/>
                      </a:endParaRPr>
                    </a:p>
                  </a:txBody>
                  <a:tcPr marL="7982" marR="7982" marT="3991" marB="3991" anchor="ctr">
                    <a:lnT>
                      <a:noFill/>
                    </a:lnT>
                  </a:tcPr>
                </a:tc>
                <a:tc>
                  <a:txBody>
                    <a:bodyPr/>
                    <a:lstStyle/>
                    <a:p>
                      <a:pPr marL="26289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th-TH" sz="1000" dirty="0">
                          <a:solidFill>
                            <a:schemeClr val="tx1"/>
                          </a:solidFill>
                          <a:latin typeface="BLS Text" panose="00000500000000000000" pitchFamily="2" charset="-34"/>
                          <a:cs typeface="BLS Text" pitchFamily="2" charset="-34"/>
                        </a:rPr>
                        <a:t>ภาพรวมเห็นการขยายตัวทั้งจากปริมาณขาย ส่วนต่างปิโตรฯ และค่าการกลั่น </a:t>
                      </a:r>
                      <a:endParaRPr lang="en-US" sz="1000" dirty="0">
                        <a:solidFill>
                          <a:schemeClr val="tx1"/>
                        </a:solidFill>
                        <a:latin typeface="BLS Text" panose="00000500000000000000" pitchFamily="2" charset="-34"/>
                        <a:cs typeface="BLS Text" pitchFamily="2" charset="-34"/>
                      </a:endParaRPr>
                    </a:p>
                    <a:p>
                      <a:pPr marL="26289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th-TH" sz="1000" dirty="0">
                          <a:solidFill>
                            <a:schemeClr val="tx1"/>
                          </a:solidFill>
                          <a:latin typeface="BLS Text" panose="00000500000000000000" pitchFamily="2" charset="-34"/>
                          <a:cs typeface="BLS Text" pitchFamily="2" charset="-34"/>
                        </a:rPr>
                        <a:t>แนวโน้มส่วนต่างราคาปิโตรเคมีทรงตัวอยู่ในระดับสูงต่อเนื่องในปี 2026 หนุนโดยภาวะอุปทานตึงตัว เนื่องจากการ </a:t>
                      </a:r>
                      <a:r>
                        <a:rPr lang="en-US" sz="1000" dirty="0">
                          <a:solidFill>
                            <a:schemeClr val="tx1"/>
                          </a:solidFill>
                          <a:latin typeface="BLS Text" panose="00000500000000000000" pitchFamily="2" charset="-34"/>
                          <a:cs typeface="BLS Text" pitchFamily="2" charset="-34"/>
                        </a:rPr>
                        <a:t>Force Majeure/</a:t>
                      </a:r>
                      <a:r>
                        <a:rPr lang="th-TH" sz="1000" dirty="0">
                          <a:solidFill>
                            <a:schemeClr val="tx1"/>
                          </a:solidFill>
                          <a:latin typeface="BLS Text" panose="00000500000000000000" pitchFamily="2" charset="-34"/>
                          <a:cs typeface="BLS Text" pitchFamily="2" charset="-34"/>
                        </a:rPr>
                        <a:t>การลดกำลังการผลิตของผู้ผลิตจำนวนมาก (ขาดแคลนวัตถุดิบ) รวมทั้งโรงงานขนาดใหญ่หลายแห่งได้รับความเสียหายจากการถูกโจมตี ณ ปัจจุบัน กำลังการผลิตราว 20% ของกำลังการผลิตทั่วโลกถูกกระทบจากสงคราม</a:t>
                      </a:r>
                      <a:endParaRPr lang="th-TH" sz="1000" b="1" dirty="0">
                        <a:solidFill>
                          <a:schemeClr val="tx1"/>
                        </a:solidFill>
                        <a:latin typeface="BLS Text" panose="00000500000000000000" pitchFamily="2" charset="-34"/>
                        <a:cs typeface="BLS Text" pitchFamily="2" charset="-34"/>
                      </a:endParaRPr>
                    </a:p>
                  </a:txBody>
                  <a:tcPr marL="7982" marR="7982" marT="3991" marB="3991" anchor="ctr">
                    <a:lnT>
                      <a:noFill/>
                    </a:lnT>
                  </a:tcPr>
                </a:tc>
                <a:extLst>
                  <a:ext uri="{0D108BD9-81ED-4DB2-BD59-A6C34878D82A}">
                    <a16:rowId xmlns:a16="http://schemas.microsoft.com/office/drawing/2014/main" val="2139658935"/>
                  </a:ext>
                </a:extLst>
              </a:tr>
              <a:tr h="9650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h-TH" sz="1050" b="1" dirty="0">
                          <a:solidFill>
                            <a:schemeClr val="accent1"/>
                          </a:solidFill>
                          <a:latin typeface="BLS Text" panose="00000500000000000000" pitchFamily="2" charset="-34"/>
                          <a:cs typeface="BLS Text" pitchFamily="2" charset="-34"/>
                        </a:rPr>
                        <a:t>กลุ่มพลังงาน/โรงไฟฟ้า</a:t>
                      </a:r>
                      <a:endParaRPr lang="th-TH" sz="1050" dirty="0">
                        <a:solidFill>
                          <a:schemeClr val="accent1"/>
                        </a:solidFill>
                        <a:latin typeface="BLS Text" panose="00000500000000000000" pitchFamily="2" charset="-34"/>
                        <a:cs typeface="BLS Text" pitchFamily="2" charset="-34"/>
                      </a:endParaRPr>
                    </a:p>
                  </a:txBody>
                  <a:tcPr marL="7982" marR="7982" marT="3991" marB="3991" anchor="ctr"/>
                </a:tc>
                <a:tc>
                  <a:txBody>
                    <a:bodyPr/>
                    <a:lstStyle/>
                    <a:p>
                      <a:pPr algn="ctr"/>
                      <a:r>
                        <a:rPr lang="th-TH" sz="1050" b="1" dirty="0">
                          <a:solidFill>
                            <a:schemeClr val="accent1"/>
                          </a:solidFill>
                          <a:latin typeface="BLS Text" panose="00000500000000000000" pitchFamily="2" charset="-34"/>
                          <a:cs typeface="BLS Text" pitchFamily="2" charset="-34"/>
                        </a:rPr>
                        <a:t>+19.9%</a:t>
                      </a:r>
                      <a:endParaRPr lang="en-US" sz="1050" b="1" dirty="0">
                        <a:solidFill>
                          <a:schemeClr val="accent1"/>
                        </a:solidFill>
                        <a:latin typeface="BLS Text" panose="00000500000000000000" pitchFamily="2" charset="-34"/>
                        <a:cs typeface="BLS Text" panose="00000500000000000000" pitchFamily="2" charset="-34"/>
                      </a:endParaRPr>
                    </a:p>
                  </a:txBody>
                  <a:tcPr marL="7982" marR="7982" marT="3991" marB="3991" anchor="ctr"/>
                </a:tc>
                <a:tc>
                  <a:txBody>
                    <a:bodyPr/>
                    <a:lstStyle/>
                    <a:p>
                      <a:pPr marL="262890" indent="-171450" algn="just">
                        <a:buFont typeface="Arial" panose="020B0604020202020204" pitchFamily="34" charset="0"/>
                        <a:buChar char="•"/>
                      </a:pPr>
                      <a:r>
                        <a:rPr lang="en-US" sz="1000" dirty="0">
                          <a:solidFill>
                            <a:schemeClr val="tx1"/>
                          </a:solidFill>
                          <a:latin typeface="BLS Text" panose="00000500000000000000" pitchFamily="2" charset="-34"/>
                          <a:cs typeface="BLS Text" pitchFamily="2" charset="-34"/>
                        </a:rPr>
                        <a:t>PTTEP </a:t>
                      </a:r>
                      <a:r>
                        <a:rPr lang="th-TH" sz="1000" dirty="0">
                          <a:solidFill>
                            <a:schemeClr val="tx1"/>
                          </a:solidFill>
                          <a:latin typeface="BLS Text" panose="00000500000000000000" pitchFamily="2" charset="-34"/>
                          <a:cs typeface="BLS Text" pitchFamily="2" charset="-34"/>
                        </a:rPr>
                        <a:t>จากราคาพลังงานสูงกว่าคาด และ </a:t>
                      </a:r>
                      <a:r>
                        <a:rPr lang="en-US" sz="1000" dirty="0">
                          <a:solidFill>
                            <a:schemeClr val="tx1"/>
                          </a:solidFill>
                          <a:latin typeface="BLS Text" panose="00000500000000000000" pitchFamily="2" charset="-34"/>
                          <a:cs typeface="BLS Text" pitchFamily="2" charset="-34"/>
                        </a:rPr>
                        <a:t>GPSC GULF </a:t>
                      </a:r>
                      <a:r>
                        <a:rPr lang="th-TH" sz="1000" dirty="0">
                          <a:solidFill>
                            <a:schemeClr val="tx1"/>
                          </a:solidFill>
                          <a:latin typeface="BLS Text" panose="00000500000000000000" pitchFamily="2" charset="-34"/>
                          <a:cs typeface="BLS Text" pitchFamily="2" charset="-34"/>
                        </a:rPr>
                        <a:t>จากกำไรพิเศษ </a:t>
                      </a:r>
                      <a:endParaRPr lang="en-US" sz="1000" dirty="0">
                        <a:solidFill>
                          <a:schemeClr val="tx1"/>
                        </a:solidFill>
                        <a:latin typeface="BLS Text" panose="00000500000000000000" pitchFamily="2" charset="-34"/>
                        <a:cs typeface="BLS Text" pitchFamily="2" charset="-34"/>
                      </a:endParaRPr>
                    </a:p>
                    <a:p>
                      <a:pPr marL="262890" indent="-171450" algn="just">
                        <a:buFont typeface="Arial" panose="020B0604020202020204" pitchFamily="34" charset="0"/>
                        <a:buChar char="•"/>
                      </a:pPr>
                      <a:r>
                        <a:rPr lang="th-TH" sz="1000" dirty="0">
                          <a:solidFill>
                            <a:schemeClr val="tx1"/>
                          </a:solidFill>
                          <a:latin typeface="BLS Text" panose="00000500000000000000" pitchFamily="2" charset="-34"/>
                          <a:cs typeface="BLS Text" pitchFamily="2" charset="-34"/>
                        </a:rPr>
                        <a:t>แนวโน้มกำไร </a:t>
                      </a:r>
                      <a:r>
                        <a:rPr lang="en-US" sz="1000" dirty="0">
                          <a:solidFill>
                            <a:schemeClr val="tx1"/>
                          </a:solidFill>
                          <a:latin typeface="BLS Text" panose="00000500000000000000" pitchFamily="2" charset="-34"/>
                          <a:cs typeface="BLS Text" pitchFamily="2" charset="-34"/>
                        </a:rPr>
                        <a:t>PTTEP </a:t>
                      </a:r>
                      <a:r>
                        <a:rPr lang="th-TH" sz="1000" dirty="0">
                          <a:solidFill>
                            <a:schemeClr val="tx1"/>
                          </a:solidFill>
                          <a:latin typeface="BLS Text" panose="00000500000000000000" pitchFamily="2" charset="-34"/>
                          <a:cs typeface="BLS Text" pitchFamily="2" charset="-34"/>
                        </a:rPr>
                        <a:t>ไตรมาส 2 คาดเติบโต </a:t>
                      </a:r>
                      <a:r>
                        <a:rPr lang="en-US" sz="1000" dirty="0">
                          <a:solidFill>
                            <a:schemeClr val="tx1"/>
                          </a:solidFill>
                          <a:latin typeface="BLS Text" panose="00000500000000000000" pitchFamily="2" charset="-34"/>
                          <a:cs typeface="BLS Text" pitchFamily="2" charset="-34"/>
                        </a:rPr>
                        <a:t>YoY </a:t>
                      </a:r>
                      <a:r>
                        <a:rPr lang="th-TH" sz="1000" dirty="0">
                          <a:solidFill>
                            <a:schemeClr val="tx1"/>
                          </a:solidFill>
                          <a:latin typeface="BLS Text" panose="00000500000000000000" pitchFamily="2" charset="-34"/>
                          <a:cs typeface="BLS Text" pitchFamily="2" charset="-34"/>
                        </a:rPr>
                        <a:t>และ </a:t>
                      </a:r>
                      <a:r>
                        <a:rPr lang="en-US" sz="1000" dirty="0" err="1">
                          <a:solidFill>
                            <a:schemeClr val="tx1"/>
                          </a:solidFill>
                          <a:latin typeface="BLS Text" panose="00000500000000000000" pitchFamily="2" charset="-34"/>
                          <a:cs typeface="BLS Text" pitchFamily="2" charset="-34"/>
                        </a:rPr>
                        <a:t>QoQ</a:t>
                      </a:r>
                      <a:r>
                        <a:rPr lang="en-US" sz="1000" dirty="0">
                          <a:solidFill>
                            <a:schemeClr val="tx1"/>
                          </a:solidFill>
                          <a:latin typeface="BLS Text" panose="00000500000000000000" pitchFamily="2" charset="-34"/>
                          <a:cs typeface="BLS Text" pitchFamily="2" charset="-34"/>
                        </a:rPr>
                        <a:t> </a:t>
                      </a:r>
                      <a:r>
                        <a:rPr lang="th-TH" sz="1000" dirty="0">
                          <a:solidFill>
                            <a:schemeClr val="tx1"/>
                          </a:solidFill>
                          <a:latin typeface="BLS Text" panose="00000500000000000000" pitchFamily="2" charset="-34"/>
                          <a:cs typeface="BLS Text" pitchFamily="2" charset="-34"/>
                        </a:rPr>
                        <a:t>หนุนจากปริมาณขายปิโตรเลียมและราคาขายเฉลี่ยที่สูงขึ้น </a:t>
                      </a:r>
                      <a:endParaRPr lang="en-US" sz="1000" dirty="0">
                        <a:solidFill>
                          <a:schemeClr val="tx1"/>
                        </a:solidFill>
                        <a:latin typeface="BLS Text" panose="00000500000000000000" pitchFamily="2" charset="-34"/>
                        <a:cs typeface="BLS Text" pitchFamily="2" charset="-34"/>
                      </a:endParaRPr>
                    </a:p>
                    <a:p>
                      <a:pPr marL="262890" indent="-171450" algn="just">
                        <a:buFont typeface="Arial" panose="020B0604020202020204" pitchFamily="34" charset="0"/>
                        <a:buChar char="•"/>
                      </a:pPr>
                      <a:r>
                        <a:rPr lang="th-TH" sz="1000" dirty="0">
                          <a:solidFill>
                            <a:schemeClr val="tx1"/>
                          </a:solidFill>
                          <a:latin typeface="BLS Text" panose="00000500000000000000" pitchFamily="2" charset="-34"/>
                          <a:cs typeface="BLS Text" pitchFamily="2" charset="-34"/>
                        </a:rPr>
                        <a:t>โรงไฟฟ้าขนาดใหญ่ </a:t>
                      </a:r>
                      <a:r>
                        <a:rPr lang="en-US" sz="1000" dirty="0">
                          <a:solidFill>
                            <a:schemeClr val="tx1"/>
                          </a:solidFill>
                          <a:latin typeface="BLS Text" panose="00000500000000000000" pitchFamily="2" charset="-34"/>
                          <a:cs typeface="BLS Text" pitchFamily="2" charset="-34"/>
                        </a:rPr>
                        <a:t>IPP </a:t>
                      </a:r>
                      <a:r>
                        <a:rPr lang="th-TH" sz="1000" dirty="0">
                          <a:solidFill>
                            <a:schemeClr val="tx1"/>
                          </a:solidFill>
                          <a:latin typeface="BLS Text" panose="00000500000000000000" pitchFamily="2" charset="-34"/>
                          <a:cs typeface="BLS Text" pitchFamily="2" charset="-34"/>
                        </a:rPr>
                        <a:t>อย่าง </a:t>
                      </a:r>
                      <a:r>
                        <a:rPr lang="en-US" sz="1000" dirty="0">
                          <a:solidFill>
                            <a:schemeClr val="tx1"/>
                          </a:solidFill>
                          <a:latin typeface="BLS Text" panose="00000500000000000000" pitchFamily="2" charset="-34"/>
                          <a:cs typeface="BLS Text" pitchFamily="2" charset="-34"/>
                        </a:rPr>
                        <a:t>GULF </a:t>
                      </a:r>
                      <a:r>
                        <a:rPr lang="th-TH" sz="1000" dirty="0">
                          <a:solidFill>
                            <a:schemeClr val="tx1"/>
                          </a:solidFill>
                          <a:latin typeface="BLS Text" panose="00000500000000000000" pitchFamily="2" charset="-34"/>
                          <a:cs typeface="BLS Text" pitchFamily="2" charset="-34"/>
                        </a:rPr>
                        <a:t>คาดยังคงเติบโตได้ </a:t>
                      </a:r>
                      <a:r>
                        <a:rPr lang="en-US" sz="1000" dirty="0">
                          <a:solidFill>
                            <a:schemeClr val="tx1"/>
                          </a:solidFill>
                          <a:latin typeface="BLS Text" panose="00000500000000000000" pitchFamily="2" charset="-34"/>
                          <a:cs typeface="BLS Text" pitchFamily="2" charset="-34"/>
                        </a:rPr>
                        <a:t>YoY </a:t>
                      </a:r>
                      <a:r>
                        <a:rPr lang="th-TH" sz="1000" dirty="0">
                          <a:solidFill>
                            <a:schemeClr val="tx1"/>
                          </a:solidFill>
                          <a:latin typeface="BLS Text" panose="00000500000000000000" pitchFamily="2" charset="-34"/>
                          <a:cs typeface="BLS Text" pitchFamily="2" charset="-34"/>
                        </a:rPr>
                        <a:t>กำลังการผลิตใหม่หนุน ขณะที่ โรงไฟฟ้าขนาดเล็ก </a:t>
                      </a:r>
                      <a:r>
                        <a:rPr lang="en-US" sz="1000" dirty="0">
                          <a:solidFill>
                            <a:schemeClr val="tx1"/>
                          </a:solidFill>
                          <a:latin typeface="BLS Text" panose="00000500000000000000" pitchFamily="2" charset="-34"/>
                          <a:cs typeface="BLS Text" pitchFamily="2" charset="-34"/>
                        </a:rPr>
                        <a:t>SPP </a:t>
                      </a:r>
                      <a:r>
                        <a:rPr lang="th-TH" sz="1000" dirty="0">
                          <a:solidFill>
                            <a:schemeClr val="tx1"/>
                          </a:solidFill>
                          <a:latin typeface="BLS Text" panose="00000500000000000000" pitchFamily="2" charset="-34"/>
                          <a:cs typeface="BLS Text" pitchFamily="2" charset="-34"/>
                        </a:rPr>
                        <a:t>อย่าง </a:t>
                      </a:r>
                      <a:r>
                        <a:rPr lang="en-US" sz="1000" dirty="0">
                          <a:solidFill>
                            <a:schemeClr val="tx1"/>
                          </a:solidFill>
                          <a:latin typeface="BLS Text" panose="00000500000000000000" pitchFamily="2" charset="-34"/>
                          <a:cs typeface="BLS Text" pitchFamily="2" charset="-34"/>
                        </a:rPr>
                        <a:t>GPSC </a:t>
                      </a:r>
                      <a:r>
                        <a:rPr lang="th-TH" sz="1000" dirty="0">
                          <a:solidFill>
                            <a:schemeClr val="tx1"/>
                          </a:solidFill>
                          <a:latin typeface="BLS Text" panose="00000500000000000000" pitchFamily="2" charset="-34"/>
                          <a:cs typeface="BLS Text" pitchFamily="2" charset="-34"/>
                        </a:rPr>
                        <a:t>อาจเริ่มโดนกดดันจากต้นทุนราคาก๊าซธรรมชาติเหลว (</a:t>
                      </a:r>
                      <a:r>
                        <a:rPr lang="en-US" sz="1000" dirty="0">
                          <a:solidFill>
                            <a:schemeClr val="tx1"/>
                          </a:solidFill>
                          <a:latin typeface="BLS Text" panose="00000500000000000000" pitchFamily="2" charset="-34"/>
                          <a:cs typeface="BLS Text" pitchFamily="2" charset="-34"/>
                        </a:rPr>
                        <a:t>LNG) </a:t>
                      </a:r>
                      <a:r>
                        <a:rPr lang="th-TH" sz="1000" dirty="0">
                          <a:solidFill>
                            <a:schemeClr val="tx1"/>
                          </a:solidFill>
                          <a:latin typeface="BLS Text" panose="00000500000000000000" pitchFamily="2" charset="-34"/>
                          <a:cs typeface="BLS Text" pitchFamily="2" charset="-34"/>
                        </a:rPr>
                        <a:t>ที่สูงขึ้น ผลกระทบจากสงคราม </a:t>
                      </a:r>
                      <a:endParaRPr lang="en-US" sz="1000" dirty="0">
                        <a:solidFill>
                          <a:schemeClr val="tx1"/>
                        </a:solidFill>
                        <a:latin typeface="BLS Text" panose="00000500000000000000" pitchFamily="2" charset="-34"/>
                        <a:cs typeface="BLS Text" panose="00000500000000000000" pitchFamily="2" charset="-34"/>
                      </a:endParaRPr>
                    </a:p>
                  </a:txBody>
                  <a:tcPr marL="7982" marR="7982" marT="3991" marB="3991" anchor="ctr"/>
                </a:tc>
                <a:extLst>
                  <a:ext uri="{0D108BD9-81ED-4DB2-BD59-A6C34878D82A}">
                    <a16:rowId xmlns:a16="http://schemas.microsoft.com/office/drawing/2014/main" val="1571594391"/>
                  </a:ext>
                </a:extLst>
              </a:tr>
              <a:tr h="4923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h-TH" sz="1050" b="1" dirty="0">
                          <a:solidFill>
                            <a:schemeClr val="accent1"/>
                          </a:solidFill>
                          <a:latin typeface="BLS Text" panose="00000500000000000000" pitchFamily="2" charset="-34"/>
                          <a:cs typeface="BLS Text" pitchFamily="2" charset="-34"/>
                        </a:rPr>
                        <a:t>กลุ่มอิเล็กทรอนิกส์</a:t>
                      </a:r>
                      <a:endParaRPr lang="th-TH" sz="1050" b="0" dirty="0">
                        <a:solidFill>
                          <a:schemeClr val="accent1"/>
                        </a:solidFill>
                        <a:latin typeface="BLS Text" panose="00000500000000000000" pitchFamily="2" charset="-34"/>
                        <a:cs typeface="BLS Text" panose="00000500000000000000" pitchFamily="2" charset="-34"/>
                      </a:endParaRPr>
                    </a:p>
                  </a:txBody>
                  <a:tcPr marL="7982" marR="7982" marT="3991" marB="3991" anchor="ctr"/>
                </a:tc>
                <a:tc>
                  <a:txBody>
                    <a:bodyPr/>
                    <a:lstStyle/>
                    <a:p>
                      <a:pPr algn="ctr"/>
                      <a:r>
                        <a:rPr lang="en-US" sz="1050" b="1" dirty="0">
                          <a:solidFill>
                            <a:schemeClr val="accent1"/>
                          </a:solidFill>
                          <a:latin typeface="BLS Text" panose="00000500000000000000" pitchFamily="2" charset="-34"/>
                          <a:cs typeface="BLS Text" pitchFamily="2" charset="-34"/>
                        </a:rPr>
                        <a:t>DELTA</a:t>
                      </a:r>
                      <a:endParaRPr lang="th-TH" sz="1050" b="1" dirty="0">
                        <a:solidFill>
                          <a:schemeClr val="accent1"/>
                        </a:solidFill>
                        <a:latin typeface="BLS Text" panose="00000500000000000000" pitchFamily="2" charset="-34"/>
                        <a:cs typeface="BLS Text" pitchFamily="2" charset="-34"/>
                      </a:endParaRPr>
                    </a:p>
                    <a:p>
                      <a:pPr algn="ctr"/>
                      <a:r>
                        <a:rPr lang="th-TH" sz="1050" b="1" dirty="0">
                          <a:solidFill>
                            <a:schemeClr val="accent1"/>
                          </a:solidFill>
                          <a:latin typeface="BLS Text" panose="00000500000000000000" pitchFamily="2" charset="-34"/>
                          <a:cs typeface="BLS Text" pitchFamily="2" charset="-34"/>
                        </a:rPr>
                        <a:t>+16.2%</a:t>
                      </a:r>
                      <a:endParaRPr lang="en-US" sz="1050" b="1" dirty="0">
                        <a:solidFill>
                          <a:schemeClr val="accent1"/>
                        </a:solidFill>
                        <a:latin typeface="BLS Text" panose="00000500000000000000" pitchFamily="2" charset="-34"/>
                        <a:cs typeface="BLS Text" panose="00000500000000000000" pitchFamily="2" charset="-34"/>
                      </a:endParaRPr>
                    </a:p>
                  </a:txBody>
                  <a:tcPr marL="7982" marR="7982" marT="3991" marB="3991" anchor="ctr"/>
                </a:tc>
                <a:tc>
                  <a:txBody>
                    <a:bodyPr/>
                    <a:lstStyle/>
                    <a:p>
                      <a:pPr marL="26289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th-TH" sz="1000" dirty="0">
                          <a:solidFill>
                            <a:schemeClr val="tx1"/>
                          </a:solidFill>
                          <a:latin typeface="BLS Text" panose="00000500000000000000" pitchFamily="2" charset="-34"/>
                          <a:cs typeface="BLS Text" pitchFamily="2" charset="-34"/>
                        </a:rPr>
                        <a:t>หลังยอดขายยังแข็งแกร่ง อัตรากำไรสูงกว่าคาด </a:t>
                      </a:r>
                      <a:endParaRPr lang="en-US" sz="1000" dirty="0">
                        <a:solidFill>
                          <a:schemeClr val="tx1"/>
                        </a:solidFill>
                        <a:latin typeface="BLS Text" panose="00000500000000000000" pitchFamily="2" charset="-34"/>
                        <a:cs typeface="BLS Text" pitchFamily="2" charset="-34"/>
                      </a:endParaRPr>
                    </a:p>
                    <a:p>
                      <a:pPr marL="26289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th-TH" sz="1000" dirty="0">
                          <a:solidFill>
                            <a:schemeClr val="tx1"/>
                          </a:solidFill>
                          <a:latin typeface="BLS Text" panose="00000500000000000000" pitchFamily="2" charset="-34"/>
                          <a:cs typeface="BLS Text" pitchFamily="2" charset="-34"/>
                        </a:rPr>
                        <a:t>ดีมานด์อิเล็กทรอนิกส์สำหรับ </a:t>
                      </a:r>
                      <a:r>
                        <a:rPr lang="en-US" sz="1000" dirty="0">
                          <a:solidFill>
                            <a:schemeClr val="tx1"/>
                          </a:solidFill>
                          <a:latin typeface="BLS Text" panose="00000500000000000000" pitchFamily="2" charset="-34"/>
                          <a:cs typeface="BLS Text" pitchFamily="2" charset="-34"/>
                        </a:rPr>
                        <a:t>AI/data center </a:t>
                      </a:r>
                      <a:r>
                        <a:rPr lang="th-TH" sz="1000" dirty="0">
                          <a:solidFill>
                            <a:schemeClr val="tx1"/>
                          </a:solidFill>
                          <a:latin typeface="BLS Text" panose="00000500000000000000" pitchFamily="2" charset="-34"/>
                          <a:cs typeface="BLS Text" pitchFamily="2" charset="-34"/>
                        </a:rPr>
                        <a:t>คาดยังแข็งแกร่งหนุนกำไรไตรมาส 2 โตทั้ง </a:t>
                      </a:r>
                      <a:r>
                        <a:rPr lang="en-US" sz="1000" dirty="0">
                          <a:solidFill>
                            <a:schemeClr val="tx1"/>
                          </a:solidFill>
                          <a:latin typeface="BLS Text" panose="00000500000000000000" pitchFamily="2" charset="-34"/>
                          <a:cs typeface="BLS Text" pitchFamily="2" charset="-34"/>
                        </a:rPr>
                        <a:t>YoY </a:t>
                      </a:r>
                      <a:r>
                        <a:rPr lang="th-TH" sz="1000" dirty="0">
                          <a:solidFill>
                            <a:schemeClr val="tx1"/>
                          </a:solidFill>
                          <a:latin typeface="BLS Text" panose="00000500000000000000" pitchFamily="2" charset="-34"/>
                          <a:cs typeface="BLS Text" pitchFamily="2" charset="-34"/>
                        </a:rPr>
                        <a:t>และ </a:t>
                      </a:r>
                      <a:r>
                        <a:rPr lang="en-US" sz="1000" dirty="0" err="1">
                          <a:solidFill>
                            <a:schemeClr val="tx1"/>
                          </a:solidFill>
                          <a:latin typeface="BLS Text" panose="00000500000000000000" pitchFamily="2" charset="-34"/>
                          <a:cs typeface="BLS Text" pitchFamily="2" charset="-34"/>
                        </a:rPr>
                        <a:t>QoQ</a:t>
                      </a:r>
                      <a:r>
                        <a:rPr lang="en-US" sz="1000" dirty="0">
                          <a:solidFill>
                            <a:schemeClr val="tx1"/>
                          </a:solidFill>
                          <a:latin typeface="BLS Text" panose="00000500000000000000" pitchFamily="2" charset="-34"/>
                          <a:cs typeface="BLS Text" pitchFamily="2" charset="-34"/>
                        </a:rPr>
                        <a:t> </a:t>
                      </a:r>
                    </a:p>
                  </a:txBody>
                  <a:tcPr marL="7982" marR="7982" marT="3991" marB="3991" anchor="ctr"/>
                </a:tc>
                <a:extLst>
                  <a:ext uri="{0D108BD9-81ED-4DB2-BD59-A6C34878D82A}">
                    <a16:rowId xmlns:a16="http://schemas.microsoft.com/office/drawing/2014/main" val="1435720439"/>
                  </a:ext>
                </a:extLst>
              </a:tr>
              <a:tr h="4923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h-TH" sz="1050" b="1" dirty="0">
                          <a:solidFill>
                            <a:schemeClr val="accent1"/>
                          </a:solidFill>
                          <a:latin typeface="BLS Text" panose="00000500000000000000" pitchFamily="2" charset="-34"/>
                          <a:cs typeface="BLS Text" pitchFamily="2" charset="-34"/>
                        </a:rPr>
                        <a:t>กลุ่มสื่อสาร</a:t>
                      </a:r>
                      <a:endParaRPr lang="th-TH" sz="1050" b="0" dirty="0">
                        <a:solidFill>
                          <a:schemeClr val="accent1"/>
                        </a:solidFill>
                        <a:latin typeface="BLS Text" panose="00000500000000000000" pitchFamily="2" charset="-34"/>
                        <a:cs typeface="BLS Text" panose="00000500000000000000" pitchFamily="2" charset="-34"/>
                      </a:endParaRPr>
                    </a:p>
                  </a:txBody>
                  <a:tcPr marL="7982" marR="7982" marT="3991" marB="3991" anchor="ctr"/>
                </a:tc>
                <a:tc>
                  <a:txBody>
                    <a:bodyPr/>
                    <a:lstStyle/>
                    <a:p>
                      <a:pPr algn="ctr"/>
                      <a:r>
                        <a:rPr lang="th-TH" sz="1050" b="1" dirty="0">
                          <a:solidFill>
                            <a:schemeClr val="accent1"/>
                          </a:solidFill>
                          <a:latin typeface="BLS Text" panose="00000500000000000000" pitchFamily="2" charset="-34"/>
                          <a:cs typeface="BLS Text" pitchFamily="2" charset="-34"/>
                        </a:rPr>
                        <a:t>+12.1%</a:t>
                      </a:r>
                      <a:endParaRPr lang="en-US" sz="1050" b="1" dirty="0">
                        <a:solidFill>
                          <a:schemeClr val="accent1"/>
                        </a:solidFill>
                        <a:latin typeface="BLS Text" panose="00000500000000000000" pitchFamily="2" charset="-34"/>
                        <a:cs typeface="BLS Text" panose="00000500000000000000" pitchFamily="2" charset="-34"/>
                      </a:endParaRPr>
                    </a:p>
                  </a:txBody>
                  <a:tcPr marL="7982" marR="7982" marT="3991" marB="3991" anchor="ctr"/>
                </a:tc>
                <a:tc>
                  <a:txBody>
                    <a:bodyPr/>
                    <a:lstStyle/>
                    <a:p>
                      <a:pPr marL="262890" indent="-171450" algn="just">
                        <a:buFont typeface="Arial" panose="020B0604020202020204" pitchFamily="34" charset="0"/>
                        <a:buChar char="•"/>
                      </a:pPr>
                      <a:r>
                        <a:rPr lang="en-US" sz="1000" dirty="0">
                          <a:solidFill>
                            <a:schemeClr val="tx1"/>
                          </a:solidFill>
                          <a:latin typeface="BLS Text" panose="00000500000000000000" pitchFamily="2" charset="-34"/>
                          <a:cs typeface="BLS Text" pitchFamily="2" charset="-34"/>
                        </a:rPr>
                        <a:t>ADVANC-TRUE Mobile blended ARPU 4-5% YoY </a:t>
                      </a:r>
                      <a:r>
                        <a:rPr lang="th-TH" sz="1000" dirty="0">
                          <a:solidFill>
                            <a:schemeClr val="tx1"/>
                          </a:solidFill>
                          <a:latin typeface="BLS Text" panose="00000500000000000000" pitchFamily="2" charset="-34"/>
                          <a:cs typeface="BLS Text" pitchFamily="2" charset="-34"/>
                        </a:rPr>
                        <a:t>ในไตรมาส 1 ต้นทุน ขณะที่ ต้นทุนค่าโครงข่ายลดลง </a:t>
                      </a:r>
                      <a:endParaRPr lang="en-US" sz="1000" dirty="0">
                        <a:solidFill>
                          <a:schemeClr val="tx1"/>
                        </a:solidFill>
                        <a:latin typeface="BLS Text" panose="00000500000000000000" pitchFamily="2" charset="-34"/>
                        <a:cs typeface="BLS Text" pitchFamily="2" charset="-34"/>
                      </a:endParaRPr>
                    </a:p>
                    <a:p>
                      <a:pPr marL="262890" indent="-171450" algn="just">
                        <a:buFont typeface="Arial" panose="020B0604020202020204" pitchFamily="34" charset="0"/>
                        <a:buChar char="•"/>
                      </a:pPr>
                      <a:r>
                        <a:rPr lang="th-TH" sz="1000" dirty="0">
                          <a:solidFill>
                            <a:schemeClr val="tx1"/>
                          </a:solidFill>
                          <a:latin typeface="BLS Text" panose="00000500000000000000" pitchFamily="2" charset="-34"/>
                          <a:cs typeface="BLS Text" pitchFamily="2" charset="-34"/>
                        </a:rPr>
                        <a:t>แนวโน้มไตรมาส 2 ยังคาดโตดีต่อเนื่อง </a:t>
                      </a:r>
                    </a:p>
                  </a:txBody>
                  <a:tcPr marL="7982" marR="7982" marT="3991" marB="3991" anchor="ctr"/>
                </a:tc>
                <a:extLst>
                  <a:ext uri="{0D108BD9-81ED-4DB2-BD59-A6C34878D82A}">
                    <a16:rowId xmlns:a16="http://schemas.microsoft.com/office/drawing/2014/main" val="3255174300"/>
                  </a:ext>
                </a:extLst>
              </a:tr>
              <a:tr h="88374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h-TH" sz="1050" b="1" dirty="0">
                          <a:solidFill>
                            <a:schemeClr val="accent1"/>
                          </a:solidFill>
                          <a:latin typeface="BLS Text" panose="00000500000000000000" pitchFamily="2" charset="-34"/>
                          <a:cs typeface="BLS Text" pitchFamily="2" charset="-34"/>
                        </a:rPr>
                        <a:t>กลุ่มธนาคาร</a:t>
                      </a:r>
                      <a:endParaRPr lang="th-TH" sz="1050" b="0" dirty="0">
                        <a:solidFill>
                          <a:schemeClr val="accent1"/>
                        </a:solidFill>
                        <a:latin typeface="BLS Text" panose="00000500000000000000" pitchFamily="2" charset="-34"/>
                        <a:cs typeface="BLS Text" panose="00000500000000000000" pitchFamily="2" charset="-34"/>
                      </a:endParaRPr>
                    </a:p>
                  </a:txBody>
                  <a:tcPr marL="7982" marR="7982" marT="3991" marB="399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1" dirty="0">
                          <a:solidFill>
                            <a:schemeClr val="accent1"/>
                          </a:solidFill>
                          <a:latin typeface="BLS Text" panose="00000500000000000000" pitchFamily="2" charset="-34"/>
                          <a:cs typeface="BLS Text" pitchFamily="2" charset="-34"/>
                        </a:rPr>
                        <a:t>+</a:t>
                      </a:r>
                      <a:r>
                        <a:rPr lang="th-TH" sz="1050" b="1" dirty="0">
                          <a:solidFill>
                            <a:schemeClr val="accent1"/>
                          </a:solidFill>
                          <a:latin typeface="BLS Text" panose="00000500000000000000" pitchFamily="2" charset="-34"/>
                          <a:cs typeface="BLS Text" pitchFamily="2" charset="-34"/>
                        </a:rPr>
                        <a:t>11.6%</a:t>
                      </a:r>
                      <a:endParaRPr lang="th-TH" sz="1050" dirty="0">
                        <a:solidFill>
                          <a:schemeClr val="accent1"/>
                        </a:solidFill>
                        <a:latin typeface="BLS Text" panose="00000500000000000000" pitchFamily="2" charset="-34"/>
                        <a:cs typeface="BLS Text" pitchFamily="2" charset="-34"/>
                      </a:endParaRPr>
                    </a:p>
                  </a:txBody>
                  <a:tcPr marL="7982" marR="7982" marT="3991" marB="3991" anchor="ctr"/>
                </a:tc>
                <a:tc>
                  <a:txBody>
                    <a:bodyPr/>
                    <a:lstStyle/>
                    <a:p>
                      <a:pPr marL="262890" indent="-171450" algn="just">
                        <a:spcAft>
                          <a:spcPts val="200"/>
                        </a:spcAft>
                        <a:buFont typeface="Arial" panose="020B0604020202020204" pitchFamily="34" charset="0"/>
                        <a:buChar char="•"/>
                      </a:pPr>
                      <a:r>
                        <a:rPr lang="th-TH" sz="1000" dirty="0">
                          <a:solidFill>
                            <a:schemeClr val="tx1"/>
                          </a:solidFill>
                          <a:latin typeface="BLS Text" panose="00000500000000000000" pitchFamily="2" charset="-34"/>
                          <a:cs typeface="BLS Text" pitchFamily="2" charset="-34"/>
                        </a:rPr>
                        <a:t>รายได้ที่ไม่ใช่ดอกเบี้ยที่สูงกว่าคาด และค่าใช้จ่ายในการดำเนินงานที่ต่ำกว่าคาด แนวโน้มในไตรมาส 2 อาจยังถูกกดดันจากส่วนต่างอัตราดอกเบี้ย (</a:t>
                      </a:r>
                      <a:r>
                        <a:rPr lang="en-US" sz="1000" dirty="0">
                          <a:solidFill>
                            <a:schemeClr val="tx1"/>
                          </a:solidFill>
                          <a:latin typeface="BLS Text" panose="00000500000000000000" pitchFamily="2" charset="-34"/>
                          <a:cs typeface="BLS Text" pitchFamily="2" charset="-34"/>
                        </a:rPr>
                        <a:t>NIM) </a:t>
                      </a:r>
                      <a:r>
                        <a:rPr lang="th-TH" sz="1000" dirty="0">
                          <a:solidFill>
                            <a:schemeClr val="tx1"/>
                          </a:solidFill>
                          <a:latin typeface="BLS Text" panose="00000500000000000000" pitchFamily="2" charset="-34"/>
                          <a:cs typeface="BLS Text" pitchFamily="2" charset="-34"/>
                        </a:rPr>
                        <a:t>ที่หดตัว </a:t>
                      </a:r>
                      <a:endParaRPr lang="en-US" sz="1000" dirty="0">
                        <a:solidFill>
                          <a:schemeClr val="tx1"/>
                        </a:solidFill>
                        <a:latin typeface="BLS Text" panose="00000500000000000000" pitchFamily="2" charset="-34"/>
                        <a:cs typeface="BLS Text" pitchFamily="2" charset="-34"/>
                      </a:endParaRPr>
                    </a:p>
                    <a:p>
                      <a:pPr marL="262890" indent="-171450" algn="just">
                        <a:spcAft>
                          <a:spcPts val="200"/>
                        </a:spcAft>
                        <a:buFont typeface="Arial" panose="020B0604020202020204" pitchFamily="34" charset="0"/>
                        <a:buChar char="•"/>
                      </a:pPr>
                      <a:r>
                        <a:rPr lang="th-TH" sz="1000" dirty="0">
                          <a:solidFill>
                            <a:schemeClr val="tx1"/>
                          </a:solidFill>
                          <a:latin typeface="BLS Text" panose="00000500000000000000" pitchFamily="2" charset="-34"/>
                          <a:cs typeface="BLS Text" pitchFamily="2" charset="-34"/>
                        </a:rPr>
                        <a:t>ธนาคารที่มีธุรกิจบริหารความมั่งคั่ง (</a:t>
                      </a:r>
                      <a:r>
                        <a:rPr lang="en-US" sz="1000" dirty="0">
                          <a:solidFill>
                            <a:schemeClr val="tx1"/>
                          </a:solidFill>
                          <a:latin typeface="BLS Text" panose="00000500000000000000" pitchFamily="2" charset="-34"/>
                          <a:cs typeface="BLS Text" pitchFamily="2" charset="-34"/>
                        </a:rPr>
                        <a:t>wealth management) </a:t>
                      </a:r>
                      <a:r>
                        <a:rPr lang="th-TH" sz="1000" dirty="0">
                          <a:solidFill>
                            <a:schemeClr val="tx1"/>
                          </a:solidFill>
                          <a:latin typeface="BLS Text" panose="00000500000000000000" pitchFamily="2" charset="-34"/>
                          <a:cs typeface="BLS Text" pitchFamily="2" charset="-34"/>
                        </a:rPr>
                        <a:t>แข็งแกร่ง คาดว่าจะช่วยหนุนรายได้ค่าธรรมเนียม และจำกัด </a:t>
                      </a:r>
                      <a:r>
                        <a:rPr lang="en-US" sz="1000" dirty="0">
                          <a:solidFill>
                            <a:schemeClr val="tx1"/>
                          </a:solidFill>
                          <a:latin typeface="BLS Text" panose="00000500000000000000" pitchFamily="2" charset="-34"/>
                          <a:cs typeface="BLS Text" pitchFamily="2" charset="-34"/>
                        </a:rPr>
                        <a:t>downside </a:t>
                      </a:r>
                      <a:r>
                        <a:rPr lang="th-TH" sz="1000" dirty="0">
                          <a:solidFill>
                            <a:schemeClr val="tx1"/>
                          </a:solidFill>
                          <a:latin typeface="BLS Text" panose="00000500000000000000" pitchFamily="2" charset="-34"/>
                          <a:cs typeface="BLS Text" pitchFamily="2" charset="-34"/>
                        </a:rPr>
                        <a:t>ของกำไรได้มากกว่าในช่วงเศรษฐกิจในประเทศโตต่ำ</a:t>
                      </a:r>
                    </a:p>
                  </a:txBody>
                  <a:tcPr marL="7982" marR="7982" marT="3991" marB="3991" anchor="ctr"/>
                </a:tc>
                <a:extLst>
                  <a:ext uri="{0D108BD9-81ED-4DB2-BD59-A6C34878D82A}">
                    <a16:rowId xmlns:a16="http://schemas.microsoft.com/office/drawing/2014/main" val="36367751"/>
                  </a:ext>
                </a:extLst>
              </a:tr>
              <a:tr h="5899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h-TH" sz="1050" b="1" dirty="0">
                          <a:solidFill>
                            <a:schemeClr val="accent1"/>
                          </a:solidFill>
                          <a:latin typeface="BLS Text" panose="00000500000000000000" pitchFamily="2" charset="-34"/>
                          <a:cs typeface="BLS Text" pitchFamily="2" charset="-34"/>
                        </a:rPr>
                        <a:t>กลุ่มการเงิน-ธุรกิจจำนำทะเบียน</a:t>
                      </a:r>
                      <a:endParaRPr lang="th-TH" sz="1050" b="0" dirty="0">
                        <a:solidFill>
                          <a:schemeClr val="accent1"/>
                        </a:solidFill>
                        <a:latin typeface="BLS Text" panose="00000500000000000000" pitchFamily="2" charset="-34"/>
                        <a:cs typeface="BLS Text" panose="00000500000000000000" pitchFamily="2" charset="-34"/>
                      </a:endParaRPr>
                    </a:p>
                  </a:txBody>
                  <a:tcPr marL="7982" marR="7982" marT="3991" marB="399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1" dirty="0">
                          <a:solidFill>
                            <a:schemeClr val="accent1"/>
                          </a:solidFill>
                          <a:latin typeface="BLS Text" panose="00000500000000000000" pitchFamily="2" charset="-34"/>
                          <a:cs typeface="BLS Text" pitchFamily="2" charset="-34"/>
                        </a:rPr>
                        <a:t>TIDLOR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1" dirty="0">
                          <a:solidFill>
                            <a:schemeClr val="accent1"/>
                          </a:solidFill>
                          <a:latin typeface="BLS Text" panose="00000500000000000000" pitchFamily="2" charset="-34"/>
                          <a:cs typeface="BLS Text" pitchFamily="2" charset="-34"/>
                        </a:rPr>
                        <a:t>+</a:t>
                      </a:r>
                      <a:r>
                        <a:rPr lang="th-TH" sz="1050" b="1" dirty="0">
                          <a:solidFill>
                            <a:schemeClr val="accent1"/>
                          </a:solidFill>
                          <a:latin typeface="BLS Text" panose="00000500000000000000" pitchFamily="2" charset="-34"/>
                          <a:cs typeface="BLS Text" pitchFamily="2" charset="-34"/>
                        </a:rPr>
                        <a:t>15.4%</a:t>
                      </a:r>
                      <a:endParaRPr lang="th-TH" sz="1050" dirty="0">
                        <a:solidFill>
                          <a:schemeClr val="accent1"/>
                        </a:solidFill>
                        <a:latin typeface="BLS Text" panose="00000500000000000000" pitchFamily="2" charset="-34"/>
                        <a:cs typeface="BLS Text" pitchFamily="2" charset="-34"/>
                      </a:endParaRPr>
                    </a:p>
                  </a:txBody>
                  <a:tcPr marL="7982" marR="7982" marT="3991" marB="3991" anchor="ctr"/>
                </a:tc>
                <a:tc>
                  <a:txBody>
                    <a:bodyPr/>
                    <a:lstStyle/>
                    <a:p>
                      <a:pPr marL="262890" marR="0" lvl="0" indent="-171450"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th-TH" sz="1000" dirty="0">
                          <a:solidFill>
                            <a:schemeClr val="tx1"/>
                          </a:solidFill>
                          <a:latin typeface="BLS Text" panose="00000500000000000000" pitchFamily="2" charset="-34"/>
                          <a:cs typeface="BLS Text" pitchFamily="2" charset="-34"/>
                        </a:rPr>
                        <a:t>หลังค่าใช้จ่ายสำรองหนี้สูญ (</a:t>
                      </a:r>
                      <a:r>
                        <a:rPr lang="en-US" sz="1000" dirty="0">
                          <a:solidFill>
                            <a:schemeClr val="tx1"/>
                          </a:solidFill>
                          <a:latin typeface="BLS Text" panose="00000500000000000000" pitchFamily="2" charset="-34"/>
                          <a:cs typeface="BLS Text" pitchFamily="2" charset="-34"/>
                        </a:rPr>
                        <a:t>credit cost) </a:t>
                      </a:r>
                      <a:r>
                        <a:rPr lang="th-TH" sz="1000" dirty="0">
                          <a:solidFill>
                            <a:schemeClr val="tx1"/>
                          </a:solidFill>
                          <a:latin typeface="BLS Text" panose="00000500000000000000" pitchFamily="2" charset="-34"/>
                          <a:cs typeface="BLS Text" pitchFamily="2" charset="-34"/>
                        </a:rPr>
                        <a:t>ต่ำคาด สะท้อนคุณภาพสินเชื่อยังควบคุมได้ </a:t>
                      </a:r>
                      <a:endParaRPr lang="en-US" sz="1000" dirty="0">
                        <a:solidFill>
                          <a:schemeClr val="tx1"/>
                        </a:solidFill>
                        <a:latin typeface="BLS Text" panose="00000500000000000000" pitchFamily="2" charset="-34"/>
                        <a:cs typeface="BLS Text" pitchFamily="2" charset="-34"/>
                      </a:endParaRPr>
                    </a:p>
                    <a:p>
                      <a:pPr marL="262890" marR="0" lvl="0" indent="-171450"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th-TH" sz="1000" dirty="0">
                          <a:solidFill>
                            <a:schemeClr val="tx1"/>
                          </a:solidFill>
                          <a:latin typeface="BLS Text" panose="00000500000000000000" pitchFamily="2" charset="-34"/>
                          <a:cs typeface="BLS Text" pitchFamily="2" charset="-34"/>
                        </a:rPr>
                        <a:t>แต่ผลกระทบจากสงครามต่อเศรษฐกิจฐานรากอาจเริ่มเห็นในไตรมาส 2</a:t>
                      </a:r>
                    </a:p>
                  </a:txBody>
                  <a:tcPr marL="7982" marR="7982" marT="3991" marB="3991" anchor="ctr"/>
                </a:tc>
                <a:extLst>
                  <a:ext uri="{0D108BD9-81ED-4DB2-BD59-A6C34878D82A}">
                    <a16:rowId xmlns:a16="http://schemas.microsoft.com/office/drawing/2014/main" val="2778679467"/>
                  </a:ext>
                </a:extLst>
              </a:tr>
            </a:tbl>
          </a:graphicData>
        </a:graphic>
      </p:graphicFrame>
      <p:sp>
        <p:nvSpPr>
          <p:cNvPr id="14" name="TextBox 13">
            <a:extLst>
              <a:ext uri="{FF2B5EF4-FFF2-40B4-BE49-F238E27FC236}">
                <a16:creationId xmlns:a16="http://schemas.microsoft.com/office/drawing/2014/main" id="{1BAF3CAE-3639-0C0D-F423-AFDF57B744B8}"/>
              </a:ext>
            </a:extLst>
          </p:cNvPr>
          <p:cNvSpPr txBox="1">
            <a:spLocks noChangeArrowheads="1"/>
          </p:cNvSpPr>
          <p:nvPr/>
        </p:nvSpPr>
        <p:spPr bwMode="auto">
          <a:xfrm>
            <a:off x="228179" y="8836441"/>
            <a:ext cx="2768773"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rIns="36000">
            <a:spAutoFit/>
          </a:bodyPr>
          <a:lstStyle>
            <a:lvl1pPr>
              <a:defRPr sz="2800">
                <a:solidFill>
                  <a:schemeClr val="tx1"/>
                </a:solidFill>
                <a:latin typeface="Times New Roman" pitchFamily="18" charset="0"/>
                <a:cs typeface="Angsana New" pitchFamily="18" charset="-34"/>
              </a:defRPr>
            </a:lvl1pPr>
            <a:lvl2pPr marL="742950" indent="-285750">
              <a:defRPr sz="2800">
                <a:solidFill>
                  <a:schemeClr val="tx1"/>
                </a:solidFill>
                <a:latin typeface="Times New Roman" pitchFamily="18" charset="0"/>
                <a:cs typeface="Angsana New" pitchFamily="18" charset="-34"/>
              </a:defRPr>
            </a:lvl2pPr>
            <a:lvl3pPr marL="1143000" indent="-228600">
              <a:defRPr sz="2800">
                <a:solidFill>
                  <a:schemeClr val="tx1"/>
                </a:solidFill>
                <a:latin typeface="Times New Roman" pitchFamily="18" charset="0"/>
                <a:cs typeface="Angsana New" pitchFamily="18" charset="-34"/>
              </a:defRPr>
            </a:lvl3pPr>
            <a:lvl4pPr marL="1600200" indent="-228600">
              <a:defRPr sz="2800">
                <a:solidFill>
                  <a:schemeClr val="tx1"/>
                </a:solidFill>
                <a:latin typeface="Times New Roman" pitchFamily="18" charset="0"/>
                <a:cs typeface="Angsana New" pitchFamily="18" charset="-34"/>
              </a:defRPr>
            </a:lvl4pPr>
            <a:lvl5pPr marL="2057400" indent="-228600">
              <a:defRPr sz="2800">
                <a:solidFill>
                  <a:schemeClr val="tx1"/>
                </a:solidFill>
                <a:latin typeface="Times New Roman" pitchFamily="18" charset="0"/>
                <a:cs typeface="Angsana New" pitchFamily="18" charset="-34"/>
              </a:defRPr>
            </a:lvl5pPr>
            <a:lvl6pPr marL="2514600" indent="-228600" eaLnBrk="0" fontAlgn="base" hangingPunct="0">
              <a:spcBef>
                <a:spcPct val="0"/>
              </a:spcBef>
              <a:spcAft>
                <a:spcPct val="0"/>
              </a:spcAft>
              <a:defRPr sz="2800">
                <a:solidFill>
                  <a:schemeClr val="tx1"/>
                </a:solidFill>
                <a:latin typeface="Times New Roman" pitchFamily="18" charset="0"/>
                <a:cs typeface="Angsana New" pitchFamily="18" charset="-34"/>
              </a:defRPr>
            </a:lvl6pPr>
            <a:lvl7pPr marL="2971800" indent="-228600" eaLnBrk="0" fontAlgn="base" hangingPunct="0">
              <a:spcBef>
                <a:spcPct val="0"/>
              </a:spcBef>
              <a:spcAft>
                <a:spcPct val="0"/>
              </a:spcAft>
              <a:defRPr sz="2800">
                <a:solidFill>
                  <a:schemeClr val="tx1"/>
                </a:solidFill>
                <a:latin typeface="Times New Roman" pitchFamily="18" charset="0"/>
                <a:cs typeface="Angsana New" pitchFamily="18" charset="-34"/>
              </a:defRPr>
            </a:lvl7pPr>
            <a:lvl8pPr marL="3429000" indent="-228600" eaLnBrk="0" fontAlgn="base" hangingPunct="0">
              <a:spcBef>
                <a:spcPct val="0"/>
              </a:spcBef>
              <a:spcAft>
                <a:spcPct val="0"/>
              </a:spcAft>
              <a:defRPr sz="2800">
                <a:solidFill>
                  <a:schemeClr val="tx1"/>
                </a:solidFill>
                <a:latin typeface="Times New Roman" pitchFamily="18" charset="0"/>
                <a:cs typeface="Angsana New" pitchFamily="18" charset="-34"/>
              </a:defRPr>
            </a:lvl8pPr>
            <a:lvl9pPr marL="3886200" indent="-228600" eaLnBrk="0" fontAlgn="base" hangingPunct="0">
              <a:spcBef>
                <a:spcPct val="0"/>
              </a:spcBef>
              <a:spcAft>
                <a:spcPct val="0"/>
              </a:spcAft>
              <a:defRPr sz="2800">
                <a:solidFill>
                  <a:schemeClr val="tx1"/>
                </a:solidFill>
                <a:latin typeface="Times New Roman" pitchFamily="18" charset="0"/>
                <a:cs typeface="Angsana New" pitchFamily="18" charset="-34"/>
              </a:defRPr>
            </a:lvl9pPr>
          </a:lstStyle>
          <a:p>
            <a:r>
              <a:rPr lang="en-US" sz="700" dirty="0">
                <a:solidFill>
                  <a:srgbClr val="404040"/>
                </a:solidFill>
                <a:latin typeface="BLS Condensed" pitchFamily="2" charset="-34"/>
                <a:cs typeface="BLS Condensed" pitchFamily="2" charset="-34"/>
              </a:rPr>
              <a:t>Source</a:t>
            </a:r>
            <a:r>
              <a:rPr lang="th-TH" sz="600" dirty="0">
                <a:solidFill>
                  <a:srgbClr val="404040"/>
                </a:solidFill>
                <a:latin typeface="BLS Condensed" pitchFamily="2" charset="-34"/>
                <a:cs typeface="BLS Condensed" pitchFamily="2" charset="-34"/>
              </a:rPr>
              <a:t>:</a:t>
            </a:r>
            <a:r>
              <a:rPr lang="en-US" sz="600" dirty="0">
                <a:solidFill>
                  <a:srgbClr val="404040"/>
                </a:solidFill>
                <a:latin typeface="BLS Condensed" pitchFamily="2" charset="-34"/>
                <a:cs typeface="BLS Condensed" pitchFamily="2" charset="-34"/>
              </a:rPr>
              <a:t> </a:t>
            </a:r>
            <a:r>
              <a:rPr lang="en-US" sz="700" dirty="0" err="1">
                <a:solidFill>
                  <a:schemeClr val="tx1">
                    <a:lumMod val="75000"/>
                    <a:lumOff val="25000"/>
                  </a:schemeClr>
                </a:solidFill>
                <a:latin typeface="BLS Condensed" panose="00000500000000000000" pitchFamily="2" charset="-34"/>
                <a:ea typeface="MS PGothic" panose="020B0600070205080204" pitchFamily="34" charset="-128"/>
                <a:cs typeface="BLS Condensed" panose="00000500000000000000" pitchFamily="2" charset="-34"/>
              </a:rPr>
              <a:t>Bualuang</a:t>
            </a:r>
            <a:r>
              <a:rPr lang="en-US" sz="700" dirty="0">
                <a:solidFill>
                  <a:schemeClr val="tx1">
                    <a:lumMod val="75000"/>
                    <a:lumOff val="25000"/>
                  </a:schemeClr>
                </a:solidFill>
                <a:latin typeface="BLS Condensed" panose="00000500000000000000" pitchFamily="2" charset="-34"/>
                <a:ea typeface="MS PGothic" panose="020B0600070205080204" pitchFamily="34" charset="-128"/>
                <a:cs typeface="BLS Condensed" panose="00000500000000000000" pitchFamily="2" charset="-34"/>
              </a:rPr>
              <a:t> Research</a:t>
            </a:r>
            <a:endParaRPr lang="en-US" sz="600" dirty="0">
              <a:solidFill>
                <a:srgbClr val="404040"/>
              </a:solidFill>
              <a:latin typeface="BLS Condensed" pitchFamily="2" charset="-34"/>
              <a:cs typeface="BLS Condensed" pitchFamily="2" charset="-34"/>
            </a:endParaRPr>
          </a:p>
        </p:txBody>
      </p:sp>
    </p:spTree>
    <p:extLst>
      <p:ext uri="{BB962C8B-B14F-4D97-AF65-F5344CB8AC3E}">
        <p14:creationId xmlns:p14="http://schemas.microsoft.com/office/powerpoint/2010/main" val="37244181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9AD5D-75DD-7C3E-4E12-95FE9E6DA851}"/>
            </a:ext>
          </a:extLst>
        </p:cNvPr>
        <p:cNvGrpSpPr/>
        <p:nvPr/>
      </p:nvGrpSpPr>
      <p:grpSpPr>
        <a:xfrm>
          <a:off x="0" y="0"/>
          <a:ext cx="0" cy="0"/>
          <a:chOff x="0" y="0"/>
          <a:chExt cx="0" cy="0"/>
        </a:xfrm>
      </p:grpSpPr>
      <p:pic>
        <p:nvPicPr>
          <p:cNvPr id="5" name="Picture 4" descr="Watercolor of trees in the fog&#10;&#10;Description automatically generated">
            <a:extLst>
              <a:ext uri="{FF2B5EF4-FFF2-40B4-BE49-F238E27FC236}">
                <a16:creationId xmlns:a16="http://schemas.microsoft.com/office/drawing/2014/main" id="{FB46D737-2FF6-5661-E106-CBC8C1117565}"/>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6" r="8181" b="74177"/>
          <a:stretch/>
        </p:blipFill>
        <p:spPr>
          <a:xfrm>
            <a:off x="0" y="-1"/>
            <a:ext cx="6858000" cy="8748461"/>
          </a:xfrm>
          <a:prstGeom prst="rect">
            <a:avLst/>
          </a:prstGeom>
        </p:spPr>
      </p:pic>
      <p:cxnSp>
        <p:nvCxnSpPr>
          <p:cNvPr id="18" name="Straight Connector 17">
            <a:extLst>
              <a:ext uri="{FF2B5EF4-FFF2-40B4-BE49-F238E27FC236}">
                <a16:creationId xmlns:a16="http://schemas.microsoft.com/office/drawing/2014/main" id="{811E1CC9-D26F-1122-558A-414813438452}"/>
              </a:ext>
            </a:extLst>
          </p:cNvPr>
          <p:cNvCxnSpPr>
            <a:cxnSpLocks/>
          </p:cNvCxnSpPr>
          <p:nvPr/>
        </p:nvCxnSpPr>
        <p:spPr>
          <a:xfrm>
            <a:off x="320593" y="8748464"/>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47AA2941-9659-DEF5-69DF-BE120C176F29}"/>
              </a:ext>
            </a:extLst>
          </p:cNvPr>
          <p:cNvSpPr/>
          <p:nvPr/>
        </p:nvSpPr>
        <p:spPr>
          <a:xfrm>
            <a:off x="297857" y="8748464"/>
            <a:ext cx="6235107"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a:extLst>
              <a:ext uri="{FF2B5EF4-FFF2-40B4-BE49-F238E27FC236}">
                <a16:creationId xmlns:a16="http://schemas.microsoft.com/office/drawing/2014/main" id="{974B464D-079C-66D5-267A-B0271C83992E}"/>
              </a:ext>
            </a:extLst>
          </p:cNvPr>
          <p:cNvPicPr>
            <a:picLocks noChangeAspect="1" noChangeArrowheads="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59793" y="125733"/>
            <a:ext cx="1252983" cy="413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716ED43-E385-A160-9D3A-0264F1B0EE0B}"/>
              </a:ext>
            </a:extLst>
          </p:cNvPr>
          <p:cNvSpPr txBox="1"/>
          <p:nvPr/>
        </p:nvSpPr>
        <p:spPr>
          <a:xfrm>
            <a:off x="514209" y="61918"/>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a:t>
            </a:r>
            <a:r>
              <a:rPr lang="th-TH" sz="1050" b="1" dirty="0">
                <a:solidFill>
                  <a:srgbClr val="CCAE8A"/>
                </a:solidFill>
                <a:latin typeface="Aharoni" panose="020F0502020204030204" pitchFamily="2" charset="-79"/>
                <a:ea typeface="Tahoma" pitchFamily="34" charset="0"/>
                <a:cs typeface="Aharoni" panose="020F0502020204030204" pitchFamily="2" charset="-79"/>
              </a:rPr>
              <a:t> </a:t>
            </a:r>
            <a:r>
              <a:rPr lang="en-US" sz="1050" b="1" dirty="0">
                <a:solidFill>
                  <a:srgbClr val="CCAE8A"/>
                </a:solidFill>
                <a:latin typeface="Aharoni" panose="020F0502020204030204" pitchFamily="2" charset="-79"/>
                <a:ea typeface="Tahoma" pitchFamily="34" charset="0"/>
                <a:cs typeface="Aharoni" panose="020F0502020204030204" pitchFamily="2" charset="-79"/>
              </a:rPr>
              <a:t>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9" name="TextBox 8">
            <a:extLst>
              <a:ext uri="{FF2B5EF4-FFF2-40B4-BE49-F238E27FC236}">
                <a16:creationId xmlns:a16="http://schemas.microsoft.com/office/drawing/2014/main" id="{C8FA6393-E3EE-E08E-89C6-D50BB8050980}"/>
              </a:ext>
            </a:extLst>
          </p:cNvPr>
          <p:cNvSpPr txBox="1"/>
          <p:nvPr/>
        </p:nvSpPr>
        <p:spPr>
          <a:xfrm>
            <a:off x="1886145" y="-177626"/>
            <a:ext cx="4999239" cy="1015663"/>
          </a:xfrm>
          <a:prstGeom prst="rect">
            <a:avLst/>
          </a:prstGeom>
          <a:noFill/>
        </p:spPr>
        <p:txBody>
          <a:bodyPr wrap="square" rtlCol="0">
            <a:spAutoFit/>
          </a:bodyPr>
          <a:lstStyle/>
          <a:p>
            <a:pPr algn="r"/>
            <a:r>
              <a:rPr lang="el-GR" sz="4000" dirty="0">
                <a:solidFill>
                  <a:schemeClr val="accent3"/>
                </a:solidFill>
                <a:latin typeface="BLS Condensed Bold" pitchFamily="2" charset="-34"/>
                <a:ea typeface="Tahoma" pitchFamily="34" charset="0"/>
                <a:cs typeface="BLS Condensed Bold" pitchFamily="2" charset="-34"/>
              </a:rPr>
              <a:t>α</a:t>
            </a:r>
            <a:r>
              <a:rPr lang="en-US" sz="2400" dirty="0" err="1">
                <a:solidFill>
                  <a:schemeClr val="tx1">
                    <a:lumMod val="95000"/>
                    <a:lumOff val="5000"/>
                  </a:schemeClr>
                </a:solidFill>
                <a:latin typeface="BLS Condensed Bold" pitchFamily="2" charset="-34"/>
                <a:ea typeface="Tahoma" pitchFamily="34" charset="0"/>
                <a:cs typeface="BLS Condensed Bold" pitchFamily="2" charset="-34"/>
              </a:rPr>
              <a:t>lpha</a:t>
            </a:r>
            <a:r>
              <a:rPr lang="en-US" sz="2400" dirty="0">
                <a:solidFill>
                  <a:schemeClr val="tx1">
                    <a:lumMod val="95000"/>
                    <a:lumOff val="5000"/>
                  </a:schemeClr>
                </a:solidFill>
                <a:latin typeface="BLS Condensed Bold" pitchFamily="2" charset="-34"/>
                <a:ea typeface="Tahoma" pitchFamily="34" charset="0"/>
                <a:cs typeface="BLS Condensed Bold" pitchFamily="2" charset="-34"/>
              </a:rPr>
              <a:t> PULSE | </a:t>
            </a:r>
            <a:endParaRPr lang="th-TH" sz="2400" dirty="0">
              <a:solidFill>
                <a:schemeClr val="tx1">
                  <a:lumMod val="95000"/>
                  <a:lumOff val="5000"/>
                </a:schemeClr>
              </a:solidFill>
              <a:latin typeface="BLS Condensed Bold" pitchFamily="2" charset="-34"/>
              <a:ea typeface="Tahoma" pitchFamily="34" charset="0"/>
              <a:cs typeface="BLS Condensed Bold" pitchFamily="2" charset="-34"/>
            </a:endParaRPr>
          </a:p>
          <a:p>
            <a:pPr algn="r"/>
            <a:r>
              <a:rPr lang="en-US" sz="2000" dirty="0">
                <a:solidFill>
                  <a:schemeClr val="accent5"/>
                </a:solidFill>
                <a:latin typeface="BLS Condensed Bold" pitchFamily="2" charset="-34"/>
                <a:ea typeface="Tahoma" pitchFamily="34" charset="0"/>
                <a:cs typeface="BLS Condensed Bold" pitchFamily="2" charset="-34"/>
              </a:rPr>
              <a:t>Weekly strategy</a:t>
            </a:r>
          </a:p>
        </p:txBody>
      </p:sp>
      <p:sp>
        <p:nvSpPr>
          <p:cNvPr id="10" name="TextBox 9">
            <a:extLst>
              <a:ext uri="{FF2B5EF4-FFF2-40B4-BE49-F238E27FC236}">
                <a16:creationId xmlns:a16="http://schemas.microsoft.com/office/drawing/2014/main" id="{C2139EFA-0963-F3E4-30F9-FE4954797181}"/>
              </a:ext>
            </a:extLst>
          </p:cNvPr>
          <p:cNvSpPr txBox="1"/>
          <p:nvPr/>
        </p:nvSpPr>
        <p:spPr>
          <a:xfrm>
            <a:off x="188640" y="683568"/>
            <a:ext cx="6439240" cy="523220"/>
          </a:xfrm>
          <a:prstGeom prst="rect">
            <a:avLst/>
          </a:prstGeom>
          <a:noFill/>
        </p:spPr>
        <p:txBody>
          <a:bodyPr wrap="square">
            <a:spAutoFit/>
          </a:bodyPr>
          <a:lstStyle/>
          <a:p>
            <a:r>
              <a:rPr lang="th-TH" altLang="en-US" sz="2800" dirty="0">
                <a:solidFill>
                  <a:schemeClr val="accent2"/>
                </a:solidFill>
                <a:latin typeface="BLS Condensed Bold" panose="00000800000000000000" pitchFamily="2" charset="-34"/>
                <a:ea typeface="Tahoma" pitchFamily="34" charset="0"/>
                <a:cs typeface="BLS Condensed Bold" panose="00000800000000000000" pitchFamily="2" charset="-34"/>
              </a:rPr>
              <a:t>สรุป กำไรสุทธิไตรมาส 1 </a:t>
            </a:r>
            <a:endParaRPr lang="en-US" altLang="en-US" sz="1050" dirty="0">
              <a:solidFill>
                <a:schemeClr val="bg1">
                  <a:lumMod val="65000"/>
                </a:schemeClr>
              </a:solidFill>
              <a:latin typeface="BLS Condensed Bold" panose="00000800000000000000" pitchFamily="2" charset="-34"/>
              <a:ea typeface="Tahoma" pitchFamily="34" charset="0"/>
              <a:cs typeface="BLS Condensed Bold" panose="00000800000000000000" pitchFamily="2" charset="-34"/>
            </a:endParaRPr>
          </a:p>
        </p:txBody>
      </p:sp>
      <p:sp>
        <p:nvSpPr>
          <p:cNvPr id="14" name="TextBox 13">
            <a:extLst>
              <a:ext uri="{FF2B5EF4-FFF2-40B4-BE49-F238E27FC236}">
                <a16:creationId xmlns:a16="http://schemas.microsoft.com/office/drawing/2014/main" id="{1BAF3CAE-3639-0C0D-F423-AFDF57B744B8}"/>
              </a:ext>
            </a:extLst>
          </p:cNvPr>
          <p:cNvSpPr txBox="1">
            <a:spLocks noChangeArrowheads="1"/>
          </p:cNvSpPr>
          <p:nvPr/>
        </p:nvSpPr>
        <p:spPr bwMode="auto">
          <a:xfrm>
            <a:off x="228179" y="8836441"/>
            <a:ext cx="2768773"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rIns="36000">
            <a:spAutoFit/>
          </a:bodyPr>
          <a:lstStyle>
            <a:lvl1pPr>
              <a:defRPr sz="2800">
                <a:solidFill>
                  <a:schemeClr val="tx1"/>
                </a:solidFill>
                <a:latin typeface="Times New Roman" pitchFamily="18" charset="0"/>
                <a:cs typeface="Angsana New" pitchFamily="18" charset="-34"/>
              </a:defRPr>
            </a:lvl1pPr>
            <a:lvl2pPr marL="742950" indent="-285750">
              <a:defRPr sz="2800">
                <a:solidFill>
                  <a:schemeClr val="tx1"/>
                </a:solidFill>
                <a:latin typeface="Times New Roman" pitchFamily="18" charset="0"/>
                <a:cs typeface="Angsana New" pitchFamily="18" charset="-34"/>
              </a:defRPr>
            </a:lvl2pPr>
            <a:lvl3pPr marL="1143000" indent="-228600">
              <a:defRPr sz="2800">
                <a:solidFill>
                  <a:schemeClr val="tx1"/>
                </a:solidFill>
                <a:latin typeface="Times New Roman" pitchFamily="18" charset="0"/>
                <a:cs typeface="Angsana New" pitchFamily="18" charset="-34"/>
              </a:defRPr>
            </a:lvl3pPr>
            <a:lvl4pPr marL="1600200" indent="-228600">
              <a:defRPr sz="2800">
                <a:solidFill>
                  <a:schemeClr val="tx1"/>
                </a:solidFill>
                <a:latin typeface="Times New Roman" pitchFamily="18" charset="0"/>
                <a:cs typeface="Angsana New" pitchFamily="18" charset="-34"/>
              </a:defRPr>
            </a:lvl4pPr>
            <a:lvl5pPr marL="2057400" indent="-228600">
              <a:defRPr sz="2800">
                <a:solidFill>
                  <a:schemeClr val="tx1"/>
                </a:solidFill>
                <a:latin typeface="Times New Roman" pitchFamily="18" charset="0"/>
                <a:cs typeface="Angsana New" pitchFamily="18" charset="-34"/>
              </a:defRPr>
            </a:lvl5pPr>
            <a:lvl6pPr marL="2514600" indent="-228600" eaLnBrk="0" fontAlgn="base" hangingPunct="0">
              <a:spcBef>
                <a:spcPct val="0"/>
              </a:spcBef>
              <a:spcAft>
                <a:spcPct val="0"/>
              </a:spcAft>
              <a:defRPr sz="2800">
                <a:solidFill>
                  <a:schemeClr val="tx1"/>
                </a:solidFill>
                <a:latin typeface="Times New Roman" pitchFamily="18" charset="0"/>
                <a:cs typeface="Angsana New" pitchFamily="18" charset="-34"/>
              </a:defRPr>
            </a:lvl6pPr>
            <a:lvl7pPr marL="2971800" indent="-228600" eaLnBrk="0" fontAlgn="base" hangingPunct="0">
              <a:spcBef>
                <a:spcPct val="0"/>
              </a:spcBef>
              <a:spcAft>
                <a:spcPct val="0"/>
              </a:spcAft>
              <a:defRPr sz="2800">
                <a:solidFill>
                  <a:schemeClr val="tx1"/>
                </a:solidFill>
                <a:latin typeface="Times New Roman" pitchFamily="18" charset="0"/>
                <a:cs typeface="Angsana New" pitchFamily="18" charset="-34"/>
              </a:defRPr>
            </a:lvl7pPr>
            <a:lvl8pPr marL="3429000" indent="-228600" eaLnBrk="0" fontAlgn="base" hangingPunct="0">
              <a:spcBef>
                <a:spcPct val="0"/>
              </a:spcBef>
              <a:spcAft>
                <a:spcPct val="0"/>
              </a:spcAft>
              <a:defRPr sz="2800">
                <a:solidFill>
                  <a:schemeClr val="tx1"/>
                </a:solidFill>
                <a:latin typeface="Times New Roman" pitchFamily="18" charset="0"/>
                <a:cs typeface="Angsana New" pitchFamily="18" charset="-34"/>
              </a:defRPr>
            </a:lvl8pPr>
            <a:lvl9pPr marL="3886200" indent="-228600" eaLnBrk="0" fontAlgn="base" hangingPunct="0">
              <a:spcBef>
                <a:spcPct val="0"/>
              </a:spcBef>
              <a:spcAft>
                <a:spcPct val="0"/>
              </a:spcAft>
              <a:defRPr sz="2800">
                <a:solidFill>
                  <a:schemeClr val="tx1"/>
                </a:solidFill>
                <a:latin typeface="Times New Roman" pitchFamily="18" charset="0"/>
                <a:cs typeface="Angsana New" pitchFamily="18" charset="-34"/>
              </a:defRPr>
            </a:lvl9pPr>
          </a:lstStyle>
          <a:p>
            <a:r>
              <a:rPr lang="en-US" sz="700" dirty="0">
                <a:solidFill>
                  <a:srgbClr val="404040"/>
                </a:solidFill>
                <a:latin typeface="BLS Condensed" pitchFamily="2" charset="-34"/>
                <a:cs typeface="BLS Condensed" pitchFamily="2" charset="-34"/>
              </a:rPr>
              <a:t>Source</a:t>
            </a:r>
            <a:r>
              <a:rPr lang="th-TH" sz="600" dirty="0">
                <a:solidFill>
                  <a:srgbClr val="404040"/>
                </a:solidFill>
                <a:latin typeface="BLS Condensed" pitchFamily="2" charset="-34"/>
                <a:cs typeface="BLS Condensed" pitchFamily="2" charset="-34"/>
              </a:rPr>
              <a:t>:</a:t>
            </a:r>
            <a:r>
              <a:rPr lang="en-US" sz="600" dirty="0">
                <a:solidFill>
                  <a:srgbClr val="404040"/>
                </a:solidFill>
                <a:latin typeface="BLS Condensed" pitchFamily="2" charset="-34"/>
                <a:cs typeface="BLS Condensed" pitchFamily="2" charset="-34"/>
              </a:rPr>
              <a:t> </a:t>
            </a:r>
            <a:r>
              <a:rPr lang="en-US" sz="700" dirty="0" err="1">
                <a:solidFill>
                  <a:schemeClr val="tx1">
                    <a:lumMod val="75000"/>
                    <a:lumOff val="25000"/>
                  </a:schemeClr>
                </a:solidFill>
                <a:latin typeface="BLS Condensed" panose="00000500000000000000" pitchFamily="2" charset="-34"/>
                <a:ea typeface="MS PGothic" panose="020B0600070205080204" pitchFamily="34" charset="-128"/>
                <a:cs typeface="BLS Condensed" panose="00000500000000000000" pitchFamily="2" charset="-34"/>
              </a:rPr>
              <a:t>Bualuang</a:t>
            </a:r>
            <a:r>
              <a:rPr lang="en-US" sz="700" dirty="0">
                <a:solidFill>
                  <a:schemeClr val="tx1">
                    <a:lumMod val="75000"/>
                    <a:lumOff val="25000"/>
                  </a:schemeClr>
                </a:solidFill>
                <a:latin typeface="BLS Condensed" panose="00000500000000000000" pitchFamily="2" charset="-34"/>
                <a:ea typeface="MS PGothic" panose="020B0600070205080204" pitchFamily="34" charset="-128"/>
                <a:cs typeface="BLS Condensed" panose="00000500000000000000" pitchFamily="2" charset="-34"/>
              </a:rPr>
              <a:t> Research</a:t>
            </a:r>
            <a:endParaRPr lang="en-US" sz="600" dirty="0">
              <a:solidFill>
                <a:srgbClr val="404040"/>
              </a:solidFill>
              <a:latin typeface="BLS Condensed" pitchFamily="2" charset="-34"/>
              <a:cs typeface="BLS Condensed" pitchFamily="2" charset="-34"/>
            </a:endParaRPr>
          </a:p>
        </p:txBody>
      </p:sp>
      <p:pic>
        <p:nvPicPr>
          <p:cNvPr id="3" name="Picture 2" descr="A screenshot of a computer&#10;&#10;Description automatically generated">
            <a:extLst>
              <a:ext uri="{FF2B5EF4-FFF2-40B4-BE49-F238E27FC236}">
                <a16:creationId xmlns:a16="http://schemas.microsoft.com/office/drawing/2014/main" id="{7EB73277-2570-DE26-7073-1A3CEA6A3CB7}"/>
              </a:ext>
            </a:extLst>
          </p:cNvPr>
          <p:cNvPicPr>
            <a:picLocks noChangeAspect="1"/>
          </p:cNvPicPr>
          <p:nvPr/>
        </p:nvPicPr>
        <p:blipFill rotWithShape="1">
          <a:blip r:embed="rId7">
            <a:extLst>
              <a:ext uri="{28A0092B-C50C-407E-A947-70E740481C1C}">
                <a14:useLocalDpi xmlns:a14="http://schemas.microsoft.com/office/drawing/2010/main" val="0"/>
              </a:ext>
            </a:extLst>
          </a:blip>
          <a:srcRect r="40903"/>
          <a:stretch/>
        </p:blipFill>
        <p:spPr>
          <a:xfrm>
            <a:off x="159793" y="1187624"/>
            <a:ext cx="6509567" cy="7475681"/>
          </a:xfrm>
          <a:prstGeom prst="rect">
            <a:avLst/>
          </a:prstGeom>
        </p:spPr>
      </p:pic>
    </p:spTree>
    <p:extLst>
      <p:ext uri="{BB962C8B-B14F-4D97-AF65-F5344CB8AC3E}">
        <p14:creationId xmlns:p14="http://schemas.microsoft.com/office/powerpoint/2010/main" val="26557771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97858" y="8699316"/>
            <a:ext cx="6235106"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2"/>
          <p:cNvSpPr>
            <a:spLocks noGrp="1"/>
          </p:cNvSpPr>
          <p:nvPr>
            <p:ph type="sldNum" sz="quarter" idx="12"/>
          </p:nvPr>
        </p:nvSpPr>
        <p:spPr>
          <a:xfrm>
            <a:off x="4914900" y="8659771"/>
            <a:ext cx="1600200" cy="486833"/>
          </a:xfrm>
        </p:spPr>
        <p:txBody>
          <a:bodyPr/>
          <a:lstStyle/>
          <a:p>
            <a:fld id="{10452F14-DDA8-46AC-9FFA-A749C5B763D3}" type="slidenum">
              <a:rPr lang="en-US" smtClean="0">
                <a:latin typeface="BLS" panose="00000500000000000000" pitchFamily="2" charset="-34"/>
                <a:cs typeface="BLS" panose="00000500000000000000" pitchFamily="2" charset="-34"/>
              </a:rPr>
              <a:t>4</a:t>
            </a:fld>
            <a:endParaRPr lang="en-US">
              <a:latin typeface="BLS" panose="00000500000000000000" pitchFamily="2" charset="-34"/>
              <a:cs typeface="BLS" panose="00000500000000000000" pitchFamily="2" charset="-34"/>
            </a:endParaRPr>
          </a:p>
        </p:txBody>
      </p:sp>
      <p:grpSp>
        <p:nvGrpSpPr>
          <p:cNvPr id="11" name="Group 156"/>
          <p:cNvGrpSpPr>
            <a:grpSpLocks/>
          </p:cNvGrpSpPr>
          <p:nvPr/>
        </p:nvGrpSpPr>
        <p:grpSpPr bwMode="auto">
          <a:xfrm>
            <a:off x="3374529" y="6536080"/>
            <a:ext cx="708025" cy="781050"/>
            <a:chOff x="1800" y="1440"/>
            <a:chExt cx="1539" cy="1800"/>
          </a:xfrm>
        </p:grpSpPr>
        <p:pic>
          <p:nvPicPr>
            <p:cNvPr id="17" name="Picture 15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00"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5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04"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5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03"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6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07"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6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16"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6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50" y="180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16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54" y="180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16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53" y="180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6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7" y="180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16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04" y="216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16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03" y="216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16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07" y="216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6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56" y="252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7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60" y="252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17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96" y="2880"/>
              <a:ext cx="323" cy="360"/>
            </a:xfrm>
            <a:prstGeom prst="rect">
              <a:avLst/>
            </a:prstGeom>
            <a:noFill/>
            <a:extLst>
              <a:ext uri="{909E8E84-426E-40DD-AFC4-6F175D3DCCD1}">
                <a14:hiddenFill xmlns:a14="http://schemas.microsoft.com/office/drawing/2010/main">
                  <a:solidFill>
                    <a:srgbClr val="FFFFFF"/>
                  </a:solidFill>
                </a14:hiddenFill>
              </a:ext>
            </a:extLst>
          </p:spPr>
        </p:pic>
      </p:grpSp>
      <p:sp>
        <p:nvSpPr>
          <p:cNvPr id="32" name="TextBox 31"/>
          <p:cNvSpPr txBox="1"/>
          <p:nvPr/>
        </p:nvSpPr>
        <p:spPr>
          <a:xfrm>
            <a:off x="297858" y="611560"/>
            <a:ext cx="6235106" cy="338554"/>
          </a:xfrm>
          <a:prstGeom prst="rect">
            <a:avLst/>
          </a:prstGeom>
          <a:noFill/>
        </p:spPr>
        <p:txBody>
          <a:bodyPr wrap="square" rtlCol="0">
            <a:spAutoFit/>
          </a:bodyPr>
          <a:lstStyle/>
          <a:p>
            <a:r>
              <a:rPr lang="en-US" sz="1600" b="1" err="1">
                <a:solidFill>
                  <a:srgbClr val="404040"/>
                </a:solidFill>
                <a:latin typeface="BLS Condensed Bold" pitchFamily="2" charset="-34"/>
                <a:cs typeface="BLS Condensed Bold" pitchFamily="2" charset="-34"/>
              </a:rPr>
              <a:t>Bualuang</a:t>
            </a:r>
            <a:r>
              <a:rPr lang="en-US" sz="1600" b="1">
                <a:solidFill>
                  <a:srgbClr val="404040"/>
                </a:solidFill>
                <a:latin typeface="BLS Condensed Bold" pitchFamily="2" charset="-34"/>
                <a:cs typeface="BLS Condensed Bold" pitchFamily="2" charset="-34"/>
              </a:rPr>
              <a:t> Securities Public Company Limited</a:t>
            </a:r>
            <a:endParaRPr lang="en-US" sz="1600">
              <a:solidFill>
                <a:srgbClr val="404040"/>
              </a:solidFill>
              <a:latin typeface="BLS Condensed Bold" pitchFamily="2" charset="-34"/>
              <a:ea typeface="Tahoma" pitchFamily="34" charset="0"/>
              <a:cs typeface="BLS Condensed Bold" pitchFamily="2" charset="-34"/>
            </a:endParaRPr>
          </a:p>
        </p:txBody>
      </p:sp>
      <p:sp>
        <p:nvSpPr>
          <p:cNvPr id="12" name="Text Box 155"/>
          <p:cNvSpPr txBox="1">
            <a:spLocks noChangeArrowheads="1"/>
          </p:cNvSpPr>
          <p:nvPr/>
        </p:nvSpPr>
        <p:spPr bwMode="auto">
          <a:xfrm>
            <a:off x="4737844" y="624260"/>
            <a:ext cx="1644650" cy="319087"/>
          </a:xfrm>
          <a:prstGeom prst="rect">
            <a:avLst/>
          </a:prstGeom>
          <a:solidFill>
            <a:srgbClr val="002060"/>
          </a:solidFill>
          <a:ln w="9525">
            <a:solidFill>
              <a:srgbClr val="00206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600" b="1" i="0" u="none" strike="noStrike" cap="none" normalizeH="0" baseline="0">
                <a:ln>
                  <a:noFill/>
                </a:ln>
                <a:solidFill>
                  <a:srgbClr val="FFFFFF"/>
                </a:solidFill>
                <a:effectLst/>
                <a:latin typeface="BLS Condensed Bold" pitchFamily="2" charset="-34"/>
                <a:ea typeface="Arial" pitchFamily="34" charset="0"/>
                <a:cs typeface="BLS Condensed Bold" pitchFamily="2" charset="-34"/>
              </a:rPr>
              <a:t>DISCLAIMER</a:t>
            </a:r>
            <a:endParaRPr kumimoji="0" lang="en-US" sz="1800" b="0" i="0" u="none" strike="noStrike" cap="none" normalizeH="0" baseline="0">
              <a:ln>
                <a:noFill/>
              </a:ln>
              <a:solidFill>
                <a:schemeClr val="tx1"/>
              </a:solidFill>
              <a:effectLst/>
              <a:latin typeface="BLS Condensed Bold" pitchFamily="2" charset="-34"/>
              <a:cs typeface="BLS Condensed Bold" pitchFamily="2" charset="-34"/>
            </a:endParaRPr>
          </a:p>
        </p:txBody>
      </p:sp>
      <p:sp>
        <p:nvSpPr>
          <p:cNvPr id="35" name="Rectangle 34"/>
          <p:cNvSpPr/>
          <p:nvPr/>
        </p:nvSpPr>
        <p:spPr>
          <a:xfrm>
            <a:off x="294066" y="1043608"/>
            <a:ext cx="6235106" cy="36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297858" y="1187624"/>
            <a:ext cx="6231314" cy="3539430"/>
          </a:xfrm>
          <a:prstGeom prst="rect">
            <a:avLst/>
          </a:prstGeom>
          <a:noFill/>
        </p:spPr>
        <p:txBody>
          <a:bodyPr wrap="square" rtlCol="0">
            <a:spAutoFit/>
          </a:bodyPr>
          <a:lstStyle/>
          <a:p>
            <a:pPr algn="just"/>
            <a:r>
              <a:rPr lang="en-GB" sz="800" dirty="0">
                <a:solidFill>
                  <a:srgbClr val="404040"/>
                </a:solidFill>
                <a:latin typeface="BLS" pitchFamily="2" charset="-34"/>
                <a:cs typeface="BLS" pitchFamily="2" charset="-34"/>
              </a:rPr>
              <a:t>BUALUANG SECURITIES PUBLIC COMPANY LIMITED (BLS) is a subsidiary of BANGKOK BANK PUBLIC COMPANY LIMITED (BBL). This document is produced based upon sources believed to be reliable but their accuracy, completeness or correctness is not guaranteed. The statements or expressions of opinion herein were arrived at after due and careful consideration to use as information for investment. Expressions of opinion contained herein are subject to change without notice. This document is not, and should not be construed as, an offer or the solicitation of an offer to buy or sell any securities. The use of any information shall be at the sole discretion and risk of the user.</a:t>
            </a:r>
          </a:p>
          <a:p>
            <a:pPr algn="just"/>
            <a:endParaRPr lang="en-US" sz="800" dirty="0">
              <a:solidFill>
                <a:srgbClr val="404040"/>
              </a:solidFill>
              <a:latin typeface="BLS" pitchFamily="2" charset="-34"/>
              <a:cs typeface="BLS" pitchFamily="2" charset="-34"/>
            </a:endParaRPr>
          </a:p>
          <a:p>
            <a:pPr algn="just"/>
            <a:r>
              <a:rPr lang="en-GB" sz="800" dirty="0">
                <a:solidFill>
                  <a:srgbClr val="404040"/>
                </a:solidFill>
                <a:latin typeface="BLS" pitchFamily="2" charset="-34"/>
                <a:cs typeface="BLS" pitchFamily="2" charset="-34"/>
              </a:rPr>
              <a:t>BUALUANG SECURITIES PUBLIC COMPANY LIMITED MAY BE IN RELATIONSHIPS WITH THE SECURITIES IN THIS REPORT. “Opinions, projections and other information contained in this report are based upon sources believed to be accurate including the draft prospectus, but no responsibility is accepted for any loss occasioned by reliance placed upon the contents hereof. </a:t>
            </a:r>
            <a:r>
              <a:rPr lang="en-GB" sz="800" dirty="0" err="1">
                <a:solidFill>
                  <a:srgbClr val="404040"/>
                </a:solidFill>
                <a:latin typeface="BLS" pitchFamily="2" charset="-34"/>
                <a:cs typeface="BLS" pitchFamily="2" charset="-34"/>
              </a:rPr>
              <a:t>Bualuang</a:t>
            </a:r>
            <a:r>
              <a:rPr lang="en-GB" sz="800" dirty="0">
                <a:solidFill>
                  <a:srgbClr val="404040"/>
                </a:solidFill>
                <a:latin typeface="BLS" pitchFamily="2" charset="-34"/>
                <a:cs typeface="BLS" pitchFamily="2" charset="-34"/>
              </a:rPr>
              <a:t> Securities Public Company Limited may from time to time perform investment, advisory or other services for companies mentioned in this report, as well as dealing (as principal or otherwise) in, or otherwise being interested in, any securities mentioned herein, This report does not constitute a solicitation to buy or sell any securities”. Investors should carefully read details in the prospectus before making investment decision.</a:t>
            </a:r>
          </a:p>
          <a:p>
            <a:pPr algn="just"/>
            <a:endParaRPr lang="en-US" sz="800" dirty="0">
              <a:solidFill>
                <a:srgbClr val="404040"/>
              </a:solidFill>
              <a:latin typeface="BLS" pitchFamily="2" charset="-34"/>
              <a:cs typeface="BLS" pitchFamily="2" charset="-34"/>
            </a:endParaRPr>
          </a:p>
          <a:p>
            <a:pPr algn="just"/>
            <a:r>
              <a:rPr lang="en-GB" sz="800" dirty="0">
                <a:solidFill>
                  <a:srgbClr val="404040"/>
                </a:solidFill>
                <a:latin typeface="BLS" pitchFamily="2" charset="-34"/>
                <a:cs typeface="BLS" pitchFamily="2" charset="-34"/>
              </a:rPr>
              <a:t>BUALUANG SECURITIES PUBLIC COMPANY LIMITED MAY ACT AS MARKET MAKER AND ISSUER OF DWs, AND ISSUER OF STRUCTURED NOTES ON THESE SECURITIES. The company may prepare the research reports on those underlying securities. Investors should carefully read the details of the derivative warrants and structured notes in the prospectus before making investment decisions.</a:t>
            </a:r>
          </a:p>
          <a:p>
            <a:pPr algn="just"/>
            <a:endParaRPr lang="en-GB" sz="800" dirty="0">
              <a:solidFill>
                <a:srgbClr val="404040"/>
              </a:solidFill>
              <a:latin typeface="BLS" pitchFamily="2" charset="-34"/>
              <a:cs typeface="BLS" pitchFamily="2" charset="-34"/>
            </a:endParaRPr>
          </a:p>
          <a:p>
            <a:pPr algn="just"/>
            <a:endParaRPr lang="en-GB" sz="800" dirty="0">
              <a:solidFill>
                <a:srgbClr val="404040"/>
              </a:solidFill>
              <a:latin typeface="BLS" pitchFamily="2" charset="-34"/>
              <a:cs typeface="BLS" pitchFamily="2" charset="-34"/>
            </a:endParaRPr>
          </a:p>
          <a:p>
            <a:pPr algn="just"/>
            <a:endParaRPr lang="en-GB" sz="800" dirty="0">
              <a:solidFill>
                <a:srgbClr val="404040"/>
              </a:solidFill>
              <a:latin typeface="BLS" pitchFamily="2" charset="-34"/>
              <a:cs typeface="BLS" pitchFamily="2" charset="-34"/>
            </a:endParaRPr>
          </a:p>
          <a:p>
            <a:pPr algn="just"/>
            <a:endParaRPr lang="en-GB" sz="800" dirty="0">
              <a:solidFill>
                <a:srgbClr val="404040"/>
              </a:solidFill>
              <a:latin typeface="BLS" pitchFamily="2" charset="-34"/>
              <a:cs typeface="BLS" pitchFamily="2" charset="-34"/>
            </a:endParaRPr>
          </a:p>
          <a:p>
            <a:pPr algn="just"/>
            <a:endParaRPr lang="en-GB" sz="800" dirty="0">
              <a:solidFill>
                <a:srgbClr val="404040"/>
              </a:solidFill>
              <a:latin typeface="BLS" pitchFamily="2" charset="-34"/>
              <a:cs typeface="BLS" pitchFamily="2" charset="-34"/>
            </a:endParaRPr>
          </a:p>
          <a:p>
            <a:pPr algn="just"/>
            <a:endParaRPr lang="en-US" sz="800" dirty="0">
              <a:solidFill>
                <a:srgbClr val="404040"/>
              </a:solidFill>
              <a:latin typeface="BLS" pitchFamily="2" charset="-34"/>
              <a:cs typeface="BLS" pitchFamily="2" charset="-34"/>
            </a:endParaRPr>
          </a:p>
          <a:p>
            <a:pPr algn="just"/>
            <a:endParaRPr lang="en-US" sz="800" dirty="0">
              <a:solidFill>
                <a:srgbClr val="404040"/>
              </a:solidFill>
              <a:latin typeface="BLS" pitchFamily="2" charset="-34"/>
              <a:cs typeface="BLS" pitchFamily="2" charset="-34"/>
            </a:endParaRPr>
          </a:p>
          <a:p>
            <a:pPr algn="just"/>
            <a:r>
              <a:rPr lang="en-US" sz="800" dirty="0">
                <a:solidFill>
                  <a:srgbClr val="404040"/>
                </a:solidFill>
                <a:latin typeface="BLS" pitchFamily="2" charset="-34"/>
                <a:cs typeface="BLS" pitchFamily="2" charset="-34"/>
              </a:rPr>
              <a:t>BUALUANG SECURITIES PUBLIC COMPANY LIMITED IS OR MAY BE AN UNDERWRITER/CO-UNDERWRITER/JOINT LEAD IN RESPECT OF THE INITIAL PUBLIC OFFERING (IPO) OF SECURITIES.</a:t>
            </a:r>
          </a:p>
        </p:txBody>
      </p:sp>
      <p:graphicFrame>
        <p:nvGraphicFramePr>
          <p:cNvPr id="36" name="Table 35"/>
          <p:cNvGraphicFramePr>
            <a:graphicFrameLocks noGrp="1"/>
          </p:cNvGraphicFramePr>
          <p:nvPr/>
        </p:nvGraphicFramePr>
        <p:xfrm>
          <a:off x="388937" y="4923329"/>
          <a:ext cx="5993557" cy="920750"/>
        </p:xfrm>
        <a:graphic>
          <a:graphicData uri="http://schemas.openxmlformats.org/drawingml/2006/table">
            <a:tbl>
              <a:tblPr firstRow="1" firstCol="1" bandRow="1">
                <a:tableStyleId>{5C22544A-7EE6-4342-B048-85BDC9FD1C3A}</a:tableStyleId>
              </a:tblPr>
              <a:tblGrid>
                <a:gridCol w="2541183">
                  <a:extLst>
                    <a:ext uri="{9D8B030D-6E8A-4147-A177-3AD203B41FA5}">
                      <a16:colId xmlns:a16="http://schemas.microsoft.com/office/drawing/2014/main" val="20000"/>
                    </a:ext>
                  </a:extLst>
                </a:gridCol>
                <a:gridCol w="3452374">
                  <a:extLst>
                    <a:ext uri="{9D8B030D-6E8A-4147-A177-3AD203B41FA5}">
                      <a16:colId xmlns:a16="http://schemas.microsoft.com/office/drawing/2014/main" val="20001"/>
                    </a:ext>
                  </a:extLst>
                </a:gridCol>
              </a:tblGrid>
              <a:tr h="411537">
                <a:tc>
                  <a:txBody>
                    <a:bodyPr/>
                    <a:lstStyle/>
                    <a:p>
                      <a:pPr algn="ctr">
                        <a:spcAft>
                          <a:spcPts val="0"/>
                        </a:spcAft>
                        <a:tabLst>
                          <a:tab pos="2743200" algn="ctr"/>
                          <a:tab pos="5486400" algn="r"/>
                          <a:tab pos="5486400" algn="r"/>
                        </a:tabLst>
                      </a:pPr>
                      <a:r>
                        <a:rPr lang="en-US" sz="800" dirty="0">
                          <a:solidFill>
                            <a:srgbClr val="404040"/>
                          </a:solidFill>
                          <a:effectLst/>
                          <a:latin typeface="BLS" pitchFamily="2" charset="-34"/>
                          <a:cs typeface="BLS" pitchFamily="2" charset="-34"/>
                        </a:rPr>
                        <a:t>Financial Advisor</a:t>
                      </a:r>
                      <a:endParaRPr lang="en-US" sz="800" dirty="0">
                        <a:solidFill>
                          <a:srgbClr val="404040"/>
                        </a:solidFill>
                        <a:effectLst/>
                        <a:latin typeface="BLS" pitchFamily="2" charset="-34"/>
                        <a:ea typeface="Times New Roman"/>
                        <a:cs typeface="BLS" pitchFamily="2" charset="-34"/>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tabLst>
                          <a:tab pos="2743200" algn="ctr"/>
                          <a:tab pos="5486400" algn="r"/>
                        </a:tabLst>
                      </a:pPr>
                      <a:r>
                        <a:rPr lang="en-US" sz="800" dirty="0">
                          <a:solidFill>
                            <a:srgbClr val="404040"/>
                          </a:solidFill>
                          <a:effectLst/>
                          <a:latin typeface="BLS" pitchFamily="2" charset="-34"/>
                          <a:cs typeface="BLS" pitchFamily="2" charset="-34"/>
                        </a:rPr>
                        <a:t>Lead underwriter/</a:t>
                      </a:r>
                    </a:p>
                    <a:p>
                      <a:pPr algn="ctr">
                        <a:spcAft>
                          <a:spcPts val="0"/>
                        </a:spcAft>
                        <a:tabLst>
                          <a:tab pos="2743200" algn="ctr"/>
                          <a:tab pos="5486400" algn="r"/>
                          <a:tab pos="5486400" algn="r"/>
                        </a:tabLst>
                      </a:pPr>
                      <a:r>
                        <a:rPr lang="en-US" sz="800" dirty="0">
                          <a:solidFill>
                            <a:srgbClr val="404040"/>
                          </a:solidFill>
                          <a:effectLst/>
                          <a:latin typeface="BLS" pitchFamily="2" charset="-34"/>
                          <a:cs typeface="BLS" pitchFamily="2" charset="-34"/>
                        </a:rPr>
                        <a:t>Underwriter/</a:t>
                      </a:r>
                    </a:p>
                    <a:p>
                      <a:pPr algn="ctr">
                        <a:spcAft>
                          <a:spcPts val="0"/>
                        </a:spcAft>
                        <a:tabLst>
                          <a:tab pos="2743200" algn="ctr"/>
                          <a:tab pos="5486400" algn="r"/>
                          <a:tab pos="5486400" algn="r"/>
                        </a:tabLst>
                      </a:pPr>
                      <a:r>
                        <a:rPr lang="en-US" sz="800" dirty="0">
                          <a:solidFill>
                            <a:srgbClr val="404040"/>
                          </a:solidFill>
                          <a:effectLst/>
                          <a:latin typeface="BLS" pitchFamily="2" charset="-34"/>
                          <a:cs typeface="BLS" pitchFamily="2" charset="-34"/>
                        </a:rPr>
                        <a:t>Co-underwriter</a:t>
                      </a:r>
                      <a:endParaRPr lang="en-US" sz="800" dirty="0">
                        <a:solidFill>
                          <a:srgbClr val="404040"/>
                        </a:solidFill>
                        <a:effectLst/>
                        <a:latin typeface="BLS" pitchFamily="2" charset="-34"/>
                        <a:ea typeface="Times New Roman"/>
                        <a:cs typeface="BLS" pitchFamily="2" charset="-34"/>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09213">
                <a:tc>
                  <a:txBody>
                    <a:bodyPr/>
                    <a:lstStyle/>
                    <a:p>
                      <a:pPr algn="l">
                        <a:lnSpc>
                          <a:spcPts val="1320"/>
                        </a:lnSpc>
                        <a:spcBef>
                          <a:spcPts val="0"/>
                        </a:spcBef>
                        <a:spcAft>
                          <a:spcPts val="0"/>
                        </a:spcAft>
                      </a:pPr>
                      <a:endParaRPr lang="en-US" sz="800" b="0" dirty="0">
                        <a:solidFill>
                          <a:srgbClr val="404040"/>
                        </a:solidFill>
                        <a:effectLst/>
                        <a:latin typeface="BLS" pitchFamily="2" charset="-34"/>
                        <a:ea typeface="Times New Roman"/>
                        <a:cs typeface="BLS" pitchFamily="2"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ts val="500"/>
                        </a:lnSpc>
                        <a:spcBef>
                          <a:spcPts val="0"/>
                        </a:spcBef>
                        <a:spcAft>
                          <a:spcPts val="0"/>
                        </a:spcAft>
                        <a:tabLst>
                          <a:tab pos="1266825" algn="l"/>
                        </a:tabLst>
                      </a:pPr>
                      <a:endParaRPr lang="en-US" sz="700" b="0" dirty="0">
                        <a:solidFill>
                          <a:srgbClr val="404040"/>
                        </a:solidFill>
                        <a:effectLst/>
                        <a:latin typeface="BLS" pitchFamily="2" charset="-34"/>
                        <a:ea typeface="Times New Roman"/>
                        <a:cs typeface="BLS" pitchFamily="2" charset="-34"/>
                      </a:endParaRPr>
                    </a:p>
                    <a:p>
                      <a:pPr algn="just">
                        <a:lnSpc>
                          <a:spcPts val="500"/>
                        </a:lnSpc>
                        <a:spcBef>
                          <a:spcPts val="0"/>
                        </a:spcBef>
                        <a:spcAft>
                          <a:spcPts val="0"/>
                        </a:spcAft>
                        <a:tabLst>
                          <a:tab pos="1266825" algn="l"/>
                        </a:tabLst>
                      </a:pPr>
                      <a:endParaRPr lang="en-US" sz="200" dirty="0">
                        <a:solidFill>
                          <a:srgbClr val="404040"/>
                        </a:solidFill>
                        <a:effectLst/>
                        <a:latin typeface="BLS" pitchFamily="2" charset="-34"/>
                        <a:ea typeface="Times New Roman"/>
                        <a:cs typeface="BLS" pitchFamily="2"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37" name="Table 36"/>
          <p:cNvGraphicFramePr>
            <a:graphicFrameLocks noGrp="1"/>
          </p:cNvGraphicFramePr>
          <p:nvPr/>
        </p:nvGraphicFramePr>
        <p:xfrm>
          <a:off x="404664" y="6291481"/>
          <a:ext cx="6353174" cy="1219200"/>
        </p:xfrm>
        <a:graphic>
          <a:graphicData uri="http://schemas.openxmlformats.org/drawingml/2006/table">
            <a:tbl>
              <a:tblPr firstRow="1" firstCol="1" bandRow="1">
                <a:tableStyleId>{5C22544A-7EE6-4342-B048-85BDC9FD1C3A}</a:tableStyleId>
              </a:tblPr>
              <a:tblGrid>
                <a:gridCol w="2278152">
                  <a:extLst>
                    <a:ext uri="{9D8B030D-6E8A-4147-A177-3AD203B41FA5}">
                      <a16:colId xmlns:a16="http://schemas.microsoft.com/office/drawing/2014/main" val="20000"/>
                    </a:ext>
                  </a:extLst>
                </a:gridCol>
                <a:gridCol w="2037511">
                  <a:extLst>
                    <a:ext uri="{9D8B030D-6E8A-4147-A177-3AD203B41FA5}">
                      <a16:colId xmlns:a16="http://schemas.microsoft.com/office/drawing/2014/main" val="20001"/>
                    </a:ext>
                  </a:extLst>
                </a:gridCol>
                <a:gridCol w="2037511">
                  <a:extLst>
                    <a:ext uri="{9D8B030D-6E8A-4147-A177-3AD203B41FA5}">
                      <a16:colId xmlns:a16="http://schemas.microsoft.com/office/drawing/2014/main" val="20002"/>
                    </a:ext>
                  </a:extLst>
                </a:gridCol>
              </a:tblGrid>
              <a:tr h="215900">
                <a:tc>
                  <a:txBody>
                    <a:bodyPr/>
                    <a:lstStyle/>
                    <a:p>
                      <a:pPr algn="ctr">
                        <a:spcBef>
                          <a:spcPts val="300"/>
                        </a:spcBef>
                        <a:spcAft>
                          <a:spcPts val="0"/>
                        </a:spcAft>
                      </a:pPr>
                      <a:r>
                        <a:rPr lang="en-US" sz="800">
                          <a:solidFill>
                            <a:srgbClr val="404040"/>
                          </a:solidFill>
                          <a:effectLst/>
                          <a:latin typeface="BLS" pitchFamily="2" charset="-34"/>
                          <a:cs typeface="BLS" pitchFamily="2" charset="-34"/>
                        </a:rPr>
                        <a:t>Score Range</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Bef>
                          <a:spcPts val="300"/>
                        </a:spcBef>
                        <a:spcAft>
                          <a:spcPts val="0"/>
                        </a:spcAft>
                      </a:pPr>
                      <a:r>
                        <a:rPr lang="en-US" sz="800">
                          <a:solidFill>
                            <a:srgbClr val="404040"/>
                          </a:solidFill>
                          <a:effectLst/>
                          <a:latin typeface="BLS" pitchFamily="2" charset="-34"/>
                          <a:cs typeface="BLS" pitchFamily="2" charset="-34"/>
                        </a:rPr>
                        <a:t> Score Range</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Bef>
                          <a:spcPts val="300"/>
                        </a:spcBef>
                        <a:spcAft>
                          <a:spcPts val="0"/>
                        </a:spcAft>
                      </a:pPr>
                      <a:r>
                        <a:rPr lang="en-US" sz="800">
                          <a:solidFill>
                            <a:srgbClr val="404040"/>
                          </a:solidFill>
                          <a:effectLst/>
                          <a:latin typeface="BLS" pitchFamily="2" charset="-34"/>
                          <a:cs typeface="BLS" pitchFamily="2" charset="-34"/>
                        </a:rPr>
                        <a:t>Description</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extLst>
                  <a:ext uri="{0D108BD9-81ED-4DB2-BD59-A6C34878D82A}">
                    <a16:rowId xmlns:a16="http://schemas.microsoft.com/office/drawing/2014/main" val="10000"/>
                  </a:ext>
                </a:extLst>
              </a:tr>
              <a:tr h="161925">
                <a:tc>
                  <a:txBody>
                    <a:bodyPr/>
                    <a:lstStyle/>
                    <a:p>
                      <a:pPr algn="ctr">
                        <a:spcAft>
                          <a:spcPts val="0"/>
                        </a:spcAft>
                      </a:pPr>
                      <a:r>
                        <a:rPr lang="en-US" sz="800">
                          <a:solidFill>
                            <a:srgbClr val="404040"/>
                          </a:solidFill>
                          <a:effectLst/>
                          <a:latin typeface="BLS" pitchFamily="2" charset="-34"/>
                          <a:cs typeface="BLS" pitchFamily="2" charset="-34"/>
                        </a:rPr>
                        <a:t>90 – 100</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Excellent</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1"/>
                  </a:ext>
                </a:extLst>
              </a:tr>
              <a:tr h="161925">
                <a:tc>
                  <a:txBody>
                    <a:bodyPr/>
                    <a:lstStyle/>
                    <a:p>
                      <a:pPr algn="ctr">
                        <a:spcAft>
                          <a:spcPts val="0"/>
                        </a:spcAft>
                      </a:pPr>
                      <a:r>
                        <a:rPr lang="en-US" sz="800">
                          <a:solidFill>
                            <a:srgbClr val="404040"/>
                          </a:solidFill>
                          <a:effectLst/>
                          <a:latin typeface="BLS" pitchFamily="2" charset="-34"/>
                          <a:cs typeface="BLS" pitchFamily="2" charset="-34"/>
                        </a:rPr>
                        <a:t>80 – 89</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r>
                        <a:rPr lang="en-US" sz="800">
                          <a:solidFill>
                            <a:srgbClr val="404040"/>
                          </a:solidFill>
                          <a:effectLst/>
                          <a:latin typeface="BLS" pitchFamily="2" charset="-34"/>
                          <a:cs typeface="BLS" pitchFamily="2" charset="-34"/>
                        </a:rPr>
                        <a:t> </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Very Good</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2"/>
                  </a:ext>
                </a:extLst>
              </a:tr>
              <a:tr h="161925">
                <a:tc>
                  <a:txBody>
                    <a:bodyPr/>
                    <a:lstStyle/>
                    <a:p>
                      <a:pPr algn="ctr">
                        <a:spcAft>
                          <a:spcPts val="0"/>
                        </a:spcAft>
                      </a:pPr>
                      <a:r>
                        <a:rPr lang="en-US" sz="800">
                          <a:solidFill>
                            <a:srgbClr val="404040"/>
                          </a:solidFill>
                          <a:effectLst/>
                          <a:latin typeface="BLS" pitchFamily="2" charset="-34"/>
                          <a:cs typeface="BLS" pitchFamily="2" charset="-34"/>
                        </a:rPr>
                        <a:t>70 – 79</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r>
                        <a:rPr lang="en-US" sz="800">
                          <a:solidFill>
                            <a:srgbClr val="404040"/>
                          </a:solidFill>
                          <a:effectLst/>
                          <a:latin typeface="BLS" pitchFamily="2" charset="-34"/>
                          <a:cs typeface="BLS" pitchFamily="2" charset="-34"/>
                        </a:rPr>
                        <a:t> </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Good</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3"/>
                  </a:ext>
                </a:extLst>
              </a:tr>
              <a:tr h="161925">
                <a:tc>
                  <a:txBody>
                    <a:bodyPr/>
                    <a:lstStyle/>
                    <a:p>
                      <a:pPr algn="ctr">
                        <a:spcAft>
                          <a:spcPts val="0"/>
                        </a:spcAft>
                      </a:pPr>
                      <a:r>
                        <a:rPr lang="en-US" sz="800">
                          <a:solidFill>
                            <a:srgbClr val="404040"/>
                          </a:solidFill>
                          <a:effectLst/>
                          <a:latin typeface="BLS" pitchFamily="2" charset="-34"/>
                          <a:cs typeface="BLS" pitchFamily="2" charset="-34"/>
                        </a:rPr>
                        <a:t>60 – 69</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r>
                        <a:rPr lang="en-US" sz="800">
                          <a:solidFill>
                            <a:srgbClr val="404040"/>
                          </a:solidFill>
                          <a:effectLst/>
                          <a:latin typeface="BLS" pitchFamily="2" charset="-34"/>
                          <a:cs typeface="BLS" pitchFamily="2" charset="-34"/>
                        </a:rPr>
                        <a:t> </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Satisfactory</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4"/>
                  </a:ext>
                </a:extLst>
              </a:tr>
              <a:tr h="161925">
                <a:tc>
                  <a:txBody>
                    <a:bodyPr/>
                    <a:lstStyle/>
                    <a:p>
                      <a:pPr algn="ctr">
                        <a:spcAft>
                          <a:spcPts val="0"/>
                        </a:spcAft>
                      </a:pPr>
                      <a:r>
                        <a:rPr lang="en-US" sz="800">
                          <a:solidFill>
                            <a:srgbClr val="404040"/>
                          </a:solidFill>
                          <a:effectLst/>
                          <a:latin typeface="BLS" pitchFamily="2" charset="-34"/>
                          <a:cs typeface="BLS" pitchFamily="2" charset="-34"/>
                        </a:rPr>
                        <a:t>50 – 59</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r>
                        <a:rPr lang="en-US" sz="800">
                          <a:solidFill>
                            <a:srgbClr val="404040"/>
                          </a:solidFill>
                          <a:effectLst/>
                          <a:latin typeface="BLS" pitchFamily="2" charset="-34"/>
                          <a:cs typeface="BLS" pitchFamily="2" charset="-34"/>
                        </a:rPr>
                        <a:t> </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Pass</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5"/>
                  </a:ext>
                </a:extLst>
              </a:tr>
              <a:tr h="193675">
                <a:tc>
                  <a:txBody>
                    <a:bodyPr/>
                    <a:lstStyle/>
                    <a:p>
                      <a:pPr algn="ctr">
                        <a:spcBef>
                          <a:spcPts val="300"/>
                        </a:spcBef>
                        <a:spcAft>
                          <a:spcPts val="0"/>
                        </a:spcAft>
                      </a:pPr>
                      <a:r>
                        <a:rPr lang="en-US" sz="800">
                          <a:solidFill>
                            <a:srgbClr val="404040"/>
                          </a:solidFill>
                          <a:effectLst/>
                          <a:latin typeface="BLS" pitchFamily="2" charset="-34"/>
                          <a:cs typeface="BLS" pitchFamily="2" charset="-34"/>
                        </a:rPr>
                        <a:t>Below 50</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Bef>
                          <a:spcPts val="300"/>
                        </a:spcBef>
                        <a:spcAft>
                          <a:spcPts val="0"/>
                        </a:spcAft>
                      </a:pPr>
                      <a:r>
                        <a:rPr lang="en-US" sz="800">
                          <a:solidFill>
                            <a:srgbClr val="404040"/>
                          </a:solidFill>
                          <a:effectLst/>
                          <a:latin typeface="BLS" pitchFamily="2" charset="-34"/>
                          <a:cs typeface="BLS" pitchFamily="2" charset="-34"/>
                        </a:rPr>
                        <a:t> No logo given</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Bef>
                          <a:spcPts val="300"/>
                        </a:spcBef>
                        <a:spcAft>
                          <a:spcPts val="0"/>
                        </a:spcAft>
                      </a:pPr>
                      <a:r>
                        <a:rPr lang="en-US" sz="800">
                          <a:solidFill>
                            <a:srgbClr val="404040"/>
                          </a:solidFill>
                          <a:effectLst/>
                          <a:latin typeface="BLS" pitchFamily="2" charset="-34"/>
                          <a:cs typeface="BLS" pitchFamily="2" charset="-34"/>
                        </a:rPr>
                        <a:t>N/A</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extLst>
                  <a:ext uri="{0D108BD9-81ED-4DB2-BD59-A6C34878D82A}">
                    <a16:rowId xmlns:a16="http://schemas.microsoft.com/office/drawing/2014/main" val="10006"/>
                  </a:ext>
                </a:extLst>
              </a:tr>
            </a:tbl>
          </a:graphicData>
        </a:graphic>
      </p:graphicFrame>
      <p:sp>
        <p:nvSpPr>
          <p:cNvPr id="38" name="TextBox 37"/>
          <p:cNvSpPr txBox="1"/>
          <p:nvPr/>
        </p:nvSpPr>
        <p:spPr>
          <a:xfrm>
            <a:off x="404664" y="6001157"/>
            <a:ext cx="5977830" cy="215444"/>
          </a:xfrm>
          <a:prstGeom prst="rect">
            <a:avLst/>
          </a:prstGeom>
          <a:noFill/>
        </p:spPr>
        <p:txBody>
          <a:bodyPr wrap="square" rtlCol="0">
            <a:spAutoFit/>
          </a:bodyPr>
          <a:lstStyle/>
          <a:p>
            <a:pPr algn="just"/>
            <a:r>
              <a:rPr lang="en-US" sz="800" b="1">
                <a:solidFill>
                  <a:srgbClr val="404040"/>
                </a:solidFill>
                <a:latin typeface="BLS" pitchFamily="2" charset="-34"/>
                <a:cs typeface="BLS" pitchFamily="2" charset="-34"/>
              </a:rPr>
              <a:t>CG Rating</a:t>
            </a:r>
          </a:p>
        </p:txBody>
      </p:sp>
      <p:sp>
        <p:nvSpPr>
          <p:cNvPr id="39" name="TextBox 38"/>
          <p:cNvSpPr txBox="1"/>
          <p:nvPr/>
        </p:nvSpPr>
        <p:spPr>
          <a:xfrm>
            <a:off x="1052736" y="7875657"/>
            <a:ext cx="4752528" cy="584775"/>
          </a:xfrm>
          <a:prstGeom prst="rect">
            <a:avLst/>
          </a:prstGeom>
          <a:noFill/>
        </p:spPr>
        <p:txBody>
          <a:bodyPr wrap="square" rtlCol="0">
            <a:spAutoFit/>
          </a:bodyPr>
          <a:lstStyle/>
          <a:p>
            <a:pPr algn="ctr"/>
            <a:r>
              <a:rPr lang="en-US" sz="800" b="1">
                <a:latin typeface="BLS" pitchFamily="2" charset="-34"/>
                <a:cs typeface="BLS" pitchFamily="2" charset="-34"/>
              </a:rPr>
              <a:t>Thailand's Private Sector Collective Action Coalition Against Corruption </a:t>
            </a:r>
            <a:r>
              <a:rPr lang="en-US" sz="800" b="1" err="1">
                <a:latin typeface="BLS" pitchFamily="2" charset="-34"/>
                <a:cs typeface="BLS" pitchFamily="2" charset="-34"/>
              </a:rPr>
              <a:t>programme</a:t>
            </a:r>
            <a:r>
              <a:rPr lang="en-US" sz="800" b="1">
                <a:latin typeface="BLS" pitchFamily="2" charset="-34"/>
                <a:cs typeface="BLS" pitchFamily="2" charset="-34"/>
              </a:rPr>
              <a:t> (Thai CAC) under Thai Institute of Directors</a:t>
            </a:r>
          </a:p>
          <a:p>
            <a:pPr marL="171450" indent="-171450" algn="ctr">
              <a:buFont typeface="Arial" pitchFamily="34" charset="0"/>
              <a:buChar char="•"/>
            </a:pPr>
            <a:r>
              <a:rPr lang="en-US" sz="800">
                <a:latin typeface="BLS" pitchFamily="2" charset="-34"/>
                <a:cs typeface="BLS" pitchFamily="2" charset="-34"/>
              </a:rPr>
              <a:t>companies that have </a:t>
            </a:r>
            <a:r>
              <a:rPr lang="en-US" sz="800" b="1">
                <a:latin typeface="BLS" pitchFamily="2" charset="-34"/>
                <a:cs typeface="BLS" pitchFamily="2" charset="-34"/>
              </a:rPr>
              <a:t>declared</a:t>
            </a:r>
            <a:r>
              <a:rPr lang="en-US" sz="800">
                <a:latin typeface="BLS" pitchFamily="2" charset="-34"/>
                <a:cs typeface="BLS" pitchFamily="2" charset="-34"/>
              </a:rPr>
              <a:t> their intention to join CAC, and</a:t>
            </a:r>
          </a:p>
          <a:p>
            <a:pPr marL="171450" indent="-171450" algn="ctr">
              <a:buFont typeface="Arial" pitchFamily="34" charset="0"/>
              <a:buChar char="•"/>
            </a:pPr>
            <a:r>
              <a:rPr lang="en-US" sz="800">
                <a:latin typeface="BLS" pitchFamily="2" charset="-34"/>
                <a:cs typeface="BLS" pitchFamily="2" charset="-34"/>
              </a:rPr>
              <a:t>companies </a:t>
            </a:r>
            <a:r>
              <a:rPr lang="en-US" sz="800" b="1">
                <a:latin typeface="BLS" pitchFamily="2" charset="-34"/>
                <a:cs typeface="BLS" pitchFamily="2" charset="-34"/>
              </a:rPr>
              <a:t>certified</a:t>
            </a:r>
            <a:r>
              <a:rPr lang="en-US" sz="800">
                <a:latin typeface="BLS" pitchFamily="2" charset="-34"/>
                <a:cs typeface="BLS" pitchFamily="2" charset="-34"/>
              </a:rPr>
              <a:t> by CAC.</a:t>
            </a:r>
            <a:endParaRPr lang="en-US" sz="800">
              <a:solidFill>
                <a:srgbClr val="404040"/>
              </a:solidFill>
              <a:latin typeface="BLS" pitchFamily="2" charset="-34"/>
              <a:cs typeface="BLS" pitchFamily="2" charset="-34"/>
            </a:endParaRPr>
          </a:p>
        </p:txBody>
      </p:sp>
      <p:pic>
        <p:nvPicPr>
          <p:cNvPr id="1026" name="Picture 2">
            <a:extLst>
              <a:ext uri="{FF2B5EF4-FFF2-40B4-BE49-F238E27FC236}">
                <a16:creationId xmlns:a16="http://schemas.microsoft.com/office/drawing/2014/main" id="{0E5D63DB-D9DE-7124-6220-F449B2D45F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937" y="3631607"/>
            <a:ext cx="6324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2">
            <a:extLst>
              <a:ext uri="{FF2B5EF4-FFF2-40B4-BE49-F238E27FC236}">
                <a16:creationId xmlns:a16="http://schemas.microsoft.com/office/drawing/2014/main" id="{2FADF063-618E-2A0B-B0CC-F9AEA43EBAD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0823" y="107504"/>
            <a:ext cx="731838"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Straight Connector 2">
            <a:extLst>
              <a:ext uri="{FF2B5EF4-FFF2-40B4-BE49-F238E27FC236}">
                <a16:creationId xmlns:a16="http://schemas.microsoft.com/office/drawing/2014/main" id="{9F434746-9B89-59A7-88CF-4D5439A09315}"/>
              </a:ext>
            </a:extLst>
          </p:cNvPr>
          <p:cNvCxnSpPr/>
          <p:nvPr/>
        </p:nvCxnSpPr>
        <p:spPr>
          <a:xfrm>
            <a:off x="1254791" y="190033"/>
            <a:ext cx="0" cy="108000"/>
          </a:xfrm>
          <a:prstGeom prst="line">
            <a:avLst/>
          </a:prstGeom>
          <a:ln w="1905">
            <a:solidFill>
              <a:srgbClr val="00206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4CC043B-0591-672D-2174-7401EDDCA5CE}"/>
              </a:ext>
            </a:extLst>
          </p:cNvPr>
          <p:cNvSpPr txBox="1"/>
          <p:nvPr/>
        </p:nvSpPr>
        <p:spPr>
          <a:xfrm>
            <a:off x="332656" y="30656"/>
            <a:ext cx="970575" cy="184666"/>
          </a:xfrm>
          <a:prstGeom prst="rect">
            <a:avLst/>
          </a:prstGeom>
          <a:noFill/>
        </p:spPr>
        <p:txBody>
          <a:bodyPr wrap="square">
            <a:spAutoFit/>
          </a:bodyPr>
          <a:lstStyle/>
          <a:p>
            <a:pPr algn="r"/>
            <a:r>
              <a:rPr lang="en-US" sz="600" b="1" dirty="0">
                <a:solidFill>
                  <a:srgbClr val="CCAE8A"/>
                </a:solidFill>
                <a:latin typeface="Aharoni" panose="020F0502020204030204" pitchFamily="2" charset="-79"/>
                <a:ea typeface="Tahoma" pitchFamily="34" charset="0"/>
                <a:cs typeface="Aharoni" panose="020F0502020204030204" pitchFamily="2" charset="-79"/>
              </a:rPr>
              <a:t>BLS WEALTH</a:t>
            </a:r>
            <a:endParaRPr lang="th-TH" sz="5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10" name="TextBox 9">
            <a:extLst>
              <a:ext uri="{FF2B5EF4-FFF2-40B4-BE49-F238E27FC236}">
                <a16:creationId xmlns:a16="http://schemas.microsoft.com/office/drawing/2014/main" id="{2531F109-D890-A9D4-6394-29EC9D37B88A}"/>
              </a:ext>
            </a:extLst>
          </p:cNvPr>
          <p:cNvSpPr txBox="1"/>
          <p:nvPr/>
        </p:nvSpPr>
        <p:spPr>
          <a:xfrm>
            <a:off x="1207813" y="131801"/>
            <a:ext cx="1411131" cy="230832"/>
          </a:xfrm>
          <a:prstGeom prst="rect">
            <a:avLst/>
          </a:prstGeom>
          <a:noFill/>
        </p:spPr>
        <p:txBody>
          <a:bodyPr wrap="square" rtlCol="0">
            <a:spAutoFit/>
          </a:bodyPr>
          <a:lstStyle/>
          <a:p>
            <a:r>
              <a:rPr lang="en-US" sz="450" b="1" dirty="0">
                <a:solidFill>
                  <a:schemeClr val="accent3"/>
                </a:solidFill>
                <a:latin typeface="Arial" pitchFamily="34" charset="0"/>
                <a:cs typeface="Arial" pitchFamily="34" charset="0"/>
              </a:rPr>
              <a:t>Data-driven</a:t>
            </a:r>
            <a:endParaRPr lang="th-TH" sz="450" b="1" dirty="0">
              <a:solidFill>
                <a:schemeClr val="accent3"/>
              </a:solidFill>
              <a:latin typeface="Arial" pitchFamily="34" charset="0"/>
              <a:cs typeface="Arial" pitchFamily="34" charset="0"/>
            </a:endParaRPr>
          </a:p>
          <a:p>
            <a:r>
              <a:rPr lang="en-US" sz="450" b="1" dirty="0">
                <a:solidFill>
                  <a:schemeClr val="tx2"/>
                </a:solidFill>
                <a:latin typeface="Arial" pitchFamily="34" charset="0"/>
                <a:cs typeface="Arial" pitchFamily="34" charset="0"/>
              </a:rPr>
              <a:t>RESEARCH</a:t>
            </a:r>
          </a:p>
        </p:txBody>
      </p:sp>
    </p:spTree>
    <p:extLst>
      <p:ext uri="{BB962C8B-B14F-4D97-AF65-F5344CB8AC3E}">
        <p14:creationId xmlns:p14="http://schemas.microsoft.com/office/powerpoint/2010/main" val="329149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97858" y="8699316"/>
            <a:ext cx="6235106"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2"/>
          <p:cNvSpPr>
            <a:spLocks noGrp="1"/>
          </p:cNvSpPr>
          <p:nvPr>
            <p:ph type="sldNum" sz="quarter" idx="12"/>
          </p:nvPr>
        </p:nvSpPr>
        <p:spPr>
          <a:xfrm>
            <a:off x="4914900" y="8659771"/>
            <a:ext cx="1600200" cy="486833"/>
          </a:xfrm>
        </p:spPr>
        <p:txBody>
          <a:bodyPr/>
          <a:lstStyle/>
          <a:p>
            <a:fld id="{10452F14-DDA8-46AC-9FFA-A749C5B763D3}" type="slidenum">
              <a:rPr lang="en-US" smtClean="0">
                <a:latin typeface="BLS" panose="00000500000000000000" pitchFamily="2" charset="-34"/>
                <a:cs typeface="BLS" panose="00000500000000000000" pitchFamily="2" charset="-34"/>
              </a:rPr>
              <a:t>5</a:t>
            </a:fld>
            <a:endParaRPr lang="en-US" dirty="0">
              <a:latin typeface="BLS" panose="00000500000000000000" pitchFamily="2" charset="-34"/>
              <a:cs typeface="BLS" panose="00000500000000000000" pitchFamily="2" charset="-34"/>
            </a:endParaRPr>
          </a:p>
        </p:txBody>
      </p:sp>
      <p:sp>
        <p:nvSpPr>
          <p:cNvPr id="12" name="Text Box 155"/>
          <p:cNvSpPr txBox="1">
            <a:spLocks noChangeArrowheads="1"/>
          </p:cNvSpPr>
          <p:nvPr/>
        </p:nvSpPr>
        <p:spPr bwMode="auto">
          <a:xfrm>
            <a:off x="297858" y="624260"/>
            <a:ext cx="6231314" cy="319087"/>
          </a:xfrm>
          <a:prstGeom prst="rect">
            <a:avLst/>
          </a:prstGeom>
          <a:solidFill>
            <a:srgbClr val="002060"/>
          </a:solidFill>
          <a:ln w="9525">
            <a:solidFill>
              <a:srgbClr val="002060"/>
            </a:solidFill>
            <a:miter lim="800000"/>
            <a:headEnd/>
            <a:tailEnd/>
          </a:ln>
        </p:spPr>
        <p:txBody>
          <a:bodyPr vert="horz" wrap="square" lIns="91440" tIns="45720" rIns="91440" bIns="45720" numCol="1" anchor="ctr" anchorCtr="0" compatLnSpc="1">
            <a:prstTxWarp prst="textNoShape">
              <a:avLst/>
            </a:prstTxWarp>
          </a:bodyPr>
          <a:lstStyle/>
          <a:p>
            <a:pPr>
              <a:spcAft>
                <a:spcPts val="0"/>
              </a:spcAft>
              <a:tabLst>
                <a:tab pos="2743200" algn="ctr"/>
                <a:tab pos="5486400" algn="r"/>
              </a:tabLst>
            </a:pPr>
            <a:r>
              <a:rPr lang="en-US" sz="1000" b="1">
                <a:solidFill>
                  <a:srgbClr val="FFFFFF"/>
                </a:solidFill>
                <a:latin typeface="BLS Condensed Bold" pitchFamily="2" charset="-34"/>
                <a:ea typeface="Arial" pitchFamily="34" charset="0"/>
                <a:cs typeface="BLS Condensed Bold" pitchFamily="2" charset="-34"/>
              </a:rPr>
              <a:t>CORPORATE GOVERNANCE REPORT DISCLAIMER</a:t>
            </a:r>
          </a:p>
        </p:txBody>
      </p:sp>
      <p:sp>
        <p:nvSpPr>
          <p:cNvPr id="13" name="TextBox 12"/>
          <p:cNvSpPr txBox="1"/>
          <p:nvPr/>
        </p:nvSpPr>
        <p:spPr>
          <a:xfrm>
            <a:off x="297858" y="1043608"/>
            <a:ext cx="6231314" cy="3293209"/>
          </a:xfrm>
          <a:prstGeom prst="rect">
            <a:avLst/>
          </a:prstGeom>
          <a:noFill/>
        </p:spPr>
        <p:txBody>
          <a:bodyPr wrap="square" rtlCol="0">
            <a:spAutoFit/>
          </a:bodyPr>
          <a:lstStyle/>
          <a:p>
            <a:pPr algn="just"/>
            <a:r>
              <a:rPr lang="en-GB" sz="800">
                <a:solidFill>
                  <a:srgbClr val="404040"/>
                </a:solidFill>
                <a:latin typeface="BLS" pitchFamily="2" charset="-34"/>
                <a:cs typeface="BLS" pitchFamily="2" charset="-34"/>
              </a:rPr>
              <a:t>This research report was prepared by </a:t>
            </a:r>
            <a:r>
              <a:rPr lang="en-GB" sz="800" err="1">
                <a:solidFill>
                  <a:srgbClr val="404040"/>
                </a:solidFill>
                <a:latin typeface="BLS" pitchFamily="2" charset="-34"/>
                <a:cs typeface="BLS" pitchFamily="2" charset="-34"/>
              </a:rPr>
              <a:t>Bualuang</a:t>
            </a:r>
            <a:r>
              <a:rPr lang="en-GB" sz="800">
                <a:solidFill>
                  <a:srgbClr val="404040"/>
                </a:solidFill>
                <a:latin typeface="BLS" pitchFamily="2" charset="-34"/>
                <a:cs typeface="BLS" pitchFamily="2" charset="-34"/>
              </a:rPr>
              <a:t> Securities Public Company Limited and refers to research prepared by Morgan Stanley. Morgan Stanley does not warrant or guarantee the accuracy or completeness of its research reports. Morgan Stanley reserves copyright and other proprietary rights in the material reproduced in this report. Morgan Stanley is under no obligation to inform </a:t>
            </a:r>
            <a:r>
              <a:rPr lang="en-GB" sz="800" err="1">
                <a:solidFill>
                  <a:srgbClr val="404040"/>
                </a:solidFill>
                <a:latin typeface="BLS" pitchFamily="2" charset="-34"/>
                <a:cs typeface="BLS" pitchFamily="2" charset="-34"/>
              </a:rPr>
              <a:t>Bualuang</a:t>
            </a:r>
            <a:r>
              <a:rPr lang="en-GB" sz="800">
                <a:solidFill>
                  <a:srgbClr val="404040"/>
                </a:solidFill>
                <a:latin typeface="BLS" pitchFamily="2" charset="-34"/>
                <a:cs typeface="BLS" pitchFamily="2" charset="-34"/>
              </a:rPr>
              <a:t> Securities or you if the views or information referred to or reproduced in this research report change.</a:t>
            </a:r>
          </a:p>
          <a:p>
            <a:pPr algn="just"/>
            <a:endParaRPr lang="en-US" sz="800">
              <a:solidFill>
                <a:srgbClr val="404040"/>
              </a:solidFill>
              <a:latin typeface="BLS" pitchFamily="2" charset="-34"/>
              <a:cs typeface="BLS" pitchFamily="2" charset="-34"/>
            </a:endParaRPr>
          </a:p>
          <a:p>
            <a:pPr algn="just"/>
            <a:r>
              <a:rPr lang="en-GB" sz="800" b="1">
                <a:solidFill>
                  <a:srgbClr val="404040"/>
                </a:solidFill>
                <a:latin typeface="BLS" pitchFamily="2" charset="-34"/>
                <a:cs typeface="BLS" pitchFamily="2" charset="-34"/>
              </a:rPr>
              <a:t>Corporate Governance Report disclaimer</a:t>
            </a:r>
          </a:p>
          <a:p>
            <a:pPr algn="just"/>
            <a:endParaRPr lang="en-US" sz="400" b="1">
              <a:solidFill>
                <a:srgbClr val="404040"/>
              </a:solidFill>
              <a:latin typeface="BLS" pitchFamily="2" charset="-34"/>
              <a:cs typeface="BLS" pitchFamily="2" charset="-34"/>
            </a:endParaRPr>
          </a:p>
          <a:p>
            <a:pPr algn="just"/>
            <a:r>
              <a:rPr lang="en-US" sz="800">
                <a:solidFill>
                  <a:srgbClr val="404040"/>
                </a:solidFill>
                <a:latin typeface="BLS" pitchFamily="2" charset="-34"/>
                <a:cs typeface="BLS" pitchFamily="2" charset="-34"/>
              </a:rPr>
              <a:t>The disclosure of the survey result of the Thai Institute of Directors Association (IOD) regarding corporate governance is made pursuant to the policy of the Office of the Securities and Exchange Commission. The IOD survey is based on the information of a company listed on the Stock Exchange of Thailand and the Market for Alternative Investment disclosed to the public and able to be accessed by a general public investor. The result, therefore, is from the perspective of a third party. It is not an evaluation of operation and is not based on inside information.</a:t>
            </a:r>
          </a:p>
          <a:p>
            <a:pPr algn="just"/>
            <a:r>
              <a:rPr lang="en-US" sz="800">
                <a:solidFill>
                  <a:srgbClr val="404040"/>
                </a:solidFill>
                <a:latin typeface="BLS" pitchFamily="2" charset="-34"/>
                <a:cs typeface="BLS" pitchFamily="2" charset="-34"/>
              </a:rPr>
              <a:t>The survey result is as of the date appearing in the Corporate Governance Report of Thai Listed Companies. As a result, the survey result may be changed after that date. </a:t>
            </a:r>
            <a:r>
              <a:rPr lang="en-US" sz="800" err="1">
                <a:solidFill>
                  <a:srgbClr val="404040"/>
                </a:solidFill>
                <a:latin typeface="BLS" pitchFamily="2" charset="-34"/>
                <a:cs typeface="BLS" pitchFamily="2" charset="-34"/>
              </a:rPr>
              <a:t>Bualuang</a:t>
            </a:r>
            <a:r>
              <a:rPr lang="en-US" sz="800">
                <a:solidFill>
                  <a:srgbClr val="404040"/>
                </a:solidFill>
                <a:latin typeface="BLS" pitchFamily="2" charset="-34"/>
                <a:cs typeface="BLS" pitchFamily="2" charset="-34"/>
              </a:rPr>
              <a:t> Securities Public Company Limited neither confirms nor certifies the accuracy of such survey results.</a:t>
            </a:r>
          </a:p>
          <a:p>
            <a:pPr algn="just"/>
            <a:r>
              <a:rPr lang="en-US" sz="800">
                <a:solidFill>
                  <a:srgbClr val="404040"/>
                </a:solidFill>
                <a:latin typeface="BLS" pitchFamily="2" charset="-34"/>
                <a:cs typeface="BLS" pitchFamily="2" charset="-34"/>
              </a:rPr>
              <a:t> </a:t>
            </a:r>
          </a:p>
          <a:p>
            <a:pPr algn="just"/>
            <a:r>
              <a:rPr lang="en-US" sz="800">
                <a:solidFill>
                  <a:srgbClr val="404040"/>
                </a:solidFill>
                <a:latin typeface="BLS" pitchFamily="2" charset="-34"/>
                <a:cs typeface="BLS" pitchFamily="2" charset="-34"/>
              </a:rPr>
              <a:t>“Disclaimer: The disclosure of the Anti-Corruption Progress Indicators of a listed company on the Stock Exchange of Thailand, which is assessed by the relevant institution as disclosed by the Office of the Securities and Exchange Commission, is made in order to comply with the policy and sustainable development plan for the listed companies. The relevant institution made this assessment based on the information received from the listed company, as stipulated in the form for the assessment of Anti-corruption, which refers to the Annual Registration Statement (Form 56-1), Annual Report (Form 56-2), or other relevant documents or reports of such listed company. The assessment result is therefore made from the perspective of a third party. It is not an assessment of operation and is not based on any inside information. Since this assessment is only the assessment result as of the date appearing in the assessment result, it may be changed after that date or when there is any change to the relevant information. Nevertheless, </a:t>
            </a:r>
            <a:r>
              <a:rPr lang="en-US" sz="800" err="1">
                <a:solidFill>
                  <a:srgbClr val="404040"/>
                </a:solidFill>
                <a:latin typeface="BLS" pitchFamily="2" charset="-34"/>
                <a:cs typeface="BLS" pitchFamily="2" charset="-34"/>
              </a:rPr>
              <a:t>Bualuang</a:t>
            </a:r>
            <a:r>
              <a:rPr lang="en-US" sz="800">
                <a:solidFill>
                  <a:srgbClr val="404040"/>
                </a:solidFill>
                <a:latin typeface="BLS" pitchFamily="2" charset="-34"/>
                <a:cs typeface="BLS" pitchFamily="2" charset="-34"/>
              </a:rPr>
              <a:t> Securities Public Company Limited neither confirms, verifies, nor certifies the accuracy and completeness of the assessment result.”</a:t>
            </a:r>
          </a:p>
        </p:txBody>
      </p:sp>
      <p:sp>
        <p:nvSpPr>
          <p:cNvPr id="33" name="Text Box 155"/>
          <p:cNvSpPr txBox="1">
            <a:spLocks noChangeArrowheads="1"/>
          </p:cNvSpPr>
          <p:nvPr/>
        </p:nvSpPr>
        <p:spPr bwMode="auto">
          <a:xfrm>
            <a:off x="294066" y="4572000"/>
            <a:ext cx="6231314" cy="319087"/>
          </a:xfrm>
          <a:prstGeom prst="rect">
            <a:avLst/>
          </a:prstGeom>
          <a:solidFill>
            <a:srgbClr val="002060"/>
          </a:solidFill>
          <a:ln w="9525">
            <a:solidFill>
              <a:srgbClr val="002060"/>
            </a:solidFill>
            <a:miter lim="800000"/>
            <a:headEnd/>
            <a:tailEnd/>
          </a:ln>
        </p:spPr>
        <p:txBody>
          <a:bodyPr vert="horz" wrap="square" lIns="91440" tIns="45720" rIns="91440" bIns="45720" numCol="1" anchor="ctr" anchorCtr="0" compatLnSpc="1">
            <a:prstTxWarp prst="textNoShape">
              <a:avLst/>
            </a:prstTxWarp>
          </a:bodyPr>
          <a:lstStyle/>
          <a:p>
            <a:pPr>
              <a:spcAft>
                <a:spcPts val="0"/>
              </a:spcAft>
              <a:tabLst>
                <a:tab pos="2743200" algn="ctr"/>
                <a:tab pos="5486400" algn="r"/>
              </a:tabLst>
            </a:pPr>
            <a:r>
              <a:rPr lang="en-US" sz="1000" b="1">
                <a:solidFill>
                  <a:srgbClr val="FFFFFF"/>
                </a:solidFill>
                <a:latin typeface="BLS Condensed Bold" pitchFamily="2" charset="-34"/>
                <a:ea typeface="Arial" pitchFamily="34" charset="0"/>
                <a:cs typeface="BLS Condensed Bold" pitchFamily="2" charset="-34"/>
              </a:rPr>
              <a:t>BUALUANG RESEARCH – RECOMMENDATION FRAMEWORK</a:t>
            </a:r>
          </a:p>
        </p:txBody>
      </p:sp>
      <p:sp>
        <p:nvSpPr>
          <p:cNvPr id="34" name="TextBox 33"/>
          <p:cNvSpPr txBox="1"/>
          <p:nvPr/>
        </p:nvSpPr>
        <p:spPr>
          <a:xfrm>
            <a:off x="294066" y="5004048"/>
            <a:ext cx="3121345" cy="1323439"/>
          </a:xfrm>
          <a:prstGeom prst="rect">
            <a:avLst/>
          </a:prstGeom>
          <a:noFill/>
        </p:spPr>
        <p:txBody>
          <a:bodyPr wrap="square" rtlCol="0">
            <a:spAutoFit/>
          </a:bodyPr>
          <a:lstStyle/>
          <a:p>
            <a:r>
              <a:rPr lang="en-US" sz="800" b="1">
                <a:solidFill>
                  <a:srgbClr val="404040"/>
                </a:solidFill>
                <a:latin typeface="BLS" pitchFamily="2" charset="-34"/>
                <a:cs typeface="BLS" pitchFamily="2" charset="-34"/>
              </a:rPr>
              <a:t>STOCK RECOMMENDATIONS</a:t>
            </a:r>
            <a:endParaRPr lang="en-US" sz="800">
              <a:solidFill>
                <a:srgbClr val="404040"/>
              </a:solidFill>
              <a:latin typeface="BLS" pitchFamily="2" charset="-34"/>
              <a:cs typeface="BLS" pitchFamily="2" charset="-34"/>
            </a:endParaRPr>
          </a:p>
          <a:p>
            <a:r>
              <a:rPr lang="en-US" sz="800" b="1">
                <a:solidFill>
                  <a:srgbClr val="404040"/>
                </a:solidFill>
                <a:latin typeface="BLS" pitchFamily="2" charset="-34"/>
                <a:cs typeface="BLS" pitchFamily="2" charset="-34"/>
              </a:rPr>
              <a:t> </a:t>
            </a:r>
            <a:endParaRPr lang="en-US" sz="800">
              <a:solidFill>
                <a:srgbClr val="404040"/>
              </a:solidFill>
              <a:latin typeface="BLS" pitchFamily="2" charset="-34"/>
              <a:cs typeface="BLS" pitchFamily="2" charset="-34"/>
            </a:endParaRPr>
          </a:p>
          <a:p>
            <a:r>
              <a:rPr lang="en-US" sz="800" b="1">
                <a:solidFill>
                  <a:srgbClr val="404040"/>
                </a:solidFill>
                <a:latin typeface="BLS" pitchFamily="2" charset="-34"/>
                <a:cs typeface="BLS" pitchFamily="2" charset="-34"/>
              </a:rPr>
              <a:t>BUY:</a:t>
            </a:r>
            <a:r>
              <a:rPr lang="en-US" sz="800">
                <a:solidFill>
                  <a:srgbClr val="404040"/>
                </a:solidFill>
                <a:latin typeface="BLS" pitchFamily="2" charset="-34"/>
                <a:cs typeface="BLS" pitchFamily="2" charset="-34"/>
              </a:rPr>
              <a:t> Expected positive total returns of 15% or more over the next 12 months.</a:t>
            </a:r>
          </a:p>
          <a:p>
            <a:r>
              <a:rPr lang="en-US" sz="800" b="1">
                <a:solidFill>
                  <a:srgbClr val="404040"/>
                </a:solidFill>
                <a:latin typeface="BLS" pitchFamily="2" charset="-34"/>
                <a:cs typeface="BLS" pitchFamily="2" charset="-34"/>
              </a:rPr>
              <a:t>HOLD:</a:t>
            </a:r>
            <a:r>
              <a:rPr lang="en-US" sz="800">
                <a:solidFill>
                  <a:srgbClr val="404040"/>
                </a:solidFill>
                <a:latin typeface="BLS" pitchFamily="2" charset="-34"/>
                <a:cs typeface="BLS" pitchFamily="2" charset="-34"/>
              </a:rPr>
              <a:t> Expected total returns of between -15% and +15% over the next 12 months.</a:t>
            </a:r>
          </a:p>
          <a:p>
            <a:r>
              <a:rPr lang="en-US" sz="800" b="1">
                <a:solidFill>
                  <a:srgbClr val="404040"/>
                </a:solidFill>
                <a:latin typeface="BLS" pitchFamily="2" charset="-34"/>
                <a:cs typeface="BLS" pitchFamily="2" charset="-34"/>
              </a:rPr>
              <a:t>SELL:</a:t>
            </a:r>
            <a:r>
              <a:rPr lang="en-US" sz="800">
                <a:solidFill>
                  <a:srgbClr val="404040"/>
                </a:solidFill>
                <a:latin typeface="BLS" pitchFamily="2" charset="-34"/>
                <a:cs typeface="BLS" pitchFamily="2" charset="-34"/>
              </a:rPr>
              <a:t> Expected negative total returns of 15% or more over the next 12 months.</a:t>
            </a:r>
          </a:p>
          <a:p>
            <a:r>
              <a:rPr lang="en-US" sz="800" b="1">
                <a:solidFill>
                  <a:srgbClr val="404040"/>
                </a:solidFill>
                <a:latin typeface="BLS" pitchFamily="2" charset="-34"/>
                <a:cs typeface="BLS" pitchFamily="2" charset="-34"/>
              </a:rPr>
              <a:t>TRADING BUY:</a:t>
            </a:r>
            <a:r>
              <a:rPr lang="en-US" sz="800">
                <a:solidFill>
                  <a:srgbClr val="404040"/>
                </a:solidFill>
                <a:latin typeface="BLS" pitchFamily="2" charset="-34"/>
                <a:cs typeface="BLS" pitchFamily="2" charset="-34"/>
              </a:rPr>
              <a:t> Expected positive total returns of 15% or more over the next 3 months.</a:t>
            </a:r>
          </a:p>
        </p:txBody>
      </p:sp>
      <p:sp>
        <p:nvSpPr>
          <p:cNvPr id="40" name="TextBox 39"/>
          <p:cNvSpPr txBox="1"/>
          <p:nvPr/>
        </p:nvSpPr>
        <p:spPr>
          <a:xfrm>
            <a:off x="3403999" y="5006935"/>
            <a:ext cx="3121345" cy="1446550"/>
          </a:xfrm>
          <a:prstGeom prst="rect">
            <a:avLst/>
          </a:prstGeom>
          <a:noFill/>
        </p:spPr>
        <p:txBody>
          <a:bodyPr wrap="square" rtlCol="0">
            <a:spAutoFit/>
          </a:bodyPr>
          <a:lstStyle/>
          <a:p>
            <a:r>
              <a:rPr lang="en-US" sz="800" b="1">
                <a:solidFill>
                  <a:srgbClr val="404040"/>
                </a:solidFill>
                <a:latin typeface="BLS" pitchFamily="2" charset="-34"/>
                <a:cs typeface="BLS" pitchFamily="2" charset="-34"/>
              </a:rPr>
              <a:t>SECTOR RECOMMENDATIONS</a:t>
            </a:r>
            <a:endParaRPr lang="en-US" sz="800">
              <a:solidFill>
                <a:srgbClr val="404040"/>
              </a:solidFill>
              <a:latin typeface="BLS" pitchFamily="2" charset="-34"/>
              <a:cs typeface="BLS" pitchFamily="2" charset="-34"/>
            </a:endParaRPr>
          </a:p>
          <a:p>
            <a:r>
              <a:rPr lang="en-US" sz="800" b="1">
                <a:solidFill>
                  <a:srgbClr val="404040"/>
                </a:solidFill>
                <a:latin typeface="BLS" pitchFamily="2" charset="-34"/>
                <a:cs typeface="BLS" pitchFamily="2" charset="-34"/>
              </a:rPr>
              <a:t> </a:t>
            </a:r>
            <a:endParaRPr lang="en-US" sz="800">
              <a:solidFill>
                <a:srgbClr val="404040"/>
              </a:solidFill>
              <a:latin typeface="BLS" pitchFamily="2" charset="-34"/>
              <a:cs typeface="BLS" pitchFamily="2" charset="-34"/>
            </a:endParaRPr>
          </a:p>
          <a:p>
            <a:r>
              <a:rPr lang="en-US" sz="800" b="1">
                <a:solidFill>
                  <a:srgbClr val="404040"/>
                </a:solidFill>
                <a:latin typeface="BLS" pitchFamily="2" charset="-34"/>
                <a:cs typeface="BLS" pitchFamily="2" charset="-34"/>
              </a:rPr>
              <a:t>OVERWEIGHT:</a:t>
            </a:r>
            <a:r>
              <a:rPr lang="en-US" sz="800">
                <a:solidFill>
                  <a:srgbClr val="404040"/>
                </a:solidFill>
                <a:latin typeface="BLS" pitchFamily="2" charset="-34"/>
                <a:cs typeface="BLS" pitchFamily="2" charset="-34"/>
              </a:rPr>
              <a:t> The industry, as defined by the analyst's coverage universe, is expected to outperform the relevant primary market index over the next 12 months.</a:t>
            </a:r>
          </a:p>
          <a:p>
            <a:r>
              <a:rPr lang="en-US" sz="800" b="1">
                <a:solidFill>
                  <a:srgbClr val="404040"/>
                </a:solidFill>
                <a:latin typeface="BLS" pitchFamily="2" charset="-34"/>
                <a:cs typeface="BLS" pitchFamily="2" charset="-34"/>
              </a:rPr>
              <a:t>NEUTRAL:</a:t>
            </a:r>
            <a:r>
              <a:rPr lang="en-US" sz="800">
                <a:solidFill>
                  <a:srgbClr val="404040"/>
                </a:solidFill>
                <a:latin typeface="BLS" pitchFamily="2" charset="-34"/>
                <a:cs typeface="BLS" pitchFamily="2" charset="-34"/>
              </a:rPr>
              <a:t> The industry, as defined by the analyst's coverage universe, is expected to perform in line with the relevant primary market index over the next 12 months.</a:t>
            </a:r>
          </a:p>
          <a:p>
            <a:r>
              <a:rPr lang="en-US" sz="800" b="1">
                <a:solidFill>
                  <a:srgbClr val="404040"/>
                </a:solidFill>
                <a:latin typeface="BLS" pitchFamily="2" charset="-34"/>
                <a:cs typeface="BLS" pitchFamily="2" charset="-34"/>
              </a:rPr>
              <a:t>UNDERWEIGHT:</a:t>
            </a:r>
            <a:r>
              <a:rPr lang="en-US" sz="800">
                <a:solidFill>
                  <a:srgbClr val="404040"/>
                </a:solidFill>
                <a:latin typeface="BLS" pitchFamily="2" charset="-34"/>
                <a:cs typeface="BLS" pitchFamily="2" charset="-34"/>
              </a:rPr>
              <a:t> The industry, as defined by the analyst's coverage universe, is expected to underperform the relevant primary market index over the next 12 months.</a:t>
            </a:r>
          </a:p>
        </p:txBody>
      </p:sp>
      <p:pic>
        <p:nvPicPr>
          <p:cNvPr id="2" name="Picture 2">
            <a:extLst>
              <a:ext uri="{FF2B5EF4-FFF2-40B4-BE49-F238E27FC236}">
                <a16:creationId xmlns:a16="http://schemas.microsoft.com/office/drawing/2014/main" id="{68EBA98D-DAEB-71F6-F8D5-DDD9F3BDDDE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0823" y="107504"/>
            <a:ext cx="731838"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Straight Connector 2">
            <a:extLst>
              <a:ext uri="{FF2B5EF4-FFF2-40B4-BE49-F238E27FC236}">
                <a16:creationId xmlns:a16="http://schemas.microsoft.com/office/drawing/2014/main" id="{7E2E67D1-A25A-2469-0444-85CC17E609CB}"/>
              </a:ext>
            </a:extLst>
          </p:cNvPr>
          <p:cNvCxnSpPr/>
          <p:nvPr/>
        </p:nvCxnSpPr>
        <p:spPr>
          <a:xfrm>
            <a:off x="1254791" y="190033"/>
            <a:ext cx="0" cy="108000"/>
          </a:xfrm>
          <a:prstGeom prst="line">
            <a:avLst/>
          </a:prstGeom>
          <a:ln w="1905">
            <a:solidFill>
              <a:srgbClr val="00206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FD7DE02-ED03-5EC3-18A3-C3FFFC2FDA4D}"/>
              </a:ext>
            </a:extLst>
          </p:cNvPr>
          <p:cNvSpPr txBox="1"/>
          <p:nvPr/>
        </p:nvSpPr>
        <p:spPr>
          <a:xfrm>
            <a:off x="332656" y="30656"/>
            <a:ext cx="970575" cy="184666"/>
          </a:xfrm>
          <a:prstGeom prst="rect">
            <a:avLst/>
          </a:prstGeom>
          <a:noFill/>
        </p:spPr>
        <p:txBody>
          <a:bodyPr wrap="square">
            <a:spAutoFit/>
          </a:bodyPr>
          <a:lstStyle/>
          <a:p>
            <a:pPr algn="r"/>
            <a:r>
              <a:rPr lang="en-US" sz="600" b="1" dirty="0">
                <a:solidFill>
                  <a:srgbClr val="CCAE8A"/>
                </a:solidFill>
                <a:latin typeface="Aharoni" panose="020F0502020204030204" pitchFamily="2" charset="-79"/>
                <a:ea typeface="Tahoma" pitchFamily="34" charset="0"/>
                <a:cs typeface="Aharoni" panose="020F0502020204030204" pitchFamily="2" charset="-79"/>
              </a:rPr>
              <a:t>BLS WEALTH</a:t>
            </a:r>
            <a:endParaRPr lang="th-TH" sz="5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10" name="TextBox 9">
            <a:extLst>
              <a:ext uri="{FF2B5EF4-FFF2-40B4-BE49-F238E27FC236}">
                <a16:creationId xmlns:a16="http://schemas.microsoft.com/office/drawing/2014/main" id="{13DF9989-335C-A019-5306-81DB174F4CC4}"/>
              </a:ext>
            </a:extLst>
          </p:cNvPr>
          <p:cNvSpPr txBox="1"/>
          <p:nvPr/>
        </p:nvSpPr>
        <p:spPr>
          <a:xfrm>
            <a:off x="1207813" y="131801"/>
            <a:ext cx="1411131" cy="230832"/>
          </a:xfrm>
          <a:prstGeom prst="rect">
            <a:avLst/>
          </a:prstGeom>
          <a:noFill/>
        </p:spPr>
        <p:txBody>
          <a:bodyPr wrap="square" rtlCol="0">
            <a:spAutoFit/>
          </a:bodyPr>
          <a:lstStyle/>
          <a:p>
            <a:r>
              <a:rPr lang="en-US" sz="450" b="1" dirty="0">
                <a:solidFill>
                  <a:schemeClr val="accent3"/>
                </a:solidFill>
                <a:latin typeface="Arial" pitchFamily="34" charset="0"/>
                <a:cs typeface="Arial" pitchFamily="34" charset="0"/>
              </a:rPr>
              <a:t>Data-driven</a:t>
            </a:r>
            <a:endParaRPr lang="th-TH" sz="450" b="1" dirty="0">
              <a:solidFill>
                <a:schemeClr val="accent3"/>
              </a:solidFill>
              <a:latin typeface="Arial" pitchFamily="34" charset="0"/>
              <a:cs typeface="Arial" pitchFamily="34" charset="0"/>
            </a:endParaRPr>
          </a:p>
          <a:p>
            <a:r>
              <a:rPr lang="en-US" sz="450" b="1" dirty="0">
                <a:solidFill>
                  <a:schemeClr val="tx2"/>
                </a:solidFill>
                <a:latin typeface="Arial" pitchFamily="34" charset="0"/>
                <a:cs typeface="Arial" pitchFamily="34" charset="0"/>
              </a:rPr>
              <a:t>RESEARCH</a:t>
            </a:r>
          </a:p>
        </p:txBody>
      </p:sp>
    </p:spTree>
    <p:extLst>
      <p:ext uri="{BB962C8B-B14F-4D97-AF65-F5344CB8AC3E}">
        <p14:creationId xmlns:p14="http://schemas.microsoft.com/office/powerpoint/2010/main" val="2177988180"/>
      </p:ext>
    </p:extLst>
  </p:cSld>
  <p:clrMapOvr>
    <a:masterClrMapping/>
  </p:clrMapOvr>
</p:sld>
</file>

<file path=ppt/theme/theme1.xml><?xml version="1.0" encoding="utf-8"?>
<a:theme xmlns:a="http://schemas.openxmlformats.org/drawingml/2006/main" name="Office Theme">
  <a:themeElements>
    <a:clrScheme name="BLS">
      <a:dk1>
        <a:sysClr val="windowText" lastClr="000000"/>
      </a:dk1>
      <a:lt1>
        <a:sysClr val="window" lastClr="FFFFFF"/>
      </a:lt1>
      <a:dk2>
        <a:srgbClr val="1F497D"/>
      </a:dk2>
      <a:lt2>
        <a:srgbClr val="EEECE1"/>
      </a:lt2>
      <a:accent1>
        <a:srgbClr val="215968"/>
      </a:accent1>
      <a:accent2>
        <a:srgbClr val="A17D3D"/>
      </a:accent2>
      <a:accent3>
        <a:srgbClr val="AC1D3F"/>
      </a:accent3>
      <a:accent4>
        <a:srgbClr val="162A4C"/>
      </a:accent4>
      <a:accent5>
        <a:srgbClr val="A6A6A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149791</TotalTime>
  <Words>2800</Words>
  <Application>Microsoft Office PowerPoint</Application>
  <PresentationFormat>On-screen Show (4:3)</PresentationFormat>
  <Paragraphs>174</Paragraphs>
  <Slides>5</Slides>
  <Notes>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vt:i4>
      </vt:variant>
    </vt:vector>
  </HeadingPairs>
  <TitlesOfParts>
    <vt:vector size="15" baseType="lpstr">
      <vt:lpstr>Aharoni</vt:lpstr>
      <vt:lpstr>Arial</vt:lpstr>
      <vt:lpstr>BLS</vt:lpstr>
      <vt:lpstr>BLS Bold</vt:lpstr>
      <vt:lpstr>BLS Condensed</vt:lpstr>
      <vt:lpstr>BLS Condensed </vt:lpstr>
      <vt:lpstr>BLS Condensed Bold</vt:lpstr>
      <vt:lpstr>BLS Text</vt:lpstr>
      <vt:lpstr>Calibri</vt:lpstr>
      <vt:lpstr>Office Theme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sfsdfds</dc:title>
  <dc:creator>Nuttimas Akarapanuvitaya</dc:creator>
  <cp:lastModifiedBy>Piriyapon Kongvanich</cp:lastModifiedBy>
  <cp:revision>5046</cp:revision>
  <cp:lastPrinted>2024-11-19T12:54:25Z</cp:lastPrinted>
  <dcterms:created xsi:type="dcterms:W3CDTF">2019-01-16T11:18:39Z</dcterms:created>
  <dcterms:modified xsi:type="dcterms:W3CDTF">2026-05-08T07:42:51Z</dcterms:modified>
</cp:coreProperties>
</file>