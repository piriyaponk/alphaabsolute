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
  </p:notesMasterIdLst>
  <p:sldIdLst>
    <p:sldId id="410" r:id="rId2"/>
    <p:sldId id="567" r:id="rId3"/>
    <p:sldId id="568" r:id="rId4"/>
    <p:sldId id="569" r:id="rId5"/>
    <p:sldId id="570" r:id="rId6"/>
    <p:sldId id="563" r:id="rId7"/>
    <p:sldId id="353" r:id="rId8"/>
    <p:sldId id="354" r:id="rId9"/>
  </p:sldIdLst>
  <p:sldSz cx="6858000" cy="9144000" type="screen4x3"/>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420" userDrawn="1">
          <p15:clr>
            <a:srgbClr val="A4A3A4"/>
          </p15:clr>
        </p15:guide>
        <p15:guide id="2" pos="2160">
          <p15:clr>
            <a:srgbClr val="A4A3A4"/>
          </p15:clr>
        </p15:guide>
      </p15:sldGuideLst>
    </p:ext>
    <p:ext uri="{2D200454-40CA-4A62-9FC3-DE9A4176ACB9}">
      <p15:notesGuideLst xmlns:p15="http://schemas.microsoft.com/office/powerpoint/2012/main">
        <p15:guide id="1" orient="horz" pos="3130"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5968"/>
    <a:srgbClr val="EDEDED"/>
    <a:srgbClr val="FFCCCC"/>
    <a:srgbClr val="A17D3D"/>
    <a:srgbClr val="F2F2F2"/>
    <a:srgbClr val="AC1D3F"/>
    <a:srgbClr val="1C3765"/>
    <a:srgbClr val="A6A6A6"/>
    <a:srgbClr val="162A4C"/>
    <a:srgbClr val="2D7A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814" autoAdjust="0"/>
    <p:restoredTop sz="96357" autoAdjust="0"/>
  </p:normalViewPr>
  <p:slideViewPr>
    <p:cSldViewPr>
      <p:cViewPr>
        <p:scale>
          <a:sx n="90" d="100"/>
          <a:sy n="90" d="100"/>
        </p:scale>
        <p:origin x="1260" y="-294"/>
      </p:cViewPr>
      <p:guideLst>
        <p:guide orient="horz" pos="5420"/>
        <p:guide pos="2160"/>
      </p:guideLst>
    </p:cSldViewPr>
  </p:slideViewPr>
  <p:notesTextViewPr>
    <p:cViewPr>
      <p:scale>
        <a:sx n="150" d="100"/>
        <a:sy n="150" d="100"/>
      </p:scale>
      <p:origin x="0" y="0"/>
    </p:cViewPr>
  </p:notesTextViewPr>
  <p:notesViewPr>
    <p:cSldViewPr>
      <p:cViewPr varScale="1">
        <p:scale>
          <a:sx n="75" d="100"/>
          <a:sy n="75" d="100"/>
        </p:scale>
        <p:origin x="-4020" y="-84"/>
      </p:cViewPr>
      <p:guideLst>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6" y="6"/>
            <a:ext cx="2949533" cy="496427"/>
          </a:xfrm>
          <a:prstGeom prst="rect">
            <a:avLst/>
          </a:prstGeom>
        </p:spPr>
        <p:txBody>
          <a:bodyPr vert="horz" lIns="88249" tIns="44125" rIns="88249" bIns="44125" rtlCol="0"/>
          <a:lstStyle>
            <a:lvl1pPr algn="l">
              <a:defRPr sz="1200"/>
            </a:lvl1pPr>
          </a:lstStyle>
          <a:p>
            <a:endParaRPr lang="en-US"/>
          </a:p>
        </p:txBody>
      </p:sp>
      <p:sp>
        <p:nvSpPr>
          <p:cNvPr id="3" name="Date Placeholder 2"/>
          <p:cNvSpPr>
            <a:spLocks noGrp="1"/>
          </p:cNvSpPr>
          <p:nvPr>
            <p:ph type="dt" idx="1"/>
          </p:nvPr>
        </p:nvSpPr>
        <p:spPr>
          <a:xfrm>
            <a:off x="3856146" y="6"/>
            <a:ext cx="2949532" cy="496427"/>
          </a:xfrm>
          <a:prstGeom prst="rect">
            <a:avLst/>
          </a:prstGeom>
        </p:spPr>
        <p:txBody>
          <a:bodyPr vert="horz" lIns="88249" tIns="44125" rIns="88249" bIns="44125" rtlCol="0"/>
          <a:lstStyle>
            <a:lvl1pPr algn="r">
              <a:defRPr sz="1200"/>
            </a:lvl1pPr>
          </a:lstStyle>
          <a:p>
            <a:fld id="{E0B721B7-C9AF-4FEC-A17C-5AA640F24497}" type="datetimeFigureOut">
              <a:rPr lang="en-US" smtClean="0"/>
              <a:t>26-Apr-26</a:t>
            </a:fld>
            <a:endParaRPr lang="en-US"/>
          </a:p>
        </p:txBody>
      </p:sp>
      <p:sp>
        <p:nvSpPr>
          <p:cNvPr id="4" name="Slide Image Placeholder 3"/>
          <p:cNvSpPr>
            <a:spLocks noGrp="1" noRot="1" noChangeAspect="1"/>
          </p:cNvSpPr>
          <p:nvPr>
            <p:ph type="sldImg" idx="2"/>
          </p:nvPr>
        </p:nvSpPr>
        <p:spPr>
          <a:xfrm>
            <a:off x="2006600" y="746125"/>
            <a:ext cx="2794000" cy="3725863"/>
          </a:xfrm>
          <a:prstGeom prst="rect">
            <a:avLst/>
          </a:prstGeom>
          <a:noFill/>
          <a:ln w="12700">
            <a:solidFill>
              <a:prstClr val="black"/>
            </a:solidFill>
          </a:ln>
        </p:spPr>
        <p:txBody>
          <a:bodyPr vert="horz" lIns="88249" tIns="44125" rIns="88249" bIns="44125" rtlCol="0" anchor="ctr"/>
          <a:lstStyle/>
          <a:p>
            <a:endParaRPr lang="en-US"/>
          </a:p>
        </p:txBody>
      </p:sp>
      <p:sp>
        <p:nvSpPr>
          <p:cNvPr id="5" name="Notes Placeholder 4"/>
          <p:cNvSpPr>
            <a:spLocks noGrp="1"/>
          </p:cNvSpPr>
          <p:nvPr>
            <p:ph type="body" sz="quarter" idx="3"/>
          </p:nvPr>
        </p:nvSpPr>
        <p:spPr>
          <a:xfrm>
            <a:off x="681480" y="4720684"/>
            <a:ext cx="5445760" cy="4472471"/>
          </a:xfrm>
          <a:prstGeom prst="rect">
            <a:avLst/>
          </a:prstGeom>
        </p:spPr>
        <p:txBody>
          <a:bodyPr vert="horz" lIns="88249" tIns="44125" rIns="88249" bIns="4412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6" y="9441374"/>
            <a:ext cx="2949533" cy="496427"/>
          </a:xfrm>
          <a:prstGeom prst="rect">
            <a:avLst/>
          </a:prstGeom>
        </p:spPr>
        <p:txBody>
          <a:bodyPr vert="horz" lIns="88249" tIns="44125" rIns="88249" bIns="44125" rtlCol="0" anchor="b"/>
          <a:lstStyle>
            <a:lvl1pPr algn="l">
              <a:defRPr sz="1200"/>
            </a:lvl1pPr>
          </a:lstStyle>
          <a:p>
            <a:endParaRPr lang="en-US"/>
          </a:p>
        </p:txBody>
      </p:sp>
      <p:sp>
        <p:nvSpPr>
          <p:cNvPr id="7" name="Slide Number Placeholder 6"/>
          <p:cNvSpPr>
            <a:spLocks noGrp="1"/>
          </p:cNvSpPr>
          <p:nvPr>
            <p:ph type="sldNum" sz="quarter" idx="5"/>
          </p:nvPr>
        </p:nvSpPr>
        <p:spPr>
          <a:xfrm>
            <a:off x="3856146" y="9441374"/>
            <a:ext cx="2949532" cy="496427"/>
          </a:xfrm>
          <a:prstGeom prst="rect">
            <a:avLst/>
          </a:prstGeom>
        </p:spPr>
        <p:txBody>
          <a:bodyPr vert="horz" lIns="88249" tIns="44125" rIns="88249" bIns="44125" rtlCol="0" anchor="b"/>
          <a:lstStyle>
            <a:lvl1pPr algn="r">
              <a:defRPr sz="1200"/>
            </a:lvl1pPr>
          </a:lstStyle>
          <a:p>
            <a:fld id="{2CD61325-C3CE-4DCC-9429-B8D45AC53B9F}" type="slidenum">
              <a:rPr lang="en-US" smtClean="0"/>
              <a:t>‹#›</a:t>
            </a:fld>
            <a:endParaRPr lang="en-US"/>
          </a:p>
        </p:txBody>
      </p:sp>
    </p:spTree>
    <p:extLst>
      <p:ext uri="{BB962C8B-B14F-4D97-AF65-F5344CB8AC3E}">
        <p14:creationId xmlns:p14="http://schemas.microsoft.com/office/powerpoint/2010/main" val="100085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1</a:t>
            </a:fld>
            <a:endParaRPr lang="en-US"/>
          </a:p>
        </p:txBody>
      </p:sp>
    </p:spTree>
    <p:extLst>
      <p:ext uri="{BB962C8B-B14F-4D97-AF65-F5344CB8AC3E}">
        <p14:creationId xmlns:p14="http://schemas.microsoft.com/office/powerpoint/2010/main" val="301543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2</a:t>
            </a:fld>
            <a:endParaRPr lang="en-US"/>
          </a:p>
        </p:txBody>
      </p:sp>
    </p:spTree>
    <p:extLst>
      <p:ext uri="{BB962C8B-B14F-4D97-AF65-F5344CB8AC3E}">
        <p14:creationId xmlns:p14="http://schemas.microsoft.com/office/powerpoint/2010/main" val="31786807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3</a:t>
            </a:fld>
            <a:endParaRPr lang="en-US"/>
          </a:p>
        </p:txBody>
      </p:sp>
    </p:spTree>
    <p:extLst>
      <p:ext uri="{BB962C8B-B14F-4D97-AF65-F5344CB8AC3E}">
        <p14:creationId xmlns:p14="http://schemas.microsoft.com/office/powerpoint/2010/main" val="4102819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4</a:t>
            </a:fld>
            <a:endParaRPr lang="en-US"/>
          </a:p>
        </p:txBody>
      </p:sp>
    </p:spTree>
    <p:extLst>
      <p:ext uri="{BB962C8B-B14F-4D97-AF65-F5344CB8AC3E}">
        <p14:creationId xmlns:p14="http://schemas.microsoft.com/office/powerpoint/2010/main" val="31632981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5</a:t>
            </a:fld>
            <a:endParaRPr lang="en-US"/>
          </a:p>
        </p:txBody>
      </p:sp>
    </p:spTree>
    <p:extLst>
      <p:ext uri="{BB962C8B-B14F-4D97-AF65-F5344CB8AC3E}">
        <p14:creationId xmlns:p14="http://schemas.microsoft.com/office/powerpoint/2010/main" val="27370254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6</a:t>
            </a:fld>
            <a:endParaRPr lang="en-US"/>
          </a:p>
        </p:txBody>
      </p:sp>
    </p:spTree>
    <p:extLst>
      <p:ext uri="{BB962C8B-B14F-4D97-AF65-F5344CB8AC3E}">
        <p14:creationId xmlns:p14="http://schemas.microsoft.com/office/powerpoint/2010/main" val="2398449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D61325-C3CE-4DCC-9429-B8D45AC53B9F}" type="slidenum">
              <a:rPr lang="en-US" smtClean="0"/>
              <a:t>7</a:t>
            </a:fld>
            <a:endParaRPr lang="en-US"/>
          </a:p>
        </p:txBody>
      </p:sp>
    </p:spTree>
    <p:extLst>
      <p:ext uri="{BB962C8B-B14F-4D97-AF65-F5344CB8AC3E}">
        <p14:creationId xmlns:p14="http://schemas.microsoft.com/office/powerpoint/2010/main" val="837200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840568"/>
            <a:ext cx="5829300" cy="1960033"/>
          </a:xfrm>
        </p:spPr>
        <p:txBody>
          <a:bodyPr/>
          <a:lstStyle/>
          <a:p>
            <a:r>
              <a:rPr lang="en-US"/>
              <a:t>Click to edit Master title style</a:t>
            </a:r>
          </a:p>
        </p:txBody>
      </p:sp>
      <p:sp>
        <p:nvSpPr>
          <p:cNvPr id="3" name="Subtitl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047A014-A296-4BC7-B627-8AC2C71DC79A}" type="datetime1">
              <a:rPr lang="en-US" smtClean="0"/>
              <a:t>26-Apr-26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95813307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DB215-8979-4C4B-8BFF-594D56AA267D}" type="datetime1">
              <a:rPr lang="en-US" smtClean="0"/>
              <a:t>26-Apr-26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2975940730"/>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5875867"/>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CDC7C3-8DAC-42B5-992E-67718E4C44E5}" type="datetime1">
              <a:rPr lang="en-US" smtClean="0"/>
              <a:t>26-Apr-26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4183853049"/>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922C08-459E-4CD8-B5EB-31D4A04C5811}" type="datetime1">
              <a:rPr lang="en-US" smtClean="0"/>
              <a:t>26-Apr-26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3487619625"/>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184"/>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2B8B4D-A61B-4297-B86B-E166B5F5EE8D}" type="datetime1">
              <a:rPr lang="en-US" smtClean="0"/>
              <a:t>26-Apr-26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633737455"/>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01687B9-2387-4B48-9744-8FAC5A1118EE}" type="datetime1">
              <a:rPr lang="en-US" smtClean="0"/>
              <a:t>26-Apr-26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1819670914"/>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5B9114-7087-471F-AF84-A0410930461A}" type="datetime1">
              <a:rPr lang="en-US" smtClean="0"/>
              <a:t>26-Apr-26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98396679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4067"/>
            <a:ext cx="2256235"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F0D1AB-4ECA-4B83-BD72-A342722AC28A}" type="datetime1">
              <a:rPr lang="en-US" smtClean="0"/>
              <a:t>26-Apr-26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544862049"/>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6400800"/>
            <a:ext cx="4114800" cy="755651"/>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E8CDB0-7FCC-4FCC-8459-EB9C4EEE4A94}" type="datetime1">
              <a:rPr lang="en-US" smtClean="0"/>
              <a:t>26-Apr-26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4174542708"/>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A88985-0A44-49F4-87FE-C728C8ADB646}" type="datetime1">
              <a:rPr lang="en-US" smtClean="0"/>
              <a:t>26-Apr-26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237131110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729037" y="488951"/>
            <a:ext cx="1157288" cy="10401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57175" y="488951"/>
            <a:ext cx="3357563" cy="10401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6D9C90-B8D6-4F33-9BC1-9F057637A2EC}" type="datetime1">
              <a:rPr lang="en-US" smtClean="0"/>
              <a:t>26-Apr-26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1897748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0A8762D2-009C-48A5-857B-14D015A0005E}" type="datetime1">
              <a:rPr lang="en-US" smtClean="0"/>
              <a:t>26-Apr-26</a:t>
            </a:fld>
            <a:endParaRPr lang="en-US"/>
          </a:p>
        </p:txBody>
      </p:sp>
      <p:sp>
        <p:nvSpPr>
          <p:cNvPr id="5" name="Footer Placeholder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10452F14-DDA8-46AC-9FFA-A749C5B763D3}" type="slidenum">
              <a:rPr lang="en-US" smtClean="0"/>
              <a:t>‹#›</a:t>
            </a:fld>
            <a:endParaRPr lang="en-US"/>
          </a:p>
        </p:txBody>
      </p:sp>
      <p:sp>
        <p:nvSpPr>
          <p:cNvPr id="7" name="TextBox 6">
            <a:extLst>
              <a:ext uri="{FF2B5EF4-FFF2-40B4-BE49-F238E27FC236}">
                <a16:creationId xmlns:a16="http://schemas.microsoft.com/office/drawing/2014/main" id="{5A981C10-AEFA-B2EB-219B-8A42B27A49D4}"/>
              </a:ext>
            </a:extLst>
          </p:cNvPr>
          <p:cNvSpPr txBox="1"/>
          <p:nvPr userDrawn="1"/>
        </p:nvSpPr>
        <p:spPr>
          <a:xfrm>
            <a:off x="5373216" y="8821052"/>
            <a:ext cx="1440160" cy="215444"/>
          </a:xfrm>
          <a:prstGeom prst="rect">
            <a:avLst/>
          </a:prstGeom>
          <a:noFill/>
        </p:spPr>
        <p:txBody>
          <a:bodyPr wrap="square">
            <a:spAutoFit/>
          </a:bodyPr>
          <a:lstStyle/>
          <a:p>
            <a:r>
              <a:rPr lang="en-US" sz="800" b="0" dirty="0">
                <a:solidFill>
                  <a:schemeClr val="bg1">
                    <a:lumMod val="50000"/>
                  </a:schemeClr>
                </a:solidFill>
                <a:effectLst/>
                <a:latin typeface="Arial" panose="020B0604020202020204" pitchFamily="34" charset="0"/>
                <a:ea typeface="Times New Roman" panose="02020603050405020304" pitchFamily="18" charset="0"/>
                <a:cs typeface="Arial" panose="020B0604020202020204" pitchFamily="34" charset="0"/>
              </a:rPr>
              <a:t>      Wealth Strategy </a:t>
            </a:r>
            <a:fld id="{10452F14-DDA8-46AC-9FFA-A749C5B763D3}" type="slidenum">
              <a:rPr lang="en-US" sz="800" b="0" smtClean="0">
                <a:solidFill>
                  <a:schemeClr val="bg1">
                    <a:lumMod val="50000"/>
                  </a:schemeClr>
                </a:solidFill>
                <a:latin typeface="Arial" panose="020B0604020202020204" pitchFamily="34" charset="0"/>
                <a:cs typeface="Arial" panose="020B0604020202020204" pitchFamily="34" charset="0"/>
              </a:rPr>
              <a:pPr/>
              <a:t>‹#›</a:t>
            </a:fld>
            <a:r>
              <a:rPr lang="en-US" sz="800" b="0" dirty="0">
                <a:solidFill>
                  <a:schemeClr val="bg1">
                    <a:lumMod val="50000"/>
                  </a:schemeClr>
                </a:solidFill>
                <a:effectLst/>
                <a:latin typeface="Arial" panose="020B0604020202020204" pitchFamily="34" charset="0"/>
                <a:ea typeface="Times New Roman" panose="02020603050405020304" pitchFamily="18" charset="0"/>
                <a:cs typeface="Arial" panose="020B0604020202020204" pitchFamily="34" charset="0"/>
              </a:rPr>
              <a:t> </a:t>
            </a:r>
            <a:endParaRPr lang="en-US" sz="800" b="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2198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emf"/><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1.png"/><Relationship Id="rId7" Type="http://schemas.openxmlformats.org/officeDocument/2006/relationships/image" Target="../media/image6.emf"/><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5.png"/><Relationship Id="rId4" Type="http://schemas.microsoft.com/office/2007/relationships/hdphoto" Target="../media/hdphoto1.wdp"/><Relationship Id="rId9" Type="http://schemas.openxmlformats.org/officeDocument/2006/relationships/image" Target="../media/image8.emf"/></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5.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emf"/><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5.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emf"/><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5.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emf"/><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5.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emf"/></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3959"/>
          <a:stretch/>
        </p:blipFill>
        <p:spPr>
          <a:xfrm>
            <a:off x="0" y="0"/>
            <a:ext cx="6858000" cy="9144000"/>
          </a:xfrm>
          <a:prstGeom prst="rect">
            <a:avLst/>
          </a:prstGeom>
        </p:spPr>
      </p:pic>
      <p:sp>
        <p:nvSpPr>
          <p:cNvPr id="19" name="TextBox 18">
            <a:extLst>
              <a:ext uri="{FF2B5EF4-FFF2-40B4-BE49-F238E27FC236}">
                <a16:creationId xmlns:a16="http://schemas.microsoft.com/office/drawing/2014/main" id="{01D3EDA3-679C-BA8B-9EDE-9A31378F2861}"/>
              </a:ext>
            </a:extLst>
          </p:cNvPr>
          <p:cNvSpPr txBox="1"/>
          <p:nvPr/>
        </p:nvSpPr>
        <p:spPr>
          <a:xfrm>
            <a:off x="658256" y="2649508"/>
            <a:ext cx="72008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12 ธ.ค. </a:t>
            </a:r>
          </a:p>
        </p:txBody>
      </p:sp>
      <p:sp>
        <p:nvSpPr>
          <p:cNvPr id="20" name="TextBox 19">
            <a:extLst>
              <a:ext uri="{FF2B5EF4-FFF2-40B4-BE49-F238E27FC236}">
                <a16:creationId xmlns:a16="http://schemas.microsoft.com/office/drawing/2014/main" id="{FC28B75D-C3AA-F0C5-6200-83DB873637CB}"/>
              </a:ext>
            </a:extLst>
          </p:cNvPr>
          <p:cNvSpPr txBox="1"/>
          <p:nvPr/>
        </p:nvSpPr>
        <p:spPr>
          <a:xfrm>
            <a:off x="531946" y="2641334"/>
            <a:ext cx="904643"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ราชกิจจาประกาศยุบสภา</a:t>
            </a:r>
          </a:p>
        </p:txBody>
      </p:sp>
      <p:sp>
        <p:nvSpPr>
          <p:cNvPr id="21" name="TextBox 20">
            <a:extLst>
              <a:ext uri="{FF2B5EF4-FFF2-40B4-BE49-F238E27FC236}">
                <a16:creationId xmlns:a16="http://schemas.microsoft.com/office/drawing/2014/main" id="{C1FE4F51-5E04-9485-3236-75E85E050C64}"/>
              </a:ext>
            </a:extLst>
          </p:cNvPr>
          <p:cNvSpPr txBox="1"/>
          <p:nvPr/>
        </p:nvSpPr>
        <p:spPr>
          <a:xfrm>
            <a:off x="1497212"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13-17 ธ.ค.</a:t>
            </a:r>
          </a:p>
        </p:txBody>
      </p:sp>
      <p:sp>
        <p:nvSpPr>
          <p:cNvPr id="25" name="TextBox 24">
            <a:extLst>
              <a:ext uri="{FF2B5EF4-FFF2-40B4-BE49-F238E27FC236}">
                <a16:creationId xmlns:a16="http://schemas.microsoft.com/office/drawing/2014/main" id="{D3C2255B-69C2-3386-D320-629A8A4034DA}"/>
              </a:ext>
            </a:extLst>
          </p:cNvPr>
          <p:cNvSpPr txBox="1"/>
          <p:nvPr/>
        </p:nvSpPr>
        <p:spPr>
          <a:xfrm>
            <a:off x="2319090"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20-28 ธ.ค.</a:t>
            </a:r>
          </a:p>
        </p:txBody>
      </p:sp>
      <p:sp>
        <p:nvSpPr>
          <p:cNvPr id="26" name="TextBox 25">
            <a:extLst>
              <a:ext uri="{FF2B5EF4-FFF2-40B4-BE49-F238E27FC236}">
                <a16:creationId xmlns:a16="http://schemas.microsoft.com/office/drawing/2014/main" id="{5999F6F0-82E9-12DE-4CF8-661B374D7BDF}"/>
              </a:ext>
            </a:extLst>
          </p:cNvPr>
          <p:cNvSpPr txBox="1"/>
          <p:nvPr/>
        </p:nvSpPr>
        <p:spPr>
          <a:xfrm>
            <a:off x="3212976"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8 ก.พ.</a:t>
            </a:r>
          </a:p>
        </p:txBody>
      </p:sp>
      <p:sp>
        <p:nvSpPr>
          <p:cNvPr id="27" name="TextBox 26">
            <a:extLst>
              <a:ext uri="{FF2B5EF4-FFF2-40B4-BE49-F238E27FC236}">
                <a16:creationId xmlns:a16="http://schemas.microsoft.com/office/drawing/2014/main" id="{F8D73585-35FB-F0D5-2763-F6BB3312E8F0}"/>
              </a:ext>
            </a:extLst>
          </p:cNvPr>
          <p:cNvSpPr txBox="1"/>
          <p:nvPr/>
        </p:nvSpPr>
        <p:spPr>
          <a:xfrm>
            <a:off x="3872662" y="2653338"/>
            <a:ext cx="878577"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มี.ค.- ต้น เม.ย.</a:t>
            </a:r>
          </a:p>
        </p:txBody>
      </p:sp>
      <p:sp>
        <p:nvSpPr>
          <p:cNvPr id="28" name="TextBox 27">
            <a:extLst>
              <a:ext uri="{FF2B5EF4-FFF2-40B4-BE49-F238E27FC236}">
                <a16:creationId xmlns:a16="http://schemas.microsoft.com/office/drawing/2014/main" id="{4CEC07A3-D6A0-E1B2-370E-DB8B4F43D9B9}"/>
              </a:ext>
            </a:extLst>
          </p:cNvPr>
          <p:cNvSpPr txBox="1"/>
          <p:nvPr/>
        </p:nvSpPr>
        <p:spPr>
          <a:xfrm>
            <a:off x="4731749" y="2655699"/>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เม.ย.</a:t>
            </a:r>
          </a:p>
        </p:txBody>
      </p:sp>
      <p:sp>
        <p:nvSpPr>
          <p:cNvPr id="29" name="TextBox 28">
            <a:extLst>
              <a:ext uri="{FF2B5EF4-FFF2-40B4-BE49-F238E27FC236}">
                <a16:creationId xmlns:a16="http://schemas.microsoft.com/office/drawing/2014/main" id="{3010FF72-72AB-A1E4-8365-3636CBE05B6A}"/>
              </a:ext>
            </a:extLst>
          </p:cNvPr>
          <p:cNvSpPr txBox="1"/>
          <p:nvPr/>
        </p:nvSpPr>
        <p:spPr>
          <a:xfrm>
            <a:off x="5511409" y="2649965"/>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พ.ค.</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2641334"/>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2637439"/>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4" name="TextBox 33">
            <a:extLst>
              <a:ext uri="{FF2B5EF4-FFF2-40B4-BE49-F238E27FC236}">
                <a16:creationId xmlns:a16="http://schemas.microsoft.com/office/drawing/2014/main" id="{7E062017-FAEE-96BF-D26F-89DCC0880C8E}"/>
              </a:ext>
            </a:extLst>
          </p:cNvPr>
          <p:cNvSpPr txBox="1"/>
          <p:nvPr/>
        </p:nvSpPr>
        <p:spPr>
          <a:xfrm>
            <a:off x="3072457" y="2661863"/>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เลือกตั้ง</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2667080"/>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2658083"/>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sp>
        <p:nvSpPr>
          <p:cNvPr id="38" name="TextBox 37">
            <a:extLst>
              <a:ext uri="{FF2B5EF4-FFF2-40B4-BE49-F238E27FC236}">
                <a16:creationId xmlns:a16="http://schemas.microsoft.com/office/drawing/2014/main" id="{BFC4648D-0610-3B7B-438F-BDB5A8586805}"/>
              </a:ext>
            </a:extLst>
          </p:cNvPr>
          <p:cNvSpPr txBox="1"/>
          <p:nvPr/>
        </p:nvSpPr>
        <p:spPr>
          <a:xfrm>
            <a:off x="5509560" y="2658083"/>
            <a:ext cx="1125089"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รัฐบาลใหม่</a:t>
            </a:r>
          </a:p>
        </p:txBody>
      </p:sp>
      <p:sp>
        <p:nvSpPr>
          <p:cNvPr id="24" name="TextBox 23">
            <a:extLst>
              <a:ext uri="{FF2B5EF4-FFF2-40B4-BE49-F238E27FC236}">
                <a16:creationId xmlns:a16="http://schemas.microsoft.com/office/drawing/2014/main" id="{8C8CCC20-1C5E-6125-6A36-E7FC910AC4BE}"/>
              </a:ext>
            </a:extLst>
          </p:cNvPr>
          <p:cNvSpPr txBox="1"/>
          <p:nvPr/>
        </p:nvSpPr>
        <p:spPr>
          <a:xfrm>
            <a:off x="5517232" y="454697"/>
            <a:ext cx="1196244" cy="246221"/>
          </a:xfrm>
          <a:prstGeom prst="rect">
            <a:avLst/>
          </a:prstGeom>
          <a:noFill/>
        </p:spPr>
        <p:txBody>
          <a:bodyPr wrap="square" rtlCol="0">
            <a:spAutoFit/>
          </a:bodyPr>
          <a:lstStyle/>
          <a:p>
            <a:r>
              <a:rPr lang="en-US" sz="1000" b="1" dirty="0">
                <a:solidFill>
                  <a:schemeClr val="tx2"/>
                </a:solidFill>
                <a:latin typeface="BLS Bold" panose="00000800000000000000" pitchFamily="50" charset="-34"/>
                <a:cs typeface="BLS Bold" panose="00000800000000000000" pitchFamily="50" charset="-34"/>
              </a:rPr>
              <a:t>April </a:t>
            </a:r>
            <a:r>
              <a:rPr lang="th-TH" sz="1000" b="1" dirty="0">
                <a:solidFill>
                  <a:schemeClr val="tx2"/>
                </a:solidFill>
                <a:latin typeface="BLS Bold" panose="00000800000000000000" pitchFamily="50" charset="-34"/>
                <a:cs typeface="BLS Bold" panose="00000800000000000000" pitchFamily="50" charset="-34"/>
              </a:rPr>
              <a:t>2</a:t>
            </a:r>
            <a:r>
              <a:rPr lang="en-US" sz="1000" b="1" dirty="0">
                <a:solidFill>
                  <a:schemeClr val="tx2"/>
                </a:solidFill>
                <a:latin typeface="BLS Bold" panose="00000800000000000000" pitchFamily="50" charset="-34"/>
                <a:cs typeface="BLS Bold" panose="00000800000000000000" pitchFamily="50" charset="-34"/>
              </a:rPr>
              <a:t>7, 2026</a:t>
            </a:r>
          </a:p>
        </p:txBody>
      </p:sp>
      <p:pic>
        <p:nvPicPr>
          <p:cNvPr id="40" name="Picture 2">
            <a:extLst>
              <a:ext uri="{FF2B5EF4-FFF2-40B4-BE49-F238E27FC236}">
                <a16:creationId xmlns:a16="http://schemas.microsoft.com/office/drawing/2014/main" id="{D40CF1FE-6670-0F86-7CBF-4A474C22E170}"/>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3218" y="194588"/>
            <a:ext cx="1725613"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Box 41">
            <a:extLst>
              <a:ext uri="{FF2B5EF4-FFF2-40B4-BE49-F238E27FC236}">
                <a16:creationId xmlns:a16="http://schemas.microsoft.com/office/drawing/2014/main" id="{E1F831D5-46CB-EB78-341D-EACF1E4B4898}"/>
              </a:ext>
            </a:extLst>
          </p:cNvPr>
          <p:cNvSpPr txBox="1"/>
          <p:nvPr/>
        </p:nvSpPr>
        <p:spPr>
          <a:xfrm>
            <a:off x="1162281" y="138550"/>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44" name="TextBox 43">
            <a:extLst>
              <a:ext uri="{FF2B5EF4-FFF2-40B4-BE49-F238E27FC236}">
                <a16:creationId xmlns:a16="http://schemas.microsoft.com/office/drawing/2014/main" id="{7D94CCD9-3CD7-7EBD-08D1-4EDC6069CD8F}"/>
              </a:ext>
            </a:extLst>
          </p:cNvPr>
          <p:cNvSpPr txBox="1"/>
          <p:nvPr/>
        </p:nvSpPr>
        <p:spPr>
          <a:xfrm>
            <a:off x="259758" y="539552"/>
            <a:ext cx="4825426" cy="1015663"/>
          </a:xfrm>
          <a:prstGeom prst="rect">
            <a:avLst/>
          </a:prstGeom>
          <a:noFill/>
        </p:spPr>
        <p:txBody>
          <a:bodyPr wrap="square" rtlCol="0">
            <a:spAutoFit/>
          </a:bodyPr>
          <a:lstStyle/>
          <a:p>
            <a:r>
              <a:rPr lang="el-GR" sz="6000" dirty="0">
                <a:solidFill>
                  <a:schemeClr val="accent3">
                    <a:lumMod val="75000"/>
                  </a:schemeClr>
                </a:solidFill>
                <a:latin typeface="BLS Condensed Bold" pitchFamily="2" charset="-34"/>
                <a:ea typeface="Tahoma" pitchFamily="34" charset="0"/>
                <a:cs typeface="BLS Condensed Bold" pitchFamily="2" charset="-34"/>
              </a:rPr>
              <a:t>α</a:t>
            </a:r>
            <a:r>
              <a:rPr lang="en-US" sz="3600" dirty="0" err="1">
                <a:latin typeface="BLS Condensed Bold" pitchFamily="2" charset="-34"/>
                <a:ea typeface="Tahoma" pitchFamily="34" charset="0"/>
                <a:cs typeface="BLS Condensed Bold" pitchFamily="2" charset="-34"/>
              </a:rPr>
              <a:t>lpha</a:t>
            </a:r>
            <a:r>
              <a:rPr lang="en-US" sz="3600" dirty="0">
                <a:latin typeface="BLS Condensed Bold" pitchFamily="2" charset="-34"/>
                <a:ea typeface="Tahoma" pitchFamily="34" charset="0"/>
                <a:cs typeface="BLS Condensed Bold" pitchFamily="2" charset="-34"/>
              </a:rPr>
              <a:t> </a:t>
            </a:r>
            <a:r>
              <a:rPr lang="en-US" sz="3200" dirty="0">
                <a:latin typeface="BLS Condensed Bold" pitchFamily="2" charset="-34"/>
                <a:ea typeface="Tahoma" pitchFamily="34" charset="0"/>
                <a:cs typeface="BLS Condensed Bold" pitchFamily="2" charset="-34"/>
              </a:rPr>
              <a:t>PULSE </a:t>
            </a:r>
            <a:r>
              <a:rPr lang="en-US" sz="2800" b="1" dirty="0">
                <a:solidFill>
                  <a:schemeClr val="tx1">
                    <a:lumMod val="65000"/>
                    <a:lumOff val="35000"/>
                  </a:schemeClr>
                </a:solidFill>
                <a:latin typeface="BLS Condensed "/>
                <a:ea typeface="Tahoma" pitchFamily="34" charset="0"/>
                <a:cs typeface="BLS Condensed Bold" pitchFamily="2" charset="-34"/>
              </a:rPr>
              <a:t>|</a:t>
            </a:r>
            <a:r>
              <a:rPr lang="en-GB" sz="3000" dirty="0">
                <a:solidFill>
                  <a:srgbClr val="DB002A"/>
                </a:solidFill>
                <a:latin typeface="BLS Condensed Bold" pitchFamily="2" charset="-34"/>
                <a:ea typeface="Tahoma" pitchFamily="34" charset="0"/>
                <a:cs typeface="BLS Condensed Bold" pitchFamily="2" charset="-34"/>
              </a:rPr>
              <a:t> </a:t>
            </a:r>
            <a:r>
              <a:rPr lang="en-US" sz="2400" dirty="0">
                <a:solidFill>
                  <a:schemeClr val="bg1">
                    <a:lumMod val="50000"/>
                  </a:schemeClr>
                </a:solidFill>
                <a:latin typeface="BLS Condensed Bold" pitchFamily="2" charset="-34"/>
                <a:ea typeface="Tahoma" pitchFamily="34" charset="0"/>
                <a:cs typeface="BLS Condensed Bold" pitchFamily="2" charset="-34"/>
              </a:rPr>
              <a:t>W</a:t>
            </a:r>
            <a:r>
              <a:rPr lang="en-GB" sz="2400" dirty="0" err="1">
                <a:solidFill>
                  <a:schemeClr val="bg1">
                    <a:lumMod val="50000"/>
                  </a:schemeClr>
                </a:solidFill>
                <a:latin typeface="BLS Condensed Bold" pitchFamily="2" charset="-34"/>
                <a:ea typeface="Tahoma" pitchFamily="34" charset="0"/>
                <a:cs typeface="BLS Condensed Bold" pitchFamily="2" charset="-34"/>
              </a:rPr>
              <a:t>eekly</a:t>
            </a:r>
            <a:r>
              <a:rPr lang="en-GB" sz="2400" dirty="0">
                <a:solidFill>
                  <a:schemeClr val="bg1">
                    <a:lumMod val="50000"/>
                  </a:schemeClr>
                </a:solidFill>
                <a:latin typeface="BLS Condensed Bold" pitchFamily="2" charset="-34"/>
                <a:ea typeface="Tahoma" pitchFamily="34" charset="0"/>
                <a:cs typeface="BLS Condensed Bold" pitchFamily="2" charset="-34"/>
              </a:rPr>
              <a:t> strategy</a:t>
            </a:r>
            <a:endParaRPr lang="en-GB" sz="2000" dirty="0">
              <a:solidFill>
                <a:schemeClr val="bg1">
                  <a:lumMod val="50000"/>
                </a:schemeClr>
              </a:solidFill>
              <a:latin typeface="BLS Condensed Bold" pitchFamily="2" charset="-34"/>
              <a:ea typeface="Tahoma" pitchFamily="34" charset="0"/>
              <a:cs typeface="BLS Condensed Bold" pitchFamily="2" charset="-34"/>
            </a:endParaRPr>
          </a:p>
        </p:txBody>
      </p:sp>
      <p:sp>
        <p:nvSpPr>
          <p:cNvPr id="45" name="TextBox 44">
            <a:extLst>
              <a:ext uri="{FF2B5EF4-FFF2-40B4-BE49-F238E27FC236}">
                <a16:creationId xmlns:a16="http://schemas.microsoft.com/office/drawing/2014/main" id="{EDDE772F-3591-A6B2-8675-AD72CCBF567B}"/>
              </a:ext>
            </a:extLst>
          </p:cNvPr>
          <p:cNvSpPr txBox="1"/>
          <p:nvPr/>
        </p:nvSpPr>
        <p:spPr>
          <a:xfrm>
            <a:off x="106587" y="1450975"/>
            <a:ext cx="6751414" cy="330860"/>
          </a:xfrm>
          <a:prstGeom prst="rect">
            <a:avLst/>
          </a:prstGeom>
          <a:noFill/>
          <a:ln>
            <a:noFill/>
          </a:ln>
        </p:spPr>
        <p:txBody>
          <a:bodyPr wrap="square" rtlCol="0">
            <a:spAutoFit/>
          </a:bodyPr>
          <a:lstStyle/>
          <a:p>
            <a:r>
              <a:rPr lang="en-US" altLang="en-US" sz="1550" b="1" dirty="0">
                <a:solidFill>
                  <a:schemeClr val="tx2"/>
                </a:solidFill>
                <a:latin typeface="BLS Condensed" pitchFamily="2" charset="-34"/>
                <a:ea typeface="Tahoma" pitchFamily="34" charset="0"/>
                <a:cs typeface="BLS Condensed" pitchFamily="2" charset="-34"/>
              </a:rPr>
              <a:t>Buy in May and (Higher) Yield All the Way | </a:t>
            </a:r>
            <a:r>
              <a:rPr lang="th-TH" altLang="en-US" sz="1550" b="1" dirty="0">
                <a:solidFill>
                  <a:schemeClr val="tx2"/>
                </a:solidFill>
                <a:latin typeface="BLS Condensed" pitchFamily="2" charset="-34"/>
                <a:ea typeface="Tahoma" pitchFamily="34" charset="0"/>
                <a:cs typeface="BLS Condensed" pitchFamily="2" charset="-34"/>
              </a:rPr>
              <a:t>เริ่มสะสมพฤษภา เก็บเกี่ยวปันผลตลอดปี</a:t>
            </a:r>
            <a:endParaRPr lang="en-US" altLang="en-US" sz="1550" b="1" dirty="0">
              <a:solidFill>
                <a:schemeClr val="tx2"/>
              </a:solidFill>
              <a:latin typeface="BLS Condensed" pitchFamily="2" charset="-34"/>
              <a:ea typeface="Tahoma" pitchFamily="34" charset="0"/>
              <a:cs typeface="BLS Condensed" pitchFamily="2" charset="-34"/>
            </a:endParaRPr>
          </a:p>
        </p:txBody>
      </p:sp>
      <p:sp>
        <p:nvSpPr>
          <p:cNvPr id="49" name="TextBox 48">
            <a:extLst>
              <a:ext uri="{FF2B5EF4-FFF2-40B4-BE49-F238E27FC236}">
                <a16:creationId xmlns:a16="http://schemas.microsoft.com/office/drawing/2014/main" id="{5CFB5291-3F9E-F04A-57ED-EC8540FF0A70}"/>
              </a:ext>
            </a:extLst>
          </p:cNvPr>
          <p:cNvSpPr txBox="1"/>
          <p:nvPr/>
        </p:nvSpPr>
        <p:spPr>
          <a:xfrm>
            <a:off x="4039911" y="1838921"/>
            <a:ext cx="2848745" cy="246221"/>
          </a:xfrm>
          <a:prstGeom prst="rect">
            <a:avLst/>
          </a:prstGeom>
          <a:noFill/>
        </p:spPr>
        <p:txBody>
          <a:bodyPr wrap="square" rtlCol="0">
            <a:spAutoFit/>
          </a:bodyPr>
          <a:lstStyle/>
          <a:p>
            <a:r>
              <a:rPr lang="en-US" sz="1000" b="1" dirty="0">
                <a:solidFill>
                  <a:schemeClr val="tx2"/>
                </a:solidFill>
                <a:latin typeface="BLS Bold" panose="00000800000000000000" pitchFamily="2" charset="-34"/>
                <a:cs typeface="BLS Bold" panose="00000800000000000000" pitchFamily="2" charset="-34"/>
              </a:rPr>
              <a:t>SET target: 15</a:t>
            </a:r>
            <a:r>
              <a:rPr lang="th-TH" sz="1000" b="1" dirty="0">
                <a:solidFill>
                  <a:schemeClr val="tx2"/>
                </a:solidFill>
                <a:latin typeface="BLS Bold" panose="00000800000000000000" pitchFamily="2" charset="-34"/>
                <a:cs typeface="BLS Bold" panose="00000800000000000000" pitchFamily="2" charset="-34"/>
              </a:rPr>
              <a:t>5</a:t>
            </a:r>
            <a:r>
              <a:rPr lang="en-US" sz="1000" b="1" dirty="0">
                <a:solidFill>
                  <a:schemeClr val="tx2"/>
                </a:solidFill>
                <a:latin typeface="BLS Bold" panose="00000800000000000000" pitchFamily="2" charset="-34"/>
                <a:cs typeface="BLS Bold" panose="00000800000000000000" pitchFamily="2" charset="-34"/>
              </a:rPr>
              <a:t>0</a:t>
            </a:r>
          </a:p>
        </p:txBody>
      </p:sp>
      <p:cxnSp>
        <p:nvCxnSpPr>
          <p:cNvPr id="51" name="Straight Connector 50">
            <a:extLst>
              <a:ext uri="{FF2B5EF4-FFF2-40B4-BE49-F238E27FC236}">
                <a16:creationId xmlns:a16="http://schemas.microsoft.com/office/drawing/2014/main" id="{AA859AB4-FEB7-E719-3157-D4109949119E}"/>
              </a:ext>
            </a:extLst>
          </p:cNvPr>
          <p:cNvCxnSpPr>
            <a:cxnSpLocks/>
          </p:cNvCxnSpPr>
          <p:nvPr/>
        </p:nvCxnSpPr>
        <p:spPr>
          <a:xfrm>
            <a:off x="4008212" y="2092837"/>
            <a:ext cx="27432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FCD14692-5E72-A147-72A0-450B7B453809}"/>
              </a:ext>
            </a:extLst>
          </p:cNvPr>
          <p:cNvSpPr txBox="1"/>
          <p:nvPr/>
        </p:nvSpPr>
        <p:spPr>
          <a:xfrm>
            <a:off x="4018706" y="2073840"/>
            <a:ext cx="2290634"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Weekly PULSE:</a:t>
            </a:r>
          </a:p>
        </p:txBody>
      </p:sp>
      <p:sp>
        <p:nvSpPr>
          <p:cNvPr id="2" name="TextBox 1">
            <a:extLst>
              <a:ext uri="{FF2B5EF4-FFF2-40B4-BE49-F238E27FC236}">
                <a16:creationId xmlns:a16="http://schemas.microsoft.com/office/drawing/2014/main" id="{9E85ABDE-7CE6-F0E6-1824-B9305003B1AB}"/>
              </a:ext>
            </a:extLst>
          </p:cNvPr>
          <p:cNvSpPr txBox="1"/>
          <p:nvPr/>
        </p:nvSpPr>
        <p:spPr>
          <a:xfrm>
            <a:off x="188640" y="1859779"/>
            <a:ext cx="3711820" cy="7211461"/>
          </a:xfrm>
          <a:prstGeom prst="rect">
            <a:avLst/>
          </a:prstGeom>
          <a:solidFill>
            <a:schemeClr val="accent5">
              <a:lumMod val="20000"/>
              <a:lumOff val="80000"/>
            </a:schemeClr>
          </a:solidFill>
          <a:ln>
            <a:noFill/>
          </a:ln>
        </p:spPr>
        <p:txBody>
          <a:bodyPr wrap="square" rtlCol="0">
            <a:spAutoFit/>
          </a:bodyPr>
          <a:lstStyle/>
          <a:p>
            <a:pPr algn="thaiDist">
              <a:lnSpc>
                <a:spcPct val="120000"/>
              </a:lnSpc>
              <a:spcBef>
                <a:spcPts val="400"/>
              </a:spcBef>
              <a:buSzPct val="120000"/>
            </a:pPr>
            <a:r>
              <a:rPr lang="th-TH" sz="880" b="1" dirty="0">
                <a:solidFill>
                  <a:schemeClr val="tx1">
                    <a:lumMod val="65000"/>
                    <a:lumOff val="35000"/>
                  </a:schemeClr>
                </a:solidFill>
                <a:latin typeface="BLS Text" panose="00000500000000000000" pitchFamily="2" charset="-34"/>
                <a:cs typeface="BLS Text" pitchFamily="2" charset="-34"/>
              </a:rPr>
              <a:t>หากตลาดปรับฐานเดือนพ.ค. จะเป็นจังหวะสะสมหุ้นปันผลคุณภาพ</a:t>
            </a:r>
            <a:r>
              <a:rPr lang="en-US" sz="880" b="1" dirty="0">
                <a:solidFill>
                  <a:schemeClr val="tx1">
                    <a:lumMod val="65000"/>
                    <a:lumOff val="35000"/>
                  </a:schemeClr>
                </a:solidFill>
                <a:latin typeface="BLS Text" panose="00000500000000000000" pitchFamily="2" charset="-34"/>
                <a:cs typeface="BLS Text" pitchFamily="2" charset="-34"/>
              </a:rPr>
              <a:t>:</a:t>
            </a:r>
            <a:r>
              <a:rPr lang="th-TH" sz="880" b="1" dirty="0">
                <a:solidFill>
                  <a:schemeClr val="tx1">
                    <a:lumMod val="65000"/>
                    <a:lumOff val="35000"/>
                  </a:schemeClr>
                </a:solidFill>
                <a:latin typeface="BLS Text" panose="00000500000000000000" pitchFamily="2" charset="-34"/>
                <a:cs typeface="BLS Text" pitchFamily="2" charset="-34"/>
              </a:rPr>
              <a:t> </a:t>
            </a:r>
            <a:r>
              <a:rPr lang="th-TH" sz="880" dirty="0">
                <a:solidFill>
                  <a:schemeClr val="tx1">
                    <a:lumMod val="65000"/>
                    <a:lumOff val="35000"/>
                  </a:schemeClr>
                </a:solidFill>
                <a:latin typeface="BLS Text" panose="00000500000000000000" pitchFamily="2" charset="-34"/>
                <a:cs typeface="BLS Text" pitchFamily="2" charset="-34"/>
              </a:rPr>
              <a:t>ในเชิงฤดูกาล เดือนพฤษภาคมมักเป็นช่วงอ่อนตัวของตลาด โดยอิงสถิติปี 2014–2025 </a:t>
            </a:r>
            <a:r>
              <a:rPr lang="en-US" sz="880" dirty="0">
                <a:solidFill>
                  <a:schemeClr val="tx1">
                    <a:lumMod val="65000"/>
                    <a:lumOff val="35000"/>
                  </a:schemeClr>
                </a:solidFill>
                <a:latin typeface="BLS Text" panose="00000500000000000000" pitchFamily="2" charset="-34"/>
                <a:cs typeface="BLS Text" pitchFamily="2" charset="-34"/>
              </a:rPr>
              <a:t>SET Index </a:t>
            </a:r>
            <a:r>
              <a:rPr lang="th-TH" sz="880" dirty="0">
                <a:solidFill>
                  <a:schemeClr val="tx1">
                    <a:lumMod val="65000"/>
                    <a:lumOff val="35000"/>
                  </a:schemeClr>
                </a:solidFill>
                <a:latin typeface="BLS Text" panose="00000500000000000000" pitchFamily="2" charset="-34"/>
                <a:cs typeface="BLS Text" pitchFamily="2" charset="-34"/>
              </a:rPr>
              <a:t>ปรับลงเฉลี่ยราว 1% (โอกาส ~60%) สอดคล้องกับดัชนีหุ้นปันผลสูง </a:t>
            </a:r>
            <a:r>
              <a:rPr lang="en-US" sz="880" dirty="0">
                <a:solidFill>
                  <a:schemeClr val="tx1">
                    <a:lumMod val="65000"/>
                    <a:lumOff val="35000"/>
                  </a:schemeClr>
                </a:solidFill>
                <a:latin typeface="BLS Text" panose="00000500000000000000" pitchFamily="2" charset="-34"/>
                <a:cs typeface="BLS Text" pitchFamily="2" charset="-34"/>
              </a:rPr>
              <a:t>SETHD Index </a:t>
            </a:r>
            <a:r>
              <a:rPr lang="th-TH" sz="880" dirty="0">
                <a:solidFill>
                  <a:schemeClr val="tx1">
                    <a:lumMod val="65000"/>
                    <a:lumOff val="35000"/>
                  </a:schemeClr>
                </a:solidFill>
                <a:latin typeface="BLS Text" panose="00000500000000000000" pitchFamily="2" charset="-34"/>
                <a:cs typeface="BLS Text" pitchFamily="2" charset="-34"/>
              </a:rPr>
              <a:t>ที่ปรับลงเฉลี่ยราว 1.3% (โอกาส ~70%) ขณะที่กลุ่มธนาคารซึ่งเป็นเป้าหมายหลักของนักลงทุนสายปันผล มักเริ่มอ่อนตัวตั้งแต่เดือนเมษายนเฉลี่ย 2.8% จากแรงขายหลังขึ้นเครื่องหมาย </a:t>
            </a:r>
            <a:r>
              <a:rPr lang="en-US" sz="880" dirty="0">
                <a:solidFill>
                  <a:schemeClr val="tx1">
                    <a:lumMod val="65000"/>
                    <a:lumOff val="35000"/>
                  </a:schemeClr>
                </a:solidFill>
                <a:latin typeface="BLS Text" panose="00000500000000000000" pitchFamily="2" charset="-34"/>
                <a:cs typeface="BLS Text" pitchFamily="2" charset="-34"/>
              </a:rPr>
              <a:t>XD</a:t>
            </a:r>
            <a:r>
              <a:rPr lang="th-TH" sz="880" dirty="0">
                <a:solidFill>
                  <a:schemeClr val="tx1">
                    <a:lumMod val="65000"/>
                    <a:lumOff val="35000"/>
                  </a:schemeClr>
                </a:solidFill>
                <a:latin typeface="BLS Text" panose="00000500000000000000" pitchFamily="2" charset="-34"/>
                <a:cs typeface="BLS Text" pitchFamily="2" charset="-34"/>
              </a:rPr>
              <a:t> ก่อนจะปรับลงต่ออีกเล็กน้อยราว 0.8% ในเดือนพฤษภาคม (โอกาส ~75%) แล้วจึงเริ่มสร้างฐานและทยอยฟื้นตัวในช่วงเดือนกรกฎาคม–สิงหาคม สะท้อน </a:t>
            </a:r>
            <a:r>
              <a:rPr lang="en-US" sz="880" dirty="0">
                <a:solidFill>
                  <a:schemeClr val="tx1">
                    <a:lumMod val="65000"/>
                    <a:lumOff val="35000"/>
                  </a:schemeClr>
                </a:solidFill>
                <a:latin typeface="BLS Text" panose="00000500000000000000" pitchFamily="2" charset="-34"/>
                <a:cs typeface="BLS Text" pitchFamily="2" charset="-34"/>
              </a:rPr>
              <a:t>pattern </a:t>
            </a:r>
            <a:r>
              <a:rPr lang="th-TH" sz="880" dirty="0">
                <a:solidFill>
                  <a:schemeClr val="tx1">
                    <a:lumMod val="65000"/>
                    <a:lumOff val="35000"/>
                  </a:schemeClr>
                </a:solidFill>
                <a:latin typeface="BLS Text" panose="00000500000000000000" pitchFamily="2" charset="-34"/>
                <a:cs typeface="BLS Text" pitchFamily="2" charset="-34"/>
              </a:rPr>
              <a:t>ของแรงขายเชิงเทคนิคมากกว่าปัจจัยพื้นฐาน ดังนั้น การปรับฐานในเดือนพฤษภาคมจึงควรถูกมองเป็น “</a:t>
            </a:r>
            <a:r>
              <a:rPr lang="en-US" sz="880" dirty="0">
                <a:solidFill>
                  <a:schemeClr val="tx1">
                    <a:lumMod val="65000"/>
                    <a:lumOff val="35000"/>
                  </a:schemeClr>
                </a:solidFill>
                <a:latin typeface="BLS Text" panose="00000500000000000000" pitchFamily="2" charset="-34"/>
                <a:cs typeface="BLS Text" pitchFamily="2" charset="-34"/>
              </a:rPr>
              <a:t>window of accumulation” </a:t>
            </a:r>
            <a:r>
              <a:rPr lang="th-TH" sz="880" dirty="0">
                <a:solidFill>
                  <a:schemeClr val="tx1">
                    <a:lumMod val="65000"/>
                    <a:lumOff val="35000"/>
                  </a:schemeClr>
                </a:solidFill>
                <a:latin typeface="BLS Text" panose="00000500000000000000" pitchFamily="2" charset="-34"/>
                <a:cs typeface="BLS Text" pitchFamily="2" charset="-34"/>
              </a:rPr>
              <a:t>สำหรับการสะสมหุ้นปันผลคุณภาพ มากกว่าการลดความเสี่ยงตาม </a:t>
            </a:r>
            <a:r>
              <a:rPr lang="en-US" sz="880" dirty="0">
                <a:solidFill>
                  <a:schemeClr val="tx1">
                    <a:lumMod val="65000"/>
                    <a:lumOff val="35000"/>
                  </a:schemeClr>
                </a:solidFill>
                <a:latin typeface="BLS Text" panose="00000500000000000000" pitchFamily="2" charset="-34"/>
                <a:cs typeface="BLS Text" pitchFamily="2" charset="-34"/>
              </a:rPr>
              <a:t>seasonality </a:t>
            </a:r>
            <a:r>
              <a:rPr lang="th-TH" sz="880" dirty="0">
                <a:solidFill>
                  <a:schemeClr val="tx1">
                    <a:lumMod val="65000"/>
                    <a:lumOff val="35000"/>
                  </a:schemeClr>
                </a:solidFill>
                <a:latin typeface="BLS Text" panose="00000500000000000000" pitchFamily="2" charset="-34"/>
                <a:cs typeface="BLS Text" pitchFamily="2" charset="-34"/>
              </a:rPr>
              <a:t>แบบเดิม</a:t>
            </a:r>
            <a:endParaRPr lang="th-TH" sz="880" b="1" dirty="0">
              <a:solidFill>
                <a:schemeClr val="tx1">
                  <a:lumMod val="65000"/>
                  <a:lumOff val="35000"/>
                </a:schemeClr>
              </a:solidFill>
              <a:latin typeface="BLS Text" panose="00000500000000000000" pitchFamily="2" charset="-34"/>
              <a:cs typeface="BLS Text" pitchFamily="2" charset="-34"/>
            </a:endParaRPr>
          </a:p>
          <a:p>
            <a:pPr algn="thaiDist">
              <a:lnSpc>
                <a:spcPct val="120000"/>
              </a:lnSpc>
              <a:spcBef>
                <a:spcPts val="400"/>
              </a:spcBef>
              <a:buSzPct val="120000"/>
            </a:pPr>
            <a:r>
              <a:rPr lang="th-TH" sz="880" b="1" dirty="0">
                <a:solidFill>
                  <a:schemeClr val="tx1">
                    <a:lumMod val="65000"/>
                    <a:lumOff val="35000"/>
                  </a:schemeClr>
                </a:solidFill>
                <a:latin typeface="BLS Text" panose="00000500000000000000" pitchFamily="2" charset="-34"/>
                <a:cs typeface="BLS Text" pitchFamily="2" charset="-34"/>
              </a:rPr>
              <a:t>ประเมินความน่าสนใจหุ้นปันผล</a:t>
            </a:r>
            <a:r>
              <a:rPr lang="en-US" sz="880" b="1" dirty="0">
                <a:solidFill>
                  <a:schemeClr val="tx1">
                    <a:lumMod val="65000"/>
                    <a:lumOff val="35000"/>
                  </a:schemeClr>
                </a:solidFill>
                <a:latin typeface="BLS Text" panose="00000500000000000000" pitchFamily="2" charset="-34"/>
                <a:cs typeface="BLS Text" pitchFamily="2" charset="-34"/>
              </a:rPr>
              <a:t>:</a:t>
            </a:r>
            <a:r>
              <a:rPr lang="th-TH" sz="880" b="1" dirty="0">
                <a:solidFill>
                  <a:schemeClr val="tx1">
                    <a:lumMod val="65000"/>
                    <a:lumOff val="35000"/>
                  </a:schemeClr>
                </a:solidFill>
                <a:latin typeface="BLS Text" panose="00000500000000000000" pitchFamily="2" charset="-34"/>
                <a:cs typeface="BLS Text" pitchFamily="2" charset="-34"/>
              </a:rPr>
              <a:t> </a:t>
            </a:r>
            <a:r>
              <a:rPr lang="th-TH" sz="880" dirty="0">
                <a:solidFill>
                  <a:schemeClr val="tx1">
                    <a:lumMod val="65000"/>
                    <a:lumOff val="35000"/>
                  </a:schemeClr>
                </a:solidFill>
                <a:latin typeface="BLS Text" panose="00000500000000000000" pitchFamily="2" charset="-34"/>
                <a:cs typeface="BLS Text" pitchFamily="2" charset="-34"/>
              </a:rPr>
              <a:t>ปกติผลตอบแทนเงินปันผล (</a:t>
            </a:r>
            <a:r>
              <a:rPr lang="en-US" sz="880" dirty="0">
                <a:solidFill>
                  <a:schemeClr val="tx1">
                    <a:lumMod val="65000"/>
                    <a:lumOff val="35000"/>
                  </a:schemeClr>
                </a:solidFill>
                <a:latin typeface="BLS Text" panose="00000500000000000000" pitchFamily="2" charset="-34"/>
                <a:cs typeface="BLS Text" pitchFamily="2" charset="-34"/>
              </a:rPr>
              <a:t>Dividend yield) </a:t>
            </a:r>
            <a:r>
              <a:rPr lang="th-TH" sz="880" dirty="0">
                <a:solidFill>
                  <a:schemeClr val="tx1">
                    <a:lumMod val="65000"/>
                    <a:lumOff val="35000"/>
                  </a:schemeClr>
                </a:solidFill>
                <a:latin typeface="BLS Text" panose="00000500000000000000" pitchFamily="2" charset="-34"/>
                <a:cs typeface="BLS Text" pitchFamily="2" charset="-34"/>
              </a:rPr>
              <a:t>ของ </a:t>
            </a:r>
            <a:r>
              <a:rPr lang="en-US" sz="880" dirty="0">
                <a:solidFill>
                  <a:schemeClr val="tx1">
                    <a:lumMod val="65000"/>
                    <a:lumOff val="35000"/>
                  </a:schemeClr>
                </a:solidFill>
                <a:latin typeface="BLS Text" panose="00000500000000000000" pitchFamily="2" charset="-34"/>
                <a:cs typeface="BLS Text" pitchFamily="2" charset="-34"/>
              </a:rPr>
              <a:t>SET </a:t>
            </a:r>
            <a:r>
              <a:rPr lang="th-TH" sz="880" dirty="0">
                <a:solidFill>
                  <a:schemeClr val="tx1">
                    <a:lumMod val="65000"/>
                    <a:lumOff val="35000"/>
                  </a:schemeClr>
                </a:solidFill>
                <a:latin typeface="BLS Text" panose="00000500000000000000" pitchFamily="2" charset="-34"/>
                <a:cs typeface="BLS Text" pitchFamily="2" charset="-34"/>
              </a:rPr>
              <a:t>เฉลี่ยอยู่ราวๆ 3% กรอบ 2.5-4% ถ้า 3.5% ขึ้นไป (ราว +1</a:t>
            </a:r>
            <a:r>
              <a:rPr lang="en-US" sz="880" dirty="0">
                <a:solidFill>
                  <a:schemeClr val="tx1">
                    <a:lumMod val="65000"/>
                    <a:lumOff val="35000"/>
                  </a:schemeClr>
                </a:solidFill>
                <a:latin typeface="BLS Text" panose="00000500000000000000" pitchFamily="2" charset="-34"/>
                <a:cs typeface="BLS Text" pitchFamily="2" charset="-34"/>
              </a:rPr>
              <a:t>SD </a:t>
            </a:r>
            <a:r>
              <a:rPr lang="th-TH" sz="880" dirty="0">
                <a:solidFill>
                  <a:schemeClr val="tx1">
                    <a:lumMod val="65000"/>
                    <a:lumOff val="35000"/>
                  </a:schemeClr>
                </a:solidFill>
                <a:latin typeface="BLS Text" panose="00000500000000000000" pitchFamily="2" charset="-34"/>
                <a:cs typeface="BLS Text" pitchFamily="2" charset="-34"/>
              </a:rPr>
              <a:t>เทียบค่าเฉลี่ย) ถือว่าสูง ขณะที่ ส่วนต่างผลตอบแทนเงินปันผล (</a:t>
            </a:r>
            <a:r>
              <a:rPr lang="en-US" sz="880" dirty="0">
                <a:solidFill>
                  <a:schemeClr val="tx1">
                    <a:lumMod val="65000"/>
                    <a:lumOff val="35000"/>
                  </a:schemeClr>
                </a:solidFill>
                <a:latin typeface="BLS Text" panose="00000500000000000000" pitchFamily="2" charset="-34"/>
                <a:cs typeface="BLS Text" pitchFamily="2" charset="-34"/>
              </a:rPr>
              <a:t>Dividend yield gap) </a:t>
            </a:r>
            <a:r>
              <a:rPr lang="th-TH" sz="880" dirty="0">
                <a:solidFill>
                  <a:schemeClr val="tx1">
                    <a:lumMod val="65000"/>
                    <a:lumOff val="35000"/>
                  </a:schemeClr>
                </a:solidFill>
                <a:latin typeface="BLS Text" panose="00000500000000000000" pitchFamily="2" charset="-34"/>
                <a:cs typeface="BLS Text" pitchFamily="2" charset="-34"/>
              </a:rPr>
              <a:t>เทียบผลตอบแทนพันธบัตรรัฐบาลไทยรุ่น 10 ปี (10</a:t>
            </a:r>
            <a:r>
              <a:rPr lang="en-US" sz="880" dirty="0">
                <a:solidFill>
                  <a:schemeClr val="tx1">
                    <a:lumMod val="65000"/>
                    <a:lumOff val="35000"/>
                  </a:schemeClr>
                </a:solidFill>
                <a:latin typeface="BLS Text" panose="00000500000000000000" pitchFamily="2" charset="-34"/>
                <a:cs typeface="BLS Text" pitchFamily="2" charset="-34"/>
              </a:rPr>
              <a:t>Y bond yield) </a:t>
            </a:r>
            <a:r>
              <a:rPr lang="th-TH" sz="880" dirty="0">
                <a:solidFill>
                  <a:schemeClr val="tx1">
                    <a:lumMod val="65000"/>
                    <a:lumOff val="35000"/>
                  </a:schemeClr>
                </a:solidFill>
                <a:latin typeface="BLS Text" panose="00000500000000000000" pitchFamily="2" charset="-34"/>
                <a:cs typeface="BLS Text" pitchFamily="2" charset="-34"/>
              </a:rPr>
              <a:t>ปกติ ค่าเฉลี่ยจะอยู่ที่ 1% กรอบ 0- 2.5% หากเกิน 1.5% (ราว +1</a:t>
            </a:r>
            <a:r>
              <a:rPr lang="en-US" sz="880" dirty="0">
                <a:solidFill>
                  <a:schemeClr val="tx1">
                    <a:lumMod val="65000"/>
                    <a:lumOff val="35000"/>
                  </a:schemeClr>
                </a:solidFill>
                <a:latin typeface="BLS Text" panose="00000500000000000000" pitchFamily="2" charset="-34"/>
                <a:cs typeface="BLS Text" pitchFamily="2" charset="-34"/>
              </a:rPr>
              <a:t>SD </a:t>
            </a:r>
            <a:r>
              <a:rPr lang="th-TH" sz="880" dirty="0">
                <a:solidFill>
                  <a:schemeClr val="tx1">
                    <a:lumMod val="65000"/>
                    <a:lumOff val="35000"/>
                  </a:schemeClr>
                </a:solidFill>
                <a:latin typeface="BLS Text" panose="00000500000000000000" pitchFamily="2" charset="-34"/>
                <a:cs typeface="BLS Text" pitchFamily="2" charset="-34"/>
              </a:rPr>
              <a:t>เทียบค่าเฉลี่ย) ถือว่าสูง</a:t>
            </a:r>
          </a:p>
          <a:p>
            <a:pPr algn="thaiDist">
              <a:lnSpc>
                <a:spcPct val="120000"/>
              </a:lnSpc>
              <a:spcBef>
                <a:spcPts val="400"/>
              </a:spcBef>
              <a:buSzPct val="120000"/>
            </a:pPr>
            <a:r>
              <a:rPr lang="th-TH" sz="880" dirty="0">
                <a:solidFill>
                  <a:schemeClr val="tx1">
                    <a:lumMod val="65000"/>
                    <a:lumOff val="35000"/>
                  </a:schemeClr>
                </a:solidFill>
                <a:latin typeface="BLS Text" panose="00000500000000000000" pitchFamily="2" charset="-34"/>
                <a:cs typeface="BLS Text" pitchFamily="2" charset="-34"/>
              </a:rPr>
              <a:t>โดยปัจจุบัน </a:t>
            </a:r>
            <a:r>
              <a:rPr lang="en-US" sz="880" dirty="0">
                <a:solidFill>
                  <a:schemeClr val="tx1">
                    <a:lumMod val="65000"/>
                    <a:lumOff val="35000"/>
                  </a:schemeClr>
                </a:solidFill>
                <a:latin typeface="BLS Text" panose="00000500000000000000" pitchFamily="2" charset="-34"/>
                <a:cs typeface="BLS Text" pitchFamily="2" charset="-34"/>
              </a:rPr>
              <a:t>Dividend yield gap </a:t>
            </a:r>
            <a:r>
              <a:rPr lang="th-TH" sz="880" dirty="0">
                <a:solidFill>
                  <a:schemeClr val="tx1">
                    <a:lumMod val="65000"/>
                    <a:lumOff val="35000"/>
                  </a:schemeClr>
                </a:solidFill>
                <a:latin typeface="BLS Text" panose="00000500000000000000" pitchFamily="2" charset="-34"/>
                <a:cs typeface="BLS Text" pitchFamily="2" charset="-34"/>
              </a:rPr>
              <a:t>อยู่ที่ 1.7% ยังอยู่ในจุดสูงสุดใกล้เคียงช่วงโควิด (คาดการณ์ผลตอบแทนเงินปันผลปี 2026 ที่ 3.8% และ 10</a:t>
            </a:r>
            <a:r>
              <a:rPr lang="en-US" sz="880" dirty="0">
                <a:solidFill>
                  <a:schemeClr val="tx1">
                    <a:lumMod val="65000"/>
                    <a:lumOff val="35000"/>
                  </a:schemeClr>
                </a:solidFill>
                <a:latin typeface="BLS Text" panose="00000500000000000000" pitchFamily="2" charset="-34"/>
                <a:cs typeface="BLS Text" pitchFamily="2" charset="-34"/>
              </a:rPr>
              <a:t>Y bond yield </a:t>
            </a:r>
            <a:r>
              <a:rPr lang="th-TH" sz="880" dirty="0">
                <a:solidFill>
                  <a:schemeClr val="tx1">
                    <a:lumMod val="65000"/>
                    <a:lumOff val="35000"/>
                  </a:schemeClr>
                </a:solidFill>
                <a:latin typeface="BLS Text" panose="00000500000000000000" pitchFamily="2" charset="-34"/>
                <a:cs typeface="BLS Text" pitchFamily="2" charset="-34"/>
              </a:rPr>
              <a:t>ที่ 2.1%) สูงกว่าค่าเฉลี่ย 10 ปี 1</a:t>
            </a:r>
            <a:r>
              <a:rPr lang="en-US" sz="880" dirty="0">
                <a:solidFill>
                  <a:schemeClr val="tx1">
                    <a:lumMod val="65000"/>
                    <a:lumOff val="35000"/>
                  </a:schemeClr>
                </a:solidFill>
                <a:latin typeface="BLS Text" panose="00000500000000000000" pitchFamily="2" charset="-34"/>
                <a:cs typeface="BLS Text" pitchFamily="2" charset="-34"/>
              </a:rPr>
              <a:t>SD </a:t>
            </a:r>
            <a:r>
              <a:rPr lang="th-TH" sz="880" dirty="0">
                <a:solidFill>
                  <a:schemeClr val="tx1">
                    <a:lumMod val="65000"/>
                    <a:lumOff val="35000"/>
                  </a:schemeClr>
                </a:solidFill>
                <a:latin typeface="BLS Text" panose="00000500000000000000" pitchFamily="2" charset="-34"/>
                <a:cs typeface="BLS Text" pitchFamily="2" charset="-34"/>
              </a:rPr>
              <a:t>สะท้อนว่าหุ้นปันผลยังอยู่ในจุดที่น่าสนใจ</a:t>
            </a:r>
          </a:p>
          <a:p>
            <a:pPr algn="thaiDist">
              <a:lnSpc>
                <a:spcPct val="120000"/>
              </a:lnSpc>
              <a:spcBef>
                <a:spcPts val="400"/>
              </a:spcBef>
              <a:buSzPct val="120000"/>
            </a:pPr>
            <a:r>
              <a:rPr lang="th-TH" sz="880" dirty="0">
                <a:solidFill>
                  <a:schemeClr val="tx1">
                    <a:lumMod val="65000"/>
                    <a:lumOff val="35000"/>
                  </a:schemeClr>
                </a:solidFill>
                <a:latin typeface="BLS Text" panose="00000500000000000000" pitchFamily="2" charset="-34"/>
                <a:cs typeface="BLS Text" pitchFamily="2" charset="-34"/>
              </a:rPr>
              <a:t>ในส่วนของหุ้นปันผลคุณภาพ 1</a:t>
            </a:r>
            <a:r>
              <a:rPr lang="en-US" sz="880" dirty="0">
                <a:solidFill>
                  <a:schemeClr val="tx1">
                    <a:lumMod val="65000"/>
                    <a:lumOff val="35000"/>
                  </a:schemeClr>
                </a:solidFill>
                <a:latin typeface="BLS Text" panose="00000500000000000000" pitchFamily="2" charset="-34"/>
                <a:cs typeface="BLS Text" pitchFamily="2" charset="-34"/>
              </a:rPr>
              <a:t>2</a:t>
            </a:r>
            <a:r>
              <a:rPr lang="th-TH" sz="880" dirty="0">
                <a:solidFill>
                  <a:schemeClr val="tx1">
                    <a:lumMod val="65000"/>
                    <a:lumOff val="35000"/>
                  </a:schemeClr>
                </a:solidFill>
                <a:latin typeface="BLS Text" panose="00000500000000000000" pitchFamily="2" charset="-34"/>
                <a:cs typeface="BLS Text" pitchFamily="2" charset="-34"/>
              </a:rPr>
              <a:t> ตัว ปันผลสูง-สม่ำเสมอตลอด 3 ปีที่ผ่านมา อ้างอิงจากรายงาน “ปลูกพอร์ตปันผล 4 ฤดู ยกระดับผลตอบแทน-รับกระแสเงินสดทุกไตรมาส (</a:t>
            </a:r>
            <a:r>
              <a:rPr lang="en-US" sz="880" dirty="0">
                <a:solidFill>
                  <a:schemeClr val="tx1">
                    <a:lumMod val="65000"/>
                    <a:lumOff val="35000"/>
                  </a:schemeClr>
                </a:solidFill>
                <a:latin typeface="BLS Text" panose="00000500000000000000" pitchFamily="2" charset="-34"/>
                <a:cs typeface="BLS Text" pitchFamily="2" charset="-34"/>
              </a:rPr>
              <a:t>Yield-boosted Dividend Farming)” </a:t>
            </a:r>
          </a:p>
          <a:p>
            <a:pPr algn="thaiDist">
              <a:lnSpc>
                <a:spcPct val="120000"/>
              </a:lnSpc>
              <a:spcBef>
                <a:spcPts val="400"/>
              </a:spcBef>
              <a:buSzPct val="120000"/>
            </a:pPr>
            <a:r>
              <a:rPr lang="th-TH" sz="880" dirty="0">
                <a:solidFill>
                  <a:schemeClr val="tx1">
                    <a:lumMod val="65000"/>
                    <a:lumOff val="35000"/>
                  </a:schemeClr>
                </a:solidFill>
                <a:latin typeface="BLS Text" panose="00000500000000000000" pitchFamily="2" charset="-34"/>
                <a:cs typeface="BLS Text" pitchFamily="2" charset="-34"/>
              </a:rPr>
              <a:t>หุ้นที่ยังมีคาดการณ์อัตราผลตอบแทนเงินปันผล</a:t>
            </a:r>
            <a:r>
              <a:rPr lang="th-TH" sz="880" u="sng" dirty="0">
                <a:solidFill>
                  <a:schemeClr val="tx1">
                    <a:lumMod val="65000"/>
                    <a:lumOff val="35000"/>
                  </a:schemeClr>
                </a:solidFill>
                <a:latin typeface="BLS Text" panose="00000500000000000000" pitchFamily="2" charset="-34"/>
                <a:cs typeface="BLS Text" pitchFamily="2" charset="-34"/>
              </a:rPr>
              <a:t>ในระดับสูงมาก-เกินค่าเฉลี่ย 10 ปีเกิน 2</a:t>
            </a:r>
            <a:r>
              <a:rPr lang="en-US" sz="880" u="sng" dirty="0">
                <a:solidFill>
                  <a:schemeClr val="tx1">
                    <a:lumMod val="65000"/>
                    <a:lumOff val="35000"/>
                  </a:schemeClr>
                </a:solidFill>
                <a:latin typeface="BLS Text" panose="00000500000000000000" pitchFamily="2" charset="-34"/>
                <a:cs typeface="BLS Text" pitchFamily="2" charset="-34"/>
              </a:rPr>
              <a:t>SD </a:t>
            </a:r>
            <a:r>
              <a:rPr lang="th-TH" sz="880" dirty="0">
                <a:solidFill>
                  <a:schemeClr val="tx1">
                    <a:lumMod val="65000"/>
                    <a:lumOff val="35000"/>
                  </a:schemeClr>
                </a:solidFill>
                <a:latin typeface="BLS Text" panose="00000500000000000000" pitchFamily="2" charset="-34"/>
                <a:cs typeface="BLS Text" pitchFamily="2" charset="-34"/>
              </a:rPr>
              <a:t>ใกล้ช่วงโควิด เช่น </a:t>
            </a:r>
            <a:r>
              <a:rPr lang="en-US" sz="880" dirty="0">
                <a:solidFill>
                  <a:schemeClr val="tx1">
                    <a:lumMod val="65000"/>
                    <a:lumOff val="35000"/>
                  </a:schemeClr>
                </a:solidFill>
                <a:latin typeface="BLS Text" panose="00000500000000000000" pitchFamily="2" charset="-34"/>
                <a:cs typeface="BLS Text" pitchFamily="2" charset="-34"/>
              </a:rPr>
              <a:t>KTB (6.7%), KBANK (6.3%), COM7 (5.2%), BDMS (4.3%), CPN (4.2%)  </a:t>
            </a:r>
          </a:p>
          <a:p>
            <a:pPr algn="thaiDist">
              <a:lnSpc>
                <a:spcPct val="120000"/>
              </a:lnSpc>
              <a:spcBef>
                <a:spcPts val="400"/>
              </a:spcBef>
              <a:buSzPct val="120000"/>
            </a:pPr>
            <a:r>
              <a:rPr lang="th-TH" sz="880" dirty="0">
                <a:solidFill>
                  <a:schemeClr val="tx1">
                    <a:lumMod val="65000"/>
                    <a:lumOff val="35000"/>
                  </a:schemeClr>
                </a:solidFill>
                <a:latin typeface="BLS Text" panose="00000500000000000000" pitchFamily="2" charset="-34"/>
                <a:cs typeface="BLS Text" pitchFamily="2" charset="-34"/>
              </a:rPr>
              <a:t>หุ้นที่ยังมีคาดการณ์อัตราผลตอบแทนเงินปันผล</a:t>
            </a:r>
            <a:r>
              <a:rPr lang="th-TH" sz="880" u="sng" dirty="0">
                <a:solidFill>
                  <a:schemeClr val="tx1">
                    <a:lumMod val="65000"/>
                    <a:lumOff val="35000"/>
                  </a:schemeClr>
                </a:solidFill>
                <a:latin typeface="BLS Text" panose="00000500000000000000" pitchFamily="2" charset="-34"/>
                <a:cs typeface="BLS Text" pitchFamily="2" charset="-34"/>
              </a:rPr>
              <a:t>ในระดับสูง-เกินค่าเฉลี่ย 10 ปีเกิน 1</a:t>
            </a:r>
            <a:r>
              <a:rPr lang="en-US" sz="880" u="sng" dirty="0">
                <a:solidFill>
                  <a:schemeClr val="tx1">
                    <a:lumMod val="65000"/>
                    <a:lumOff val="35000"/>
                  </a:schemeClr>
                </a:solidFill>
                <a:latin typeface="BLS Text" panose="00000500000000000000" pitchFamily="2" charset="-34"/>
                <a:cs typeface="BLS Text" pitchFamily="2" charset="-34"/>
              </a:rPr>
              <a:t>SD</a:t>
            </a:r>
            <a:r>
              <a:rPr lang="th-TH" sz="880" u="sng" dirty="0">
                <a:solidFill>
                  <a:schemeClr val="tx1">
                    <a:lumMod val="65000"/>
                    <a:lumOff val="35000"/>
                  </a:schemeClr>
                </a:solidFill>
                <a:latin typeface="BLS Text" panose="00000500000000000000" pitchFamily="2" charset="-34"/>
                <a:cs typeface="BLS Text" pitchFamily="2" charset="-34"/>
              </a:rPr>
              <a:t> </a:t>
            </a:r>
            <a:r>
              <a:rPr lang="th-TH" sz="880" dirty="0">
                <a:solidFill>
                  <a:schemeClr val="tx1">
                    <a:lumMod val="65000"/>
                    <a:lumOff val="35000"/>
                  </a:schemeClr>
                </a:solidFill>
                <a:latin typeface="BLS Text" panose="00000500000000000000" pitchFamily="2" charset="-34"/>
                <a:cs typeface="BLS Text" pitchFamily="2" charset="-34"/>
              </a:rPr>
              <a:t>เช่น </a:t>
            </a:r>
            <a:r>
              <a:rPr lang="en-US" sz="880" dirty="0">
                <a:solidFill>
                  <a:schemeClr val="tx1">
                    <a:lumMod val="65000"/>
                    <a:lumOff val="35000"/>
                  </a:schemeClr>
                </a:solidFill>
                <a:latin typeface="BLS Text" panose="00000500000000000000" pitchFamily="2" charset="-34"/>
                <a:cs typeface="BLS Text" pitchFamily="2" charset="-34"/>
              </a:rPr>
              <a:t>SCB (8.0%), PTT (6.0%), TLI (5.7%)                     </a:t>
            </a:r>
          </a:p>
          <a:p>
            <a:pPr algn="thaiDist">
              <a:lnSpc>
                <a:spcPct val="120000"/>
              </a:lnSpc>
              <a:spcBef>
                <a:spcPts val="400"/>
              </a:spcBef>
              <a:buSzPct val="120000"/>
            </a:pPr>
            <a:r>
              <a:rPr lang="en-US" sz="900" dirty="0">
                <a:solidFill>
                  <a:schemeClr val="tx2"/>
                </a:solidFill>
                <a:latin typeface="BLS Text" panose="00000500000000000000" pitchFamily="2" charset="-34"/>
                <a:cs typeface="BLS Text" pitchFamily="2" charset="-34"/>
              </a:rPr>
              <a:t>(</a:t>
            </a:r>
            <a:r>
              <a:rPr lang="th-TH" sz="900" dirty="0">
                <a:solidFill>
                  <a:schemeClr val="tx2"/>
                </a:solidFill>
                <a:latin typeface="BLS Text" panose="00000500000000000000" pitchFamily="2" charset="-34"/>
                <a:cs typeface="BLS Text" pitchFamily="2" charset="-34"/>
              </a:rPr>
              <a:t>รายละเอียดในหน้า </a:t>
            </a:r>
            <a:r>
              <a:rPr lang="en-US" sz="900" dirty="0">
                <a:solidFill>
                  <a:schemeClr val="tx2"/>
                </a:solidFill>
                <a:latin typeface="BLS Text" panose="00000500000000000000" pitchFamily="2" charset="-34"/>
                <a:cs typeface="BLS Text" pitchFamily="2" charset="-34"/>
              </a:rPr>
              <a:t>4-5)</a:t>
            </a:r>
            <a:endParaRPr lang="en-US" sz="800" dirty="0">
              <a:solidFill>
                <a:schemeClr val="tx2"/>
              </a:solidFill>
              <a:latin typeface="BLS Text" panose="00000500000000000000" pitchFamily="2" charset="-34"/>
              <a:cs typeface="BLS Text" pitchFamily="2" charset="-34"/>
            </a:endParaRPr>
          </a:p>
          <a:p>
            <a:pPr algn="thaiDist">
              <a:lnSpc>
                <a:spcPct val="120000"/>
              </a:lnSpc>
              <a:spcBef>
                <a:spcPts val="300"/>
              </a:spcBef>
              <a:buSzPct val="120000"/>
            </a:pPr>
            <a:r>
              <a:rPr lang="en-US" sz="880" b="1" dirty="0">
                <a:solidFill>
                  <a:schemeClr val="tx1">
                    <a:lumMod val="65000"/>
                    <a:lumOff val="35000"/>
                  </a:schemeClr>
                </a:solidFill>
                <a:latin typeface="BLS Text" panose="00000500000000000000" pitchFamily="2" charset="-34"/>
                <a:cs typeface="BLS Text" pitchFamily="2" charset="-34"/>
              </a:rPr>
              <a:t>Dividend Timing Debate </a:t>
            </a:r>
            <a:r>
              <a:rPr lang="th-TH" sz="880" b="1" dirty="0">
                <a:solidFill>
                  <a:schemeClr val="tx1">
                    <a:lumMod val="65000"/>
                    <a:lumOff val="35000"/>
                  </a:schemeClr>
                </a:solidFill>
                <a:latin typeface="BLS Text" panose="00000500000000000000" pitchFamily="2" charset="-34"/>
                <a:cs typeface="BLS Text" pitchFamily="2" charset="-34"/>
              </a:rPr>
              <a:t>ซื้อก่อน หรือหลัง </a:t>
            </a:r>
            <a:r>
              <a:rPr lang="en-US" sz="880" b="1" dirty="0">
                <a:solidFill>
                  <a:schemeClr val="tx1">
                    <a:lumMod val="65000"/>
                    <a:lumOff val="35000"/>
                  </a:schemeClr>
                </a:solidFill>
                <a:latin typeface="BLS Text" panose="00000500000000000000" pitchFamily="2" charset="-34"/>
                <a:cs typeface="BLS Text" pitchFamily="2" charset="-34"/>
              </a:rPr>
              <a:t>XD </a:t>
            </a:r>
            <a:r>
              <a:rPr lang="th-TH" sz="880" b="1" dirty="0">
                <a:solidFill>
                  <a:schemeClr val="tx1">
                    <a:lumMod val="65000"/>
                    <a:lumOff val="35000"/>
                  </a:schemeClr>
                </a:solidFill>
                <a:latin typeface="BLS Text" panose="00000500000000000000" pitchFamily="2" charset="-34"/>
                <a:cs typeface="BLS Text" pitchFamily="2" charset="-34"/>
              </a:rPr>
              <a:t>ดีกว่ากัน?</a:t>
            </a:r>
            <a:r>
              <a:rPr lang="en-US" sz="880" b="1" dirty="0">
                <a:solidFill>
                  <a:schemeClr val="tx1">
                    <a:lumMod val="65000"/>
                    <a:lumOff val="35000"/>
                  </a:schemeClr>
                </a:solidFill>
                <a:latin typeface="BLS Text" panose="00000500000000000000" pitchFamily="2" charset="-34"/>
                <a:cs typeface="BLS Text" pitchFamily="2" charset="-34"/>
              </a:rPr>
              <a:t>:</a:t>
            </a:r>
            <a:r>
              <a:rPr lang="th-TH" sz="880" b="1" dirty="0">
                <a:solidFill>
                  <a:schemeClr val="tx1">
                    <a:lumMod val="65000"/>
                    <a:lumOff val="35000"/>
                  </a:schemeClr>
                </a:solidFill>
                <a:latin typeface="BLS Text" panose="00000500000000000000" pitchFamily="2" charset="-34"/>
                <a:cs typeface="BLS Text" pitchFamily="2" charset="-34"/>
              </a:rPr>
              <a:t> </a:t>
            </a:r>
            <a:r>
              <a:rPr lang="th-TH" sz="880" dirty="0">
                <a:solidFill>
                  <a:schemeClr val="tx1">
                    <a:lumMod val="65000"/>
                    <a:lumOff val="35000"/>
                  </a:schemeClr>
                </a:solidFill>
                <a:latin typeface="BLS Text" panose="00000500000000000000" pitchFamily="2" charset="-34"/>
                <a:cs typeface="BLS Text" pitchFamily="2" charset="-34"/>
              </a:rPr>
              <a:t>ในภาวะเศรษฐกิจและกำไรที่เติบโตจำกัด บทบาทของเงินปันผล (</a:t>
            </a:r>
            <a:r>
              <a:rPr lang="en-US" sz="880" dirty="0">
                <a:solidFill>
                  <a:schemeClr val="tx1">
                    <a:lumMod val="65000"/>
                    <a:lumOff val="35000"/>
                  </a:schemeClr>
                </a:solidFill>
                <a:latin typeface="BLS Text" panose="00000500000000000000" pitchFamily="2" charset="-34"/>
                <a:cs typeface="BLS Text" pitchFamily="2" charset="-34"/>
              </a:rPr>
              <a:t>Dividend Yield) </a:t>
            </a:r>
            <a:r>
              <a:rPr lang="th-TH" sz="880" dirty="0">
                <a:solidFill>
                  <a:schemeClr val="tx1">
                    <a:lumMod val="65000"/>
                    <a:lumOff val="35000"/>
                  </a:schemeClr>
                </a:solidFill>
                <a:latin typeface="BLS Text" panose="00000500000000000000" pitchFamily="2" charset="-34"/>
                <a:cs typeface="BLS Text" pitchFamily="2" charset="-34"/>
              </a:rPr>
              <a:t>กลายเป็นแหล่งผลตอบแทนหลัก ขณะที่ปัจจัยเชิงฤดูกาล (</a:t>
            </a:r>
            <a:r>
              <a:rPr lang="en-US" sz="880" dirty="0">
                <a:solidFill>
                  <a:schemeClr val="tx1">
                    <a:lumMod val="65000"/>
                    <a:lumOff val="35000"/>
                  </a:schemeClr>
                </a:solidFill>
                <a:latin typeface="BLS Text" panose="00000500000000000000" pitchFamily="2" charset="-34"/>
                <a:cs typeface="BLS Text" pitchFamily="2" charset="-34"/>
              </a:rPr>
              <a:t>seasonality) </a:t>
            </a:r>
            <a:r>
              <a:rPr lang="th-TH" sz="880" dirty="0">
                <a:solidFill>
                  <a:schemeClr val="tx1">
                    <a:lumMod val="65000"/>
                    <a:lumOff val="35000"/>
                  </a:schemeClr>
                </a:solidFill>
                <a:latin typeface="BLS Text" panose="00000500000000000000" pitchFamily="2" charset="-34"/>
                <a:cs typeface="BLS Text" pitchFamily="2" charset="-34"/>
              </a:rPr>
              <a:t>อย่าง “</a:t>
            </a:r>
            <a:r>
              <a:rPr lang="en-US" sz="880" dirty="0">
                <a:solidFill>
                  <a:schemeClr val="tx1">
                    <a:lumMod val="65000"/>
                    <a:lumOff val="35000"/>
                  </a:schemeClr>
                </a:solidFill>
                <a:latin typeface="BLS Text" panose="00000500000000000000" pitchFamily="2" charset="-34"/>
                <a:cs typeface="BLS Text" pitchFamily="2" charset="-34"/>
              </a:rPr>
              <a:t>Sell in May” </a:t>
            </a:r>
            <a:r>
              <a:rPr lang="th-TH" sz="880" dirty="0">
                <a:solidFill>
                  <a:schemeClr val="tx1">
                    <a:lumMod val="65000"/>
                    <a:lumOff val="35000"/>
                  </a:schemeClr>
                </a:solidFill>
                <a:latin typeface="BLS Text" panose="00000500000000000000" pitchFamily="2" charset="-34"/>
                <a:cs typeface="BLS Text" pitchFamily="2" charset="-34"/>
              </a:rPr>
              <a:t>ยังคงเป็นกรอบคิดของตลาด โดยหากพิจารณาสถิติช่วงปี 2014–2025 จะพบว่า กลยุทธ์เข้าซื้อหุ้นกลุ่มธนาคารก่อนขึ้น </a:t>
            </a:r>
            <a:r>
              <a:rPr lang="en-US" sz="880" dirty="0">
                <a:solidFill>
                  <a:schemeClr val="tx1">
                    <a:lumMod val="65000"/>
                    <a:lumOff val="35000"/>
                  </a:schemeClr>
                </a:solidFill>
                <a:latin typeface="BLS Text" panose="00000500000000000000" pitchFamily="2" charset="-34"/>
                <a:cs typeface="BLS Text" pitchFamily="2" charset="-34"/>
              </a:rPr>
              <a:t>XD </a:t>
            </a:r>
            <a:r>
              <a:rPr lang="th-TH" sz="880" dirty="0">
                <a:solidFill>
                  <a:schemeClr val="tx1">
                    <a:lumMod val="65000"/>
                    <a:lumOff val="35000"/>
                  </a:schemeClr>
                </a:solidFill>
                <a:latin typeface="BLS Text" panose="00000500000000000000" pitchFamily="2" charset="-34"/>
                <a:cs typeface="BLS Text" pitchFamily="2" charset="-34"/>
              </a:rPr>
              <a:t>และถือผ่านไปถึงเดือนพฤษภาคม แม้รวมเงินปันผลแล้วมักให้ผลตอบแทนใกล้ศูนย์หรืออาจติดลบเล็กน้อย สะท้อนแรงกดดันจากการปรับฐานหลัง </a:t>
            </a:r>
            <a:r>
              <a:rPr lang="en-US" sz="880" dirty="0">
                <a:solidFill>
                  <a:schemeClr val="tx1">
                    <a:lumMod val="65000"/>
                    <a:lumOff val="35000"/>
                  </a:schemeClr>
                </a:solidFill>
                <a:latin typeface="BLS Text" panose="00000500000000000000" pitchFamily="2" charset="-34"/>
                <a:cs typeface="BLS Text" pitchFamily="2" charset="-34"/>
              </a:rPr>
              <a:t>XD </a:t>
            </a:r>
            <a:r>
              <a:rPr lang="th-TH" sz="880" dirty="0">
                <a:solidFill>
                  <a:schemeClr val="tx1">
                    <a:lumMod val="65000"/>
                    <a:lumOff val="35000"/>
                  </a:schemeClr>
                </a:solidFill>
                <a:latin typeface="BLS Text" panose="00000500000000000000" pitchFamily="2" charset="-34"/>
                <a:cs typeface="BLS Text" pitchFamily="2" charset="-34"/>
              </a:rPr>
              <a:t>อย่างไรก็ตาม ภาพดังกล่าวเริ่มเปลี่ยนไปอย่างมีนัยในช่วง 3 ปีหลัง โดยผลตอบแทนรวมเงินปันผล (</a:t>
            </a:r>
            <a:r>
              <a:rPr lang="en-US" sz="880" dirty="0">
                <a:solidFill>
                  <a:schemeClr val="tx1">
                    <a:lumMod val="65000"/>
                    <a:lumOff val="35000"/>
                  </a:schemeClr>
                </a:solidFill>
                <a:latin typeface="BLS Text" panose="00000500000000000000" pitchFamily="2" charset="-34"/>
                <a:cs typeface="BLS Text" pitchFamily="2" charset="-34"/>
              </a:rPr>
              <a:t>total return) </a:t>
            </a:r>
            <a:r>
              <a:rPr lang="th-TH" sz="880" dirty="0">
                <a:solidFill>
                  <a:schemeClr val="tx1">
                    <a:lumMod val="65000"/>
                    <a:lumOff val="35000"/>
                  </a:schemeClr>
                </a:solidFill>
                <a:latin typeface="BLS Text" panose="00000500000000000000" pitchFamily="2" charset="-34"/>
                <a:cs typeface="BLS Text" pitchFamily="2" charset="-34"/>
              </a:rPr>
              <a:t>จากการเข้าซื้อในเดือนเมษายนก่อน </a:t>
            </a:r>
            <a:r>
              <a:rPr lang="en-US" sz="880" dirty="0">
                <a:solidFill>
                  <a:schemeClr val="tx1">
                    <a:lumMod val="65000"/>
                    <a:lumOff val="35000"/>
                  </a:schemeClr>
                </a:solidFill>
                <a:latin typeface="BLS Text" panose="00000500000000000000" pitchFamily="2" charset="-34"/>
                <a:cs typeface="BLS Text" pitchFamily="2" charset="-34"/>
              </a:rPr>
              <a:t>XD </a:t>
            </a:r>
            <a:r>
              <a:rPr lang="th-TH" sz="880" dirty="0">
                <a:solidFill>
                  <a:schemeClr val="tx1">
                    <a:lumMod val="65000"/>
                    <a:lumOff val="35000"/>
                  </a:schemeClr>
                </a:solidFill>
                <a:latin typeface="BLS Text" panose="00000500000000000000" pitchFamily="2" charset="-34"/>
                <a:cs typeface="BLS Text" pitchFamily="2" charset="-34"/>
              </a:rPr>
              <a:t>และถือถึงพฤษภาคมกลับเป็นบวกอย่างชัดเจน บ่งชี้ว่าตลาดเริ่มให้มูลค่ากับกระแสเงินสด (</a:t>
            </a:r>
            <a:r>
              <a:rPr lang="en-US" sz="880" dirty="0">
                <a:solidFill>
                  <a:schemeClr val="tx1">
                    <a:lumMod val="65000"/>
                    <a:lumOff val="35000"/>
                  </a:schemeClr>
                </a:solidFill>
                <a:latin typeface="BLS Text" panose="00000500000000000000" pitchFamily="2" charset="-34"/>
                <a:cs typeface="BLS Text" pitchFamily="2" charset="-34"/>
              </a:rPr>
              <a:t>income) </a:t>
            </a:r>
            <a:r>
              <a:rPr lang="th-TH" sz="880" dirty="0">
                <a:solidFill>
                  <a:schemeClr val="tx1">
                    <a:lumMod val="65000"/>
                    <a:lumOff val="35000"/>
                  </a:schemeClr>
                </a:solidFill>
                <a:latin typeface="BLS Text" panose="00000500000000000000" pitchFamily="2" charset="-34"/>
                <a:cs typeface="BLS Text" pitchFamily="2" charset="-34"/>
              </a:rPr>
              <a:t>มากขึ้น และ </a:t>
            </a:r>
            <a:r>
              <a:rPr lang="en-US" sz="880" dirty="0">
                <a:solidFill>
                  <a:schemeClr val="tx1">
                    <a:lumMod val="65000"/>
                    <a:lumOff val="35000"/>
                  </a:schemeClr>
                </a:solidFill>
                <a:latin typeface="BLS Text" panose="00000500000000000000" pitchFamily="2" charset="-34"/>
                <a:cs typeface="BLS Text" pitchFamily="2" charset="-34"/>
              </a:rPr>
              <a:t>dividend yield </a:t>
            </a:r>
            <a:r>
              <a:rPr lang="th-TH" sz="880" dirty="0">
                <a:solidFill>
                  <a:schemeClr val="tx1">
                    <a:lumMod val="65000"/>
                    <a:lumOff val="35000"/>
                  </a:schemeClr>
                </a:solidFill>
                <a:latin typeface="BLS Text" panose="00000500000000000000" pitchFamily="2" charset="-34"/>
                <a:cs typeface="BLS Text" pitchFamily="2" charset="-34"/>
              </a:rPr>
              <a:t>ที่อยู่ในระดับสูงได้ช่วยดูดซับ </a:t>
            </a:r>
            <a:r>
              <a:rPr lang="en-US" sz="880" dirty="0">
                <a:solidFill>
                  <a:schemeClr val="tx1">
                    <a:lumMod val="65000"/>
                    <a:lumOff val="35000"/>
                  </a:schemeClr>
                </a:solidFill>
                <a:latin typeface="BLS Text" panose="00000500000000000000" pitchFamily="2" charset="-34"/>
                <a:cs typeface="BLS Text" pitchFamily="2" charset="-34"/>
              </a:rPr>
              <a:t>downside </a:t>
            </a:r>
            <a:r>
              <a:rPr lang="th-TH" sz="880" dirty="0">
                <a:solidFill>
                  <a:schemeClr val="tx1">
                    <a:lumMod val="65000"/>
                    <a:lumOff val="35000"/>
                  </a:schemeClr>
                </a:solidFill>
                <a:latin typeface="BLS Text" panose="00000500000000000000" pitchFamily="2" charset="-34"/>
                <a:cs typeface="BLS Text" pitchFamily="2" charset="-34"/>
              </a:rPr>
              <a:t>พร้อมหนุนการฟื้นตัวของราคาในระยะสั้น สะท้อนการเปลี่ยนผ่านจาก “</a:t>
            </a:r>
            <a:r>
              <a:rPr lang="en-US" sz="880" dirty="0">
                <a:solidFill>
                  <a:schemeClr val="tx1">
                    <a:lumMod val="65000"/>
                    <a:lumOff val="35000"/>
                  </a:schemeClr>
                </a:solidFill>
                <a:latin typeface="BLS Text" panose="00000500000000000000" pitchFamily="2" charset="-34"/>
                <a:cs typeface="BLS Text" pitchFamily="2" charset="-34"/>
              </a:rPr>
              <a:t>seasonality-driven exit” </a:t>
            </a:r>
            <a:r>
              <a:rPr lang="th-TH" sz="880" dirty="0">
                <a:solidFill>
                  <a:schemeClr val="tx1">
                    <a:lumMod val="65000"/>
                    <a:lumOff val="35000"/>
                  </a:schemeClr>
                </a:solidFill>
                <a:latin typeface="BLS Text" panose="00000500000000000000" pitchFamily="2" charset="-34"/>
                <a:cs typeface="BLS Text" pitchFamily="2" charset="-34"/>
              </a:rPr>
              <a:t>ไปสู่ “</a:t>
            </a:r>
            <a:r>
              <a:rPr lang="en-US" sz="880" dirty="0">
                <a:solidFill>
                  <a:schemeClr val="tx1">
                    <a:lumMod val="65000"/>
                    <a:lumOff val="35000"/>
                  </a:schemeClr>
                </a:solidFill>
                <a:latin typeface="BLS Text" panose="00000500000000000000" pitchFamily="2" charset="-34"/>
                <a:cs typeface="BLS Text" pitchFamily="2" charset="-34"/>
              </a:rPr>
              <a:t>income-driven positioning” </a:t>
            </a:r>
            <a:r>
              <a:rPr lang="th-TH" sz="880" dirty="0">
                <a:solidFill>
                  <a:schemeClr val="tx1">
                    <a:lumMod val="65000"/>
                    <a:lumOff val="35000"/>
                  </a:schemeClr>
                </a:solidFill>
                <a:latin typeface="BLS Text" panose="00000500000000000000" pitchFamily="2" charset="-34"/>
                <a:cs typeface="BLS Text" pitchFamily="2" charset="-34"/>
              </a:rPr>
              <a:t>มากขึ้นในรอบปัจจุบัน</a:t>
            </a:r>
          </a:p>
        </p:txBody>
      </p:sp>
      <p:cxnSp>
        <p:nvCxnSpPr>
          <p:cNvPr id="3" name="Straight Connector 2">
            <a:extLst>
              <a:ext uri="{FF2B5EF4-FFF2-40B4-BE49-F238E27FC236}">
                <a16:creationId xmlns:a16="http://schemas.microsoft.com/office/drawing/2014/main" id="{3FB7FD5E-C2F4-696F-9623-665905EA508D}"/>
              </a:ext>
            </a:extLst>
          </p:cNvPr>
          <p:cNvCxnSpPr/>
          <p:nvPr/>
        </p:nvCxnSpPr>
        <p:spPr>
          <a:xfrm>
            <a:off x="2161884" y="410050"/>
            <a:ext cx="0" cy="230832"/>
          </a:xfrm>
          <a:prstGeom prst="line">
            <a:avLst/>
          </a:prstGeom>
          <a:ln w="3175">
            <a:solidFill>
              <a:srgbClr val="00206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492222F-6A22-6060-8AE7-28693619881E}"/>
              </a:ext>
            </a:extLst>
          </p:cNvPr>
          <p:cNvSpPr txBox="1"/>
          <p:nvPr/>
        </p:nvSpPr>
        <p:spPr>
          <a:xfrm>
            <a:off x="2161884" y="337471"/>
            <a:ext cx="1411131" cy="369332"/>
          </a:xfrm>
          <a:prstGeom prst="rect">
            <a:avLst/>
          </a:prstGeom>
          <a:noFill/>
        </p:spPr>
        <p:txBody>
          <a:bodyPr wrap="square" rtlCol="0">
            <a:spAutoFit/>
          </a:bodyPr>
          <a:lstStyle/>
          <a:p>
            <a:r>
              <a:rPr lang="en-US" sz="900" b="1" dirty="0">
                <a:solidFill>
                  <a:schemeClr val="accent3">
                    <a:lumMod val="50000"/>
                  </a:schemeClr>
                </a:solidFill>
                <a:latin typeface="Arial" pitchFamily="34" charset="0"/>
                <a:cs typeface="Arial" pitchFamily="34" charset="0"/>
              </a:rPr>
              <a:t>Data-driven</a:t>
            </a:r>
            <a:endParaRPr lang="th-TH" sz="900" b="1" dirty="0">
              <a:solidFill>
                <a:schemeClr val="accent3">
                  <a:lumMod val="50000"/>
                </a:schemeClr>
              </a:solidFill>
              <a:latin typeface="Arial" pitchFamily="34" charset="0"/>
              <a:cs typeface="Arial" pitchFamily="34" charset="0"/>
            </a:endParaRPr>
          </a:p>
          <a:p>
            <a:r>
              <a:rPr lang="en-US" sz="900" b="1" dirty="0">
                <a:solidFill>
                  <a:schemeClr val="tx2">
                    <a:lumMod val="50000"/>
                  </a:schemeClr>
                </a:solidFill>
                <a:latin typeface="Arial" pitchFamily="34" charset="0"/>
                <a:cs typeface="Arial" pitchFamily="34" charset="0"/>
              </a:rPr>
              <a:t>RESEARCH</a:t>
            </a:r>
          </a:p>
        </p:txBody>
      </p:sp>
      <p:cxnSp>
        <p:nvCxnSpPr>
          <p:cNvPr id="59" name="Straight Connector 58">
            <a:extLst>
              <a:ext uri="{FF2B5EF4-FFF2-40B4-BE49-F238E27FC236}">
                <a16:creationId xmlns:a16="http://schemas.microsoft.com/office/drawing/2014/main" id="{11C7C5D5-EAE4-B3E6-9DF7-E15CEA3E4EEB}"/>
              </a:ext>
            </a:extLst>
          </p:cNvPr>
          <p:cNvCxnSpPr>
            <a:cxnSpLocks/>
          </p:cNvCxnSpPr>
          <p:nvPr/>
        </p:nvCxnSpPr>
        <p:spPr>
          <a:xfrm>
            <a:off x="4008212" y="5076056"/>
            <a:ext cx="27432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241A465B-AFF2-BD30-A3C3-2B78B03168F9}"/>
              </a:ext>
            </a:extLst>
          </p:cNvPr>
          <p:cNvSpPr txBox="1"/>
          <p:nvPr/>
        </p:nvSpPr>
        <p:spPr>
          <a:xfrm>
            <a:off x="4018706" y="5087103"/>
            <a:ext cx="2290634"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Fundamental picks (</a:t>
            </a:r>
            <a:r>
              <a:rPr lang="th-TH" sz="900" dirty="0">
                <a:solidFill>
                  <a:srgbClr val="A17D3D"/>
                </a:solidFill>
                <a:latin typeface="BLS Condensed" pitchFamily="2" charset="-34"/>
                <a:ea typeface="Tahoma" pitchFamily="34" charset="0"/>
                <a:cs typeface="BLS Condensed" pitchFamily="2" charset="-34"/>
              </a:rPr>
              <a:t>ราคาปิดวันที่ 23 เม.ย.</a:t>
            </a:r>
            <a:r>
              <a:rPr lang="en-US" sz="900" dirty="0">
                <a:solidFill>
                  <a:srgbClr val="A17D3D"/>
                </a:solidFill>
                <a:latin typeface="BLS Condensed" pitchFamily="2" charset="-34"/>
                <a:ea typeface="Tahoma" pitchFamily="34" charset="0"/>
                <a:cs typeface="BLS Condensed" pitchFamily="2" charset="-34"/>
              </a:rPr>
              <a:t>)</a:t>
            </a:r>
          </a:p>
        </p:txBody>
      </p:sp>
      <p:sp>
        <p:nvSpPr>
          <p:cNvPr id="47" name="TextBox 46">
            <a:extLst>
              <a:ext uri="{FF2B5EF4-FFF2-40B4-BE49-F238E27FC236}">
                <a16:creationId xmlns:a16="http://schemas.microsoft.com/office/drawing/2014/main" id="{C9066BA8-BE99-5985-B984-4F43D0AC32DB}"/>
              </a:ext>
            </a:extLst>
          </p:cNvPr>
          <p:cNvSpPr txBox="1"/>
          <p:nvPr/>
        </p:nvSpPr>
        <p:spPr>
          <a:xfrm>
            <a:off x="4293096" y="8486854"/>
            <a:ext cx="2471462" cy="261610"/>
          </a:xfrm>
          <a:prstGeom prst="rect">
            <a:avLst/>
          </a:prstGeom>
          <a:noFill/>
          <a:ln>
            <a:noFill/>
          </a:ln>
        </p:spPr>
        <p:txBody>
          <a:bodyPr wrap="square" rtlCol="0">
            <a:spAutoFit/>
          </a:bodyPr>
          <a:lstStyle/>
          <a:p>
            <a:pPr algn="r"/>
            <a:r>
              <a:rPr lang="en-US" sz="900" b="1" dirty="0">
                <a:solidFill>
                  <a:schemeClr val="accent5">
                    <a:lumMod val="75000"/>
                  </a:schemeClr>
                </a:solidFill>
                <a:latin typeface="BLS Condensed" pitchFamily="2" charset="-34"/>
                <a:ea typeface="Tahoma" pitchFamily="34" charset="0"/>
                <a:cs typeface="BLS Condensed" pitchFamily="2" charset="-34"/>
              </a:rPr>
              <a:t>Wealth Research</a:t>
            </a:r>
            <a:endParaRPr lang="en-US" sz="500" dirty="0">
              <a:solidFill>
                <a:schemeClr val="tx1">
                  <a:lumMod val="95000"/>
                  <a:lumOff val="5000"/>
                </a:schemeClr>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sp>
        <p:nvSpPr>
          <p:cNvPr id="11" name="TextBox 10">
            <a:extLst>
              <a:ext uri="{FF2B5EF4-FFF2-40B4-BE49-F238E27FC236}">
                <a16:creationId xmlns:a16="http://schemas.microsoft.com/office/drawing/2014/main" id="{C7236C13-3759-8FB1-0CD1-5FC325CB7A9A}"/>
              </a:ext>
            </a:extLst>
          </p:cNvPr>
          <p:cNvSpPr txBox="1"/>
          <p:nvPr/>
        </p:nvSpPr>
        <p:spPr>
          <a:xfrm>
            <a:off x="3461403" y="8611125"/>
            <a:ext cx="2471462" cy="569387"/>
          </a:xfrm>
          <a:prstGeom prst="rect">
            <a:avLst/>
          </a:prstGeom>
          <a:noFill/>
          <a:ln>
            <a:noFill/>
          </a:ln>
        </p:spPr>
        <p:txBody>
          <a:bodyPr wrap="square" rtlCol="0">
            <a:spAutoFit/>
          </a:bodyPr>
          <a:lstStyle/>
          <a:p>
            <a:pPr algn="r"/>
            <a:r>
              <a:rPr lang="th-TH" sz="700" dirty="0">
                <a:solidFill>
                  <a:srgbClr val="404040"/>
                </a:solidFill>
                <a:latin typeface="BLS Condensed" pitchFamily="2" charset="-34"/>
                <a:ea typeface="Tahoma" pitchFamily="34" charset="0"/>
                <a:cs typeface="BLS Condensed" pitchFamily="2" charset="-34"/>
              </a:rPr>
              <a:t>พิริยพล  คงวาณิช</a:t>
            </a:r>
            <a:endParaRPr lang="en-US" sz="700" dirty="0">
              <a:solidFill>
                <a:srgbClr val="404040"/>
              </a:solidFill>
              <a:latin typeface="BLS Condensed" pitchFamily="2" charset="-34"/>
              <a:ea typeface="Tahoma" pitchFamily="34" charset="0"/>
              <a:cs typeface="BLS Condensed" pitchFamily="2" charset="-34"/>
            </a:endParaRPr>
          </a:p>
          <a:p>
            <a:pPr algn="r"/>
            <a:r>
              <a:rPr lang="th-TH" sz="500" dirty="0">
                <a:solidFill>
                  <a:srgbClr val="404040"/>
                </a:solidFill>
                <a:latin typeface="BLS Condensed" pitchFamily="2" charset="-34"/>
                <a:ea typeface="Tahoma" pitchFamily="34" charset="0"/>
                <a:cs typeface="BLS Condensed" pitchFamily="2" charset="-34"/>
              </a:rPr>
              <a:t>นักกลยุทธ์/ผู้จัดการกองทุน/</a:t>
            </a:r>
            <a:endParaRPr lang="en-US" sz="500" dirty="0">
              <a:solidFill>
                <a:srgbClr val="404040"/>
              </a:solidFill>
              <a:latin typeface="BLS Condensed" pitchFamily="2" charset="-34"/>
              <a:ea typeface="Tahoma" pitchFamily="34" charset="0"/>
              <a:cs typeface="BLS Condensed" pitchFamily="2" charset="-34"/>
            </a:endParaRPr>
          </a:p>
          <a:p>
            <a:pPr algn="r"/>
            <a:r>
              <a:rPr lang="th-TH" sz="500" dirty="0">
                <a:solidFill>
                  <a:srgbClr val="404040"/>
                </a:solidFill>
                <a:latin typeface="BLS Condensed" pitchFamily="2" charset="-34"/>
                <a:ea typeface="Tahoma" pitchFamily="34" charset="0"/>
                <a:cs typeface="BLS Condensed" pitchFamily="2" charset="-34"/>
              </a:rPr>
              <a:t>นักวิเคราะห์การลงทุนปัจจัยพื้นฐานด้านหลักทรัพย์</a:t>
            </a:r>
          </a:p>
          <a:p>
            <a:pPr algn="r"/>
            <a:r>
              <a:rPr lang="en-US" sz="500" dirty="0">
                <a:solidFill>
                  <a:srgbClr val="404040"/>
                </a:solidFill>
                <a:latin typeface="BLS Condensed" pitchFamily="2" charset="-34"/>
                <a:ea typeface="Tahoma" pitchFamily="34" charset="0"/>
                <a:cs typeface="BLS Condensed" pitchFamily="2" charset="-34"/>
              </a:rPr>
              <a:t>Piriyapon.kon@bualuang.co.th</a:t>
            </a:r>
          </a:p>
          <a:p>
            <a:pPr algn="r"/>
            <a:r>
              <a:rPr lang="en-US" sz="500" dirty="0">
                <a:solidFill>
                  <a:schemeClr val="accent5">
                    <a:lumMod val="75000"/>
                  </a:schemeClr>
                </a:solidFill>
                <a:latin typeface="BLS Condensed" pitchFamily="2" charset="-34"/>
                <a:ea typeface="Tahoma" pitchFamily="34" charset="0"/>
                <a:cs typeface="BLS Condensed" pitchFamily="2" charset="-34"/>
              </a:rPr>
              <a:t>+66 2 618 1333</a:t>
            </a:r>
            <a:endParaRPr lang="en-US" sz="7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sp>
        <p:nvSpPr>
          <p:cNvPr id="13" name="TextBox 12">
            <a:extLst>
              <a:ext uri="{FF2B5EF4-FFF2-40B4-BE49-F238E27FC236}">
                <a16:creationId xmlns:a16="http://schemas.microsoft.com/office/drawing/2014/main" id="{6DCBF6DF-DDD7-732E-1011-21022104764B}"/>
              </a:ext>
            </a:extLst>
          </p:cNvPr>
          <p:cNvSpPr txBox="1"/>
          <p:nvPr/>
        </p:nvSpPr>
        <p:spPr>
          <a:xfrm>
            <a:off x="4317629" y="8676456"/>
            <a:ext cx="2471462" cy="338554"/>
          </a:xfrm>
          <a:prstGeom prst="rect">
            <a:avLst/>
          </a:prstGeom>
          <a:noFill/>
          <a:ln>
            <a:noFill/>
          </a:ln>
        </p:spPr>
        <p:txBody>
          <a:bodyPr wrap="square" rtlCol="0">
            <a:spAutoFit/>
          </a:bodyPr>
          <a:lstStyle/>
          <a:p>
            <a:pPr algn="r"/>
            <a:endParaRPr lang="en-US" sz="200" dirty="0">
              <a:solidFill>
                <a:srgbClr val="404040"/>
              </a:solidFill>
              <a:latin typeface="BLS Condensed" pitchFamily="2" charset="-34"/>
              <a:ea typeface="Tahoma" pitchFamily="34" charset="0"/>
              <a:cs typeface="BLS Condensed" pitchFamily="2" charset="-34"/>
            </a:endParaRPr>
          </a:p>
          <a:p>
            <a:pPr algn="r"/>
            <a:r>
              <a:rPr lang="th-TH" sz="700" dirty="0">
                <a:solidFill>
                  <a:srgbClr val="404040"/>
                </a:solidFill>
                <a:latin typeface="BLS Condensed" pitchFamily="2" charset="-34"/>
                <a:ea typeface="Tahoma" pitchFamily="34" charset="0"/>
                <a:cs typeface="BLS Condensed" pitchFamily="2" charset="-34"/>
              </a:rPr>
              <a:t>อิทธิ สุตัณฑวิบูลย์ </a:t>
            </a:r>
          </a:p>
          <a:p>
            <a:pPr algn="r"/>
            <a:r>
              <a:rPr lang="th-TH" sz="500" dirty="0">
                <a:solidFill>
                  <a:srgbClr val="404040"/>
                </a:solidFill>
                <a:latin typeface="BLS Condensed" pitchFamily="2" charset="-34"/>
                <a:ea typeface="Tahoma" pitchFamily="34" charset="0"/>
                <a:cs typeface="BLS Condensed" pitchFamily="2" charset="-34"/>
              </a:rPr>
              <a:t>ผู้ช่วยนักวิเคราะห์</a:t>
            </a:r>
            <a:endParaRPr lang="en-US" sz="5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pic>
        <p:nvPicPr>
          <p:cNvPr id="6" name="Picture 5">
            <a:extLst>
              <a:ext uri="{FF2B5EF4-FFF2-40B4-BE49-F238E27FC236}">
                <a16:creationId xmlns:a16="http://schemas.microsoft.com/office/drawing/2014/main" id="{D88591E5-43AB-24E6-23C3-ACCEB9BF9B54}"/>
              </a:ext>
            </a:extLst>
          </p:cNvPr>
          <p:cNvPicPr>
            <a:picLocks noChangeAspect="1"/>
          </p:cNvPicPr>
          <p:nvPr/>
        </p:nvPicPr>
        <p:blipFill>
          <a:blip r:embed="rId6"/>
          <a:stretch>
            <a:fillRect/>
          </a:stretch>
        </p:blipFill>
        <p:spPr>
          <a:xfrm>
            <a:off x="3967408" y="5303702"/>
            <a:ext cx="2821683" cy="3103852"/>
          </a:xfrm>
          <a:prstGeom prst="rect">
            <a:avLst/>
          </a:prstGeom>
        </p:spPr>
      </p:pic>
      <p:cxnSp>
        <p:nvCxnSpPr>
          <p:cNvPr id="48" name="Straight Connector 47">
            <a:extLst>
              <a:ext uri="{FF2B5EF4-FFF2-40B4-BE49-F238E27FC236}">
                <a16:creationId xmlns:a16="http://schemas.microsoft.com/office/drawing/2014/main" id="{DB442B00-E779-9C8E-61D1-873917185A99}"/>
              </a:ext>
            </a:extLst>
          </p:cNvPr>
          <p:cNvCxnSpPr/>
          <p:nvPr/>
        </p:nvCxnSpPr>
        <p:spPr>
          <a:xfrm>
            <a:off x="4437360" y="8460432"/>
            <a:ext cx="22320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B2502E5-C5C0-5A6F-CB5B-DCB193609D62}"/>
              </a:ext>
            </a:extLst>
          </p:cNvPr>
          <p:cNvSpPr txBox="1"/>
          <p:nvPr/>
        </p:nvSpPr>
        <p:spPr>
          <a:xfrm>
            <a:off x="5548963" y="8204956"/>
            <a:ext cx="1336421" cy="240066"/>
          </a:xfrm>
          <a:prstGeom prst="rect">
            <a:avLst/>
          </a:prstGeom>
          <a:noFill/>
        </p:spPr>
        <p:txBody>
          <a:bodyPr wrap="square">
            <a:spAutoFit/>
          </a:bodyPr>
          <a:lstStyle/>
          <a:p>
            <a:pPr algn="thaiDist">
              <a:lnSpc>
                <a:spcPct val="120000"/>
              </a:lnSpc>
              <a:spcBef>
                <a:spcPts val="400"/>
              </a:spcBef>
              <a:buSzPct val="120000"/>
            </a:pPr>
            <a:r>
              <a:rPr lang="en-US" sz="800" dirty="0">
                <a:solidFill>
                  <a:schemeClr val="tx2"/>
                </a:solidFill>
                <a:latin typeface="BLS Text" panose="00000500000000000000" pitchFamily="2" charset="-34"/>
                <a:cs typeface="BLS Text" pitchFamily="2" charset="-34"/>
              </a:rPr>
              <a:t>(</a:t>
            </a:r>
            <a:r>
              <a:rPr lang="th-TH" sz="800" dirty="0">
                <a:solidFill>
                  <a:schemeClr val="tx2"/>
                </a:solidFill>
                <a:latin typeface="BLS Text" panose="00000500000000000000" pitchFamily="2" charset="-34"/>
                <a:cs typeface="BLS Text" pitchFamily="2" charset="-34"/>
              </a:rPr>
              <a:t>รายละเอียดในหน้า </a:t>
            </a:r>
            <a:r>
              <a:rPr lang="en-US" sz="800" dirty="0">
                <a:solidFill>
                  <a:schemeClr val="tx2"/>
                </a:solidFill>
                <a:latin typeface="BLS Text" panose="00000500000000000000" pitchFamily="2" charset="-34"/>
                <a:cs typeface="BLS Text" pitchFamily="2" charset="-34"/>
              </a:rPr>
              <a:t>4-5)</a:t>
            </a:r>
          </a:p>
        </p:txBody>
      </p:sp>
      <p:pic>
        <p:nvPicPr>
          <p:cNvPr id="8" name="Picture 7" descr="A table of numbers and symbols&#10;&#10;Description automatically generated with medium confidence">
            <a:extLst>
              <a:ext uri="{FF2B5EF4-FFF2-40B4-BE49-F238E27FC236}">
                <a16:creationId xmlns:a16="http://schemas.microsoft.com/office/drawing/2014/main" id="{95E54FDB-901C-D8FD-6DAE-4AD2727820A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72467" y="2274744"/>
            <a:ext cx="2816624" cy="2733060"/>
          </a:xfrm>
          <a:prstGeom prst="rect">
            <a:avLst/>
          </a:prstGeom>
        </p:spPr>
      </p:pic>
    </p:spTree>
    <p:extLst>
      <p:ext uri="{BB962C8B-B14F-4D97-AF65-F5344CB8AC3E}">
        <p14:creationId xmlns:p14="http://schemas.microsoft.com/office/powerpoint/2010/main" val="50812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8602"/>
          <a:stretch/>
        </p:blipFill>
        <p:spPr>
          <a:xfrm>
            <a:off x="0" y="0"/>
            <a:ext cx="6858000" cy="8689302"/>
          </a:xfrm>
          <a:prstGeom prst="rect">
            <a:avLst/>
          </a:prstGeom>
        </p:spPr>
      </p:pic>
      <p:sp>
        <p:nvSpPr>
          <p:cNvPr id="19" name="TextBox 18">
            <a:extLst>
              <a:ext uri="{FF2B5EF4-FFF2-40B4-BE49-F238E27FC236}">
                <a16:creationId xmlns:a16="http://schemas.microsoft.com/office/drawing/2014/main" id="{01D3EDA3-679C-BA8B-9EDE-9A31378F2861}"/>
              </a:ext>
            </a:extLst>
          </p:cNvPr>
          <p:cNvSpPr txBox="1"/>
          <p:nvPr/>
        </p:nvSpPr>
        <p:spPr>
          <a:xfrm>
            <a:off x="658256" y="3055351"/>
            <a:ext cx="72008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12 ธ.ค. </a:t>
            </a:r>
          </a:p>
        </p:txBody>
      </p:sp>
      <p:sp>
        <p:nvSpPr>
          <p:cNvPr id="20" name="TextBox 19">
            <a:extLst>
              <a:ext uri="{FF2B5EF4-FFF2-40B4-BE49-F238E27FC236}">
                <a16:creationId xmlns:a16="http://schemas.microsoft.com/office/drawing/2014/main" id="{FC28B75D-C3AA-F0C5-6200-83DB873637CB}"/>
              </a:ext>
            </a:extLst>
          </p:cNvPr>
          <p:cNvSpPr txBox="1"/>
          <p:nvPr/>
        </p:nvSpPr>
        <p:spPr>
          <a:xfrm>
            <a:off x="531946" y="3047177"/>
            <a:ext cx="904643"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ราชกิจจาประกาศยุบสภา</a:t>
            </a:r>
          </a:p>
        </p:txBody>
      </p:sp>
      <p:sp>
        <p:nvSpPr>
          <p:cNvPr id="21" name="TextBox 20">
            <a:extLst>
              <a:ext uri="{FF2B5EF4-FFF2-40B4-BE49-F238E27FC236}">
                <a16:creationId xmlns:a16="http://schemas.microsoft.com/office/drawing/2014/main" id="{C1FE4F51-5E04-9485-3236-75E85E050C64}"/>
              </a:ext>
            </a:extLst>
          </p:cNvPr>
          <p:cNvSpPr txBox="1"/>
          <p:nvPr/>
        </p:nvSpPr>
        <p:spPr>
          <a:xfrm>
            <a:off x="1497212" y="3055351"/>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13-17 ธ.ค.</a:t>
            </a:r>
          </a:p>
        </p:txBody>
      </p:sp>
      <p:sp>
        <p:nvSpPr>
          <p:cNvPr id="25" name="TextBox 24">
            <a:extLst>
              <a:ext uri="{FF2B5EF4-FFF2-40B4-BE49-F238E27FC236}">
                <a16:creationId xmlns:a16="http://schemas.microsoft.com/office/drawing/2014/main" id="{D3C2255B-69C2-3386-D320-629A8A4034DA}"/>
              </a:ext>
            </a:extLst>
          </p:cNvPr>
          <p:cNvSpPr txBox="1"/>
          <p:nvPr/>
        </p:nvSpPr>
        <p:spPr>
          <a:xfrm>
            <a:off x="2319090" y="3055351"/>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20-28 ธ.ค.</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3047177"/>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3043282"/>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3072923"/>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3063926"/>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sp>
        <p:nvSpPr>
          <p:cNvPr id="2" name="TextBox 1">
            <a:extLst>
              <a:ext uri="{FF2B5EF4-FFF2-40B4-BE49-F238E27FC236}">
                <a16:creationId xmlns:a16="http://schemas.microsoft.com/office/drawing/2014/main" id="{9E85ABDE-7CE6-F0E6-1824-B9305003B1AB}"/>
              </a:ext>
            </a:extLst>
          </p:cNvPr>
          <p:cNvSpPr txBox="1"/>
          <p:nvPr/>
        </p:nvSpPr>
        <p:spPr>
          <a:xfrm>
            <a:off x="188640" y="2051720"/>
            <a:ext cx="3164970" cy="1423467"/>
          </a:xfrm>
          <a:prstGeom prst="rect">
            <a:avLst/>
          </a:prstGeom>
          <a:solidFill>
            <a:srgbClr val="EDEDED">
              <a:alpha val="60000"/>
            </a:srgbClr>
          </a:solidFill>
          <a:ln>
            <a:noFill/>
          </a:ln>
        </p:spPr>
        <p:txBody>
          <a:bodyPr wrap="square" rtlCol="0">
            <a:spAutoFit/>
          </a:bodyPr>
          <a:lstStyle/>
          <a:p>
            <a:pPr algn="thaiDist">
              <a:lnSpc>
                <a:spcPct val="120000"/>
              </a:lnSpc>
              <a:spcBef>
                <a:spcPts val="300"/>
              </a:spcBef>
              <a:buSzPct val="120000"/>
            </a:pPr>
            <a:r>
              <a:rPr lang="th-TH" sz="1000" dirty="0">
                <a:solidFill>
                  <a:schemeClr val="tx1">
                    <a:lumMod val="65000"/>
                    <a:lumOff val="35000"/>
                  </a:schemeClr>
                </a:solidFill>
                <a:latin typeface="BLS Text" panose="00000500000000000000" pitchFamily="2" charset="-34"/>
                <a:cs typeface="BLS Text" pitchFamily="2" charset="-34"/>
              </a:rPr>
              <a:t>อิงสถิติปี 2014–2025 </a:t>
            </a:r>
            <a:r>
              <a:rPr lang="en-US" sz="1000" dirty="0">
                <a:solidFill>
                  <a:schemeClr val="tx1">
                    <a:lumMod val="65000"/>
                    <a:lumOff val="35000"/>
                  </a:schemeClr>
                </a:solidFill>
                <a:latin typeface="BLS Text" panose="00000500000000000000" pitchFamily="2" charset="-34"/>
                <a:cs typeface="BLS Text" pitchFamily="2" charset="-34"/>
              </a:rPr>
              <a:t>SET Index </a:t>
            </a:r>
            <a:r>
              <a:rPr lang="th-TH" sz="1000" dirty="0">
                <a:solidFill>
                  <a:schemeClr val="tx1">
                    <a:lumMod val="65000"/>
                    <a:lumOff val="35000"/>
                  </a:schemeClr>
                </a:solidFill>
                <a:latin typeface="BLS Text" panose="00000500000000000000" pitchFamily="2" charset="-34"/>
                <a:cs typeface="BLS Text" pitchFamily="2" charset="-34"/>
              </a:rPr>
              <a:t>ปรับลงเฉลี่ยราว 1% (โอกาส ~60%) สอดคล้องกับดัชนีหุ้นปันผลสูง </a:t>
            </a:r>
            <a:r>
              <a:rPr lang="en-US" sz="1000" dirty="0">
                <a:solidFill>
                  <a:schemeClr val="tx1">
                    <a:lumMod val="65000"/>
                    <a:lumOff val="35000"/>
                  </a:schemeClr>
                </a:solidFill>
                <a:latin typeface="BLS Text" panose="00000500000000000000" pitchFamily="2" charset="-34"/>
                <a:cs typeface="BLS Text" pitchFamily="2" charset="-34"/>
              </a:rPr>
              <a:t>SETHD Index </a:t>
            </a:r>
            <a:r>
              <a:rPr lang="th-TH" sz="1000" dirty="0">
                <a:solidFill>
                  <a:schemeClr val="tx1">
                    <a:lumMod val="65000"/>
                    <a:lumOff val="35000"/>
                  </a:schemeClr>
                </a:solidFill>
                <a:latin typeface="BLS Text" panose="00000500000000000000" pitchFamily="2" charset="-34"/>
                <a:cs typeface="BLS Text" pitchFamily="2" charset="-34"/>
              </a:rPr>
              <a:t>ที่ปรับลงเฉลี่ยราว 1.3% (โอกาส ~70%) </a:t>
            </a:r>
          </a:p>
          <a:p>
            <a:pPr algn="thaiDist">
              <a:lnSpc>
                <a:spcPct val="120000"/>
              </a:lnSpc>
              <a:spcBef>
                <a:spcPts val="300"/>
              </a:spcBef>
              <a:buSzPct val="120000"/>
            </a:pPr>
            <a:r>
              <a:rPr lang="th-TH" sz="1000" dirty="0">
                <a:solidFill>
                  <a:schemeClr val="tx1">
                    <a:lumMod val="65000"/>
                    <a:lumOff val="35000"/>
                  </a:schemeClr>
                </a:solidFill>
                <a:latin typeface="BLS Text" panose="00000500000000000000" pitchFamily="2" charset="-34"/>
                <a:cs typeface="BLS Text" pitchFamily="2" charset="-34"/>
              </a:rPr>
              <a:t>ขณะที่ </a:t>
            </a:r>
            <a:r>
              <a:rPr lang="th-TH" sz="1000" b="1" dirty="0">
                <a:solidFill>
                  <a:schemeClr val="tx1">
                    <a:lumMod val="65000"/>
                    <a:lumOff val="35000"/>
                  </a:schemeClr>
                </a:solidFill>
                <a:latin typeface="BLS Text" panose="00000500000000000000" pitchFamily="2" charset="-34"/>
                <a:cs typeface="BLS Text" pitchFamily="2" charset="-34"/>
              </a:rPr>
              <a:t>กลุ่มธนาคารซึ่งเป็นเป้าหมายหลักของนักลงทุนสายปันผล มักเริ่มอ่อนตัวตั้งแต่เดือนเมษายนเฉลี่ย 2.8% จากแรงขายหลังขึ้นเครื่องหมาย </a:t>
            </a:r>
            <a:r>
              <a:rPr lang="en-US" sz="1000" b="1" dirty="0">
                <a:solidFill>
                  <a:schemeClr val="tx1">
                    <a:lumMod val="65000"/>
                    <a:lumOff val="35000"/>
                  </a:schemeClr>
                </a:solidFill>
                <a:latin typeface="BLS Text" panose="00000500000000000000" pitchFamily="2" charset="-34"/>
                <a:cs typeface="BLS Text" pitchFamily="2" charset="-34"/>
              </a:rPr>
              <a:t>XD</a:t>
            </a:r>
            <a:r>
              <a:rPr lang="th-TH" sz="1000" b="1" dirty="0">
                <a:solidFill>
                  <a:schemeClr val="tx1">
                    <a:lumMod val="65000"/>
                    <a:lumOff val="35000"/>
                  </a:schemeClr>
                </a:solidFill>
                <a:latin typeface="BLS Text" panose="00000500000000000000" pitchFamily="2" charset="-34"/>
                <a:cs typeface="BLS Text" pitchFamily="2" charset="-34"/>
              </a:rPr>
              <a:t> </a:t>
            </a:r>
            <a:r>
              <a:rPr lang="th-TH" sz="1000" dirty="0">
                <a:solidFill>
                  <a:schemeClr val="tx1">
                    <a:lumMod val="65000"/>
                    <a:lumOff val="35000"/>
                  </a:schemeClr>
                </a:solidFill>
                <a:latin typeface="BLS Text" panose="00000500000000000000" pitchFamily="2" charset="-34"/>
                <a:cs typeface="BLS Text" pitchFamily="2" charset="-34"/>
              </a:rPr>
              <a:t>ก่อนจะปรับลงต่ออีกเล็กน้อยราว 0.8% </a:t>
            </a:r>
          </a:p>
        </p:txBody>
      </p:sp>
      <p:sp>
        <p:nvSpPr>
          <p:cNvPr id="15" name="TextBox 14">
            <a:extLst>
              <a:ext uri="{FF2B5EF4-FFF2-40B4-BE49-F238E27FC236}">
                <a16:creationId xmlns:a16="http://schemas.microsoft.com/office/drawing/2014/main" id="{546F7F14-A377-C8CF-5D1E-8DDF1256B72B}"/>
              </a:ext>
            </a:extLst>
          </p:cNvPr>
          <p:cNvSpPr txBox="1"/>
          <p:nvPr/>
        </p:nvSpPr>
        <p:spPr>
          <a:xfrm>
            <a:off x="3462910" y="2051720"/>
            <a:ext cx="3164970" cy="1384995"/>
          </a:xfrm>
          <a:prstGeom prst="rect">
            <a:avLst/>
          </a:prstGeom>
          <a:solidFill>
            <a:srgbClr val="EDEDED">
              <a:alpha val="60000"/>
            </a:srgbClr>
          </a:solidFill>
          <a:ln>
            <a:noFill/>
          </a:ln>
        </p:spPr>
        <p:txBody>
          <a:bodyPr wrap="square" rtlCol="0">
            <a:spAutoFit/>
          </a:bodyPr>
          <a:lstStyle/>
          <a:p>
            <a:pPr algn="thaiDist">
              <a:lnSpc>
                <a:spcPct val="120000"/>
              </a:lnSpc>
              <a:spcBef>
                <a:spcPts val="300"/>
              </a:spcBef>
              <a:buSzPct val="120000"/>
            </a:pPr>
            <a:r>
              <a:rPr lang="th-TH" sz="1000" dirty="0">
                <a:solidFill>
                  <a:schemeClr val="tx1">
                    <a:lumMod val="65000"/>
                    <a:lumOff val="35000"/>
                  </a:schemeClr>
                </a:solidFill>
                <a:latin typeface="BLS Text" panose="00000500000000000000" pitchFamily="2" charset="-34"/>
                <a:cs typeface="BLS Text" pitchFamily="2" charset="-34"/>
              </a:rPr>
              <a:t>ในเดือนพฤษภาคม (โอกาส ~75%) แล้วจึงเริ่มสร้างฐานและทยอยฟื้นตัวในช่วงเดือนกรกฎาคม–สิงหาคม สะท้อน </a:t>
            </a:r>
            <a:r>
              <a:rPr lang="en-US" sz="1000" dirty="0">
                <a:solidFill>
                  <a:schemeClr val="tx1">
                    <a:lumMod val="65000"/>
                    <a:lumOff val="35000"/>
                  </a:schemeClr>
                </a:solidFill>
                <a:latin typeface="BLS Text" panose="00000500000000000000" pitchFamily="2" charset="-34"/>
                <a:cs typeface="BLS Text" pitchFamily="2" charset="-34"/>
              </a:rPr>
              <a:t>pattern </a:t>
            </a:r>
            <a:r>
              <a:rPr lang="th-TH" sz="1000" dirty="0">
                <a:solidFill>
                  <a:schemeClr val="tx1">
                    <a:lumMod val="65000"/>
                    <a:lumOff val="35000"/>
                  </a:schemeClr>
                </a:solidFill>
                <a:latin typeface="BLS Text" panose="00000500000000000000" pitchFamily="2" charset="-34"/>
                <a:cs typeface="BLS Text" pitchFamily="2" charset="-34"/>
              </a:rPr>
              <a:t>ของแรงขายเชิงเทคนิคมากกว่าปัจจัยพื้นฐาน ดังนั้น การปรับฐานในเดือนพฤษภาคมจึงควรถูกมองเป็น “</a:t>
            </a:r>
            <a:r>
              <a:rPr lang="en-US" sz="1000" dirty="0">
                <a:solidFill>
                  <a:schemeClr val="tx1">
                    <a:lumMod val="65000"/>
                    <a:lumOff val="35000"/>
                  </a:schemeClr>
                </a:solidFill>
                <a:latin typeface="BLS Text" panose="00000500000000000000" pitchFamily="2" charset="-34"/>
                <a:cs typeface="BLS Text" pitchFamily="2" charset="-34"/>
              </a:rPr>
              <a:t>window of accumulation” </a:t>
            </a:r>
            <a:r>
              <a:rPr lang="th-TH" sz="1000" dirty="0">
                <a:solidFill>
                  <a:schemeClr val="tx1">
                    <a:lumMod val="65000"/>
                    <a:lumOff val="35000"/>
                  </a:schemeClr>
                </a:solidFill>
                <a:latin typeface="BLS Text" panose="00000500000000000000" pitchFamily="2" charset="-34"/>
                <a:cs typeface="BLS Text" pitchFamily="2" charset="-34"/>
              </a:rPr>
              <a:t>สำหรับการสะสมหุ้นปันผลคุณภาพ มากกว่าการลดความเสี่ยงตาม </a:t>
            </a:r>
            <a:r>
              <a:rPr lang="en-US" sz="1000" dirty="0">
                <a:solidFill>
                  <a:schemeClr val="tx1">
                    <a:lumMod val="65000"/>
                    <a:lumOff val="35000"/>
                  </a:schemeClr>
                </a:solidFill>
                <a:latin typeface="BLS Text" panose="00000500000000000000" pitchFamily="2" charset="-34"/>
                <a:cs typeface="BLS Text" pitchFamily="2" charset="-34"/>
              </a:rPr>
              <a:t>seasonality </a:t>
            </a:r>
            <a:r>
              <a:rPr lang="th-TH" sz="1000" dirty="0">
                <a:solidFill>
                  <a:schemeClr val="tx1">
                    <a:lumMod val="65000"/>
                    <a:lumOff val="35000"/>
                  </a:schemeClr>
                </a:solidFill>
                <a:latin typeface="BLS Text" panose="00000500000000000000" pitchFamily="2" charset="-34"/>
                <a:cs typeface="BLS Text" pitchFamily="2" charset="-34"/>
              </a:rPr>
              <a:t>แบบเดิม</a:t>
            </a:r>
          </a:p>
        </p:txBody>
      </p:sp>
      <p:cxnSp>
        <p:nvCxnSpPr>
          <p:cNvPr id="18" name="Straight Connector 17">
            <a:extLst>
              <a:ext uri="{FF2B5EF4-FFF2-40B4-BE49-F238E27FC236}">
                <a16:creationId xmlns:a16="http://schemas.microsoft.com/office/drawing/2014/main" id="{811E1CC9-D26F-1122-558A-414813438452}"/>
              </a:ext>
            </a:extLst>
          </p:cNvPr>
          <p:cNvCxnSpPr>
            <a:cxnSpLocks/>
          </p:cNvCxnSpPr>
          <p:nvPr/>
        </p:nvCxnSpPr>
        <p:spPr>
          <a:xfrm>
            <a:off x="320593" y="874846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81748675-2985-66A0-18EB-8B4E8A4F54F6}"/>
              </a:ext>
            </a:extLst>
          </p:cNvPr>
          <p:cNvSpPr txBox="1"/>
          <p:nvPr/>
        </p:nvSpPr>
        <p:spPr>
          <a:xfrm>
            <a:off x="286492" y="3716789"/>
            <a:ext cx="6022828" cy="33855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1</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เดือนพฤษภาคมมักเป็นช่วงอ่อนตัวของตลาด </a:t>
            </a:r>
            <a:r>
              <a:rPr lang="en-US" sz="800" dirty="0">
                <a:solidFill>
                  <a:schemeClr val="tx1">
                    <a:lumMod val="95000"/>
                    <a:lumOff val="5000"/>
                  </a:schemeClr>
                </a:solidFill>
                <a:latin typeface="BLS Condensed" pitchFamily="2" charset="-34"/>
                <a:ea typeface="Tahoma" pitchFamily="34" charset="0"/>
                <a:cs typeface="BLS Condensed" pitchFamily="2" charset="-34"/>
              </a:rPr>
              <a:t>-</a:t>
            </a:r>
            <a:r>
              <a:rPr lang="th-TH" sz="800" dirty="0">
                <a:solidFill>
                  <a:schemeClr val="tx1">
                    <a:lumMod val="95000"/>
                    <a:lumOff val="5000"/>
                  </a:schemeClr>
                </a:solidFill>
                <a:latin typeface="BLS Condensed" pitchFamily="2" charset="-34"/>
                <a:ea typeface="Tahoma" pitchFamily="34" charset="0"/>
                <a:cs typeface="BLS Condensed" pitchFamily="2" charset="-34"/>
              </a:rPr>
              <a:t> </a:t>
            </a:r>
            <a:r>
              <a:rPr lang="en-US" sz="800" dirty="0">
                <a:solidFill>
                  <a:schemeClr val="tx1">
                    <a:lumMod val="95000"/>
                    <a:lumOff val="5000"/>
                  </a:schemeClr>
                </a:solidFill>
                <a:latin typeface="BLS Condensed" pitchFamily="2" charset="-34"/>
                <a:ea typeface="Tahoma" pitchFamily="34" charset="0"/>
                <a:cs typeface="BLS Condensed" pitchFamily="2" charset="-34"/>
              </a:rPr>
              <a:t>I</a:t>
            </a:r>
            <a:r>
              <a:rPr lang="th-TH" sz="800" dirty="0">
                <a:solidFill>
                  <a:schemeClr val="tx1">
                    <a:lumMod val="95000"/>
                    <a:lumOff val="5000"/>
                  </a:schemeClr>
                </a:solidFill>
                <a:latin typeface="BLS Condensed" pitchFamily="2" charset="-34"/>
                <a:ea typeface="Tahoma" pitchFamily="34" charset="0"/>
                <a:cs typeface="BLS Condensed" pitchFamily="2" charset="-34"/>
              </a:rPr>
              <a:t>อิงสถิติปี 2014–2025 </a:t>
            </a:r>
            <a:r>
              <a:rPr lang="en-US" sz="800" dirty="0">
                <a:solidFill>
                  <a:schemeClr val="tx1">
                    <a:lumMod val="95000"/>
                    <a:lumOff val="5000"/>
                  </a:schemeClr>
                </a:solidFill>
                <a:latin typeface="BLS Condensed" pitchFamily="2" charset="-34"/>
                <a:ea typeface="Tahoma" pitchFamily="34" charset="0"/>
                <a:cs typeface="BLS Condensed" pitchFamily="2" charset="-34"/>
              </a:rPr>
              <a:t>SET Index </a:t>
            </a:r>
            <a:r>
              <a:rPr lang="th-TH" sz="800" dirty="0">
                <a:solidFill>
                  <a:schemeClr val="tx1">
                    <a:lumMod val="95000"/>
                    <a:lumOff val="5000"/>
                  </a:schemeClr>
                </a:solidFill>
                <a:latin typeface="BLS Condensed" pitchFamily="2" charset="-34"/>
                <a:ea typeface="Tahoma" pitchFamily="34" charset="0"/>
                <a:cs typeface="BLS Condensed" pitchFamily="2" charset="-34"/>
              </a:rPr>
              <a:t>ปรับลงเฉลี่ยราว 1% (โอกาส ~60%) สอดคล้องกับดัชนีหุ้นปันผลสูง </a:t>
            </a:r>
            <a:r>
              <a:rPr lang="en-US" sz="800" dirty="0">
                <a:solidFill>
                  <a:schemeClr val="tx1">
                    <a:lumMod val="95000"/>
                    <a:lumOff val="5000"/>
                  </a:schemeClr>
                </a:solidFill>
                <a:latin typeface="BLS Condensed" pitchFamily="2" charset="-34"/>
                <a:ea typeface="Tahoma" pitchFamily="34" charset="0"/>
                <a:cs typeface="BLS Condensed" pitchFamily="2" charset="-34"/>
              </a:rPr>
              <a:t>SETHD Index </a:t>
            </a:r>
            <a:r>
              <a:rPr lang="th-TH" sz="800" dirty="0">
                <a:solidFill>
                  <a:schemeClr val="tx1">
                    <a:lumMod val="95000"/>
                    <a:lumOff val="5000"/>
                  </a:schemeClr>
                </a:solidFill>
                <a:latin typeface="BLS Condensed" pitchFamily="2" charset="-34"/>
                <a:ea typeface="Tahoma" pitchFamily="34" charset="0"/>
                <a:cs typeface="BLS Condensed" pitchFamily="2" charset="-34"/>
              </a:rPr>
              <a:t>ที่ปรับลงเฉลี่ยราว 1.3% (โอกาส ~70%) </a:t>
            </a:r>
            <a:endParaRPr lang="en-US" sz="800" b="1" dirty="0">
              <a:solidFill>
                <a:schemeClr val="tx1">
                  <a:lumMod val="95000"/>
                  <a:lumOff val="5000"/>
                </a:schemeClr>
              </a:solidFill>
              <a:latin typeface="BLS Condensed" pitchFamily="2" charset="-34"/>
              <a:ea typeface="Tahoma" pitchFamily="34" charset="0"/>
              <a:cs typeface="BLS Condensed" pitchFamily="2" charset="-34"/>
            </a:endParaRPr>
          </a:p>
        </p:txBody>
      </p:sp>
      <p:cxnSp>
        <p:nvCxnSpPr>
          <p:cNvPr id="31" name="Straight Connector 30">
            <a:extLst>
              <a:ext uri="{FF2B5EF4-FFF2-40B4-BE49-F238E27FC236}">
                <a16:creationId xmlns:a16="http://schemas.microsoft.com/office/drawing/2014/main" id="{ED544969-6829-5FFD-1765-676D76EE5F5B}"/>
              </a:ext>
            </a:extLst>
          </p:cNvPr>
          <p:cNvCxnSpPr/>
          <p:nvPr/>
        </p:nvCxnSpPr>
        <p:spPr>
          <a:xfrm>
            <a:off x="305146" y="370790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7AA2941-9659-DEF5-69DF-BE120C176F29}"/>
              </a:ext>
            </a:extLst>
          </p:cNvPr>
          <p:cNvSpPr/>
          <p:nvPr/>
        </p:nvSpPr>
        <p:spPr>
          <a:xfrm>
            <a:off x="297857" y="8748464"/>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974B464D-079C-66D5-267A-B0271C83992E}"/>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716ED43-E385-A160-9D3A-0264F1B0EE0B}"/>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C8FA6393-E3EE-E08E-89C6-D50BB8050980}"/>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10" name="TextBox 9">
            <a:extLst>
              <a:ext uri="{FF2B5EF4-FFF2-40B4-BE49-F238E27FC236}">
                <a16:creationId xmlns:a16="http://schemas.microsoft.com/office/drawing/2014/main" id="{C2139EFA-0963-F3E4-30F9-FE4954797181}"/>
              </a:ext>
            </a:extLst>
          </p:cNvPr>
          <p:cNvSpPr txBox="1"/>
          <p:nvPr/>
        </p:nvSpPr>
        <p:spPr>
          <a:xfrm>
            <a:off x="188640" y="971600"/>
            <a:ext cx="6439240" cy="954107"/>
          </a:xfrm>
          <a:prstGeom prst="rect">
            <a:avLst/>
          </a:prstGeom>
          <a:noFill/>
        </p:spPr>
        <p:txBody>
          <a:bodyPr wrap="square">
            <a:spAutoFit/>
          </a:bodyPr>
          <a:lstStyle/>
          <a:p>
            <a:r>
              <a:rPr lang="th-TH" altLang="en-US" sz="2800" dirty="0">
                <a:solidFill>
                  <a:schemeClr val="accent2"/>
                </a:solidFill>
                <a:latin typeface="BLS Condensed Bold" panose="00000800000000000000" pitchFamily="2" charset="-34"/>
                <a:ea typeface="Tahoma" pitchFamily="34" charset="0"/>
                <a:cs typeface="BLS Condensed Bold" panose="00000800000000000000" pitchFamily="2" charset="-34"/>
              </a:rPr>
              <a:t>เดือนพฤษภาคมมักเป็นช่วงอ่อนตัวของตลาด</a:t>
            </a:r>
            <a:endParaRPr lang="en-US" altLang="en-US" sz="2800" dirty="0">
              <a:solidFill>
                <a:schemeClr val="accent2"/>
              </a:solidFill>
              <a:latin typeface="BLS Condensed Bold" panose="00000800000000000000" pitchFamily="2" charset="-34"/>
              <a:ea typeface="Tahoma" pitchFamily="34" charset="0"/>
              <a:cs typeface="BLS Condensed Bold" panose="00000800000000000000" pitchFamily="2" charset="-34"/>
            </a:endParaRPr>
          </a:p>
          <a:p>
            <a:r>
              <a:rPr lang="en-US" altLang="en-US" sz="2800" dirty="0">
                <a:solidFill>
                  <a:schemeClr val="accent2"/>
                </a:solidFill>
                <a:latin typeface="BLS Condensed Bold" panose="00000800000000000000" pitchFamily="2" charset="-34"/>
                <a:ea typeface="Tahoma" pitchFamily="34" charset="0"/>
                <a:cs typeface="BLS Condensed Bold" panose="00000800000000000000" pitchFamily="2" charset="-34"/>
              </a:rPr>
              <a:t>                          </a:t>
            </a:r>
            <a:r>
              <a:rPr lang="th-TH" altLang="en-US" sz="2800" dirty="0">
                <a:solidFill>
                  <a:schemeClr val="accent2"/>
                </a:solidFill>
                <a:latin typeface="BLS Condensed Bold" panose="00000800000000000000" pitchFamily="2" charset="-34"/>
                <a:ea typeface="Tahoma" pitchFamily="34" charset="0"/>
                <a:cs typeface="BLS Condensed Bold" panose="00000800000000000000" pitchFamily="2" charset="-34"/>
              </a:rPr>
              <a:t>ในเชิงฤดูกาล อิงสถิติปี 2014–2025</a:t>
            </a:r>
            <a:endParaRPr lang="en-US" altLang="en-US" sz="2800" dirty="0">
              <a:solidFill>
                <a:schemeClr val="accent2"/>
              </a:solidFill>
              <a:latin typeface="BLS Condensed Bold" panose="00000800000000000000" pitchFamily="2" charset="-34"/>
              <a:ea typeface="Tahoma" pitchFamily="34" charset="0"/>
              <a:cs typeface="BLS Condensed Bold" panose="00000800000000000000" pitchFamily="2" charset="-34"/>
            </a:endParaRPr>
          </a:p>
        </p:txBody>
      </p:sp>
      <p:sp>
        <p:nvSpPr>
          <p:cNvPr id="22" name="TextBox 21">
            <a:extLst>
              <a:ext uri="{FF2B5EF4-FFF2-40B4-BE49-F238E27FC236}">
                <a16:creationId xmlns:a16="http://schemas.microsoft.com/office/drawing/2014/main" id="{12380384-D17D-B534-1278-E25E7E6D1E6E}"/>
              </a:ext>
            </a:extLst>
          </p:cNvPr>
          <p:cNvSpPr txBox="1"/>
          <p:nvPr/>
        </p:nvSpPr>
        <p:spPr>
          <a:xfrm>
            <a:off x="188640" y="4067944"/>
            <a:ext cx="3218842" cy="215444"/>
          </a:xfrm>
          <a:prstGeom prst="rect">
            <a:avLst/>
          </a:prstGeom>
          <a:noFill/>
        </p:spPr>
        <p:txBody>
          <a:bodyPr wrap="square" rtlCol="0">
            <a:spAutoFit/>
          </a:bodyPr>
          <a:lstStyle/>
          <a:p>
            <a:r>
              <a:rPr lang="en-US" sz="800" b="1" dirty="0">
                <a:solidFill>
                  <a:schemeClr val="tx1">
                    <a:lumMod val="95000"/>
                    <a:lumOff val="5000"/>
                  </a:schemeClr>
                </a:solidFill>
                <a:latin typeface="BLS Text" panose="00000500000000000000" pitchFamily="2" charset="-34"/>
                <a:ea typeface="Tahoma" pitchFamily="34" charset="0"/>
                <a:cs typeface="BLS Text" panose="00000500000000000000" pitchFamily="2" charset="-34"/>
              </a:rPr>
              <a:t>SET index </a:t>
            </a:r>
          </a:p>
        </p:txBody>
      </p:sp>
      <p:sp>
        <p:nvSpPr>
          <p:cNvPr id="24" name="TextBox 23">
            <a:extLst>
              <a:ext uri="{FF2B5EF4-FFF2-40B4-BE49-F238E27FC236}">
                <a16:creationId xmlns:a16="http://schemas.microsoft.com/office/drawing/2014/main" id="{97B8DEDE-0323-676D-8E1B-73A6C4102A9D}"/>
              </a:ext>
            </a:extLst>
          </p:cNvPr>
          <p:cNvSpPr txBox="1">
            <a:spLocks noChangeArrowheads="1"/>
          </p:cNvSpPr>
          <p:nvPr/>
        </p:nvSpPr>
        <p:spPr bwMode="auto">
          <a:xfrm>
            <a:off x="427161" y="8116361"/>
            <a:ext cx="2768773"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700" dirty="0">
                <a:solidFill>
                  <a:srgbClr val="404040"/>
                </a:solidFill>
                <a:latin typeface="BLS Condensed" pitchFamily="2" charset="-34"/>
                <a:cs typeface="BLS Condensed" pitchFamily="2" charset="-34"/>
              </a:rPr>
              <a:t>Source</a:t>
            </a:r>
            <a:r>
              <a:rPr lang="th-TH" sz="600" dirty="0">
                <a:solidFill>
                  <a:srgbClr val="404040"/>
                </a:solidFill>
                <a:latin typeface="BLS Condensed" pitchFamily="2" charset="-34"/>
                <a:cs typeface="BLS Condensed" pitchFamily="2" charset="-34"/>
              </a:rPr>
              <a:t>:</a:t>
            </a:r>
            <a:r>
              <a:rPr lang="en-US" sz="600" dirty="0">
                <a:solidFill>
                  <a:srgbClr val="404040"/>
                </a:solidFill>
                <a:latin typeface="BLS Condensed" pitchFamily="2" charset="-34"/>
                <a:cs typeface="BLS Condensed" pitchFamily="2" charset="-34"/>
              </a:rPr>
              <a:t> </a:t>
            </a:r>
            <a:r>
              <a:rPr lang="en-US" sz="700" dirty="0" err="1">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Bualuang</a:t>
            </a:r>
            <a:r>
              <a:rPr lang="en-US" sz="700" dirty="0">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 Research</a:t>
            </a:r>
            <a:endParaRPr lang="en-US" sz="600" dirty="0">
              <a:solidFill>
                <a:srgbClr val="404040"/>
              </a:solidFill>
              <a:latin typeface="BLS Condensed" pitchFamily="2" charset="-34"/>
              <a:cs typeface="BLS Condensed" pitchFamily="2" charset="-34"/>
            </a:endParaRPr>
          </a:p>
        </p:txBody>
      </p:sp>
      <p:cxnSp>
        <p:nvCxnSpPr>
          <p:cNvPr id="26" name="Straight Connector 25">
            <a:extLst>
              <a:ext uri="{FF2B5EF4-FFF2-40B4-BE49-F238E27FC236}">
                <a16:creationId xmlns:a16="http://schemas.microsoft.com/office/drawing/2014/main" id="{80EE2C16-6AB7-3E6F-18FC-8299BA999C4C}"/>
              </a:ext>
            </a:extLst>
          </p:cNvPr>
          <p:cNvCxnSpPr>
            <a:cxnSpLocks/>
          </p:cNvCxnSpPr>
          <p:nvPr/>
        </p:nvCxnSpPr>
        <p:spPr>
          <a:xfrm>
            <a:off x="362735" y="8100392"/>
            <a:ext cx="6220743"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223438BC-E59C-869C-F353-80AA12593D56}"/>
              </a:ext>
            </a:extLst>
          </p:cNvPr>
          <p:cNvPicPr>
            <a:picLocks noChangeAspect="1"/>
          </p:cNvPicPr>
          <p:nvPr/>
        </p:nvPicPr>
        <p:blipFill>
          <a:blip r:embed="rId7"/>
          <a:stretch>
            <a:fillRect/>
          </a:stretch>
        </p:blipFill>
        <p:spPr>
          <a:xfrm>
            <a:off x="188640" y="4283388"/>
            <a:ext cx="6439240" cy="870715"/>
          </a:xfrm>
          <a:prstGeom prst="rect">
            <a:avLst/>
          </a:prstGeom>
        </p:spPr>
      </p:pic>
      <p:sp>
        <p:nvSpPr>
          <p:cNvPr id="4" name="TextBox 3">
            <a:extLst>
              <a:ext uri="{FF2B5EF4-FFF2-40B4-BE49-F238E27FC236}">
                <a16:creationId xmlns:a16="http://schemas.microsoft.com/office/drawing/2014/main" id="{4421E5F0-9AD4-CB60-FE81-624D9C181338}"/>
              </a:ext>
            </a:extLst>
          </p:cNvPr>
          <p:cNvSpPr txBox="1"/>
          <p:nvPr/>
        </p:nvSpPr>
        <p:spPr>
          <a:xfrm>
            <a:off x="188640" y="5180213"/>
            <a:ext cx="3218842" cy="215444"/>
          </a:xfrm>
          <a:prstGeom prst="rect">
            <a:avLst/>
          </a:prstGeom>
          <a:noFill/>
        </p:spPr>
        <p:txBody>
          <a:bodyPr wrap="square" rtlCol="0">
            <a:spAutoFit/>
          </a:bodyPr>
          <a:lstStyle/>
          <a:p>
            <a:r>
              <a:rPr lang="en-US" sz="800" b="1" dirty="0">
                <a:solidFill>
                  <a:schemeClr val="tx1">
                    <a:lumMod val="95000"/>
                    <a:lumOff val="5000"/>
                  </a:schemeClr>
                </a:solidFill>
                <a:latin typeface="BLS Text" panose="00000500000000000000" pitchFamily="2" charset="-34"/>
                <a:ea typeface="Tahoma" pitchFamily="34" charset="0"/>
                <a:cs typeface="BLS Text" panose="00000500000000000000" pitchFamily="2" charset="-34"/>
              </a:rPr>
              <a:t>SETHD index </a:t>
            </a:r>
          </a:p>
        </p:txBody>
      </p:sp>
      <p:pic>
        <p:nvPicPr>
          <p:cNvPr id="6" name="Picture 5">
            <a:extLst>
              <a:ext uri="{FF2B5EF4-FFF2-40B4-BE49-F238E27FC236}">
                <a16:creationId xmlns:a16="http://schemas.microsoft.com/office/drawing/2014/main" id="{FA8265C1-10D7-2E4A-EF20-CC89EC22E58D}"/>
              </a:ext>
            </a:extLst>
          </p:cNvPr>
          <p:cNvPicPr>
            <a:picLocks noChangeAspect="1"/>
          </p:cNvPicPr>
          <p:nvPr/>
        </p:nvPicPr>
        <p:blipFill>
          <a:blip r:embed="rId8"/>
          <a:stretch>
            <a:fillRect/>
          </a:stretch>
        </p:blipFill>
        <p:spPr>
          <a:xfrm>
            <a:off x="188640" y="5422148"/>
            <a:ext cx="6439240" cy="877464"/>
          </a:xfrm>
          <a:prstGeom prst="rect">
            <a:avLst/>
          </a:prstGeom>
        </p:spPr>
      </p:pic>
      <p:sp>
        <p:nvSpPr>
          <p:cNvPr id="11" name="TextBox 10">
            <a:extLst>
              <a:ext uri="{FF2B5EF4-FFF2-40B4-BE49-F238E27FC236}">
                <a16:creationId xmlns:a16="http://schemas.microsoft.com/office/drawing/2014/main" id="{2FFB4FDE-699E-2B31-0755-5497FD7AF4E0}"/>
              </a:ext>
            </a:extLst>
          </p:cNvPr>
          <p:cNvSpPr txBox="1"/>
          <p:nvPr/>
        </p:nvSpPr>
        <p:spPr>
          <a:xfrm>
            <a:off x="285714" y="6518482"/>
            <a:ext cx="6341388" cy="33855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2: </a:t>
            </a:r>
            <a:r>
              <a:rPr lang="th-TH" sz="800" b="1" dirty="0">
                <a:solidFill>
                  <a:schemeClr val="tx1">
                    <a:lumMod val="95000"/>
                    <a:lumOff val="5000"/>
                  </a:schemeClr>
                </a:solidFill>
                <a:latin typeface="BLS Condensed" pitchFamily="2" charset="-34"/>
                <a:ea typeface="Tahoma" pitchFamily="34" charset="0"/>
                <a:cs typeface="BLS Condensed" pitchFamily="2" charset="-34"/>
              </a:rPr>
              <a:t>กลุ่มธนาคารมักเริ่มอ่อนตัวตั้งแต่เดือนเมษายนจากแรงขายหลังขึ้นเครื่องหมาย </a:t>
            </a:r>
            <a:r>
              <a:rPr lang="en-US" sz="800" b="1" dirty="0">
                <a:solidFill>
                  <a:schemeClr val="tx1">
                    <a:lumMod val="95000"/>
                    <a:lumOff val="5000"/>
                  </a:schemeClr>
                </a:solidFill>
                <a:latin typeface="BLS Condensed" pitchFamily="2" charset="-34"/>
                <a:ea typeface="Tahoma" pitchFamily="34" charset="0"/>
                <a:cs typeface="BLS Condensed" pitchFamily="2" charset="-34"/>
              </a:rPr>
              <a:t>XD </a:t>
            </a:r>
            <a:r>
              <a:rPr lang="th-TH" sz="800" b="1" dirty="0">
                <a:solidFill>
                  <a:schemeClr val="tx1">
                    <a:lumMod val="95000"/>
                    <a:lumOff val="5000"/>
                  </a:schemeClr>
                </a:solidFill>
                <a:latin typeface="BLS Condensed" pitchFamily="2" charset="-34"/>
                <a:ea typeface="Tahoma" pitchFamily="34" charset="0"/>
                <a:cs typeface="BLS Condensed" pitchFamily="2" charset="-34"/>
              </a:rPr>
              <a:t>ก่อนจะปรับลงต่ออีกในเดือนพฤษภาคม</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แล้วจึงเริ่มสร้างฐานและทยอยฟื้นตัวในช่วงเดือนกรกฎาคม–สิงหาคม</a:t>
            </a:r>
            <a:endParaRPr lang="en-US" sz="800" b="1" dirty="0">
              <a:solidFill>
                <a:schemeClr val="tx1">
                  <a:lumMod val="95000"/>
                  <a:lumOff val="5000"/>
                </a:schemeClr>
              </a:solidFill>
              <a:latin typeface="BLS Condensed" pitchFamily="2" charset="-34"/>
              <a:ea typeface="Tahoma" pitchFamily="34" charset="0"/>
              <a:cs typeface="BLS Condensed" pitchFamily="2" charset="-34"/>
            </a:endParaRPr>
          </a:p>
        </p:txBody>
      </p:sp>
      <p:cxnSp>
        <p:nvCxnSpPr>
          <p:cNvPr id="16" name="Straight Connector 15">
            <a:extLst>
              <a:ext uri="{FF2B5EF4-FFF2-40B4-BE49-F238E27FC236}">
                <a16:creationId xmlns:a16="http://schemas.microsoft.com/office/drawing/2014/main" id="{FD5D23BE-3E01-C94B-61B3-74EC2E61E5BC}"/>
              </a:ext>
            </a:extLst>
          </p:cNvPr>
          <p:cNvCxnSpPr/>
          <p:nvPr/>
        </p:nvCxnSpPr>
        <p:spPr>
          <a:xfrm>
            <a:off x="304368" y="6509597"/>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F91DB335-E77E-D32F-5AC0-7C6296B31C74}"/>
              </a:ext>
            </a:extLst>
          </p:cNvPr>
          <p:cNvSpPr txBox="1"/>
          <p:nvPr/>
        </p:nvSpPr>
        <p:spPr>
          <a:xfrm>
            <a:off x="187862" y="6869637"/>
            <a:ext cx="3218842" cy="215444"/>
          </a:xfrm>
          <a:prstGeom prst="rect">
            <a:avLst/>
          </a:prstGeom>
          <a:noFill/>
        </p:spPr>
        <p:txBody>
          <a:bodyPr wrap="square" rtlCol="0">
            <a:spAutoFit/>
          </a:bodyPr>
          <a:lstStyle/>
          <a:p>
            <a:r>
              <a:rPr lang="en-US" sz="800" b="1" dirty="0">
                <a:solidFill>
                  <a:schemeClr val="tx1">
                    <a:lumMod val="95000"/>
                    <a:lumOff val="5000"/>
                  </a:schemeClr>
                </a:solidFill>
                <a:latin typeface="BLS Text" panose="00000500000000000000" pitchFamily="2" charset="-34"/>
                <a:ea typeface="Tahoma" pitchFamily="34" charset="0"/>
                <a:cs typeface="BLS Text" panose="00000500000000000000" pitchFamily="2" charset="-34"/>
              </a:rPr>
              <a:t>SETBANK index </a:t>
            </a:r>
          </a:p>
        </p:txBody>
      </p:sp>
      <p:pic>
        <p:nvPicPr>
          <p:cNvPr id="29" name="Picture 28">
            <a:extLst>
              <a:ext uri="{FF2B5EF4-FFF2-40B4-BE49-F238E27FC236}">
                <a16:creationId xmlns:a16="http://schemas.microsoft.com/office/drawing/2014/main" id="{503CD52F-7C4F-EF64-57BC-018487A27866}"/>
              </a:ext>
            </a:extLst>
          </p:cNvPr>
          <p:cNvPicPr>
            <a:picLocks noChangeAspect="1"/>
          </p:cNvPicPr>
          <p:nvPr/>
        </p:nvPicPr>
        <p:blipFill>
          <a:blip r:embed="rId9"/>
          <a:stretch>
            <a:fillRect/>
          </a:stretch>
        </p:blipFill>
        <p:spPr>
          <a:xfrm>
            <a:off x="186978" y="7096341"/>
            <a:ext cx="6439240" cy="931463"/>
          </a:xfrm>
          <a:prstGeom prst="rect">
            <a:avLst/>
          </a:prstGeom>
        </p:spPr>
      </p:pic>
    </p:spTree>
    <p:extLst>
      <p:ext uri="{BB962C8B-B14F-4D97-AF65-F5344CB8AC3E}">
        <p14:creationId xmlns:p14="http://schemas.microsoft.com/office/powerpoint/2010/main" val="2423195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8602"/>
          <a:stretch/>
        </p:blipFill>
        <p:spPr>
          <a:xfrm>
            <a:off x="0" y="0"/>
            <a:ext cx="6858000" cy="8689302"/>
          </a:xfrm>
          <a:prstGeom prst="rect">
            <a:avLst/>
          </a:prstGeom>
        </p:spPr>
      </p:pic>
      <p:sp>
        <p:nvSpPr>
          <p:cNvPr id="19" name="TextBox 18">
            <a:extLst>
              <a:ext uri="{FF2B5EF4-FFF2-40B4-BE49-F238E27FC236}">
                <a16:creationId xmlns:a16="http://schemas.microsoft.com/office/drawing/2014/main" id="{01D3EDA3-679C-BA8B-9EDE-9A31378F2861}"/>
              </a:ext>
            </a:extLst>
          </p:cNvPr>
          <p:cNvSpPr txBox="1"/>
          <p:nvPr/>
        </p:nvSpPr>
        <p:spPr>
          <a:xfrm>
            <a:off x="658256" y="3343963"/>
            <a:ext cx="72008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12 ธ.ค. </a:t>
            </a:r>
          </a:p>
        </p:txBody>
      </p:sp>
      <p:sp>
        <p:nvSpPr>
          <p:cNvPr id="20" name="TextBox 19">
            <a:extLst>
              <a:ext uri="{FF2B5EF4-FFF2-40B4-BE49-F238E27FC236}">
                <a16:creationId xmlns:a16="http://schemas.microsoft.com/office/drawing/2014/main" id="{FC28B75D-C3AA-F0C5-6200-83DB873637CB}"/>
              </a:ext>
            </a:extLst>
          </p:cNvPr>
          <p:cNvSpPr txBox="1"/>
          <p:nvPr/>
        </p:nvSpPr>
        <p:spPr>
          <a:xfrm>
            <a:off x="531946" y="3335789"/>
            <a:ext cx="904643"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ราชกิจจาประกาศยุบสภา</a:t>
            </a:r>
          </a:p>
        </p:txBody>
      </p:sp>
      <p:sp>
        <p:nvSpPr>
          <p:cNvPr id="21" name="TextBox 20">
            <a:extLst>
              <a:ext uri="{FF2B5EF4-FFF2-40B4-BE49-F238E27FC236}">
                <a16:creationId xmlns:a16="http://schemas.microsoft.com/office/drawing/2014/main" id="{C1FE4F51-5E04-9485-3236-75E85E050C64}"/>
              </a:ext>
            </a:extLst>
          </p:cNvPr>
          <p:cNvSpPr txBox="1"/>
          <p:nvPr/>
        </p:nvSpPr>
        <p:spPr>
          <a:xfrm>
            <a:off x="1497212" y="3343963"/>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13-17 ธ.ค.</a:t>
            </a:r>
          </a:p>
        </p:txBody>
      </p:sp>
      <p:sp>
        <p:nvSpPr>
          <p:cNvPr id="25" name="TextBox 24">
            <a:extLst>
              <a:ext uri="{FF2B5EF4-FFF2-40B4-BE49-F238E27FC236}">
                <a16:creationId xmlns:a16="http://schemas.microsoft.com/office/drawing/2014/main" id="{D3C2255B-69C2-3386-D320-629A8A4034DA}"/>
              </a:ext>
            </a:extLst>
          </p:cNvPr>
          <p:cNvSpPr txBox="1"/>
          <p:nvPr/>
        </p:nvSpPr>
        <p:spPr>
          <a:xfrm>
            <a:off x="2319090" y="3343963"/>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20-28 ธ.ค.</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3335789"/>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3331894"/>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3361535"/>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3352538"/>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sp>
        <p:nvSpPr>
          <p:cNvPr id="2" name="TextBox 1">
            <a:extLst>
              <a:ext uri="{FF2B5EF4-FFF2-40B4-BE49-F238E27FC236}">
                <a16:creationId xmlns:a16="http://schemas.microsoft.com/office/drawing/2014/main" id="{9E85ABDE-7CE6-F0E6-1824-B9305003B1AB}"/>
              </a:ext>
            </a:extLst>
          </p:cNvPr>
          <p:cNvSpPr txBox="1"/>
          <p:nvPr/>
        </p:nvSpPr>
        <p:spPr>
          <a:xfrm>
            <a:off x="188640" y="2123728"/>
            <a:ext cx="3164970" cy="1423467"/>
          </a:xfrm>
          <a:prstGeom prst="rect">
            <a:avLst/>
          </a:prstGeom>
          <a:solidFill>
            <a:srgbClr val="EDEDED">
              <a:alpha val="60000"/>
            </a:srgbClr>
          </a:solidFill>
          <a:ln>
            <a:noFill/>
          </a:ln>
        </p:spPr>
        <p:txBody>
          <a:bodyPr wrap="square" rtlCol="0">
            <a:spAutoFit/>
          </a:bodyPr>
          <a:lstStyle/>
          <a:p>
            <a:pPr algn="thaiDist">
              <a:lnSpc>
                <a:spcPct val="120000"/>
              </a:lnSpc>
              <a:spcBef>
                <a:spcPts val="300"/>
              </a:spcBef>
              <a:buSzPct val="120000"/>
            </a:pPr>
            <a:r>
              <a:rPr lang="th-TH" sz="1000" dirty="0">
                <a:solidFill>
                  <a:schemeClr val="tx1">
                    <a:lumMod val="65000"/>
                    <a:lumOff val="35000"/>
                  </a:schemeClr>
                </a:solidFill>
                <a:latin typeface="BLS Text" panose="00000500000000000000" pitchFamily="2" charset="-34"/>
                <a:cs typeface="BLS Text" pitchFamily="2" charset="-34"/>
              </a:rPr>
              <a:t>ปกติผลตอบแทนเงินปันผล (</a:t>
            </a:r>
            <a:r>
              <a:rPr lang="en-US" sz="1000" dirty="0">
                <a:solidFill>
                  <a:schemeClr val="tx1">
                    <a:lumMod val="65000"/>
                    <a:lumOff val="35000"/>
                  </a:schemeClr>
                </a:solidFill>
                <a:latin typeface="BLS Text" panose="00000500000000000000" pitchFamily="2" charset="-34"/>
                <a:cs typeface="BLS Text" pitchFamily="2" charset="-34"/>
              </a:rPr>
              <a:t>Dividend yield) </a:t>
            </a:r>
            <a:r>
              <a:rPr lang="th-TH" sz="1000" dirty="0">
                <a:solidFill>
                  <a:schemeClr val="tx1">
                    <a:lumMod val="65000"/>
                    <a:lumOff val="35000"/>
                  </a:schemeClr>
                </a:solidFill>
                <a:latin typeface="BLS Text" panose="00000500000000000000" pitchFamily="2" charset="-34"/>
                <a:cs typeface="BLS Text" pitchFamily="2" charset="-34"/>
              </a:rPr>
              <a:t>ของ </a:t>
            </a:r>
            <a:r>
              <a:rPr lang="en-US" sz="1000" dirty="0">
                <a:solidFill>
                  <a:schemeClr val="tx1">
                    <a:lumMod val="65000"/>
                    <a:lumOff val="35000"/>
                  </a:schemeClr>
                </a:solidFill>
                <a:latin typeface="BLS Text" panose="00000500000000000000" pitchFamily="2" charset="-34"/>
                <a:cs typeface="BLS Text" pitchFamily="2" charset="-34"/>
              </a:rPr>
              <a:t>SET </a:t>
            </a:r>
            <a:r>
              <a:rPr lang="th-TH" sz="1000" dirty="0">
                <a:solidFill>
                  <a:schemeClr val="tx1">
                    <a:lumMod val="65000"/>
                    <a:lumOff val="35000"/>
                  </a:schemeClr>
                </a:solidFill>
                <a:latin typeface="BLS Text" panose="00000500000000000000" pitchFamily="2" charset="-34"/>
                <a:cs typeface="BLS Text" pitchFamily="2" charset="-34"/>
              </a:rPr>
              <a:t>เฉลี่ยอยู่ราวๆ 3% กรอบ 2.5-4% ถ้า 3.5% ขึ้นไป (ราว +1</a:t>
            </a:r>
            <a:r>
              <a:rPr lang="en-US" sz="1000" dirty="0">
                <a:solidFill>
                  <a:schemeClr val="tx1">
                    <a:lumMod val="65000"/>
                    <a:lumOff val="35000"/>
                  </a:schemeClr>
                </a:solidFill>
                <a:latin typeface="BLS Text" panose="00000500000000000000" pitchFamily="2" charset="-34"/>
                <a:cs typeface="BLS Text" pitchFamily="2" charset="-34"/>
              </a:rPr>
              <a:t>SD</a:t>
            </a:r>
            <a:r>
              <a:rPr lang="th-TH" sz="1000" dirty="0">
                <a:solidFill>
                  <a:schemeClr val="tx1">
                    <a:lumMod val="65000"/>
                    <a:lumOff val="35000"/>
                  </a:schemeClr>
                </a:solidFill>
                <a:latin typeface="BLS Text" panose="00000500000000000000" pitchFamily="2" charset="-34"/>
                <a:cs typeface="BLS Text" pitchFamily="2" charset="-34"/>
              </a:rPr>
              <a:t> เทียบค่าเฉลี่ย) ถือว่าสูง ขณะที่ ส่วนต่างผลตอบแทนเงินปันผล (</a:t>
            </a:r>
            <a:r>
              <a:rPr lang="en-US" sz="1000" dirty="0">
                <a:solidFill>
                  <a:schemeClr val="tx1">
                    <a:lumMod val="65000"/>
                    <a:lumOff val="35000"/>
                  </a:schemeClr>
                </a:solidFill>
                <a:latin typeface="BLS Text" panose="00000500000000000000" pitchFamily="2" charset="-34"/>
                <a:cs typeface="BLS Text" pitchFamily="2" charset="-34"/>
              </a:rPr>
              <a:t>Dividend yield gap) </a:t>
            </a:r>
            <a:r>
              <a:rPr lang="th-TH" sz="1000" dirty="0">
                <a:solidFill>
                  <a:schemeClr val="tx1">
                    <a:lumMod val="65000"/>
                    <a:lumOff val="35000"/>
                  </a:schemeClr>
                </a:solidFill>
                <a:latin typeface="BLS Text" panose="00000500000000000000" pitchFamily="2" charset="-34"/>
                <a:cs typeface="BLS Text" pitchFamily="2" charset="-34"/>
              </a:rPr>
              <a:t>เทียบผลตอบแทนพันธบัตรรัฐบาลไทยรุ่น 10 ปี (10</a:t>
            </a:r>
            <a:r>
              <a:rPr lang="en-US" sz="1000" dirty="0">
                <a:solidFill>
                  <a:schemeClr val="tx1">
                    <a:lumMod val="65000"/>
                    <a:lumOff val="35000"/>
                  </a:schemeClr>
                </a:solidFill>
                <a:latin typeface="BLS Text" panose="00000500000000000000" pitchFamily="2" charset="-34"/>
                <a:cs typeface="BLS Text" pitchFamily="2" charset="-34"/>
              </a:rPr>
              <a:t>Y bond yield) </a:t>
            </a:r>
            <a:r>
              <a:rPr lang="th-TH" sz="1000" dirty="0">
                <a:solidFill>
                  <a:schemeClr val="tx1">
                    <a:lumMod val="65000"/>
                    <a:lumOff val="35000"/>
                  </a:schemeClr>
                </a:solidFill>
                <a:latin typeface="BLS Text" panose="00000500000000000000" pitchFamily="2" charset="-34"/>
                <a:cs typeface="BLS Text" pitchFamily="2" charset="-34"/>
              </a:rPr>
              <a:t>ปกติ ค่าเฉลี่ยจะอยู่ที่ 1% กรอบ 0- 2.5% หากเกิน 1.5% (ราว +1</a:t>
            </a:r>
            <a:r>
              <a:rPr lang="en-US" sz="1000" dirty="0">
                <a:solidFill>
                  <a:schemeClr val="tx1">
                    <a:lumMod val="65000"/>
                    <a:lumOff val="35000"/>
                  </a:schemeClr>
                </a:solidFill>
                <a:latin typeface="BLS Text" panose="00000500000000000000" pitchFamily="2" charset="-34"/>
                <a:cs typeface="BLS Text" pitchFamily="2" charset="-34"/>
              </a:rPr>
              <a:t>SD </a:t>
            </a:r>
            <a:r>
              <a:rPr lang="th-TH" sz="1000" dirty="0">
                <a:solidFill>
                  <a:schemeClr val="tx1">
                    <a:lumMod val="65000"/>
                    <a:lumOff val="35000"/>
                  </a:schemeClr>
                </a:solidFill>
                <a:latin typeface="BLS Text" panose="00000500000000000000" pitchFamily="2" charset="-34"/>
                <a:cs typeface="BLS Text" pitchFamily="2" charset="-34"/>
              </a:rPr>
              <a:t>เทียบค่าเฉลี่ย) ถือว่าสูง</a:t>
            </a:r>
          </a:p>
        </p:txBody>
      </p:sp>
      <p:sp>
        <p:nvSpPr>
          <p:cNvPr id="15" name="TextBox 14">
            <a:extLst>
              <a:ext uri="{FF2B5EF4-FFF2-40B4-BE49-F238E27FC236}">
                <a16:creationId xmlns:a16="http://schemas.microsoft.com/office/drawing/2014/main" id="{546F7F14-A377-C8CF-5D1E-8DDF1256B72B}"/>
              </a:ext>
            </a:extLst>
          </p:cNvPr>
          <p:cNvSpPr txBox="1"/>
          <p:nvPr/>
        </p:nvSpPr>
        <p:spPr>
          <a:xfrm>
            <a:off x="3462910" y="2123728"/>
            <a:ext cx="3164970" cy="1054135"/>
          </a:xfrm>
          <a:prstGeom prst="rect">
            <a:avLst/>
          </a:prstGeom>
          <a:solidFill>
            <a:srgbClr val="EDEDED">
              <a:alpha val="60000"/>
            </a:srgbClr>
          </a:solidFill>
          <a:ln>
            <a:noFill/>
          </a:ln>
        </p:spPr>
        <p:txBody>
          <a:bodyPr wrap="square" rtlCol="0">
            <a:spAutoFit/>
          </a:bodyPr>
          <a:lstStyle/>
          <a:p>
            <a:pPr algn="thaiDist">
              <a:lnSpc>
                <a:spcPct val="120000"/>
              </a:lnSpc>
              <a:spcBef>
                <a:spcPts val="300"/>
              </a:spcBef>
              <a:buSzPct val="120000"/>
            </a:pPr>
            <a:r>
              <a:rPr lang="th-TH" sz="1000" dirty="0">
                <a:solidFill>
                  <a:schemeClr val="tx1">
                    <a:lumMod val="65000"/>
                    <a:lumOff val="35000"/>
                  </a:schemeClr>
                </a:solidFill>
                <a:latin typeface="BLS Text" panose="00000500000000000000" pitchFamily="2" charset="-34"/>
                <a:cs typeface="BLS Text" pitchFamily="2" charset="-34"/>
              </a:rPr>
              <a:t>โดยปัจจุบัน </a:t>
            </a:r>
            <a:r>
              <a:rPr lang="en-US" sz="1000" dirty="0">
                <a:solidFill>
                  <a:schemeClr val="tx1">
                    <a:lumMod val="65000"/>
                    <a:lumOff val="35000"/>
                  </a:schemeClr>
                </a:solidFill>
                <a:latin typeface="BLS Text" panose="00000500000000000000" pitchFamily="2" charset="-34"/>
                <a:cs typeface="BLS Text" pitchFamily="2" charset="-34"/>
              </a:rPr>
              <a:t>Dividend yield gap </a:t>
            </a:r>
            <a:r>
              <a:rPr lang="th-TH" sz="1000" dirty="0">
                <a:solidFill>
                  <a:schemeClr val="tx1">
                    <a:lumMod val="65000"/>
                    <a:lumOff val="35000"/>
                  </a:schemeClr>
                </a:solidFill>
                <a:latin typeface="BLS Text" panose="00000500000000000000" pitchFamily="2" charset="-34"/>
                <a:cs typeface="BLS Text" pitchFamily="2" charset="-34"/>
              </a:rPr>
              <a:t>อยู่ที่ 1.7% ยังอยู่ในจุดสูงสุดใกล้เคียงช่วงโควิด </a:t>
            </a:r>
          </a:p>
          <a:p>
            <a:pPr algn="thaiDist">
              <a:lnSpc>
                <a:spcPct val="120000"/>
              </a:lnSpc>
              <a:spcBef>
                <a:spcPts val="300"/>
              </a:spcBef>
              <a:buSzPct val="120000"/>
            </a:pPr>
            <a:r>
              <a:rPr lang="th-TH" sz="1000" dirty="0">
                <a:solidFill>
                  <a:schemeClr val="tx1">
                    <a:lumMod val="65000"/>
                    <a:lumOff val="35000"/>
                  </a:schemeClr>
                </a:solidFill>
                <a:latin typeface="BLS Text" panose="00000500000000000000" pitchFamily="2" charset="-34"/>
                <a:cs typeface="BLS Text" pitchFamily="2" charset="-34"/>
              </a:rPr>
              <a:t>(คาดการณ์ผลตอบแทนเงินปันผลปี 2026 ที่ 3.8% และ 10</a:t>
            </a:r>
            <a:r>
              <a:rPr lang="en-US" sz="1000" dirty="0">
                <a:solidFill>
                  <a:schemeClr val="tx1">
                    <a:lumMod val="65000"/>
                    <a:lumOff val="35000"/>
                  </a:schemeClr>
                </a:solidFill>
                <a:latin typeface="BLS Text" panose="00000500000000000000" pitchFamily="2" charset="-34"/>
                <a:cs typeface="BLS Text" pitchFamily="2" charset="-34"/>
              </a:rPr>
              <a:t>Y bond yield </a:t>
            </a:r>
            <a:r>
              <a:rPr lang="th-TH" sz="1000" dirty="0">
                <a:solidFill>
                  <a:schemeClr val="tx1">
                    <a:lumMod val="65000"/>
                    <a:lumOff val="35000"/>
                  </a:schemeClr>
                </a:solidFill>
                <a:latin typeface="BLS Text" panose="00000500000000000000" pitchFamily="2" charset="-34"/>
                <a:cs typeface="BLS Text" pitchFamily="2" charset="-34"/>
              </a:rPr>
              <a:t>ที่ 2.1%) สูงกว่าค่าเฉลี่ย 10 ปี 1</a:t>
            </a:r>
            <a:r>
              <a:rPr lang="en-US" sz="1000" dirty="0">
                <a:solidFill>
                  <a:schemeClr val="tx1">
                    <a:lumMod val="65000"/>
                    <a:lumOff val="35000"/>
                  </a:schemeClr>
                </a:solidFill>
                <a:latin typeface="BLS Text" panose="00000500000000000000" pitchFamily="2" charset="-34"/>
                <a:cs typeface="BLS Text" pitchFamily="2" charset="-34"/>
              </a:rPr>
              <a:t>SD </a:t>
            </a:r>
            <a:r>
              <a:rPr lang="th-TH" sz="1000" dirty="0">
                <a:solidFill>
                  <a:schemeClr val="tx1">
                    <a:lumMod val="65000"/>
                    <a:lumOff val="35000"/>
                  </a:schemeClr>
                </a:solidFill>
                <a:latin typeface="BLS Text" panose="00000500000000000000" pitchFamily="2" charset="-34"/>
                <a:cs typeface="BLS Text" pitchFamily="2" charset="-34"/>
              </a:rPr>
              <a:t>สะท้อนว่าหุ้นปันผลยังอยู่ในจุดที่น่าสนใจ</a:t>
            </a:r>
          </a:p>
        </p:txBody>
      </p:sp>
      <p:cxnSp>
        <p:nvCxnSpPr>
          <p:cNvPr id="18" name="Straight Connector 17">
            <a:extLst>
              <a:ext uri="{FF2B5EF4-FFF2-40B4-BE49-F238E27FC236}">
                <a16:creationId xmlns:a16="http://schemas.microsoft.com/office/drawing/2014/main" id="{811E1CC9-D26F-1122-558A-414813438452}"/>
              </a:ext>
            </a:extLst>
          </p:cNvPr>
          <p:cNvCxnSpPr>
            <a:cxnSpLocks/>
          </p:cNvCxnSpPr>
          <p:nvPr/>
        </p:nvCxnSpPr>
        <p:spPr>
          <a:xfrm>
            <a:off x="320593" y="874846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81748675-2985-66A0-18EB-8B4E8A4F54F6}"/>
              </a:ext>
            </a:extLst>
          </p:cNvPr>
          <p:cNvSpPr txBox="1"/>
          <p:nvPr/>
        </p:nvSpPr>
        <p:spPr>
          <a:xfrm>
            <a:off x="286492" y="3680931"/>
            <a:ext cx="6022828" cy="33855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3: </a:t>
            </a:r>
            <a:r>
              <a:rPr lang="th-TH" sz="800" b="1" dirty="0">
                <a:solidFill>
                  <a:schemeClr val="tx1">
                    <a:lumMod val="95000"/>
                    <a:lumOff val="5000"/>
                  </a:schemeClr>
                </a:solidFill>
                <a:latin typeface="BLS Condensed" pitchFamily="2" charset="-34"/>
                <a:ea typeface="Tahoma" pitchFamily="34" charset="0"/>
                <a:cs typeface="BLS Condensed" pitchFamily="2" charset="-34"/>
              </a:rPr>
              <a:t>หุ้นปันผลยังอยู่ในจุดที่น่าสนใจ </a:t>
            </a:r>
            <a:r>
              <a:rPr lang="en-US" sz="800" dirty="0">
                <a:solidFill>
                  <a:schemeClr val="tx1">
                    <a:lumMod val="95000"/>
                    <a:lumOff val="5000"/>
                  </a:schemeClr>
                </a:solidFill>
                <a:latin typeface="BLS Condensed" pitchFamily="2" charset="-34"/>
                <a:ea typeface="Tahoma" pitchFamily="34" charset="0"/>
                <a:cs typeface="BLS Condensed" pitchFamily="2" charset="-34"/>
              </a:rPr>
              <a:t>-</a:t>
            </a:r>
            <a:r>
              <a:rPr lang="th-TH" sz="800" dirty="0">
                <a:solidFill>
                  <a:schemeClr val="tx1">
                    <a:lumMod val="95000"/>
                    <a:lumOff val="5000"/>
                  </a:schemeClr>
                </a:solidFill>
                <a:latin typeface="BLS Condensed" pitchFamily="2" charset="-34"/>
                <a:ea typeface="Tahoma" pitchFamily="34" charset="0"/>
                <a:cs typeface="BLS Condensed" pitchFamily="2" charset="-34"/>
              </a:rPr>
              <a:t>ปัจจุบัน </a:t>
            </a:r>
            <a:r>
              <a:rPr lang="en-US" sz="800" dirty="0">
                <a:solidFill>
                  <a:schemeClr val="tx1">
                    <a:lumMod val="95000"/>
                    <a:lumOff val="5000"/>
                  </a:schemeClr>
                </a:solidFill>
                <a:latin typeface="BLS Condensed" pitchFamily="2" charset="-34"/>
                <a:ea typeface="Tahoma" pitchFamily="34" charset="0"/>
                <a:cs typeface="BLS Condensed" pitchFamily="2" charset="-34"/>
              </a:rPr>
              <a:t>Dividend yield gap </a:t>
            </a:r>
            <a:r>
              <a:rPr lang="th-TH" sz="800" dirty="0">
                <a:solidFill>
                  <a:schemeClr val="tx1">
                    <a:lumMod val="95000"/>
                    <a:lumOff val="5000"/>
                  </a:schemeClr>
                </a:solidFill>
                <a:latin typeface="BLS Condensed" pitchFamily="2" charset="-34"/>
                <a:ea typeface="Tahoma" pitchFamily="34" charset="0"/>
                <a:cs typeface="BLS Condensed" pitchFamily="2" charset="-34"/>
              </a:rPr>
              <a:t>อยู่ที่ 1.7% ยังอยู่ในจุดสูงสุดใกล้เคียงช่วงโควิด (คาดการณ์ผลตอบแทนเงินปันผลปี 2026 ที่ 3.8% และ 10</a:t>
            </a:r>
            <a:r>
              <a:rPr lang="en-US" sz="800" dirty="0">
                <a:solidFill>
                  <a:schemeClr val="tx1">
                    <a:lumMod val="95000"/>
                    <a:lumOff val="5000"/>
                  </a:schemeClr>
                </a:solidFill>
                <a:latin typeface="BLS Condensed" pitchFamily="2" charset="-34"/>
                <a:ea typeface="Tahoma" pitchFamily="34" charset="0"/>
                <a:cs typeface="BLS Condensed" pitchFamily="2" charset="-34"/>
              </a:rPr>
              <a:t>Y bond yield </a:t>
            </a:r>
            <a:r>
              <a:rPr lang="th-TH" sz="800" dirty="0">
                <a:solidFill>
                  <a:schemeClr val="tx1">
                    <a:lumMod val="95000"/>
                    <a:lumOff val="5000"/>
                  </a:schemeClr>
                </a:solidFill>
                <a:latin typeface="BLS Condensed" pitchFamily="2" charset="-34"/>
                <a:ea typeface="Tahoma" pitchFamily="34" charset="0"/>
                <a:cs typeface="BLS Condensed" pitchFamily="2" charset="-34"/>
              </a:rPr>
              <a:t>ที่ 2.1%) สูงกว่าค่าเฉลี่ย 10 ปี 1</a:t>
            </a:r>
            <a:r>
              <a:rPr lang="en-US" sz="800" dirty="0">
                <a:solidFill>
                  <a:schemeClr val="tx1">
                    <a:lumMod val="95000"/>
                    <a:lumOff val="5000"/>
                  </a:schemeClr>
                </a:solidFill>
                <a:latin typeface="BLS Condensed" pitchFamily="2" charset="-34"/>
                <a:ea typeface="Tahoma" pitchFamily="34" charset="0"/>
                <a:cs typeface="BLS Condensed" pitchFamily="2" charset="-34"/>
              </a:rPr>
              <a:t>SD</a:t>
            </a:r>
            <a:endParaRPr lang="th-TH" sz="800" dirty="0">
              <a:solidFill>
                <a:schemeClr val="tx1">
                  <a:lumMod val="95000"/>
                  <a:lumOff val="5000"/>
                </a:schemeClr>
              </a:solidFill>
              <a:latin typeface="BLS Condensed" pitchFamily="2" charset="-34"/>
              <a:ea typeface="Tahoma" pitchFamily="34" charset="0"/>
              <a:cs typeface="BLS Condensed" pitchFamily="2" charset="-34"/>
            </a:endParaRPr>
          </a:p>
        </p:txBody>
      </p:sp>
      <p:cxnSp>
        <p:nvCxnSpPr>
          <p:cNvPr id="31" name="Straight Connector 30">
            <a:extLst>
              <a:ext uri="{FF2B5EF4-FFF2-40B4-BE49-F238E27FC236}">
                <a16:creationId xmlns:a16="http://schemas.microsoft.com/office/drawing/2014/main" id="{ED544969-6829-5FFD-1765-676D76EE5F5B}"/>
              </a:ext>
            </a:extLst>
          </p:cNvPr>
          <p:cNvCxnSpPr/>
          <p:nvPr/>
        </p:nvCxnSpPr>
        <p:spPr>
          <a:xfrm>
            <a:off x="305146" y="3672046"/>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7AA2941-9659-DEF5-69DF-BE120C176F29}"/>
              </a:ext>
            </a:extLst>
          </p:cNvPr>
          <p:cNvSpPr/>
          <p:nvPr/>
        </p:nvSpPr>
        <p:spPr>
          <a:xfrm>
            <a:off x="297857" y="8748464"/>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974B464D-079C-66D5-267A-B0271C83992E}"/>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716ED43-E385-A160-9D3A-0264F1B0EE0B}"/>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C8FA6393-E3EE-E08E-89C6-D50BB8050980}"/>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10" name="TextBox 9">
            <a:extLst>
              <a:ext uri="{FF2B5EF4-FFF2-40B4-BE49-F238E27FC236}">
                <a16:creationId xmlns:a16="http://schemas.microsoft.com/office/drawing/2014/main" id="{C2139EFA-0963-F3E4-30F9-FE4954797181}"/>
              </a:ext>
            </a:extLst>
          </p:cNvPr>
          <p:cNvSpPr txBox="1"/>
          <p:nvPr/>
        </p:nvSpPr>
        <p:spPr>
          <a:xfrm>
            <a:off x="188640" y="851391"/>
            <a:ext cx="6439240" cy="1200329"/>
          </a:xfrm>
          <a:prstGeom prst="rect">
            <a:avLst/>
          </a:prstGeom>
          <a:noFill/>
        </p:spPr>
        <p:txBody>
          <a:bodyPr wrap="square">
            <a:spAutoFit/>
          </a:bodyPr>
          <a:lstStyle/>
          <a:p>
            <a:r>
              <a:rPr lang="th-TH" altLang="en-US" sz="3600" dirty="0">
                <a:solidFill>
                  <a:schemeClr val="accent2"/>
                </a:solidFill>
                <a:latin typeface="BLS Condensed Bold" panose="00000800000000000000" pitchFamily="2" charset="-34"/>
                <a:ea typeface="Tahoma" pitchFamily="34" charset="0"/>
                <a:cs typeface="BLS Condensed Bold" panose="00000800000000000000" pitchFamily="2" charset="-34"/>
              </a:rPr>
              <a:t>  ประเมินประเมินความน่าสนใจ</a:t>
            </a:r>
          </a:p>
          <a:p>
            <a:r>
              <a:rPr lang="th-TH" altLang="en-US" sz="3600" dirty="0">
                <a:solidFill>
                  <a:schemeClr val="accent2"/>
                </a:solidFill>
                <a:latin typeface="BLS Condensed Bold" panose="00000800000000000000" pitchFamily="2" charset="-34"/>
                <a:ea typeface="Tahoma" pitchFamily="34" charset="0"/>
                <a:cs typeface="BLS Condensed Bold" panose="00000800000000000000" pitchFamily="2" charset="-34"/>
              </a:rPr>
              <a:t>                                        ยีลด์เท่าไรถึงพอ?</a:t>
            </a:r>
            <a:r>
              <a:rPr lang="en-US" altLang="en-US" sz="3600" dirty="0">
                <a:solidFill>
                  <a:schemeClr val="accent2"/>
                </a:solidFill>
                <a:latin typeface="BLS Condensed Bold" panose="00000800000000000000" pitchFamily="2" charset="-34"/>
                <a:ea typeface="Tahoma" pitchFamily="34" charset="0"/>
                <a:cs typeface="BLS Condensed Bold" panose="00000800000000000000" pitchFamily="2" charset="-34"/>
              </a:rPr>
              <a:t>                                </a:t>
            </a:r>
          </a:p>
        </p:txBody>
      </p:sp>
      <p:sp>
        <p:nvSpPr>
          <p:cNvPr id="24" name="TextBox 23">
            <a:extLst>
              <a:ext uri="{FF2B5EF4-FFF2-40B4-BE49-F238E27FC236}">
                <a16:creationId xmlns:a16="http://schemas.microsoft.com/office/drawing/2014/main" id="{97B8DEDE-0323-676D-8E1B-73A6C4102A9D}"/>
              </a:ext>
            </a:extLst>
          </p:cNvPr>
          <p:cNvSpPr txBox="1">
            <a:spLocks noChangeArrowheads="1"/>
          </p:cNvSpPr>
          <p:nvPr/>
        </p:nvSpPr>
        <p:spPr bwMode="auto">
          <a:xfrm>
            <a:off x="427161" y="8460432"/>
            <a:ext cx="2768773"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700" dirty="0">
                <a:solidFill>
                  <a:srgbClr val="404040"/>
                </a:solidFill>
                <a:latin typeface="BLS Condensed" pitchFamily="2" charset="-34"/>
                <a:cs typeface="BLS Condensed" pitchFamily="2" charset="-34"/>
              </a:rPr>
              <a:t>Source</a:t>
            </a:r>
            <a:r>
              <a:rPr lang="th-TH" sz="600" dirty="0">
                <a:solidFill>
                  <a:srgbClr val="404040"/>
                </a:solidFill>
                <a:latin typeface="BLS Condensed" pitchFamily="2" charset="-34"/>
                <a:cs typeface="BLS Condensed" pitchFamily="2" charset="-34"/>
              </a:rPr>
              <a:t>:</a:t>
            </a:r>
            <a:r>
              <a:rPr lang="en-US" sz="600" dirty="0">
                <a:solidFill>
                  <a:srgbClr val="404040"/>
                </a:solidFill>
                <a:latin typeface="BLS Condensed" pitchFamily="2" charset="-34"/>
                <a:cs typeface="BLS Condensed" pitchFamily="2" charset="-34"/>
              </a:rPr>
              <a:t> </a:t>
            </a:r>
            <a:r>
              <a:rPr lang="en-US" sz="700" dirty="0" err="1">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Bualuang</a:t>
            </a:r>
            <a:r>
              <a:rPr lang="en-US" sz="700" dirty="0">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 Research</a:t>
            </a:r>
            <a:endParaRPr lang="en-US" sz="600" dirty="0">
              <a:solidFill>
                <a:srgbClr val="404040"/>
              </a:solidFill>
              <a:latin typeface="BLS Condensed" pitchFamily="2" charset="-34"/>
              <a:cs typeface="BLS Condensed" pitchFamily="2" charset="-34"/>
            </a:endParaRPr>
          </a:p>
        </p:txBody>
      </p:sp>
      <p:cxnSp>
        <p:nvCxnSpPr>
          <p:cNvPr id="26" name="Straight Connector 25">
            <a:extLst>
              <a:ext uri="{FF2B5EF4-FFF2-40B4-BE49-F238E27FC236}">
                <a16:creationId xmlns:a16="http://schemas.microsoft.com/office/drawing/2014/main" id="{80EE2C16-6AB7-3E6F-18FC-8299BA999C4C}"/>
              </a:ext>
            </a:extLst>
          </p:cNvPr>
          <p:cNvCxnSpPr>
            <a:cxnSpLocks/>
          </p:cNvCxnSpPr>
          <p:nvPr/>
        </p:nvCxnSpPr>
        <p:spPr>
          <a:xfrm>
            <a:off x="362735" y="8460432"/>
            <a:ext cx="6220743"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27" name="Picture 26" descr="A graph showing the price of a stock market&#10;&#10;Description automatically generated">
            <a:extLst>
              <a:ext uri="{FF2B5EF4-FFF2-40B4-BE49-F238E27FC236}">
                <a16:creationId xmlns:a16="http://schemas.microsoft.com/office/drawing/2014/main" id="{F222FC1D-47DC-95F1-BA4B-E26866D36F8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4138" y="4122299"/>
            <a:ext cx="5687488" cy="2080061"/>
          </a:xfrm>
          <a:prstGeom prst="rect">
            <a:avLst/>
          </a:prstGeom>
        </p:spPr>
      </p:pic>
      <p:pic>
        <p:nvPicPr>
          <p:cNvPr id="29" name="Picture 28" descr="A graph showing a line graph&#10;&#10;Description automatically generated with medium confidence">
            <a:extLst>
              <a:ext uri="{FF2B5EF4-FFF2-40B4-BE49-F238E27FC236}">
                <a16:creationId xmlns:a16="http://schemas.microsoft.com/office/drawing/2014/main" id="{C33DC138-8055-F922-DFD2-5E13FE201B0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8256" y="6300192"/>
            <a:ext cx="5773370" cy="2045981"/>
          </a:xfrm>
          <a:prstGeom prst="rect">
            <a:avLst/>
          </a:prstGeom>
        </p:spPr>
      </p:pic>
      <p:sp>
        <p:nvSpPr>
          <p:cNvPr id="22" name="TextBox 21">
            <a:extLst>
              <a:ext uri="{FF2B5EF4-FFF2-40B4-BE49-F238E27FC236}">
                <a16:creationId xmlns:a16="http://schemas.microsoft.com/office/drawing/2014/main" id="{12380384-D17D-B534-1278-E25E7E6D1E6E}"/>
              </a:ext>
            </a:extLst>
          </p:cNvPr>
          <p:cNvSpPr txBox="1"/>
          <p:nvPr/>
        </p:nvSpPr>
        <p:spPr>
          <a:xfrm>
            <a:off x="188640" y="4032086"/>
            <a:ext cx="3218842" cy="215444"/>
          </a:xfrm>
          <a:prstGeom prst="rect">
            <a:avLst/>
          </a:prstGeom>
          <a:noFill/>
        </p:spPr>
        <p:txBody>
          <a:bodyPr wrap="square" rtlCol="0">
            <a:spAutoFit/>
          </a:bodyPr>
          <a:lstStyle/>
          <a:p>
            <a:r>
              <a:rPr lang="en-US" sz="800" b="1" dirty="0">
                <a:solidFill>
                  <a:schemeClr val="tx1">
                    <a:lumMod val="95000"/>
                    <a:lumOff val="5000"/>
                  </a:schemeClr>
                </a:solidFill>
                <a:latin typeface="BLS Text" panose="00000500000000000000" pitchFamily="2" charset="-34"/>
                <a:ea typeface="Tahoma" pitchFamily="34" charset="0"/>
                <a:cs typeface="BLS Text" panose="00000500000000000000" pitchFamily="2" charset="-34"/>
              </a:rPr>
              <a:t>Dividend yield</a:t>
            </a:r>
          </a:p>
        </p:txBody>
      </p:sp>
      <p:sp>
        <p:nvSpPr>
          <p:cNvPr id="13" name="TextBox 12">
            <a:extLst>
              <a:ext uri="{FF2B5EF4-FFF2-40B4-BE49-F238E27FC236}">
                <a16:creationId xmlns:a16="http://schemas.microsoft.com/office/drawing/2014/main" id="{69EF34AC-D53C-3A96-B3B4-4ADB26FC9D2C}"/>
              </a:ext>
            </a:extLst>
          </p:cNvPr>
          <p:cNvSpPr txBox="1"/>
          <p:nvPr/>
        </p:nvSpPr>
        <p:spPr>
          <a:xfrm>
            <a:off x="214840" y="6156756"/>
            <a:ext cx="2601704" cy="215444"/>
          </a:xfrm>
          <a:prstGeom prst="rect">
            <a:avLst/>
          </a:prstGeom>
          <a:noFill/>
        </p:spPr>
        <p:txBody>
          <a:bodyPr wrap="square" rtlCol="0">
            <a:spAutoFit/>
          </a:bodyPr>
          <a:lstStyle/>
          <a:p>
            <a:r>
              <a:rPr lang="en-US" sz="800" b="1" dirty="0">
                <a:solidFill>
                  <a:schemeClr val="tx1">
                    <a:lumMod val="95000"/>
                    <a:lumOff val="5000"/>
                  </a:schemeClr>
                </a:solidFill>
                <a:latin typeface="BLS Text" panose="00000500000000000000" pitchFamily="2" charset="-34"/>
                <a:ea typeface="Tahoma" pitchFamily="34" charset="0"/>
                <a:cs typeface="BLS Text" panose="00000500000000000000" pitchFamily="2" charset="-34"/>
              </a:rPr>
              <a:t>Dividend yield gap</a:t>
            </a:r>
          </a:p>
        </p:txBody>
      </p:sp>
    </p:spTree>
    <p:extLst>
      <p:ext uri="{BB962C8B-B14F-4D97-AF65-F5344CB8AC3E}">
        <p14:creationId xmlns:p14="http://schemas.microsoft.com/office/powerpoint/2010/main" val="2082892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8602"/>
          <a:stretch/>
        </p:blipFill>
        <p:spPr>
          <a:xfrm>
            <a:off x="0" y="0"/>
            <a:ext cx="6858000" cy="8689302"/>
          </a:xfrm>
          <a:prstGeom prst="rect">
            <a:avLst/>
          </a:prstGeom>
        </p:spPr>
      </p:pic>
      <p:sp>
        <p:nvSpPr>
          <p:cNvPr id="19" name="TextBox 18">
            <a:extLst>
              <a:ext uri="{FF2B5EF4-FFF2-40B4-BE49-F238E27FC236}">
                <a16:creationId xmlns:a16="http://schemas.microsoft.com/office/drawing/2014/main" id="{01D3EDA3-679C-BA8B-9EDE-9A31378F2861}"/>
              </a:ext>
            </a:extLst>
          </p:cNvPr>
          <p:cNvSpPr txBox="1"/>
          <p:nvPr/>
        </p:nvSpPr>
        <p:spPr>
          <a:xfrm>
            <a:off x="658256" y="1966926"/>
            <a:ext cx="72008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12 ธ.ค. </a:t>
            </a:r>
          </a:p>
        </p:txBody>
      </p:sp>
      <p:sp>
        <p:nvSpPr>
          <p:cNvPr id="20" name="TextBox 19">
            <a:extLst>
              <a:ext uri="{FF2B5EF4-FFF2-40B4-BE49-F238E27FC236}">
                <a16:creationId xmlns:a16="http://schemas.microsoft.com/office/drawing/2014/main" id="{FC28B75D-C3AA-F0C5-6200-83DB873637CB}"/>
              </a:ext>
            </a:extLst>
          </p:cNvPr>
          <p:cNvSpPr txBox="1"/>
          <p:nvPr/>
        </p:nvSpPr>
        <p:spPr>
          <a:xfrm>
            <a:off x="531946" y="1958752"/>
            <a:ext cx="904643"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ราชกิจจาประกาศยุบสภา</a:t>
            </a:r>
          </a:p>
        </p:txBody>
      </p:sp>
      <p:sp>
        <p:nvSpPr>
          <p:cNvPr id="21" name="TextBox 20">
            <a:extLst>
              <a:ext uri="{FF2B5EF4-FFF2-40B4-BE49-F238E27FC236}">
                <a16:creationId xmlns:a16="http://schemas.microsoft.com/office/drawing/2014/main" id="{C1FE4F51-5E04-9485-3236-75E85E050C64}"/>
              </a:ext>
            </a:extLst>
          </p:cNvPr>
          <p:cNvSpPr txBox="1"/>
          <p:nvPr/>
        </p:nvSpPr>
        <p:spPr>
          <a:xfrm>
            <a:off x="1497212" y="1966926"/>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13-17 ธ.ค.</a:t>
            </a:r>
          </a:p>
        </p:txBody>
      </p:sp>
      <p:sp>
        <p:nvSpPr>
          <p:cNvPr id="25" name="TextBox 24">
            <a:extLst>
              <a:ext uri="{FF2B5EF4-FFF2-40B4-BE49-F238E27FC236}">
                <a16:creationId xmlns:a16="http://schemas.microsoft.com/office/drawing/2014/main" id="{D3C2255B-69C2-3386-D320-629A8A4034DA}"/>
              </a:ext>
            </a:extLst>
          </p:cNvPr>
          <p:cNvSpPr txBox="1"/>
          <p:nvPr/>
        </p:nvSpPr>
        <p:spPr>
          <a:xfrm>
            <a:off x="2319090" y="1966926"/>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20-28 ธ.ค.</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1958752"/>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1954857"/>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1840482"/>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1975501"/>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sp>
        <p:nvSpPr>
          <p:cNvPr id="2" name="TextBox 1">
            <a:extLst>
              <a:ext uri="{FF2B5EF4-FFF2-40B4-BE49-F238E27FC236}">
                <a16:creationId xmlns:a16="http://schemas.microsoft.com/office/drawing/2014/main" id="{9E85ABDE-7CE6-F0E6-1824-B9305003B1AB}"/>
              </a:ext>
            </a:extLst>
          </p:cNvPr>
          <p:cNvSpPr txBox="1"/>
          <p:nvPr/>
        </p:nvSpPr>
        <p:spPr>
          <a:xfrm>
            <a:off x="188640" y="1322755"/>
            <a:ext cx="3164970" cy="830997"/>
          </a:xfrm>
          <a:prstGeom prst="rect">
            <a:avLst/>
          </a:prstGeom>
          <a:solidFill>
            <a:srgbClr val="EDEDED">
              <a:alpha val="60000"/>
            </a:srgbClr>
          </a:solidFill>
          <a:ln>
            <a:noFill/>
          </a:ln>
        </p:spPr>
        <p:txBody>
          <a:bodyPr wrap="square" rtlCol="0">
            <a:spAutoFit/>
          </a:bodyPr>
          <a:lstStyle/>
          <a:p>
            <a:pPr algn="thaiDist">
              <a:lnSpc>
                <a:spcPct val="120000"/>
              </a:lnSpc>
              <a:spcBef>
                <a:spcPts val="300"/>
              </a:spcBef>
              <a:buSzPct val="120000"/>
            </a:pPr>
            <a:r>
              <a:rPr lang="th-TH" sz="1000" dirty="0">
                <a:solidFill>
                  <a:schemeClr val="tx1">
                    <a:lumMod val="65000"/>
                    <a:lumOff val="35000"/>
                  </a:schemeClr>
                </a:solidFill>
                <a:latin typeface="BLS Text" panose="00000500000000000000" pitchFamily="2" charset="-34"/>
                <a:cs typeface="BLS Text" pitchFamily="2" charset="-34"/>
              </a:rPr>
              <a:t>หุ้นที่ยังมีคาดการณ์อัตราผลตอบแทนเงินปันผลในระดับสูงมาก-เกินค่าเฉลี่ย 10 ปีเกิน 2</a:t>
            </a:r>
            <a:r>
              <a:rPr lang="en-US" sz="1000" dirty="0">
                <a:solidFill>
                  <a:schemeClr val="tx1">
                    <a:lumMod val="65000"/>
                    <a:lumOff val="35000"/>
                  </a:schemeClr>
                </a:solidFill>
                <a:latin typeface="BLS Text" panose="00000500000000000000" pitchFamily="2" charset="-34"/>
                <a:cs typeface="BLS Text" pitchFamily="2" charset="-34"/>
              </a:rPr>
              <a:t>SD </a:t>
            </a:r>
            <a:r>
              <a:rPr lang="th-TH" sz="1000" dirty="0">
                <a:solidFill>
                  <a:schemeClr val="tx1">
                    <a:lumMod val="65000"/>
                    <a:lumOff val="35000"/>
                  </a:schemeClr>
                </a:solidFill>
                <a:latin typeface="BLS Text" panose="00000500000000000000" pitchFamily="2" charset="-34"/>
                <a:cs typeface="BLS Text" pitchFamily="2" charset="-34"/>
              </a:rPr>
              <a:t>ใกล้ช่วงโควิด </a:t>
            </a:r>
            <a:r>
              <a:rPr lang="th-TH" sz="1000" b="1" dirty="0">
                <a:solidFill>
                  <a:schemeClr val="tx1">
                    <a:lumMod val="65000"/>
                    <a:lumOff val="35000"/>
                  </a:schemeClr>
                </a:solidFill>
                <a:latin typeface="BLS Text" panose="00000500000000000000" pitchFamily="2" charset="-34"/>
                <a:cs typeface="BLS Text" pitchFamily="2" charset="-34"/>
              </a:rPr>
              <a:t>เช่น </a:t>
            </a:r>
            <a:r>
              <a:rPr lang="en-US" sz="1000" b="1" dirty="0">
                <a:solidFill>
                  <a:schemeClr val="tx1">
                    <a:lumMod val="65000"/>
                    <a:lumOff val="35000"/>
                  </a:schemeClr>
                </a:solidFill>
                <a:latin typeface="BLS Text" panose="00000500000000000000" pitchFamily="2" charset="-34"/>
                <a:cs typeface="BLS Text" pitchFamily="2" charset="-34"/>
              </a:rPr>
              <a:t>KTB (6.7%), KBANK (6.3%), COM7 (5.2%), BDMS (4.3%), CPN (4.2%)</a:t>
            </a:r>
          </a:p>
        </p:txBody>
      </p:sp>
      <p:sp>
        <p:nvSpPr>
          <p:cNvPr id="15" name="TextBox 14">
            <a:extLst>
              <a:ext uri="{FF2B5EF4-FFF2-40B4-BE49-F238E27FC236}">
                <a16:creationId xmlns:a16="http://schemas.microsoft.com/office/drawing/2014/main" id="{546F7F14-A377-C8CF-5D1E-8DDF1256B72B}"/>
              </a:ext>
            </a:extLst>
          </p:cNvPr>
          <p:cNvSpPr txBox="1"/>
          <p:nvPr/>
        </p:nvSpPr>
        <p:spPr>
          <a:xfrm>
            <a:off x="3462910" y="1322755"/>
            <a:ext cx="3164970" cy="684803"/>
          </a:xfrm>
          <a:prstGeom prst="rect">
            <a:avLst/>
          </a:prstGeom>
          <a:solidFill>
            <a:srgbClr val="EDEDED">
              <a:alpha val="60000"/>
            </a:srgbClr>
          </a:solidFill>
          <a:ln>
            <a:noFill/>
          </a:ln>
        </p:spPr>
        <p:txBody>
          <a:bodyPr wrap="square" rtlCol="0">
            <a:spAutoFit/>
          </a:bodyPr>
          <a:lstStyle/>
          <a:p>
            <a:pPr algn="thaiDist">
              <a:lnSpc>
                <a:spcPct val="120000"/>
              </a:lnSpc>
              <a:spcBef>
                <a:spcPts val="300"/>
              </a:spcBef>
              <a:buSzPct val="120000"/>
            </a:pPr>
            <a:r>
              <a:rPr lang="th-TH" sz="1000" dirty="0">
                <a:solidFill>
                  <a:schemeClr val="tx1">
                    <a:lumMod val="65000"/>
                    <a:lumOff val="35000"/>
                  </a:schemeClr>
                </a:solidFill>
                <a:latin typeface="BLS Text" panose="00000500000000000000" pitchFamily="2" charset="-34"/>
                <a:cs typeface="BLS Text" pitchFamily="2" charset="-34"/>
              </a:rPr>
              <a:t>หุ้นที่ยังมีคาดการณ์อัตราผลตอบแทนเงินปันผลในระดับสูง-เกินค่าเฉลี่ย 10 ปีเกิน 1</a:t>
            </a:r>
            <a:r>
              <a:rPr lang="en-US" sz="1000" dirty="0">
                <a:solidFill>
                  <a:schemeClr val="tx1">
                    <a:lumMod val="65000"/>
                    <a:lumOff val="35000"/>
                  </a:schemeClr>
                </a:solidFill>
                <a:latin typeface="BLS Text" panose="00000500000000000000" pitchFamily="2" charset="-34"/>
                <a:cs typeface="BLS Text" pitchFamily="2" charset="-34"/>
              </a:rPr>
              <a:t>SD</a:t>
            </a:r>
          </a:p>
          <a:p>
            <a:pPr algn="thaiDist">
              <a:lnSpc>
                <a:spcPct val="120000"/>
              </a:lnSpc>
              <a:spcBef>
                <a:spcPts val="300"/>
              </a:spcBef>
              <a:buSzPct val="120000"/>
            </a:pPr>
            <a:r>
              <a:rPr lang="th-TH" sz="1000" dirty="0">
                <a:solidFill>
                  <a:schemeClr val="tx1">
                    <a:lumMod val="65000"/>
                    <a:lumOff val="35000"/>
                  </a:schemeClr>
                </a:solidFill>
                <a:latin typeface="BLS Text" panose="00000500000000000000" pitchFamily="2" charset="-34"/>
                <a:cs typeface="BLS Text" pitchFamily="2" charset="-34"/>
              </a:rPr>
              <a:t>เช่น </a:t>
            </a:r>
            <a:r>
              <a:rPr lang="en-US" sz="1000" b="1" dirty="0">
                <a:solidFill>
                  <a:schemeClr val="tx1">
                    <a:lumMod val="65000"/>
                    <a:lumOff val="35000"/>
                  </a:schemeClr>
                </a:solidFill>
                <a:latin typeface="BLS Text" panose="00000500000000000000" pitchFamily="2" charset="-34"/>
                <a:cs typeface="BLS Text" pitchFamily="2" charset="-34"/>
              </a:rPr>
              <a:t>SCB (8.0%), PTT (6.0%), TLI (5.7%) </a:t>
            </a:r>
          </a:p>
        </p:txBody>
      </p:sp>
      <p:cxnSp>
        <p:nvCxnSpPr>
          <p:cNvPr id="18" name="Straight Connector 17">
            <a:extLst>
              <a:ext uri="{FF2B5EF4-FFF2-40B4-BE49-F238E27FC236}">
                <a16:creationId xmlns:a16="http://schemas.microsoft.com/office/drawing/2014/main" id="{811E1CC9-D26F-1122-558A-414813438452}"/>
              </a:ext>
            </a:extLst>
          </p:cNvPr>
          <p:cNvCxnSpPr>
            <a:cxnSpLocks/>
          </p:cNvCxnSpPr>
          <p:nvPr/>
        </p:nvCxnSpPr>
        <p:spPr>
          <a:xfrm>
            <a:off x="320593" y="874846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7AA2941-9659-DEF5-69DF-BE120C176F29}"/>
              </a:ext>
            </a:extLst>
          </p:cNvPr>
          <p:cNvSpPr/>
          <p:nvPr/>
        </p:nvSpPr>
        <p:spPr>
          <a:xfrm>
            <a:off x="297857" y="8748464"/>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974B464D-079C-66D5-267A-B0271C83992E}"/>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716ED43-E385-A160-9D3A-0264F1B0EE0B}"/>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C8FA6393-E3EE-E08E-89C6-D50BB8050980}"/>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10" name="TextBox 9">
            <a:extLst>
              <a:ext uri="{FF2B5EF4-FFF2-40B4-BE49-F238E27FC236}">
                <a16:creationId xmlns:a16="http://schemas.microsoft.com/office/drawing/2014/main" id="{C2139EFA-0963-F3E4-30F9-FE4954797181}"/>
              </a:ext>
            </a:extLst>
          </p:cNvPr>
          <p:cNvSpPr txBox="1"/>
          <p:nvPr/>
        </p:nvSpPr>
        <p:spPr>
          <a:xfrm>
            <a:off x="188640" y="859522"/>
            <a:ext cx="6439240" cy="400110"/>
          </a:xfrm>
          <a:prstGeom prst="rect">
            <a:avLst/>
          </a:prstGeom>
          <a:noFill/>
        </p:spPr>
        <p:txBody>
          <a:bodyPr wrap="square">
            <a:spAutoFit/>
          </a:bodyPr>
          <a:lstStyle/>
          <a:p>
            <a:r>
              <a:rPr lang="th-TH" altLang="en-US" sz="2000" dirty="0">
                <a:solidFill>
                  <a:schemeClr val="accent2"/>
                </a:solidFill>
                <a:latin typeface="BLS Condensed Bold" panose="00000800000000000000" pitchFamily="2" charset="-34"/>
                <a:ea typeface="Tahoma" pitchFamily="34" charset="0"/>
                <a:cs typeface="BLS Condensed Bold" panose="00000800000000000000" pitchFamily="2" charset="-34"/>
              </a:rPr>
              <a:t>หุ้นปันผลคุณภาพ ปันผลสูง-สม่ำเสมอ น่าสะสมช่วงพ.ค.</a:t>
            </a:r>
            <a:endParaRPr lang="en-US" altLang="en-US" sz="2000" dirty="0">
              <a:solidFill>
                <a:schemeClr val="accent2"/>
              </a:solidFill>
              <a:latin typeface="BLS Condensed Bold" panose="00000800000000000000" pitchFamily="2" charset="-34"/>
              <a:ea typeface="Tahoma" pitchFamily="34" charset="0"/>
              <a:cs typeface="BLS Condensed Bold" panose="00000800000000000000" pitchFamily="2" charset="-34"/>
            </a:endParaRPr>
          </a:p>
        </p:txBody>
      </p:sp>
      <p:sp>
        <p:nvSpPr>
          <p:cNvPr id="24" name="TextBox 23">
            <a:extLst>
              <a:ext uri="{FF2B5EF4-FFF2-40B4-BE49-F238E27FC236}">
                <a16:creationId xmlns:a16="http://schemas.microsoft.com/office/drawing/2014/main" id="{97B8DEDE-0323-676D-8E1B-73A6C4102A9D}"/>
              </a:ext>
            </a:extLst>
          </p:cNvPr>
          <p:cNvSpPr txBox="1">
            <a:spLocks noChangeArrowheads="1"/>
          </p:cNvSpPr>
          <p:nvPr/>
        </p:nvSpPr>
        <p:spPr bwMode="auto">
          <a:xfrm>
            <a:off x="329977" y="8869175"/>
            <a:ext cx="2768773"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700" dirty="0">
                <a:solidFill>
                  <a:srgbClr val="404040"/>
                </a:solidFill>
                <a:latin typeface="BLS Condensed" pitchFamily="2" charset="-34"/>
                <a:cs typeface="BLS Condensed" pitchFamily="2" charset="-34"/>
              </a:rPr>
              <a:t>Source</a:t>
            </a:r>
            <a:r>
              <a:rPr lang="th-TH" sz="600" dirty="0">
                <a:solidFill>
                  <a:srgbClr val="404040"/>
                </a:solidFill>
                <a:latin typeface="BLS Condensed" pitchFamily="2" charset="-34"/>
                <a:cs typeface="BLS Condensed" pitchFamily="2" charset="-34"/>
              </a:rPr>
              <a:t>:</a:t>
            </a:r>
            <a:r>
              <a:rPr lang="en-US" sz="600" dirty="0">
                <a:solidFill>
                  <a:srgbClr val="404040"/>
                </a:solidFill>
                <a:latin typeface="BLS Condensed" pitchFamily="2" charset="-34"/>
                <a:cs typeface="BLS Condensed" pitchFamily="2" charset="-34"/>
              </a:rPr>
              <a:t> </a:t>
            </a:r>
            <a:r>
              <a:rPr lang="en-US" sz="700" dirty="0" err="1">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Bualuang</a:t>
            </a:r>
            <a:r>
              <a:rPr lang="en-US" sz="700" dirty="0">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 Research</a:t>
            </a:r>
            <a:endParaRPr lang="en-US" sz="600" dirty="0">
              <a:solidFill>
                <a:srgbClr val="404040"/>
              </a:solidFill>
              <a:latin typeface="BLS Condensed" pitchFamily="2" charset="-34"/>
              <a:cs typeface="BLS Condensed" pitchFamily="2" charset="-34"/>
            </a:endParaRPr>
          </a:p>
        </p:txBody>
      </p:sp>
      <p:pic>
        <p:nvPicPr>
          <p:cNvPr id="3" name="Picture 2">
            <a:extLst>
              <a:ext uri="{FF2B5EF4-FFF2-40B4-BE49-F238E27FC236}">
                <a16:creationId xmlns:a16="http://schemas.microsoft.com/office/drawing/2014/main" id="{3C1B17A4-0FCA-BB47-F181-0185585C8FB6}"/>
              </a:ext>
            </a:extLst>
          </p:cNvPr>
          <p:cNvPicPr>
            <a:picLocks noChangeAspect="1"/>
          </p:cNvPicPr>
          <p:nvPr/>
        </p:nvPicPr>
        <p:blipFill>
          <a:blip r:embed="rId7"/>
          <a:stretch>
            <a:fillRect/>
          </a:stretch>
        </p:blipFill>
        <p:spPr>
          <a:xfrm>
            <a:off x="296057" y="2293621"/>
            <a:ext cx="6151016" cy="6417166"/>
          </a:xfrm>
          <a:prstGeom prst="rect">
            <a:avLst/>
          </a:prstGeom>
        </p:spPr>
      </p:pic>
      <p:sp>
        <p:nvSpPr>
          <p:cNvPr id="23" name="TextBox 22">
            <a:extLst>
              <a:ext uri="{FF2B5EF4-FFF2-40B4-BE49-F238E27FC236}">
                <a16:creationId xmlns:a16="http://schemas.microsoft.com/office/drawing/2014/main" id="{81748675-2985-66A0-18EB-8B4E8A4F54F6}"/>
              </a:ext>
            </a:extLst>
          </p:cNvPr>
          <p:cNvSpPr txBox="1"/>
          <p:nvPr/>
        </p:nvSpPr>
        <p:spPr>
          <a:xfrm>
            <a:off x="286492" y="2196316"/>
            <a:ext cx="6022828"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4</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คาดการณ์อัตราผลตอบแทนเงินปันผล</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เทียบค่าเฉลี่ยในอดีต</a:t>
            </a:r>
            <a:endParaRPr lang="en-US" sz="800" b="1" dirty="0">
              <a:solidFill>
                <a:schemeClr val="tx1">
                  <a:lumMod val="95000"/>
                  <a:lumOff val="5000"/>
                </a:schemeClr>
              </a:solidFill>
              <a:latin typeface="BLS Condensed" pitchFamily="2" charset="-34"/>
              <a:ea typeface="Tahoma" pitchFamily="34" charset="0"/>
              <a:cs typeface="BLS Condensed" pitchFamily="2" charset="-34"/>
            </a:endParaRPr>
          </a:p>
        </p:txBody>
      </p:sp>
      <p:cxnSp>
        <p:nvCxnSpPr>
          <p:cNvPr id="31" name="Straight Connector 30">
            <a:extLst>
              <a:ext uri="{FF2B5EF4-FFF2-40B4-BE49-F238E27FC236}">
                <a16:creationId xmlns:a16="http://schemas.microsoft.com/office/drawing/2014/main" id="{ED544969-6829-5FFD-1765-676D76EE5F5B}"/>
              </a:ext>
            </a:extLst>
          </p:cNvPr>
          <p:cNvCxnSpPr/>
          <p:nvPr/>
        </p:nvCxnSpPr>
        <p:spPr>
          <a:xfrm>
            <a:off x="305146" y="2187431"/>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8823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8602"/>
          <a:stretch/>
        </p:blipFill>
        <p:spPr>
          <a:xfrm>
            <a:off x="0" y="0"/>
            <a:ext cx="6858000" cy="8689302"/>
          </a:xfrm>
          <a:prstGeom prst="rect">
            <a:avLst/>
          </a:prstGeom>
        </p:spPr>
      </p:pic>
      <p:sp>
        <p:nvSpPr>
          <p:cNvPr id="35" name="TextBox 34">
            <a:extLst>
              <a:ext uri="{FF2B5EF4-FFF2-40B4-BE49-F238E27FC236}">
                <a16:creationId xmlns:a16="http://schemas.microsoft.com/office/drawing/2014/main" id="{3B782CAF-F939-A52B-3801-9742737BB1B9}"/>
              </a:ext>
            </a:extLst>
          </p:cNvPr>
          <p:cNvSpPr txBox="1"/>
          <p:nvPr/>
        </p:nvSpPr>
        <p:spPr>
          <a:xfrm>
            <a:off x="3810726" y="2456614"/>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2" name="TextBox 1">
            <a:extLst>
              <a:ext uri="{FF2B5EF4-FFF2-40B4-BE49-F238E27FC236}">
                <a16:creationId xmlns:a16="http://schemas.microsoft.com/office/drawing/2014/main" id="{9E85ABDE-7CE6-F0E6-1824-B9305003B1AB}"/>
              </a:ext>
            </a:extLst>
          </p:cNvPr>
          <p:cNvSpPr txBox="1"/>
          <p:nvPr/>
        </p:nvSpPr>
        <p:spPr>
          <a:xfrm>
            <a:off x="188640" y="4924340"/>
            <a:ext cx="3164970" cy="3824124"/>
          </a:xfrm>
          <a:prstGeom prst="rect">
            <a:avLst/>
          </a:prstGeom>
          <a:solidFill>
            <a:srgbClr val="EDEDED">
              <a:alpha val="60000"/>
            </a:srgbClr>
          </a:solidFill>
          <a:ln>
            <a:noFill/>
          </a:ln>
        </p:spPr>
        <p:txBody>
          <a:bodyPr wrap="square" rtlCol="0">
            <a:spAutoFit/>
          </a:bodyPr>
          <a:lstStyle/>
          <a:p>
            <a:pPr algn="thaiDist">
              <a:lnSpc>
                <a:spcPct val="120000"/>
              </a:lnSpc>
              <a:spcBef>
                <a:spcPts val="300"/>
              </a:spcBef>
              <a:buSzPct val="120000"/>
            </a:pPr>
            <a:r>
              <a:rPr lang="th-TH" sz="1000" dirty="0">
                <a:solidFill>
                  <a:schemeClr val="tx1">
                    <a:lumMod val="65000"/>
                    <a:lumOff val="35000"/>
                  </a:schemeClr>
                </a:solidFill>
                <a:latin typeface="BLS Text" panose="00000500000000000000" pitchFamily="2" charset="-34"/>
                <a:cs typeface="BLS Text" pitchFamily="2" charset="-34"/>
              </a:rPr>
              <a:t>เราประเมินความยั่งยืนของผลตอบแทนเงินปันผล (</a:t>
            </a:r>
            <a:r>
              <a:rPr lang="en-US" sz="1000" dirty="0">
                <a:solidFill>
                  <a:schemeClr val="tx1">
                    <a:lumMod val="65000"/>
                    <a:lumOff val="35000"/>
                  </a:schemeClr>
                </a:solidFill>
                <a:latin typeface="BLS Text" panose="00000500000000000000" pitchFamily="2" charset="-34"/>
                <a:cs typeface="BLS Text" pitchFamily="2" charset="-34"/>
              </a:rPr>
              <a:t>Dividend Yield) </a:t>
            </a:r>
            <a:r>
              <a:rPr lang="th-TH" sz="1000" dirty="0">
                <a:solidFill>
                  <a:schemeClr val="tx1">
                    <a:lumMod val="65000"/>
                    <a:lumOff val="35000"/>
                  </a:schemeClr>
                </a:solidFill>
                <a:latin typeface="BLS Text" panose="00000500000000000000" pitchFamily="2" charset="-34"/>
                <a:cs typeface="BLS Text" pitchFamily="2" charset="-34"/>
              </a:rPr>
              <a:t>ภายใต้สมมติฐานเชิงลบ (</a:t>
            </a:r>
            <a:r>
              <a:rPr lang="en-US" sz="1000" dirty="0">
                <a:solidFill>
                  <a:schemeClr val="tx1">
                    <a:lumMod val="65000"/>
                    <a:lumOff val="35000"/>
                  </a:schemeClr>
                </a:solidFill>
                <a:latin typeface="BLS Text" panose="00000500000000000000" pitchFamily="2" charset="-34"/>
                <a:cs typeface="BLS Text" pitchFamily="2" charset="-34"/>
              </a:rPr>
              <a:t>worst-case scenario) </a:t>
            </a:r>
            <a:r>
              <a:rPr lang="th-TH" sz="1000" dirty="0">
                <a:solidFill>
                  <a:schemeClr val="tx1">
                    <a:lumMod val="65000"/>
                    <a:lumOff val="35000"/>
                  </a:schemeClr>
                </a:solidFill>
                <a:latin typeface="BLS Text" panose="00000500000000000000" pitchFamily="2" charset="-34"/>
                <a:cs typeface="BLS Text" pitchFamily="2" charset="-34"/>
              </a:rPr>
              <a:t>ในแต่ละกลุ่มอุตสาหกรรม เพื่อสะท้อนความเสี่ยงด้านกำไรและกระแสเงินสดที่อาจเกิดขึ้น โดยตั้งสมมติฐานหลัก ได้แก่ กลุ่มธนาคาร (</a:t>
            </a:r>
            <a:r>
              <a:rPr lang="en-US" sz="1000" dirty="0">
                <a:solidFill>
                  <a:schemeClr val="tx1">
                    <a:lumMod val="65000"/>
                    <a:lumOff val="35000"/>
                  </a:schemeClr>
                </a:solidFill>
                <a:latin typeface="BLS Text" panose="00000500000000000000" pitchFamily="2" charset="-34"/>
                <a:cs typeface="BLS Text" pitchFamily="2" charset="-34"/>
              </a:rPr>
              <a:t>Bank) </a:t>
            </a:r>
            <a:r>
              <a:rPr lang="th-TH" sz="1000" dirty="0">
                <a:solidFill>
                  <a:schemeClr val="tx1">
                    <a:lumMod val="65000"/>
                    <a:lumOff val="35000"/>
                  </a:schemeClr>
                </a:solidFill>
                <a:latin typeface="BLS Text" panose="00000500000000000000" pitchFamily="2" charset="-34"/>
                <a:cs typeface="BLS Text" pitchFamily="2" charset="-34"/>
              </a:rPr>
              <a:t>มี </a:t>
            </a:r>
            <a:r>
              <a:rPr lang="en-US" sz="1000" dirty="0">
                <a:solidFill>
                  <a:schemeClr val="tx1">
                    <a:lumMod val="65000"/>
                    <a:lumOff val="35000"/>
                  </a:schemeClr>
                </a:solidFill>
                <a:latin typeface="BLS Text" panose="00000500000000000000" pitchFamily="2" charset="-34"/>
                <a:cs typeface="BLS Text" pitchFamily="2" charset="-34"/>
              </a:rPr>
              <a:t>credit cost </a:t>
            </a:r>
            <a:r>
              <a:rPr lang="th-TH" sz="1000" dirty="0">
                <a:solidFill>
                  <a:schemeClr val="tx1">
                    <a:lumMod val="65000"/>
                    <a:lumOff val="35000"/>
                  </a:schemeClr>
                </a:solidFill>
                <a:latin typeface="BLS Text" panose="00000500000000000000" pitchFamily="2" charset="-34"/>
                <a:cs typeface="BLS Text" pitchFamily="2" charset="-34"/>
              </a:rPr>
              <a:t>สูงขึ้น +10</a:t>
            </a:r>
            <a:r>
              <a:rPr lang="en-US" sz="1000" dirty="0">
                <a:solidFill>
                  <a:schemeClr val="tx1">
                    <a:lumMod val="65000"/>
                    <a:lumOff val="35000"/>
                  </a:schemeClr>
                </a:solidFill>
                <a:latin typeface="BLS Text" panose="00000500000000000000" pitchFamily="2" charset="-34"/>
                <a:cs typeface="BLS Text" pitchFamily="2" charset="-34"/>
              </a:rPr>
              <a:t>bps </a:t>
            </a:r>
            <a:r>
              <a:rPr lang="th-TH" sz="1000" dirty="0">
                <a:solidFill>
                  <a:schemeClr val="tx1">
                    <a:lumMod val="65000"/>
                    <a:lumOff val="35000"/>
                  </a:schemeClr>
                </a:solidFill>
                <a:latin typeface="BLS Text" panose="00000500000000000000" pitchFamily="2" charset="-34"/>
                <a:cs typeface="BLS Text" pitchFamily="2" charset="-34"/>
              </a:rPr>
              <a:t>จาก </a:t>
            </a:r>
            <a:r>
              <a:rPr lang="en-US" sz="1000" dirty="0">
                <a:solidFill>
                  <a:schemeClr val="tx1">
                    <a:lumMod val="65000"/>
                    <a:lumOff val="35000"/>
                  </a:schemeClr>
                </a:solidFill>
                <a:latin typeface="BLS Text" panose="00000500000000000000" pitchFamily="2" charset="-34"/>
                <a:cs typeface="BLS Text" pitchFamily="2" charset="-34"/>
              </a:rPr>
              <a:t>base case, </a:t>
            </a:r>
            <a:r>
              <a:rPr lang="th-TH" sz="1000" dirty="0">
                <a:solidFill>
                  <a:schemeClr val="tx1">
                    <a:lumMod val="65000"/>
                    <a:lumOff val="35000"/>
                  </a:schemeClr>
                </a:solidFill>
                <a:latin typeface="BLS Text" panose="00000500000000000000" pitchFamily="2" charset="-34"/>
                <a:cs typeface="BLS Text" pitchFamily="2" charset="-34"/>
              </a:rPr>
              <a:t>กลุ่มค้าปลีก (</a:t>
            </a:r>
            <a:r>
              <a:rPr lang="en-US" sz="1000" dirty="0">
                <a:solidFill>
                  <a:schemeClr val="tx1">
                    <a:lumMod val="65000"/>
                    <a:lumOff val="35000"/>
                  </a:schemeClr>
                </a:solidFill>
                <a:latin typeface="BLS Text" panose="00000500000000000000" pitchFamily="2" charset="-34"/>
                <a:cs typeface="BLS Text" pitchFamily="2" charset="-34"/>
              </a:rPr>
              <a:t>Retailers) SSS </a:t>
            </a:r>
            <a:r>
              <a:rPr lang="th-TH" sz="1000" dirty="0">
                <a:solidFill>
                  <a:schemeClr val="tx1">
                    <a:lumMod val="65000"/>
                    <a:lumOff val="35000"/>
                  </a:schemeClr>
                </a:solidFill>
                <a:latin typeface="BLS Text" panose="00000500000000000000" pitchFamily="2" charset="-34"/>
                <a:cs typeface="BLS Text" pitchFamily="2" charset="-34"/>
              </a:rPr>
              <a:t>ลดลง -2</a:t>
            </a:r>
            <a:r>
              <a:rPr lang="en-US" sz="1000" dirty="0">
                <a:solidFill>
                  <a:schemeClr val="tx1">
                    <a:lumMod val="65000"/>
                    <a:lumOff val="35000"/>
                  </a:schemeClr>
                </a:solidFill>
                <a:latin typeface="BLS Text" panose="00000500000000000000" pitchFamily="2" charset="-34"/>
                <a:cs typeface="BLS Text" pitchFamily="2" charset="-34"/>
              </a:rPr>
              <a:t>%, </a:t>
            </a:r>
            <a:r>
              <a:rPr lang="th-TH" sz="1000" dirty="0">
                <a:solidFill>
                  <a:schemeClr val="tx1">
                    <a:lumMod val="65000"/>
                    <a:lumOff val="35000"/>
                  </a:schemeClr>
                </a:solidFill>
                <a:latin typeface="BLS Text" panose="00000500000000000000" pitchFamily="2" charset="-34"/>
                <a:cs typeface="BLS Text" pitchFamily="2" charset="-34"/>
              </a:rPr>
              <a:t>กลุ่มศูนย์การค้า (</a:t>
            </a:r>
            <a:r>
              <a:rPr lang="en-US" sz="1000" dirty="0">
                <a:solidFill>
                  <a:schemeClr val="tx1">
                    <a:lumMod val="65000"/>
                    <a:lumOff val="35000"/>
                  </a:schemeClr>
                </a:solidFill>
                <a:latin typeface="BLS Text" panose="00000500000000000000" pitchFamily="2" charset="-34"/>
                <a:cs typeface="BLS Text" pitchFamily="2" charset="-34"/>
              </a:rPr>
              <a:t>Mall) </a:t>
            </a:r>
            <a:r>
              <a:rPr lang="th-TH" sz="1000" dirty="0">
                <a:solidFill>
                  <a:schemeClr val="tx1">
                    <a:lumMod val="65000"/>
                    <a:lumOff val="35000"/>
                  </a:schemeClr>
                </a:solidFill>
                <a:latin typeface="BLS Text" panose="00000500000000000000" pitchFamily="2" charset="-34"/>
                <a:cs typeface="BLS Text" pitchFamily="2" charset="-34"/>
              </a:rPr>
              <a:t>รายได้ค่าเช่า (</a:t>
            </a:r>
            <a:r>
              <a:rPr lang="en-US" sz="1000" dirty="0">
                <a:solidFill>
                  <a:schemeClr val="tx1">
                    <a:lumMod val="65000"/>
                    <a:lumOff val="35000"/>
                  </a:schemeClr>
                </a:solidFill>
                <a:latin typeface="BLS Text" panose="00000500000000000000" pitchFamily="2" charset="-34"/>
                <a:cs typeface="BLS Text" pitchFamily="2" charset="-34"/>
              </a:rPr>
              <a:t>Same-store rental rate) </a:t>
            </a:r>
            <a:r>
              <a:rPr lang="th-TH" sz="1000" dirty="0">
                <a:solidFill>
                  <a:schemeClr val="tx1">
                    <a:lumMod val="65000"/>
                    <a:lumOff val="35000"/>
                  </a:schemeClr>
                </a:solidFill>
                <a:latin typeface="BLS Text" panose="00000500000000000000" pitchFamily="2" charset="-34"/>
                <a:cs typeface="BLS Text" pitchFamily="2" charset="-34"/>
              </a:rPr>
              <a:t>ลดลง -1 ถึง -2</a:t>
            </a:r>
            <a:r>
              <a:rPr lang="en-US" sz="1000" dirty="0">
                <a:solidFill>
                  <a:schemeClr val="tx1">
                    <a:lumMod val="65000"/>
                    <a:lumOff val="35000"/>
                  </a:schemeClr>
                </a:solidFill>
                <a:latin typeface="BLS Text" panose="00000500000000000000" pitchFamily="2" charset="-34"/>
                <a:cs typeface="BLS Text" pitchFamily="2" charset="-34"/>
              </a:rPr>
              <a:t>%, </a:t>
            </a:r>
            <a:r>
              <a:rPr lang="th-TH" sz="1000" dirty="0">
                <a:solidFill>
                  <a:schemeClr val="tx1">
                    <a:lumMod val="65000"/>
                    <a:lumOff val="35000"/>
                  </a:schemeClr>
                </a:solidFill>
                <a:latin typeface="BLS Text" panose="00000500000000000000" pitchFamily="2" charset="-34"/>
                <a:cs typeface="BLS Text" pitchFamily="2" charset="-34"/>
              </a:rPr>
              <a:t>กลุ่มพลังงาน (</a:t>
            </a:r>
            <a:r>
              <a:rPr lang="en-US" sz="1000" dirty="0">
                <a:solidFill>
                  <a:schemeClr val="tx1">
                    <a:lumMod val="65000"/>
                    <a:lumOff val="35000"/>
                  </a:schemeClr>
                </a:solidFill>
                <a:latin typeface="BLS Text" panose="00000500000000000000" pitchFamily="2" charset="-34"/>
                <a:cs typeface="BLS Text" pitchFamily="2" charset="-34"/>
              </a:rPr>
              <a:t>O&amp;G) </a:t>
            </a:r>
            <a:r>
              <a:rPr lang="th-TH" sz="1000" dirty="0">
                <a:solidFill>
                  <a:schemeClr val="tx1">
                    <a:lumMod val="65000"/>
                    <a:lumOff val="35000"/>
                  </a:schemeClr>
                </a:solidFill>
                <a:latin typeface="BLS Text" panose="00000500000000000000" pitchFamily="2" charset="-34"/>
                <a:cs typeface="BLS Text" pitchFamily="2" charset="-34"/>
              </a:rPr>
              <a:t>เผชิญปริมาณขายอ่อนแอ, กลุ่ม </a:t>
            </a:r>
            <a:r>
              <a:rPr lang="en-US" sz="1000" dirty="0">
                <a:solidFill>
                  <a:schemeClr val="tx1">
                    <a:lumMod val="65000"/>
                    <a:lumOff val="35000"/>
                  </a:schemeClr>
                </a:solidFill>
                <a:latin typeface="BLS Text" panose="00000500000000000000" pitchFamily="2" charset="-34"/>
                <a:cs typeface="BLS Text" pitchFamily="2" charset="-34"/>
              </a:rPr>
              <a:t>ICT </a:t>
            </a:r>
            <a:r>
              <a:rPr lang="th-TH" sz="1000" dirty="0">
                <a:solidFill>
                  <a:schemeClr val="tx1">
                    <a:lumMod val="65000"/>
                    <a:lumOff val="35000"/>
                  </a:schemeClr>
                </a:solidFill>
                <a:latin typeface="BLS Text" panose="00000500000000000000" pitchFamily="2" charset="-34"/>
                <a:cs typeface="BLS Text" pitchFamily="2" charset="-34"/>
              </a:rPr>
              <a:t>มี </a:t>
            </a:r>
            <a:r>
              <a:rPr lang="en-US" sz="1000" dirty="0">
                <a:solidFill>
                  <a:schemeClr val="tx1">
                    <a:lumMod val="65000"/>
                    <a:lumOff val="35000"/>
                  </a:schemeClr>
                </a:solidFill>
                <a:latin typeface="BLS Text" panose="00000500000000000000" pitchFamily="2" charset="-34"/>
                <a:cs typeface="BLS Text" pitchFamily="2" charset="-34"/>
              </a:rPr>
              <a:t>ARPU </a:t>
            </a:r>
            <a:r>
              <a:rPr lang="th-TH" sz="1000" dirty="0">
                <a:solidFill>
                  <a:schemeClr val="tx1">
                    <a:lumMod val="65000"/>
                    <a:lumOff val="35000"/>
                  </a:schemeClr>
                </a:solidFill>
                <a:latin typeface="BLS Text" panose="00000500000000000000" pitchFamily="2" charset="-34"/>
                <a:cs typeface="BLS Text" pitchFamily="2" charset="-34"/>
              </a:rPr>
              <a:t>ชะลอตัว, กลุ่มโรงพยาบาล (</a:t>
            </a:r>
            <a:r>
              <a:rPr lang="en-US" sz="1000" dirty="0">
                <a:solidFill>
                  <a:schemeClr val="tx1">
                    <a:lumMod val="65000"/>
                    <a:lumOff val="35000"/>
                  </a:schemeClr>
                </a:solidFill>
                <a:latin typeface="BLS Text" panose="00000500000000000000" pitchFamily="2" charset="-34"/>
                <a:cs typeface="BLS Text" pitchFamily="2" charset="-34"/>
              </a:rPr>
              <a:t>Healthcare) </a:t>
            </a:r>
            <a:r>
              <a:rPr lang="th-TH" sz="1000" dirty="0">
                <a:solidFill>
                  <a:schemeClr val="tx1">
                    <a:lumMod val="65000"/>
                    <a:lumOff val="35000"/>
                  </a:schemeClr>
                </a:solidFill>
                <a:latin typeface="BLS Text" panose="00000500000000000000" pitchFamily="2" charset="-34"/>
                <a:cs typeface="BLS Text" pitchFamily="2" charset="-34"/>
              </a:rPr>
              <a:t>จำนวนผู้ป่วยลดลง, กลุ่มสาธารณูปโภค (</a:t>
            </a:r>
            <a:r>
              <a:rPr lang="en-US" sz="1000" dirty="0">
                <a:solidFill>
                  <a:schemeClr val="tx1">
                    <a:lumMod val="65000"/>
                    <a:lumOff val="35000"/>
                  </a:schemeClr>
                </a:solidFill>
                <a:latin typeface="BLS Text" panose="00000500000000000000" pitchFamily="2" charset="-34"/>
                <a:cs typeface="BLS Text" pitchFamily="2" charset="-34"/>
              </a:rPr>
              <a:t>Utility) </a:t>
            </a:r>
            <a:r>
              <a:rPr lang="th-TH" sz="1000" dirty="0">
                <a:solidFill>
                  <a:schemeClr val="tx1">
                    <a:lumMod val="65000"/>
                    <a:lumOff val="35000"/>
                  </a:schemeClr>
                </a:solidFill>
                <a:latin typeface="BLS Text" panose="00000500000000000000" pitchFamily="2" charset="-34"/>
                <a:cs typeface="BLS Text" pitchFamily="2" charset="-34"/>
              </a:rPr>
              <a:t>ถูกกดดันจากต้นทุนเชื้อเพลิงสูงและ </a:t>
            </a:r>
            <a:r>
              <a:rPr lang="en-US" sz="1000" dirty="0">
                <a:solidFill>
                  <a:schemeClr val="tx1">
                    <a:lumMod val="65000"/>
                    <a:lumOff val="35000"/>
                  </a:schemeClr>
                </a:solidFill>
                <a:latin typeface="BLS Text" panose="00000500000000000000" pitchFamily="2" charset="-34"/>
                <a:cs typeface="BLS Text" pitchFamily="2" charset="-34"/>
              </a:rPr>
              <a:t>margin </a:t>
            </a:r>
            <a:r>
              <a:rPr lang="th-TH" sz="1000" dirty="0">
                <a:solidFill>
                  <a:schemeClr val="tx1">
                    <a:lumMod val="65000"/>
                    <a:lumOff val="35000"/>
                  </a:schemeClr>
                </a:solidFill>
                <a:latin typeface="BLS Text" panose="00000500000000000000" pitchFamily="2" charset="-34"/>
                <a:cs typeface="BLS Text" pitchFamily="2" charset="-34"/>
              </a:rPr>
              <a:t>หดตัว และกลุ่มนิคมอุตสาหกรรม (</a:t>
            </a:r>
            <a:r>
              <a:rPr lang="en-US" sz="1000" dirty="0">
                <a:solidFill>
                  <a:schemeClr val="tx1">
                    <a:lumMod val="65000"/>
                    <a:lumOff val="35000"/>
                  </a:schemeClr>
                </a:solidFill>
                <a:latin typeface="BLS Text" panose="00000500000000000000" pitchFamily="2" charset="-34"/>
                <a:cs typeface="BLS Text" pitchFamily="2" charset="-34"/>
              </a:rPr>
              <a:t>Industrial estate) </a:t>
            </a:r>
            <a:r>
              <a:rPr lang="th-TH" sz="1000" dirty="0">
                <a:solidFill>
                  <a:schemeClr val="tx1">
                    <a:lumMod val="65000"/>
                    <a:lumOff val="35000"/>
                  </a:schemeClr>
                </a:solidFill>
                <a:latin typeface="BLS Text" panose="00000500000000000000" pitchFamily="2" charset="-34"/>
                <a:cs typeface="BLS Text" pitchFamily="2" charset="-34"/>
              </a:rPr>
              <a:t>ยอดขายที่ดินอ่อนตัว</a:t>
            </a:r>
          </a:p>
          <a:p>
            <a:pPr algn="thaiDist">
              <a:lnSpc>
                <a:spcPct val="120000"/>
              </a:lnSpc>
              <a:spcBef>
                <a:spcPts val="300"/>
              </a:spcBef>
              <a:buSzPct val="120000"/>
            </a:pPr>
            <a:r>
              <a:rPr lang="th-TH" sz="1000" dirty="0">
                <a:solidFill>
                  <a:schemeClr val="tx1">
                    <a:lumMod val="65000"/>
                    <a:lumOff val="35000"/>
                  </a:schemeClr>
                </a:solidFill>
                <a:latin typeface="BLS Text" panose="00000500000000000000" pitchFamily="2" charset="-34"/>
                <a:cs typeface="BLS Text" pitchFamily="2" charset="-34"/>
              </a:rPr>
              <a:t>ภายใต้กรอบดังกล่าว แม้ </a:t>
            </a:r>
            <a:r>
              <a:rPr lang="en-US" sz="1000" dirty="0">
                <a:solidFill>
                  <a:schemeClr val="tx1">
                    <a:lumMod val="65000"/>
                    <a:lumOff val="35000"/>
                  </a:schemeClr>
                </a:solidFill>
                <a:latin typeface="BLS Text" panose="00000500000000000000" pitchFamily="2" charset="-34"/>
                <a:cs typeface="BLS Text" pitchFamily="2" charset="-34"/>
              </a:rPr>
              <a:t>Dividend Yield </a:t>
            </a:r>
            <a:r>
              <a:rPr lang="th-TH" sz="1000" dirty="0">
                <a:solidFill>
                  <a:schemeClr val="tx1">
                    <a:lumMod val="65000"/>
                    <a:lumOff val="35000"/>
                  </a:schemeClr>
                </a:solidFill>
                <a:latin typeface="BLS Text" panose="00000500000000000000" pitchFamily="2" charset="-34"/>
                <a:cs typeface="BLS Text" pitchFamily="2" charset="-34"/>
              </a:rPr>
              <a:t>ปี 2026 ในกรณี </a:t>
            </a:r>
            <a:r>
              <a:rPr lang="en-US" sz="1000" dirty="0">
                <a:solidFill>
                  <a:schemeClr val="tx1">
                    <a:lumMod val="65000"/>
                    <a:lumOff val="35000"/>
                  </a:schemeClr>
                </a:solidFill>
                <a:latin typeface="BLS Text" panose="00000500000000000000" pitchFamily="2" charset="-34"/>
                <a:cs typeface="BLS Text" pitchFamily="2" charset="-34"/>
              </a:rPr>
              <a:t>worst case </a:t>
            </a:r>
            <a:r>
              <a:rPr lang="th-TH" sz="1000" dirty="0">
                <a:solidFill>
                  <a:schemeClr val="tx1">
                    <a:lumMod val="65000"/>
                    <a:lumOff val="35000"/>
                  </a:schemeClr>
                </a:solidFill>
                <a:latin typeface="BLS Text" panose="00000500000000000000" pitchFamily="2" charset="-34"/>
                <a:cs typeface="BLS Text" pitchFamily="2" charset="-34"/>
              </a:rPr>
              <a:t>จะปรับลดลงจาก </a:t>
            </a:r>
            <a:r>
              <a:rPr lang="en-US" sz="1000" dirty="0">
                <a:solidFill>
                  <a:schemeClr val="tx1">
                    <a:lumMod val="65000"/>
                    <a:lumOff val="35000"/>
                  </a:schemeClr>
                </a:solidFill>
                <a:latin typeface="BLS Text" panose="00000500000000000000" pitchFamily="2" charset="-34"/>
                <a:cs typeface="BLS Text" pitchFamily="2" charset="-34"/>
              </a:rPr>
              <a:t>base case </a:t>
            </a:r>
            <a:r>
              <a:rPr lang="th-TH" sz="1000" dirty="0">
                <a:solidFill>
                  <a:schemeClr val="tx1">
                    <a:lumMod val="65000"/>
                    <a:lumOff val="35000"/>
                  </a:schemeClr>
                </a:solidFill>
                <a:latin typeface="BLS Text" panose="00000500000000000000" pitchFamily="2" charset="-34"/>
                <a:cs typeface="BLS Text" pitchFamily="2" charset="-34"/>
              </a:rPr>
              <a:t>บ้าง แต่ยังคงอยู่ในระดับที่น่าสนใจ โดยเฉพาะในกลุ่มธนาคารที่ยังให้ผลตอบแทนสูง เช่น </a:t>
            </a:r>
            <a:r>
              <a:rPr lang="en-US" sz="1000" dirty="0">
                <a:solidFill>
                  <a:schemeClr val="tx1">
                    <a:lumMod val="65000"/>
                    <a:lumOff val="35000"/>
                  </a:schemeClr>
                </a:solidFill>
                <a:latin typeface="BLS Text" panose="00000500000000000000" pitchFamily="2" charset="-34"/>
                <a:cs typeface="BLS Text" pitchFamily="2" charset="-34"/>
              </a:rPr>
              <a:t>SCB (7.6% </a:t>
            </a:r>
            <a:r>
              <a:rPr lang="th-TH" sz="1000" dirty="0">
                <a:solidFill>
                  <a:schemeClr val="tx1">
                    <a:lumMod val="65000"/>
                    <a:lumOff val="35000"/>
                  </a:schemeClr>
                </a:solidFill>
                <a:latin typeface="BLS Text" panose="00000500000000000000" pitchFamily="2" charset="-34"/>
                <a:cs typeface="BLS Text" pitchFamily="2" charset="-34"/>
              </a:rPr>
              <a:t>เทียบ 8.0% ใน </a:t>
            </a:r>
            <a:r>
              <a:rPr lang="en-US" sz="1000" dirty="0">
                <a:solidFill>
                  <a:schemeClr val="tx1">
                    <a:lumMod val="65000"/>
                    <a:lumOff val="35000"/>
                  </a:schemeClr>
                </a:solidFill>
                <a:latin typeface="BLS Text" panose="00000500000000000000" pitchFamily="2" charset="-34"/>
                <a:cs typeface="BLS Text" pitchFamily="2" charset="-34"/>
              </a:rPr>
              <a:t>base case), KTB (6.4% </a:t>
            </a:r>
            <a:r>
              <a:rPr lang="th-TH" sz="1000" dirty="0">
                <a:solidFill>
                  <a:schemeClr val="tx1">
                    <a:lumMod val="65000"/>
                    <a:lumOff val="35000"/>
                  </a:schemeClr>
                </a:solidFill>
                <a:latin typeface="BLS Text" panose="00000500000000000000" pitchFamily="2" charset="-34"/>
                <a:cs typeface="BLS Text" pitchFamily="2" charset="-34"/>
              </a:rPr>
              <a:t>เทียบ 6.7%), </a:t>
            </a:r>
            <a:r>
              <a:rPr lang="en-US" sz="1000" dirty="0">
                <a:solidFill>
                  <a:schemeClr val="tx1">
                    <a:lumMod val="65000"/>
                    <a:lumOff val="35000"/>
                  </a:schemeClr>
                </a:solidFill>
                <a:latin typeface="BLS Text" panose="00000500000000000000" pitchFamily="2" charset="-34"/>
                <a:cs typeface="BLS Text" pitchFamily="2" charset="-34"/>
              </a:rPr>
              <a:t>KBANK (6.0% </a:t>
            </a:r>
            <a:r>
              <a:rPr lang="th-TH" sz="1000" dirty="0">
                <a:solidFill>
                  <a:schemeClr val="tx1">
                    <a:lumMod val="65000"/>
                    <a:lumOff val="35000"/>
                  </a:schemeClr>
                </a:solidFill>
                <a:latin typeface="BLS Text" panose="00000500000000000000" pitchFamily="2" charset="-34"/>
                <a:cs typeface="BLS Text" pitchFamily="2" charset="-34"/>
              </a:rPr>
              <a:t>เทียบ 6.3%) และ </a:t>
            </a:r>
            <a:r>
              <a:rPr lang="en-US" sz="1000" dirty="0">
                <a:solidFill>
                  <a:schemeClr val="tx1">
                    <a:lumMod val="65000"/>
                    <a:lumOff val="35000"/>
                  </a:schemeClr>
                </a:solidFill>
                <a:latin typeface="BLS Text" panose="00000500000000000000" pitchFamily="2" charset="-34"/>
                <a:cs typeface="BLS Text" pitchFamily="2" charset="-34"/>
              </a:rPr>
              <a:t>BBL (6.2% </a:t>
            </a:r>
            <a:r>
              <a:rPr lang="th-TH" sz="1000" dirty="0">
                <a:solidFill>
                  <a:schemeClr val="tx1">
                    <a:lumMod val="65000"/>
                    <a:lumOff val="35000"/>
                  </a:schemeClr>
                </a:solidFill>
                <a:latin typeface="BLS Text" panose="00000500000000000000" pitchFamily="2" charset="-34"/>
                <a:cs typeface="BLS Text" pitchFamily="2" charset="-34"/>
              </a:rPr>
              <a:t>เทียบ 6.5%) สะท้อนความแข็งแกร่งของความสามารถในการจ่ายปันผล </a:t>
            </a:r>
            <a:endParaRPr lang="en-US" sz="1000" dirty="0">
              <a:solidFill>
                <a:schemeClr val="tx1">
                  <a:lumMod val="65000"/>
                  <a:lumOff val="35000"/>
                </a:schemeClr>
              </a:solidFill>
              <a:latin typeface="BLS Text" panose="00000500000000000000" pitchFamily="2" charset="-34"/>
              <a:cs typeface="BLS Text" pitchFamily="2" charset="-34"/>
            </a:endParaRPr>
          </a:p>
        </p:txBody>
      </p:sp>
      <p:sp>
        <p:nvSpPr>
          <p:cNvPr id="15" name="TextBox 14">
            <a:extLst>
              <a:ext uri="{FF2B5EF4-FFF2-40B4-BE49-F238E27FC236}">
                <a16:creationId xmlns:a16="http://schemas.microsoft.com/office/drawing/2014/main" id="{546F7F14-A377-C8CF-5D1E-8DDF1256B72B}"/>
              </a:ext>
            </a:extLst>
          </p:cNvPr>
          <p:cNvSpPr txBox="1"/>
          <p:nvPr/>
        </p:nvSpPr>
        <p:spPr>
          <a:xfrm>
            <a:off x="3462910" y="4924340"/>
            <a:ext cx="3164970" cy="3639458"/>
          </a:xfrm>
          <a:prstGeom prst="rect">
            <a:avLst/>
          </a:prstGeom>
          <a:solidFill>
            <a:srgbClr val="EDEDED">
              <a:alpha val="60000"/>
            </a:srgbClr>
          </a:solidFill>
          <a:ln>
            <a:noFill/>
          </a:ln>
        </p:spPr>
        <p:txBody>
          <a:bodyPr wrap="square" rtlCol="0">
            <a:spAutoFit/>
          </a:bodyPr>
          <a:lstStyle/>
          <a:p>
            <a:pPr algn="thaiDist">
              <a:lnSpc>
                <a:spcPct val="120000"/>
              </a:lnSpc>
              <a:spcBef>
                <a:spcPts val="300"/>
              </a:spcBef>
              <a:buSzPct val="120000"/>
            </a:pPr>
            <a:r>
              <a:rPr lang="th-TH" sz="1000" dirty="0">
                <a:solidFill>
                  <a:schemeClr val="tx1">
                    <a:lumMod val="65000"/>
                    <a:lumOff val="35000"/>
                  </a:schemeClr>
                </a:solidFill>
                <a:latin typeface="BLS Text" panose="00000500000000000000" pitchFamily="2" charset="-34"/>
                <a:cs typeface="BLS Text" pitchFamily="2" charset="-34"/>
              </a:rPr>
              <a:t>ขณะที่กลุ่ม </a:t>
            </a:r>
            <a:r>
              <a:rPr lang="en-US" sz="1000" dirty="0">
                <a:solidFill>
                  <a:schemeClr val="tx1">
                    <a:lumMod val="65000"/>
                    <a:lumOff val="35000"/>
                  </a:schemeClr>
                </a:solidFill>
                <a:latin typeface="BLS Text" panose="00000500000000000000" pitchFamily="2" charset="-34"/>
                <a:cs typeface="BLS Text" pitchFamily="2" charset="-34"/>
              </a:rPr>
              <a:t>Defensive </a:t>
            </a:r>
            <a:r>
              <a:rPr lang="th-TH" sz="1000" dirty="0">
                <a:solidFill>
                  <a:schemeClr val="tx1">
                    <a:lumMod val="65000"/>
                    <a:lumOff val="35000"/>
                  </a:schemeClr>
                </a:solidFill>
                <a:latin typeface="BLS Text" panose="00000500000000000000" pitchFamily="2" charset="-34"/>
                <a:cs typeface="BLS Text" pitchFamily="2" charset="-34"/>
              </a:rPr>
              <a:t>และ </a:t>
            </a:r>
            <a:r>
              <a:rPr lang="en-US" sz="1000" dirty="0">
                <a:solidFill>
                  <a:schemeClr val="tx1">
                    <a:lumMod val="65000"/>
                    <a:lumOff val="35000"/>
                  </a:schemeClr>
                </a:solidFill>
                <a:latin typeface="BLS Text" panose="00000500000000000000" pitchFamily="2" charset="-34"/>
                <a:cs typeface="BLS Text" pitchFamily="2" charset="-34"/>
              </a:rPr>
              <a:t>Domestic play </a:t>
            </a:r>
            <a:r>
              <a:rPr lang="th-TH" sz="1000" dirty="0">
                <a:solidFill>
                  <a:schemeClr val="tx1">
                    <a:lumMod val="65000"/>
                    <a:lumOff val="35000"/>
                  </a:schemeClr>
                </a:solidFill>
                <a:latin typeface="BLS Text" panose="00000500000000000000" pitchFamily="2" charset="-34"/>
                <a:cs typeface="BLS Text" pitchFamily="2" charset="-34"/>
              </a:rPr>
              <a:t>อย่าง </a:t>
            </a:r>
            <a:r>
              <a:rPr lang="en-US" sz="1000" dirty="0">
                <a:solidFill>
                  <a:schemeClr val="tx1">
                    <a:lumMod val="65000"/>
                    <a:lumOff val="35000"/>
                  </a:schemeClr>
                </a:solidFill>
                <a:latin typeface="BLS Text" panose="00000500000000000000" pitchFamily="2" charset="-34"/>
                <a:cs typeface="BLS Text" pitchFamily="2" charset="-34"/>
              </a:rPr>
              <a:t>ADVANC (4.5% </a:t>
            </a:r>
            <a:r>
              <a:rPr lang="th-TH" sz="1000" dirty="0">
                <a:solidFill>
                  <a:schemeClr val="tx1">
                    <a:lumMod val="65000"/>
                    <a:lumOff val="35000"/>
                  </a:schemeClr>
                </a:solidFill>
                <a:latin typeface="BLS Text" panose="00000500000000000000" pitchFamily="2" charset="-34"/>
                <a:cs typeface="BLS Text" pitchFamily="2" charset="-34"/>
              </a:rPr>
              <a:t>เทียบ 4.7%), </a:t>
            </a:r>
            <a:r>
              <a:rPr lang="en-US" sz="1000" dirty="0">
                <a:solidFill>
                  <a:schemeClr val="tx1">
                    <a:lumMod val="65000"/>
                    <a:lumOff val="35000"/>
                  </a:schemeClr>
                </a:solidFill>
                <a:latin typeface="BLS Text" panose="00000500000000000000" pitchFamily="2" charset="-34"/>
                <a:cs typeface="BLS Text" pitchFamily="2" charset="-34"/>
              </a:rPr>
              <a:t>BDMS (4.1% </a:t>
            </a:r>
            <a:r>
              <a:rPr lang="th-TH" sz="1000" dirty="0">
                <a:solidFill>
                  <a:schemeClr val="tx1">
                    <a:lumMod val="65000"/>
                    <a:lumOff val="35000"/>
                  </a:schemeClr>
                </a:solidFill>
                <a:latin typeface="BLS Text" panose="00000500000000000000" pitchFamily="2" charset="-34"/>
                <a:cs typeface="BLS Text" pitchFamily="2" charset="-34"/>
              </a:rPr>
              <a:t>เทียบ 4.3%) และ </a:t>
            </a:r>
            <a:r>
              <a:rPr lang="en-US" sz="1000" dirty="0">
                <a:solidFill>
                  <a:schemeClr val="tx1">
                    <a:lumMod val="65000"/>
                    <a:lumOff val="35000"/>
                  </a:schemeClr>
                </a:solidFill>
                <a:latin typeface="BLS Text" panose="00000500000000000000" pitchFamily="2" charset="-34"/>
                <a:cs typeface="BLS Text" pitchFamily="2" charset="-34"/>
              </a:rPr>
              <a:t>CPN (4.0% </a:t>
            </a:r>
            <a:r>
              <a:rPr lang="th-TH" sz="1000" dirty="0">
                <a:solidFill>
                  <a:schemeClr val="tx1">
                    <a:lumMod val="65000"/>
                    <a:lumOff val="35000"/>
                  </a:schemeClr>
                </a:solidFill>
                <a:latin typeface="BLS Text" panose="00000500000000000000" pitchFamily="2" charset="-34"/>
                <a:cs typeface="BLS Text" pitchFamily="2" charset="-34"/>
              </a:rPr>
              <a:t>เทียบ 4.2%) มี </a:t>
            </a:r>
            <a:r>
              <a:rPr lang="en-US" sz="1000" dirty="0">
                <a:solidFill>
                  <a:schemeClr val="tx1">
                    <a:lumMod val="65000"/>
                    <a:lumOff val="35000"/>
                  </a:schemeClr>
                </a:solidFill>
                <a:latin typeface="BLS Text" panose="00000500000000000000" pitchFamily="2" charset="-34"/>
                <a:cs typeface="BLS Text" pitchFamily="2" charset="-34"/>
              </a:rPr>
              <a:t>downside </a:t>
            </a:r>
            <a:r>
              <a:rPr lang="th-TH" sz="1000" dirty="0">
                <a:solidFill>
                  <a:schemeClr val="tx1">
                    <a:lumMod val="65000"/>
                    <a:lumOff val="35000"/>
                  </a:schemeClr>
                </a:solidFill>
                <a:latin typeface="BLS Text" panose="00000500000000000000" pitchFamily="2" charset="-34"/>
                <a:cs typeface="BLS Text" pitchFamily="2" charset="-34"/>
              </a:rPr>
              <a:t>จำกัด สอดคล้องกับกระแสเงินสดที่มีเสถียรภาพในฝั่งพลังงาน </a:t>
            </a:r>
            <a:r>
              <a:rPr lang="en-US" sz="1000" dirty="0">
                <a:solidFill>
                  <a:schemeClr val="tx1">
                    <a:lumMod val="65000"/>
                    <a:lumOff val="35000"/>
                  </a:schemeClr>
                </a:solidFill>
                <a:latin typeface="BLS Text" panose="00000500000000000000" pitchFamily="2" charset="-34"/>
                <a:cs typeface="BLS Text" pitchFamily="2" charset="-34"/>
              </a:rPr>
              <a:t>PTT </a:t>
            </a:r>
            <a:r>
              <a:rPr lang="th-TH" sz="1000" dirty="0">
                <a:solidFill>
                  <a:schemeClr val="tx1">
                    <a:lumMod val="65000"/>
                    <a:lumOff val="35000"/>
                  </a:schemeClr>
                </a:solidFill>
                <a:latin typeface="BLS Text" panose="00000500000000000000" pitchFamily="2" charset="-34"/>
                <a:cs typeface="BLS Text" pitchFamily="2" charset="-34"/>
              </a:rPr>
              <a:t>ยังคง </a:t>
            </a:r>
            <a:r>
              <a:rPr lang="en-US" sz="1000" dirty="0">
                <a:solidFill>
                  <a:schemeClr val="tx1">
                    <a:lumMod val="65000"/>
                    <a:lumOff val="35000"/>
                  </a:schemeClr>
                </a:solidFill>
                <a:latin typeface="BLS Text" panose="00000500000000000000" pitchFamily="2" charset="-34"/>
                <a:cs typeface="BLS Text" pitchFamily="2" charset="-34"/>
              </a:rPr>
              <a:t>Dividend Yield </a:t>
            </a:r>
            <a:r>
              <a:rPr lang="th-TH" sz="1000" dirty="0">
                <a:solidFill>
                  <a:schemeClr val="tx1">
                    <a:lumMod val="65000"/>
                    <a:lumOff val="35000"/>
                  </a:schemeClr>
                </a:solidFill>
                <a:latin typeface="BLS Text" panose="00000500000000000000" pitchFamily="2" charset="-34"/>
                <a:cs typeface="BLS Text" pitchFamily="2" charset="-34"/>
              </a:rPr>
              <a:t>ที่ 6.0% ทั้งใน </a:t>
            </a:r>
            <a:r>
              <a:rPr lang="en-US" sz="1000" dirty="0">
                <a:solidFill>
                  <a:schemeClr val="tx1">
                    <a:lumMod val="65000"/>
                    <a:lumOff val="35000"/>
                  </a:schemeClr>
                </a:solidFill>
                <a:latin typeface="BLS Text" panose="00000500000000000000" pitchFamily="2" charset="-34"/>
                <a:cs typeface="BLS Text" pitchFamily="2" charset="-34"/>
              </a:rPr>
              <a:t>worst </a:t>
            </a:r>
            <a:r>
              <a:rPr lang="th-TH" sz="1000" dirty="0">
                <a:solidFill>
                  <a:schemeClr val="tx1">
                    <a:lumMod val="65000"/>
                    <a:lumOff val="35000"/>
                  </a:schemeClr>
                </a:solidFill>
                <a:latin typeface="BLS Text" panose="00000500000000000000" pitchFamily="2" charset="-34"/>
                <a:cs typeface="BLS Text" pitchFamily="2" charset="-34"/>
              </a:rPr>
              <a:t>และ </a:t>
            </a:r>
            <a:r>
              <a:rPr lang="en-US" sz="1000" dirty="0">
                <a:solidFill>
                  <a:schemeClr val="tx1">
                    <a:lumMod val="65000"/>
                    <a:lumOff val="35000"/>
                  </a:schemeClr>
                </a:solidFill>
                <a:latin typeface="BLS Text" panose="00000500000000000000" pitchFamily="2" charset="-34"/>
                <a:cs typeface="BLS Text" pitchFamily="2" charset="-34"/>
              </a:rPr>
              <a:t>base case </a:t>
            </a:r>
            <a:r>
              <a:rPr lang="th-TH" sz="1000" dirty="0">
                <a:solidFill>
                  <a:schemeClr val="tx1">
                    <a:lumMod val="65000"/>
                    <a:lumOff val="35000"/>
                  </a:schemeClr>
                </a:solidFill>
                <a:latin typeface="BLS Text" panose="00000500000000000000" pitchFamily="2" charset="-34"/>
                <a:cs typeface="BLS Text" pitchFamily="2" charset="-34"/>
              </a:rPr>
              <a:t>จากโครงสร้างรายได้ที่กระจายตัว ขณะที่กลุ่ม </a:t>
            </a:r>
            <a:r>
              <a:rPr lang="en-US" sz="1000" dirty="0">
                <a:solidFill>
                  <a:schemeClr val="tx1">
                    <a:lumMod val="65000"/>
                    <a:lumOff val="35000"/>
                  </a:schemeClr>
                </a:solidFill>
                <a:latin typeface="BLS Text" panose="00000500000000000000" pitchFamily="2" charset="-34"/>
                <a:cs typeface="BLS Text" pitchFamily="2" charset="-34"/>
              </a:rPr>
              <a:t>consumption </a:t>
            </a:r>
            <a:r>
              <a:rPr lang="th-TH" sz="1000" dirty="0">
                <a:solidFill>
                  <a:schemeClr val="tx1">
                    <a:lumMod val="65000"/>
                    <a:lumOff val="35000"/>
                  </a:schemeClr>
                </a:solidFill>
                <a:latin typeface="BLS Text" panose="00000500000000000000" pitchFamily="2" charset="-34"/>
                <a:cs typeface="BLS Text" pitchFamily="2" charset="-34"/>
              </a:rPr>
              <a:t>อย่าง </a:t>
            </a:r>
            <a:r>
              <a:rPr lang="en-US" sz="1000" dirty="0">
                <a:solidFill>
                  <a:schemeClr val="tx1">
                    <a:lumMod val="65000"/>
                    <a:lumOff val="35000"/>
                  </a:schemeClr>
                </a:solidFill>
                <a:latin typeface="BLS Text" panose="00000500000000000000" pitchFamily="2" charset="-34"/>
                <a:cs typeface="BLS Text" pitchFamily="2" charset="-34"/>
              </a:rPr>
              <a:t>COM7 (4.7% </a:t>
            </a:r>
            <a:r>
              <a:rPr lang="th-TH" sz="1000" dirty="0">
                <a:solidFill>
                  <a:schemeClr val="tx1">
                    <a:lumMod val="65000"/>
                    <a:lumOff val="35000"/>
                  </a:schemeClr>
                </a:solidFill>
                <a:latin typeface="BLS Text" panose="00000500000000000000" pitchFamily="2" charset="-34"/>
                <a:cs typeface="BLS Text" pitchFamily="2" charset="-34"/>
              </a:rPr>
              <a:t>เทียบ 5.2%) และกลุ่มประกันอย่าง </a:t>
            </a:r>
            <a:r>
              <a:rPr lang="en-US" sz="1000" dirty="0">
                <a:solidFill>
                  <a:schemeClr val="tx1">
                    <a:lumMod val="65000"/>
                    <a:lumOff val="35000"/>
                  </a:schemeClr>
                </a:solidFill>
                <a:latin typeface="BLS Text" panose="00000500000000000000" pitchFamily="2" charset="-34"/>
                <a:cs typeface="BLS Text" pitchFamily="2" charset="-34"/>
              </a:rPr>
              <a:t>TLI (5.3% </a:t>
            </a:r>
            <a:r>
              <a:rPr lang="th-TH" sz="1000" dirty="0">
                <a:solidFill>
                  <a:schemeClr val="tx1">
                    <a:lumMod val="65000"/>
                    <a:lumOff val="35000"/>
                  </a:schemeClr>
                </a:solidFill>
                <a:latin typeface="BLS Text" panose="00000500000000000000" pitchFamily="2" charset="-34"/>
                <a:cs typeface="BLS Text" pitchFamily="2" charset="-34"/>
              </a:rPr>
              <a:t>เทียบ 5.7%) มีการปรับลดลงเล็กน้อย ส่วนกลุ่มนิคมฯ อย่าง </a:t>
            </a:r>
            <a:r>
              <a:rPr lang="en-US" sz="1000" dirty="0">
                <a:solidFill>
                  <a:schemeClr val="tx1">
                    <a:lumMod val="65000"/>
                    <a:lumOff val="35000"/>
                  </a:schemeClr>
                </a:solidFill>
                <a:latin typeface="BLS Text" panose="00000500000000000000" pitchFamily="2" charset="-34"/>
                <a:cs typeface="BLS Text" pitchFamily="2" charset="-34"/>
              </a:rPr>
              <a:t>WHA (4.0% </a:t>
            </a:r>
            <a:r>
              <a:rPr lang="th-TH" sz="1000" dirty="0">
                <a:solidFill>
                  <a:schemeClr val="tx1">
                    <a:lumMod val="65000"/>
                    <a:lumOff val="35000"/>
                  </a:schemeClr>
                </a:solidFill>
                <a:latin typeface="BLS Text" panose="00000500000000000000" pitchFamily="2" charset="-34"/>
                <a:cs typeface="BLS Text" pitchFamily="2" charset="-34"/>
              </a:rPr>
              <a:t>เทียบ 4.1%) และ </a:t>
            </a:r>
            <a:r>
              <a:rPr lang="en-US" sz="1000" dirty="0">
                <a:solidFill>
                  <a:schemeClr val="tx1">
                    <a:lumMod val="65000"/>
                    <a:lumOff val="35000"/>
                  </a:schemeClr>
                </a:solidFill>
                <a:latin typeface="BLS Text" panose="00000500000000000000" pitchFamily="2" charset="-34"/>
                <a:cs typeface="BLS Text" pitchFamily="2" charset="-34"/>
              </a:rPr>
              <a:t>WHAUP (4.5% </a:t>
            </a:r>
            <a:r>
              <a:rPr lang="th-TH" sz="1000" dirty="0">
                <a:solidFill>
                  <a:schemeClr val="tx1">
                    <a:lumMod val="65000"/>
                    <a:lumOff val="35000"/>
                  </a:schemeClr>
                </a:solidFill>
                <a:latin typeface="BLS Text" panose="00000500000000000000" pitchFamily="2" charset="-34"/>
                <a:cs typeface="BLS Text" pitchFamily="2" charset="-34"/>
              </a:rPr>
              <a:t>เทียบ 5.3%) แม้เผชิญแรงกดดันจากยอดขายที่ดิน แต่ยังคงรักษาระดับผลตอบแทนในระดับที่แข่งขันได้</a:t>
            </a:r>
          </a:p>
          <a:p>
            <a:pPr algn="thaiDist">
              <a:lnSpc>
                <a:spcPct val="120000"/>
              </a:lnSpc>
              <a:spcBef>
                <a:spcPts val="300"/>
              </a:spcBef>
              <a:buSzPct val="120000"/>
            </a:pPr>
            <a:r>
              <a:rPr lang="th-TH" sz="1000" b="1" dirty="0">
                <a:solidFill>
                  <a:schemeClr val="tx1">
                    <a:lumMod val="65000"/>
                    <a:lumOff val="35000"/>
                  </a:schemeClr>
                </a:solidFill>
                <a:latin typeface="BLS Text" panose="00000500000000000000" pitchFamily="2" charset="-34"/>
                <a:cs typeface="BLS Text" pitchFamily="2" charset="-34"/>
              </a:rPr>
              <a:t>โดยรวม การทดสอบภายใต้ </a:t>
            </a:r>
            <a:r>
              <a:rPr lang="en-US" sz="1000" b="1" dirty="0">
                <a:solidFill>
                  <a:schemeClr val="tx1">
                    <a:lumMod val="65000"/>
                    <a:lumOff val="35000"/>
                  </a:schemeClr>
                </a:solidFill>
                <a:latin typeface="BLS Text" panose="00000500000000000000" pitchFamily="2" charset="-34"/>
                <a:cs typeface="BLS Text" pitchFamily="2" charset="-34"/>
              </a:rPr>
              <a:t>worst-case scenario </a:t>
            </a:r>
            <a:r>
              <a:rPr lang="th-TH" sz="1000" b="1" dirty="0">
                <a:solidFill>
                  <a:schemeClr val="tx1">
                    <a:lumMod val="65000"/>
                    <a:lumOff val="35000"/>
                  </a:schemeClr>
                </a:solidFill>
                <a:latin typeface="BLS Text" panose="00000500000000000000" pitchFamily="2" charset="-34"/>
                <a:cs typeface="BLS Text" pitchFamily="2" charset="-34"/>
              </a:rPr>
              <a:t>ชี้ให้เห็นว่า “หุ้นปันผลคุณภาพ” ยังคงสามารถรักษาระดับ </a:t>
            </a:r>
            <a:r>
              <a:rPr lang="en-US" sz="1000" b="1" dirty="0">
                <a:solidFill>
                  <a:schemeClr val="tx1">
                    <a:lumMod val="65000"/>
                    <a:lumOff val="35000"/>
                  </a:schemeClr>
                </a:solidFill>
                <a:latin typeface="BLS Text" panose="00000500000000000000" pitchFamily="2" charset="-34"/>
                <a:cs typeface="BLS Text" pitchFamily="2" charset="-34"/>
              </a:rPr>
              <a:t>Dividend Yield </a:t>
            </a:r>
            <a:r>
              <a:rPr lang="th-TH" sz="1000" b="1" dirty="0">
                <a:solidFill>
                  <a:schemeClr val="tx1">
                    <a:lumMod val="65000"/>
                    <a:lumOff val="35000"/>
                  </a:schemeClr>
                </a:solidFill>
                <a:latin typeface="BLS Text" panose="00000500000000000000" pitchFamily="2" charset="-34"/>
                <a:cs typeface="BLS Text" pitchFamily="2" charset="-34"/>
              </a:rPr>
              <a:t>ได้ในระดับสูง </a:t>
            </a:r>
            <a:r>
              <a:rPr lang="th-TH" sz="1000" dirty="0">
                <a:solidFill>
                  <a:schemeClr val="tx1">
                    <a:lumMod val="65000"/>
                    <a:lumOff val="35000"/>
                  </a:schemeClr>
                </a:solidFill>
                <a:latin typeface="BLS Text" panose="00000500000000000000" pitchFamily="2" charset="-34"/>
                <a:cs typeface="BLS Text" pitchFamily="2" charset="-34"/>
              </a:rPr>
              <a:t>เมื่อเทียบกับค่าเฉลี่ยระยะยาว สะท้อนความยืดหยุ่นของกระแสเงินสด และชี้ชัดว่ามุมมองว่า </a:t>
            </a:r>
            <a:r>
              <a:rPr lang="en-US" sz="1000" dirty="0">
                <a:solidFill>
                  <a:schemeClr val="tx1">
                    <a:lumMod val="65000"/>
                    <a:lumOff val="35000"/>
                  </a:schemeClr>
                </a:solidFill>
                <a:latin typeface="BLS Text" panose="00000500000000000000" pitchFamily="2" charset="-34"/>
                <a:cs typeface="BLS Text" pitchFamily="2" charset="-34"/>
              </a:rPr>
              <a:t>Dividend Yield </a:t>
            </a:r>
            <a:r>
              <a:rPr lang="th-TH" sz="1000" dirty="0">
                <a:solidFill>
                  <a:schemeClr val="tx1">
                    <a:lumMod val="65000"/>
                    <a:lumOff val="35000"/>
                  </a:schemeClr>
                </a:solidFill>
                <a:latin typeface="BLS Text" panose="00000500000000000000" pitchFamily="2" charset="-34"/>
                <a:cs typeface="BLS Text" pitchFamily="2" charset="-34"/>
              </a:rPr>
              <a:t>ยังคงเป็น </a:t>
            </a:r>
            <a:r>
              <a:rPr lang="en-US" sz="1000" dirty="0">
                <a:solidFill>
                  <a:schemeClr val="tx1">
                    <a:lumMod val="65000"/>
                    <a:lumOff val="35000"/>
                  </a:schemeClr>
                </a:solidFill>
                <a:latin typeface="BLS Text" panose="00000500000000000000" pitchFamily="2" charset="-34"/>
                <a:cs typeface="BLS Text" pitchFamily="2" charset="-34"/>
              </a:rPr>
              <a:t>buffer </a:t>
            </a:r>
            <a:r>
              <a:rPr lang="th-TH" sz="1000" dirty="0">
                <a:solidFill>
                  <a:schemeClr val="tx1">
                    <a:lumMod val="65000"/>
                    <a:lumOff val="35000"/>
                  </a:schemeClr>
                </a:solidFill>
                <a:latin typeface="BLS Text" panose="00000500000000000000" pitchFamily="2" charset="-34"/>
                <a:cs typeface="BLS Text" pitchFamily="2" charset="-34"/>
              </a:rPr>
              <a:t>สำคัญในการรองรับความผันผวนของตลาดในภาวะที่การเติบโตของกำไรยังจำกัด</a:t>
            </a:r>
            <a:endParaRPr lang="en-US" sz="1000" b="1" dirty="0">
              <a:solidFill>
                <a:schemeClr val="tx1">
                  <a:lumMod val="65000"/>
                  <a:lumOff val="35000"/>
                </a:schemeClr>
              </a:solidFill>
              <a:latin typeface="BLS Text" panose="00000500000000000000" pitchFamily="2" charset="-34"/>
              <a:cs typeface="BLS Text" pitchFamily="2" charset="-34"/>
            </a:endParaRPr>
          </a:p>
        </p:txBody>
      </p:sp>
      <p:cxnSp>
        <p:nvCxnSpPr>
          <p:cNvPr id="18" name="Straight Connector 17">
            <a:extLst>
              <a:ext uri="{FF2B5EF4-FFF2-40B4-BE49-F238E27FC236}">
                <a16:creationId xmlns:a16="http://schemas.microsoft.com/office/drawing/2014/main" id="{811E1CC9-D26F-1122-558A-414813438452}"/>
              </a:ext>
            </a:extLst>
          </p:cNvPr>
          <p:cNvCxnSpPr>
            <a:cxnSpLocks/>
          </p:cNvCxnSpPr>
          <p:nvPr/>
        </p:nvCxnSpPr>
        <p:spPr>
          <a:xfrm>
            <a:off x="320593" y="874846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7AA2941-9659-DEF5-69DF-BE120C176F29}"/>
              </a:ext>
            </a:extLst>
          </p:cNvPr>
          <p:cNvSpPr/>
          <p:nvPr/>
        </p:nvSpPr>
        <p:spPr>
          <a:xfrm>
            <a:off x="297857" y="8748464"/>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974B464D-079C-66D5-267A-B0271C83992E}"/>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716ED43-E385-A160-9D3A-0264F1B0EE0B}"/>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C8FA6393-E3EE-E08E-89C6-D50BB8050980}"/>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6" name="TextBox 5">
            <a:extLst>
              <a:ext uri="{FF2B5EF4-FFF2-40B4-BE49-F238E27FC236}">
                <a16:creationId xmlns:a16="http://schemas.microsoft.com/office/drawing/2014/main" id="{BD3A6FF0-29C2-D2CA-3C95-E991D6DFEC33}"/>
              </a:ext>
            </a:extLst>
          </p:cNvPr>
          <p:cNvSpPr txBox="1"/>
          <p:nvPr/>
        </p:nvSpPr>
        <p:spPr>
          <a:xfrm>
            <a:off x="286492" y="1547664"/>
            <a:ext cx="6022828"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5</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ประเมินอัตราผลตอบแทนเงินปันผล </a:t>
            </a:r>
            <a:r>
              <a:rPr lang="en-US" sz="800" b="1" dirty="0">
                <a:solidFill>
                  <a:schemeClr val="tx1">
                    <a:lumMod val="95000"/>
                    <a:lumOff val="5000"/>
                  </a:schemeClr>
                </a:solidFill>
                <a:latin typeface="BLS Condensed" pitchFamily="2" charset="-34"/>
                <a:ea typeface="Tahoma" pitchFamily="34" charset="0"/>
                <a:cs typeface="BLS Condensed" pitchFamily="2" charset="-34"/>
              </a:rPr>
              <a:t>(</a:t>
            </a:r>
            <a:r>
              <a:rPr lang="th-TH" sz="800" b="1" dirty="0">
                <a:solidFill>
                  <a:schemeClr val="tx1">
                    <a:lumMod val="95000"/>
                    <a:lumOff val="5000"/>
                  </a:schemeClr>
                </a:solidFill>
                <a:latin typeface="BLS Condensed" pitchFamily="2" charset="-34"/>
                <a:ea typeface="Tahoma" pitchFamily="34" charset="0"/>
                <a:cs typeface="BLS Condensed" pitchFamily="2" charset="-34"/>
              </a:rPr>
              <a:t>ราคาปิดวันที่ 23 เม.ย.</a:t>
            </a:r>
            <a:r>
              <a:rPr lang="en-US" sz="800" b="1" dirty="0">
                <a:solidFill>
                  <a:schemeClr val="tx1">
                    <a:lumMod val="95000"/>
                    <a:lumOff val="5000"/>
                  </a:schemeClr>
                </a:solidFill>
                <a:latin typeface="BLS Condensed" pitchFamily="2" charset="-34"/>
                <a:ea typeface="Tahoma" pitchFamily="34" charset="0"/>
                <a:cs typeface="BLS Condensed" pitchFamily="2" charset="-34"/>
              </a:rPr>
              <a:t>)</a:t>
            </a:r>
          </a:p>
        </p:txBody>
      </p:sp>
      <p:sp>
        <p:nvSpPr>
          <p:cNvPr id="11" name="TextBox 10">
            <a:extLst>
              <a:ext uri="{FF2B5EF4-FFF2-40B4-BE49-F238E27FC236}">
                <a16:creationId xmlns:a16="http://schemas.microsoft.com/office/drawing/2014/main" id="{2CEDA854-2232-3892-76F0-6C03D03BE1D4}"/>
              </a:ext>
            </a:extLst>
          </p:cNvPr>
          <p:cNvSpPr txBox="1"/>
          <p:nvPr/>
        </p:nvSpPr>
        <p:spPr>
          <a:xfrm>
            <a:off x="188640" y="809000"/>
            <a:ext cx="6439240" cy="738664"/>
          </a:xfrm>
          <a:prstGeom prst="rect">
            <a:avLst/>
          </a:prstGeom>
          <a:noFill/>
        </p:spPr>
        <p:txBody>
          <a:bodyPr wrap="square">
            <a:spAutoFit/>
          </a:bodyPr>
          <a:lstStyle/>
          <a:p>
            <a:r>
              <a:rPr lang="en-US" altLang="en-US" sz="2400" dirty="0">
                <a:solidFill>
                  <a:schemeClr val="accent2"/>
                </a:solidFill>
                <a:latin typeface="BLS Condensed Bold" panose="00000800000000000000" pitchFamily="2" charset="-34"/>
                <a:ea typeface="Tahoma" pitchFamily="34" charset="0"/>
                <a:cs typeface="BLS Condensed Bold" panose="00000800000000000000" pitchFamily="2" charset="-34"/>
              </a:rPr>
              <a:t>Stress Test </a:t>
            </a:r>
            <a:r>
              <a:rPr lang="th-TH" altLang="en-US" sz="2400" dirty="0">
                <a:solidFill>
                  <a:schemeClr val="accent2"/>
                </a:solidFill>
                <a:latin typeface="BLS Condensed Bold" panose="00000800000000000000" pitchFamily="2" charset="-34"/>
                <a:ea typeface="Tahoma" pitchFamily="34" charset="0"/>
                <a:cs typeface="BLS Condensed Bold" panose="00000800000000000000" pitchFamily="2" charset="-34"/>
              </a:rPr>
              <a:t>เงินปันผล</a:t>
            </a:r>
          </a:p>
          <a:p>
            <a:r>
              <a:rPr lang="th-TH" altLang="en-US" dirty="0">
                <a:solidFill>
                  <a:schemeClr val="tx2"/>
                </a:solidFill>
                <a:latin typeface="BLS Condensed Bold" panose="00000800000000000000" pitchFamily="2" charset="-34"/>
                <a:ea typeface="Tahoma" pitchFamily="34" charset="0"/>
                <a:cs typeface="BLS Condensed Bold" panose="00000800000000000000" pitchFamily="2" charset="-34"/>
              </a:rPr>
              <a:t>            ประเมิน </a:t>
            </a:r>
            <a:r>
              <a:rPr lang="en-US" altLang="en-US" dirty="0">
                <a:solidFill>
                  <a:schemeClr val="tx2"/>
                </a:solidFill>
                <a:latin typeface="BLS Condensed Bold" panose="00000800000000000000" pitchFamily="2" charset="-34"/>
                <a:ea typeface="Tahoma" pitchFamily="34" charset="0"/>
                <a:cs typeface="BLS Condensed Bold" panose="00000800000000000000" pitchFamily="2" charset="-34"/>
              </a:rPr>
              <a:t>Downside </a:t>
            </a:r>
            <a:r>
              <a:rPr lang="th-TH" altLang="en-US" dirty="0">
                <a:solidFill>
                  <a:schemeClr val="tx2"/>
                </a:solidFill>
                <a:latin typeface="BLS Condensed Bold" panose="00000800000000000000" pitchFamily="2" charset="-34"/>
                <a:ea typeface="Tahoma" pitchFamily="34" charset="0"/>
                <a:cs typeface="BLS Condensed Bold" panose="00000800000000000000" pitchFamily="2" charset="-34"/>
              </a:rPr>
              <a:t>ของ </a:t>
            </a:r>
            <a:r>
              <a:rPr lang="en-US" altLang="en-US" dirty="0">
                <a:solidFill>
                  <a:schemeClr val="tx2"/>
                </a:solidFill>
                <a:latin typeface="BLS Condensed Bold" panose="00000800000000000000" pitchFamily="2" charset="-34"/>
                <a:ea typeface="Tahoma" pitchFamily="34" charset="0"/>
                <a:cs typeface="BLS Condensed Bold" panose="00000800000000000000" pitchFamily="2" charset="-34"/>
              </a:rPr>
              <a:t>Dividend Yield </a:t>
            </a:r>
            <a:r>
              <a:rPr lang="th-TH" altLang="en-US" dirty="0">
                <a:solidFill>
                  <a:schemeClr val="tx2"/>
                </a:solidFill>
                <a:latin typeface="BLS Condensed Bold" panose="00000800000000000000" pitchFamily="2" charset="-34"/>
                <a:ea typeface="Tahoma" pitchFamily="34" charset="0"/>
                <a:cs typeface="BLS Condensed Bold" panose="00000800000000000000" pitchFamily="2" charset="-34"/>
              </a:rPr>
              <a:t>ภายใต้ </a:t>
            </a:r>
            <a:r>
              <a:rPr lang="en-US" altLang="en-US" dirty="0">
                <a:solidFill>
                  <a:schemeClr val="tx2"/>
                </a:solidFill>
                <a:latin typeface="BLS Condensed Bold" panose="00000800000000000000" pitchFamily="2" charset="-34"/>
                <a:ea typeface="Tahoma" pitchFamily="34" charset="0"/>
                <a:cs typeface="BLS Condensed Bold" panose="00000800000000000000" pitchFamily="2" charset="-34"/>
              </a:rPr>
              <a:t>Worst-case Scenario</a:t>
            </a:r>
          </a:p>
        </p:txBody>
      </p:sp>
      <p:pic>
        <p:nvPicPr>
          <p:cNvPr id="4" name="Picture 3">
            <a:extLst>
              <a:ext uri="{FF2B5EF4-FFF2-40B4-BE49-F238E27FC236}">
                <a16:creationId xmlns:a16="http://schemas.microsoft.com/office/drawing/2014/main" id="{716A7D7D-FE32-A792-644E-3D3FB94D00D7}"/>
              </a:ext>
            </a:extLst>
          </p:cNvPr>
          <p:cNvPicPr>
            <a:picLocks noChangeAspect="1"/>
          </p:cNvPicPr>
          <p:nvPr/>
        </p:nvPicPr>
        <p:blipFill>
          <a:blip r:embed="rId7"/>
          <a:stretch>
            <a:fillRect/>
          </a:stretch>
        </p:blipFill>
        <p:spPr>
          <a:xfrm>
            <a:off x="188640" y="1768242"/>
            <a:ext cx="6480720" cy="3091210"/>
          </a:xfrm>
          <a:prstGeom prst="rect">
            <a:avLst/>
          </a:prstGeom>
        </p:spPr>
      </p:pic>
      <p:sp>
        <p:nvSpPr>
          <p:cNvPr id="24" name="TextBox 23">
            <a:extLst>
              <a:ext uri="{FF2B5EF4-FFF2-40B4-BE49-F238E27FC236}">
                <a16:creationId xmlns:a16="http://schemas.microsoft.com/office/drawing/2014/main" id="{97B8DEDE-0323-676D-8E1B-73A6C4102A9D}"/>
              </a:ext>
            </a:extLst>
          </p:cNvPr>
          <p:cNvSpPr txBox="1">
            <a:spLocks noChangeArrowheads="1"/>
          </p:cNvSpPr>
          <p:nvPr/>
        </p:nvSpPr>
        <p:spPr bwMode="auto">
          <a:xfrm>
            <a:off x="4365104" y="4283388"/>
            <a:ext cx="2255097"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pPr algn="r"/>
            <a:r>
              <a:rPr lang="en-US" sz="700" dirty="0">
                <a:solidFill>
                  <a:srgbClr val="404040"/>
                </a:solidFill>
                <a:latin typeface="BLS Condensed" pitchFamily="2" charset="-34"/>
                <a:cs typeface="BLS Condensed" pitchFamily="2" charset="-34"/>
              </a:rPr>
              <a:t>Source</a:t>
            </a:r>
            <a:r>
              <a:rPr lang="th-TH" sz="600" dirty="0">
                <a:solidFill>
                  <a:srgbClr val="404040"/>
                </a:solidFill>
                <a:latin typeface="BLS Condensed" pitchFamily="2" charset="-34"/>
                <a:cs typeface="BLS Condensed" pitchFamily="2" charset="-34"/>
              </a:rPr>
              <a:t>:</a:t>
            </a:r>
            <a:r>
              <a:rPr lang="en-US" sz="600" dirty="0">
                <a:solidFill>
                  <a:srgbClr val="404040"/>
                </a:solidFill>
                <a:latin typeface="BLS Condensed" pitchFamily="2" charset="-34"/>
                <a:cs typeface="BLS Condensed" pitchFamily="2" charset="-34"/>
              </a:rPr>
              <a:t> </a:t>
            </a:r>
            <a:r>
              <a:rPr lang="en-US" sz="700" dirty="0" err="1">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Bualuang</a:t>
            </a:r>
            <a:r>
              <a:rPr lang="en-US" sz="700" dirty="0">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 Research</a:t>
            </a:r>
            <a:endParaRPr lang="en-US" sz="600" dirty="0">
              <a:solidFill>
                <a:srgbClr val="404040"/>
              </a:solidFill>
              <a:latin typeface="BLS Condensed" pitchFamily="2" charset="-34"/>
              <a:cs typeface="BLS Condensed" pitchFamily="2" charset="-34"/>
            </a:endParaRPr>
          </a:p>
        </p:txBody>
      </p:sp>
    </p:spTree>
    <p:extLst>
      <p:ext uri="{BB962C8B-B14F-4D97-AF65-F5344CB8AC3E}">
        <p14:creationId xmlns:p14="http://schemas.microsoft.com/office/powerpoint/2010/main" val="2433007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8602"/>
          <a:stretch/>
        </p:blipFill>
        <p:spPr>
          <a:xfrm>
            <a:off x="0" y="0"/>
            <a:ext cx="6858000" cy="8689302"/>
          </a:xfrm>
          <a:prstGeom prst="rect">
            <a:avLst/>
          </a:prstGeom>
        </p:spPr>
      </p:pic>
      <p:sp>
        <p:nvSpPr>
          <p:cNvPr id="19" name="TextBox 18">
            <a:extLst>
              <a:ext uri="{FF2B5EF4-FFF2-40B4-BE49-F238E27FC236}">
                <a16:creationId xmlns:a16="http://schemas.microsoft.com/office/drawing/2014/main" id="{01D3EDA3-679C-BA8B-9EDE-9A31378F2861}"/>
              </a:ext>
            </a:extLst>
          </p:cNvPr>
          <p:cNvSpPr txBox="1"/>
          <p:nvPr/>
        </p:nvSpPr>
        <p:spPr>
          <a:xfrm>
            <a:off x="658256" y="2667247"/>
            <a:ext cx="72008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12 ธ.ค. </a:t>
            </a:r>
          </a:p>
        </p:txBody>
      </p:sp>
      <p:sp>
        <p:nvSpPr>
          <p:cNvPr id="20" name="TextBox 19">
            <a:extLst>
              <a:ext uri="{FF2B5EF4-FFF2-40B4-BE49-F238E27FC236}">
                <a16:creationId xmlns:a16="http://schemas.microsoft.com/office/drawing/2014/main" id="{FC28B75D-C3AA-F0C5-6200-83DB873637CB}"/>
              </a:ext>
            </a:extLst>
          </p:cNvPr>
          <p:cNvSpPr txBox="1"/>
          <p:nvPr/>
        </p:nvSpPr>
        <p:spPr>
          <a:xfrm>
            <a:off x="531946" y="2659073"/>
            <a:ext cx="904643"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ราชกิจจาประกาศยุบสภา</a:t>
            </a:r>
          </a:p>
        </p:txBody>
      </p:sp>
      <p:sp>
        <p:nvSpPr>
          <p:cNvPr id="21" name="TextBox 20">
            <a:extLst>
              <a:ext uri="{FF2B5EF4-FFF2-40B4-BE49-F238E27FC236}">
                <a16:creationId xmlns:a16="http://schemas.microsoft.com/office/drawing/2014/main" id="{C1FE4F51-5E04-9485-3236-75E85E050C64}"/>
              </a:ext>
            </a:extLst>
          </p:cNvPr>
          <p:cNvSpPr txBox="1"/>
          <p:nvPr/>
        </p:nvSpPr>
        <p:spPr>
          <a:xfrm>
            <a:off x="1497212" y="2667247"/>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13-17 ธ.ค.</a:t>
            </a:r>
          </a:p>
        </p:txBody>
      </p:sp>
      <p:sp>
        <p:nvSpPr>
          <p:cNvPr id="25" name="TextBox 24">
            <a:extLst>
              <a:ext uri="{FF2B5EF4-FFF2-40B4-BE49-F238E27FC236}">
                <a16:creationId xmlns:a16="http://schemas.microsoft.com/office/drawing/2014/main" id="{D3C2255B-69C2-3386-D320-629A8A4034DA}"/>
              </a:ext>
            </a:extLst>
          </p:cNvPr>
          <p:cNvSpPr txBox="1"/>
          <p:nvPr/>
        </p:nvSpPr>
        <p:spPr>
          <a:xfrm>
            <a:off x="2319090" y="2667247"/>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20-28 ธ.ค.</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2659073"/>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2655178"/>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2684819"/>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2675822"/>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sp>
        <p:nvSpPr>
          <p:cNvPr id="2" name="TextBox 1">
            <a:extLst>
              <a:ext uri="{FF2B5EF4-FFF2-40B4-BE49-F238E27FC236}">
                <a16:creationId xmlns:a16="http://schemas.microsoft.com/office/drawing/2014/main" id="{9E85ABDE-7CE6-F0E6-1824-B9305003B1AB}"/>
              </a:ext>
            </a:extLst>
          </p:cNvPr>
          <p:cNvSpPr txBox="1"/>
          <p:nvPr/>
        </p:nvSpPr>
        <p:spPr>
          <a:xfrm>
            <a:off x="188640" y="2169602"/>
            <a:ext cx="3164970" cy="1792798"/>
          </a:xfrm>
          <a:prstGeom prst="rect">
            <a:avLst/>
          </a:prstGeom>
          <a:solidFill>
            <a:srgbClr val="EDEDED">
              <a:alpha val="60000"/>
            </a:srgbClr>
          </a:solidFill>
          <a:ln>
            <a:noFill/>
          </a:ln>
        </p:spPr>
        <p:txBody>
          <a:bodyPr wrap="square" rtlCol="0">
            <a:spAutoFit/>
          </a:bodyPr>
          <a:lstStyle/>
          <a:p>
            <a:pPr algn="thaiDist">
              <a:lnSpc>
                <a:spcPct val="120000"/>
              </a:lnSpc>
              <a:spcBef>
                <a:spcPts val="300"/>
              </a:spcBef>
              <a:buSzPct val="120000"/>
            </a:pPr>
            <a:r>
              <a:rPr lang="th-TH" sz="1000" dirty="0">
                <a:solidFill>
                  <a:schemeClr val="tx1">
                    <a:lumMod val="65000"/>
                    <a:lumOff val="35000"/>
                  </a:schemeClr>
                </a:solidFill>
                <a:latin typeface="BLS Text" panose="00000500000000000000" pitchFamily="2" charset="-34"/>
                <a:cs typeface="BLS Text" pitchFamily="2" charset="-34"/>
              </a:rPr>
              <a:t>ในภาวะเศรษฐกิจและกำไรที่เติบโตจำกัด บทบาทของเงินปันผล (</a:t>
            </a:r>
            <a:r>
              <a:rPr lang="en-US" sz="1000" dirty="0">
                <a:solidFill>
                  <a:schemeClr val="tx1">
                    <a:lumMod val="65000"/>
                    <a:lumOff val="35000"/>
                  </a:schemeClr>
                </a:solidFill>
                <a:latin typeface="BLS Text" panose="00000500000000000000" pitchFamily="2" charset="-34"/>
                <a:cs typeface="BLS Text" pitchFamily="2" charset="-34"/>
              </a:rPr>
              <a:t>Dividend Yield) </a:t>
            </a:r>
            <a:r>
              <a:rPr lang="th-TH" sz="1000" dirty="0">
                <a:solidFill>
                  <a:schemeClr val="tx1">
                    <a:lumMod val="65000"/>
                    <a:lumOff val="35000"/>
                  </a:schemeClr>
                </a:solidFill>
                <a:latin typeface="BLS Text" panose="00000500000000000000" pitchFamily="2" charset="-34"/>
                <a:cs typeface="BLS Text" pitchFamily="2" charset="-34"/>
              </a:rPr>
              <a:t>กลายเป็นแหล่งผลตอบแทนหลัก ขณะที่ปัจจัยเชิงฤดูกาล (</a:t>
            </a:r>
            <a:r>
              <a:rPr lang="en-US" sz="1000" dirty="0">
                <a:solidFill>
                  <a:schemeClr val="tx1">
                    <a:lumMod val="65000"/>
                    <a:lumOff val="35000"/>
                  </a:schemeClr>
                </a:solidFill>
                <a:latin typeface="BLS Text" panose="00000500000000000000" pitchFamily="2" charset="-34"/>
                <a:cs typeface="BLS Text" pitchFamily="2" charset="-34"/>
              </a:rPr>
              <a:t>seasonality) </a:t>
            </a:r>
            <a:r>
              <a:rPr lang="th-TH" sz="1000" dirty="0">
                <a:solidFill>
                  <a:schemeClr val="tx1">
                    <a:lumMod val="65000"/>
                    <a:lumOff val="35000"/>
                  </a:schemeClr>
                </a:solidFill>
                <a:latin typeface="BLS Text" panose="00000500000000000000" pitchFamily="2" charset="-34"/>
                <a:cs typeface="BLS Text" pitchFamily="2" charset="-34"/>
              </a:rPr>
              <a:t>อย่าง “</a:t>
            </a:r>
            <a:r>
              <a:rPr lang="en-US" sz="1000" dirty="0">
                <a:solidFill>
                  <a:schemeClr val="tx1">
                    <a:lumMod val="65000"/>
                    <a:lumOff val="35000"/>
                  </a:schemeClr>
                </a:solidFill>
                <a:latin typeface="BLS Text" panose="00000500000000000000" pitchFamily="2" charset="-34"/>
                <a:cs typeface="BLS Text" pitchFamily="2" charset="-34"/>
              </a:rPr>
              <a:t>Sell in May” </a:t>
            </a:r>
            <a:r>
              <a:rPr lang="th-TH" sz="1000" dirty="0">
                <a:solidFill>
                  <a:schemeClr val="tx1">
                    <a:lumMod val="65000"/>
                    <a:lumOff val="35000"/>
                  </a:schemeClr>
                </a:solidFill>
                <a:latin typeface="BLS Text" panose="00000500000000000000" pitchFamily="2" charset="-34"/>
                <a:cs typeface="BLS Text" pitchFamily="2" charset="-34"/>
              </a:rPr>
              <a:t>ยังคงเป็นกรอบคิดของตลาด </a:t>
            </a:r>
          </a:p>
          <a:p>
            <a:pPr algn="thaiDist">
              <a:lnSpc>
                <a:spcPct val="120000"/>
              </a:lnSpc>
              <a:spcBef>
                <a:spcPts val="300"/>
              </a:spcBef>
              <a:buSzPct val="120000"/>
            </a:pPr>
            <a:r>
              <a:rPr lang="th-TH" sz="1000" dirty="0">
                <a:solidFill>
                  <a:schemeClr val="tx1">
                    <a:lumMod val="65000"/>
                    <a:lumOff val="35000"/>
                  </a:schemeClr>
                </a:solidFill>
                <a:latin typeface="BLS Text" panose="00000500000000000000" pitchFamily="2" charset="-34"/>
                <a:cs typeface="BLS Text" pitchFamily="2" charset="-34"/>
              </a:rPr>
              <a:t>โดยหากพิจารณาสถิติช่วงปี 2014–2025 จะพบว่า กลยุทธ์เข้าซื้อหุ้นกลุ่มธนาคารก่อนขึ้น </a:t>
            </a:r>
            <a:r>
              <a:rPr lang="en-US" sz="1000" dirty="0">
                <a:solidFill>
                  <a:schemeClr val="tx1">
                    <a:lumMod val="65000"/>
                    <a:lumOff val="35000"/>
                  </a:schemeClr>
                </a:solidFill>
                <a:latin typeface="BLS Text" panose="00000500000000000000" pitchFamily="2" charset="-34"/>
                <a:cs typeface="BLS Text" pitchFamily="2" charset="-34"/>
              </a:rPr>
              <a:t>XD </a:t>
            </a:r>
            <a:r>
              <a:rPr lang="th-TH" sz="1000" dirty="0">
                <a:solidFill>
                  <a:schemeClr val="tx1">
                    <a:lumMod val="65000"/>
                    <a:lumOff val="35000"/>
                  </a:schemeClr>
                </a:solidFill>
                <a:latin typeface="BLS Text" panose="00000500000000000000" pitchFamily="2" charset="-34"/>
                <a:cs typeface="BLS Text" pitchFamily="2" charset="-34"/>
              </a:rPr>
              <a:t>และถือผ่านไปถึงเดือนพฤษภาคม แม้รวมเงินปันผลแล้วมักให้ผลตอบแทนใกล้ศูนย์หรืออาจติดลบเล็กน้อย สะท้อนแรงกดดันจากการปรับฐานหลัง </a:t>
            </a:r>
            <a:r>
              <a:rPr lang="en-US" sz="1000" dirty="0">
                <a:solidFill>
                  <a:schemeClr val="tx1">
                    <a:lumMod val="65000"/>
                    <a:lumOff val="35000"/>
                  </a:schemeClr>
                </a:solidFill>
                <a:latin typeface="BLS Text" panose="00000500000000000000" pitchFamily="2" charset="-34"/>
                <a:cs typeface="BLS Text" pitchFamily="2" charset="-34"/>
              </a:rPr>
              <a:t>XD</a:t>
            </a:r>
          </a:p>
        </p:txBody>
      </p:sp>
      <p:sp>
        <p:nvSpPr>
          <p:cNvPr id="15" name="TextBox 14">
            <a:extLst>
              <a:ext uri="{FF2B5EF4-FFF2-40B4-BE49-F238E27FC236}">
                <a16:creationId xmlns:a16="http://schemas.microsoft.com/office/drawing/2014/main" id="{546F7F14-A377-C8CF-5D1E-8DDF1256B72B}"/>
              </a:ext>
            </a:extLst>
          </p:cNvPr>
          <p:cNvSpPr txBox="1"/>
          <p:nvPr/>
        </p:nvSpPr>
        <p:spPr>
          <a:xfrm>
            <a:off x="3462910" y="2169602"/>
            <a:ext cx="3164970" cy="1754326"/>
          </a:xfrm>
          <a:prstGeom prst="rect">
            <a:avLst/>
          </a:prstGeom>
          <a:solidFill>
            <a:srgbClr val="EDEDED">
              <a:alpha val="60000"/>
            </a:srgbClr>
          </a:solidFill>
          <a:ln>
            <a:noFill/>
          </a:ln>
        </p:spPr>
        <p:txBody>
          <a:bodyPr wrap="square" rtlCol="0">
            <a:spAutoFit/>
          </a:bodyPr>
          <a:lstStyle/>
          <a:p>
            <a:pPr algn="thaiDist">
              <a:lnSpc>
                <a:spcPct val="120000"/>
              </a:lnSpc>
              <a:spcBef>
                <a:spcPts val="400"/>
              </a:spcBef>
              <a:buSzPct val="120000"/>
            </a:pPr>
            <a:r>
              <a:rPr lang="th-TH" sz="1000" dirty="0">
                <a:solidFill>
                  <a:schemeClr val="tx1">
                    <a:lumMod val="65000"/>
                    <a:lumOff val="35000"/>
                  </a:schemeClr>
                </a:solidFill>
                <a:latin typeface="BLS Text" panose="00000500000000000000" pitchFamily="2" charset="-34"/>
                <a:cs typeface="BLS Text" pitchFamily="2" charset="-34"/>
              </a:rPr>
              <a:t>อย่างไรก็ตาม </a:t>
            </a:r>
            <a:r>
              <a:rPr lang="th-TH" sz="1000" b="1" dirty="0">
                <a:solidFill>
                  <a:schemeClr val="tx1">
                    <a:lumMod val="65000"/>
                    <a:lumOff val="35000"/>
                  </a:schemeClr>
                </a:solidFill>
                <a:latin typeface="BLS Text" panose="00000500000000000000" pitchFamily="2" charset="-34"/>
                <a:cs typeface="BLS Text" pitchFamily="2" charset="-34"/>
              </a:rPr>
              <a:t>ภาพดังกล่าวเริ่มเปลี่ยนไปอย่างมีนัยในช่วง 3 ปีหลัง โดยผลตอบแทนรวมเงินปันผล (</a:t>
            </a:r>
            <a:r>
              <a:rPr lang="en-US" sz="1000" b="1" dirty="0">
                <a:solidFill>
                  <a:schemeClr val="tx1">
                    <a:lumMod val="65000"/>
                    <a:lumOff val="35000"/>
                  </a:schemeClr>
                </a:solidFill>
                <a:latin typeface="BLS Text" panose="00000500000000000000" pitchFamily="2" charset="-34"/>
                <a:cs typeface="BLS Text" pitchFamily="2" charset="-34"/>
              </a:rPr>
              <a:t>total return) </a:t>
            </a:r>
            <a:r>
              <a:rPr lang="th-TH" sz="1000" b="1" dirty="0">
                <a:solidFill>
                  <a:schemeClr val="tx1">
                    <a:lumMod val="65000"/>
                    <a:lumOff val="35000"/>
                  </a:schemeClr>
                </a:solidFill>
                <a:latin typeface="BLS Text" panose="00000500000000000000" pitchFamily="2" charset="-34"/>
                <a:cs typeface="BLS Text" pitchFamily="2" charset="-34"/>
              </a:rPr>
              <a:t>จากการเข้าซื้อในเดือนเมษายนก่อน </a:t>
            </a:r>
            <a:r>
              <a:rPr lang="en-US" sz="1000" b="1" dirty="0">
                <a:solidFill>
                  <a:schemeClr val="tx1">
                    <a:lumMod val="65000"/>
                    <a:lumOff val="35000"/>
                  </a:schemeClr>
                </a:solidFill>
                <a:latin typeface="BLS Text" panose="00000500000000000000" pitchFamily="2" charset="-34"/>
                <a:cs typeface="BLS Text" pitchFamily="2" charset="-34"/>
              </a:rPr>
              <a:t>XD </a:t>
            </a:r>
            <a:r>
              <a:rPr lang="th-TH" sz="1000" b="1" dirty="0">
                <a:solidFill>
                  <a:schemeClr val="tx1">
                    <a:lumMod val="65000"/>
                    <a:lumOff val="35000"/>
                  </a:schemeClr>
                </a:solidFill>
                <a:latin typeface="BLS Text" panose="00000500000000000000" pitchFamily="2" charset="-34"/>
                <a:cs typeface="BLS Text" pitchFamily="2" charset="-34"/>
              </a:rPr>
              <a:t>และถือถึงพฤษภาคมกลับเป็นบวกอย่างชัดเจน </a:t>
            </a:r>
            <a:r>
              <a:rPr lang="th-TH" sz="1000" dirty="0">
                <a:solidFill>
                  <a:schemeClr val="tx1">
                    <a:lumMod val="65000"/>
                    <a:lumOff val="35000"/>
                  </a:schemeClr>
                </a:solidFill>
                <a:latin typeface="BLS Text" panose="00000500000000000000" pitchFamily="2" charset="-34"/>
                <a:cs typeface="BLS Text" pitchFamily="2" charset="-34"/>
              </a:rPr>
              <a:t>บ่งชี้ว่าตลาดเริ่มให้มูลค่ากับกระแสเงินสด (</a:t>
            </a:r>
            <a:r>
              <a:rPr lang="en-US" sz="1000" dirty="0">
                <a:solidFill>
                  <a:schemeClr val="tx1">
                    <a:lumMod val="65000"/>
                    <a:lumOff val="35000"/>
                  </a:schemeClr>
                </a:solidFill>
                <a:latin typeface="BLS Text" panose="00000500000000000000" pitchFamily="2" charset="-34"/>
                <a:cs typeface="BLS Text" pitchFamily="2" charset="-34"/>
              </a:rPr>
              <a:t>income) </a:t>
            </a:r>
            <a:r>
              <a:rPr lang="th-TH" sz="1000" dirty="0">
                <a:solidFill>
                  <a:schemeClr val="tx1">
                    <a:lumMod val="65000"/>
                    <a:lumOff val="35000"/>
                  </a:schemeClr>
                </a:solidFill>
                <a:latin typeface="BLS Text" panose="00000500000000000000" pitchFamily="2" charset="-34"/>
                <a:cs typeface="BLS Text" pitchFamily="2" charset="-34"/>
              </a:rPr>
              <a:t>มากขึ้น และ </a:t>
            </a:r>
            <a:r>
              <a:rPr lang="en-US" sz="1000" dirty="0">
                <a:solidFill>
                  <a:schemeClr val="tx1">
                    <a:lumMod val="65000"/>
                    <a:lumOff val="35000"/>
                  </a:schemeClr>
                </a:solidFill>
                <a:latin typeface="BLS Text" panose="00000500000000000000" pitchFamily="2" charset="-34"/>
                <a:cs typeface="BLS Text" pitchFamily="2" charset="-34"/>
              </a:rPr>
              <a:t>dividend yield </a:t>
            </a:r>
            <a:r>
              <a:rPr lang="th-TH" sz="1000" dirty="0">
                <a:solidFill>
                  <a:schemeClr val="tx1">
                    <a:lumMod val="65000"/>
                    <a:lumOff val="35000"/>
                  </a:schemeClr>
                </a:solidFill>
                <a:latin typeface="BLS Text" panose="00000500000000000000" pitchFamily="2" charset="-34"/>
                <a:cs typeface="BLS Text" pitchFamily="2" charset="-34"/>
              </a:rPr>
              <a:t>ที่อยู่ในระดับสูงได้ช่วยดูดซับ </a:t>
            </a:r>
            <a:r>
              <a:rPr lang="en-US" sz="1000" dirty="0">
                <a:solidFill>
                  <a:schemeClr val="tx1">
                    <a:lumMod val="65000"/>
                    <a:lumOff val="35000"/>
                  </a:schemeClr>
                </a:solidFill>
                <a:latin typeface="BLS Text" panose="00000500000000000000" pitchFamily="2" charset="-34"/>
                <a:cs typeface="BLS Text" pitchFamily="2" charset="-34"/>
              </a:rPr>
              <a:t>downside </a:t>
            </a:r>
            <a:r>
              <a:rPr lang="th-TH" sz="1000" dirty="0">
                <a:solidFill>
                  <a:schemeClr val="tx1">
                    <a:lumMod val="65000"/>
                    <a:lumOff val="35000"/>
                  </a:schemeClr>
                </a:solidFill>
                <a:latin typeface="BLS Text" panose="00000500000000000000" pitchFamily="2" charset="-34"/>
                <a:cs typeface="BLS Text" pitchFamily="2" charset="-34"/>
              </a:rPr>
              <a:t>พร้อมหนุนการฟื้นตัวของราคาในระยะสั้น สะท้อนการเปลี่ยนผ่านจาก “</a:t>
            </a:r>
            <a:r>
              <a:rPr lang="en-US" sz="1000" dirty="0">
                <a:solidFill>
                  <a:schemeClr val="tx1">
                    <a:lumMod val="65000"/>
                    <a:lumOff val="35000"/>
                  </a:schemeClr>
                </a:solidFill>
                <a:latin typeface="BLS Text" panose="00000500000000000000" pitchFamily="2" charset="-34"/>
                <a:cs typeface="BLS Text" pitchFamily="2" charset="-34"/>
              </a:rPr>
              <a:t>seasonality-driven exit” </a:t>
            </a:r>
            <a:r>
              <a:rPr lang="th-TH" sz="1000" dirty="0">
                <a:solidFill>
                  <a:schemeClr val="tx1">
                    <a:lumMod val="65000"/>
                    <a:lumOff val="35000"/>
                  </a:schemeClr>
                </a:solidFill>
                <a:latin typeface="BLS Text" panose="00000500000000000000" pitchFamily="2" charset="-34"/>
                <a:cs typeface="BLS Text" pitchFamily="2" charset="-34"/>
              </a:rPr>
              <a:t>ไปสู่ “</a:t>
            </a:r>
            <a:r>
              <a:rPr lang="en-US" sz="1000" dirty="0">
                <a:solidFill>
                  <a:schemeClr val="tx1">
                    <a:lumMod val="65000"/>
                    <a:lumOff val="35000"/>
                  </a:schemeClr>
                </a:solidFill>
                <a:latin typeface="BLS Text" panose="00000500000000000000" pitchFamily="2" charset="-34"/>
                <a:cs typeface="BLS Text" pitchFamily="2" charset="-34"/>
              </a:rPr>
              <a:t>income-driven positioning” </a:t>
            </a:r>
            <a:r>
              <a:rPr lang="th-TH" sz="1000" dirty="0">
                <a:solidFill>
                  <a:schemeClr val="tx1">
                    <a:lumMod val="65000"/>
                    <a:lumOff val="35000"/>
                  </a:schemeClr>
                </a:solidFill>
                <a:latin typeface="BLS Text" panose="00000500000000000000" pitchFamily="2" charset="-34"/>
                <a:cs typeface="BLS Text" pitchFamily="2" charset="-34"/>
              </a:rPr>
              <a:t>มากขึ้นในรอบปัจจุบัน</a:t>
            </a:r>
            <a:endParaRPr lang="en-US" sz="1000" dirty="0">
              <a:solidFill>
                <a:schemeClr val="tx1">
                  <a:lumMod val="65000"/>
                  <a:lumOff val="35000"/>
                </a:schemeClr>
              </a:solidFill>
              <a:latin typeface="BLS Text" panose="00000500000000000000" pitchFamily="2" charset="-34"/>
              <a:cs typeface="BLS Text" pitchFamily="2" charset="-34"/>
            </a:endParaRPr>
          </a:p>
        </p:txBody>
      </p:sp>
      <p:cxnSp>
        <p:nvCxnSpPr>
          <p:cNvPr id="18" name="Straight Connector 17">
            <a:extLst>
              <a:ext uri="{FF2B5EF4-FFF2-40B4-BE49-F238E27FC236}">
                <a16:creationId xmlns:a16="http://schemas.microsoft.com/office/drawing/2014/main" id="{811E1CC9-D26F-1122-558A-414813438452}"/>
              </a:ext>
            </a:extLst>
          </p:cNvPr>
          <p:cNvCxnSpPr>
            <a:cxnSpLocks/>
          </p:cNvCxnSpPr>
          <p:nvPr/>
        </p:nvCxnSpPr>
        <p:spPr>
          <a:xfrm>
            <a:off x="320593" y="874846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81748675-2985-66A0-18EB-8B4E8A4F54F6}"/>
              </a:ext>
            </a:extLst>
          </p:cNvPr>
          <p:cNvSpPr txBox="1"/>
          <p:nvPr/>
        </p:nvSpPr>
        <p:spPr>
          <a:xfrm>
            <a:off x="286492" y="4032885"/>
            <a:ext cx="6022828"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6</a:t>
            </a:r>
            <a:r>
              <a:rPr lang="en-US"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b="1" dirty="0">
                <a:solidFill>
                  <a:schemeClr val="tx1">
                    <a:lumMod val="95000"/>
                    <a:lumOff val="5000"/>
                  </a:schemeClr>
                </a:solidFill>
                <a:latin typeface="BLS Condensed" pitchFamily="2" charset="-34"/>
                <a:ea typeface="Tahoma" pitchFamily="34" charset="0"/>
                <a:cs typeface="BLS Condensed" pitchFamily="2" charset="-34"/>
              </a:rPr>
              <a:t>ผลตอบแทนรวมหุ้นธนาคารใหญ่ช่วงปี 2014-2025</a:t>
            </a:r>
            <a:r>
              <a:rPr lang="en-US" sz="800" b="1" dirty="0">
                <a:solidFill>
                  <a:schemeClr val="tx1">
                    <a:lumMod val="95000"/>
                    <a:lumOff val="5000"/>
                  </a:schemeClr>
                </a:solidFill>
                <a:latin typeface="BLS Condensed" pitchFamily="2" charset="-34"/>
                <a:ea typeface="Tahoma" pitchFamily="34" charset="0"/>
                <a:cs typeface="BLS Condensed" pitchFamily="2" charset="-34"/>
              </a:rPr>
              <a:t> vs 2023-2025</a:t>
            </a:r>
          </a:p>
        </p:txBody>
      </p:sp>
      <p:cxnSp>
        <p:nvCxnSpPr>
          <p:cNvPr id="31" name="Straight Connector 30">
            <a:extLst>
              <a:ext uri="{FF2B5EF4-FFF2-40B4-BE49-F238E27FC236}">
                <a16:creationId xmlns:a16="http://schemas.microsoft.com/office/drawing/2014/main" id="{ED544969-6829-5FFD-1765-676D76EE5F5B}"/>
              </a:ext>
            </a:extLst>
          </p:cNvPr>
          <p:cNvCxnSpPr/>
          <p:nvPr/>
        </p:nvCxnSpPr>
        <p:spPr>
          <a:xfrm>
            <a:off x="305146" y="3995936"/>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7AA2941-9659-DEF5-69DF-BE120C176F29}"/>
              </a:ext>
            </a:extLst>
          </p:cNvPr>
          <p:cNvSpPr/>
          <p:nvPr/>
        </p:nvSpPr>
        <p:spPr>
          <a:xfrm>
            <a:off x="297857" y="8748464"/>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974B464D-079C-66D5-267A-B0271C83992E}"/>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716ED43-E385-A160-9D3A-0264F1B0EE0B}"/>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C8FA6393-E3EE-E08E-89C6-D50BB8050980}"/>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3" name="TextBox 2">
            <a:extLst>
              <a:ext uri="{FF2B5EF4-FFF2-40B4-BE49-F238E27FC236}">
                <a16:creationId xmlns:a16="http://schemas.microsoft.com/office/drawing/2014/main" id="{DC2F00C9-29A4-5F86-1286-F34BEDBDA952}"/>
              </a:ext>
            </a:extLst>
          </p:cNvPr>
          <p:cNvSpPr txBox="1"/>
          <p:nvPr/>
        </p:nvSpPr>
        <p:spPr>
          <a:xfrm>
            <a:off x="188640" y="683568"/>
            <a:ext cx="6439240" cy="1446550"/>
          </a:xfrm>
          <a:prstGeom prst="rect">
            <a:avLst/>
          </a:prstGeom>
          <a:noFill/>
        </p:spPr>
        <p:txBody>
          <a:bodyPr wrap="square">
            <a:spAutoFit/>
          </a:bodyPr>
          <a:lstStyle/>
          <a:p>
            <a:r>
              <a:rPr lang="th-TH" altLang="en-US" sz="2800" dirty="0">
                <a:solidFill>
                  <a:schemeClr val="accent2"/>
                </a:solidFill>
                <a:latin typeface="BLS Condensed Bold" panose="00000800000000000000" pitchFamily="2" charset="-34"/>
                <a:ea typeface="Tahoma" pitchFamily="34" charset="0"/>
                <a:cs typeface="BLS Condensed Bold" panose="00000800000000000000" pitchFamily="2" charset="-34"/>
              </a:rPr>
              <a:t>กรณีศึกษา</a:t>
            </a:r>
            <a:r>
              <a:rPr lang="th-TH" altLang="en-US" sz="2400" dirty="0">
                <a:solidFill>
                  <a:schemeClr val="accent2"/>
                </a:solidFill>
                <a:latin typeface="BLS Condensed Bold" panose="00000800000000000000" pitchFamily="2" charset="-34"/>
                <a:ea typeface="Tahoma" pitchFamily="34" charset="0"/>
                <a:cs typeface="BLS Condensed Bold" panose="00000800000000000000" pitchFamily="2" charset="-34"/>
              </a:rPr>
              <a:t> </a:t>
            </a:r>
          </a:p>
          <a:p>
            <a:r>
              <a:rPr lang="th-TH" altLang="en-US" sz="3200" dirty="0">
                <a:solidFill>
                  <a:schemeClr val="accent2"/>
                </a:solidFill>
                <a:latin typeface="BLS Condensed Bold" panose="00000800000000000000" pitchFamily="2" charset="-34"/>
                <a:ea typeface="Tahoma" pitchFamily="34" charset="0"/>
                <a:cs typeface="BLS Condensed Bold" panose="00000800000000000000" pitchFamily="2" charset="-34"/>
              </a:rPr>
              <a:t>                    </a:t>
            </a:r>
            <a:r>
              <a:rPr lang="en-US" altLang="en-US" sz="2800" dirty="0">
                <a:solidFill>
                  <a:schemeClr val="tx2"/>
                </a:solidFill>
                <a:latin typeface="BLS Condensed Bold" panose="00000800000000000000" pitchFamily="2" charset="-34"/>
                <a:ea typeface="Tahoma" pitchFamily="34" charset="0"/>
                <a:cs typeface="BLS Condensed Bold" panose="00000800000000000000" pitchFamily="2" charset="-34"/>
              </a:rPr>
              <a:t>Dividend Timing Debate </a:t>
            </a:r>
            <a:endParaRPr lang="th-TH" altLang="en-US" sz="2800" dirty="0">
              <a:solidFill>
                <a:schemeClr val="tx2"/>
              </a:solidFill>
              <a:latin typeface="BLS Condensed Bold" panose="00000800000000000000" pitchFamily="2" charset="-34"/>
              <a:ea typeface="Tahoma" pitchFamily="34" charset="0"/>
              <a:cs typeface="BLS Condensed Bold" panose="00000800000000000000" pitchFamily="2" charset="-34"/>
            </a:endParaRPr>
          </a:p>
          <a:p>
            <a:r>
              <a:rPr lang="th-TH" altLang="en-US" sz="2800" dirty="0">
                <a:solidFill>
                  <a:schemeClr val="tx2"/>
                </a:solidFill>
                <a:latin typeface="BLS Condensed Bold" panose="00000800000000000000" pitchFamily="2" charset="-34"/>
                <a:ea typeface="Tahoma" pitchFamily="34" charset="0"/>
                <a:cs typeface="BLS Condensed Bold" panose="00000800000000000000" pitchFamily="2" charset="-34"/>
              </a:rPr>
              <a:t>                   ซื้อก่อน หรือหลัง </a:t>
            </a:r>
            <a:r>
              <a:rPr lang="en-US" altLang="en-US" sz="2800" dirty="0">
                <a:solidFill>
                  <a:schemeClr val="tx2"/>
                </a:solidFill>
                <a:latin typeface="BLS Condensed Bold" panose="00000800000000000000" pitchFamily="2" charset="-34"/>
                <a:ea typeface="Tahoma" pitchFamily="34" charset="0"/>
                <a:cs typeface="BLS Condensed Bold" panose="00000800000000000000" pitchFamily="2" charset="-34"/>
              </a:rPr>
              <a:t>XD </a:t>
            </a:r>
            <a:r>
              <a:rPr lang="th-TH" altLang="en-US" sz="2800" dirty="0">
                <a:solidFill>
                  <a:schemeClr val="tx2"/>
                </a:solidFill>
                <a:latin typeface="BLS Condensed Bold" panose="00000800000000000000" pitchFamily="2" charset="-34"/>
                <a:ea typeface="Tahoma" pitchFamily="34" charset="0"/>
                <a:cs typeface="BLS Condensed Bold" panose="00000800000000000000" pitchFamily="2" charset="-34"/>
              </a:rPr>
              <a:t>ดีกว่ากัน? </a:t>
            </a:r>
          </a:p>
        </p:txBody>
      </p:sp>
      <p:pic>
        <p:nvPicPr>
          <p:cNvPr id="4" name="Picture 3">
            <a:extLst>
              <a:ext uri="{FF2B5EF4-FFF2-40B4-BE49-F238E27FC236}">
                <a16:creationId xmlns:a16="http://schemas.microsoft.com/office/drawing/2014/main" id="{E4143051-B299-0DE6-467F-100303A62AFA}"/>
              </a:ext>
            </a:extLst>
          </p:cNvPr>
          <p:cNvPicPr>
            <a:picLocks noChangeAspect="1"/>
          </p:cNvPicPr>
          <p:nvPr/>
        </p:nvPicPr>
        <p:blipFill rotWithShape="1">
          <a:blip r:embed="rId7"/>
          <a:srcRect t="4750"/>
          <a:stretch/>
        </p:blipFill>
        <p:spPr>
          <a:xfrm>
            <a:off x="188640" y="4211960"/>
            <a:ext cx="6439240" cy="4248472"/>
          </a:xfrm>
          <a:prstGeom prst="rect">
            <a:avLst/>
          </a:prstGeom>
        </p:spPr>
      </p:pic>
      <p:cxnSp>
        <p:nvCxnSpPr>
          <p:cNvPr id="10" name="Straight Connector 9">
            <a:extLst>
              <a:ext uri="{FF2B5EF4-FFF2-40B4-BE49-F238E27FC236}">
                <a16:creationId xmlns:a16="http://schemas.microsoft.com/office/drawing/2014/main" id="{A2C10FA4-1613-700D-4BD5-C44C35C2A9DD}"/>
              </a:ext>
            </a:extLst>
          </p:cNvPr>
          <p:cNvCxnSpPr>
            <a:cxnSpLocks/>
          </p:cNvCxnSpPr>
          <p:nvPr/>
        </p:nvCxnSpPr>
        <p:spPr>
          <a:xfrm>
            <a:off x="320593" y="874846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B86E5D2-D42F-DC0A-9141-8933492224E0}"/>
              </a:ext>
            </a:extLst>
          </p:cNvPr>
          <p:cNvSpPr txBox="1">
            <a:spLocks noChangeArrowheads="1"/>
          </p:cNvSpPr>
          <p:nvPr/>
        </p:nvSpPr>
        <p:spPr bwMode="auto">
          <a:xfrm>
            <a:off x="427161" y="8548409"/>
            <a:ext cx="2768773"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700" dirty="0">
                <a:solidFill>
                  <a:srgbClr val="404040"/>
                </a:solidFill>
                <a:latin typeface="BLS Condensed" pitchFamily="2" charset="-34"/>
                <a:cs typeface="BLS Condensed" pitchFamily="2" charset="-34"/>
              </a:rPr>
              <a:t>Source</a:t>
            </a:r>
            <a:r>
              <a:rPr lang="th-TH" sz="600" dirty="0">
                <a:solidFill>
                  <a:srgbClr val="404040"/>
                </a:solidFill>
                <a:latin typeface="BLS Condensed" pitchFamily="2" charset="-34"/>
                <a:cs typeface="BLS Condensed" pitchFamily="2" charset="-34"/>
              </a:rPr>
              <a:t>:</a:t>
            </a:r>
            <a:r>
              <a:rPr lang="en-US" sz="600" dirty="0">
                <a:solidFill>
                  <a:srgbClr val="404040"/>
                </a:solidFill>
                <a:latin typeface="BLS Condensed" pitchFamily="2" charset="-34"/>
                <a:cs typeface="BLS Condensed" pitchFamily="2" charset="-34"/>
              </a:rPr>
              <a:t> </a:t>
            </a:r>
            <a:r>
              <a:rPr lang="en-US" sz="700" dirty="0" err="1">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Bualuang</a:t>
            </a:r>
            <a:r>
              <a:rPr lang="en-US" sz="700" dirty="0">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 Research</a:t>
            </a:r>
            <a:endParaRPr lang="en-US" sz="600" dirty="0">
              <a:solidFill>
                <a:srgbClr val="404040"/>
              </a:solidFill>
              <a:latin typeface="BLS Condensed" pitchFamily="2" charset="-34"/>
              <a:cs typeface="BLS Condensed" pitchFamily="2" charset="-34"/>
            </a:endParaRPr>
          </a:p>
        </p:txBody>
      </p:sp>
      <p:cxnSp>
        <p:nvCxnSpPr>
          <p:cNvPr id="12" name="Straight Connector 11">
            <a:extLst>
              <a:ext uri="{FF2B5EF4-FFF2-40B4-BE49-F238E27FC236}">
                <a16:creationId xmlns:a16="http://schemas.microsoft.com/office/drawing/2014/main" id="{A86C865F-48AE-AB8F-77BB-9D6924CD325A}"/>
              </a:ext>
            </a:extLst>
          </p:cNvPr>
          <p:cNvCxnSpPr>
            <a:cxnSpLocks/>
          </p:cNvCxnSpPr>
          <p:nvPr/>
        </p:nvCxnSpPr>
        <p:spPr>
          <a:xfrm>
            <a:off x="362735" y="8532440"/>
            <a:ext cx="6220743"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3844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7858" y="8699316"/>
            <a:ext cx="6235106"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2"/>
          <p:cNvSpPr>
            <a:spLocks noGrp="1"/>
          </p:cNvSpPr>
          <p:nvPr>
            <p:ph type="sldNum" sz="quarter" idx="12"/>
          </p:nvPr>
        </p:nvSpPr>
        <p:spPr>
          <a:xfrm>
            <a:off x="4914900" y="8659771"/>
            <a:ext cx="1600200" cy="486833"/>
          </a:xfrm>
        </p:spPr>
        <p:txBody>
          <a:bodyPr/>
          <a:lstStyle/>
          <a:p>
            <a:fld id="{10452F14-DDA8-46AC-9FFA-A749C5B763D3}" type="slidenum">
              <a:rPr lang="en-US" smtClean="0">
                <a:latin typeface="BLS" panose="00000500000000000000" pitchFamily="2" charset="-34"/>
                <a:cs typeface="BLS" panose="00000500000000000000" pitchFamily="2" charset="-34"/>
              </a:rPr>
              <a:t>7</a:t>
            </a:fld>
            <a:endParaRPr lang="en-US">
              <a:latin typeface="BLS" panose="00000500000000000000" pitchFamily="2" charset="-34"/>
              <a:cs typeface="BLS" panose="00000500000000000000" pitchFamily="2" charset="-34"/>
            </a:endParaRPr>
          </a:p>
        </p:txBody>
      </p:sp>
      <p:grpSp>
        <p:nvGrpSpPr>
          <p:cNvPr id="11" name="Group 156"/>
          <p:cNvGrpSpPr>
            <a:grpSpLocks/>
          </p:cNvGrpSpPr>
          <p:nvPr/>
        </p:nvGrpSpPr>
        <p:grpSpPr bwMode="auto">
          <a:xfrm>
            <a:off x="3374529" y="6536080"/>
            <a:ext cx="708025" cy="781050"/>
            <a:chOff x="1800" y="1440"/>
            <a:chExt cx="1539" cy="1800"/>
          </a:xfrm>
        </p:grpSpPr>
        <p:pic>
          <p:nvPicPr>
            <p:cNvPr id="17" name="Picture 15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0"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5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4"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5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3"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6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7"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6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16"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6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50"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6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4"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6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3"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6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7"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6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4"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6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3"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7"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6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6" y="252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7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0" y="252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7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96" y="2880"/>
              <a:ext cx="323" cy="360"/>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TextBox 31"/>
          <p:cNvSpPr txBox="1"/>
          <p:nvPr/>
        </p:nvSpPr>
        <p:spPr>
          <a:xfrm>
            <a:off x="297858" y="611560"/>
            <a:ext cx="6235106" cy="338554"/>
          </a:xfrm>
          <a:prstGeom prst="rect">
            <a:avLst/>
          </a:prstGeom>
          <a:noFill/>
        </p:spPr>
        <p:txBody>
          <a:bodyPr wrap="square" rtlCol="0">
            <a:spAutoFit/>
          </a:bodyPr>
          <a:lstStyle/>
          <a:p>
            <a:r>
              <a:rPr lang="en-US" sz="1600" b="1" err="1">
                <a:solidFill>
                  <a:srgbClr val="404040"/>
                </a:solidFill>
                <a:latin typeface="BLS Condensed Bold" pitchFamily="2" charset="-34"/>
                <a:cs typeface="BLS Condensed Bold" pitchFamily="2" charset="-34"/>
              </a:rPr>
              <a:t>Bualuang</a:t>
            </a:r>
            <a:r>
              <a:rPr lang="en-US" sz="1600" b="1">
                <a:solidFill>
                  <a:srgbClr val="404040"/>
                </a:solidFill>
                <a:latin typeface="BLS Condensed Bold" pitchFamily="2" charset="-34"/>
                <a:cs typeface="BLS Condensed Bold" pitchFamily="2" charset="-34"/>
              </a:rPr>
              <a:t> Securities Public Company Limited</a:t>
            </a:r>
            <a:endParaRPr lang="en-US" sz="1600">
              <a:solidFill>
                <a:srgbClr val="404040"/>
              </a:solidFill>
              <a:latin typeface="BLS Condensed Bold" pitchFamily="2" charset="-34"/>
              <a:ea typeface="Tahoma" pitchFamily="34" charset="0"/>
              <a:cs typeface="BLS Condensed Bold" pitchFamily="2" charset="-34"/>
            </a:endParaRPr>
          </a:p>
        </p:txBody>
      </p:sp>
      <p:sp>
        <p:nvSpPr>
          <p:cNvPr id="12" name="Text Box 155"/>
          <p:cNvSpPr txBox="1">
            <a:spLocks noChangeArrowheads="1"/>
          </p:cNvSpPr>
          <p:nvPr/>
        </p:nvSpPr>
        <p:spPr bwMode="auto">
          <a:xfrm>
            <a:off x="4737844" y="624260"/>
            <a:ext cx="1644650" cy="319087"/>
          </a:xfrm>
          <a:prstGeom prst="rect">
            <a:avLst/>
          </a:prstGeom>
          <a:solidFill>
            <a:srgbClr val="002060"/>
          </a:solidFill>
          <a:ln w="9525">
            <a:solidFill>
              <a:srgbClr val="00206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1" i="0" u="none" strike="noStrike" cap="none" normalizeH="0" baseline="0">
                <a:ln>
                  <a:noFill/>
                </a:ln>
                <a:solidFill>
                  <a:srgbClr val="FFFFFF"/>
                </a:solidFill>
                <a:effectLst/>
                <a:latin typeface="BLS Condensed Bold" pitchFamily="2" charset="-34"/>
                <a:ea typeface="Arial" pitchFamily="34" charset="0"/>
                <a:cs typeface="BLS Condensed Bold" pitchFamily="2" charset="-34"/>
              </a:rPr>
              <a:t>DISCLAIMER</a:t>
            </a:r>
            <a:endParaRPr kumimoji="0" lang="en-US" sz="1800" b="0" i="0" u="none" strike="noStrike" cap="none" normalizeH="0" baseline="0">
              <a:ln>
                <a:noFill/>
              </a:ln>
              <a:solidFill>
                <a:schemeClr val="tx1"/>
              </a:solidFill>
              <a:effectLst/>
              <a:latin typeface="BLS Condensed Bold" pitchFamily="2" charset="-34"/>
              <a:cs typeface="BLS Condensed Bold" pitchFamily="2" charset="-34"/>
            </a:endParaRPr>
          </a:p>
        </p:txBody>
      </p:sp>
      <p:sp>
        <p:nvSpPr>
          <p:cNvPr id="35" name="Rectangle 34"/>
          <p:cNvSpPr/>
          <p:nvPr/>
        </p:nvSpPr>
        <p:spPr>
          <a:xfrm>
            <a:off x="294066" y="1043608"/>
            <a:ext cx="6235106" cy="36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297858" y="1187624"/>
            <a:ext cx="6231314" cy="3539430"/>
          </a:xfrm>
          <a:prstGeom prst="rect">
            <a:avLst/>
          </a:prstGeom>
          <a:noFill/>
        </p:spPr>
        <p:txBody>
          <a:bodyPr wrap="square" rtlCol="0">
            <a:spAutoFit/>
          </a:bodyPr>
          <a:lstStyle/>
          <a:p>
            <a:pPr algn="just"/>
            <a:r>
              <a:rPr lang="en-GB" sz="800" dirty="0">
                <a:solidFill>
                  <a:srgbClr val="404040"/>
                </a:solidFill>
                <a:latin typeface="BLS" pitchFamily="2" charset="-34"/>
                <a:cs typeface="BLS" pitchFamily="2" charset="-34"/>
              </a:rPr>
              <a:t>BUALUANG SECURITIES PUBLIC COMPANY LIMITED (BLS) is a subsidiary of BANGKOK BANK PUBLIC COMPANY LIMITED (BBL). This document is produced based upon sources believed to be reliable but their accuracy, completeness or correctness is not guaranteed. The statements or expressions of opinion herein were arrived at after due and careful consideration to use as information for investment. Expressions of opinion contained herein are subject to change without notice. This document is not, and should not be construed as, an offer or the solicitation of an offer to buy or sell any securities. The use of any information shall be at the sole discretion and risk of the user.</a:t>
            </a:r>
          </a:p>
          <a:p>
            <a:pPr algn="just"/>
            <a:endParaRPr lang="en-US" sz="800" dirty="0">
              <a:solidFill>
                <a:srgbClr val="404040"/>
              </a:solidFill>
              <a:latin typeface="BLS" pitchFamily="2" charset="-34"/>
              <a:cs typeface="BLS" pitchFamily="2" charset="-34"/>
            </a:endParaRPr>
          </a:p>
          <a:p>
            <a:pPr algn="just"/>
            <a:r>
              <a:rPr lang="en-GB" sz="800" dirty="0">
                <a:solidFill>
                  <a:srgbClr val="404040"/>
                </a:solidFill>
                <a:latin typeface="BLS" pitchFamily="2" charset="-34"/>
                <a:cs typeface="BLS" pitchFamily="2" charset="-34"/>
              </a:rPr>
              <a:t>BUALUANG SECURITIES PUBLIC COMPANY LIMITED MAY BE IN RELATIONSHIPS WITH THE SECURITIES IN THIS REPORT. “Opinions, projections and other information contained in this report are based upon sources believed to be accurate including the draft prospectus, but no responsibility is accepted for any loss occasioned by reliance placed upon the contents hereof. </a:t>
            </a:r>
            <a:r>
              <a:rPr lang="en-GB" sz="800" dirty="0" err="1">
                <a:solidFill>
                  <a:srgbClr val="404040"/>
                </a:solidFill>
                <a:latin typeface="BLS" pitchFamily="2" charset="-34"/>
                <a:cs typeface="BLS" pitchFamily="2" charset="-34"/>
              </a:rPr>
              <a:t>Bualuang</a:t>
            </a:r>
            <a:r>
              <a:rPr lang="en-GB" sz="800" dirty="0">
                <a:solidFill>
                  <a:srgbClr val="404040"/>
                </a:solidFill>
                <a:latin typeface="BLS" pitchFamily="2" charset="-34"/>
                <a:cs typeface="BLS" pitchFamily="2" charset="-34"/>
              </a:rPr>
              <a:t> Securities Public Company Limited may from time to time perform investment, advisory or other services for companies mentioned in this report, as well as dealing (as principal or otherwise) in, or otherwise being interested in, any securities mentioned herein, This report does not constitute a solicitation to buy or sell any securities”. Investors should carefully read details in the prospectus before making investment decision.</a:t>
            </a:r>
          </a:p>
          <a:p>
            <a:pPr algn="just"/>
            <a:endParaRPr lang="en-US" sz="800" dirty="0">
              <a:solidFill>
                <a:srgbClr val="404040"/>
              </a:solidFill>
              <a:latin typeface="BLS" pitchFamily="2" charset="-34"/>
              <a:cs typeface="BLS" pitchFamily="2" charset="-34"/>
            </a:endParaRPr>
          </a:p>
          <a:p>
            <a:pPr algn="just"/>
            <a:r>
              <a:rPr lang="en-GB" sz="800" dirty="0">
                <a:solidFill>
                  <a:srgbClr val="404040"/>
                </a:solidFill>
                <a:latin typeface="BLS" pitchFamily="2" charset="-34"/>
                <a:cs typeface="BLS" pitchFamily="2" charset="-34"/>
              </a:rPr>
              <a:t>BUALUANG SECURITIES PUBLIC COMPANY LIMITED MAY ACT AS MARKET MAKER AND ISSUER OF DWs, AND ISSUER OF STRUCTURED NOTES ON THESE SECURITIES. The company may prepare the research reports on those underlying securities. Investors should carefully read the details of the derivative warrants and structured notes in the prospectus before making investment decisions.</a:t>
            </a: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US" sz="800" dirty="0">
              <a:solidFill>
                <a:srgbClr val="404040"/>
              </a:solidFill>
              <a:latin typeface="BLS" pitchFamily="2" charset="-34"/>
              <a:cs typeface="BLS" pitchFamily="2" charset="-34"/>
            </a:endParaRPr>
          </a:p>
          <a:p>
            <a:pPr algn="just"/>
            <a:endParaRPr lang="en-US" sz="800" dirty="0">
              <a:solidFill>
                <a:srgbClr val="404040"/>
              </a:solidFill>
              <a:latin typeface="BLS" pitchFamily="2" charset="-34"/>
              <a:cs typeface="BLS" pitchFamily="2" charset="-34"/>
            </a:endParaRPr>
          </a:p>
          <a:p>
            <a:pPr algn="just"/>
            <a:r>
              <a:rPr lang="en-US" sz="800" dirty="0">
                <a:solidFill>
                  <a:srgbClr val="404040"/>
                </a:solidFill>
                <a:latin typeface="BLS" pitchFamily="2" charset="-34"/>
                <a:cs typeface="BLS" pitchFamily="2" charset="-34"/>
              </a:rPr>
              <a:t>BUALUANG SECURITIES PUBLIC COMPANY LIMITED IS OR MAY BE AN UNDERWRITER/CO-UNDERWRITER/JOINT LEAD IN RESPECT OF THE INITIAL PUBLIC OFFERING (IPO) OF SECURITIES.</a:t>
            </a:r>
          </a:p>
        </p:txBody>
      </p:sp>
      <p:graphicFrame>
        <p:nvGraphicFramePr>
          <p:cNvPr id="36" name="Table 35"/>
          <p:cNvGraphicFramePr>
            <a:graphicFrameLocks noGrp="1"/>
          </p:cNvGraphicFramePr>
          <p:nvPr/>
        </p:nvGraphicFramePr>
        <p:xfrm>
          <a:off x="388937" y="4923329"/>
          <a:ext cx="5993557" cy="920750"/>
        </p:xfrm>
        <a:graphic>
          <a:graphicData uri="http://schemas.openxmlformats.org/drawingml/2006/table">
            <a:tbl>
              <a:tblPr firstRow="1" firstCol="1" bandRow="1">
                <a:tableStyleId>{5C22544A-7EE6-4342-B048-85BDC9FD1C3A}</a:tableStyleId>
              </a:tblPr>
              <a:tblGrid>
                <a:gridCol w="2541183">
                  <a:extLst>
                    <a:ext uri="{9D8B030D-6E8A-4147-A177-3AD203B41FA5}">
                      <a16:colId xmlns:a16="http://schemas.microsoft.com/office/drawing/2014/main" val="20000"/>
                    </a:ext>
                  </a:extLst>
                </a:gridCol>
                <a:gridCol w="3452374">
                  <a:extLst>
                    <a:ext uri="{9D8B030D-6E8A-4147-A177-3AD203B41FA5}">
                      <a16:colId xmlns:a16="http://schemas.microsoft.com/office/drawing/2014/main" val="20001"/>
                    </a:ext>
                  </a:extLst>
                </a:gridCol>
              </a:tblGrid>
              <a:tr h="411537">
                <a:tc>
                  <a:txBody>
                    <a:bodyPr/>
                    <a:lstStyle/>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Financial Advisor</a:t>
                      </a:r>
                      <a:endParaRPr lang="en-US" sz="800" dirty="0">
                        <a:solidFill>
                          <a:srgbClr val="404040"/>
                        </a:solidFill>
                        <a:effectLst/>
                        <a:latin typeface="BLS" pitchFamily="2" charset="-34"/>
                        <a:ea typeface="Times New Roman"/>
                        <a:cs typeface="BLS" pitchFamily="2" charset="-34"/>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tabLst>
                          <a:tab pos="2743200" algn="ctr"/>
                          <a:tab pos="5486400" algn="r"/>
                        </a:tabLst>
                      </a:pPr>
                      <a:r>
                        <a:rPr lang="en-US" sz="800" dirty="0">
                          <a:solidFill>
                            <a:srgbClr val="404040"/>
                          </a:solidFill>
                          <a:effectLst/>
                          <a:latin typeface="BLS" pitchFamily="2" charset="-34"/>
                          <a:cs typeface="BLS" pitchFamily="2" charset="-34"/>
                        </a:rPr>
                        <a:t>Lead underwriter/</a:t>
                      </a:r>
                    </a:p>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Underwriter/</a:t>
                      </a:r>
                    </a:p>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Co-underwriter</a:t>
                      </a:r>
                      <a:endParaRPr lang="en-US" sz="800" dirty="0">
                        <a:solidFill>
                          <a:srgbClr val="404040"/>
                        </a:solidFill>
                        <a:effectLst/>
                        <a:latin typeface="BLS" pitchFamily="2" charset="-34"/>
                        <a:ea typeface="Times New Roman"/>
                        <a:cs typeface="BLS" pitchFamily="2" charset="-34"/>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09213">
                <a:tc>
                  <a:txBody>
                    <a:bodyPr/>
                    <a:lstStyle/>
                    <a:p>
                      <a:pPr algn="l">
                        <a:lnSpc>
                          <a:spcPts val="1320"/>
                        </a:lnSpc>
                        <a:spcBef>
                          <a:spcPts val="0"/>
                        </a:spcBef>
                        <a:spcAft>
                          <a:spcPts val="0"/>
                        </a:spcAft>
                      </a:pPr>
                      <a:endParaRPr lang="en-US" sz="800" b="0" dirty="0">
                        <a:solidFill>
                          <a:srgbClr val="404040"/>
                        </a:solidFill>
                        <a:effectLst/>
                        <a:latin typeface="BLS" pitchFamily="2" charset="-34"/>
                        <a:ea typeface="Times New Roman"/>
                        <a:cs typeface="BLS" pitchFamily="2"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500"/>
                        </a:lnSpc>
                        <a:spcBef>
                          <a:spcPts val="0"/>
                        </a:spcBef>
                        <a:spcAft>
                          <a:spcPts val="0"/>
                        </a:spcAft>
                        <a:tabLst>
                          <a:tab pos="1266825" algn="l"/>
                        </a:tabLst>
                      </a:pPr>
                      <a:endParaRPr lang="en-US" sz="700" b="0" dirty="0">
                        <a:solidFill>
                          <a:srgbClr val="404040"/>
                        </a:solidFill>
                        <a:effectLst/>
                        <a:latin typeface="BLS" pitchFamily="2" charset="-34"/>
                        <a:ea typeface="Times New Roman"/>
                        <a:cs typeface="BLS" pitchFamily="2" charset="-34"/>
                      </a:endParaRPr>
                    </a:p>
                    <a:p>
                      <a:pPr algn="just">
                        <a:lnSpc>
                          <a:spcPts val="500"/>
                        </a:lnSpc>
                        <a:spcBef>
                          <a:spcPts val="0"/>
                        </a:spcBef>
                        <a:spcAft>
                          <a:spcPts val="0"/>
                        </a:spcAft>
                        <a:tabLst>
                          <a:tab pos="1266825" algn="l"/>
                        </a:tabLst>
                      </a:pPr>
                      <a:endParaRPr lang="en-US" sz="200" dirty="0">
                        <a:solidFill>
                          <a:srgbClr val="404040"/>
                        </a:solidFill>
                        <a:effectLst/>
                        <a:latin typeface="BLS" pitchFamily="2" charset="-34"/>
                        <a:ea typeface="Times New Roman"/>
                        <a:cs typeface="BLS" pitchFamily="2"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37" name="Table 36"/>
          <p:cNvGraphicFramePr>
            <a:graphicFrameLocks noGrp="1"/>
          </p:cNvGraphicFramePr>
          <p:nvPr/>
        </p:nvGraphicFramePr>
        <p:xfrm>
          <a:off x="404664" y="6291481"/>
          <a:ext cx="6353174" cy="1219200"/>
        </p:xfrm>
        <a:graphic>
          <a:graphicData uri="http://schemas.openxmlformats.org/drawingml/2006/table">
            <a:tbl>
              <a:tblPr firstRow="1" firstCol="1" bandRow="1">
                <a:tableStyleId>{5C22544A-7EE6-4342-B048-85BDC9FD1C3A}</a:tableStyleId>
              </a:tblPr>
              <a:tblGrid>
                <a:gridCol w="2278152">
                  <a:extLst>
                    <a:ext uri="{9D8B030D-6E8A-4147-A177-3AD203B41FA5}">
                      <a16:colId xmlns:a16="http://schemas.microsoft.com/office/drawing/2014/main" val="20000"/>
                    </a:ext>
                  </a:extLst>
                </a:gridCol>
                <a:gridCol w="2037511">
                  <a:extLst>
                    <a:ext uri="{9D8B030D-6E8A-4147-A177-3AD203B41FA5}">
                      <a16:colId xmlns:a16="http://schemas.microsoft.com/office/drawing/2014/main" val="20001"/>
                    </a:ext>
                  </a:extLst>
                </a:gridCol>
                <a:gridCol w="2037511">
                  <a:extLst>
                    <a:ext uri="{9D8B030D-6E8A-4147-A177-3AD203B41FA5}">
                      <a16:colId xmlns:a16="http://schemas.microsoft.com/office/drawing/2014/main" val="20002"/>
                    </a:ext>
                  </a:extLst>
                </a:gridCol>
              </a:tblGrid>
              <a:tr h="215900">
                <a:tc>
                  <a:txBody>
                    <a:bodyPr/>
                    <a:lstStyle/>
                    <a:p>
                      <a:pPr algn="ctr">
                        <a:spcBef>
                          <a:spcPts val="300"/>
                        </a:spcBef>
                        <a:spcAft>
                          <a:spcPts val="0"/>
                        </a:spcAft>
                      </a:pPr>
                      <a:r>
                        <a:rPr lang="en-US" sz="800">
                          <a:solidFill>
                            <a:srgbClr val="404040"/>
                          </a:solidFill>
                          <a:effectLst/>
                          <a:latin typeface="BLS" pitchFamily="2" charset="-34"/>
                          <a:cs typeface="BLS" pitchFamily="2" charset="-34"/>
                        </a:rPr>
                        <a:t>Score Range</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 Score Range</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Description</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extLst>
                  <a:ext uri="{0D108BD9-81ED-4DB2-BD59-A6C34878D82A}">
                    <a16:rowId xmlns:a16="http://schemas.microsoft.com/office/drawing/2014/main" val="10000"/>
                  </a:ext>
                </a:extLst>
              </a:tr>
              <a:tr h="161925">
                <a:tc>
                  <a:txBody>
                    <a:bodyPr/>
                    <a:lstStyle/>
                    <a:p>
                      <a:pPr algn="ctr">
                        <a:spcAft>
                          <a:spcPts val="0"/>
                        </a:spcAft>
                      </a:pPr>
                      <a:r>
                        <a:rPr lang="en-US" sz="800">
                          <a:solidFill>
                            <a:srgbClr val="404040"/>
                          </a:solidFill>
                          <a:effectLst/>
                          <a:latin typeface="BLS" pitchFamily="2" charset="-34"/>
                          <a:cs typeface="BLS" pitchFamily="2" charset="-34"/>
                        </a:rPr>
                        <a:t>90 – 100</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Excellent</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1"/>
                  </a:ext>
                </a:extLst>
              </a:tr>
              <a:tr h="161925">
                <a:tc>
                  <a:txBody>
                    <a:bodyPr/>
                    <a:lstStyle/>
                    <a:p>
                      <a:pPr algn="ctr">
                        <a:spcAft>
                          <a:spcPts val="0"/>
                        </a:spcAft>
                      </a:pPr>
                      <a:r>
                        <a:rPr lang="en-US" sz="800">
                          <a:solidFill>
                            <a:srgbClr val="404040"/>
                          </a:solidFill>
                          <a:effectLst/>
                          <a:latin typeface="BLS" pitchFamily="2" charset="-34"/>
                          <a:cs typeface="BLS" pitchFamily="2" charset="-34"/>
                        </a:rPr>
                        <a:t>80 – 89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Very Good</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2"/>
                  </a:ext>
                </a:extLst>
              </a:tr>
              <a:tr h="161925">
                <a:tc>
                  <a:txBody>
                    <a:bodyPr/>
                    <a:lstStyle/>
                    <a:p>
                      <a:pPr algn="ctr">
                        <a:spcAft>
                          <a:spcPts val="0"/>
                        </a:spcAft>
                      </a:pPr>
                      <a:r>
                        <a:rPr lang="en-US" sz="800">
                          <a:solidFill>
                            <a:srgbClr val="404040"/>
                          </a:solidFill>
                          <a:effectLst/>
                          <a:latin typeface="BLS" pitchFamily="2" charset="-34"/>
                          <a:cs typeface="BLS" pitchFamily="2" charset="-34"/>
                        </a:rPr>
                        <a:t>70 – 79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Good</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3"/>
                  </a:ext>
                </a:extLst>
              </a:tr>
              <a:tr h="161925">
                <a:tc>
                  <a:txBody>
                    <a:bodyPr/>
                    <a:lstStyle/>
                    <a:p>
                      <a:pPr algn="ctr">
                        <a:spcAft>
                          <a:spcPts val="0"/>
                        </a:spcAft>
                      </a:pPr>
                      <a:r>
                        <a:rPr lang="en-US" sz="800">
                          <a:solidFill>
                            <a:srgbClr val="404040"/>
                          </a:solidFill>
                          <a:effectLst/>
                          <a:latin typeface="BLS" pitchFamily="2" charset="-34"/>
                          <a:cs typeface="BLS" pitchFamily="2" charset="-34"/>
                        </a:rPr>
                        <a:t>60 – 69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Satisfactory</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4"/>
                  </a:ext>
                </a:extLst>
              </a:tr>
              <a:tr h="161925">
                <a:tc>
                  <a:txBody>
                    <a:bodyPr/>
                    <a:lstStyle/>
                    <a:p>
                      <a:pPr algn="ctr">
                        <a:spcAft>
                          <a:spcPts val="0"/>
                        </a:spcAft>
                      </a:pPr>
                      <a:r>
                        <a:rPr lang="en-US" sz="800">
                          <a:solidFill>
                            <a:srgbClr val="404040"/>
                          </a:solidFill>
                          <a:effectLst/>
                          <a:latin typeface="BLS" pitchFamily="2" charset="-34"/>
                          <a:cs typeface="BLS" pitchFamily="2" charset="-34"/>
                        </a:rPr>
                        <a:t>50 – 59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Pass</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5"/>
                  </a:ext>
                </a:extLst>
              </a:tr>
              <a:tr h="193675">
                <a:tc>
                  <a:txBody>
                    <a:bodyPr/>
                    <a:lstStyle/>
                    <a:p>
                      <a:pPr algn="ctr">
                        <a:spcBef>
                          <a:spcPts val="300"/>
                        </a:spcBef>
                        <a:spcAft>
                          <a:spcPts val="0"/>
                        </a:spcAft>
                      </a:pPr>
                      <a:r>
                        <a:rPr lang="en-US" sz="800">
                          <a:solidFill>
                            <a:srgbClr val="404040"/>
                          </a:solidFill>
                          <a:effectLst/>
                          <a:latin typeface="BLS" pitchFamily="2" charset="-34"/>
                          <a:cs typeface="BLS" pitchFamily="2" charset="-34"/>
                        </a:rPr>
                        <a:t>Below 50</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 No logo given</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N/A</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extLst>
                  <a:ext uri="{0D108BD9-81ED-4DB2-BD59-A6C34878D82A}">
                    <a16:rowId xmlns:a16="http://schemas.microsoft.com/office/drawing/2014/main" val="10006"/>
                  </a:ext>
                </a:extLst>
              </a:tr>
            </a:tbl>
          </a:graphicData>
        </a:graphic>
      </p:graphicFrame>
      <p:sp>
        <p:nvSpPr>
          <p:cNvPr id="38" name="TextBox 37"/>
          <p:cNvSpPr txBox="1"/>
          <p:nvPr/>
        </p:nvSpPr>
        <p:spPr>
          <a:xfrm>
            <a:off x="404664" y="6001157"/>
            <a:ext cx="5977830" cy="215444"/>
          </a:xfrm>
          <a:prstGeom prst="rect">
            <a:avLst/>
          </a:prstGeom>
          <a:noFill/>
        </p:spPr>
        <p:txBody>
          <a:bodyPr wrap="square" rtlCol="0">
            <a:spAutoFit/>
          </a:bodyPr>
          <a:lstStyle/>
          <a:p>
            <a:pPr algn="just"/>
            <a:r>
              <a:rPr lang="en-US" sz="800" b="1">
                <a:solidFill>
                  <a:srgbClr val="404040"/>
                </a:solidFill>
                <a:latin typeface="BLS" pitchFamily="2" charset="-34"/>
                <a:cs typeface="BLS" pitchFamily="2" charset="-34"/>
              </a:rPr>
              <a:t>CG Rating</a:t>
            </a:r>
          </a:p>
        </p:txBody>
      </p:sp>
      <p:sp>
        <p:nvSpPr>
          <p:cNvPr id="39" name="TextBox 38"/>
          <p:cNvSpPr txBox="1"/>
          <p:nvPr/>
        </p:nvSpPr>
        <p:spPr>
          <a:xfrm>
            <a:off x="1052736" y="7875657"/>
            <a:ext cx="4752528" cy="584775"/>
          </a:xfrm>
          <a:prstGeom prst="rect">
            <a:avLst/>
          </a:prstGeom>
          <a:noFill/>
        </p:spPr>
        <p:txBody>
          <a:bodyPr wrap="square" rtlCol="0">
            <a:spAutoFit/>
          </a:bodyPr>
          <a:lstStyle/>
          <a:p>
            <a:pPr algn="ctr"/>
            <a:r>
              <a:rPr lang="en-US" sz="800" b="1">
                <a:latin typeface="BLS" pitchFamily="2" charset="-34"/>
                <a:cs typeface="BLS" pitchFamily="2" charset="-34"/>
              </a:rPr>
              <a:t>Thailand's Private Sector Collective Action Coalition Against Corruption </a:t>
            </a:r>
            <a:r>
              <a:rPr lang="en-US" sz="800" b="1" err="1">
                <a:latin typeface="BLS" pitchFamily="2" charset="-34"/>
                <a:cs typeface="BLS" pitchFamily="2" charset="-34"/>
              </a:rPr>
              <a:t>programme</a:t>
            </a:r>
            <a:r>
              <a:rPr lang="en-US" sz="800" b="1">
                <a:latin typeface="BLS" pitchFamily="2" charset="-34"/>
                <a:cs typeface="BLS" pitchFamily="2" charset="-34"/>
              </a:rPr>
              <a:t> (Thai CAC) under Thai Institute of Directors</a:t>
            </a:r>
          </a:p>
          <a:p>
            <a:pPr marL="171450" indent="-171450" algn="ctr">
              <a:buFont typeface="Arial" pitchFamily="34" charset="0"/>
              <a:buChar char="•"/>
            </a:pPr>
            <a:r>
              <a:rPr lang="en-US" sz="800">
                <a:latin typeface="BLS" pitchFamily="2" charset="-34"/>
                <a:cs typeface="BLS" pitchFamily="2" charset="-34"/>
              </a:rPr>
              <a:t>companies that have </a:t>
            </a:r>
            <a:r>
              <a:rPr lang="en-US" sz="800" b="1">
                <a:latin typeface="BLS" pitchFamily="2" charset="-34"/>
                <a:cs typeface="BLS" pitchFamily="2" charset="-34"/>
              </a:rPr>
              <a:t>declared</a:t>
            </a:r>
            <a:r>
              <a:rPr lang="en-US" sz="800">
                <a:latin typeface="BLS" pitchFamily="2" charset="-34"/>
                <a:cs typeface="BLS" pitchFamily="2" charset="-34"/>
              </a:rPr>
              <a:t> their intention to join CAC, and</a:t>
            </a:r>
          </a:p>
          <a:p>
            <a:pPr marL="171450" indent="-171450" algn="ctr">
              <a:buFont typeface="Arial" pitchFamily="34" charset="0"/>
              <a:buChar char="•"/>
            </a:pPr>
            <a:r>
              <a:rPr lang="en-US" sz="800">
                <a:latin typeface="BLS" pitchFamily="2" charset="-34"/>
                <a:cs typeface="BLS" pitchFamily="2" charset="-34"/>
              </a:rPr>
              <a:t>companies </a:t>
            </a:r>
            <a:r>
              <a:rPr lang="en-US" sz="800" b="1">
                <a:latin typeface="BLS" pitchFamily="2" charset="-34"/>
                <a:cs typeface="BLS" pitchFamily="2" charset="-34"/>
              </a:rPr>
              <a:t>certified</a:t>
            </a:r>
            <a:r>
              <a:rPr lang="en-US" sz="800">
                <a:latin typeface="BLS" pitchFamily="2" charset="-34"/>
                <a:cs typeface="BLS" pitchFamily="2" charset="-34"/>
              </a:rPr>
              <a:t> by CAC.</a:t>
            </a:r>
            <a:endParaRPr lang="en-US" sz="800">
              <a:solidFill>
                <a:srgbClr val="404040"/>
              </a:solidFill>
              <a:latin typeface="BLS" pitchFamily="2" charset="-34"/>
              <a:cs typeface="BLS" pitchFamily="2" charset="-34"/>
            </a:endParaRPr>
          </a:p>
        </p:txBody>
      </p:sp>
      <p:pic>
        <p:nvPicPr>
          <p:cNvPr id="1026" name="Picture 2">
            <a:extLst>
              <a:ext uri="{FF2B5EF4-FFF2-40B4-BE49-F238E27FC236}">
                <a16:creationId xmlns:a16="http://schemas.microsoft.com/office/drawing/2014/main" id="{0E5D63DB-D9DE-7124-6220-F449B2D45F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937" y="3631607"/>
            <a:ext cx="6324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a:extLst>
              <a:ext uri="{FF2B5EF4-FFF2-40B4-BE49-F238E27FC236}">
                <a16:creationId xmlns:a16="http://schemas.microsoft.com/office/drawing/2014/main" id="{2FADF063-618E-2A0B-B0CC-F9AEA43EBAD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0823" y="107504"/>
            <a:ext cx="73183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9F434746-9B89-59A7-88CF-4D5439A09315}"/>
              </a:ext>
            </a:extLst>
          </p:cNvPr>
          <p:cNvCxnSpPr/>
          <p:nvPr/>
        </p:nvCxnSpPr>
        <p:spPr>
          <a:xfrm>
            <a:off x="1254791" y="190033"/>
            <a:ext cx="0" cy="108000"/>
          </a:xfrm>
          <a:prstGeom prst="line">
            <a:avLst/>
          </a:prstGeom>
          <a:ln w="1905">
            <a:solidFill>
              <a:srgbClr val="00206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4CC043B-0591-672D-2174-7401EDDCA5CE}"/>
              </a:ext>
            </a:extLst>
          </p:cNvPr>
          <p:cNvSpPr txBox="1"/>
          <p:nvPr/>
        </p:nvSpPr>
        <p:spPr>
          <a:xfrm>
            <a:off x="332656" y="30656"/>
            <a:ext cx="970575" cy="184666"/>
          </a:xfrm>
          <a:prstGeom prst="rect">
            <a:avLst/>
          </a:prstGeom>
          <a:noFill/>
        </p:spPr>
        <p:txBody>
          <a:bodyPr wrap="square">
            <a:spAutoFit/>
          </a:bodyPr>
          <a:lstStyle/>
          <a:p>
            <a:pPr algn="r"/>
            <a:r>
              <a:rPr lang="en-US" sz="60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5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10" name="TextBox 9">
            <a:extLst>
              <a:ext uri="{FF2B5EF4-FFF2-40B4-BE49-F238E27FC236}">
                <a16:creationId xmlns:a16="http://schemas.microsoft.com/office/drawing/2014/main" id="{2531F109-D890-A9D4-6394-29EC9D37B88A}"/>
              </a:ext>
            </a:extLst>
          </p:cNvPr>
          <p:cNvSpPr txBox="1"/>
          <p:nvPr/>
        </p:nvSpPr>
        <p:spPr>
          <a:xfrm>
            <a:off x="1207813" y="131801"/>
            <a:ext cx="1411131" cy="230832"/>
          </a:xfrm>
          <a:prstGeom prst="rect">
            <a:avLst/>
          </a:prstGeom>
          <a:noFill/>
        </p:spPr>
        <p:txBody>
          <a:bodyPr wrap="square" rtlCol="0">
            <a:spAutoFit/>
          </a:bodyPr>
          <a:lstStyle/>
          <a:p>
            <a:r>
              <a:rPr lang="en-US" sz="450" b="1" dirty="0">
                <a:solidFill>
                  <a:schemeClr val="accent3"/>
                </a:solidFill>
                <a:latin typeface="Arial" pitchFamily="34" charset="0"/>
                <a:cs typeface="Arial" pitchFamily="34" charset="0"/>
              </a:rPr>
              <a:t>Data-driven</a:t>
            </a:r>
            <a:endParaRPr lang="th-TH" sz="450" b="1" dirty="0">
              <a:solidFill>
                <a:schemeClr val="accent3"/>
              </a:solidFill>
              <a:latin typeface="Arial" pitchFamily="34" charset="0"/>
              <a:cs typeface="Arial" pitchFamily="34" charset="0"/>
            </a:endParaRPr>
          </a:p>
          <a:p>
            <a:r>
              <a:rPr lang="en-US" sz="450" b="1" dirty="0">
                <a:solidFill>
                  <a:schemeClr val="tx2"/>
                </a:solidFill>
                <a:latin typeface="Arial" pitchFamily="34" charset="0"/>
                <a:cs typeface="Arial" pitchFamily="34" charset="0"/>
              </a:rPr>
              <a:t>RESEARCH</a:t>
            </a:r>
          </a:p>
        </p:txBody>
      </p:sp>
    </p:spTree>
    <p:extLst>
      <p:ext uri="{BB962C8B-B14F-4D97-AF65-F5344CB8AC3E}">
        <p14:creationId xmlns:p14="http://schemas.microsoft.com/office/powerpoint/2010/main" val="329149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7858" y="8699316"/>
            <a:ext cx="6235106"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2"/>
          <p:cNvSpPr>
            <a:spLocks noGrp="1"/>
          </p:cNvSpPr>
          <p:nvPr>
            <p:ph type="sldNum" sz="quarter" idx="12"/>
          </p:nvPr>
        </p:nvSpPr>
        <p:spPr>
          <a:xfrm>
            <a:off x="4914900" y="8659771"/>
            <a:ext cx="1600200" cy="486833"/>
          </a:xfrm>
        </p:spPr>
        <p:txBody>
          <a:bodyPr/>
          <a:lstStyle/>
          <a:p>
            <a:fld id="{10452F14-DDA8-46AC-9FFA-A749C5B763D3}" type="slidenum">
              <a:rPr lang="en-US" smtClean="0">
                <a:latin typeface="BLS" panose="00000500000000000000" pitchFamily="2" charset="-34"/>
                <a:cs typeface="BLS" panose="00000500000000000000" pitchFamily="2" charset="-34"/>
              </a:rPr>
              <a:t>8</a:t>
            </a:fld>
            <a:endParaRPr lang="en-US" dirty="0">
              <a:latin typeface="BLS" panose="00000500000000000000" pitchFamily="2" charset="-34"/>
              <a:cs typeface="BLS" panose="00000500000000000000" pitchFamily="2" charset="-34"/>
            </a:endParaRPr>
          </a:p>
        </p:txBody>
      </p:sp>
      <p:sp>
        <p:nvSpPr>
          <p:cNvPr id="12" name="Text Box 155"/>
          <p:cNvSpPr txBox="1">
            <a:spLocks noChangeArrowheads="1"/>
          </p:cNvSpPr>
          <p:nvPr/>
        </p:nvSpPr>
        <p:spPr bwMode="auto">
          <a:xfrm>
            <a:off x="297858" y="624260"/>
            <a:ext cx="6231314" cy="319087"/>
          </a:xfrm>
          <a:prstGeom prst="rect">
            <a:avLst/>
          </a:prstGeom>
          <a:solidFill>
            <a:srgbClr val="002060"/>
          </a:solidFill>
          <a:ln w="9525">
            <a:solidFill>
              <a:srgbClr val="002060"/>
            </a:solidFill>
            <a:miter lim="800000"/>
            <a:headEnd/>
            <a:tailEnd/>
          </a:ln>
        </p:spPr>
        <p:txBody>
          <a:bodyPr vert="horz" wrap="square" lIns="91440" tIns="45720" rIns="91440" bIns="45720" numCol="1" anchor="ctr" anchorCtr="0" compatLnSpc="1">
            <a:prstTxWarp prst="textNoShape">
              <a:avLst/>
            </a:prstTxWarp>
          </a:bodyPr>
          <a:lstStyle/>
          <a:p>
            <a:pPr>
              <a:spcAft>
                <a:spcPts val="0"/>
              </a:spcAft>
              <a:tabLst>
                <a:tab pos="2743200" algn="ctr"/>
                <a:tab pos="5486400" algn="r"/>
              </a:tabLst>
            </a:pPr>
            <a:r>
              <a:rPr lang="en-US" sz="1000" b="1">
                <a:solidFill>
                  <a:srgbClr val="FFFFFF"/>
                </a:solidFill>
                <a:latin typeface="BLS Condensed Bold" pitchFamily="2" charset="-34"/>
                <a:ea typeface="Arial" pitchFamily="34" charset="0"/>
                <a:cs typeface="BLS Condensed Bold" pitchFamily="2" charset="-34"/>
              </a:rPr>
              <a:t>CORPORATE GOVERNANCE REPORT DISCLAIMER</a:t>
            </a:r>
          </a:p>
        </p:txBody>
      </p:sp>
      <p:sp>
        <p:nvSpPr>
          <p:cNvPr id="13" name="TextBox 12"/>
          <p:cNvSpPr txBox="1"/>
          <p:nvPr/>
        </p:nvSpPr>
        <p:spPr>
          <a:xfrm>
            <a:off x="297858" y="1043608"/>
            <a:ext cx="6231314" cy="3293209"/>
          </a:xfrm>
          <a:prstGeom prst="rect">
            <a:avLst/>
          </a:prstGeom>
          <a:noFill/>
        </p:spPr>
        <p:txBody>
          <a:bodyPr wrap="square" rtlCol="0">
            <a:spAutoFit/>
          </a:bodyPr>
          <a:lstStyle/>
          <a:p>
            <a:pPr algn="just"/>
            <a:r>
              <a:rPr lang="en-GB" sz="800">
                <a:solidFill>
                  <a:srgbClr val="404040"/>
                </a:solidFill>
                <a:latin typeface="BLS" pitchFamily="2" charset="-34"/>
                <a:cs typeface="BLS" pitchFamily="2" charset="-34"/>
              </a:rPr>
              <a:t>This research report was prepared by </a:t>
            </a:r>
            <a:r>
              <a:rPr lang="en-GB" sz="800" err="1">
                <a:solidFill>
                  <a:srgbClr val="404040"/>
                </a:solidFill>
                <a:latin typeface="BLS" pitchFamily="2" charset="-34"/>
                <a:cs typeface="BLS" pitchFamily="2" charset="-34"/>
              </a:rPr>
              <a:t>Bualuang</a:t>
            </a:r>
            <a:r>
              <a:rPr lang="en-GB" sz="800">
                <a:solidFill>
                  <a:srgbClr val="404040"/>
                </a:solidFill>
                <a:latin typeface="BLS" pitchFamily="2" charset="-34"/>
                <a:cs typeface="BLS" pitchFamily="2" charset="-34"/>
              </a:rPr>
              <a:t> Securities Public Company Limited and refers to research prepared by Morgan Stanley. Morgan Stanley does not warrant or guarantee the accuracy or completeness of its research reports. Morgan Stanley reserves copyright and other proprietary rights in the material reproduced in this report. Morgan Stanley is under no obligation to inform </a:t>
            </a:r>
            <a:r>
              <a:rPr lang="en-GB" sz="800" err="1">
                <a:solidFill>
                  <a:srgbClr val="404040"/>
                </a:solidFill>
                <a:latin typeface="BLS" pitchFamily="2" charset="-34"/>
                <a:cs typeface="BLS" pitchFamily="2" charset="-34"/>
              </a:rPr>
              <a:t>Bualuang</a:t>
            </a:r>
            <a:r>
              <a:rPr lang="en-GB" sz="800">
                <a:solidFill>
                  <a:srgbClr val="404040"/>
                </a:solidFill>
                <a:latin typeface="BLS" pitchFamily="2" charset="-34"/>
                <a:cs typeface="BLS" pitchFamily="2" charset="-34"/>
              </a:rPr>
              <a:t> Securities or you if the views or information referred to or reproduced in this research report change.</a:t>
            </a:r>
          </a:p>
          <a:p>
            <a:pPr algn="just"/>
            <a:endParaRPr lang="en-US" sz="800">
              <a:solidFill>
                <a:srgbClr val="404040"/>
              </a:solidFill>
              <a:latin typeface="BLS" pitchFamily="2" charset="-34"/>
              <a:cs typeface="BLS" pitchFamily="2" charset="-34"/>
            </a:endParaRPr>
          </a:p>
          <a:p>
            <a:pPr algn="just"/>
            <a:r>
              <a:rPr lang="en-GB" sz="800" b="1">
                <a:solidFill>
                  <a:srgbClr val="404040"/>
                </a:solidFill>
                <a:latin typeface="BLS" pitchFamily="2" charset="-34"/>
                <a:cs typeface="BLS" pitchFamily="2" charset="-34"/>
              </a:rPr>
              <a:t>Corporate Governance Report disclaimer</a:t>
            </a:r>
          </a:p>
          <a:p>
            <a:pPr algn="just"/>
            <a:endParaRPr lang="en-US" sz="400" b="1">
              <a:solidFill>
                <a:srgbClr val="404040"/>
              </a:solidFill>
              <a:latin typeface="BLS" pitchFamily="2" charset="-34"/>
              <a:cs typeface="BLS" pitchFamily="2" charset="-34"/>
            </a:endParaRPr>
          </a:p>
          <a:p>
            <a:pPr algn="just"/>
            <a:r>
              <a:rPr lang="en-US" sz="800">
                <a:solidFill>
                  <a:srgbClr val="404040"/>
                </a:solidFill>
                <a:latin typeface="BLS" pitchFamily="2" charset="-34"/>
                <a:cs typeface="BLS" pitchFamily="2" charset="-34"/>
              </a:rPr>
              <a:t>The disclosure of the survey result of the Thai Institute of Directors Association (IOD) regarding corporate governance is made pursuant to the policy of the Office of the Securities and Exchange Commission. The IOD survey is based on the information of a company listed on the Stock Exchange of Thailand and the Market for Alternative Investment disclosed to the public and able to be accessed by a general public investor. The result, therefore, is from the perspective of a third party. It is not an evaluation of operation and is not based on inside information.</a:t>
            </a:r>
          </a:p>
          <a:p>
            <a:pPr algn="just"/>
            <a:r>
              <a:rPr lang="en-US" sz="800">
                <a:solidFill>
                  <a:srgbClr val="404040"/>
                </a:solidFill>
                <a:latin typeface="BLS" pitchFamily="2" charset="-34"/>
                <a:cs typeface="BLS" pitchFamily="2" charset="-34"/>
              </a:rPr>
              <a:t>The survey result is as of the date appearing in the Corporate Governance Report of Thai Listed Companies. As a result, the survey result may be changed after that date. </a:t>
            </a:r>
            <a:r>
              <a:rPr lang="en-US" sz="800" err="1">
                <a:solidFill>
                  <a:srgbClr val="404040"/>
                </a:solidFill>
                <a:latin typeface="BLS" pitchFamily="2" charset="-34"/>
                <a:cs typeface="BLS" pitchFamily="2" charset="-34"/>
              </a:rPr>
              <a:t>Bualuang</a:t>
            </a:r>
            <a:r>
              <a:rPr lang="en-US" sz="800">
                <a:solidFill>
                  <a:srgbClr val="404040"/>
                </a:solidFill>
                <a:latin typeface="BLS" pitchFamily="2" charset="-34"/>
                <a:cs typeface="BLS" pitchFamily="2" charset="-34"/>
              </a:rPr>
              <a:t> Securities Public Company Limited neither confirms nor certifies the accuracy of such survey results.</a:t>
            </a:r>
          </a:p>
          <a:p>
            <a:pPr algn="just"/>
            <a:r>
              <a:rPr lang="en-US" sz="800">
                <a:solidFill>
                  <a:srgbClr val="404040"/>
                </a:solidFill>
                <a:latin typeface="BLS" pitchFamily="2" charset="-34"/>
                <a:cs typeface="BLS" pitchFamily="2" charset="-34"/>
              </a:rPr>
              <a:t> </a:t>
            </a:r>
          </a:p>
          <a:p>
            <a:pPr algn="just"/>
            <a:r>
              <a:rPr lang="en-US" sz="800">
                <a:solidFill>
                  <a:srgbClr val="404040"/>
                </a:solidFill>
                <a:latin typeface="BLS" pitchFamily="2" charset="-34"/>
                <a:cs typeface="BLS" pitchFamily="2" charset="-34"/>
              </a:rPr>
              <a:t>“Disclaimer: The disclosure of the Anti-Corruption Progress Indicators of a listed company on the Stock Exchange of Thailand, which is assessed by the relevant institution as disclosed by the Office of the Securities and Exchange Commission, is made in order to comply with the policy and sustainable development plan for the listed companies. The relevant institution made this assessment based on the information received from the listed company, as stipulated in the form for the assessment of Anti-corruption, which refers to the Annual Registration Statement (Form 56-1), Annual Report (Form 56-2), or other relevant documents or reports of such listed company. The assessment result is therefore made from the perspective of a third party. It is not an assessment of operation and is not based on any inside information. Since this assessment is only the assessment result as of the date appearing in the assessment result, it may be changed after that date or when there is any change to the relevant information. Nevertheless, </a:t>
            </a:r>
            <a:r>
              <a:rPr lang="en-US" sz="800" err="1">
                <a:solidFill>
                  <a:srgbClr val="404040"/>
                </a:solidFill>
                <a:latin typeface="BLS" pitchFamily="2" charset="-34"/>
                <a:cs typeface="BLS" pitchFamily="2" charset="-34"/>
              </a:rPr>
              <a:t>Bualuang</a:t>
            </a:r>
            <a:r>
              <a:rPr lang="en-US" sz="800">
                <a:solidFill>
                  <a:srgbClr val="404040"/>
                </a:solidFill>
                <a:latin typeface="BLS" pitchFamily="2" charset="-34"/>
                <a:cs typeface="BLS" pitchFamily="2" charset="-34"/>
              </a:rPr>
              <a:t> Securities Public Company Limited neither confirms, verifies, nor certifies the accuracy and completeness of the assessment result.”</a:t>
            </a:r>
          </a:p>
        </p:txBody>
      </p:sp>
      <p:sp>
        <p:nvSpPr>
          <p:cNvPr id="33" name="Text Box 155"/>
          <p:cNvSpPr txBox="1">
            <a:spLocks noChangeArrowheads="1"/>
          </p:cNvSpPr>
          <p:nvPr/>
        </p:nvSpPr>
        <p:spPr bwMode="auto">
          <a:xfrm>
            <a:off x="294066" y="4572000"/>
            <a:ext cx="6231314" cy="319087"/>
          </a:xfrm>
          <a:prstGeom prst="rect">
            <a:avLst/>
          </a:prstGeom>
          <a:solidFill>
            <a:srgbClr val="002060"/>
          </a:solidFill>
          <a:ln w="9525">
            <a:solidFill>
              <a:srgbClr val="002060"/>
            </a:solidFill>
            <a:miter lim="800000"/>
            <a:headEnd/>
            <a:tailEnd/>
          </a:ln>
        </p:spPr>
        <p:txBody>
          <a:bodyPr vert="horz" wrap="square" lIns="91440" tIns="45720" rIns="91440" bIns="45720" numCol="1" anchor="ctr" anchorCtr="0" compatLnSpc="1">
            <a:prstTxWarp prst="textNoShape">
              <a:avLst/>
            </a:prstTxWarp>
          </a:bodyPr>
          <a:lstStyle/>
          <a:p>
            <a:pPr>
              <a:spcAft>
                <a:spcPts val="0"/>
              </a:spcAft>
              <a:tabLst>
                <a:tab pos="2743200" algn="ctr"/>
                <a:tab pos="5486400" algn="r"/>
              </a:tabLst>
            </a:pPr>
            <a:r>
              <a:rPr lang="en-US" sz="1000" b="1">
                <a:solidFill>
                  <a:srgbClr val="FFFFFF"/>
                </a:solidFill>
                <a:latin typeface="BLS Condensed Bold" pitchFamily="2" charset="-34"/>
                <a:ea typeface="Arial" pitchFamily="34" charset="0"/>
                <a:cs typeface="BLS Condensed Bold" pitchFamily="2" charset="-34"/>
              </a:rPr>
              <a:t>BUALUANG RESEARCH – RECOMMENDATION FRAMEWORK</a:t>
            </a:r>
          </a:p>
        </p:txBody>
      </p:sp>
      <p:sp>
        <p:nvSpPr>
          <p:cNvPr id="34" name="TextBox 33"/>
          <p:cNvSpPr txBox="1"/>
          <p:nvPr/>
        </p:nvSpPr>
        <p:spPr>
          <a:xfrm>
            <a:off x="294066" y="5004048"/>
            <a:ext cx="3121345" cy="1323439"/>
          </a:xfrm>
          <a:prstGeom prst="rect">
            <a:avLst/>
          </a:prstGeom>
          <a:noFill/>
        </p:spPr>
        <p:txBody>
          <a:bodyPr wrap="square" rtlCol="0">
            <a:spAutoFit/>
          </a:bodyPr>
          <a:lstStyle/>
          <a:p>
            <a:r>
              <a:rPr lang="en-US" sz="800" b="1">
                <a:solidFill>
                  <a:srgbClr val="404040"/>
                </a:solidFill>
                <a:latin typeface="BLS" pitchFamily="2" charset="-34"/>
                <a:cs typeface="BLS" pitchFamily="2" charset="-34"/>
              </a:rPr>
              <a:t>STOCK RECOMMENDATIONS</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 </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BUY:</a:t>
            </a:r>
            <a:r>
              <a:rPr lang="en-US" sz="800">
                <a:solidFill>
                  <a:srgbClr val="404040"/>
                </a:solidFill>
                <a:latin typeface="BLS" pitchFamily="2" charset="-34"/>
                <a:cs typeface="BLS" pitchFamily="2" charset="-34"/>
              </a:rPr>
              <a:t> Expected positive total returns of 15% or more over the next 12 months.</a:t>
            </a:r>
          </a:p>
          <a:p>
            <a:r>
              <a:rPr lang="en-US" sz="800" b="1">
                <a:solidFill>
                  <a:srgbClr val="404040"/>
                </a:solidFill>
                <a:latin typeface="BLS" pitchFamily="2" charset="-34"/>
                <a:cs typeface="BLS" pitchFamily="2" charset="-34"/>
              </a:rPr>
              <a:t>HOLD:</a:t>
            </a:r>
            <a:r>
              <a:rPr lang="en-US" sz="800">
                <a:solidFill>
                  <a:srgbClr val="404040"/>
                </a:solidFill>
                <a:latin typeface="BLS" pitchFamily="2" charset="-34"/>
                <a:cs typeface="BLS" pitchFamily="2" charset="-34"/>
              </a:rPr>
              <a:t> Expected total returns of between -15% and +15% over the next 12 months.</a:t>
            </a:r>
          </a:p>
          <a:p>
            <a:r>
              <a:rPr lang="en-US" sz="800" b="1">
                <a:solidFill>
                  <a:srgbClr val="404040"/>
                </a:solidFill>
                <a:latin typeface="BLS" pitchFamily="2" charset="-34"/>
                <a:cs typeface="BLS" pitchFamily="2" charset="-34"/>
              </a:rPr>
              <a:t>SELL:</a:t>
            </a:r>
            <a:r>
              <a:rPr lang="en-US" sz="800">
                <a:solidFill>
                  <a:srgbClr val="404040"/>
                </a:solidFill>
                <a:latin typeface="BLS" pitchFamily="2" charset="-34"/>
                <a:cs typeface="BLS" pitchFamily="2" charset="-34"/>
              </a:rPr>
              <a:t> Expected negative total returns of 15% or more over the next 12 months.</a:t>
            </a:r>
          </a:p>
          <a:p>
            <a:r>
              <a:rPr lang="en-US" sz="800" b="1">
                <a:solidFill>
                  <a:srgbClr val="404040"/>
                </a:solidFill>
                <a:latin typeface="BLS" pitchFamily="2" charset="-34"/>
                <a:cs typeface="BLS" pitchFamily="2" charset="-34"/>
              </a:rPr>
              <a:t>TRADING BUY:</a:t>
            </a:r>
            <a:r>
              <a:rPr lang="en-US" sz="800">
                <a:solidFill>
                  <a:srgbClr val="404040"/>
                </a:solidFill>
                <a:latin typeface="BLS" pitchFamily="2" charset="-34"/>
                <a:cs typeface="BLS" pitchFamily="2" charset="-34"/>
              </a:rPr>
              <a:t> Expected positive total returns of 15% or more over the next 3 months.</a:t>
            </a:r>
          </a:p>
        </p:txBody>
      </p:sp>
      <p:sp>
        <p:nvSpPr>
          <p:cNvPr id="40" name="TextBox 39"/>
          <p:cNvSpPr txBox="1"/>
          <p:nvPr/>
        </p:nvSpPr>
        <p:spPr>
          <a:xfrm>
            <a:off x="3403999" y="5006935"/>
            <a:ext cx="3121345" cy="1446550"/>
          </a:xfrm>
          <a:prstGeom prst="rect">
            <a:avLst/>
          </a:prstGeom>
          <a:noFill/>
        </p:spPr>
        <p:txBody>
          <a:bodyPr wrap="square" rtlCol="0">
            <a:spAutoFit/>
          </a:bodyPr>
          <a:lstStyle/>
          <a:p>
            <a:r>
              <a:rPr lang="en-US" sz="800" b="1">
                <a:solidFill>
                  <a:srgbClr val="404040"/>
                </a:solidFill>
                <a:latin typeface="BLS" pitchFamily="2" charset="-34"/>
                <a:cs typeface="BLS" pitchFamily="2" charset="-34"/>
              </a:rPr>
              <a:t>SECTOR RECOMMENDATIONS</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 </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OVERWEIGHT:</a:t>
            </a:r>
            <a:r>
              <a:rPr lang="en-US" sz="800">
                <a:solidFill>
                  <a:srgbClr val="404040"/>
                </a:solidFill>
                <a:latin typeface="BLS" pitchFamily="2" charset="-34"/>
                <a:cs typeface="BLS" pitchFamily="2" charset="-34"/>
              </a:rPr>
              <a:t> The industry, as defined by the analyst's coverage universe, is expected to outperform the relevant primary market index over the next 12 months.</a:t>
            </a:r>
          </a:p>
          <a:p>
            <a:r>
              <a:rPr lang="en-US" sz="800" b="1">
                <a:solidFill>
                  <a:srgbClr val="404040"/>
                </a:solidFill>
                <a:latin typeface="BLS" pitchFamily="2" charset="-34"/>
                <a:cs typeface="BLS" pitchFamily="2" charset="-34"/>
              </a:rPr>
              <a:t>NEUTRAL:</a:t>
            </a:r>
            <a:r>
              <a:rPr lang="en-US" sz="800">
                <a:solidFill>
                  <a:srgbClr val="404040"/>
                </a:solidFill>
                <a:latin typeface="BLS" pitchFamily="2" charset="-34"/>
                <a:cs typeface="BLS" pitchFamily="2" charset="-34"/>
              </a:rPr>
              <a:t> The industry, as defined by the analyst's coverage universe, is expected to perform in line with the relevant primary market index over the next 12 months.</a:t>
            </a:r>
          </a:p>
          <a:p>
            <a:r>
              <a:rPr lang="en-US" sz="800" b="1">
                <a:solidFill>
                  <a:srgbClr val="404040"/>
                </a:solidFill>
                <a:latin typeface="BLS" pitchFamily="2" charset="-34"/>
                <a:cs typeface="BLS" pitchFamily="2" charset="-34"/>
              </a:rPr>
              <a:t>UNDERWEIGHT:</a:t>
            </a:r>
            <a:r>
              <a:rPr lang="en-US" sz="800">
                <a:solidFill>
                  <a:srgbClr val="404040"/>
                </a:solidFill>
                <a:latin typeface="BLS" pitchFamily="2" charset="-34"/>
                <a:cs typeface="BLS" pitchFamily="2" charset="-34"/>
              </a:rPr>
              <a:t> The industry, as defined by the analyst's coverage universe, is expected to underperform the relevant primary market index over the next 12 months.</a:t>
            </a:r>
          </a:p>
        </p:txBody>
      </p:sp>
      <p:pic>
        <p:nvPicPr>
          <p:cNvPr id="2" name="Picture 2">
            <a:extLst>
              <a:ext uri="{FF2B5EF4-FFF2-40B4-BE49-F238E27FC236}">
                <a16:creationId xmlns:a16="http://schemas.microsoft.com/office/drawing/2014/main" id="{68EBA98D-DAEB-71F6-F8D5-DDD9F3BDDD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0823" y="107504"/>
            <a:ext cx="73183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7E2E67D1-A25A-2469-0444-85CC17E609CB}"/>
              </a:ext>
            </a:extLst>
          </p:cNvPr>
          <p:cNvCxnSpPr/>
          <p:nvPr/>
        </p:nvCxnSpPr>
        <p:spPr>
          <a:xfrm>
            <a:off x="1254791" y="190033"/>
            <a:ext cx="0" cy="108000"/>
          </a:xfrm>
          <a:prstGeom prst="line">
            <a:avLst/>
          </a:prstGeom>
          <a:ln w="1905">
            <a:solidFill>
              <a:srgbClr val="00206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FD7DE02-ED03-5EC3-18A3-C3FFFC2FDA4D}"/>
              </a:ext>
            </a:extLst>
          </p:cNvPr>
          <p:cNvSpPr txBox="1"/>
          <p:nvPr/>
        </p:nvSpPr>
        <p:spPr>
          <a:xfrm>
            <a:off x="332656" y="30656"/>
            <a:ext cx="970575" cy="184666"/>
          </a:xfrm>
          <a:prstGeom prst="rect">
            <a:avLst/>
          </a:prstGeom>
          <a:noFill/>
        </p:spPr>
        <p:txBody>
          <a:bodyPr wrap="square">
            <a:spAutoFit/>
          </a:bodyPr>
          <a:lstStyle/>
          <a:p>
            <a:pPr algn="r"/>
            <a:r>
              <a:rPr lang="en-US" sz="60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5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10" name="TextBox 9">
            <a:extLst>
              <a:ext uri="{FF2B5EF4-FFF2-40B4-BE49-F238E27FC236}">
                <a16:creationId xmlns:a16="http://schemas.microsoft.com/office/drawing/2014/main" id="{13DF9989-335C-A019-5306-81DB174F4CC4}"/>
              </a:ext>
            </a:extLst>
          </p:cNvPr>
          <p:cNvSpPr txBox="1"/>
          <p:nvPr/>
        </p:nvSpPr>
        <p:spPr>
          <a:xfrm>
            <a:off x="1207813" y="131801"/>
            <a:ext cx="1411131" cy="230832"/>
          </a:xfrm>
          <a:prstGeom prst="rect">
            <a:avLst/>
          </a:prstGeom>
          <a:noFill/>
        </p:spPr>
        <p:txBody>
          <a:bodyPr wrap="square" rtlCol="0">
            <a:spAutoFit/>
          </a:bodyPr>
          <a:lstStyle/>
          <a:p>
            <a:r>
              <a:rPr lang="en-US" sz="450" b="1" dirty="0">
                <a:solidFill>
                  <a:schemeClr val="accent3"/>
                </a:solidFill>
                <a:latin typeface="Arial" pitchFamily="34" charset="0"/>
                <a:cs typeface="Arial" pitchFamily="34" charset="0"/>
              </a:rPr>
              <a:t>Data-driven</a:t>
            </a:r>
            <a:endParaRPr lang="th-TH" sz="450" b="1" dirty="0">
              <a:solidFill>
                <a:schemeClr val="accent3"/>
              </a:solidFill>
              <a:latin typeface="Arial" pitchFamily="34" charset="0"/>
              <a:cs typeface="Arial" pitchFamily="34" charset="0"/>
            </a:endParaRPr>
          </a:p>
          <a:p>
            <a:r>
              <a:rPr lang="en-US" sz="450" b="1" dirty="0">
                <a:solidFill>
                  <a:schemeClr val="tx2"/>
                </a:solidFill>
                <a:latin typeface="Arial" pitchFamily="34" charset="0"/>
                <a:cs typeface="Arial" pitchFamily="34" charset="0"/>
              </a:rPr>
              <a:t>RESEARCH</a:t>
            </a:r>
          </a:p>
        </p:txBody>
      </p:sp>
    </p:spTree>
    <p:extLst>
      <p:ext uri="{BB962C8B-B14F-4D97-AF65-F5344CB8AC3E}">
        <p14:creationId xmlns:p14="http://schemas.microsoft.com/office/powerpoint/2010/main" val="2177988180"/>
      </p:ext>
    </p:extLst>
  </p:cSld>
  <p:clrMapOvr>
    <a:masterClrMapping/>
  </p:clrMapOvr>
</p:sld>
</file>

<file path=ppt/theme/theme1.xml><?xml version="1.0" encoding="utf-8"?>
<a:theme xmlns:a="http://schemas.openxmlformats.org/drawingml/2006/main" name="Office Theme">
  <a:themeElements>
    <a:clrScheme name="BLS">
      <a:dk1>
        <a:sysClr val="windowText" lastClr="000000"/>
      </a:dk1>
      <a:lt1>
        <a:sysClr val="window" lastClr="FFFFFF"/>
      </a:lt1>
      <a:dk2>
        <a:srgbClr val="1F497D"/>
      </a:dk2>
      <a:lt2>
        <a:srgbClr val="EEECE1"/>
      </a:lt2>
      <a:accent1>
        <a:srgbClr val="215968"/>
      </a:accent1>
      <a:accent2>
        <a:srgbClr val="A17D3D"/>
      </a:accent2>
      <a:accent3>
        <a:srgbClr val="AC1D3F"/>
      </a:accent3>
      <a:accent4>
        <a:srgbClr val="162A4C"/>
      </a:accent4>
      <a:accent5>
        <a:srgbClr val="A6A6A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149147</TotalTime>
  <Words>3555</Words>
  <Application>Microsoft Office PowerPoint</Application>
  <PresentationFormat>On-screen Show (4:3)</PresentationFormat>
  <Paragraphs>222</Paragraphs>
  <Slides>8</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Aharoni</vt:lpstr>
      <vt:lpstr>Arial</vt:lpstr>
      <vt:lpstr>BLS</vt:lpstr>
      <vt:lpstr>BLS Bold</vt:lpstr>
      <vt:lpstr>BLS Condensed</vt:lpstr>
      <vt:lpstr>BLS Condensed </vt:lpstr>
      <vt:lpstr>BLS Condensed Bold</vt:lpstr>
      <vt:lpstr>BLS Text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sfsdfds</dc:title>
  <dc:creator>Nuttimas Akarapanuvitaya</dc:creator>
  <cp:lastModifiedBy>Piriyapon Kongvanich</cp:lastModifiedBy>
  <cp:revision>4926</cp:revision>
  <cp:lastPrinted>2024-11-19T12:54:25Z</cp:lastPrinted>
  <dcterms:created xsi:type="dcterms:W3CDTF">2019-01-16T11:18:39Z</dcterms:created>
  <dcterms:modified xsi:type="dcterms:W3CDTF">2026-04-26T13:44:21Z</dcterms:modified>
</cp:coreProperties>
</file>