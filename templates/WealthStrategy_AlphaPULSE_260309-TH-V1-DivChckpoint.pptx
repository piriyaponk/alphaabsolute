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
  </p:notesMasterIdLst>
  <p:sldIdLst>
    <p:sldId id="410" r:id="rId2"/>
    <p:sldId id="353" r:id="rId3"/>
    <p:sldId id="354" r:id="rId4"/>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0"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CC"/>
    <a:srgbClr val="A17D3D"/>
    <a:srgbClr val="F2F2F2"/>
    <a:srgbClr val="AC1D3F"/>
    <a:srgbClr val="1C3765"/>
    <a:srgbClr val="A6A6A6"/>
    <a:srgbClr val="215968"/>
    <a:srgbClr val="162A4C"/>
    <a:srgbClr val="2D7A8F"/>
    <a:srgbClr val="358DA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14" autoAdjust="0"/>
    <p:restoredTop sz="91755" autoAdjust="0"/>
  </p:normalViewPr>
  <p:slideViewPr>
    <p:cSldViewPr>
      <p:cViewPr>
        <p:scale>
          <a:sx n="125" d="100"/>
          <a:sy n="125" d="100"/>
        </p:scale>
        <p:origin x="498" y="-1194"/>
      </p:cViewPr>
      <p:guideLst>
        <p:guide orient="horz" pos="5420"/>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08-Mar-26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08-Mar-26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08-Mar-26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08-Mar-26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08-Mar-26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08-Mar-26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08-Mar-26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08-Mar-26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08-Mar-26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08-Mar-26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08-Mar-26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08-Mar-26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08-Mar-26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emf"/><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March </a:t>
            </a:r>
            <a:r>
              <a:rPr lang="th-TH" sz="1000" b="1" dirty="0">
                <a:solidFill>
                  <a:schemeClr val="tx2"/>
                </a:solidFill>
                <a:latin typeface="BLS Bold" panose="00000800000000000000" pitchFamily="50" charset="-34"/>
                <a:cs typeface="BLS Bold" panose="00000800000000000000" pitchFamily="50" charset="-34"/>
              </a:rPr>
              <a:t>9</a:t>
            </a:r>
            <a:r>
              <a:rPr lang="en-US" sz="1000" b="1" dirty="0">
                <a:solidFill>
                  <a:schemeClr val="tx2"/>
                </a:solidFill>
                <a:latin typeface="BLS Bold" panose="00000800000000000000" pitchFamily="50" charset="-34"/>
                <a:cs typeface="BLS Bold" panose="00000800000000000000" pitchFamily="50" charset="-34"/>
              </a:rPr>
              <a:t>,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7" y="1450975"/>
            <a:ext cx="5842693" cy="353943"/>
          </a:xfrm>
          <a:prstGeom prst="rect">
            <a:avLst/>
          </a:prstGeom>
          <a:noFill/>
          <a:ln>
            <a:noFill/>
          </a:ln>
        </p:spPr>
        <p:txBody>
          <a:bodyPr wrap="square" rtlCol="0">
            <a:spAutoFit/>
          </a:bodyPr>
          <a:lstStyle/>
          <a:p>
            <a:r>
              <a:rPr lang="en-US" altLang="en-US" sz="1700" b="1" dirty="0">
                <a:solidFill>
                  <a:schemeClr val="tx2"/>
                </a:solidFill>
                <a:latin typeface="BLS Condensed" pitchFamily="2" charset="-34"/>
                <a:ea typeface="Tahoma" pitchFamily="34" charset="0"/>
                <a:cs typeface="BLS Condensed" pitchFamily="2" charset="-34"/>
              </a:rPr>
              <a:t>Dividend Checkpoint |</a:t>
            </a:r>
            <a:r>
              <a:rPr lang="th-TH" altLang="en-US" sz="1700" b="1" dirty="0">
                <a:solidFill>
                  <a:schemeClr val="tx2"/>
                </a:solidFill>
                <a:latin typeface="BLS Condensed" pitchFamily="2" charset="-34"/>
                <a:ea typeface="Tahoma" pitchFamily="34" charset="0"/>
                <a:cs typeface="BLS Condensed" pitchFamily="2" charset="-34"/>
              </a:rPr>
              <a:t> โอกาสสะสมหุ้นปันผลในช่วงตลาดปรับฐาน</a:t>
            </a:r>
            <a:endParaRPr lang="en-US" altLang="en-US" sz="1700" b="1" dirty="0">
              <a:solidFill>
                <a:schemeClr val="tx2"/>
              </a:solidFill>
              <a:latin typeface="BLS Condensed" pitchFamily="2" charset="-34"/>
              <a:ea typeface="Tahoma" pitchFamily="34" charset="0"/>
              <a:cs typeface="BLS Condensed" pitchFamily="2" charset="-34"/>
            </a:endParaRP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7903239"/>
            <a:ext cx="2471462" cy="969496"/>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300" dirty="0">
              <a:solidFill>
                <a:schemeClr val="accent5">
                  <a:lumMod val="75000"/>
                </a:schemeClr>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7851412"/>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a:t>
            </a:r>
            <a:r>
              <a:rPr lang="th-TH" sz="1000" b="1" dirty="0">
                <a:solidFill>
                  <a:schemeClr val="tx2"/>
                </a:solidFill>
                <a:latin typeface="BLS Bold" panose="00000800000000000000" pitchFamily="2" charset="-34"/>
                <a:cs typeface="BLS Bold" panose="00000800000000000000" pitchFamily="2" charset="-34"/>
              </a:rPr>
              <a:t>5</a:t>
            </a:r>
            <a:r>
              <a:rPr lang="en-US" sz="1000" b="1" dirty="0">
                <a:solidFill>
                  <a:schemeClr val="tx2"/>
                </a:solidFill>
                <a:latin typeface="BLS Bold" panose="00000800000000000000" pitchFamily="2" charset="-34"/>
                <a:cs typeface="BLS Bold" panose="00000800000000000000" pitchFamily="2" charset="-34"/>
              </a:rPr>
              <a:t>60 </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10892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 </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263527"/>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600"/>
              </a:spcBef>
              <a:buSzPct val="120000"/>
            </a:pPr>
            <a:r>
              <a:rPr lang="th-TH" sz="950" b="1" dirty="0">
                <a:solidFill>
                  <a:schemeClr val="tx1">
                    <a:lumMod val="65000"/>
                    <a:lumOff val="35000"/>
                  </a:schemeClr>
                </a:solidFill>
                <a:latin typeface="BLS Text" panose="00000500000000000000" pitchFamily="2" charset="-34"/>
                <a:cs typeface="BLS Text" pitchFamily="2" charset="-34"/>
              </a:rPr>
              <a:t>ความกังวลภาวะสงคราม กดดันตลาดหุ้นปรับฐาน = โอกาสหุ้นปันผล</a:t>
            </a:r>
            <a:r>
              <a:rPr lang="en-US" sz="950" b="1" dirty="0">
                <a:solidFill>
                  <a:schemeClr val="tx1">
                    <a:lumMod val="65000"/>
                    <a:lumOff val="35000"/>
                  </a:schemeClr>
                </a:solidFill>
                <a:latin typeface="BLS Text" panose="00000500000000000000" pitchFamily="2" charset="-34"/>
                <a:cs typeface="BLS Text" pitchFamily="2" charset="-34"/>
              </a:rPr>
              <a:t>:</a:t>
            </a:r>
            <a:r>
              <a:rPr lang="th-TH" sz="950" b="1" dirty="0">
                <a:solidFill>
                  <a:schemeClr val="tx1">
                    <a:lumMod val="65000"/>
                    <a:lumOff val="35000"/>
                  </a:schemeClr>
                </a:solidFill>
                <a:latin typeface="BLS Text" panose="00000500000000000000" pitchFamily="2" charset="-34"/>
                <a:cs typeface="BLS Text" pitchFamily="2" charset="-34"/>
              </a:rPr>
              <a:t> </a:t>
            </a:r>
            <a:r>
              <a:rPr lang="th-TH" sz="950" dirty="0">
                <a:solidFill>
                  <a:schemeClr val="tx1">
                    <a:lumMod val="65000"/>
                    <a:lumOff val="35000"/>
                  </a:schemeClr>
                </a:solidFill>
                <a:latin typeface="BLS Text" panose="00000500000000000000" pitchFamily="2" charset="-34"/>
                <a:cs typeface="BLS Text" pitchFamily="2" charset="-34"/>
              </a:rPr>
              <a:t>ความกังวลต่อความตึงเครียดทางภูมิรัฐศาสตร์ระหว่างอิหร่าน–สหรัฐฯ ได้กดดันให้ตลาดหุ้นไทยปรับฐานแรงราว</a:t>
            </a:r>
            <a:r>
              <a:rPr lang="en-US" sz="950" dirty="0">
                <a:solidFill>
                  <a:schemeClr val="tx1">
                    <a:lumMod val="65000"/>
                    <a:lumOff val="35000"/>
                  </a:schemeClr>
                </a:solidFill>
                <a:latin typeface="BLS Text" panose="00000500000000000000" pitchFamily="2" charset="-34"/>
                <a:cs typeface="BLS Text" pitchFamily="2" charset="-34"/>
              </a:rPr>
              <a:t> 8% </a:t>
            </a:r>
            <a:r>
              <a:rPr lang="th-TH" sz="950" dirty="0">
                <a:solidFill>
                  <a:schemeClr val="tx1">
                    <a:lumMod val="65000"/>
                    <a:lumOff val="35000"/>
                  </a:schemeClr>
                </a:solidFill>
                <a:latin typeface="BLS Text" panose="00000500000000000000" pitchFamily="2" charset="-34"/>
                <a:cs typeface="BLS Text" pitchFamily="2" charset="-34"/>
              </a:rPr>
              <a:t>จากปลายเดือนกุมภาพันธ์ที่ผ่านมา สะท้อนภาวะลดความเสี่ยงของนักลงทุน (</a:t>
            </a:r>
            <a:r>
              <a:rPr lang="en-US" sz="950" dirty="0">
                <a:solidFill>
                  <a:schemeClr val="tx1">
                    <a:lumMod val="65000"/>
                    <a:lumOff val="35000"/>
                  </a:schemeClr>
                </a:solidFill>
                <a:latin typeface="BLS Text" panose="00000500000000000000" pitchFamily="2" charset="-34"/>
                <a:cs typeface="BLS Text" pitchFamily="2" charset="-34"/>
              </a:rPr>
              <a:t>risk-off sentiment) </a:t>
            </a:r>
            <a:r>
              <a:rPr lang="th-TH" sz="950" dirty="0">
                <a:solidFill>
                  <a:schemeClr val="tx1">
                    <a:lumMod val="65000"/>
                    <a:lumOff val="35000"/>
                  </a:schemeClr>
                </a:solidFill>
                <a:latin typeface="BLS Text" panose="00000500000000000000" pitchFamily="2" charset="-34"/>
                <a:cs typeface="BLS Text" pitchFamily="2" charset="-34"/>
              </a:rPr>
              <a:t>ในระยะสั้น อย่างไรก็ตาม การปรับตัวลงของราคาหุ้นกลับเปิด “</a:t>
            </a:r>
            <a:r>
              <a:rPr lang="en-US" sz="950" dirty="0">
                <a:solidFill>
                  <a:schemeClr val="tx1">
                    <a:lumMod val="65000"/>
                    <a:lumOff val="35000"/>
                  </a:schemeClr>
                </a:solidFill>
                <a:latin typeface="BLS Text" panose="00000500000000000000" pitchFamily="2" charset="-34"/>
                <a:cs typeface="BLS Text" pitchFamily="2" charset="-34"/>
              </a:rPr>
              <a:t>Dividend Checkpoint” </a:t>
            </a:r>
            <a:r>
              <a:rPr lang="th-TH" sz="950" dirty="0">
                <a:solidFill>
                  <a:schemeClr val="tx1">
                    <a:lumMod val="65000"/>
                    <a:lumOff val="35000"/>
                  </a:schemeClr>
                </a:solidFill>
                <a:latin typeface="BLS Text" panose="00000500000000000000" pitchFamily="2" charset="-34"/>
                <a:cs typeface="BLS Text" pitchFamily="2" charset="-34"/>
              </a:rPr>
              <a:t>อีกครั้ง หลัง อัตราเงินปันผลคาดการณ์ (</a:t>
            </a:r>
            <a:r>
              <a:rPr lang="en-US" sz="950" dirty="0">
                <a:solidFill>
                  <a:schemeClr val="tx1">
                    <a:lumMod val="65000"/>
                    <a:lumOff val="35000"/>
                  </a:schemeClr>
                </a:solidFill>
                <a:latin typeface="BLS Text" panose="00000500000000000000" pitchFamily="2" charset="-34"/>
                <a:cs typeface="BLS Text" pitchFamily="2" charset="-34"/>
              </a:rPr>
              <a:t>dividend yield) </a:t>
            </a:r>
            <a:r>
              <a:rPr lang="th-TH" sz="950" dirty="0">
                <a:solidFill>
                  <a:schemeClr val="tx1">
                    <a:lumMod val="65000"/>
                    <a:lumOff val="35000"/>
                  </a:schemeClr>
                </a:solidFill>
                <a:latin typeface="BLS Text" panose="00000500000000000000" pitchFamily="2" charset="-34"/>
                <a:cs typeface="BLS Text" pitchFamily="2" charset="-34"/>
              </a:rPr>
              <a:t>ปี 2026 ของ </a:t>
            </a:r>
            <a:r>
              <a:rPr lang="en-US" sz="950" dirty="0">
                <a:solidFill>
                  <a:schemeClr val="tx1">
                    <a:lumMod val="65000"/>
                    <a:lumOff val="35000"/>
                  </a:schemeClr>
                </a:solidFill>
                <a:latin typeface="BLS Text" panose="00000500000000000000" pitchFamily="2" charset="-34"/>
                <a:cs typeface="BLS Text" pitchFamily="2" charset="-34"/>
              </a:rPr>
              <a:t>SET </a:t>
            </a:r>
            <a:r>
              <a:rPr lang="th-TH" sz="950" dirty="0">
                <a:solidFill>
                  <a:schemeClr val="tx1">
                    <a:lumMod val="65000"/>
                    <a:lumOff val="35000"/>
                  </a:schemeClr>
                </a:solidFill>
                <a:latin typeface="BLS Text" panose="00000500000000000000" pitchFamily="2" charset="-34"/>
                <a:cs typeface="BLS Text" pitchFamily="2" charset="-34"/>
              </a:rPr>
              <a:t>ยังอยู่ในระดับสูงที่ 3.9% ขณะที่ดัชนีหุ้นปันผลสูง </a:t>
            </a:r>
            <a:r>
              <a:rPr lang="en-US" sz="950" dirty="0">
                <a:solidFill>
                  <a:schemeClr val="tx1">
                    <a:lumMod val="65000"/>
                    <a:lumOff val="35000"/>
                  </a:schemeClr>
                </a:solidFill>
                <a:latin typeface="BLS Text" panose="00000500000000000000" pitchFamily="2" charset="-34"/>
                <a:cs typeface="BLS Text" pitchFamily="2" charset="-34"/>
              </a:rPr>
              <a:t>SETHD </a:t>
            </a:r>
            <a:r>
              <a:rPr lang="th-TH" sz="950" dirty="0">
                <a:solidFill>
                  <a:schemeClr val="tx1">
                    <a:lumMod val="65000"/>
                    <a:lumOff val="35000"/>
                  </a:schemeClr>
                </a:solidFill>
                <a:latin typeface="BLS Text" panose="00000500000000000000" pitchFamily="2" charset="-34"/>
                <a:cs typeface="BLS Text" pitchFamily="2" charset="-34"/>
              </a:rPr>
              <a:t>อยู่ที่ 6.1% ซึ่งใกล้เคียงระดับในช่วงวิกฤตโควิด สะท้อนความน่าสนใจของหุ้นที่ให้กระแสเงินสดสม่ำเสมอ โดยอุตสาหกรรมที่มี อัตราเงินปันผลสูง (</a:t>
            </a:r>
            <a:r>
              <a:rPr lang="en-US" sz="950" dirty="0">
                <a:solidFill>
                  <a:schemeClr val="tx1">
                    <a:lumMod val="65000"/>
                    <a:lumOff val="35000"/>
                  </a:schemeClr>
                </a:solidFill>
                <a:latin typeface="BLS Text" panose="00000500000000000000" pitchFamily="2" charset="-34"/>
                <a:cs typeface="BLS Text" pitchFamily="2" charset="-34"/>
              </a:rPr>
              <a:t>high dividend yield) </a:t>
            </a:r>
            <a:r>
              <a:rPr lang="th-TH" sz="950" dirty="0">
                <a:solidFill>
                  <a:schemeClr val="tx1">
                    <a:lumMod val="65000"/>
                    <a:lumOff val="35000"/>
                  </a:schemeClr>
                </a:solidFill>
                <a:latin typeface="BLS Text" panose="00000500000000000000" pitchFamily="2" charset="-34"/>
                <a:cs typeface="BLS Text" pitchFamily="2" charset="-34"/>
              </a:rPr>
              <a:t>ได้แก่ ธนาคาร 6.1%, อาหาร 5.8%, อสังหาริมทรัพย์ 5.0%, พลังงาน 4.7% และสื่อสาร 4.6%</a:t>
            </a:r>
          </a:p>
          <a:p>
            <a:pPr algn="thaiDist">
              <a:lnSpc>
                <a:spcPct val="120000"/>
              </a:lnSpc>
              <a:spcBef>
                <a:spcPts val="600"/>
              </a:spcBef>
              <a:buSzPct val="120000"/>
            </a:pPr>
            <a:r>
              <a:rPr lang="th-TH" sz="950" b="1" dirty="0">
                <a:solidFill>
                  <a:schemeClr val="tx1">
                    <a:lumMod val="65000"/>
                    <a:lumOff val="35000"/>
                  </a:schemeClr>
                </a:solidFill>
                <a:latin typeface="BLS Text" panose="00000500000000000000" pitchFamily="2" charset="-34"/>
                <a:cs typeface="BLS Text" pitchFamily="2" charset="-34"/>
              </a:rPr>
              <a:t>คาดความผันผวนยังดำเนินต่อ จนกว่าความเสี่ยงทางภูมิรัฐศาสตร์จะเริ่มคลี่คลาย</a:t>
            </a:r>
            <a:r>
              <a:rPr lang="en-US" sz="950" b="1" dirty="0">
                <a:solidFill>
                  <a:schemeClr val="tx1">
                    <a:lumMod val="65000"/>
                    <a:lumOff val="35000"/>
                  </a:schemeClr>
                </a:solidFill>
                <a:latin typeface="BLS Text" panose="00000500000000000000" pitchFamily="2" charset="-34"/>
                <a:cs typeface="BLS Text" pitchFamily="2" charset="-34"/>
              </a:rPr>
              <a:t>:</a:t>
            </a:r>
            <a:r>
              <a:rPr lang="th-TH" sz="950" b="1" dirty="0">
                <a:solidFill>
                  <a:schemeClr val="tx1">
                    <a:lumMod val="65000"/>
                    <a:lumOff val="35000"/>
                  </a:schemeClr>
                </a:solidFill>
                <a:latin typeface="BLS Text" panose="00000500000000000000" pitchFamily="2" charset="-34"/>
                <a:cs typeface="BLS Text" pitchFamily="2" charset="-34"/>
              </a:rPr>
              <a:t> </a:t>
            </a:r>
            <a:r>
              <a:rPr lang="th-TH" sz="950" dirty="0">
                <a:solidFill>
                  <a:schemeClr val="tx1">
                    <a:lumMod val="65000"/>
                    <a:lumOff val="35000"/>
                  </a:schemeClr>
                </a:solidFill>
                <a:latin typeface="BLS Text" panose="00000500000000000000" pitchFamily="2" charset="-34"/>
                <a:cs typeface="BLS Text" pitchFamily="2" charset="-34"/>
              </a:rPr>
              <a:t>ในอดีต ตลาดหุ้นมักเริ่มฟื้นตัวเมื่อ ความไม่แน่นอนของสงครามเริ่มคลี่คลาย (</a:t>
            </a:r>
            <a:r>
              <a:rPr lang="en-US" sz="950" dirty="0">
                <a:solidFill>
                  <a:schemeClr val="tx1">
                    <a:lumMod val="65000"/>
                    <a:lumOff val="35000"/>
                  </a:schemeClr>
                </a:solidFill>
                <a:latin typeface="BLS Text" panose="00000500000000000000" pitchFamily="2" charset="-34"/>
                <a:cs typeface="BLS Text" pitchFamily="2" charset="-34"/>
              </a:rPr>
              <a:t>war uncertainty fades) </a:t>
            </a:r>
            <a:r>
              <a:rPr lang="th-TH" sz="950" dirty="0">
                <a:solidFill>
                  <a:schemeClr val="tx1">
                    <a:lumMod val="65000"/>
                    <a:lumOff val="35000"/>
                  </a:schemeClr>
                </a:solidFill>
                <a:latin typeface="BLS Text" panose="00000500000000000000" pitchFamily="2" charset="-34"/>
                <a:cs typeface="BLS Text" pitchFamily="2" charset="-34"/>
              </a:rPr>
              <a:t>ซึ่งโดยทั่วไปมักเกิดได้ 2 ลักษณะหลัก ได้แก่ 1) การเริ่มต้นกระบวนการเจรจา (</a:t>
            </a:r>
            <a:r>
              <a:rPr lang="en-US" sz="950" dirty="0">
                <a:solidFill>
                  <a:schemeClr val="tx1">
                    <a:lumMod val="65000"/>
                    <a:lumOff val="35000"/>
                  </a:schemeClr>
                </a:solidFill>
                <a:latin typeface="BLS Text" panose="00000500000000000000" pitchFamily="2" charset="-34"/>
                <a:cs typeface="BLS Text" pitchFamily="2" charset="-34"/>
              </a:rPr>
              <a:t>negotiation signal) </a:t>
            </a:r>
            <a:r>
              <a:rPr lang="th-TH" sz="950" dirty="0">
                <a:solidFill>
                  <a:schemeClr val="tx1">
                    <a:lumMod val="65000"/>
                    <a:lumOff val="35000"/>
                  </a:schemeClr>
                </a:solidFill>
                <a:latin typeface="BLS Text" panose="00000500000000000000" pitchFamily="2" charset="-34"/>
                <a:cs typeface="BLS Text" pitchFamily="2" charset="-34"/>
              </a:rPr>
              <a:t>หรือ 2) การเห็นทิศทางของผู้ชนะในสนามรบอย่างชัดเจน (</a:t>
            </a:r>
            <a:r>
              <a:rPr lang="en-US" sz="950" dirty="0">
                <a:solidFill>
                  <a:schemeClr val="tx1">
                    <a:lumMod val="65000"/>
                    <a:lumOff val="35000"/>
                  </a:schemeClr>
                </a:solidFill>
                <a:latin typeface="BLS Text" panose="00000500000000000000" pitchFamily="2" charset="-34"/>
                <a:cs typeface="BLS Text" pitchFamily="2" charset="-34"/>
              </a:rPr>
              <a:t>clear military turning point) </a:t>
            </a:r>
            <a:r>
              <a:rPr lang="th-TH" sz="950" dirty="0">
                <a:solidFill>
                  <a:schemeClr val="tx1">
                    <a:lumMod val="65000"/>
                    <a:lumOff val="35000"/>
                  </a:schemeClr>
                </a:solidFill>
                <a:latin typeface="BLS Text" panose="00000500000000000000" pitchFamily="2" charset="-34"/>
                <a:cs typeface="BLS Text" pitchFamily="2" charset="-34"/>
              </a:rPr>
              <a:t>ซึ่งทำให้ตลาดสามารถประเมินผลกระทบทางเศรษฐกิจได้ชัดขึ้นตัวอย่างที่ชัดเจนคือ สงครามอ่าวเปอร์เซีย (</a:t>
            </a:r>
            <a:r>
              <a:rPr lang="en-US" sz="950" dirty="0">
                <a:solidFill>
                  <a:schemeClr val="tx1">
                    <a:lumMod val="65000"/>
                    <a:lumOff val="35000"/>
                  </a:schemeClr>
                </a:solidFill>
                <a:latin typeface="BLS Text" panose="00000500000000000000" pitchFamily="2" charset="-34"/>
                <a:cs typeface="BLS Text" pitchFamily="2" charset="-34"/>
              </a:rPr>
              <a:t>Gulf War, 1991)</a:t>
            </a:r>
            <a:r>
              <a:rPr lang="th-TH" sz="950" dirty="0">
                <a:solidFill>
                  <a:schemeClr val="tx1">
                    <a:lumMod val="65000"/>
                    <a:lumOff val="35000"/>
                  </a:schemeClr>
                </a:solidFill>
                <a:latin typeface="BLS Text" panose="00000500000000000000" pitchFamily="2" charset="-34"/>
                <a:cs typeface="BLS Text" pitchFamily="2" charset="-34"/>
              </a:rPr>
              <a:t> ซึ่งตลาดหุ้นโลกเริ่มฟื้นตัวในช่วงที่ กองกำลังสหรัฐฯ เปิดปฏิบัติการภาคพื้นดินและสามารถยึดพื้นที่สำคัญของอิรักได้ ส่งสัญญาณว่าความขัดแย้งกำลังเข้าสู่ช่วงท้ายของวัฏจักรสงคราม ส่งผลให้ความเสี่ยงเชิงภูมิรัฐศาสตร์เริ่มลดลง และตลาดหุ้นปรับตัวขึ้นก่อนที่สงครามจะยุติอย่างเป็นทางการสำหรับสถานการณ์ปัจจุบัน เรามองว่า รูปแบบการตอบสนองของตลาดอาจมีลักษณะคล้ายกัน กล่าวคือ ตลาดจะเริ่มกลับมาฟื้นตัวเมื่อเริ่มเห็น สัญญาณการคลี่คลายของสงคราม (</a:t>
            </a:r>
            <a:r>
              <a:rPr lang="en-US" sz="950" dirty="0">
                <a:solidFill>
                  <a:schemeClr val="tx1">
                    <a:lumMod val="65000"/>
                    <a:lumOff val="35000"/>
                  </a:schemeClr>
                </a:solidFill>
                <a:latin typeface="BLS Text" panose="00000500000000000000" pitchFamily="2" charset="-34"/>
                <a:cs typeface="BLS Text" pitchFamily="2" charset="-34"/>
              </a:rPr>
              <a:t>de-escalation signal) </a:t>
            </a:r>
            <a:r>
              <a:rPr lang="th-TH" sz="950" dirty="0">
                <a:solidFill>
                  <a:schemeClr val="tx1">
                    <a:lumMod val="65000"/>
                    <a:lumOff val="35000"/>
                  </a:schemeClr>
                </a:solidFill>
                <a:latin typeface="BLS Text" panose="00000500000000000000" pitchFamily="2" charset="-34"/>
                <a:cs typeface="BLS Text" pitchFamily="2" charset="-34"/>
              </a:rPr>
              <a:t>ไม่ว่าจะผ่านการเจรจาหรือการเห็นจุดเปลี่ยนในสนามรบ</a:t>
            </a:r>
          </a:p>
          <a:p>
            <a:pPr algn="thaiDist">
              <a:lnSpc>
                <a:spcPct val="120000"/>
              </a:lnSpc>
              <a:spcBef>
                <a:spcPts val="600"/>
              </a:spcBef>
              <a:buSzPct val="120000"/>
            </a:pPr>
            <a:r>
              <a:rPr lang="th-TH" sz="950" b="1" dirty="0">
                <a:solidFill>
                  <a:schemeClr val="tx1">
                    <a:lumMod val="65000"/>
                    <a:lumOff val="35000"/>
                  </a:schemeClr>
                </a:solidFill>
                <a:latin typeface="BLS Text" panose="00000500000000000000" pitchFamily="2" charset="-34"/>
                <a:cs typeface="BLS Text" pitchFamily="2" charset="-34"/>
              </a:rPr>
              <a:t>โอกาสสะสมหุ้นปันผลสูง-มีปัจจัยหนุนการฟื้นตัว-ปรับฐานไม่รุนแรงเทียบ </a:t>
            </a:r>
            <a:r>
              <a:rPr lang="en-US" sz="950" b="1" dirty="0">
                <a:solidFill>
                  <a:schemeClr val="tx1">
                    <a:lumMod val="65000"/>
                    <a:lumOff val="35000"/>
                  </a:schemeClr>
                </a:solidFill>
                <a:latin typeface="BLS Text" panose="00000500000000000000" pitchFamily="2" charset="-34"/>
                <a:cs typeface="BLS Text" pitchFamily="2" charset="-34"/>
              </a:rPr>
              <a:t>SET</a:t>
            </a:r>
            <a:r>
              <a:rPr lang="th-TH" sz="950" b="1" dirty="0">
                <a:solidFill>
                  <a:schemeClr val="tx1">
                    <a:lumMod val="65000"/>
                    <a:lumOff val="35000"/>
                  </a:schemeClr>
                </a:solidFill>
                <a:latin typeface="BLS Text" panose="00000500000000000000" pitchFamily="2" charset="-34"/>
                <a:cs typeface="BLS Text" pitchFamily="2" charset="-34"/>
              </a:rPr>
              <a:t> แม้เผชิญภาวะสงคราม</a:t>
            </a:r>
            <a:r>
              <a:rPr lang="en-US" sz="950" b="1" dirty="0">
                <a:solidFill>
                  <a:schemeClr val="tx1">
                    <a:lumMod val="65000"/>
                    <a:lumOff val="35000"/>
                  </a:schemeClr>
                </a:solidFill>
                <a:latin typeface="BLS Text" panose="00000500000000000000" pitchFamily="2" charset="-34"/>
                <a:cs typeface="BLS Text" pitchFamily="2" charset="-34"/>
              </a:rPr>
              <a:t>:</a:t>
            </a:r>
            <a:r>
              <a:rPr lang="th-TH" sz="950" b="1" dirty="0">
                <a:solidFill>
                  <a:schemeClr val="tx1">
                    <a:lumMod val="65000"/>
                    <a:lumOff val="35000"/>
                  </a:schemeClr>
                </a:solidFill>
                <a:latin typeface="BLS Text" panose="00000500000000000000" pitchFamily="2" charset="-34"/>
                <a:cs typeface="BLS Text" pitchFamily="2" charset="-34"/>
              </a:rPr>
              <a:t> </a:t>
            </a:r>
            <a:r>
              <a:rPr lang="th-TH" sz="950" dirty="0">
                <a:solidFill>
                  <a:schemeClr val="tx1">
                    <a:lumMod val="65000"/>
                    <a:lumOff val="35000"/>
                  </a:schemeClr>
                </a:solidFill>
                <a:latin typeface="BLS Text" panose="00000500000000000000" pitchFamily="2" charset="-34"/>
                <a:cs typeface="BLS Text" pitchFamily="2" charset="-34"/>
              </a:rPr>
              <a:t>ในระยะสั้น เรามองว่าสถานการณ์สงครามยังอาจทำให้ ตลาดหุ้นผันผวนสูงต่อเนื่อง ภาวะดังกล่าวเปิดโอกาสเชิงกลยุทธ์ในการ ทยอยสะสมหุ้นปันผลสูง ที่การปรับตัวลงของราคา (</a:t>
            </a:r>
            <a:r>
              <a:rPr lang="en-US" sz="950" dirty="0">
                <a:solidFill>
                  <a:schemeClr val="tx1">
                    <a:lumMod val="65000"/>
                    <a:lumOff val="35000"/>
                  </a:schemeClr>
                </a:solidFill>
                <a:latin typeface="BLS Text" panose="00000500000000000000" pitchFamily="2" charset="-34"/>
                <a:cs typeface="BLS Text" pitchFamily="2" charset="-34"/>
              </a:rPr>
              <a:t>drawdown) </a:t>
            </a:r>
            <a:r>
              <a:rPr lang="th-TH" sz="950" dirty="0">
                <a:solidFill>
                  <a:schemeClr val="tx1">
                    <a:lumMod val="65000"/>
                    <a:lumOff val="35000"/>
                  </a:schemeClr>
                </a:solidFill>
                <a:latin typeface="BLS Text" panose="00000500000000000000" pitchFamily="2" charset="-34"/>
                <a:cs typeface="BLS Text" pitchFamily="2" charset="-34"/>
              </a:rPr>
              <a:t>ไม่รุนแรงเทียบดัชนี </a:t>
            </a:r>
            <a:r>
              <a:rPr lang="en-US" sz="950" dirty="0">
                <a:solidFill>
                  <a:schemeClr val="tx1">
                    <a:lumMod val="65000"/>
                    <a:lumOff val="35000"/>
                  </a:schemeClr>
                </a:solidFill>
                <a:latin typeface="BLS Text" panose="00000500000000000000" pitchFamily="2" charset="-34"/>
                <a:cs typeface="BLS Text" pitchFamily="2" charset="-34"/>
              </a:rPr>
              <a:t>SET </a:t>
            </a:r>
            <a:r>
              <a:rPr lang="th-TH" sz="950" dirty="0">
                <a:solidFill>
                  <a:schemeClr val="tx1">
                    <a:lumMod val="65000"/>
                    <a:lumOff val="35000"/>
                  </a:schemeClr>
                </a:solidFill>
                <a:latin typeface="BLS Text" panose="00000500000000000000" pitchFamily="2" charset="-34"/>
                <a:cs typeface="BLS Text" pitchFamily="2" charset="-34"/>
              </a:rPr>
              <a:t>แม้ในช่วงที่ตลาดเผชิญแรงขายจากความกลัวสงคราม กำลังเข้าสู่รอบการจ่ายเงินปันผลในช่วง 1–3 เดือนข้างหน้า (ก่อนขึ้นเครื่องหมาย </a:t>
            </a:r>
            <a:r>
              <a:rPr lang="en-US" sz="950" dirty="0">
                <a:solidFill>
                  <a:schemeClr val="tx1">
                    <a:lumMod val="65000"/>
                    <a:lumOff val="35000"/>
                  </a:schemeClr>
                </a:solidFill>
                <a:latin typeface="BLS Text" panose="00000500000000000000" pitchFamily="2" charset="-34"/>
                <a:cs typeface="BLS Text" pitchFamily="2" charset="-34"/>
              </a:rPr>
              <a:t>XD)</a:t>
            </a:r>
            <a:r>
              <a:rPr lang="th-TH" sz="950" dirty="0">
                <a:solidFill>
                  <a:schemeClr val="tx1">
                    <a:lumMod val="65000"/>
                    <a:lumOff val="35000"/>
                  </a:schemeClr>
                </a:solidFill>
                <a:latin typeface="BLS Text" panose="00000500000000000000" pitchFamily="2" charset="-34"/>
                <a:cs typeface="BLS Text" pitchFamily="2" charset="-34"/>
              </a:rPr>
              <a:t> ความเสี่ยงผลกระทบจากสงครามจำกัด และคาดฟื้นตัวเร็วหลังสงครามคลี่คลาย เช่น </a:t>
            </a:r>
            <a:r>
              <a:rPr lang="en-US" sz="950" dirty="0">
                <a:solidFill>
                  <a:schemeClr val="tx1">
                    <a:lumMod val="65000"/>
                    <a:lumOff val="35000"/>
                  </a:schemeClr>
                </a:solidFill>
                <a:latin typeface="BLS Text" panose="00000500000000000000" pitchFamily="2" charset="-34"/>
                <a:cs typeface="BLS Text" pitchFamily="2" charset="-34"/>
              </a:rPr>
              <a:t>COM7</a:t>
            </a:r>
            <a:r>
              <a:rPr lang="th-TH" sz="950" dirty="0">
                <a:solidFill>
                  <a:schemeClr val="tx1">
                    <a:lumMod val="65000"/>
                    <a:lumOff val="35000"/>
                  </a:schemeClr>
                </a:solidFill>
                <a:latin typeface="BLS Text" panose="00000500000000000000" pitchFamily="2" charset="-34"/>
                <a:cs typeface="BLS Text" pitchFamily="2" charset="-34"/>
              </a:rPr>
              <a:t> </a:t>
            </a:r>
            <a:r>
              <a:rPr lang="en-US" sz="950" dirty="0">
                <a:solidFill>
                  <a:schemeClr val="tx1">
                    <a:lumMod val="65000"/>
                    <a:lumOff val="35000"/>
                  </a:schemeClr>
                </a:solidFill>
                <a:latin typeface="BLS Text" panose="00000500000000000000" pitchFamily="2" charset="-34"/>
                <a:cs typeface="BLS Text" pitchFamily="2" charset="-34"/>
              </a:rPr>
              <a:t>(</a:t>
            </a:r>
            <a:r>
              <a:rPr lang="th-TH" sz="950" dirty="0">
                <a:solidFill>
                  <a:schemeClr val="tx1">
                    <a:lumMod val="65000"/>
                    <a:lumOff val="35000"/>
                  </a:schemeClr>
                </a:solidFill>
                <a:latin typeface="BLS Text" panose="00000500000000000000" pitchFamily="2" charset="-34"/>
                <a:cs typeface="BLS Text" pitchFamily="2" charset="-34"/>
              </a:rPr>
              <a:t>ปันผลต่อหุ้น </a:t>
            </a:r>
            <a:r>
              <a:rPr lang="en-US" sz="950" dirty="0">
                <a:solidFill>
                  <a:schemeClr val="tx1">
                    <a:lumMod val="65000"/>
                    <a:lumOff val="35000"/>
                  </a:schemeClr>
                </a:solidFill>
                <a:latin typeface="BLS Text" panose="00000500000000000000" pitchFamily="2" charset="-34"/>
                <a:cs typeface="BLS Text" pitchFamily="2" charset="-34"/>
              </a:rPr>
              <a:t>1.1</a:t>
            </a:r>
            <a:r>
              <a:rPr lang="th-TH" sz="950" dirty="0">
                <a:solidFill>
                  <a:schemeClr val="tx1">
                    <a:lumMod val="65000"/>
                    <a:lumOff val="35000"/>
                  </a:schemeClr>
                </a:solidFill>
                <a:latin typeface="BLS Text" panose="00000500000000000000" pitchFamily="2" charset="-34"/>
                <a:cs typeface="BLS Text" pitchFamily="2" charset="-34"/>
              </a:rPr>
              <a:t> บาท/ อัตราผลตอบแทนเงินปันผล </a:t>
            </a:r>
            <a:r>
              <a:rPr lang="en-US" sz="950" dirty="0">
                <a:solidFill>
                  <a:schemeClr val="tx1">
                    <a:lumMod val="65000"/>
                    <a:lumOff val="35000"/>
                  </a:schemeClr>
                </a:solidFill>
                <a:latin typeface="BLS Text" panose="00000500000000000000" pitchFamily="2" charset="-34"/>
                <a:cs typeface="BLS Text" pitchFamily="2" charset="-34"/>
              </a:rPr>
              <a:t>5%), ADVICE (0.</a:t>
            </a:r>
            <a:r>
              <a:rPr lang="th-TH" sz="950" dirty="0">
                <a:solidFill>
                  <a:schemeClr val="tx1">
                    <a:lumMod val="65000"/>
                    <a:lumOff val="35000"/>
                  </a:schemeClr>
                </a:solidFill>
                <a:latin typeface="BLS Text" panose="00000500000000000000" pitchFamily="2" charset="-34"/>
                <a:cs typeface="BLS Text" pitchFamily="2" charset="-34"/>
              </a:rPr>
              <a:t>185 บาท/3.4</a:t>
            </a:r>
            <a:r>
              <a:rPr lang="en-US" sz="950" dirty="0">
                <a:solidFill>
                  <a:schemeClr val="tx1">
                    <a:lumMod val="65000"/>
                    <a:lumOff val="35000"/>
                  </a:schemeClr>
                </a:solidFill>
                <a:latin typeface="BLS Text" panose="00000500000000000000" pitchFamily="2" charset="-34"/>
                <a:cs typeface="BLS Text" pitchFamily="2" charset="-34"/>
              </a:rPr>
              <a:t>%), ICHI (0.6</a:t>
            </a:r>
            <a:r>
              <a:rPr lang="th-TH" sz="950" dirty="0">
                <a:solidFill>
                  <a:schemeClr val="tx1">
                    <a:lumMod val="65000"/>
                    <a:lumOff val="35000"/>
                  </a:schemeClr>
                </a:solidFill>
                <a:latin typeface="BLS Text" panose="00000500000000000000" pitchFamily="2" charset="-34"/>
                <a:cs typeface="BLS Text" pitchFamily="2" charset="-34"/>
              </a:rPr>
              <a:t> บาท/ </a:t>
            </a:r>
            <a:r>
              <a:rPr lang="en-US" sz="950" dirty="0">
                <a:solidFill>
                  <a:schemeClr val="tx1">
                    <a:lumMod val="65000"/>
                    <a:lumOff val="35000"/>
                  </a:schemeClr>
                </a:solidFill>
                <a:latin typeface="BLS Text" panose="00000500000000000000" pitchFamily="2" charset="-34"/>
                <a:cs typeface="BLS Text" pitchFamily="2" charset="-34"/>
              </a:rPr>
              <a:t>4%), KTB (2.24 </a:t>
            </a:r>
            <a:r>
              <a:rPr lang="th-TH" sz="950" dirty="0">
                <a:solidFill>
                  <a:schemeClr val="tx1">
                    <a:lumMod val="65000"/>
                    <a:lumOff val="35000"/>
                  </a:schemeClr>
                </a:solidFill>
                <a:latin typeface="BLS Text" panose="00000500000000000000" pitchFamily="2" charset="-34"/>
                <a:cs typeface="BLS Text" pitchFamily="2" charset="-34"/>
              </a:rPr>
              <a:t>บาท</a:t>
            </a:r>
            <a:r>
              <a:rPr lang="en-US" sz="950" dirty="0">
                <a:solidFill>
                  <a:schemeClr val="tx1">
                    <a:lumMod val="65000"/>
                    <a:lumOff val="35000"/>
                  </a:schemeClr>
                </a:solidFill>
                <a:latin typeface="BLS Text" panose="00000500000000000000" pitchFamily="2" charset="-34"/>
                <a:cs typeface="BLS Text" pitchFamily="2" charset="-34"/>
              </a:rPr>
              <a:t>,</a:t>
            </a:r>
            <a:r>
              <a:rPr lang="th-TH" sz="950" dirty="0">
                <a:solidFill>
                  <a:schemeClr val="tx1">
                    <a:lumMod val="65000"/>
                    <a:lumOff val="35000"/>
                  </a:schemeClr>
                </a:solidFill>
                <a:latin typeface="BLS Text" panose="00000500000000000000" pitchFamily="2" charset="-34"/>
                <a:cs typeface="BLS Text" pitchFamily="2" charset="-34"/>
              </a:rPr>
              <a:t> 6.8</a:t>
            </a:r>
            <a:r>
              <a:rPr lang="en-US" sz="950" dirty="0">
                <a:solidFill>
                  <a:schemeClr val="tx1">
                    <a:lumMod val="65000"/>
                    <a:lumOff val="35000"/>
                  </a:schemeClr>
                </a:solidFill>
                <a:latin typeface="BLS Text" panose="00000500000000000000" pitchFamily="2" charset="-34"/>
                <a:cs typeface="BLS Text" pitchFamily="2" charset="-34"/>
              </a:rPr>
              <a:t>%), SCB (9.28 </a:t>
            </a:r>
            <a:r>
              <a:rPr lang="th-TH" sz="950" dirty="0">
                <a:solidFill>
                  <a:schemeClr val="tx1">
                    <a:lumMod val="65000"/>
                    <a:lumOff val="35000"/>
                  </a:schemeClr>
                </a:solidFill>
                <a:latin typeface="BLS Text" panose="00000500000000000000" pitchFamily="2" charset="-34"/>
                <a:cs typeface="BLS Text" pitchFamily="2" charset="-34"/>
              </a:rPr>
              <a:t>บาท</a:t>
            </a:r>
            <a:r>
              <a:rPr lang="en-US" sz="950" dirty="0">
                <a:solidFill>
                  <a:schemeClr val="tx1">
                    <a:lumMod val="65000"/>
                    <a:lumOff val="35000"/>
                  </a:schemeClr>
                </a:solidFill>
                <a:latin typeface="BLS Text" panose="00000500000000000000" pitchFamily="2" charset="-34"/>
                <a:cs typeface="BLS Text" pitchFamily="2" charset="-34"/>
              </a:rPr>
              <a:t>,</a:t>
            </a:r>
            <a:r>
              <a:rPr lang="th-TH" sz="950" dirty="0">
                <a:solidFill>
                  <a:schemeClr val="tx1">
                    <a:lumMod val="65000"/>
                    <a:lumOff val="35000"/>
                  </a:schemeClr>
                </a:solidFill>
                <a:latin typeface="BLS Text" panose="00000500000000000000" pitchFamily="2" charset="-34"/>
                <a:cs typeface="BLS Text" pitchFamily="2" charset="-34"/>
              </a:rPr>
              <a:t> </a:t>
            </a:r>
            <a:r>
              <a:rPr lang="en-US" sz="950" dirty="0">
                <a:solidFill>
                  <a:schemeClr val="tx1">
                    <a:lumMod val="65000"/>
                    <a:lumOff val="35000"/>
                  </a:schemeClr>
                </a:solidFill>
                <a:latin typeface="BLS Text" panose="00000500000000000000" pitchFamily="2" charset="-34"/>
                <a:cs typeface="BLS Text" pitchFamily="2" charset="-34"/>
              </a:rPr>
              <a:t>6</a:t>
            </a:r>
            <a:r>
              <a:rPr lang="th-TH" sz="950" dirty="0">
                <a:solidFill>
                  <a:schemeClr val="tx1">
                    <a:lumMod val="65000"/>
                    <a:lumOff val="35000"/>
                  </a:schemeClr>
                </a:solidFill>
                <a:latin typeface="BLS Text" panose="00000500000000000000" pitchFamily="2" charset="-34"/>
                <a:cs typeface="BLS Text" pitchFamily="2" charset="-34"/>
              </a:rPr>
              <a:t>.</a:t>
            </a:r>
            <a:r>
              <a:rPr lang="en-US" sz="950" dirty="0">
                <a:solidFill>
                  <a:schemeClr val="tx1">
                    <a:lumMod val="65000"/>
                    <a:lumOff val="35000"/>
                  </a:schemeClr>
                </a:solidFill>
                <a:latin typeface="BLS Text" panose="00000500000000000000" pitchFamily="2" charset="-34"/>
                <a:cs typeface="BLS Text" pitchFamily="2" charset="-34"/>
              </a:rPr>
              <a:t>5%), KBANK (12</a:t>
            </a:r>
            <a:r>
              <a:rPr lang="th-TH" sz="950" dirty="0">
                <a:solidFill>
                  <a:schemeClr val="tx1">
                    <a:lumMod val="65000"/>
                    <a:lumOff val="35000"/>
                  </a:schemeClr>
                </a:solidFill>
                <a:latin typeface="BLS Text" panose="00000500000000000000" pitchFamily="2" charset="-34"/>
                <a:cs typeface="BLS Text" pitchFamily="2" charset="-34"/>
              </a:rPr>
              <a:t> บาท</a:t>
            </a:r>
            <a:r>
              <a:rPr lang="en-US" sz="950" dirty="0">
                <a:solidFill>
                  <a:schemeClr val="tx1">
                    <a:lumMod val="65000"/>
                    <a:lumOff val="35000"/>
                  </a:schemeClr>
                </a:solidFill>
                <a:latin typeface="BLS Text" panose="00000500000000000000" pitchFamily="2" charset="-34"/>
                <a:cs typeface="BLS Text" pitchFamily="2" charset="-34"/>
              </a:rPr>
              <a:t>, 6.3%), BBL (8 </a:t>
            </a:r>
            <a:r>
              <a:rPr lang="th-TH" sz="950" dirty="0">
                <a:solidFill>
                  <a:schemeClr val="tx1">
                    <a:lumMod val="65000"/>
                    <a:lumOff val="35000"/>
                  </a:schemeClr>
                </a:solidFill>
                <a:latin typeface="BLS Text" panose="00000500000000000000" pitchFamily="2" charset="-34"/>
                <a:cs typeface="BLS Text" pitchFamily="2" charset="-34"/>
              </a:rPr>
              <a:t>บาท</a:t>
            </a:r>
            <a:r>
              <a:rPr lang="en-US" sz="950" dirty="0">
                <a:solidFill>
                  <a:schemeClr val="tx1">
                    <a:lumMod val="65000"/>
                    <a:lumOff val="35000"/>
                  </a:schemeClr>
                </a:solidFill>
                <a:latin typeface="BLS Text" panose="00000500000000000000" pitchFamily="2" charset="-34"/>
                <a:cs typeface="BLS Text" pitchFamily="2" charset="-34"/>
              </a:rPr>
              <a:t>, 4.7%), CPALL (1.65 </a:t>
            </a:r>
            <a:r>
              <a:rPr lang="th-TH" sz="950" dirty="0">
                <a:solidFill>
                  <a:schemeClr val="tx1">
                    <a:lumMod val="65000"/>
                    <a:lumOff val="35000"/>
                  </a:schemeClr>
                </a:solidFill>
                <a:latin typeface="BLS Text" panose="00000500000000000000" pitchFamily="2" charset="-34"/>
                <a:cs typeface="BLS Text" pitchFamily="2" charset="-34"/>
              </a:rPr>
              <a:t>บาท</a:t>
            </a:r>
            <a:r>
              <a:rPr lang="en-US" sz="950" dirty="0">
                <a:solidFill>
                  <a:schemeClr val="tx1">
                    <a:lumMod val="65000"/>
                    <a:lumOff val="35000"/>
                  </a:schemeClr>
                </a:solidFill>
                <a:latin typeface="BLS Text" panose="00000500000000000000" pitchFamily="2" charset="-34"/>
                <a:cs typeface="BLS Text" pitchFamily="2" charset="-34"/>
              </a:rPr>
              <a:t>, 3.4%), AMATA (0.75 </a:t>
            </a:r>
            <a:r>
              <a:rPr lang="th-TH" sz="950" dirty="0">
                <a:solidFill>
                  <a:schemeClr val="tx1">
                    <a:lumMod val="65000"/>
                    <a:lumOff val="35000"/>
                  </a:schemeClr>
                </a:solidFill>
                <a:latin typeface="BLS Text" panose="00000500000000000000" pitchFamily="2" charset="-34"/>
                <a:cs typeface="BLS Text" pitchFamily="2" charset="-34"/>
              </a:rPr>
              <a:t>บาท</a:t>
            </a:r>
            <a:r>
              <a:rPr lang="en-US" sz="950" dirty="0">
                <a:solidFill>
                  <a:schemeClr val="tx1">
                    <a:lumMod val="65000"/>
                    <a:lumOff val="35000"/>
                  </a:schemeClr>
                </a:solidFill>
                <a:latin typeface="BLS Text" panose="00000500000000000000" pitchFamily="2" charset="-34"/>
                <a:cs typeface="BLS Text" pitchFamily="2" charset="-34"/>
              </a:rPr>
              <a:t>,</a:t>
            </a:r>
            <a:r>
              <a:rPr lang="th-TH" sz="950" dirty="0">
                <a:solidFill>
                  <a:schemeClr val="tx1">
                    <a:lumMod val="65000"/>
                    <a:lumOff val="35000"/>
                  </a:schemeClr>
                </a:solidFill>
                <a:latin typeface="BLS Text" panose="00000500000000000000" pitchFamily="2" charset="-34"/>
                <a:cs typeface="BLS Text" pitchFamily="2" charset="-34"/>
              </a:rPr>
              <a:t> 4.1</a:t>
            </a:r>
            <a:r>
              <a:rPr lang="en-US" sz="950" dirty="0">
                <a:solidFill>
                  <a:schemeClr val="tx1">
                    <a:lumMod val="65000"/>
                    <a:lumOff val="35000"/>
                  </a:schemeClr>
                </a:solidFill>
                <a:latin typeface="BLS Text" panose="00000500000000000000" pitchFamily="2" charset="-34"/>
                <a:cs typeface="BLS Text" pitchFamily="2" charset="-34"/>
              </a:rPr>
              <a:t>%), SPALI (0.7 </a:t>
            </a:r>
            <a:r>
              <a:rPr lang="th-TH" sz="950" dirty="0">
                <a:solidFill>
                  <a:schemeClr val="tx1">
                    <a:lumMod val="65000"/>
                    <a:lumOff val="35000"/>
                  </a:schemeClr>
                </a:solidFill>
                <a:latin typeface="BLS Text" panose="00000500000000000000" pitchFamily="2" charset="-34"/>
                <a:cs typeface="BLS Text" pitchFamily="2" charset="-34"/>
              </a:rPr>
              <a:t>บาท</a:t>
            </a:r>
            <a:r>
              <a:rPr lang="en-US" sz="950" dirty="0">
                <a:solidFill>
                  <a:schemeClr val="tx1">
                    <a:lumMod val="65000"/>
                    <a:lumOff val="35000"/>
                  </a:schemeClr>
                </a:solidFill>
                <a:latin typeface="BLS Text" panose="00000500000000000000" pitchFamily="2" charset="-34"/>
                <a:cs typeface="BLS Text" pitchFamily="2" charset="-34"/>
              </a:rPr>
              <a:t>, 4.1%), WHA (0.14</a:t>
            </a:r>
            <a:r>
              <a:rPr lang="th-TH" sz="950" dirty="0">
                <a:solidFill>
                  <a:schemeClr val="tx1">
                    <a:lumMod val="65000"/>
                    <a:lumOff val="35000"/>
                  </a:schemeClr>
                </a:solidFill>
                <a:latin typeface="BLS Text" panose="00000500000000000000" pitchFamily="2" charset="-34"/>
                <a:cs typeface="BLS Text" pitchFamily="2" charset="-34"/>
              </a:rPr>
              <a:t>38</a:t>
            </a:r>
            <a:r>
              <a:rPr lang="en-US" sz="950" dirty="0">
                <a:solidFill>
                  <a:schemeClr val="tx1">
                    <a:lumMod val="65000"/>
                    <a:lumOff val="35000"/>
                  </a:schemeClr>
                </a:solidFill>
                <a:latin typeface="BLS Text" panose="00000500000000000000" pitchFamily="2" charset="-34"/>
                <a:cs typeface="BLS Text" pitchFamily="2" charset="-34"/>
              </a:rPr>
              <a:t> </a:t>
            </a:r>
            <a:r>
              <a:rPr lang="th-TH" sz="950" dirty="0">
                <a:solidFill>
                  <a:schemeClr val="tx1">
                    <a:lumMod val="65000"/>
                    <a:lumOff val="35000"/>
                  </a:schemeClr>
                </a:solidFill>
                <a:latin typeface="BLS Text" panose="00000500000000000000" pitchFamily="2" charset="-34"/>
                <a:cs typeface="BLS Text" pitchFamily="2" charset="-34"/>
              </a:rPr>
              <a:t>บาท</a:t>
            </a:r>
            <a:r>
              <a:rPr lang="en-US" sz="950" dirty="0">
                <a:solidFill>
                  <a:schemeClr val="tx1">
                    <a:lumMod val="65000"/>
                    <a:lumOff val="35000"/>
                  </a:schemeClr>
                </a:solidFill>
                <a:latin typeface="BLS Text" panose="00000500000000000000" pitchFamily="2" charset="-34"/>
                <a:cs typeface="BLS Text" pitchFamily="2" charset="-34"/>
              </a:rPr>
              <a:t>, </a:t>
            </a:r>
            <a:r>
              <a:rPr lang="th-TH" sz="950" dirty="0">
                <a:solidFill>
                  <a:schemeClr val="tx1">
                    <a:lumMod val="65000"/>
                    <a:lumOff val="35000"/>
                  </a:schemeClr>
                </a:solidFill>
                <a:latin typeface="BLS Text" panose="00000500000000000000" pitchFamily="2" charset="-34"/>
                <a:cs typeface="BLS Text" pitchFamily="2" charset="-34"/>
              </a:rPr>
              <a:t>3.6</a:t>
            </a:r>
            <a:r>
              <a:rPr lang="en-US" sz="950" dirty="0">
                <a:solidFill>
                  <a:schemeClr val="tx1">
                    <a:lumMod val="65000"/>
                    <a:lumOff val="35000"/>
                  </a:schemeClr>
                </a:solidFill>
                <a:latin typeface="BLS Text" panose="00000500000000000000" pitchFamily="2" charset="-34"/>
                <a:cs typeface="BLS Text" pitchFamily="2" charset="-34"/>
              </a:rPr>
              <a:t>%)</a:t>
            </a:r>
            <a:r>
              <a:rPr lang="th-TH" sz="950" dirty="0">
                <a:solidFill>
                  <a:schemeClr val="tx1">
                    <a:lumMod val="65000"/>
                    <a:lumOff val="35000"/>
                  </a:schemeClr>
                </a:solidFill>
                <a:latin typeface="BLS Text" panose="00000500000000000000" pitchFamily="2" charset="-34"/>
                <a:cs typeface="BLS Text" pitchFamily="2" charset="-34"/>
              </a:rPr>
              <a:t> </a:t>
            </a:r>
            <a:r>
              <a:rPr lang="en-US" sz="950" dirty="0">
                <a:solidFill>
                  <a:schemeClr val="accent4"/>
                </a:solidFill>
                <a:latin typeface="BLS Text" panose="00000500000000000000" pitchFamily="2" charset="-34"/>
                <a:cs typeface="BLS Text" pitchFamily="2" charset="-34"/>
              </a:rPr>
              <a:t>(</a:t>
            </a:r>
            <a:r>
              <a:rPr lang="th-TH" sz="950" dirty="0">
                <a:solidFill>
                  <a:schemeClr val="accent4"/>
                </a:solidFill>
                <a:latin typeface="BLS Text" panose="00000500000000000000" pitchFamily="2" charset="-34"/>
                <a:cs typeface="BLS Text" pitchFamily="2" charset="-34"/>
              </a:rPr>
              <a:t>ดูรายละเอียดตารางด้านขวา</a:t>
            </a:r>
            <a:r>
              <a:rPr lang="en-US" sz="950" dirty="0">
                <a:solidFill>
                  <a:schemeClr val="accent4"/>
                </a:solidFill>
                <a:latin typeface="BLS Text" panose="00000500000000000000" pitchFamily="2" charset="-34"/>
                <a:cs typeface="BLS Text" pitchFamily="2" charset="-34"/>
              </a:rPr>
              <a:t>)</a:t>
            </a:r>
            <a:r>
              <a:rPr lang="th-TH" sz="950" dirty="0">
                <a:solidFill>
                  <a:schemeClr val="accent4"/>
                </a:solidFill>
                <a:latin typeface="BLS Text" panose="00000500000000000000" pitchFamily="2" charset="-34"/>
                <a:cs typeface="BLS Text" pitchFamily="2" charset="-34"/>
              </a:rPr>
              <a:t> </a:t>
            </a:r>
            <a:endParaRPr lang="en-US" sz="950" dirty="0">
              <a:solidFill>
                <a:schemeClr val="accent4"/>
              </a:solidFill>
              <a:latin typeface="BLS Text" panose="00000500000000000000" pitchFamily="2" charset="-34"/>
              <a:cs typeface="BLS Text" pitchFamily="2" charset="-34"/>
            </a:endParaRP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5004048"/>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5004048"/>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Dividend play</a:t>
            </a:r>
          </a:p>
        </p:txBody>
      </p:sp>
      <p:pic>
        <p:nvPicPr>
          <p:cNvPr id="7" name="Picture 6">
            <a:extLst>
              <a:ext uri="{FF2B5EF4-FFF2-40B4-BE49-F238E27FC236}">
                <a16:creationId xmlns:a16="http://schemas.microsoft.com/office/drawing/2014/main" id="{E8DDF183-FBAF-122A-0781-2379B3F85750}"/>
              </a:ext>
            </a:extLst>
          </p:cNvPr>
          <p:cNvPicPr>
            <a:picLocks noChangeAspect="1"/>
          </p:cNvPicPr>
          <p:nvPr/>
        </p:nvPicPr>
        <p:blipFill>
          <a:blip r:embed="rId6"/>
          <a:stretch>
            <a:fillRect/>
          </a:stretch>
        </p:blipFill>
        <p:spPr>
          <a:xfrm>
            <a:off x="3964631" y="5183301"/>
            <a:ext cx="2848745" cy="1644527"/>
          </a:xfrm>
          <a:prstGeom prst="rect">
            <a:avLst/>
          </a:prstGeom>
        </p:spPr>
      </p:pic>
      <p:pic>
        <p:nvPicPr>
          <p:cNvPr id="8" name="Picture 7" descr="A screenshot of a graph&#10;&#10;Description automatically generated">
            <a:extLst>
              <a:ext uri="{FF2B5EF4-FFF2-40B4-BE49-F238E27FC236}">
                <a16:creationId xmlns:a16="http://schemas.microsoft.com/office/drawing/2014/main" id="{167C950C-B449-F110-EEB1-8ACC6165EAD6}"/>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64631" y="2303740"/>
            <a:ext cx="2848745" cy="2653516"/>
          </a:xfrm>
          <a:prstGeom prst="rect">
            <a:avLst/>
          </a:prstGeom>
        </p:spPr>
      </p:pic>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2</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3</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142611</TotalTime>
  <Words>1792</Words>
  <Application>Microsoft Office PowerPoint</Application>
  <PresentationFormat>On-screen Show (4:3)</PresentationFormat>
  <Paragraphs>112</Paragraphs>
  <Slides>3</Slides>
  <Notes>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vt:i4>
      </vt:variant>
    </vt:vector>
  </HeadingPairs>
  <TitlesOfParts>
    <vt:vector size="13" baseType="lpstr">
      <vt:lpstr>Aharoni</vt:lpstr>
      <vt:lpstr>Arial</vt:lpstr>
      <vt:lpstr>BLS</vt:lpstr>
      <vt:lpstr>BLS Bold</vt:lpstr>
      <vt:lpstr>BLS Condensed</vt:lpstr>
      <vt:lpstr>BLS Condensed </vt:lpstr>
      <vt:lpstr>BLS Condensed Bold</vt:lpstr>
      <vt:lpstr>BLS Text</vt:lpstr>
      <vt:lpstr>Calibri</vt:lpstr>
      <vt:lpstr>Office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4484</cp:revision>
  <cp:lastPrinted>2024-11-19T12:54:25Z</cp:lastPrinted>
  <dcterms:created xsi:type="dcterms:W3CDTF">2019-01-16T11:18:39Z</dcterms:created>
  <dcterms:modified xsi:type="dcterms:W3CDTF">2026-03-08T03:23:16Z</dcterms:modified>
</cp:coreProperties>
</file>