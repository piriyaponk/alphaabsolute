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
  </p:notesMasterIdLst>
  <p:sldIdLst>
    <p:sldId id="410" r:id="rId2"/>
    <p:sldId id="561" r:id="rId3"/>
    <p:sldId id="557" r:id="rId4"/>
    <p:sldId id="560" r:id="rId5"/>
    <p:sldId id="353" r:id="rId6"/>
    <p:sldId id="354" r:id="rId7"/>
  </p:sldIdLst>
  <p:sldSz cx="6858000" cy="9144000" type="screen4x3"/>
  <p:notesSz cx="6807200"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420" userDrawn="1">
          <p15:clr>
            <a:srgbClr val="A4A3A4"/>
          </p15:clr>
        </p15:guide>
        <p15:guide id="2" pos="2160">
          <p15:clr>
            <a:srgbClr val="A4A3A4"/>
          </p15:clr>
        </p15:guide>
      </p15:sldGuideLst>
    </p:ext>
    <p:ext uri="{2D200454-40CA-4A62-9FC3-DE9A4176ACB9}">
      <p15:notesGuideLst xmlns:p15="http://schemas.microsoft.com/office/powerpoint/2012/main">
        <p15:guide id="1" orient="horz" pos="3130" userDrawn="1">
          <p15:clr>
            <a:srgbClr val="A4A3A4"/>
          </p15:clr>
        </p15:guide>
        <p15:guide id="2" pos="214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DED"/>
    <a:srgbClr val="FFCCCC"/>
    <a:srgbClr val="A17D3D"/>
    <a:srgbClr val="F2F2F2"/>
    <a:srgbClr val="AC1D3F"/>
    <a:srgbClr val="1C3765"/>
    <a:srgbClr val="A6A6A6"/>
    <a:srgbClr val="215968"/>
    <a:srgbClr val="162A4C"/>
    <a:srgbClr val="2D7A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14" autoAdjust="0"/>
    <p:restoredTop sz="96349" autoAdjust="0"/>
  </p:normalViewPr>
  <p:slideViewPr>
    <p:cSldViewPr>
      <p:cViewPr>
        <p:scale>
          <a:sx n="110" d="100"/>
          <a:sy n="110" d="100"/>
        </p:scale>
        <p:origin x="834" y="-1632"/>
      </p:cViewPr>
      <p:guideLst>
        <p:guide orient="horz" pos="5420"/>
        <p:guide pos="2160"/>
      </p:guideLst>
    </p:cSldViewPr>
  </p:slideViewPr>
  <p:notesTextViewPr>
    <p:cViewPr>
      <p:scale>
        <a:sx n="150" d="100"/>
        <a:sy n="150" d="100"/>
      </p:scale>
      <p:origin x="0" y="0"/>
    </p:cViewPr>
  </p:notesTextViewPr>
  <p:notesViewPr>
    <p:cSldViewPr>
      <p:cViewPr varScale="1">
        <p:scale>
          <a:sx n="75" d="100"/>
          <a:sy n="75" d="100"/>
        </p:scale>
        <p:origin x="-4020" y="-84"/>
      </p:cViewPr>
      <p:guideLst>
        <p:guide orient="horz" pos="3130"/>
        <p:guide pos="214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6" y="6"/>
            <a:ext cx="2949533" cy="496427"/>
          </a:xfrm>
          <a:prstGeom prst="rect">
            <a:avLst/>
          </a:prstGeom>
        </p:spPr>
        <p:txBody>
          <a:bodyPr vert="horz" lIns="88249" tIns="44125" rIns="88249" bIns="44125" rtlCol="0"/>
          <a:lstStyle>
            <a:lvl1pPr algn="l">
              <a:defRPr sz="1200"/>
            </a:lvl1pPr>
          </a:lstStyle>
          <a:p>
            <a:endParaRPr lang="en-US"/>
          </a:p>
        </p:txBody>
      </p:sp>
      <p:sp>
        <p:nvSpPr>
          <p:cNvPr id="3" name="Date Placeholder 2"/>
          <p:cNvSpPr>
            <a:spLocks noGrp="1"/>
          </p:cNvSpPr>
          <p:nvPr>
            <p:ph type="dt" idx="1"/>
          </p:nvPr>
        </p:nvSpPr>
        <p:spPr>
          <a:xfrm>
            <a:off x="3856146" y="6"/>
            <a:ext cx="2949532" cy="496427"/>
          </a:xfrm>
          <a:prstGeom prst="rect">
            <a:avLst/>
          </a:prstGeom>
        </p:spPr>
        <p:txBody>
          <a:bodyPr vert="horz" lIns="88249" tIns="44125" rIns="88249" bIns="44125" rtlCol="0"/>
          <a:lstStyle>
            <a:lvl1pPr algn="r">
              <a:defRPr sz="1200"/>
            </a:lvl1pPr>
          </a:lstStyle>
          <a:p>
            <a:fld id="{E0B721B7-C9AF-4FEC-A17C-5AA640F24497}" type="datetimeFigureOut">
              <a:rPr lang="en-US" smtClean="0"/>
              <a:t>21-Mar-26</a:t>
            </a:fld>
            <a:endParaRPr lang="en-US"/>
          </a:p>
        </p:txBody>
      </p:sp>
      <p:sp>
        <p:nvSpPr>
          <p:cNvPr id="4" name="Slide Image Placeholder 3"/>
          <p:cNvSpPr>
            <a:spLocks noGrp="1" noRot="1" noChangeAspect="1"/>
          </p:cNvSpPr>
          <p:nvPr>
            <p:ph type="sldImg" idx="2"/>
          </p:nvPr>
        </p:nvSpPr>
        <p:spPr>
          <a:xfrm>
            <a:off x="2006600" y="746125"/>
            <a:ext cx="2794000" cy="3725863"/>
          </a:xfrm>
          <a:prstGeom prst="rect">
            <a:avLst/>
          </a:prstGeom>
          <a:noFill/>
          <a:ln w="12700">
            <a:solidFill>
              <a:prstClr val="black"/>
            </a:solidFill>
          </a:ln>
        </p:spPr>
        <p:txBody>
          <a:bodyPr vert="horz" lIns="88249" tIns="44125" rIns="88249" bIns="44125" rtlCol="0" anchor="ctr"/>
          <a:lstStyle/>
          <a:p>
            <a:endParaRPr lang="en-US"/>
          </a:p>
        </p:txBody>
      </p:sp>
      <p:sp>
        <p:nvSpPr>
          <p:cNvPr id="5" name="Notes Placeholder 4"/>
          <p:cNvSpPr>
            <a:spLocks noGrp="1"/>
          </p:cNvSpPr>
          <p:nvPr>
            <p:ph type="body" sz="quarter" idx="3"/>
          </p:nvPr>
        </p:nvSpPr>
        <p:spPr>
          <a:xfrm>
            <a:off x="681480" y="4720684"/>
            <a:ext cx="5445760" cy="4472471"/>
          </a:xfrm>
          <a:prstGeom prst="rect">
            <a:avLst/>
          </a:prstGeom>
        </p:spPr>
        <p:txBody>
          <a:bodyPr vert="horz" lIns="88249" tIns="44125" rIns="88249" bIns="4412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6" y="9441374"/>
            <a:ext cx="2949533" cy="496427"/>
          </a:xfrm>
          <a:prstGeom prst="rect">
            <a:avLst/>
          </a:prstGeom>
        </p:spPr>
        <p:txBody>
          <a:bodyPr vert="horz" lIns="88249" tIns="44125" rIns="88249" bIns="44125" rtlCol="0" anchor="b"/>
          <a:lstStyle>
            <a:lvl1pPr algn="l">
              <a:defRPr sz="1200"/>
            </a:lvl1pPr>
          </a:lstStyle>
          <a:p>
            <a:endParaRPr lang="en-US"/>
          </a:p>
        </p:txBody>
      </p:sp>
      <p:sp>
        <p:nvSpPr>
          <p:cNvPr id="7" name="Slide Number Placeholder 6"/>
          <p:cNvSpPr>
            <a:spLocks noGrp="1"/>
          </p:cNvSpPr>
          <p:nvPr>
            <p:ph type="sldNum" sz="quarter" idx="5"/>
          </p:nvPr>
        </p:nvSpPr>
        <p:spPr>
          <a:xfrm>
            <a:off x="3856146" y="9441374"/>
            <a:ext cx="2949532" cy="496427"/>
          </a:xfrm>
          <a:prstGeom prst="rect">
            <a:avLst/>
          </a:prstGeom>
        </p:spPr>
        <p:txBody>
          <a:bodyPr vert="horz" lIns="88249" tIns="44125" rIns="88249" bIns="44125" rtlCol="0" anchor="b"/>
          <a:lstStyle>
            <a:lvl1pPr algn="r">
              <a:defRPr sz="1200"/>
            </a:lvl1pPr>
          </a:lstStyle>
          <a:p>
            <a:fld id="{2CD61325-C3CE-4DCC-9429-B8D45AC53B9F}" type="slidenum">
              <a:rPr lang="en-US" smtClean="0"/>
              <a:t>‹#›</a:t>
            </a:fld>
            <a:endParaRPr lang="en-US"/>
          </a:p>
        </p:txBody>
      </p:sp>
    </p:spTree>
    <p:extLst>
      <p:ext uri="{BB962C8B-B14F-4D97-AF65-F5344CB8AC3E}">
        <p14:creationId xmlns:p14="http://schemas.microsoft.com/office/powerpoint/2010/main" val="100085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BEC07-B796-FBF0-EC48-E64CC6314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81B8B-4C9C-0128-3F2A-081F2D1B0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D090-7278-53B1-530D-6B9EFC847460}"/>
              </a:ext>
            </a:extLst>
          </p:cNvPr>
          <p:cNvSpPr>
            <a:spLocks noGrp="1"/>
          </p:cNvSpPr>
          <p:nvPr>
            <p:ph type="body" idx="1"/>
          </p:nvPr>
        </p:nvSpPr>
        <p:spPr/>
        <p:txBody>
          <a:bodyPr/>
          <a:lstStyle/>
          <a:p>
            <a:r>
              <a:rPr lang="th-TH" sz="950" dirty="0"/>
              <a:t>10 ตัวหลักแรก แต่ละช่วง มีตัวไหนบ้าง แต่ละรอบ </a:t>
            </a:r>
            <a:r>
              <a:rPr lang="en-US" sz="950" dirty="0"/>
              <a:t>list</a:t>
            </a:r>
            <a:r>
              <a:rPr lang="th-TH" sz="950" dirty="0"/>
              <a:t> มา ---</a:t>
            </a:r>
            <a:r>
              <a:rPr lang="en-US" sz="950" dirty="0"/>
              <a:t> </a:t>
            </a:r>
            <a:r>
              <a:rPr lang="th-TH" sz="950" dirty="0"/>
              <a:t>ค่อยเติม ตัวใหม่เข้ามา </a:t>
            </a:r>
            <a:r>
              <a:rPr lang="en-US" sz="950" dirty="0"/>
              <a:t>&gt;&gt;&gt;</a:t>
            </a:r>
            <a:r>
              <a:rPr lang="th-TH" sz="950" dirty="0"/>
              <a:t> </a:t>
            </a:r>
            <a:r>
              <a:rPr lang="en-US" sz="950" dirty="0"/>
              <a:t>infra + financial  &gt;&gt;&gt; </a:t>
            </a:r>
            <a:r>
              <a:rPr lang="th-TH" sz="950" dirty="0"/>
              <a:t>เข้าหุ้น </a:t>
            </a:r>
            <a:r>
              <a:rPr lang="en-US" sz="950" dirty="0"/>
              <a:t>top 10, + essential sector / infra . </a:t>
            </a:r>
            <a:r>
              <a:rPr lang="en-US" sz="950" dirty="0" err="1"/>
              <a:t>ict</a:t>
            </a:r>
            <a:r>
              <a:rPr lang="en-US" sz="950" dirty="0"/>
              <a:t> bank  / </a:t>
            </a:r>
            <a:endParaRPr lang="th-TH" sz="950" dirty="0"/>
          </a:p>
          <a:p>
            <a:r>
              <a:rPr lang="en-US" sz="950" dirty="0"/>
              <a:t>Manufact + earnings </a:t>
            </a:r>
            <a:r>
              <a:rPr lang="th-TH" sz="950" dirty="0"/>
              <a:t>ฟื้น</a:t>
            </a:r>
            <a:r>
              <a:rPr lang="en-US" sz="950" dirty="0"/>
              <a:t> &gt;&gt;&gt;&gt;</a:t>
            </a:r>
            <a:r>
              <a:rPr lang="th-TH" sz="950" dirty="0"/>
              <a:t> เทียบ 3 วงจร </a:t>
            </a:r>
          </a:p>
        </p:txBody>
      </p:sp>
      <p:sp>
        <p:nvSpPr>
          <p:cNvPr id="4" name="Slide Number Placeholder 3">
            <a:extLst>
              <a:ext uri="{FF2B5EF4-FFF2-40B4-BE49-F238E27FC236}">
                <a16:creationId xmlns:a16="http://schemas.microsoft.com/office/drawing/2014/main" id="{3DED5535-8828-2418-BED8-8BE95BEEAE40}"/>
              </a:ext>
            </a:extLst>
          </p:cNvPr>
          <p:cNvSpPr>
            <a:spLocks noGrp="1"/>
          </p:cNvSpPr>
          <p:nvPr>
            <p:ph type="sldNum" sz="quarter" idx="10"/>
          </p:nvPr>
        </p:nvSpPr>
        <p:spPr/>
        <p:txBody>
          <a:bodyPr/>
          <a:lstStyle/>
          <a:p>
            <a:fld id="{2CD61325-C3CE-4DCC-9429-B8D45AC53B9F}" type="slidenum">
              <a:rPr lang="en-US" smtClean="0"/>
              <a:t>1</a:t>
            </a:fld>
            <a:endParaRPr lang="en-US"/>
          </a:p>
        </p:txBody>
      </p:sp>
    </p:spTree>
    <p:extLst>
      <p:ext uri="{BB962C8B-B14F-4D97-AF65-F5344CB8AC3E}">
        <p14:creationId xmlns:p14="http://schemas.microsoft.com/office/powerpoint/2010/main" val="3015434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BEC07-B796-FBF0-EC48-E64CC6314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81B8B-4C9C-0128-3F2A-081F2D1B0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D090-7278-53B1-530D-6B9EFC847460}"/>
              </a:ext>
            </a:extLst>
          </p:cNvPr>
          <p:cNvSpPr>
            <a:spLocks noGrp="1"/>
          </p:cNvSpPr>
          <p:nvPr>
            <p:ph type="body" idx="1"/>
          </p:nvPr>
        </p:nvSpPr>
        <p:spPr/>
        <p:txBody>
          <a:bodyPr/>
          <a:lstStyle/>
          <a:p>
            <a:r>
              <a:rPr lang="th-TH" sz="950" dirty="0"/>
              <a:t>10 ตัวหลักแรก แต่ละช่วง มีตัวไหนบ้าง แต่ละรอบ </a:t>
            </a:r>
            <a:r>
              <a:rPr lang="en-US" sz="950" dirty="0"/>
              <a:t>list</a:t>
            </a:r>
            <a:r>
              <a:rPr lang="th-TH" sz="950" dirty="0"/>
              <a:t> มา ---</a:t>
            </a:r>
            <a:r>
              <a:rPr lang="en-US" sz="950" dirty="0"/>
              <a:t> </a:t>
            </a:r>
            <a:r>
              <a:rPr lang="th-TH" sz="950" dirty="0"/>
              <a:t>ค่อยเติม ตัวใหม่เข้ามา </a:t>
            </a:r>
            <a:r>
              <a:rPr lang="en-US" sz="950" dirty="0"/>
              <a:t>&gt;&gt;&gt;</a:t>
            </a:r>
            <a:r>
              <a:rPr lang="th-TH" sz="950" dirty="0"/>
              <a:t> </a:t>
            </a:r>
            <a:r>
              <a:rPr lang="en-US" sz="950" dirty="0"/>
              <a:t>infra + financial  &gt;&gt;&gt; </a:t>
            </a:r>
            <a:r>
              <a:rPr lang="th-TH" sz="950" dirty="0"/>
              <a:t>เข้าหุ้น </a:t>
            </a:r>
            <a:r>
              <a:rPr lang="en-US" sz="950" dirty="0"/>
              <a:t>top 10, + essential sector / infra . </a:t>
            </a:r>
            <a:r>
              <a:rPr lang="en-US" sz="950" dirty="0" err="1"/>
              <a:t>ict</a:t>
            </a:r>
            <a:r>
              <a:rPr lang="en-US" sz="950" dirty="0"/>
              <a:t> bank  / </a:t>
            </a:r>
            <a:endParaRPr lang="th-TH" sz="950" dirty="0"/>
          </a:p>
          <a:p>
            <a:r>
              <a:rPr lang="en-US" sz="950" dirty="0"/>
              <a:t>Manufact + earnings </a:t>
            </a:r>
            <a:r>
              <a:rPr lang="th-TH" sz="950" dirty="0"/>
              <a:t>ฟื้น</a:t>
            </a:r>
            <a:r>
              <a:rPr lang="en-US" sz="950" dirty="0"/>
              <a:t> &gt;&gt;&gt;&gt;</a:t>
            </a:r>
            <a:r>
              <a:rPr lang="th-TH" sz="950" dirty="0"/>
              <a:t> เทียบ 3 วงจร </a:t>
            </a:r>
          </a:p>
        </p:txBody>
      </p:sp>
      <p:sp>
        <p:nvSpPr>
          <p:cNvPr id="4" name="Slide Number Placeholder 3">
            <a:extLst>
              <a:ext uri="{FF2B5EF4-FFF2-40B4-BE49-F238E27FC236}">
                <a16:creationId xmlns:a16="http://schemas.microsoft.com/office/drawing/2014/main" id="{3DED5535-8828-2418-BED8-8BE95BEEAE40}"/>
              </a:ext>
            </a:extLst>
          </p:cNvPr>
          <p:cNvSpPr>
            <a:spLocks noGrp="1"/>
          </p:cNvSpPr>
          <p:nvPr>
            <p:ph type="sldNum" sz="quarter" idx="10"/>
          </p:nvPr>
        </p:nvSpPr>
        <p:spPr/>
        <p:txBody>
          <a:bodyPr/>
          <a:lstStyle/>
          <a:p>
            <a:fld id="{2CD61325-C3CE-4DCC-9429-B8D45AC53B9F}" type="slidenum">
              <a:rPr lang="en-US" smtClean="0"/>
              <a:t>2</a:t>
            </a:fld>
            <a:endParaRPr lang="en-US"/>
          </a:p>
        </p:txBody>
      </p:sp>
    </p:spTree>
    <p:extLst>
      <p:ext uri="{BB962C8B-B14F-4D97-AF65-F5344CB8AC3E}">
        <p14:creationId xmlns:p14="http://schemas.microsoft.com/office/powerpoint/2010/main" val="28751948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06600" y="746125"/>
            <a:ext cx="2794000" cy="3725863"/>
          </a:xfrm>
        </p:spPr>
      </p:sp>
      <p:sp>
        <p:nvSpPr>
          <p:cNvPr id="3" name="Notes Placeholder 2"/>
          <p:cNvSpPr>
            <a:spLocks noGrp="1"/>
          </p:cNvSpPr>
          <p:nvPr>
            <p:ph type="body" idx="1"/>
          </p:nvPr>
        </p:nvSpPr>
        <p:spPr/>
        <p:txBody>
          <a:bodyPr/>
          <a:lstStyle/>
          <a:p>
            <a:r>
              <a:rPr lang="en-US" dirty="0"/>
              <a:t>6</a:t>
            </a:r>
            <a:endParaRPr lang="th-TH" dirty="0"/>
          </a:p>
        </p:txBody>
      </p:sp>
      <p:sp>
        <p:nvSpPr>
          <p:cNvPr id="4" name="Slide Number Placeholder 3"/>
          <p:cNvSpPr>
            <a:spLocks noGrp="1"/>
          </p:cNvSpPr>
          <p:nvPr>
            <p:ph type="sldNum" sz="quarter" idx="5"/>
          </p:nvPr>
        </p:nvSpPr>
        <p:spPr/>
        <p:txBody>
          <a:bodyPr/>
          <a:lstStyle/>
          <a:p>
            <a:fld id="{4D30BBFF-256F-004A-B466-D7A1C41ADAD5}" type="slidenum">
              <a:rPr lang="x-none" smtClean="0"/>
              <a:t>3</a:t>
            </a:fld>
            <a:endParaRPr lang="x-none"/>
          </a:p>
        </p:txBody>
      </p:sp>
    </p:spTree>
    <p:extLst>
      <p:ext uri="{BB962C8B-B14F-4D97-AF65-F5344CB8AC3E}">
        <p14:creationId xmlns:p14="http://schemas.microsoft.com/office/powerpoint/2010/main" val="24830324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06600" y="746125"/>
            <a:ext cx="2794000" cy="3725863"/>
          </a:xfrm>
        </p:spPr>
      </p:sp>
      <p:sp>
        <p:nvSpPr>
          <p:cNvPr id="3" name="Notes Placeholder 2"/>
          <p:cNvSpPr>
            <a:spLocks noGrp="1"/>
          </p:cNvSpPr>
          <p:nvPr>
            <p:ph type="body" idx="1"/>
          </p:nvPr>
        </p:nvSpPr>
        <p:spPr/>
        <p:txBody>
          <a:bodyPr/>
          <a:lstStyle/>
          <a:p>
            <a:r>
              <a:rPr lang="en-US" dirty="0"/>
              <a:t>6</a:t>
            </a:r>
            <a:endParaRPr lang="th-TH" dirty="0"/>
          </a:p>
        </p:txBody>
      </p:sp>
      <p:sp>
        <p:nvSpPr>
          <p:cNvPr id="4" name="Slide Number Placeholder 3"/>
          <p:cNvSpPr>
            <a:spLocks noGrp="1"/>
          </p:cNvSpPr>
          <p:nvPr>
            <p:ph type="sldNum" sz="quarter" idx="5"/>
          </p:nvPr>
        </p:nvSpPr>
        <p:spPr/>
        <p:txBody>
          <a:bodyPr/>
          <a:lstStyle/>
          <a:p>
            <a:fld id="{4D30BBFF-256F-004A-B466-D7A1C41ADAD5}" type="slidenum">
              <a:rPr lang="x-none" smtClean="0"/>
              <a:t>4</a:t>
            </a:fld>
            <a:endParaRPr lang="x-none"/>
          </a:p>
        </p:txBody>
      </p:sp>
    </p:spTree>
    <p:extLst>
      <p:ext uri="{BB962C8B-B14F-4D97-AF65-F5344CB8AC3E}">
        <p14:creationId xmlns:p14="http://schemas.microsoft.com/office/powerpoint/2010/main" val="2061153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D61325-C3CE-4DCC-9429-B8D45AC53B9F}" type="slidenum">
              <a:rPr lang="en-US" smtClean="0"/>
              <a:t>5</a:t>
            </a:fld>
            <a:endParaRPr lang="en-US"/>
          </a:p>
        </p:txBody>
      </p:sp>
    </p:spTree>
    <p:extLst>
      <p:ext uri="{BB962C8B-B14F-4D97-AF65-F5344CB8AC3E}">
        <p14:creationId xmlns:p14="http://schemas.microsoft.com/office/powerpoint/2010/main" val="837200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2840568"/>
            <a:ext cx="5829300" cy="1960033"/>
          </a:xfrm>
        </p:spPr>
        <p:txBody>
          <a:bodyPr/>
          <a:lstStyle/>
          <a:p>
            <a:r>
              <a:rPr lang="en-US"/>
              <a:t>Click to edit Master title style</a:t>
            </a:r>
          </a:p>
        </p:txBody>
      </p:sp>
      <p:sp>
        <p:nvSpPr>
          <p:cNvPr id="3" name="Subtitle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047A014-A296-4BC7-B627-8AC2C71DC79A}" type="datetime1">
              <a:rPr lang="en-US" smtClean="0"/>
              <a:t>21-Mar-26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95813307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CDB215-8979-4C4B-8BFF-594D56AA267D}" type="datetime1">
              <a:rPr lang="en-US" smtClean="0"/>
              <a:t>21-Mar-26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2975940730"/>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735" y="5875867"/>
            <a:ext cx="5829300" cy="181610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CDC7C3-8DAC-42B5-992E-67718E4C44E5}" type="datetime1">
              <a:rPr lang="en-US" smtClean="0"/>
              <a:t>21-Mar-26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4183853049"/>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7175"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628900"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9922C08-459E-4CD8-B5EB-31D4A04C5811}" type="datetime1">
              <a:rPr lang="en-US" smtClean="0"/>
              <a:t>21-Mar-26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3487619625"/>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6184"/>
            <a:ext cx="6172200" cy="1524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52B8B4D-A61B-4297-B86B-E166B5F5EE8D}" type="datetime1">
              <a:rPr lang="en-US" smtClean="0"/>
              <a:t>21-Mar-26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633737455"/>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01687B9-2387-4B48-9744-8FAC5A1118EE}" type="datetime1">
              <a:rPr lang="en-US" smtClean="0"/>
              <a:t>21-Mar-26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1819670914"/>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5B9114-7087-471F-AF84-A0410930461A}" type="datetime1">
              <a:rPr lang="en-US" smtClean="0"/>
              <a:t>21-Mar-26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98396679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4067"/>
            <a:ext cx="2256235" cy="15494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F0D1AB-4ECA-4B83-BD72-A342722AC28A}" type="datetime1">
              <a:rPr lang="en-US" smtClean="0"/>
              <a:t>21-Mar-26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544862049"/>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216" y="6400800"/>
            <a:ext cx="4114800" cy="755651"/>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E8CDB0-7FCC-4FCC-8459-EB9C4EEE4A94}" type="datetime1">
              <a:rPr lang="en-US" smtClean="0"/>
              <a:t>21-Mar-26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4174542708"/>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A88985-0A44-49F4-87FE-C728C8ADB646}" type="datetime1">
              <a:rPr lang="en-US" smtClean="0"/>
              <a:t>21-Mar-26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237131110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729037" y="488951"/>
            <a:ext cx="1157288" cy="104013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57175" y="488951"/>
            <a:ext cx="3357563" cy="10401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C6D9C90-B8D6-4F33-9BC1-9F057637A2EC}" type="datetime1">
              <a:rPr lang="en-US" smtClean="0"/>
              <a:t>21-Mar-26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1897748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0A8762D2-009C-48A5-857B-14D015A0005E}" type="datetime1">
              <a:rPr lang="en-US" smtClean="0"/>
              <a:t>21-Mar-26</a:t>
            </a:fld>
            <a:endParaRPr lang="en-US"/>
          </a:p>
        </p:txBody>
      </p:sp>
      <p:sp>
        <p:nvSpPr>
          <p:cNvPr id="5" name="Footer Placeholder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10452F14-DDA8-46AC-9FFA-A749C5B763D3}" type="slidenum">
              <a:rPr lang="en-US" smtClean="0"/>
              <a:t>‹#›</a:t>
            </a:fld>
            <a:endParaRPr lang="en-US"/>
          </a:p>
        </p:txBody>
      </p:sp>
      <p:sp>
        <p:nvSpPr>
          <p:cNvPr id="7" name="TextBox 6">
            <a:extLst>
              <a:ext uri="{FF2B5EF4-FFF2-40B4-BE49-F238E27FC236}">
                <a16:creationId xmlns:a16="http://schemas.microsoft.com/office/drawing/2014/main" id="{5A981C10-AEFA-B2EB-219B-8A42B27A49D4}"/>
              </a:ext>
            </a:extLst>
          </p:cNvPr>
          <p:cNvSpPr txBox="1"/>
          <p:nvPr userDrawn="1"/>
        </p:nvSpPr>
        <p:spPr>
          <a:xfrm>
            <a:off x="5373216" y="8821052"/>
            <a:ext cx="1440160" cy="215444"/>
          </a:xfrm>
          <a:prstGeom prst="rect">
            <a:avLst/>
          </a:prstGeom>
          <a:noFill/>
        </p:spPr>
        <p:txBody>
          <a:bodyPr wrap="square">
            <a:spAutoFit/>
          </a:bodyPr>
          <a:lstStyle/>
          <a:p>
            <a:r>
              <a:rPr lang="en-US" sz="800" b="0" dirty="0">
                <a:solidFill>
                  <a:schemeClr val="bg1">
                    <a:lumMod val="50000"/>
                  </a:schemeClr>
                </a:solidFill>
                <a:effectLst/>
                <a:latin typeface="Arial" panose="020B0604020202020204" pitchFamily="34" charset="0"/>
                <a:ea typeface="Times New Roman" panose="02020603050405020304" pitchFamily="18" charset="0"/>
                <a:cs typeface="Arial" panose="020B0604020202020204" pitchFamily="34" charset="0"/>
              </a:rPr>
              <a:t>      Wealth Strategy </a:t>
            </a:r>
            <a:fld id="{10452F14-DDA8-46AC-9FFA-A749C5B763D3}" type="slidenum">
              <a:rPr lang="en-US" sz="800" b="0" smtClean="0">
                <a:solidFill>
                  <a:schemeClr val="bg1">
                    <a:lumMod val="50000"/>
                  </a:schemeClr>
                </a:solidFill>
                <a:latin typeface="Arial" panose="020B0604020202020204" pitchFamily="34" charset="0"/>
                <a:cs typeface="Arial" panose="020B0604020202020204" pitchFamily="34" charset="0"/>
              </a:rPr>
              <a:pPr/>
              <a:t>‹#›</a:t>
            </a:fld>
            <a:r>
              <a:rPr lang="en-US" sz="800" b="0" dirty="0">
                <a:solidFill>
                  <a:schemeClr val="bg1">
                    <a:lumMod val="50000"/>
                  </a:schemeClr>
                </a:solidFill>
                <a:effectLst/>
                <a:latin typeface="Arial" panose="020B0604020202020204" pitchFamily="34" charset="0"/>
                <a:ea typeface="Times New Roman" panose="02020603050405020304" pitchFamily="18" charset="0"/>
                <a:cs typeface="Arial" panose="020B0604020202020204" pitchFamily="34" charset="0"/>
              </a:rPr>
              <a:t> </a:t>
            </a:r>
            <a:endParaRPr lang="en-US" sz="800" b="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21983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emf"/><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image" Target="../media/image1.png"/><Relationship Id="rId7" Type="http://schemas.microsoft.com/office/2007/relationships/hdphoto" Target="../media/hdphoto2.wdp"/><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emf"/><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microsoft.com/office/2007/relationships/hdphoto" Target="../media/hdphoto2.wdp"/><Relationship Id="rId5" Type="http://schemas.openxmlformats.org/officeDocument/2006/relationships/image" Target="../media/image5.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microsoft.com/office/2007/relationships/hdphoto" Target="../media/hdphoto2.wdp"/><Relationship Id="rId5" Type="http://schemas.openxmlformats.org/officeDocument/2006/relationships/image" Target="../media/image5.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emf"/></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AD5D-75DD-7C3E-4E12-95FE9E6DA851}"/>
            </a:ext>
          </a:extLst>
        </p:cNvPr>
        <p:cNvGrpSpPr/>
        <p:nvPr/>
      </p:nvGrpSpPr>
      <p:grpSpPr>
        <a:xfrm>
          <a:off x="0" y="0"/>
          <a:ext cx="0" cy="0"/>
          <a:chOff x="0" y="0"/>
          <a:chExt cx="0" cy="0"/>
        </a:xfrm>
      </p:grpSpPr>
      <p:pic>
        <p:nvPicPr>
          <p:cNvPr id="5" name="Picture 4" descr="Watercolor of trees in the fog&#10;&#10;Description automatically generated">
            <a:extLst>
              <a:ext uri="{FF2B5EF4-FFF2-40B4-BE49-F238E27FC236}">
                <a16:creationId xmlns:a16="http://schemas.microsoft.com/office/drawing/2014/main" id="{FB46D737-2FF6-5661-E106-CBC8C1117565}"/>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6" r="8181" b="3959"/>
          <a:stretch/>
        </p:blipFill>
        <p:spPr>
          <a:xfrm>
            <a:off x="0" y="0"/>
            <a:ext cx="6858000" cy="9144000"/>
          </a:xfrm>
          <a:prstGeom prst="rect">
            <a:avLst/>
          </a:prstGeom>
        </p:spPr>
      </p:pic>
      <p:sp>
        <p:nvSpPr>
          <p:cNvPr id="19" name="TextBox 18">
            <a:extLst>
              <a:ext uri="{FF2B5EF4-FFF2-40B4-BE49-F238E27FC236}">
                <a16:creationId xmlns:a16="http://schemas.microsoft.com/office/drawing/2014/main" id="{01D3EDA3-679C-BA8B-9EDE-9A31378F2861}"/>
              </a:ext>
            </a:extLst>
          </p:cNvPr>
          <p:cNvSpPr txBox="1"/>
          <p:nvPr/>
        </p:nvSpPr>
        <p:spPr>
          <a:xfrm>
            <a:off x="658256" y="2649508"/>
            <a:ext cx="72008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12 ธ.ค. </a:t>
            </a:r>
          </a:p>
        </p:txBody>
      </p:sp>
      <p:sp>
        <p:nvSpPr>
          <p:cNvPr id="20" name="TextBox 19">
            <a:extLst>
              <a:ext uri="{FF2B5EF4-FFF2-40B4-BE49-F238E27FC236}">
                <a16:creationId xmlns:a16="http://schemas.microsoft.com/office/drawing/2014/main" id="{FC28B75D-C3AA-F0C5-6200-83DB873637CB}"/>
              </a:ext>
            </a:extLst>
          </p:cNvPr>
          <p:cNvSpPr txBox="1"/>
          <p:nvPr/>
        </p:nvSpPr>
        <p:spPr>
          <a:xfrm>
            <a:off x="531946" y="2641334"/>
            <a:ext cx="904643"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ราชกิจจาประกาศยุบสภา</a:t>
            </a:r>
          </a:p>
        </p:txBody>
      </p:sp>
      <p:sp>
        <p:nvSpPr>
          <p:cNvPr id="21" name="TextBox 20">
            <a:extLst>
              <a:ext uri="{FF2B5EF4-FFF2-40B4-BE49-F238E27FC236}">
                <a16:creationId xmlns:a16="http://schemas.microsoft.com/office/drawing/2014/main" id="{C1FE4F51-5E04-9485-3236-75E85E050C64}"/>
              </a:ext>
            </a:extLst>
          </p:cNvPr>
          <p:cNvSpPr txBox="1"/>
          <p:nvPr/>
        </p:nvSpPr>
        <p:spPr>
          <a:xfrm>
            <a:off x="1497212" y="2649508"/>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13-17 ธ.ค.</a:t>
            </a:r>
          </a:p>
        </p:txBody>
      </p:sp>
      <p:sp>
        <p:nvSpPr>
          <p:cNvPr id="25" name="TextBox 24">
            <a:extLst>
              <a:ext uri="{FF2B5EF4-FFF2-40B4-BE49-F238E27FC236}">
                <a16:creationId xmlns:a16="http://schemas.microsoft.com/office/drawing/2014/main" id="{D3C2255B-69C2-3386-D320-629A8A4034DA}"/>
              </a:ext>
            </a:extLst>
          </p:cNvPr>
          <p:cNvSpPr txBox="1"/>
          <p:nvPr/>
        </p:nvSpPr>
        <p:spPr>
          <a:xfrm>
            <a:off x="2319090" y="2649508"/>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20-28 ธ.ค.</a:t>
            </a:r>
          </a:p>
        </p:txBody>
      </p:sp>
      <p:sp>
        <p:nvSpPr>
          <p:cNvPr id="26" name="TextBox 25">
            <a:extLst>
              <a:ext uri="{FF2B5EF4-FFF2-40B4-BE49-F238E27FC236}">
                <a16:creationId xmlns:a16="http://schemas.microsoft.com/office/drawing/2014/main" id="{5999F6F0-82E9-12DE-4CF8-661B374D7BDF}"/>
              </a:ext>
            </a:extLst>
          </p:cNvPr>
          <p:cNvSpPr txBox="1"/>
          <p:nvPr/>
        </p:nvSpPr>
        <p:spPr>
          <a:xfrm>
            <a:off x="3212976" y="2649508"/>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8 ก.พ.</a:t>
            </a:r>
          </a:p>
        </p:txBody>
      </p:sp>
      <p:sp>
        <p:nvSpPr>
          <p:cNvPr id="27" name="TextBox 26">
            <a:extLst>
              <a:ext uri="{FF2B5EF4-FFF2-40B4-BE49-F238E27FC236}">
                <a16:creationId xmlns:a16="http://schemas.microsoft.com/office/drawing/2014/main" id="{F8D73585-35FB-F0D5-2763-F6BB3312E8F0}"/>
              </a:ext>
            </a:extLst>
          </p:cNvPr>
          <p:cNvSpPr txBox="1"/>
          <p:nvPr/>
        </p:nvSpPr>
        <p:spPr>
          <a:xfrm>
            <a:off x="3872662" y="2653338"/>
            <a:ext cx="878577"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มี.ค.- ต้น เม.ย.</a:t>
            </a:r>
          </a:p>
        </p:txBody>
      </p:sp>
      <p:sp>
        <p:nvSpPr>
          <p:cNvPr id="28" name="TextBox 27">
            <a:extLst>
              <a:ext uri="{FF2B5EF4-FFF2-40B4-BE49-F238E27FC236}">
                <a16:creationId xmlns:a16="http://schemas.microsoft.com/office/drawing/2014/main" id="{4CEC07A3-D6A0-E1B2-370E-DB8B4F43D9B9}"/>
              </a:ext>
            </a:extLst>
          </p:cNvPr>
          <p:cNvSpPr txBox="1"/>
          <p:nvPr/>
        </p:nvSpPr>
        <p:spPr>
          <a:xfrm>
            <a:off x="4731749" y="2655699"/>
            <a:ext cx="779660"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เม.ย.</a:t>
            </a:r>
          </a:p>
        </p:txBody>
      </p:sp>
      <p:sp>
        <p:nvSpPr>
          <p:cNvPr id="29" name="TextBox 28">
            <a:extLst>
              <a:ext uri="{FF2B5EF4-FFF2-40B4-BE49-F238E27FC236}">
                <a16:creationId xmlns:a16="http://schemas.microsoft.com/office/drawing/2014/main" id="{3010FF72-72AB-A1E4-8365-3636CBE05B6A}"/>
              </a:ext>
            </a:extLst>
          </p:cNvPr>
          <p:cNvSpPr txBox="1"/>
          <p:nvPr/>
        </p:nvSpPr>
        <p:spPr>
          <a:xfrm>
            <a:off x="5511409" y="2649965"/>
            <a:ext cx="779660"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พ.ค.</a:t>
            </a:r>
          </a:p>
        </p:txBody>
      </p:sp>
      <p:sp>
        <p:nvSpPr>
          <p:cNvPr id="30" name="TextBox 29">
            <a:extLst>
              <a:ext uri="{FF2B5EF4-FFF2-40B4-BE49-F238E27FC236}">
                <a16:creationId xmlns:a16="http://schemas.microsoft.com/office/drawing/2014/main" id="{5E822032-D7A4-8CF4-B820-3F60B01D58F8}"/>
              </a:ext>
            </a:extLst>
          </p:cNvPr>
          <p:cNvSpPr txBox="1"/>
          <p:nvPr/>
        </p:nvSpPr>
        <p:spPr>
          <a:xfrm>
            <a:off x="1484784" y="2641334"/>
            <a:ext cx="72008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ประกาศวันเลือกตั้ง</a:t>
            </a:r>
          </a:p>
        </p:txBody>
      </p:sp>
      <p:sp>
        <p:nvSpPr>
          <p:cNvPr id="32" name="TextBox 31">
            <a:extLst>
              <a:ext uri="{FF2B5EF4-FFF2-40B4-BE49-F238E27FC236}">
                <a16:creationId xmlns:a16="http://schemas.microsoft.com/office/drawing/2014/main" id="{745AAF70-D983-7504-39C7-037FE66D73A6}"/>
              </a:ext>
            </a:extLst>
          </p:cNvPr>
          <p:cNvSpPr txBox="1"/>
          <p:nvPr/>
        </p:nvSpPr>
        <p:spPr>
          <a:xfrm>
            <a:off x="2276872" y="2637439"/>
            <a:ext cx="77966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พรรคส่งผู้สมัคร ส.ส.</a:t>
            </a:r>
          </a:p>
        </p:txBody>
      </p:sp>
      <p:sp>
        <p:nvSpPr>
          <p:cNvPr id="34" name="TextBox 33">
            <a:extLst>
              <a:ext uri="{FF2B5EF4-FFF2-40B4-BE49-F238E27FC236}">
                <a16:creationId xmlns:a16="http://schemas.microsoft.com/office/drawing/2014/main" id="{7E062017-FAEE-96BF-D26F-89DCC0880C8E}"/>
              </a:ext>
            </a:extLst>
          </p:cNvPr>
          <p:cNvSpPr txBox="1"/>
          <p:nvPr/>
        </p:nvSpPr>
        <p:spPr>
          <a:xfrm>
            <a:off x="3072457" y="2661863"/>
            <a:ext cx="779660"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เลือกตั้ง</a:t>
            </a:r>
          </a:p>
        </p:txBody>
      </p:sp>
      <p:sp>
        <p:nvSpPr>
          <p:cNvPr id="35" name="TextBox 34">
            <a:extLst>
              <a:ext uri="{FF2B5EF4-FFF2-40B4-BE49-F238E27FC236}">
                <a16:creationId xmlns:a16="http://schemas.microsoft.com/office/drawing/2014/main" id="{3B782CAF-F939-A52B-3801-9742737BB1B9}"/>
              </a:ext>
            </a:extLst>
          </p:cNvPr>
          <p:cNvSpPr txBox="1"/>
          <p:nvPr/>
        </p:nvSpPr>
        <p:spPr>
          <a:xfrm>
            <a:off x="3810726" y="2667080"/>
            <a:ext cx="878577"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 ส.ส. อย่างทางการ</a:t>
            </a:r>
          </a:p>
        </p:txBody>
      </p:sp>
      <p:sp>
        <p:nvSpPr>
          <p:cNvPr id="36" name="TextBox 35">
            <a:extLst>
              <a:ext uri="{FF2B5EF4-FFF2-40B4-BE49-F238E27FC236}">
                <a16:creationId xmlns:a16="http://schemas.microsoft.com/office/drawing/2014/main" id="{1A9E9AAC-6A37-023B-CB7D-D641133919A7}"/>
              </a:ext>
            </a:extLst>
          </p:cNvPr>
          <p:cNvSpPr txBox="1"/>
          <p:nvPr/>
        </p:nvSpPr>
        <p:spPr>
          <a:xfrm>
            <a:off x="4590386" y="2658083"/>
            <a:ext cx="1125089"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เลือกนายก/แต่งตั้งคณะรัฐมนตรี</a:t>
            </a:r>
          </a:p>
        </p:txBody>
      </p:sp>
      <p:sp>
        <p:nvSpPr>
          <p:cNvPr id="38" name="TextBox 37">
            <a:extLst>
              <a:ext uri="{FF2B5EF4-FFF2-40B4-BE49-F238E27FC236}">
                <a16:creationId xmlns:a16="http://schemas.microsoft.com/office/drawing/2014/main" id="{BFC4648D-0610-3B7B-438F-BDB5A8586805}"/>
              </a:ext>
            </a:extLst>
          </p:cNvPr>
          <p:cNvSpPr txBox="1"/>
          <p:nvPr/>
        </p:nvSpPr>
        <p:spPr>
          <a:xfrm>
            <a:off x="5509560" y="2658083"/>
            <a:ext cx="1125089"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รัฐบาลใหม่</a:t>
            </a:r>
          </a:p>
        </p:txBody>
      </p:sp>
      <p:sp>
        <p:nvSpPr>
          <p:cNvPr id="24" name="TextBox 23">
            <a:extLst>
              <a:ext uri="{FF2B5EF4-FFF2-40B4-BE49-F238E27FC236}">
                <a16:creationId xmlns:a16="http://schemas.microsoft.com/office/drawing/2014/main" id="{8C8CCC20-1C5E-6125-6A36-E7FC910AC4BE}"/>
              </a:ext>
            </a:extLst>
          </p:cNvPr>
          <p:cNvSpPr txBox="1"/>
          <p:nvPr/>
        </p:nvSpPr>
        <p:spPr>
          <a:xfrm>
            <a:off x="5517232" y="454697"/>
            <a:ext cx="1196244" cy="246221"/>
          </a:xfrm>
          <a:prstGeom prst="rect">
            <a:avLst/>
          </a:prstGeom>
          <a:noFill/>
        </p:spPr>
        <p:txBody>
          <a:bodyPr wrap="square" rtlCol="0">
            <a:spAutoFit/>
          </a:bodyPr>
          <a:lstStyle/>
          <a:p>
            <a:r>
              <a:rPr lang="en-US" sz="1000" b="1" dirty="0">
                <a:solidFill>
                  <a:schemeClr val="tx2"/>
                </a:solidFill>
                <a:latin typeface="BLS Bold" panose="00000800000000000000" pitchFamily="50" charset="-34"/>
                <a:cs typeface="BLS Bold" panose="00000800000000000000" pitchFamily="50" charset="-34"/>
              </a:rPr>
              <a:t>March 23, 2026</a:t>
            </a:r>
          </a:p>
        </p:txBody>
      </p:sp>
      <p:pic>
        <p:nvPicPr>
          <p:cNvPr id="40" name="Picture 2">
            <a:extLst>
              <a:ext uri="{FF2B5EF4-FFF2-40B4-BE49-F238E27FC236}">
                <a16:creationId xmlns:a16="http://schemas.microsoft.com/office/drawing/2014/main" id="{D40CF1FE-6670-0F86-7CBF-4A474C22E170}"/>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3218" y="194588"/>
            <a:ext cx="1725613"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TextBox 41">
            <a:extLst>
              <a:ext uri="{FF2B5EF4-FFF2-40B4-BE49-F238E27FC236}">
                <a16:creationId xmlns:a16="http://schemas.microsoft.com/office/drawing/2014/main" id="{E1F831D5-46CB-EB78-341D-EACF1E4B4898}"/>
              </a:ext>
            </a:extLst>
          </p:cNvPr>
          <p:cNvSpPr txBox="1"/>
          <p:nvPr/>
        </p:nvSpPr>
        <p:spPr>
          <a:xfrm>
            <a:off x="1162281" y="138550"/>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 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44" name="TextBox 43">
            <a:extLst>
              <a:ext uri="{FF2B5EF4-FFF2-40B4-BE49-F238E27FC236}">
                <a16:creationId xmlns:a16="http://schemas.microsoft.com/office/drawing/2014/main" id="{7D94CCD9-3CD7-7EBD-08D1-4EDC6069CD8F}"/>
              </a:ext>
            </a:extLst>
          </p:cNvPr>
          <p:cNvSpPr txBox="1"/>
          <p:nvPr/>
        </p:nvSpPr>
        <p:spPr>
          <a:xfrm>
            <a:off x="259758" y="539552"/>
            <a:ext cx="4825426" cy="1015663"/>
          </a:xfrm>
          <a:prstGeom prst="rect">
            <a:avLst/>
          </a:prstGeom>
          <a:noFill/>
        </p:spPr>
        <p:txBody>
          <a:bodyPr wrap="square" rtlCol="0">
            <a:spAutoFit/>
          </a:bodyPr>
          <a:lstStyle/>
          <a:p>
            <a:r>
              <a:rPr lang="el-GR" sz="6000" dirty="0">
                <a:solidFill>
                  <a:schemeClr val="accent3">
                    <a:lumMod val="75000"/>
                  </a:schemeClr>
                </a:solidFill>
                <a:latin typeface="BLS Condensed Bold" pitchFamily="2" charset="-34"/>
                <a:ea typeface="Tahoma" pitchFamily="34" charset="0"/>
                <a:cs typeface="BLS Condensed Bold" pitchFamily="2" charset="-34"/>
              </a:rPr>
              <a:t>α</a:t>
            </a:r>
            <a:r>
              <a:rPr lang="en-US" sz="3600" dirty="0" err="1">
                <a:latin typeface="BLS Condensed Bold" pitchFamily="2" charset="-34"/>
                <a:ea typeface="Tahoma" pitchFamily="34" charset="0"/>
                <a:cs typeface="BLS Condensed Bold" pitchFamily="2" charset="-34"/>
              </a:rPr>
              <a:t>lpha</a:t>
            </a:r>
            <a:r>
              <a:rPr lang="en-US" sz="3600" dirty="0">
                <a:latin typeface="BLS Condensed Bold" pitchFamily="2" charset="-34"/>
                <a:ea typeface="Tahoma" pitchFamily="34" charset="0"/>
                <a:cs typeface="BLS Condensed Bold" pitchFamily="2" charset="-34"/>
              </a:rPr>
              <a:t> </a:t>
            </a:r>
            <a:r>
              <a:rPr lang="en-US" sz="3200" dirty="0">
                <a:latin typeface="BLS Condensed Bold" pitchFamily="2" charset="-34"/>
                <a:ea typeface="Tahoma" pitchFamily="34" charset="0"/>
                <a:cs typeface="BLS Condensed Bold" pitchFamily="2" charset="-34"/>
              </a:rPr>
              <a:t>PULSE </a:t>
            </a:r>
            <a:r>
              <a:rPr lang="en-US" sz="2800" b="1" dirty="0">
                <a:solidFill>
                  <a:schemeClr val="tx1">
                    <a:lumMod val="65000"/>
                    <a:lumOff val="35000"/>
                  </a:schemeClr>
                </a:solidFill>
                <a:latin typeface="BLS Condensed "/>
                <a:ea typeface="Tahoma" pitchFamily="34" charset="0"/>
                <a:cs typeface="BLS Condensed Bold" pitchFamily="2" charset="-34"/>
              </a:rPr>
              <a:t>|</a:t>
            </a:r>
            <a:r>
              <a:rPr lang="en-GB" sz="3000" dirty="0">
                <a:solidFill>
                  <a:srgbClr val="DB002A"/>
                </a:solidFill>
                <a:latin typeface="BLS Condensed Bold" pitchFamily="2" charset="-34"/>
                <a:ea typeface="Tahoma" pitchFamily="34" charset="0"/>
                <a:cs typeface="BLS Condensed Bold" pitchFamily="2" charset="-34"/>
              </a:rPr>
              <a:t> </a:t>
            </a:r>
            <a:r>
              <a:rPr lang="en-US" sz="2400" dirty="0">
                <a:solidFill>
                  <a:schemeClr val="bg1">
                    <a:lumMod val="50000"/>
                  </a:schemeClr>
                </a:solidFill>
                <a:latin typeface="BLS Condensed Bold" pitchFamily="2" charset="-34"/>
                <a:ea typeface="Tahoma" pitchFamily="34" charset="0"/>
                <a:cs typeface="BLS Condensed Bold" pitchFamily="2" charset="-34"/>
              </a:rPr>
              <a:t>W</a:t>
            </a:r>
            <a:r>
              <a:rPr lang="en-GB" sz="2400" dirty="0" err="1">
                <a:solidFill>
                  <a:schemeClr val="bg1">
                    <a:lumMod val="50000"/>
                  </a:schemeClr>
                </a:solidFill>
                <a:latin typeface="BLS Condensed Bold" pitchFamily="2" charset="-34"/>
                <a:ea typeface="Tahoma" pitchFamily="34" charset="0"/>
                <a:cs typeface="BLS Condensed Bold" pitchFamily="2" charset="-34"/>
              </a:rPr>
              <a:t>eekly</a:t>
            </a:r>
            <a:r>
              <a:rPr lang="en-GB" sz="2400" dirty="0">
                <a:solidFill>
                  <a:schemeClr val="bg1">
                    <a:lumMod val="50000"/>
                  </a:schemeClr>
                </a:solidFill>
                <a:latin typeface="BLS Condensed Bold" pitchFamily="2" charset="-34"/>
                <a:ea typeface="Tahoma" pitchFamily="34" charset="0"/>
                <a:cs typeface="BLS Condensed Bold" pitchFamily="2" charset="-34"/>
              </a:rPr>
              <a:t> strategy</a:t>
            </a:r>
            <a:endParaRPr lang="en-GB" sz="2000" dirty="0">
              <a:solidFill>
                <a:schemeClr val="bg1">
                  <a:lumMod val="50000"/>
                </a:schemeClr>
              </a:solidFill>
              <a:latin typeface="BLS Condensed Bold" pitchFamily="2" charset="-34"/>
              <a:ea typeface="Tahoma" pitchFamily="34" charset="0"/>
              <a:cs typeface="BLS Condensed Bold" pitchFamily="2" charset="-34"/>
            </a:endParaRPr>
          </a:p>
        </p:txBody>
      </p:sp>
      <p:sp>
        <p:nvSpPr>
          <p:cNvPr id="45" name="TextBox 44">
            <a:extLst>
              <a:ext uri="{FF2B5EF4-FFF2-40B4-BE49-F238E27FC236}">
                <a16:creationId xmlns:a16="http://schemas.microsoft.com/office/drawing/2014/main" id="{EDDE772F-3591-A6B2-8675-AD72CCBF567B}"/>
              </a:ext>
            </a:extLst>
          </p:cNvPr>
          <p:cNvSpPr txBox="1"/>
          <p:nvPr/>
        </p:nvSpPr>
        <p:spPr>
          <a:xfrm>
            <a:off x="106587" y="1450975"/>
            <a:ext cx="6922812" cy="338554"/>
          </a:xfrm>
          <a:prstGeom prst="rect">
            <a:avLst/>
          </a:prstGeom>
          <a:noFill/>
          <a:ln>
            <a:noFill/>
          </a:ln>
        </p:spPr>
        <p:txBody>
          <a:bodyPr wrap="square" rtlCol="0">
            <a:spAutoFit/>
          </a:bodyPr>
          <a:lstStyle/>
          <a:p>
            <a:r>
              <a:rPr lang="en-US" altLang="en-US" sz="1550" b="1" dirty="0">
                <a:solidFill>
                  <a:schemeClr val="tx2"/>
                </a:solidFill>
                <a:latin typeface="BLS Condensed" pitchFamily="2" charset="-34"/>
                <a:ea typeface="Tahoma" pitchFamily="34" charset="0"/>
                <a:cs typeface="BLS Condensed" pitchFamily="2" charset="-34"/>
              </a:rPr>
              <a:t>War Impact on Earnings Revisions |</a:t>
            </a:r>
            <a:r>
              <a:rPr lang="th-TH" altLang="en-US" sz="1550" b="1" dirty="0">
                <a:solidFill>
                  <a:schemeClr val="tx2"/>
                </a:solidFill>
                <a:latin typeface="BLS Condensed" pitchFamily="2" charset="-34"/>
                <a:ea typeface="Tahoma" pitchFamily="34" charset="0"/>
                <a:cs typeface="BLS Condensed" pitchFamily="2" charset="-34"/>
              </a:rPr>
              <a:t> ประเมินผลกระทบสงครามผ่านการปรับประมาณการณ์กำไร </a:t>
            </a:r>
            <a:endParaRPr lang="en-US" altLang="en-US" sz="1550" b="1" dirty="0">
              <a:solidFill>
                <a:schemeClr val="tx2"/>
              </a:solidFill>
              <a:latin typeface="BLS Condensed" pitchFamily="2" charset="-34"/>
              <a:ea typeface="Tahoma" pitchFamily="34" charset="0"/>
              <a:cs typeface="BLS Condensed" pitchFamily="2" charset="-34"/>
            </a:endParaRPr>
          </a:p>
        </p:txBody>
      </p:sp>
      <p:sp>
        <p:nvSpPr>
          <p:cNvPr id="47" name="TextBox 46">
            <a:extLst>
              <a:ext uri="{FF2B5EF4-FFF2-40B4-BE49-F238E27FC236}">
                <a16:creationId xmlns:a16="http://schemas.microsoft.com/office/drawing/2014/main" id="{C9066BA8-BE99-5985-B984-4F43D0AC32DB}"/>
              </a:ext>
            </a:extLst>
          </p:cNvPr>
          <p:cNvSpPr txBox="1"/>
          <p:nvPr/>
        </p:nvSpPr>
        <p:spPr>
          <a:xfrm>
            <a:off x="4293096" y="8244408"/>
            <a:ext cx="2471462" cy="923330"/>
          </a:xfrm>
          <a:prstGeom prst="rect">
            <a:avLst/>
          </a:prstGeom>
          <a:noFill/>
          <a:ln>
            <a:noFill/>
          </a:ln>
        </p:spPr>
        <p:txBody>
          <a:bodyPr wrap="square" rtlCol="0">
            <a:spAutoFit/>
          </a:bodyPr>
          <a:lstStyle/>
          <a:p>
            <a:pPr algn="r"/>
            <a:r>
              <a:rPr lang="en-US" sz="900" b="1" dirty="0">
                <a:solidFill>
                  <a:schemeClr val="accent5">
                    <a:lumMod val="75000"/>
                  </a:schemeClr>
                </a:solidFill>
                <a:latin typeface="BLS Condensed" pitchFamily="2" charset="-34"/>
                <a:ea typeface="Tahoma" pitchFamily="34" charset="0"/>
                <a:cs typeface="BLS Condensed" pitchFamily="2" charset="-34"/>
              </a:rPr>
              <a:t>Wealth Research</a:t>
            </a:r>
            <a:endParaRPr lang="en-US" sz="500" dirty="0">
              <a:solidFill>
                <a:schemeClr val="tx1">
                  <a:lumMod val="95000"/>
                  <a:lumOff val="5000"/>
                </a:schemeClr>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a:p>
            <a:pPr algn="r"/>
            <a:r>
              <a:rPr lang="th-TH" sz="700" dirty="0">
                <a:solidFill>
                  <a:srgbClr val="404040"/>
                </a:solidFill>
                <a:latin typeface="BLS Condensed" pitchFamily="2" charset="-34"/>
                <a:ea typeface="Tahoma" pitchFamily="34" charset="0"/>
                <a:cs typeface="BLS Condensed" pitchFamily="2" charset="-34"/>
              </a:rPr>
              <a:t>พิริยพล  คงวาณิช</a:t>
            </a:r>
            <a:endParaRPr lang="en-US" sz="700" dirty="0">
              <a:solidFill>
                <a:srgbClr val="404040"/>
              </a:solidFill>
              <a:latin typeface="BLS Condensed" pitchFamily="2" charset="-34"/>
              <a:ea typeface="Tahoma" pitchFamily="34" charset="0"/>
              <a:cs typeface="BLS Condensed" pitchFamily="2" charset="-34"/>
            </a:endParaRPr>
          </a:p>
          <a:p>
            <a:pPr algn="r"/>
            <a:r>
              <a:rPr lang="th-TH" sz="500" dirty="0">
                <a:solidFill>
                  <a:srgbClr val="404040"/>
                </a:solidFill>
                <a:latin typeface="BLS Condensed" pitchFamily="2" charset="-34"/>
                <a:ea typeface="Tahoma" pitchFamily="34" charset="0"/>
                <a:cs typeface="BLS Condensed" pitchFamily="2" charset="-34"/>
              </a:rPr>
              <a:t>นักกลยุทธ์/ผู้จัดการกองทุน/</a:t>
            </a:r>
            <a:endParaRPr lang="en-US" sz="500" dirty="0">
              <a:solidFill>
                <a:srgbClr val="404040"/>
              </a:solidFill>
              <a:latin typeface="BLS Condensed" pitchFamily="2" charset="-34"/>
              <a:ea typeface="Tahoma" pitchFamily="34" charset="0"/>
              <a:cs typeface="BLS Condensed" pitchFamily="2" charset="-34"/>
            </a:endParaRPr>
          </a:p>
          <a:p>
            <a:pPr algn="r"/>
            <a:r>
              <a:rPr lang="th-TH" sz="500" dirty="0">
                <a:solidFill>
                  <a:srgbClr val="404040"/>
                </a:solidFill>
                <a:latin typeface="BLS Condensed" pitchFamily="2" charset="-34"/>
                <a:ea typeface="Tahoma" pitchFamily="34" charset="0"/>
                <a:cs typeface="BLS Condensed" pitchFamily="2" charset="-34"/>
              </a:rPr>
              <a:t>นักวิเคราะห์การลงทุนปัจจัยพื้นฐานด้านหลักทรัพย์</a:t>
            </a:r>
          </a:p>
          <a:p>
            <a:pPr algn="r"/>
            <a:r>
              <a:rPr lang="en-US" sz="500" dirty="0">
                <a:solidFill>
                  <a:srgbClr val="404040"/>
                </a:solidFill>
                <a:latin typeface="BLS Condensed" pitchFamily="2" charset="-34"/>
                <a:ea typeface="Tahoma" pitchFamily="34" charset="0"/>
                <a:cs typeface="BLS Condensed" pitchFamily="2" charset="-34"/>
              </a:rPr>
              <a:t>Piriyapon.kon@bualuang.co.th</a:t>
            </a:r>
          </a:p>
          <a:p>
            <a:pPr algn="r"/>
            <a:r>
              <a:rPr lang="en-US" sz="500" dirty="0">
                <a:solidFill>
                  <a:schemeClr val="accent5">
                    <a:lumMod val="75000"/>
                  </a:schemeClr>
                </a:solidFill>
                <a:latin typeface="BLS Condensed" pitchFamily="2" charset="-34"/>
                <a:ea typeface="Tahoma" pitchFamily="34" charset="0"/>
                <a:cs typeface="BLS Condensed" pitchFamily="2" charset="-34"/>
              </a:rPr>
              <a:t>+66 2 618 1333</a:t>
            </a:r>
            <a:endParaRPr lang="en-US" sz="700" dirty="0">
              <a:solidFill>
                <a:srgbClr val="404040"/>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a:p>
            <a:pPr algn="r"/>
            <a:r>
              <a:rPr lang="th-TH" sz="700" dirty="0">
                <a:solidFill>
                  <a:srgbClr val="404040"/>
                </a:solidFill>
                <a:latin typeface="BLS Condensed" pitchFamily="2" charset="-34"/>
                <a:ea typeface="Tahoma" pitchFamily="34" charset="0"/>
                <a:cs typeface="BLS Condensed" pitchFamily="2" charset="-34"/>
              </a:rPr>
              <a:t>อิทธิ สุตัณฑวิบูลย์ </a:t>
            </a:r>
          </a:p>
          <a:p>
            <a:pPr algn="r"/>
            <a:r>
              <a:rPr lang="th-TH" sz="500" dirty="0">
                <a:solidFill>
                  <a:srgbClr val="404040"/>
                </a:solidFill>
                <a:latin typeface="BLS Condensed" pitchFamily="2" charset="-34"/>
                <a:ea typeface="Tahoma" pitchFamily="34" charset="0"/>
                <a:cs typeface="BLS Condensed" pitchFamily="2" charset="-34"/>
              </a:rPr>
              <a:t>ผู้ช่วยนักวิเคราะห์</a:t>
            </a:r>
            <a:endParaRPr lang="en-US" sz="500" dirty="0">
              <a:solidFill>
                <a:srgbClr val="404040"/>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p:txBody>
      </p:sp>
      <p:cxnSp>
        <p:nvCxnSpPr>
          <p:cNvPr id="48" name="Straight Connector 47">
            <a:extLst>
              <a:ext uri="{FF2B5EF4-FFF2-40B4-BE49-F238E27FC236}">
                <a16:creationId xmlns:a16="http://schemas.microsoft.com/office/drawing/2014/main" id="{DB442B00-E779-9C8E-61D1-873917185A99}"/>
              </a:ext>
            </a:extLst>
          </p:cNvPr>
          <p:cNvCxnSpPr/>
          <p:nvPr/>
        </p:nvCxnSpPr>
        <p:spPr>
          <a:xfrm>
            <a:off x="4437360" y="8264589"/>
            <a:ext cx="22320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5CFB5291-3F9E-F04A-57ED-EC8540FF0A70}"/>
              </a:ext>
            </a:extLst>
          </p:cNvPr>
          <p:cNvSpPr txBox="1"/>
          <p:nvPr/>
        </p:nvSpPr>
        <p:spPr>
          <a:xfrm>
            <a:off x="4039911" y="1838921"/>
            <a:ext cx="2848745" cy="246221"/>
          </a:xfrm>
          <a:prstGeom prst="rect">
            <a:avLst/>
          </a:prstGeom>
          <a:noFill/>
        </p:spPr>
        <p:txBody>
          <a:bodyPr wrap="square" rtlCol="0">
            <a:spAutoFit/>
          </a:bodyPr>
          <a:lstStyle/>
          <a:p>
            <a:r>
              <a:rPr lang="en-US" sz="1000" b="1" dirty="0">
                <a:solidFill>
                  <a:schemeClr val="tx2"/>
                </a:solidFill>
                <a:latin typeface="BLS Bold" panose="00000800000000000000" pitchFamily="2" charset="-34"/>
                <a:cs typeface="BLS Bold" panose="00000800000000000000" pitchFamily="2" charset="-34"/>
              </a:rPr>
              <a:t>SET target: 1560</a:t>
            </a:r>
          </a:p>
        </p:txBody>
      </p:sp>
      <p:cxnSp>
        <p:nvCxnSpPr>
          <p:cNvPr id="51" name="Straight Connector 50">
            <a:extLst>
              <a:ext uri="{FF2B5EF4-FFF2-40B4-BE49-F238E27FC236}">
                <a16:creationId xmlns:a16="http://schemas.microsoft.com/office/drawing/2014/main" id="{AA859AB4-FEB7-E719-3157-D4109949119E}"/>
              </a:ext>
            </a:extLst>
          </p:cNvPr>
          <p:cNvCxnSpPr>
            <a:cxnSpLocks/>
          </p:cNvCxnSpPr>
          <p:nvPr/>
        </p:nvCxnSpPr>
        <p:spPr>
          <a:xfrm>
            <a:off x="4008212" y="2092837"/>
            <a:ext cx="27432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FCD14692-5E72-A147-72A0-450B7B453809}"/>
              </a:ext>
            </a:extLst>
          </p:cNvPr>
          <p:cNvSpPr txBox="1"/>
          <p:nvPr/>
        </p:nvSpPr>
        <p:spPr>
          <a:xfrm>
            <a:off x="4018706" y="2073840"/>
            <a:ext cx="2290634" cy="230832"/>
          </a:xfrm>
          <a:prstGeom prst="rect">
            <a:avLst/>
          </a:prstGeom>
          <a:noFill/>
        </p:spPr>
        <p:txBody>
          <a:bodyPr wrap="square" lIns="0" rIns="0" rtlCol="0">
            <a:spAutoFit/>
          </a:bodyPr>
          <a:lstStyle/>
          <a:p>
            <a:r>
              <a:rPr lang="en-US" sz="900" dirty="0">
                <a:solidFill>
                  <a:srgbClr val="A17D3D"/>
                </a:solidFill>
                <a:latin typeface="BLS Condensed" pitchFamily="2" charset="-34"/>
                <a:ea typeface="Tahoma" pitchFamily="34" charset="0"/>
                <a:cs typeface="BLS Condensed" pitchFamily="2" charset="-34"/>
              </a:rPr>
              <a:t>Weekly PULSE: </a:t>
            </a:r>
          </a:p>
        </p:txBody>
      </p:sp>
      <p:sp>
        <p:nvSpPr>
          <p:cNvPr id="2" name="TextBox 1">
            <a:extLst>
              <a:ext uri="{FF2B5EF4-FFF2-40B4-BE49-F238E27FC236}">
                <a16:creationId xmlns:a16="http://schemas.microsoft.com/office/drawing/2014/main" id="{9E85ABDE-7CE6-F0E6-1824-B9305003B1AB}"/>
              </a:ext>
            </a:extLst>
          </p:cNvPr>
          <p:cNvSpPr txBox="1"/>
          <p:nvPr/>
        </p:nvSpPr>
        <p:spPr>
          <a:xfrm>
            <a:off x="188640" y="1859779"/>
            <a:ext cx="3711820" cy="6996787"/>
          </a:xfrm>
          <a:prstGeom prst="rect">
            <a:avLst/>
          </a:prstGeom>
          <a:solidFill>
            <a:schemeClr val="accent5">
              <a:lumMod val="20000"/>
              <a:lumOff val="80000"/>
            </a:schemeClr>
          </a:solidFill>
          <a:ln>
            <a:noFill/>
          </a:ln>
        </p:spPr>
        <p:txBody>
          <a:bodyPr wrap="square" rtlCol="0">
            <a:spAutoFit/>
          </a:bodyPr>
          <a:lstStyle/>
          <a:p>
            <a:pPr algn="thaiDist">
              <a:lnSpc>
                <a:spcPct val="120000"/>
              </a:lnSpc>
              <a:spcBef>
                <a:spcPts val="400"/>
              </a:spcBef>
              <a:buSzPct val="120000"/>
            </a:pPr>
            <a:r>
              <a:rPr lang="th-TH" sz="900" b="1" dirty="0">
                <a:solidFill>
                  <a:schemeClr val="tx1">
                    <a:lumMod val="65000"/>
                    <a:lumOff val="35000"/>
                  </a:schemeClr>
                </a:solidFill>
                <a:latin typeface="BLS Text" panose="00000500000000000000" pitchFamily="2" charset="-34"/>
                <a:cs typeface="BLS Text" pitchFamily="2" charset="-34"/>
              </a:rPr>
              <a:t>สรุปผลกระทบสงครามต่อแต่ละธุรกิจ</a:t>
            </a:r>
            <a:r>
              <a:rPr lang="en-US" sz="900" b="1" dirty="0">
                <a:solidFill>
                  <a:schemeClr val="tx1">
                    <a:lumMod val="65000"/>
                    <a:lumOff val="35000"/>
                  </a:schemeClr>
                </a:solidFill>
                <a:latin typeface="BLS Text" panose="00000500000000000000" pitchFamily="2" charset="-34"/>
                <a:cs typeface="BLS Text" pitchFamily="2" charset="-34"/>
              </a:rPr>
              <a:t>:</a:t>
            </a:r>
            <a:r>
              <a:rPr lang="th-TH" sz="900" b="1" dirty="0">
                <a:solidFill>
                  <a:schemeClr val="tx1">
                    <a:lumMod val="65000"/>
                    <a:lumOff val="35000"/>
                  </a:schemeClr>
                </a:solidFill>
                <a:latin typeface="BLS Text" panose="00000500000000000000" pitchFamily="2" charset="-34"/>
                <a:cs typeface="BLS Text" pitchFamily="2" charset="-34"/>
              </a:rPr>
              <a:t> </a:t>
            </a:r>
            <a:r>
              <a:rPr lang="th-TH" sz="900" dirty="0">
                <a:solidFill>
                  <a:schemeClr val="tx1">
                    <a:lumMod val="65000"/>
                    <a:lumOff val="35000"/>
                  </a:schemeClr>
                </a:solidFill>
                <a:latin typeface="BLS Text" panose="00000500000000000000" pitchFamily="2" charset="-34"/>
                <a:cs typeface="BLS Text" pitchFamily="2" charset="-34"/>
              </a:rPr>
              <a:t>ผลกระทบหลักเกิดผ่าน 3 ช่องทางคือ ต้นทุนพลังงาน (</a:t>
            </a:r>
            <a:r>
              <a:rPr lang="en-US" sz="900" dirty="0">
                <a:solidFill>
                  <a:schemeClr val="tx1">
                    <a:lumMod val="65000"/>
                    <a:lumOff val="35000"/>
                  </a:schemeClr>
                </a:solidFill>
                <a:latin typeface="BLS Text" panose="00000500000000000000" pitchFamily="2" charset="-34"/>
                <a:cs typeface="BLS Text" pitchFamily="2" charset="-34"/>
              </a:rPr>
              <a:t>cost shock), </a:t>
            </a:r>
            <a:r>
              <a:rPr lang="th-TH" sz="900" dirty="0">
                <a:solidFill>
                  <a:schemeClr val="tx1">
                    <a:lumMod val="65000"/>
                    <a:lumOff val="35000"/>
                  </a:schemeClr>
                </a:solidFill>
                <a:latin typeface="BLS Text" panose="00000500000000000000" pitchFamily="2" charset="-34"/>
                <a:cs typeface="BLS Text" pitchFamily="2" charset="-34"/>
              </a:rPr>
              <a:t>การสะดุดของห่วงโซ่อุปทาน (</a:t>
            </a:r>
            <a:r>
              <a:rPr lang="en-US" sz="900" dirty="0">
                <a:solidFill>
                  <a:schemeClr val="tx1">
                    <a:lumMod val="65000"/>
                    <a:lumOff val="35000"/>
                  </a:schemeClr>
                </a:solidFill>
                <a:latin typeface="BLS Text" panose="00000500000000000000" pitchFamily="2" charset="-34"/>
                <a:cs typeface="BLS Text" pitchFamily="2" charset="-34"/>
              </a:rPr>
              <a:t>supply disruption) </a:t>
            </a:r>
            <a:r>
              <a:rPr lang="th-TH" sz="900" dirty="0">
                <a:solidFill>
                  <a:schemeClr val="tx1">
                    <a:lumMod val="65000"/>
                    <a:lumOff val="35000"/>
                  </a:schemeClr>
                </a:solidFill>
                <a:latin typeface="BLS Text" panose="00000500000000000000" pitchFamily="2" charset="-34"/>
                <a:cs typeface="BLS Text" pitchFamily="2" charset="-34"/>
              </a:rPr>
              <a:t>และการชะลอของการเดินทาง/อุปสงค์ (</a:t>
            </a:r>
            <a:r>
              <a:rPr lang="en-US" sz="900" dirty="0">
                <a:solidFill>
                  <a:schemeClr val="tx1">
                    <a:lumMod val="65000"/>
                    <a:lumOff val="35000"/>
                  </a:schemeClr>
                </a:solidFill>
                <a:latin typeface="BLS Text" panose="00000500000000000000" pitchFamily="2" charset="-34"/>
                <a:cs typeface="BLS Text" pitchFamily="2" charset="-34"/>
              </a:rPr>
              <a:t>mobility &amp; demand) </a:t>
            </a:r>
            <a:r>
              <a:rPr lang="th-TH" sz="900" dirty="0">
                <a:solidFill>
                  <a:schemeClr val="tx1">
                    <a:lumMod val="65000"/>
                    <a:lumOff val="35000"/>
                  </a:schemeClr>
                </a:solidFill>
                <a:latin typeface="BLS Text" panose="00000500000000000000" pitchFamily="2" charset="-34"/>
                <a:cs typeface="BLS Text" pitchFamily="2" charset="-34"/>
              </a:rPr>
              <a:t>ทำให้แต่ละธุรกิจในไทยตอบสนองต่างกัน </a:t>
            </a:r>
          </a:p>
          <a:p>
            <a:pPr algn="thaiDist">
              <a:lnSpc>
                <a:spcPct val="120000"/>
              </a:lnSpc>
              <a:spcBef>
                <a:spcPts val="400"/>
              </a:spcBef>
              <a:buSzPct val="120000"/>
            </a:pPr>
            <a:r>
              <a:rPr lang="th-TH" sz="900" dirty="0">
                <a:solidFill>
                  <a:schemeClr val="tx1">
                    <a:lumMod val="65000"/>
                    <a:lumOff val="35000"/>
                  </a:schemeClr>
                </a:solidFill>
                <a:latin typeface="BLS Text" panose="00000500000000000000" pitchFamily="2" charset="-34"/>
                <a:cs typeface="BLS Text" pitchFamily="2" charset="-34"/>
              </a:rPr>
              <a:t>กลุ่มพลังงานต้นน้ำและโรงกลั่น ได้ประโยชน์จากราคาน้ำมันและค่าการกลั่นที่สูงขึ้น ขณะที่ ธุรกิจปลายน้ำ เช่น ปั๊มน้ำมันถูกจำกัด </a:t>
            </a:r>
            <a:r>
              <a:rPr lang="en-US" sz="900" dirty="0">
                <a:solidFill>
                  <a:schemeClr val="tx1">
                    <a:lumMod val="65000"/>
                    <a:lumOff val="35000"/>
                  </a:schemeClr>
                </a:solidFill>
                <a:latin typeface="BLS Text" panose="00000500000000000000" pitchFamily="2" charset="-34"/>
                <a:cs typeface="BLS Text" pitchFamily="2" charset="-34"/>
              </a:rPr>
              <a:t>margin</a:t>
            </a:r>
            <a:r>
              <a:rPr lang="th-TH" sz="900" dirty="0">
                <a:solidFill>
                  <a:schemeClr val="tx1">
                    <a:lumMod val="65000"/>
                    <a:lumOff val="35000"/>
                  </a:schemeClr>
                </a:solidFill>
                <a:latin typeface="BLS Text" panose="00000500000000000000" pitchFamily="2" charset="-34"/>
                <a:cs typeface="BLS Text" pitchFamily="2" charset="-34"/>
              </a:rPr>
              <a:t> ด้านปิโตรเคมี มีความแตกต่าง—กลุ่ม </a:t>
            </a:r>
            <a:r>
              <a:rPr lang="en-US" sz="900" dirty="0">
                <a:solidFill>
                  <a:schemeClr val="tx1">
                    <a:lumMod val="65000"/>
                    <a:lumOff val="35000"/>
                  </a:schemeClr>
                </a:solidFill>
                <a:latin typeface="BLS Text" panose="00000500000000000000" pitchFamily="2" charset="-34"/>
                <a:cs typeface="BLS Text" pitchFamily="2" charset="-34"/>
              </a:rPr>
              <a:t>naphtha-based </a:t>
            </a:r>
            <a:r>
              <a:rPr lang="th-TH" sz="900" dirty="0">
                <a:solidFill>
                  <a:schemeClr val="tx1">
                    <a:lumMod val="65000"/>
                    <a:lumOff val="35000"/>
                  </a:schemeClr>
                </a:solidFill>
                <a:latin typeface="BLS Text" panose="00000500000000000000" pitchFamily="2" charset="-34"/>
                <a:cs typeface="BLS Text" pitchFamily="2" charset="-34"/>
              </a:rPr>
              <a:t>และนำเข้าวัตถุดิบจากตะวันออกกลางอย่าง </a:t>
            </a:r>
            <a:r>
              <a:rPr lang="en-US" sz="900" dirty="0">
                <a:solidFill>
                  <a:schemeClr val="tx1">
                    <a:lumMod val="65000"/>
                    <a:lumOff val="35000"/>
                  </a:schemeClr>
                </a:solidFill>
                <a:latin typeface="BLS Text" panose="00000500000000000000" pitchFamily="2" charset="-34"/>
                <a:cs typeface="BLS Text" pitchFamily="2" charset="-34"/>
              </a:rPr>
              <a:t>SCC </a:t>
            </a:r>
            <a:r>
              <a:rPr lang="th-TH" sz="900" dirty="0">
                <a:solidFill>
                  <a:schemeClr val="tx1">
                    <a:lumMod val="65000"/>
                    <a:lumOff val="35000"/>
                  </a:schemeClr>
                </a:solidFill>
                <a:latin typeface="BLS Text" panose="00000500000000000000" pitchFamily="2" charset="-34"/>
                <a:cs typeface="BLS Text" pitchFamily="2" charset="-34"/>
              </a:rPr>
              <a:t>อาจเสี่ยงจากภาวะขาดแคลนวัตถุดิบ ขณะที่ กลุ่ม </a:t>
            </a:r>
            <a:r>
              <a:rPr lang="en-US" sz="900" dirty="0">
                <a:solidFill>
                  <a:schemeClr val="tx1">
                    <a:lumMod val="65000"/>
                    <a:lumOff val="35000"/>
                  </a:schemeClr>
                </a:solidFill>
                <a:latin typeface="BLS Text" panose="00000500000000000000" pitchFamily="2" charset="-34"/>
                <a:cs typeface="BLS Text" pitchFamily="2" charset="-34"/>
              </a:rPr>
              <a:t>gas-based / integrated </a:t>
            </a:r>
            <a:r>
              <a:rPr lang="th-TH" sz="900" dirty="0">
                <a:solidFill>
                  <a:schemeClr val="tx1">
                    <a:lumMod val="65000"/>
                    <a:lumOff val="35000"/>
                  </a:schemeClr>
                </a:solidFill>
                <a:latin typeface="BLS Text" panose="00000500000000000000" pitchFamily="2" charset="-34"/>
                <a:cs typeface="BLS Text" pitchFamily="2" charset="-34"/>
              </a:rPr>
              <a:t>อย่าง </a:t>
            </a:r>
            <a:r>
              <a:rPr lang="en-US" sz="900" dirty="0">
                <a:solidFill>
                  <a:schemeClr val="tx1">
                    <a:lumMod val="65000"/>
                    <a:lumOff val="35000"/>
                  </a:schemeClr>
                </a:solidFill>
                <a:latin typeface="BLS Text" panose="00000500000000000000" pitchFamily="2" charset="-34"/>
                <a:cs typeface="BLS Text" pitchFamily="2" charset="-34"/>
              </a:rPr>
              <a:t>PTTGC</a:t>
            </a:r>
            <a:r>
              <a:rPr lang="th-TH" sz="900" dirty="0">
                <a:solidFill>
                  <a:schemeClr val="tx1">
                    <a:lumMod val="65000"/>
                    <a:lumOff val="35000"/>
                  </a:schemeClr>
                </a:solidFill>
                <a:latin typeface="BLS Text" panose="00000500000000000000" pitchFamily="2" charset="-34"/>
                <a:cs typeface="BLS Text" pitchFamily="2" charset="-34"/>
              </a:rPr>
              <a:t> ได้ประโยชน์ผ่านส่วนต่างราคาปิโตรเคมีที่ขยายตัวจากภาวะขาดแคลนวัตถุดิบ แต่ในกลุ่มโรงไฟฟ้ากลุ่ม </a:t>
            </a:r>
            <a:r>
              <a:rPr lang="en-US" sz="900" dirty="0">
                <a:solidFill>
                  <a:schemeClr val="tx1">
                    <a:lumMod val="65000"/>
                    <a:lumOff val="35000"/>
                  </a:schemeClr>
                </a:solidFill>
                <a:latin typeface="BLS Text" panose="00000500000000000000" pitchFamily="2" charset="-34"/>
                <a:cs typeface="BLS Text" pitchFamily="2" charset="-34"/>
              </a:rPr>
              <a:t>SPP </a:t>
            </a:r>
            <a:r>
              <a:rPr lang="th-TH" sz="900" dirty="0">
                <a:solidFill>
                  <a:schemeClr val="tx1">
                    <a:lumMod val="65000"/>
                    <a:lumOff val="35000"/>
                  </a:schemeClr>
                </a:solidFill>
                <a:latin typeface="BLS Text" panose="00000500000000000000" pitchFamily="2" charset="-34"/>
                <a:cs typeface="BLS Text" pitchFamily="2" charset="-34"/>
              </a:rPr>
              <a:t>ถูกกด </a:t>
            </a:r>
            <a:r>
              <a:rPr lang="en-US" sz="900" dirty="0">
                <a:solidFill>
                  <a:schemeClr val="tx1">
                    <a:lumMod val="65000"/>
                    <a:lumOff val="35000"/>
                  </a:schemeClr>
                </a:solidFill>
                <a:latin typeface="BLS Text" panose="00000500000000000000" pitchFamily="2" charset="-34"/>
                <a:cs typeface="BLS Text" pitchFamily="2" charset="-34"/>
              </a:rPr>
              <a:t>margin </a:t>
            </a:r>
            <a:r>
              <a:rPr lang="th-TH" sz="900" dirty="0">
                <a:solidFill>
                  <a:schemeClr val="tx1">
                    <a:lumMod val="65000"/>
                    <a:lumOff val="35000"/>
                  </a:schemeClr>
                </a:solidFill>
                <a:latin typeface="BLS Text" panose="00000500000000000000" pitchFamily="2" charset="-34"/>
                <a:cs typeface="BLS Text" pitchFamily="2" charset="-34"/>
              </a:rPr>
              <a:t>จากต้นทุนก๊าซที่อาจขึ้นเร็วกว่าค่าไฟ (</a:t>
            </a:r>
            <a:r>
              <a:rPr lang="en-US" sz="900" dirty="0">
                <a:solidFill>
                  <a:schemeClr val="tx1">
                    <a:lumMod val="65000"/>
                    <a:lumOff val="35000"/>
                  </a:schemeClr>
                </a:solidFill>
                <a:latin typeface="BLS Text" panose="00000500000000000000" pitchFamily="2" charset="-34"/>
                <a:cs typeface="BLS Text" pitchFamily="2" charset="-34"/>
              </a:rPr>
              <a:t>tariff lag) </a:t>
            </a:r>
            <a:r>
              <a:rPr lang="th-TH" sz="900" dirty="0">
                <a:solidFill>
                  <a:schemeClr val="tx1">
                    <a:lumMod val="65000"/>
                    <a:lumOff val="35000"/>
                  </a:schemeClr>
                </a:solidFill>
                <a:latin typeface="BLS Text" panose="00000500000000000000" pitchFamily="2" charset="-34"/>
                <a:cs typeface="BLS Text" pitchFamily="2" charset="-34"/>
              </a:rPr>
              <a:t>ขณะที่ </a:t>
            </a:r>
            <a:r>
              <a:rPr lang="en-US" sz="900" dirty="0">
                <a:solidFill>
                  <a:schemeClr val="tx1">
                    <a:lumMod val="65000"/>
                    <a:lumOff val="35000"/>
                  </a:schemeClr>
                </a:solidFill>
                <a:latin typeface="BLS Text" panose="00000500000000000000" pitchFamily="2" charset="-34"/>
                <a:cs typeface="BLS Text" pitchFamily="2" charset="-34"/>
              </a:rPr>
              <a:t>IPP </a:t>
            </a:r>
            <a:r>
              <a:rPr lang="th-TH" sz="900" dirty="0">
                <a:solidFill>
                  <a:schemeClr val="tx1">
                    <a:lumMod val="65000"/>
                    <a:lumOff val="35000"/>
                  </a:schemeClr>
                </a:solidFill>
                <a:latin typeface="BLS Text" panose="00000500000000000000" pitchFamily="2" charset="-34"/>
                <a:cs typeface="BLS Text" pitchFamily="2" charset="-34"/>
              </a:rPr>
              <a:t>ยังมีเสถียรภาพจากสัญญา (</a:t>
            </a:r>
            <a:r>
              <a:rPr lang="en-US" sz="900" dirty="0">
                <a:solidFill>
                  <a:schemeClr val="tx1">
                    <a:lumMod val="65000"/>
                    <a:lumOff val="35000"/>
                  </a:schemeClr>
                </a:solidFill>
                <a:latin typeface="BLS Text" panose="00000500000000000000" pitchFamily="2" charset="-34"/>
                <a:cs typeface="BLS Text" pitchFamily="2" charset="-34"/>
              </a:rPr>
              <a:t>PPA) </a:t>
            </a:r>
            <a:endParaRPr lang="th-TH" sz="900" dirty="0">
              <a:solidFill>
                <a:schemeClr val="tx1">
                  <a:lumMod val="65000"/>
                  <a:lumOff val="35000"/>
                </a:schemeClr>
              </a:solidFill>
              <a:latin typeface="BLS Text" panose="00000500000000000000" pitchFamily="2" charset="-34"/>
              <a:cs typeface="BLS Text" pitchFamily="2" charset="-34"/>
            </a:endParaRPr>
          </a:p>
          <a:p>
            <a:pPr algn="thaiDist">
              <a:lnSpc>
                <a:spcPct val="120000"/>
              </a:lnSpc>
              <a:spcBef>
                <a:spcPts val="400"/>
              </a:spcBef>
              <a:buSzPct val="120000"/>
            </a:pPr>
            <a:r>
              <a:rPr lang="th-TH" sz="900" dirty="0">
                <a:solidFill>
                  <a:schemeClr val="tx1">
                    <a:lumMod val="65000"/>
                    <a:lumOff val="35000"/>
                  </a:schemeClr>
                </a:solidFill>
                <a:latin typeface="BLS Text" panose="00000500000000000000" pitchFamily="2" charset="-34"/>
                <a:cs typeface="BLS Text" pitchFamily="2" charset="-34"/>
              </a:rPr>
              <a:t>ฝั่งกลุ่มขนส่ง สายการบินถูกกระทบจากต้นทุนน้ำมัน แต่กลุ่มเดินเรือได้อานิสงส์จากค่าระวางที่สูงขึ้น ขณะที่ กลุ่มอาหารและเครื่องดื่มแตกต่างกัน</a:t>
            </a:r>
            <a:r>
              <a:rPr lang="en-US" sz="900" dirty="0">
                <a:solidFill>
                  <a:schemeClr val="tx1">
                    <a:lumMod val="65000"/>
                    <a:lumOff val="35000"/>
                  </a:schemeClr>
                </a:solidFill>
                <a:latin typeface="BLS Text" panose="00000500000000000000" pitchFamily="2" charset="-34"/>
                <a:cs typeface="BLS Text" pitchFamily="2" charset="-34"/>
              </a:rPr>
              <a:t>—</a:t>
            </a:r>
            <a:r>
              <a:rPr lang="th-TH" sz="900" dirty="0">
                <a:solidFill>
                  <a:schemeClr val="tx1">
                    <a:lumMod val="65000"/>
                    <a:lumOff val="35000"/>
                  </a:schemeClr>
                </a:solidFill>
                <a:latin typeface="BLS Text" panose="00000500000000000000" pitchFamily="2" charset="-34"/>
                <a:cs typeface="BLS Text" pitchFamily="2" charset="-34"/>
              </a:rPr>
              <a:t>ผู้ผลิตเนื้อสัตว์ (</a:t>
            </a:r>
            <a:r>
              <a:rPr lang="en-US" sz="900" dirty="0">
                <a:solidFill>
                  <a:schemeClr val="tx1">
                    <a:lumMod val="65000"/>
                    <a:lumOff val="35000"/>
                  </a:schemeClr>
                </a:solidFill>
                <a:latin typeface="BLS Text" panose="00000500000000000000" pitchFamily="2" charset="-34"/>
                <a:cs typeface="BLS Text" pitchFamily="2" charset="-34"/>
              </a:rPr>
              <a:t>meat producers) </a:t>
            </a:r>
            <a:r>
              <a:rPr lang="th-TH" sz="900" dirty="0">
                <a:solidFill>
                  <a:schemeClr val="tx1">
                    <a:lumMod val="65000"/>
                    <a:lumOff val="35000"/>
                  </a:schemeClr>
                </a:solidFill>
                <a:latin typeface="BLS Text" panose="00000500000000000000" pitchFamily="2" charset="-34"/>
                <a:cs typeface="BLS Text" pitchFamily="2" charset="-34"/>
              </a:rPr>
              <a:t>ได้อานิสงส์ระยะสั้นจากการปรับราคาขึ้นและต้นทุนสต็อกเดิม </a:t>
            </a:r>
            <a:r>
              <a:rPr lang="en-US" sz="900" dirty="0">
                <a:solidFill>
                  <a:schemeClr val="tx1">
                    <a:lumMod val="65000"/>
                    <a:lumOff val="35000"/>
                  </a:schemeClr>
                </a:solidFill>
                <a:latin typeface="BLS Text" panose="00000500000000000000" pitchFamily="2" charset="-34"/>
                <a:cs typeface="BLS Text" pitchFamily="2" charset="-34"/>
              </a:rPr>
              <a:t>(</a:t>
            </a:r>
            <a:r>
              <a:rPr lang="th-TH" sz="900" dirty="0">
                <a:solidFill>
                  <a:schemeClr val="tx1">
                    <a:lumMod val="65000"/>
                    <a:lumOff val="35000"/>
                  </a:schemeClr>
                </a:solidFill>
                <a:latin typeface="BLS Text" panose="00000500000000000000" pitchFamily="2" charset="-34"/>
                <a:cs typeface="BLS Text" pitchFamily="2" charset="-34"/>
              </a:rPr>
              <a:t>ล็อกราคาต้นทุน เช่น กากถั่วเหลืองแล้วถึงกลางปี</a:t>
            </a:r>
            <a:r>
              <a:rPr lang="en-US" sz="900" dirty="0">
                <a:solidFill>
                  <a:schemeClr val="tx1">
                    <a:lumMod val="65000"/>
                    <a:lumOff val="35000"/>
                  </a:schemeClr>
                </a:solidFill>
                <a:latin typeface="BLS Text" panose="00000500000000000000" pitchFamily="2" charset="-34"/>
                <a:cs typeface="BLS Text" pitchFamily="2" charset="-34"/>
              </a:rPr>
              <a:t>)</a:t>
            </a:r>
            <a:r>
              <a:rPr lang="th-TH" sz="900" dirty="0">
                <a:solidFill>
                  <a:schemeClr val="tx1">
                    <a:lumMod val="65000"/>
                    <a:lumOff val="35000"/>
                  </a:schemeClr>
                </a:solidFill>
                <a:latin typeface="BLS Text" panose="00000500000000000000" pitchFamily="2" charset="-34"/>
                <a:cs typeface="BLS Text" pitchFamily="2" charset="-34"/>
              </a:rPr>
              <a:t> แต่ร้านอาหารและเครื่องดื่มถูกกด </a:t>
            </a:r>
            <a:r>
              <a:rPr lang="en-US" sz="900" dirty="0">
                <a:solidFill>
                  <a:schemeClr val="tx1">
                    <a:lumMod val="65000"/>
                    <a:lumOff val="35000"/>
                  </a:schemeClr>
                </a:solidFill>
                <a:latin typeface="BLS Text" panose="00000500000000000000" pitchFamily="2" charset="-34"/>
                <a:cs typeface="BLS Text" pitchFamily="2" charset="-34"/>
              </a:rPr>
              <a:t>margin </a:t>
            </a:r>
            <a:r>
              <a:rPr lang="th-TH" sz="900" dirty="0">
                <a:solidFill>
                  <a:schemeClr val="tx1">
                    <a:lumMod val="65000"/>
                    <a:lumOff val="35000"/>
                  </a:schemeClr>
                </a:solidFill>
                <a:latin typeface="BLS Text" panose="00000500000000000000" pitchFamily="2" charset="-34"/>
                <a:cs typeface="BLS Text" pitchFamily="2" charset="-34"/>
              </a:rPr>
              <a:t>จากต้นทุนวัตถุดิบและบรรจุภัณฑ์ สำหรับ ค้าปลีก และ สินค้าอุปโภคบริโภค</a:t>
            </a:r>
            <a:r>
              <a:rPr lang="en-US" sz="900" dirty="0">
                <a:solidFill>
                  <a:schemeClr val="tx1">
                    <a:lumMod val="65000"/>
                    <a:lumOff val="35000"/>
                  </a:schemeClr>
                </a:solidFill>
                <a:latin typeface="BLS Text" panose="00000500000000000000" pitchFamily="2" charset="-34"/>
                <a:cs typeface="BLS Text" pitchFamily="2" charset="-34"/>
              </a:rPr>
              <a:t> </a:t>
            </a:r>
            <a:r>
              <a:rPr lang="th-TH" sz="900" dirty="0">
                <a:solidFill>
                  <a:schemeClr val="tx1">
                    <a:lumMod val="65000"/>
                    <a:lumOff val="35000"/>
                  </a:schemeClr>
                </a:solidFill>
                <a:latin typeface="BLS Text" panose="00000500000000000000" pitchFamily="2" charset="-34"/>
                <a:cs typeface="BLS Text" pitchFamily="2" charset="-34"/>
              </a:rPr>
              <a:t>ถูกกระทบทางอ้อมจากค่าไฟและกำลังซื้อที่อ่อนลง ด้าน ท่องเที่ยวและโรงพยาบาล กระทบจากการเดินทางที่สะดุด โดยเฉพาะลูกค้า/ผู้ป่วยตะวันออกกลาง </a:t>
            </a:r>
          </a:p>
          <a:p>
            <a:pPr algn="thaiDist">
              <a:lnSpc>
                <a:spcPct val="120000"/>
              </a:lnSpc>
              <a:spcBef>
                <a:spcPts val="400"/>
              </a:spcBef>
              <a:buSzPct val="120000"/>
            </a:pPr>
            <a:r>
              <a:rPr lang="th-TH" sz="900" dirty="0">
                <a:solidFill>
                  <a:schemeClr val="tx1">
                    <a:lumMod val="65000"/>
                    <a:lumOff val="35000"/>
                  </a:schemeClr>
                </a:solidFill>
                <a:latin typeface="BLS Text" panose="00000500000000000000" pitchFamily="2" charset="-34"/>
                <a:cs typeface="BLS Text" pitchFamily="2" charset="-34"/>
              </a:rPr>
              <a:t>ขณะที่ สื่อสาร (</a:t>
            </a:r>
            <a:r>
              <a:rPr lang="en-US" sz="900" dirty="0">
                <a:solidFill>
                  <a:schemeClr val="tx1">
                    <a:lumMod val="65000"/>
                    <a:lumOff val="35000"/>
                  </a:schemeClr>
                </a:solidFill>
                <a:latin typeface="BLS Text" panose="00000500000000000000" pitchFamily="2" charset="-34"/>
                <a:cs typeface="BLS Text" pitchFamily="2" charset="-34"/>
              </a:rPr>
              <a:t>ICT) </a:t>
            </a:r>
            <a:r>
              <a:rPr lang="th-TH" sz="900" dirty="0">
                <a:solidFill>
                  <a:schemeClr val="tx1">
                    <a:lumMod val="65000"/>
                    <a:lumOff val="35000"/>
                  </a:schemeClr>
                </a:solidFill>
                <a:latin typeface="BLS Text" panose="00000500000000000000" pitchFamily="2" charset="-34"/>
                <a:cs typeface="BLS Text" pitchFamily="2" charset="-34"/>
              </a:rPr>
              <a:t>กลุ่มนิคมฯ และธนาคาร</a:t>
            </a:r>
            <a:r>
              <a:rPr lang="en-US" sz="900" dirty="0">
                <a:solidFill>
                  <a:schemeClr val="tx1">
                    <a:lumMod val="65000"/>
                    <a:lumOff val="35000"/>
                  </a:schemeClr>
                </a:solidFill>
                <a:latin typeface="BLS Text" panose="00000500000000000000" pitchFamily="2" charset="-34"/>
                <a:cs typeface="BLS Text" pitchFamily="2" charset="-34"/>
              </a:rPr>
              <a:t> </a:t>
            </a:r>
            <a:r>
              <a:rPr lang="th-TH" sz="900" dirty="0">
                <a:solidFill>
                  <a:schemeClr val="tx1">
                    <a:lumMod val="65000"/>
                    <a:lumOff val="35000"/>
                  </a:schemeClr>
                </a:solidFill>
                <a:latin typeface="BLS Text" panose="00000500000000000000" pitchFamily="2" charset="-34"/>
                <a:cs typeface="BLS Text" pitchFamily="2" charset="-34"/>
              </a:rPr>
              <a:t>ยังมีความทนทานสูงจากรายได้ในประเทศและต้นทุนที่ไม่ผูกกับ </a:t>
            </a:r>
            <a:r>
              <a:rPr lang="en-US" sz="900" dirty="0">
                <a:solidFill>
                  <a:schemeClr val="tx1">
                    <a:lumMod val="65000"/>
                    <a:lumOff val="35000"/>
                  </a:schemeClr>
                </a:solidFill>
                <a:latin typeface="BLS Text" panose="00000500000000000000" pitchFamily="2" charset="-34"/>
                <a:cs typeface="BLS Text" pitchFamily="2" charset="-34"/>
              </a:rPr>
              <a:t>commodity </a:t>
            </a:r>
            <a:r>
              <a:rPr lang="th-TH" sz="900" dirty="0">
                <a:solidFill>
                  <a:schemeClr val="tx1">
                    <a:lumMod val="65000"/>
                    <a:lumOff val="35000"/>
                  </a:schemeClr>
                </a:solidFill>
                <a:latin typeface="BLS Text" panose="00000500000000000000" pitchFamily="2" charset="-34"/>
                <a:cs typeface="BLS Text" pitchFamily="2" charset="-34"/>
              </a:rPr>
              <a:t>โดยตรง สะท้อนว่าผลลัพธ์สุดท้ายขึ้นอยู่กับ โครงสร้างต้นทุน (</a:t>
            </a:r>
            <a:r>
              <a:rPr lang="en-US" sz="900" dirty="0">
                <a:solidFill>
                  <a:schemeClr val="tx1">
                    <a:lumMod val="65000"/>
                    <a:lumOff val="35000"/>
                  </a:schemeClr>
                </a:solidFill>
                <a:latin typeface="BLS Text" panose="00000500000000000000" pitchFamily="2" charset="-34"/>
                <a:cs typeface="BLS Text" pitchFamily="2" charset="-34"/>
              </a:rPr>
              <a:t>cost structure) </a:t>
            </a:r>
            <a:r>
              <a:rPr lang="th-TH" sz="900" dirty="0">
                <a:solidFill>
                  <a:schemeClr val="tx1">
                    <a:lumMod val="65000"/>
                    <a:lumOff val="35000"/>
                  </a:schemeClr>
                </a:solidFill>
                <a:latin typeface="BLS Text" panose="00000500000000000000" pitchFamily="2" charset="-34"/>
                <a:cs typeface="BLS Text" pitchFamily="2" charset="-34"/>
              </a:rPr>
              <a:t>และความสามารถในการส่งผ่านราคา (</a:t>
            </a:r>
            <a:r>
              <a:rPr lang="en-US" sz="900" dirty="0">
                <a:solidFill>
                  <a:schemeClr val="tx1">
                    <a:lumMod val="65000"/>
                    <a:lumOff val="35000"/>
                  </a:schemeClr>
                </a:solidFill>
                <a:latin typeface="BLS Text" panose="00000500000000000000" pitchFamily="2" charset="-34"/>
                <a:cs typeface="BLS Text" pitchFamily="2" charset="-34"/>
              </a:rPr>
              <a:t>pricing power) </a:t>
            </a:r>
            <a:r>
              <a:rPr lang="th-TH" sz="900" dirty="0">
                <a:solidFill>
                  <a:schemeClr val="tx1">
                    <a:lumMod val="65000"/>
                    <a:lumOff val="35000"/>
                  </a:schemeClr>
                </a:solidFill>
                <a:latin typeface="BLS Text" panose="00000500000000000000" pitchFamily="2" charset="-34"/>
                <a:cs typeface="BLS Text" pitchFamily="2" charset="-34"/>
              </a:rPr>
              <a:t>ของแต่ละธุรกิจมากกว่าภาพรวมของทั้งอุตสาหกรรม</a:t>
            </a:r>
          </a:p>
          <a:p>
            <a:pPr algn="thaiDist">
              <a:lnSpc>
                <a:spcPct val="120000"/>
              </a:lnSpc>
              <a:spcBef>
                <a:spcPts val="400"/>
              </a:spcBef>
              <a:buSzPct val="120000"/>
            </a:pPr>
            <a:r>
              <a:rPr lang="en-US" sz="900" b="1" dirty="0">
                <a:solidFill>
                  <a:schemeClr val="tx1">
                    <a:lumMod val="65000"/>
                    <a:lumOff val="35000"/>
                  </a:schemeClr>
                </a:solidFill>
                <a:latin typeface="BLS Text" panose="00000500000000000000" pitchFamily="2" charset="-34"/>
                <a:cs typeface="BLS Text" pitchFamily="2" charset="-34"/>
              </a:rPr>
              <a:t>War Impact </a:t>
            </a:r>
            <a:r>
              <a:rPr lang="th-TH" sz="900" b="1" dirty="0">
                <a:solidFill>
                  <a:schemeClr val="tx1">
                    <a:lumMod val="65000"/>
                    <a:lumOff val="35000"/>
                  </a:schemeClr>
                </a:solidFill>
                <a:latin typeface="BLS Text" panose="00000500000000000000" pitchFamily="2" charset="-34"/>
                <a:cs typeface="BLS Text" pitchFamily="2" charset="-34"/>
              </a:rPr>
              <a:t>ผ่าน </a:t>
            </a:r>
            <a:r>
              <a:rPr lang="en-US" sz="900" b="1" dirty="0">
                <a:solidFill>
                  <a:schemeClr val="tx1">
                    <a:lumMod val="65000"/>
                    <a:lumOff val="35000"/>
                  </a:schemeClr>
                </a:solidFill>
                <a:latin typeface="BLS Text" panose="00000500000000000000" pitchFamily="2" charset="-34"/>
                <a:cs typeface="BLS Text" pitchFamily="2" charset="-34"/>
              </a:rPr>
              <a:t>Earnings Revision Scorecard: </a:t>
            </a:r>
            <a:r>
              <a:rPr lang="th-TH" sz="900" dirty="0">
                <a:solidFill>
                  <a:schemeClr val="tx1">
                    <a:lumMod val="65000"/>
                    <a:lumOff val="35000"/>
                  </a:schemeClr>
                </a:solidFill>
                <a:latin typeface="BLS Text" panose="00000500000000000000" pitchFamily="2" charset="-34"/>
                <a:cs typeface="BLS Text" pitchFamily="2" charset="-34"/>
              </a:rPr>
              <a:t>แม้อยู่ในช่วงความตึงเครียดจากสงคราม แต่ภาพรวม </a:t>
            </a:r>
            <a:r>
              <a:rPr lang="en-US" sz="900" dirty="0">
                <a:solidFill>
                  <a:schemeClr val="tx1">
                    <a:lumMod val="65000"/>
                    <a:lumOff val="35000"/>
                  </a:schemeClr>
                </a:solidFill>
                <a:latin typeface="BLS Text" panose="00000500000000000000" pitchFamily="2" charset="-34"/>
                <a:cs typeface="BLS Text" pitchFamily="2" charset="-34"/>
              </a:rPr>
              <a:t>SET earnings revision </a:t>
            </a:r>
            <a:r>
              <a:rPr lang="th-TH" sz="900" dirty="0">
                <a:solidFill>
                  <a:schemeClr val="tx1">
                    <a:lumMod val="65000"/>
                    <a:lumOff val="35000"/>
                  </a:schemeClr>
                </a:solidFill>
                <a:latin typeface="BLS Text" panose="00000500000000000000" pitchFamily="2" charset="-34"/>
                <a:cs typeface="BLS Text" pitchFamily="2" charset="-34"/>
              </a:rPr>
              <a:t>เดือนล่าสุดยังทรงตัวถึงบวกเล็กน้อย (+0.1%) สะท้อนว่าผลกระทบไม่ได้กดกำไรทั้งระบบ แต่ “กระจายตัว” ตามโครงสร้างธุรกิจอย่างชัดเจน โดยกลุ่มที่มี </a:t>
            </a:r>
            <a:r>
              <a:rPr lang="en-US" sz="900" dirty="0">
                <a:solidFill>
                  <a:schemeClr val="tx1">
                    <a:lumMod val="65000"/>
                    <a:lumOff val="35000"/>
                  </a:schemeClr>
                </a:solidFill>
                <a:latin typeface="BLS Text" panose="00000500000000000000" pitchFamily="2" charset="-34"/>
                <a:cs typeface="BLS Text" pitchFamily="2" charset="-34"/>
              </a:rPr>
              <a:t>energy linkage </a:t>
            </a:r>
            <a:r>
              <a:rPr lang="th-TH" sz="900" dirty="0">
                <a:solidFill>
                  <a:schemeClr val="tx1">
                    <a:lumMod val="65000"/>
                    <a:lumOff val="35000"/>
                  </a:schemeClr>
                </a:solidFill>
                <a:latin typeface="BLS Text" panose="00000500000000000000" pitchFamily="2" charset="-34"/>
                <a:cs typeface="BLS Text" pitchFamily="2" charset="-34"/>
              </a:rPr>
              <a:t>หรือได้ประโยชน์จาก </a:t>
            </a:r>
            <a:r>
              <a:rPr lang="en-US" sz="900" dirty="0">
                <a:solidFill>
                  <a:schemeClr val="tx1">
                    <a:lumMod val="65000"/>
                    <a:lumOff val="35000"/>
                  </a:schemeClr>
                </a:solidFill>
                <a:latin typeface="BLS Text" panose="00000500000000000000" pitchFamily="2" charset="-34"/>
                <a:cs typeface="BLS Text" pitchFamily="2" charset="-34"/>
              </a:rPr>
              <a:t>commodity cycle </a:t>
            </a:r>
            <a:r>
              <a:rPr lang="th-TH" sz="900" dirty="0">
                <a:solidFill>
                  <a:schemeClr val="tx1">
                    <a:lumMod val="65000"/>
                    <a:lumOff val="35000"/>
                  </a:schemeClr>
                </a:solidFill>
                <a:latin typeface="BLS Text" panose="00000500000000000000" pitchFamily="2" charset="-34"/>
                <a:cs typeface="BLS Text" pitchFamily="2" charset="-34"/>
              </a:rPr>
              <a:t>เป็นตัวนำการปรับประมาณการขึ้น ได้แก่ พลังงานต้นน้ำและโรงกลั่น (+2.8%), ปิโตรเคมี (+1.3%), รวมถึงเกษตร (+12.2%) ที่ได้อานิสงส์ราคาสินค้าโภคภัณฑ์ ขณะที่ฝั่งที่ถูกปรับลงกระจุกตัวในกลุ่ม </a:t>
            </a:r>
            <a:r>
              <a:rPr lang="en-US" sz="900" dirty="0">
                <a:solidFill>
                  <a:schemeClr val="tx1">
                    <a:lumMod val="65000"/>
                    <a:lumOff val="35000"/>
                  </a:schemeClr>
                </a:solidFill>
                <a:latin typeface="BLS Text" panose="00000500000000000000" pitchFamily="2" charset="-34"/>
                <a:cs typeface="BLS Text" pitchFamily="2" charset="-34"/>
              </a:rPr>
              <a:t>energy-sensitive </a:t>
            </a:r>
            <a:r>
              <a:rPr lang="th-TH" sz="900" dirty="0">
                <a:solidFill>
                  <a:schemeClr val="tx1">
                    <a:lumMod val="65000"/>
                    <a:lumOff val="35000"/>
                  </a:schemeClr>
                </a:solidFill>
                <a:latin typeface="BLS Text" panose="00000500000000000000" pitchFamily="2" charset="-34"/>
                <a:cs typeface="BLS Text" pitchFamily="2" charset="-34"/>
              </a:rPr>
              <a:t>และ </a:t>
            </a:r>
            <a:r>
              <a:rPr lang="en-US" sz="900" dirty="0">
                <a:solidFill>
                  <a:schemeClr val="tx1">
                    <a:lumMod val="65000"/>
                    <a:lumOff val="35000"/>
                  </a:schemeClr>
                </a:solidFill>
                <a:latin typeface="BLS Text" panose="00000500000000000000" pitchFamily="2" charset="-34"/>
                <a:cs typeface="BLS Text" pitchFamily="2" charset="-34"/>
              </a:rPr>
              <a:t>domestic consumption </a:t>
            </a:r>
            <a:r>
              <a:rPr lang="th-TH" sz="900" dirty="0">
                <a:solidFill>
                  <a:schemeClr val="tx1">
                    <a:lumMod val="65000"/>
                    <a:lumOff val="35000"/>
                  </a:schemeClr>
                </a:solidFill>
                <a:latin typeface="BLS Text" panose="00000500000000000000" pitchFamily="2" charset="-34"/>
                <a:cs typeface="BLS Text" pitchFamily="2" charset="-34"/>
              </a:rPr>
              <a:t>ได้แก่ กลุ่มเครื่องดื่ม (-2.8%) จากต้นทุนบรรจุภัณฑ์, วัสดุก่อสร้าง (-1.4%) และ ค้าปลีก (-1.1%) จากแรงกดดันต้นทุนและกำลังซื้อที่อ่อนลง</a:t>
            </a:r>
          </a:p>
          <a:p>
            <a:pPr algn="thaiDist">
              <a:lnSpc>
                <a:spcPct val="120000"/>
              </a:lnSpc>
              <a:spcBef>
                <a:spcPts val="400"/>
              </a:spcBef>
              <a:buSzPct val="120000"/>
            </a:pPr>
            <a:r>
              <a:rPr lang="th-TH" sz="900" dirty="0">
                <a:solidFill>
                  <a:schemeClr val="tx1">
                    <a:lumMod val="65000"/>
                    <a:lumOff val="35000"/>
                  </a:schemeClr>
                </a:solidFill>
                <a:latin typeface="BLS Text" panose="00000500000000000000" pitchFamily="2" charset="-34"/>
                <a:cs typeface="BLS Text" pitchFamily="2" charset="-34"/>
              </a:rPr>
              <a:t>นอกจากนี้ ยังมีกลุ่มที่กำไรถูกปรับเพิ่มขึ้นจากปัจจัยเฉพาะตัว โดยเฉพาะ กลุ่มสื่อสาร (+5.1%) ที่สะท้อนความแข็งแกร่งของกำไรจากการขยายตัวต่อเนื่องของ </a:t>
            </a:r>
            <a:r>
              <a:rPr lang="en-US" sz="900" dirty="0">
                <a:solidFill>
                  <a:schemeClr val="tx1">
                    <a:lumMod val="65000"/>
                    <a:lumOff val="35000"/>
                  </a:schemeClr>
                </a:solidFill>
                <a:latin typeface="BLS Text" panose="00000500000000000000" pitchFamily="2" charset="-34"/>
                <a:cs typeface="BLS Text" pitchFamily="2" charset="-34"/>
              </a:rPr>
              <a:t>ARPU </a:t>
            </a:r>
            <a:r>
              <a:rPr lang="th-TH" sz="900" dirty="0">
                <a:solidFill>
                  <a:schemeClr val="tx1">
                    <a:lumMod val="65000"/>
                    <a:lumOff val="35000"/>
                  </a:schemeClr>
                </a:solidFill>
                <a:latin typeface="BLS Text" panose="00000500000000000000" pitchFamily="2" charset="-34"/>
                <a:cs typeface="BLS Text" pitchFamily="2" charset="-34"/>
              </a:rPr>
              <a:t>และโครงสร้างรายได้แบบ </a:t>
            </a:r>
            <a:r>
              <a:rPr lang="en-US" sz="900" dirty="0">
                <a:solidFill>
                  <a:schemeClr val="tx1">
                    <a:lumMod val="65000"/>
                    <a:lumOff val="35000"/>
                  </a:schemeClr>
                </a:solidFill>
                <a:latin typeface="BLS Text" panose="00000500000000000000" pitchFamily="2" charset="-34"/>
                <a:cs typeface="BLS Text" pitchFamily="2" charset="-34"/>
              </a:rPr>
              <a:t>recurring </a:t>
            </a:r>
            <a:r>
              <a:rPr lang="th-TH" sz="900" dirty="0">
                <a:solidFill>
                  <a:schemeClr val="tx1">
                    <a:lumMod val="65000"/>
                    <a:lumOff val="35000"/>
                  </a:schemeClr>
                </a:solidFill>
                <a:latin typeface="BLS Text" panose="00000500000000000000" pitchFamily="2" charset="-34"/>
                <a:cs typeface="BLS Text" pitchFamily="2" charset="-34"/>
              </a:rPr>
              <a:t>ขณะที่ กลุ่มนิคมอุตสาหกรรม (+1.0%) หลังโครงการ</a:t>
            </a:r>
            <a:r>
              <a:rPr lang="en-US" sz="900" dirty="0">
                <a:solidFill>
                  <a:schemeClr val="tx1">
                    <a:lumMod val="65000"/>
                    <a:lumOff val="35000"/>
                  </a:schemeClr>
                </a:solidFill>
                <a:latin typeface="BLS Text" panose="00000500000000000000" pitchFamily="2" charset="-34"/>
                <a:cs typeface="BLS Text" pitchFamily="2" charset="-34"/>
              </a:rPr>
              <a:t> BOI fast pass </a:t>
            </a:r>
            <a:r>
              <a:rPr lang="th-TH" sz="900" dirty="0">
                <a:solidFill>
                  <a:schemeClr val="tx1">
                    <a:lumMod val="65000"/>
                    <a:lumOff val="35000"/>
                  </a:schemeClr>
                </a:solidFill>
                <a:latin typeface="BLS Text" panose="00000500000000000000" pitchFamily="2" charset="-34"/>
                <a:cs typeface="BLS Text" pitchFamily="2" charset="-34"/>
              </a:rPr>
              <a:t>หนุนจากกระแสเงินลงทุนต่างชาติ (</a:t>
            </a:r>
            <a:r>
              <a:rPr lang="en-US" sz="900" dirty="0">
                <a:solidFill>
                  <a:schemeClr val="tx1">
                    <a:lumMod val="65000"/>
                    <a:lumOff val="35000"/>
                  </a:schemeClr>
                </a:solidFill>
                <a:latin typeface="BLS Text" panose="00000500000000000000" pitchFamily="2" charset="-34"/>
                <a:cs typeface="BLS Text" pitchFamily="2" charset="-34"/>
              </a:rPr>
              <a:t>FDI) </a:t>
            </a:r>
            <a:r>
              <a:rPr lang="th-TH" sz="900" dirty="0">
                <a:solidFill>
                  <a:schemeClr val="tx1">
                    <a:lumMod val="65000"/>
                    <a:lumOff val="35000"/>
                  </a:schemeClr>
                </a:solidFill>
                <a:latin typeface="BLS Text" panose="00000500000000000000" pitchFamily="2" charset="-34"/>
                <a:cs typeface="BLS Text" pitchFamily="2" charset="-34"/>
              </a:rPr>
              <a:t>เติบโตแข็งแกร่ง </a:t>
            </a:r>
            <a:r>
              <a:rPr lang="en-US" sz="900" dirty="0">
                <a:solidFill>
                  <a:schemeClr val="tx2"/>
                </a:solidFill>
                <a:latin typeface="BLS Text" panose="00000500000000000000" pitchFamily="2" charset="-34"/>
                <a:cs typeface="BLS Text" pitchFamily="2" charset="-34"/>
              </a:rPr>
              <a:t>(</a:t>
            </a:r>
            <a:r>
              <a:rPr lang="th-TH" sz="900" dirty="0">
                <a:solidFill>
                  <a:schemeClr val="tx2"/>
                </a:solidFill>
                <a:latin typeface="BLS Text" panose="00000500000000000000" pitchFamily="2" charset="-34"/>
                <a:cs typeface="BLS Text" pitchFamily="2" charset="-34"/>
              </a:rPr>
              <a:t>ต่อหน่า 2</a:t>
            </a:r>
            <a:r>
              <a:rPr lang="en-US" sz="900" dirty="0">
                <a:solidFill>
                  <a:schemeClr val="tx2"/>
                </a:solidFill>
                <a:latin typeface="BLS Text" panose="00000500000000000000" pitchFamily="2" charset="-34"/>
                <a:cs typeface="BLS Text" pitchFamily="2" charset="-34"/>
              </a:rPr>
              <a:t>)</a:t>
            </a:r>
            <a:endParaRPr lang="th-TH" sz="900" dirty="0">
              <a:solidFill>
                <a:schemeClr val="tx2"/>
              </a:solidFill>
              <a:latin typeface="BLS Text" panose="00000500000000000000" pitchFamily="2" charset="-34"/>
              <a:cs typeface="BLS Text" pitchFamily="2" charset="-34"/>
            </a:endParaRPr>
          </a:p>
        </p:txBody>
      </p:sp>
      <p:cxnSp>
        <p:nvCxnSpPr>
          <p:cNvPr id="3" name="Straight Connector 2">
            <a:extLst>
              <a:ext uri="{FF2B5EF4-FFF2-40B4-BE49-F238E27FC236}">
                <a16:creationId xmlns:a16="http://schemas.microsoft.com/office/drawing/2014/main" id="{3FB7FD5E-C2F4-696F-9623-665905EA508D}"/>
              </a:ext>
            </a:extLst>
          </p:cNvPr>
          <p:cNvCxnSpPr/>
          <p:nvPr/>
        </p:nvCxnSpPr>
        <p:spPr>
          <a:xfrm>
            <a:off x="2161884" y="410050"/>
            <a:ext cx="0" cy="230832"/>
          </a:xfrm>
          <a:prstGeom prst="line">
            <a:avLst/>
          </a:prstGeom>
          <a:ln w="3175">
            <a:solidFill>
              <a:srgbClr val="002060"/>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492222F-6A22-6060-8AE7-28693619881E}"/>
              </a:ext>
            </a:extLst>
          </p:cNvPr>
          <p:cNvSpPr txBox="1"/>
          <p:nvPr/>
        </p:nvSpPr>
        <p:spPr>
          <a:xfrm>
            <a:off x="2161884" y="337471"/>
            <a:ext cx="1411131" cy="369332"/>
          </a:xfrm>
          <a:prstGeom prst="rect">
            <a:avLst/>
          </a:prstGeom>
          <a:noFill/>
        </p:spPr>
        <p:txBody>
          <a:bodyPr wrap="square" rtlCol="0">
            <a:spAutoFit/>
          </a:bodyPr>
          <a:lstStyle/>
          <a:p>
            <a:r>
              <a:rPr lang="en-US" sz="900" b="1" dirty="0">
                <a:solidFill>
                  <a:schemeClr val="accent3">
                    <a:lumMod val="50000"/>
                  </a:schemeClr>
                </a:solidFill>
                <a:latin typeface="Arial" pitchFamily="34" charset="0"/>
                <a:cs typeface="Arial" pitchFamily="34" charset="0"/>
              </a:rPr>
              <a:t>Data-driven</a:t>
            </a:r>
            <a:endParaRPr lang="th-TH" sz="900" b="1" dirty="0">
              <a:solidFill>
                <a:schemeClr val="accent3">
                  <a:lumMod val="50000"/>
                </a:schemeClr>
              </a:solidFill>
              <a:latin typeface="Arial" pitchFamily="34" charset="0"/>
              <a:cs typeface="Arial" pitchFamily="34" charset="0"/>
            </a:endParaRPr>
          </a:p>
          <a:p>
            <a:r>
              <a:rPr lang="en-US" sz="900" b="1" dirty="0">
                <a:solidFill>
                  <a:schemeClr val="tx2">
                    <a:lumMod val="50000"/>
                  </a:schemeClr>
                </a:solidFill>
                <a:latin typeface="Arial" pitchFamily="34" charset="0"/>
                <a:cs typeface="Arial" pitchFamily="34" charset="0"/>
              </a:rPr>
              <a:t>RESEARCH</a:t>
            </a:r>
          </a:p>
        </p:txBody>
      </p:sp>
      <p:graphicFrame>
        <p:nvGraphicFramePr>
          <p:cNvPr id="6" name="Table 5">
            <a:extLst>
              <a:ext uri="{FF2B5EF4-FFF2-40B4-BE49-F238E27FC236}">
                <a16:creationId xmlns:a16="http://schemas.microsoft.com/office/drawing/2014/main" id="{65C83B38-C3A7-8879-F093-C1592DFE676F}"/>
              </a:ext>
            </a:extLst>
          </p:cNvPr>
          <p:cNvGraphicFramePr>
            <a:graphicFrameLocks noGrp="1"/>
          </p:cNvGraphicFramePr>
          <p:nvPr>
            <p:extLst>
              <p:ext uri="{D42A27DB-BD31-4B8C-83A1-F6EECF244321}">
                <p14:modId xmlns:p14="http://schemas.microsoft.com/office/powerpoint/2010/main" val="2306150633"/>
              </p:ext>
            </p:extLst>
          </p:nvPr>
        </p:nvGraphicFramePr>
        <p:xfrm>
          <a:off x="3992636" y="4849751"/>
          <a:ext cx="2771921" cy="3364176"/>
        </p:xfrm>
        <a:graphic>
          <a:graphicData uri="http://schemas.openxmlformats.org/drawingml/2006/table">
            <a:tbl>
              <a:tblPr/>
              <a:tblGrid>
                <a:gridCol w="865813">
                  <a:extLst>
                    <a:ext uri="{9D8B030D-6E8A-4147-A177-3AD203B41FA5}">
                      <a16:colId xmlns:a16="http://schemas.microsoft.com/office/drawing/2014/main" val="308457972"/>
                    </a:ext>
                  </a:extLst>
                </a:gridCol>
                <a:gridCol w="647687">
                  <a:extLst>
                    <a:ext uri="{9D8B030D-6E8A-4147-A177-3AD203B41FA5}">
                      <a16:colId xmlns:a16="http://schemas.microsoft.com/office/drawing/2014/main" val="1278303702"/>
                    </a:ext>
                  </a:extLst>
                </a:gridCol>
                <a:gridCol w="1258421">
                  <a:extLst>
                    <a:ext uri="{9D8B030D-6E8A-4147-A177-3AD203B41FA5}">
                      <a16:colId xmlns:a16="http://schemas.microsoft.com/office/drawing/2014/main" val="1009124111"/>
                    </a:ext>
                  </a:extLst>
                </a:gridCol>
              </a:tblGrid>
              <a:tr h="191240">
                <a:tc>
                  <a:txBody>
                    <a:bodyPr/>
                    <a:lstStyle/>
                    <a:p>
                      <a:pPr algn="ctr"/>
                      <a:r>
                        <a:rPr lang="en-US" sz="800" b="1" dirty="0">
                          <a:solidFill>
                            <a:schemeClr val="bg1"/>
                          </a:solidFill>
                          <a:latin typeface="BLS Text" panose="00000500000000000000" pitchFamily="2" charset="-34"/>
                          <a:cs typeface="BLS Text" panose="00000500000000000000" pitchFamily="2" charset="-34"/>
                        </a:rPr>
                        <a:t>Theme</a:t>
                      </a:r>
                    </a:p>
                  </a:txBody>
                  <a:tcPr marL="62855" marR="62855" marT="31428" marB="31428" anchor="ctr">
                    <a:lnL>
                      <a:noFill/>
                    </a:lnL>
                    <a:lnR>
                      <a:noFill/>
                    </a:lnR>
                    <a:lnT>
                      <a:noFill/>
                    </a:lnT>
                    <a:lnB>
                      <a:noFill/>
                    </a:lnB>
                    <a:solidFill>
                      <a:schemeClr val="accent1"/>
                    </a:solidFill>
                  </a:tcPr>
                </a:tc>
                <a:tc>
                  <a:txBody>
                    <a:bodyPr/>
                    <a:lstStyle/>
                    <a:p>
                      <a:pPr algn="ctr"/>
                      <a:r>
                        <a:rPr lang="en-US" sz="800" b="1" dirty="0">
                          <a:solidFill>
                            <a:schemeClr val="bg1"/>
                          </a:solidFill>
                          <a:latin typeface="BLS Text" panose="00000500000000000000" pitchFamily="2" charset="-34"/>
                          <a:cs typeface="BLS Text" panose="00000500000000000000" pitchFamily="2" charset="-34"/>
                        </a:rPr>
                        <a:t>Stock Picks</a:t>
                      </a:r>
                      <a:endParaRPr lang="th-TH" sz="800" b="1" dirty="0">
                        <a:solidFill>
                          <a:schemeClr val="bg1"/>
                        </a:solidFill>
                        <a:latin typeface="BLS Text" panose="00000500000000000000" pitchFamily="2" charset="-34"/>
                        <a:cs typeface="BLS Text" panose="00000500000000000000" pitchFamily="2" charset="-34"/>
                      </a:endParaRPr>
                    </a:p>
                  </a:txBody>
                  <a:tcPr marL="62855" marR="62855" marT="31428" marB="31428" anchor="ctr">
                    <a:lnL>
                      <a:noFill/>
                    </a:lnL>
                    <a:lnR>
                      <a:noFill/>
                    </a:lnR>
                    <a:lnT>
                      <a:noFill/>
                    </a:lnT>
                    <a:lnB>
                      <a:noFill/>
                    </a:lnB>
                    <a:solidFill>
                      <a:schemeClr val="accent1"/>
                    </a:solidFill>
                  </a:tcPr>
                </a:tc>
                <a:tc>
                  <a:txBody>
                    <a:bodyPr/>
                    <a:lstStyle/>
                    <a:p>
                      <a:pPr algn="ctr"/>
                      <a:r>
                        <a:rPr lang="en-US" sz="800" b="1" dirty="0">
                          <a:solidFill>
                            <a:schemeClr val="bg1"/>
                          </a:solidFill>
                          <a:latin typeface="BLS Text" panose="00000500000000000000" pitchFamily="2" charset="-34"/>
                          <a:cs typeface="BLS Text" panose="00000500000000000000" pitchFamily="2" charset="-34"/>
                        </a:rPr>
                        <a:t>Key Driver</a:t>
                      </a:r>
                    </a:p>
                  </a:txBody>
                  <a:tcPr marL="62855" marR="62855" marT="31428" marB="31428" anchor="ctr">
                    <a:lnL>
                      <a:noFill/>
                    </a:lnL>
                    <a:lnR>
                      <a:noFill/>
                    </a:lnR>
                    <a:lnT>
                      <a:noFill/>
                    </a:lnT>
                    <a:lnB>
                      <a:noFill/>
                    </a:lnB>
                    <a:solidFill>
                      <a:schemeClr val="accent1"/>
                    </a:solidFill>
                  </a:tcPr>
                </a:tc>
                <a:extLst>
                  <a:ext uri="{0D108BD9-81ED-4DB2-BD59-A6C34878D82A}">
                    <a16:rowId xmlns:a16="http://schemas.microsoft.com/office/drawing/2014/main" val="4286155562"/>
                  </a:ext>
                </a:extLst>
              </a:tr>
              <a:tr h="395553">
                <a:tc>
                  <a:txBody>
                    <a:bodyPr/>
                    <a:lstStyle/>
                    <a:p>
                      <a:pPr algn="l"/>
                      <a:r>
                        <a:rPr lang="en-US" sz="750" b="0" dirty="0">
                          <a:latin typeface="BLS Text" panose="00000500000000000000" pitchFamily="2" charset="-34"/>
                          <a:cs typeface="BLS Text" panose="00000500000000000000" pitchFamily="2" charset="-34"/>
                        </a:rPr>
                        <a:t>1) Commodity-linked Earnings</a:t>
                      </a:r>
                    </a:p>
                    <a:p>
                      <a:pPr algn="l"/>
                      <a:r>
                        <a:rPr lang="en-US" sz="750" b="0" dirty="0">
                          <a:latin typeface="BLS Text" panose="00000500000000000000" pitchFamily="2" charset="-34"/>
                          <a:cs typeface="BLS Text" panose="00000500000000000000" pitchFamily="2" charset="-34"/>
                        </a:rPr>
                        <a:t>(cost pass-through ability)</a:t>
                      </a:r>
                    </a:p>
                  </a:txBody>
                  <a:tcPr marL="62855" marR="62855" marT="31428" marB="31428" anchor="ctr">
                    <a:lnL>
                      <a:noFill/>
                    </a:lnL>
                    <a:lnR>
                      <a:noFill/>
                    </a:lnR>
                    <a:lnT>
                      <a:noFill/>
                    </a:lnT>
                    <a:lnB>
                      <a:noFill/>
                    </a:lnB>
                    <a:solidFill>
                      <a:schemeClr val="accent5">
                        <a:lumMod val="20000"/>
                        <a:lumOff val="80000"/>
                      </a:schemeClr>
                    </a:solidFill>
                  </a:tcPr>
                </a:tc>
                <a:tc>
                  <a:txBody>
                    <a:bodyPr/>
                    <a:lstStyle/>
                    <a:p>
                      <a:pPr algn="ctr"/>
                      <a:r>
                        <a:rPr lang="en-US" sz="750" b="0" dirty="0">
                          <a:latin typeface="BLS Text" panose="00000500000000000000" pitchFamily="2" charset="-34"/>
                          <a:cs typeface="BLS Text" panose="00000500000000000000" pitchFamily="2" charset="-34"/>
                        </a:rPr>
                        <a:t>BTG</a:t>
                      </a:r>
                    </a:p>
                  </a:txBody>
                  <a:tcPr marL="62855" marR="62855" marT="31428" marB="31428" anchor="ctr">
                    <a:lnL>
                      <a:noFill/>
                    </a:lnL>
                    <a:lnR>
                      <a:noFill/>
                    </a:lnR>
                    <a:lnT>
                      <a:noFill/>
                    </a:lnT>
                    <a:lnB>
                      <a:noFill/>
                    </a:lnB>
                    <a:solidFill>
                      <a:schemeClr val="accent5">
                        <a:lumMod val="20000"/>
                        <a:lumOff val="80000"/>
                      </a:schemeClr>
                    </a:solidFill>
                  </a:tcPr>
                </a:tc>
                <a:tc>
                  <a:txBody>
                    <a:bodyPr/>
                    <a:lstStyle/>
                    <a:p>
                      <a:pPr algn="l"/>
                      <a:r>
                        <a:rPr lang="th-TH" sz="750" dirty="0">
                          <a:latin typeface="BLS Text" panose="00000500000000000000" pitchFamily="2" charset="-34"/>
                          <a:cs typeface="BLS Text" panose="00000500000000000000" pitchFamily="2" charset="-34"/>
                        </a:rPr>
                        <a:t>ราคาเนื้อสัตว์ปรับขึ้นตามราคาพลังงาน (</a:t>
                      </a:r>
                      <a:r>
                        <a:rPr lang="en-US" sz="750" dirty="0">
                          <a:latin typeface="BLS Text" panose="00000500000000000000" pitchFamily="2" charset="-34"/>
                          <a:cs typeface="BLS Text" panose="00000500000000000000" pitchFamily="2" charset="-34"/>
                        </a:rPr>
                        <a:t>pass-through) / </a:t>
                      </a:r>
                      <a:r>
                        <a:rPr lang="th-TH" sz="750" dirty="0">
                          <a:latin typeface="BLS Text" panose="00000500000000000000" pitchFamily="2" charset="-34"/>
                          <a:cs typeface="BLS Text" panose="00000500000000000000" pitchFamily="2" charset="-34"/>
                        </a:rPr>
                        <a:t>ต้นทุนอาหารสัตว์ล็อกไว้ล่วงหน้า (เช่น กากถั่วเหลืองถึงกลางปี)</a:t>
                      </a:r>
                    </a:p>
                  </a:txBody>
                  <a:tcPr marL="62855" marR="62855" marT="31428" marB="31428" anchor="ctr">
                    <a:lnL>
                      <a:noFill/>
                    </a:lnL>
                    <a:lnR>
                      <a:noFill/>
                    </a:lnR>
                    <a:lnT>
                      <a:noFill/>
                    </a:lnT>
                    <a:lnB>
                      <a:noFill/>
                    </a:lnB>
                    <a:solidFill>
                      <a:schemeClr val="accent5">
                        <a:lumMod val="20000"/>
                        <a:lumOff val="80000"/>
                      </a:schemeClr>
                    </a:solidFill>
                  </a:tcPr>
                </a:tc>
                <a:extLst>
                  <a:ext uri="{0D108BD9-81ED-4DB2-BD59-A6C34878D82A}">
                    <a16:rowId xmlns:a16="http://schemas.microsoft.com/office/drawing/2014/main" val="2736747880"/>
                  </a:ext>
                </a:extLst>
              </a:tr>
              <a:tr h="324281">
                <a:tc>
                  <a:txBody>
                    <a:bodyPr/>
                    <a:lstStyle/>
                    <a:p>
                      <a:pPr algn="l"/>
                      <a:r>
                        <a:rPr lang="en-US" sz="750" b="0" dirty="0">
                          <a:latin typeface="BLS Text" panose="00000500000000000000" pitchFamily="2" charset="-34"/>
                          <a:cs typeface="BLS Text" panose="00000500000000000000" pitchFamily="2" charset="-34"/>
                        </a:rPr>
                        <a:t>2) Supply Disruption</a:t>
                      </a:r>
                      <a:r>
                        <a:rPr lang="th-TH" sz="750" b="0" dirty="0">
                          <a:latin typeface="BLS Text" panose="00000500000000000000" pitchFamily="2" charset="-34"/>
                          <a:cs typeface="BLS Text" panose="00000500000000000000" pitchFamily="2" charset="-34"/>
                        </a:rPr>
                        <a:t>/</a:t>
                      </a:r>
                      <a:r>
                        <a:rPr lang="en-US" sz="750" b="0" dirty="0">
                          <a:latin typeface="BLS Text" panose="00000500000000000000" pitchFamily="2" charset="-34"/>
                          <a:cs typeface="BLS Text" panose="00000500000000000000" pitchFamily="2" charset="-34"/>
                        </a:rPr>
                        <a:t> Global Manu. Rebound</a:t>
                      </a:r>
                    </a:p>
                  </a:txBody>
                  <a:tcPr marL="62855" marR="62855" marT="31428" marB="31428" anchor="ctr">
                    <a:lnL>
                      <a:noFill/>
                    </a:lnL>
                    <a:lnR>
                      <a:noFill/>
                    </a:lnR>
                    <a:lnT>
                      <a:noFill/>
                    </a:lnT>
                    <a:lnB>
                      <a:noFill/>
                    </a:lnB>
                  </a:tcPr>
                </a:tc>
                <a:tc>
                  <a:txBody>
                    <a:bodyPr/>
                    <a:lstStyle/>
                    <a:p>
                      <a:pPr algn="ctr"/>
                      <a:r>
                        <a:rPr lang="en-US" sz="750" b="0" dirty="0">
                          <a:latin typeface="BLS Text" panose="00000500000000000000" pitchFamily="2" charset="-34"/>
                          <a:cs typeface="BLS Text" panose="00000500000000000000" pitchFamily="2" charset="-34"/>
                        </a:rPr>
                        <a:t>PTTGC</a:t>
                      </a:r>
                    </a:p>
                  </a:txBody>
                  <a:tcPr marL="62855" marR="62855" marT="31428" marB="31428" anchor="ctr">
                    <a:lnL>
                      <a:noFill/>
                    </a:lnL>
                    <a:lnR>
                      <a:noFill/>
                    </a:lnR>
                    <a:lnT>
                      <a:noFill/>
                    </a:lnT>
                    <a:lnB>
                      <a:noFill/>
                    </a:lnB>
                  </a:tcPr>
                </a:tc>
                <a:tc>
                  <a:txBody>
                    <a:bodyPr/>
                    <a:lstStyle/>
                    <a:p>
                      <a:pPr algn="l"/>
                      <a:r>
                        <a:rPr lang="en-US" sz="750" dirty="0">
                          <a:latin typeface="BLS Text" panose="00000500000000000000" pitchFamily="2" charset="-34"/>
                          <a:cs typeface="BLS Text" panose="00000500000000000000" pitchFamily="2" charset="-34"/>
                        </a:rPr>
                        <a:t>Supply disruption </a:t>
                      </a:r>
                      <a:r>
                        <a:rPr lang="th-TH" sz="750" dirty="0">
                          <a:latin typeface="BLS Text" panose="00000500000000000000" pitchFamily="2" charset="-34"/>
                          <a:cs typeface="BLS Text" panose="00000500000000000000" pitchFamily="2" charset="-34"/>
                        </a:rPr>
                        <a:t>หนุน </a:t>
                      </a:r>
                      <a:r>
                        <a:rPr lang="en-US" sz="750" dirty="0">
                          <a:latin typeface="BLS Text" panose="00000500000000000000" pitchFamily="2" charset="-34"/>
                          <a:cs typeface="BLS Text" panose="00000500000000000000" pitchFamily="2" charset="-34"/>
                        </a:rPr>
                        <a:t>spread </a:t>
                      </a:r>
                      <a:r>
                        <a:rPr lang="th-TH" sz="750" dirty="0">
                          <a:latin typeface="BLS Text" panose="00000500000000000000" pitchFamily="2" charset="-34"/>
                          <a:cs typeface="BLS Text" panose="00000500000000000000" pitchFamily="2" charset="-34"/>
                        </a:rPr>
                        <a:t>ระยะสั้น </a:t>
                      </a:r>
                      <a:r>
                        <a:rPr lang="en-US" sz="750" dirty="0">
                          <a:latin typeface="BLS Text" panose="00000500000000000000" pitchFamily="2" charset="-34"/>
                          <a:cs typeface="BLS Text" panose="00000500000000000000" pitchFamily="2" charset="-34"/>
                        </a:rPr>
                        <a:t>/</a:t>
                      </a:r>
                      <a:r>
                        <a:rPr lang="th-TH" sz="750" dirty="0">
                          <a:latin typeface="BLS Text" panose="00000500000000000000" pitchFamily="2" charset="-34"/>
                          <a:cs typeface="BLS Text" panose="00000500000000000000" pitchFamily="2" charset="-34"/>
                        </a:rPr>
                        <a:t> </a:t>
                      </a:r>
                      <a:r>
                        <a:rPr lang="en-US" sz="750" dirty="0">
                          <a:latin typeface="BLS Text" panose="00000500000000000000" pitchFamily="2" charset="-34"/>
                          <a:cs typeface="BLS Text" panose="00000500000000000000" pitchFamily="2" charset="-34"/>
                        </a:rPr>
                        <a:t>global manufacturing cycle </a:t>
                      </a:r>
                      <a:r>
                        <a:rPr lang="th-TH" sz="750" dirty="0">
                          <a:latin typeface="BLS Text" panose="00000500000000000000" pitchFamily="2" charset="-34"/>
                          <a:cs typeface="BLS Text" panose="00000500000000000000" pitchFamily="2" charset="-34"/>
                        </a:rPr>
                        <a:t>ฟื้นในระยะกลาง-ยาว</a:t>
                      </a:r>
                    </a:p>
                  </a:txBody>
                  <a:tcPr marL="62855" marR="62855" marT="31428" marB="31428" anchor="ctr">
                    <a:lnL>
                      <a:noFill/>
                    </a:lnL>
                    <a:lnR>
                      <a:noFill/>
                    </a:lnR>
                    <a:lnT>
                      <a:noFill/>
                    </a:lnT>
                    <a:lnB>
                      <a:noFill/>
                    </a:lnB>
                  </a:tcPr>
                </a:tc>
                <a:extLst>
                  <a:ext uri="{0D108BD9-81ED-4DB2-BD59-A6C34878D82A}">
                    <a16:rowId xmlns:a16="http://schemas.microsoft.com/office/drawing/2014/main" val="2286066090"/>
                  </a:ext>
                </a:extLst>
              </a:tr>
              <a:tr h="466825">
                <a:tc>
                  <a:txBody>
                    <a:bodyPr/>
                    <a:lstStyle/>
                    <a:p>
                      <a:pPr algn="l"/>
                      <a:r>
                        <a:rPr lang="en-US" sz="750" b="0" dirty="0">
                          <a:latin typeface="BLS Text" panose="00000500000000000000" pitchFamily="2" charset="-34"/>
                          <a:cs typeface="BLS Text" panose="00000500000000000000" pitchFamily="2" charset="-34"/>
                        </a:rPr>
                        <a:t>3) </a:t>
                      </a:r>
                      <a:r>
                        <a:rPr lang="fr-FR" sz="750" b="0" dirty="0">
                          <a:latin typeface="BLS Text" panose="00000500000000000000" pitchFamily="2" charset="-34"/>
                          <a:cs typeface="BLS Text" panose="00000500000000000000" pitchFamily="2" charset="-34"/>
                        </a:rPr>
                        <a:t>National Infras., Digitalisation &amp; Data Center</a:t>
                      </a:r>
                    </a:p>
                  </a:txBody>
                  <a:tcPr marL="62855" marR="62855" marT="31428" marB="31428" anchor="ctr">
                    <a:lnL>
                      <a:noFill/>
                    </a:lnL>
                    <a:lnR>
                      <a:noFill/>
                    </a:lnR>
                    <a:lnT>
                      <a:noFill/>
                    </a:lnT>
                    <a:lnB>
                      <a:noFill/>
                    </a:lnB>
                    <a:solidFill>
                      <a:schemeClr val="accent5">
                        <a:lumMod val="20000"/>
                        <a:lumOff val="80000"/>
                      </a:schemeClr>
                    </a:solidFill>
                  </a:tcPr>
                </a:tc>
                <a:tc>
                  <a:txBody>
                    <a:bodyPr/>
                    <a:lstStyle/>
                    <a:p>
                      <a:pPr algn="ctr"/>
                      <a:r>
                        <a:rPr lang="en-US" sz="750" b="0" dirty="0">
                          <a:latin typeface="BLS Text" panose="00000500000000000000" pitchFamily="2" charset="-34"/>
                          <a:cs typeface="BLS Text" panose="00000500000000000000" pitchFamily="2" charset="-34"/>
                        </a:rPr>
                        <a:t>GULF, GUNKUL</a:t>
                      </a:r>
                    </a:p>
                    <a:p>
                      <a:pPr algn="ctr"/>
                      <a:r>
                        <a:rPr lang="en-US" sz="750" b="0" dirty="0">
                          <a:latin typeface="BLS Text" panose="00000500000000000000" pitchFamily="2" charset="-34"/>
                          <a:cs typeface="BLS Text" panose="00000500000000000000" pitchFamily="2" charset="-34"/>
                        </a:rPr>
                        <a:t>ADVANC,</a:t>
                      </a:r>
                    </a:p>
                    <a:p>
                      <a:pPr algn="ctr"/>
                      <a:r>
                        <a:rPr lang="en-US" sz="750" b="0" dirty="0">
                          <a:latin typeface="BLS Text" panose="00000500000000000000" pitchFamily="2" charset="-34"/>
                          <a:cs typeface="BLS Text" panose="00000500000000000000" pitchFamily="2" charset="-34"/>
                        </a:rPr>
                        <a:t>TRUE, WHA, AMATA</a:t>
                      </a:r>
                    </a:p>
                  </a:txBody>
                  <a:tcPr marL="62855" marR="62855" marT="31428" marB="31428" anchor="ctr">
                    <a:lnL>
                      <a:noFill/>
                    </a:lnL>
                    <a:lnR>
                      <a:noFill/>
                    </a:lnR>
                    <a:lnT>
                      <a:noFill/>
                    </a:lnT>
                    <a:lnB>
                      <a:noFill/>
                    </a:lnB>
                    <a:solidFill>
                      <a:schemeClr val="accent5">
                        <a:lumMod val="20000"/>
                        <a:lumOff val="80000"/>
                      </a:schemeClr>
                    </a:solidFill>
                  </a:tcPr>
                </a:tc>
                <a:tc>
                  <a:txBody>
                    <a:bodyPr/>
                    <a:lstStyle/>
                    <a:p>
                      <a:pPr algn="l"/>
                      <a:r>
                        <a:rPr lang="en-US" sz="750" dirty="0">
                          <a:latin typeface="BLS Text" panose="00000500000000000000" pitchFamily="2" charset="-34"/>
                          <a:cs typeface="BLS Text" panose="00000500000000000000" pitchFamily="2" charset="-34"/>
                        </a:rPr>
                        <a:t>FDI </a:t>
                      </a:r>
                      <a:r>
                        <a:rPr lang="th-TH" sz="750" dirty="0">
                          <a:latin typeface="BLS Text" panose="00000500000000000000" pitchFamily="2" charset="-34"/>
                          <a:cs typeface="BLS Text" panose="00000500000000000000" pitchFamily="2" charset="-34"/>
                        </a:rPr>
                        <a:t>เร่งตัว </a:t>
                      </a:r>
                      <a:r>
                        <a:rPr lang="en-US" sz="750" dirty="0">
                          <a:latin typeface="BLS Text" panose="00000500000000000000" pitchFamily="2" charset="-34"/>
                          <a:cs typeface="BLS Text" panose="00000500000000000000" pitchFamily="2" charset="-34"/>
                        </a:rPr>
                        <a:t>/</a:t>
                      </a:r>
                      <a:r>
                        <a:rPr lang="th-TH" sz="750" dirty="0">
                          <a:latin typeface="BLS Text" panose="00000500000000000000" pitchFamily="2" charset="-34"/>
                          <a:cs typeface="BLS Text" panose="00000500000000000000" pitchFamily="2" charset="-34"/>
                        </a:rPr>
                        <a:t> </a:t>
                      </a:r>
                      <a:r>
                        <a:rPr lang="en-US" sz="750" dirty="0">
                          <a:latin typeface="BLS Text" panose="00000500000000000000" pitchFamily="2" charset="-34"/>
                          <a:cs typeface="BLS Text" panose="00000500000000000000" pitchFamily="2" charset="-34"/>
                        </a:rPr>
                        <a:t>BOI fast-track + demand </a:t>
                      </a:r>
                      <a:r>
                        <a:rPr lang="th-TH" sz="750" dirty="0">
                          <a:latin typeface="BLS Text" panose="00000500000000000000" pitchFamily="2" charset="-34"/>
                          <a:cs typeface="BLS Text" panose="00000500000000000000" pitchFamily="2" charset="-34"/>
                        </a:rPr>
                        <a:t>โครงสร้างพื้นฐานดิจิทัล</a:t>
                      </a:r>
                    </a:p>
                  </a:txBody>
                  <a:tcPr marL="62855" marR="62855" marT="31428" marB="31428" anchor="ctr">
                    <a:lnL>
                      <a:noFill/>
                    </a:lnL>
                    <a:lnR>
                      <a:noFill/>
                    </a:lnR>
                    <a:lnT>
                      <a:noFill/>
                    </a:lnT>
                    <a:lnB>
                      <a:noFill/>
                    </a:lnB>
                    <a:solidFill>
                      <a:schemeClr val="accent5">
                        <a:lumMod val="20000"/>
                        <a:lumOff val="80000"/>
                      </a:schemeClr>
                    </a:solidFill>
                  </a:tcPr>
                </a:tc>
                <a:extLst>
                  <a:ext uri="{0D108BD9-81ED-4DB2-BD59-A6C34878D82A}">
                    <a16:rowId xmlns:a16="http://schemas.microsoft.com/office/drawing/2014/main" val="1409058032"/>
                  </a:ext>
                </a:extLst>
              </a:tr>
              <a:tr h="253009">
                <a:tc>
                  <a:txBody>
                    <a:bodyPr/>
                    <a:lstStyle/>
                    <a:p>
                      <a:pPr algn="l"/>
                      <a:r>
                        <a:rPr lang="en-US" sz="750" b="0" dirty="0">
                          <a:latin typeface="BLS Text" panose="00000500000000000000" pitchFamily="2" charset="-34"/>
                          <a:cs typeface="BLS Text" panose="00000500000000000000" pitchFamily="2" charset="-34"/>
                        </a:rPr>
                        <a:t>4) War-Resilient Domestic Earnings</a:t>
                      </a:r>
                    </a:p>
                  </a:txBody>
                  <a:tcPr marL="62855" marR="62855" marT="31428" marB="31428" anchor="ctr">
                    <a:lnL>
                      <a:noFill/>
                    </a:lnL>
                    <a:lnR>
                      <a:noFill/>
                    </a:lnR>
                    <a:lnT>
                      <a:noFill/>
                    </a:lnT>
                    <a:lnB>
                      <a:noFill/>
                    </a:lnB>
                  </a:tcPr>
                </a:tc>
                <a:tc>
                  <a:txBody>
                    <a:bodyPr/>
                    <a:lstStyle/>
                    <a:p>
                      <a:pPr algn="ctr"/>
                      <a:r>
                        <a:rPr lang="en-US" sz="750" b="0" dirty="0">
                          <a:latin typeface="BLS Text" panose="00000500000000000000" pitchFamily="2" charset="-34"/>
                          <a:cs typeface="BLS Text" panose="00000500000000000000" pitchFamily="2" charset="-34"/>
                        </a:rPr>
                        <a:t>CPN</a:t>
                      </a:r>
                    </a:p>
                  </a:txBody>
                  <a:tcPr marL="62855" marR="62855" marT="31428" marB="31428" anchor="ctr">
                    <a:lnL>
                      <a:noFill/>
                    </a:lnL>
                    <a:lnR>
                      <a:noFill/>
                    </a:lnR>
                    <a:lnT>
                      <a:noFill/>
                    </a:lnT>
                    <a:lnB>
                      <a:noFill/>
                    </a:lnB>
                  </a:tcPr>
                </a:tc>
                <a:tc>
                  <a:txBody>
                    <a:bodyPr/>
                    <a:lstStyle/>
                    <a:p>
                      <a:pPr algn="l"/>
                      <a:r>
                        <a:rPr lang="th-TH" sz="750" dirty="0">
                          <a:latin typeface="BLS Text" panose="00000500000000000000" pitchFamily="2" charset="-34"/>
                          <a:cs typeface="BLS Text" panose="00000500000000000000" pitchFamily="2" charset="-34"/>
                        </a:rPr>
                        <a:t>รายได้ในประเทศ </a:t>
                      </a:r>
                      <a:r>
                        <a:rPr lang="en-US" sz="750" dirty="0">
                          <a:latin typeface="BLS Text" panose="00000500000000000000" pitchFamily="2" charset="-34"/>
                          <a:cs typeface="BLS Text" panose="00000500000000000000" pitchFamily="2" charset="-34"/>
                        </a:rPr>
                        <a:t>/</a:t>
                      </a:r>
                      <a:r>
                        <a:rPr lang="th-TH" sz="750" dirty="0">
                          <a:latin typeface="BLS Text" panose="00000500000000000000" pitchFamily="2" charset="-34"/>
                          <a:cs typeface="BLS Text" panose="00000500000000000000" pitchFamily="2" charset="-34"/>
                        </a:rPr>
                        <a:t> </a:t>
                      </a:r>
                      <a:r>
                        <a:rPr lang="en-US" sz="750" dirty="0">
                          <a:latin typeface="BLS Text" panose="00000500000000000000" pitchFamily="2" charset="-34"/>
                          <a:cs typeface="BLS Text" panose="00000500000000000000" pitchFamily="2" charset="-34"/>
                        </a:rPr>
                        <a:t>recurring income </a:t>
                      </a:r>
                      <a:r>
                        <a:rPr lang="th-TH" sz="750" dirty="0">
                          <a:latin typeface="BLS Text" panose="00000500000000000000" pitchFamily="2" charset="-34"/>
                          <a:cs typeface="BLS Text" panose="00000500000000000000" pitchFamily="2" charset="-34"/>
                        </a:rPr>
                        <a:t>สูง</a:t>
                      </a:r>
                    </a:p>
                  </a:txBody>
                  <a:tcPr marL="62855" marR="62855" marT="31428" marB="31428" anchor="ctr">
                    <a:lnL>
                      <a:noFill/>
                    </a:lnL>
                    <a:lnR>
                      <a:noFill/>
                    </a:lnR>
                    <a:lnT>
                      <a:noFill/>
                    </a:lnT>
                    <a:lnB>
                      <a:noFill/>
                    </a:lnB>
                  </a:tcPr>
                </a:tc>
                <a:extLst>
                  <a:ext uri="{0D108BD9-81ED-4DB2-BD59-A6C34878D82A}">
                    <a16:rowId xmlns:a16="http://schemas.microsoft.com/office/drawing/2014/main" val="1241181908"/>
                  </a:ext>
                </a:extLst>
              </a:tr>
              <a:tr h="452570">
                <a:tc>
                  <a:txBody>
                    <a:bodyPr/>
                    <a:lstStyle/>
                    <a:p>
                      <a:pPr algn="l"/>
                      <a:r>
                        <a:rPr lang="en-US" sz="750" b="0" dirty="0">
                          <a:latin typeface="BLS Text" panose="00000500000000000000" pitchFamily="2" charset="-34"/>
                          <a:cs typeface="BLS Text" panose="00000500000000000000" pitchFamily="2" charset="-34"/>
                        </a:rPr>
                        <a:t>5) Over-penalized Valuation </a:t>
                      </a:r>
                      <a:r>
                        <a:rPr lang="en-US" sz="700" b="0" dirty="0">
                          <a:latin typeface="BLS Text" panose="00000500000000000000" pitchFamily="2" charset="-34"/>
                          <a:cs typeface="BLS Text" panose="00000500000000000000" pitchFamily="2" charset="-34"/>
                        </a:rPr>
                        <a:t>(Stable Earnings Revision)</a:t>
                      </a:r>
                      <a:endParaRPr lang="en-US" sz="750" b="0" dirty="0">
                        <a:latin typeface="BLS Text" panose="00000500000000000000" pitchFamily="2" charset="-34"/>
                        <a:cs typeface="BLS Text" panose="00000500000000000000" pitchFamily="2" charset="-34"/>
                      </a:endParaRPr>
                    </a:p>
                  </a:txBody>
                  <a:tcPr marL="62855" marR="62855" marT="31428" marB="31428" anchor="ctr">
                    <a:lnL>
                      <a:noFill/>
                    </a:lnL>
                    <a:lnR>
                      <a:noFill/>
                    </a:lnR>
                    <a:lnT>
                      <a:noFill/>
                    </a:lnT>
                    <a:lnB>
                      <a:noFill/>
                    </a:lnB>
                    <a:solidFill>
                      <a:schemeClr val="accent5">
                        <a:lumMod val="20000"/>
                        <a:lumOff val="80000"/>
                      </a:schemeClr>
                    </a:solidFill>
                  </a:tcPr>
                </a:tc>
                <a:tc>
                  <a:txBody>
                    <a:bodyPr/>
                    <a:lstStyle/>
                    <a:p>
                      <a:pPr algn="ctr"/>
                      <a:r>
                        <a:rPr lang="en-US" sz="750" b="0" dirty="0">
                          <a:latin typeface="BLS Text" panose="00000500000000000000" pitchFamily="2" charset="-34"/>
                          <a:cs typeface="BLS Text" panose="00000500000000000000" pitchFamily="2" charset="-34"/>
                        </a:rPr>
                        <a:t>BH, MINT</a:t>
                      </a:r>
                    </a:p>
                  </a:txBody>
                  <a:tcPr marL="62855" marR="62855" marT="31428" marB="31428" anchor="ctr">
                    <a:lnL>
                      <a:noFill/>
                    </a:lnL>
                    <a:lnR>
                      <a:noFill/>
                    </a:lnR>
                    <a:lnT>
                      <a:noFill/>
                    </a:lnT>
                    <a:lnB>
                      <a:noFill/>
                    </a:lnB>
                    <a:solidFill>
                      <a:schemeClr val="accent5">
                        <a:lumMod val="20000"/>
                        <a:lumOff val="80000"/>
                      </a:schemeClr>
                    </a:solidFill>
                  </a:tcPr>
                </a:tc>
                <a:tc>
                  <a:txBody>
                    <a:bodyPr/>
                    <a:lstStyle/>
                    <a:p>
                      <a:pPr algn="l"/>
                      <a:r>
                        <a:rPr lang="th-TH" sz="750" dirty="0">
                          <a:latin typeface="BLS Text" panose="00000500000000000000" pitchFamily="2" charset="-34"/>
                          <a:cs typeface="BLS Text" panose="00000500000000000000" pitchFamily="2" charset="-34"/>
                        </a:rPr>
                        <a:t>ราคาหุ้นปรับลงแรงกว่าพื้นฐานจาก </a:t>
                      </a:r>
                      <a:r>
                        <a:rPr lang="en-US" sz="750" dirty="0">
                          <a:latin typeface="BLS Text" panose="00000500000000000000" pitchFamily="2" charset="-34"/>
                          <a:cs typeface="BLS Text" panose="00000500000000000000" pitchFamily="2" charset="-34"/>
                        </a:rPr>
                        <a:t>sentiment </a:t>
                      </a:r>
                      <a:r>
                        <a:rPr lang="th-TH" sz="750" dirty="0">
                          <a:latin typeface="BLS Text" panose="00000500000000000000" pitchFamily="2" charset="-34"/>
                          <a:cs typeface="BLS Text" panose="00000500000000000000" pitchFamily="2" charset="-34"/>
                        </a:rPr>
                        <a:t>สงคราม</a:t>
                      </a:r>
                      <a:r>
                        <a:rPr lang="en-US" sz="750" dirty="0">
                          <a:latin typeface="BLS Text" panose="00000500000000000000" pitchFamily="2" charset="-34"/>
                          <a:cs typeface="BLS Text" panose="00000500000000000000" pitchFamily="2" charset="-34"/>
                        </a:rPr>
                        <a:t>,</a:t>
                      </a:r>
                      <a:r>
                        <a:rPr lang="th-TH" sz="750" dirty="0">
                          <a:latin typeface="BLS Text" panose="00000500000000000000" pitchFamily="2" charset="-34"/>
                          <a:cs typeface="BLS Text" panose="00000500000000000000" pitchFamily="2" charset="-34"/>
                        </a:rPr>
                        <a:t> </a:t>
                      </a:r>
                      <a:r>
                        <a:rPr lang="en-US" sz="750" dirty="0">
                          <a:latin typeface="BLS Text" panose="00000500000000000000" pitchFamily="2" charset="-34"/>
                          <a:cs typeface="BLS Text" panose="00000500000000000000" pitchFamily="2" charset="-34"/>
                        </a:rPr>
                        <a:t>earnings revision </a:t>
                      </a:r>
                      <a:r>
                        <a:rPr lang="th-TH" sz="750" dirty="0">
                          <a:latin typeface="BLS Text" panose="00000500000000000000" pitchFamily="2" charset="-34"/>
                          <a:cs typeface="BLS Text" panose="00000500000000000000" pitchFamily="2" charset="-34"/>
                        </a:rPr>
                        <a:t>ยังทรงตัว สะท้อน </a:t>
                      </a:r>
                      <a:r>
                        <a:rPr lang="en-US" sz="750" dirty="0">
                          <a:latin typeface="BLS Text" panose="00000500000000000000" pitchFamily="2" charset="-34"/>
                          <a:cs typeface="BLS Text" panose="00000500000000000000" pitchFamily="2" charset="-34"/>
                        </a:rPr>
                        <a:t>valuation discount </a:t>
                      </a:r>
                      <a:r>
                        <a:rPr lang="th-TH" sz="750" dirty="0">
                          <a:latin typeface="BLS Text" panose="00000500000000000000" pitchFamily="2" charset="-34"/>
                          <a:cs typeface="BLS Text" panose="00000500000000000000" pitchFamily="2" charset="-34"/>
                        </a:rPr>
                        <a:t>เทียบ </a:t>
                      </a:r>
                      <a:r>
                        <a:rPr lang="en-US" sz="750" dirty="0">
                          <a:latin typeface="BLS Text" panose="00000500000000000000" pitchFamily="2" charset="-34"/>
                          <a:cs typeface="BLS Text" panose="00000500000000000000" pitchFamily="2" charset="-34"/>
                        </a:rPr>
                        <a:t>fundamentals</a:t>
                      </a:r>
                      <a:endParaRPr lang="th-TH" sz="750" dirty="0">
                        <a:latin typeface="BLS Text" panose="00000500000000000000" pitchFamily="2" charset="-34"/>
                        <a:cs typeface="BLS Text" panose="00000500000000000000" pitchFamily="2" charset="-34"/>
                      </a:endParaRPr>
                    </a:p>
                  </a:txBody>
                  <a:tcPr marL="62855" marR="62855" marT="31428" marB="31428" anchor="ctr">
                    <a:lnL>
                      <a:noFill/>
                    </a:lnL>
                    <a:lnR>
                      <a:noFill/>
                    </a:lnR>
                    <a:lnT>
                      <a:noFill/>
                    </a:lnT>
                    <a:lnB>
                      <a:noFill/>
                    </a:lnB>
                    <a:solidFill>
                      <a:schemeClr val="accent5">
                        <a:lumMod val="20000"/>
                        <a:lumOff val="80000"/>
                      </a:schemeClr>
                    </a:solidFill>
                  </a:tcPr>
                </a:tc>
                <a:extLst>
                  <a:ext uri="{0D108BD9-81ED-4DB2-BD59-A6C34878D82A}">
                    <a16:rowId xmlns:a16="http://schemas.microsoft.com/office/drawing/2014/main" val="3131754981"/>
                  </a:ext>
                </a:extLst>
              </a:tr>
            </a:tbl>
          </a:graphicData>
        </a:graphic>
      </p:graphicFrame>
      <p:pic>
        <p:nvPicPr>
          <p:cNvPr id="9" name="Picture 8">
            <a:extLst>
              <a:ext uri="{FF2B5EF4-FFF2-40B4-BE49-F238E27FC236}">
                <a16:creationId xmlns:a16="http://schemas.microsoft.com/office/drawing/2014/main" id="{C9625C98-D589-A80F-770E-98FBC7E23B1C}"/>
              </a:ext>
            </a:extLst>
          </p:cNvPr>
          <p:cNvPicPr>
            <a:picLocks noChangeAspect="1"/>
          </p:cNvPicPr>
          <p:nvPr/>
        </p:nvPicPr>
        <p:blipFill>
          <a:blip r:embed="rId6"/>
          <a:stretch>
            <a:fillRect/>
          </a:stretch>
        </p:blipFill>
        <p:spPr>
          <a:xfrm>
            <a:off x="4333328" y="2256280"/>
            <a:ext cx="2120008" cy="2460500"/>
          </a:xfrm>
          <a:prstGeom prst="rect">
            <a:avLst/>
          </a:prstGeom>
        </p:spPr>
      </p:pic>
      <p:cxnSp>
        <p:nvCxnSpPr>
          <p:cNvPr id="59" name="Straight Connector 58">
            <a:extLst>
              <a:ext uri="{FF2B5EF4-FFF2-40B4-BE49-F238E27FC236}">
                <a16:creationId xmlns:a16="http://schemas.microsoft.com/office/drawing/2014/main" id="{11C7C5D5-EAE4-B3E6-9DF7-E15CEA3E4EEB}"/>
              </a:ext>
            </a:extLst>
          </p:cNvPr>
          <p:cNvCxnSpPr>
            <a:cxnSpLocks/>
          </p:cNvCxnSpPr>
          <p:nvPr/>
        </p:nvCxnSpPr>
        <p:spPr>
          <a:xfrm>
            <a:off x="4008212" y="4704969"/>
            <a:ext cx="27432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241A465B-AFF2-BD30-A3C3-2B78B03168F9}"/>
              </a:ext>
            </a:extLst>
          </p:cNvPr>
          <p:cNvSpPr txBox="1"/>
          <p:nvPr/>
        </p:nvSpPr>
        <p:spPr>
          <a:xfrm>
            <a:off x="4018706" y="4661426"/>
            <a:ext cx="2290634" cy="230832"/>
          </a:xfrm>
          <a:prstGeom prst="rect">
            <a:avLst/>
          </a:prstGeom>
          <a:noFill/>
        </p:spPr>
        <p:txBody>
          <a:bodyPr wrap="square" lIns="0" rIns="0" rtlCol="0">
            <a:spAutoFit/>
          </a:bodyPr>
          <a:lstStyle/>
          <a:p>
            <a:r>
              <a:rPr lang="en-US" sz="900" dirty="0">
                <a:solidFill>
                  <a:srgbClr val="A17D3D"/>
                </a:solidFill>
                <a:latin typeface="BLS Condensed" pitchFamily="2" charset="-34"/>
                <a:ea typeface="Tahoma" pitchFamily="34" charset="0"/>
                <a:cs typeface="BLS Condensed" pitchFamily="2" charset="-34"/>
              </a:rPr>
              <a:t>Fundamental picks </a:t>
            </a:r>
          </a:p>
        </p:txBody>
      </p:sp>
    </p:spTree>
    <p:extLst>
      <p:ext uri="{BB962C8B-B14F-4D97-AF65-F5344CB8AC3E}">
        <p14:creationId xmlns:p14="http://schemas.microsoft.com/office/powerpoint/2010/main" val="50812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AD5D-75DD-7C3E-4E12-95FE9E6DA851}"/>
            </a:ext>
          </a:extLst>
        </p:cNvPr>
        <p:cNvGrpSpPr/>
        <p:nvPr/>
      </p:nvGrpSpPr>
      <p:grpSpPr>
        <a:xfrm>
          <a:off x="0" y="0"/>
          <a:ext cx="0" cy="0"/>
          <a:chOff x="0" y="0"/>
          <a:chExt cx="0" cy="0"/>
        </a:xfrm>
      </p:grpSpPr>
      <p:pic>
        <p:nvPicPr>
          <p:cNvPr id="5" name="Picture 4" descr="Watercolor of trees in the fog&#10;&#10;Description automatically generated">
            <a:extLst>
              <a:ext uri="{FF2B5EF4-FFF2-40B4-BE49-F238E27FC236}">
                <a16:creationId xmlns:a16="http://schemas.microsoft.com/office/drawing/2014/main" id="{FB46D737-2FF6-5661-E106-CBC8C1117565}"/>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6" r="8181" b="8602"/>
          <a:stretch/>
        </p:blipFill>
        <p:spPr>
          <a:xfrm>
            <a:off x="0" y="0"/>
            <a:ext cx="6858000" cy="8689302"/>
          </a:xfrm>
          <a:prstGeom prst="rect">
            <a:avLst/>
          </a:prstGeom>
        </p:spPr>
      </p:pic>
      <p:sp>
        <p:nvSpPr>
          <p:cNvPr id="19" name="TextBox 18">
            <a:extLst>
              <a:ext uri="{FF2B5EF4-FFF2-40B4-BE49-F238E27FC236}">
                <a16:creationId xmlns:a16="http://schemas.microsoft.com/office/drawing/2014/main" id="{01D3EDA3-679C-BA8B-9EDE-9A31378F2861}"/>
              </a:ext>
            </a:extLst>
          </p:cNvPr>
          <p:cNvSpPr txBox="1"/>
          <p:nvPr/>
        </p:nvSpPr>
        <p:spPr>
          <a:xfrm>
            <a:off x="658256" y="2649508"/>
            <a:ext cx="72008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12 ธ.ค. </a:t>
            </a:r>
          </a:p>
        </p:txBody>
      </p:sp>
      <p:sp>
        <p:nvSpPr>
          <p:cNvPr id="20" name="TextBox 19">
            <a:extLst>
              <a:ext uri="{FF2B5EF4-FFF2-40B4-BE49-F238E27FC236}">
                <a16:creationId xmlns:a16="http://schemas.microsoft.com/office/drawing/2014/main" id="{FC28B75D-C3AA-F0C5-6200-83DB873637CB}"/>
              </a:ext>
            </a:extLst>
          </p:cNvPr>
          <p:cNvSpPr txBox="1"/>
          <p:nvPr/>
        </p:nvSpPr>
        <p:spPr>
          <a:xfrm>
            <a:off x="531946" y="2641334"/>
            <a:ext cx="904643"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ราชกิจจาประกาศยุบสภา</a:t>
            </a:r>
          </a:p>
        </p:txBody>
      </p:sp>
      <p:sp>
        <p:nvSpPr>
          <p:cNvPr id="21" name="TextBox 20">
            <a:extLst>
              <a:ext uri="{FF2B5EF4-FFF2-40B4-BE49-F238E27FC236}">
                <a16:creationId xmlns:a16="http://schemas.microsoft.com/office/drawing/2014/main" id="{C1FE4F51-5E04-9485-3236-75E85E050C64}"/>
              </a:ext>
            </a:extLst>
          </p:cNvPr>
          <p:cNvSpPr txBox="1"/>
          <p:nvPr/>
        </p:nvSpPr>
        <p:spPr>
          <a:xfrm>
            <a:off x="1497212" y="2649508"/>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13-17 ธ.ค.</a:t>
            </a:r>
          </a:p>
        </p:txBody>
      </p:sp>
      <p:sp>
        <p:nvSpPr>
          <p:cNvPr id="25" name="TextBox 24">
            <a:extLst>
              <a:ext uri="{FF2B5EF4-FFF2-40B4-BE49-F238E27FC236}">
                <a16:creationId xmlns:a16="http://schemas.microsoft.com/office/drawing/2014/main" id="{D3C2255B-69C2-3386-D320-629A8A4034DA}"/>
              </a:ext>
            </a:extLst>
          </p:cNvPr>
          <p:cNvSpPr txBox="1"/>
          <p:nvPr/>
        </p:nvSpPr>
        <p:spPr>
          <a:xfrm>
            <a:off x="2319090" y="2649508"/>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20-28 ธ.ค.</a:t>
            </a:r>
          </a:p>
        </p:txBody>
      </p:sp>
      <p:sp>
        <p:nvSpPr>
          <p:cNvPr id="30" name="TextBox 29">
            <a:extLst>
              <a:ext uri="{FF2B5EF4-FFF2-40B4-BE49-F238E27FC236}">
                <a16:creationId xmlns:a16="http://schemas.microsoft.com/office/drawing/2014/main" id="{5E822032-D7A4-8CF4-B820-3F60B01D58F8}"/>
              </a:ext>
            </a:extLst>
          </p:cNvPr>
          <p:cNvSpPr txBox="1"/>
          <p:nvPr/>
        </p:nvSpPr>
        <p:spPr>
          <a:xfrm>
            <a:off x="1484784" y="2641334"/>
            <a:ext cx="72008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ประกาศวันเลือกตั้ง</a:t>
            </a:r>
          </a:p>
        </p:txBody>
      </p:sp>
      <p:sp>
        <p:nvSpPr>
          <p:cNvPr id="32" name="TextBox 31">
            <a:extLst>
              <a:ext uri="{FF2B5EF4-FFF2-40B4-BE49-F238E27FC236}">
                <a16:creationId xmlns:a16="http://schemas.microsoft.com/office/drawing/2014/main" id="{745AAF70-D983-7504-39C7-037FE66D73A6}"/>
              </a:ext>
            </a:extLst>
          </p:cNvPr>
          <p:cNvSpPr txBox="1"/>
          <p:nvPr/>
        </p:nvSpPr>
        <p:spPr>
          <a:xfrm>
            <a:off x="2276872" y="2637439"/>
            <a:ext cx="77966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พรรคส่งผู้สมัคร ส.ส.</a:t>
            </a:r>
          </a:p>
        </p:txBody>
      </p:sp>
      <p:sp>
        <p:nvSpPr>
          <p:cNvPr id="35" name="TextBox 34">
            <a:extLst>
              <a:ext uri="{FF2B5EF4-FFF2-40B4-BE49-F238E27FC236}">
                <a16:creationId xmlns:a16="http://schemas.microsoft.com/office/drawing/2014/main" id="{3B782CAF-F939-A52B-3801-9742737BB1B9}"/>
              </a:ext>
            </a:extLst>
          </p:cNvPr>
          <p:cNvSpPr txBox="1"/>
          <p:nvPr/>
        </p:nvSpPr>
        <p:spPr>
          <a:xfrm>
            <a:off x="3810726" y="2667080"/>
            <a:ext cx="878577"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 ส.ส. อย่างทางการ</a:t>
            </a:r>
          </a:p>
        </p:txBody>
      </p:sp>
      <p:sp>
        <p:nvSpPr>
          <p:cNvPr id="36" name="TextBox 35">
            <a:extLst>
              <a:ext uri="{FF2B5EF4-FFF2-40B4-BE49-F238E27FC236}">
                <a16:creationId xmlns:a16="http://schemas.microsoft.com/office/drawing/2014/main" id="{1A9E9AAC-6A37-023B-CB7D-D641133919A7}"/>
              </a:ext>
            </a:extLst>
          </p:cNvPr>
          <p:cNvSpPr txBox="1"/>
          <p:nvPr/>
        </p:nvSpPr>
        <p:spPr>
          <a:xfrm>
            <a:off x="4590386" y="2658083"/>
            <a:ext cx="1125089"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เลือกนายก/แต่งตั้งคณะรัฐมนตรี</a:t>
            </a:r>
          </a:p>
        </p:txBody>
      </p:sp>
      <p:sp>
        <p:nvSpPr>
          <p:cNvPr id="2" name="TextBox 1">
            <a:extLst>
              <a:ext uri="{FF2B5EF4-FFF2-40B4-BE49-F238E27FC236}">
                <a16:creationId xmlns:a16="http://schemas.microsoft.com/office/drawing/2014/main" id="{9E85ABDE-7CE6-F0E6-1824-B9305003B1AB}"/>
              </a:ext>
            </a:extLst>
          </p:cNvPr>
          <p:cNvSpPr txBox="1"/>
          <p:nvPr/>
        </p:nvSpPr>
        <p:spPr>
          <a:xfrm>
            <a:off x="188640" y="1475656"/>
            <a:ext cx="3164970" cy="2854115"/>
          </a:xfrm>
          <a:prstGeom prst="rect">
            <a:avLst/>
          </a:prstGeom>
          <a:solidFill>
            <a:srgbClr val="EDEDED">
              <a:alpha val="60000"/>
            </a:srgbClr>
          </a:solidFill>
          <a:ln>
            <a:noFill/>
          </a:ln>
        </p:spPr>
        <p:txBody>
          <a:bodyPr wrap="square" rtlCol="0">
            <a:spAutoFit/>
          </a:bodyPr>
          <a:lstStyle/>
          <a:p>
            <a:pPr algn="thaiDist">
              <a:lnSpc>
                <a:spcPct val="120000"/>
              </a:lnSpc>
              <a:spcBef>
                <a:spcPts val="400"/>
              </a:spcBef>
              <a:buSzPct val="120000"/>
            </a:pPr>
            <a:r>
              <a:rPr lang="th-TH" sz="800" b="1" dirty="0">
                <a:solidFill>
                  <a:schemeClr val="accent1"/>
                </a:solidFill>
                <a:latin typeface="BLS Text" panose="00000500000000000000" pitchFamily="2" charset="-34"/>
                <a:cs typeface="BLS Text" pitchFamily="2" charset="-34"/>
              </a:rPr>
              <a:t>กลุ่มที่รอด 1) ธุรกิจรายได้เชื่อมโยงราคาพลังงาน (</a:t>
            </a:r>
            <a:r>
              <a:rPr lang="en-US" sz="800" b="1" dirty="0">
                <a:solidFill>
                  <a:schemeClr val="accent1"/>
                </a:solidFill>
                <a:latin typeface="BLS Text" panose="00000500000000000000" pitchFamily="2" charset="-34"/>
                <a:cs typeface="BLS Text" pitchFamily="2" charset="-34"/>
              </a:rPr>
              <a:t>energy-linked earnings) </a:t>
            </a:r>
            <a:r>
              <a:rPr lang="th-TH" sz="800" b="1" dirty="0">
                <a:solidFill>
                  <a:schemeClr val="accent1"/>
                </a:solidFill>
                <a:latin typeface="BLS Text" panose="00000500000000000000" pitchFamily="2" charset="-34"/>
                <a:cs typeface="BLS Text" pitchFamily="2" charset="-34"/>
              </a:rPr>
              <a:t>มีความสามารถในการส่งผ่านต้นทุน (</a:t>
            </a:r>
            <a:r>
              <a:rPr lang="en-US" sz="800" b="1" dirty="0">
                <a:solidFill>
                  <a:schemeClr val="accent1"/>
                </a:solidFill>
                <a:latin typeface="BLS Text" panose="00000500000000000000" pitchFamily="2" charset="-34"/>
                <a:cs typeface="BLS Text" pitchFamily="2" charset="-34"/>
              </a:rPr>
              <a:t>cost pass-through ability)</a:t>
            </a:r>
            <a:r>
              <a:rPr lang="th-TH" sz="800" b="1" dirty="0">
                <a:solidFill>
                  <a:schemeClr val="accent1"/>
                </a:solidFill>
                <a:latin typeface="BLS Text" panose="00000500000000000000" pitchFamily="2" charset="-34"/>
                <a:cs typeface="BLS Text" pitchFamily="2" charset="-34"/>
              </a:rPr>
              <a:t> </a:t>
            </a:r>
            <a:r>
              <a:rPr lang="th-TH" sz="800" dirty="0">
                <a:solidFill>
                  <a:schemeClr val="tx1">
                    <a:lumMod val="75000"/>
                    <a:lumOff val="25000"/>
                  </a:schemeClr>
                </a:solidFill>
                <a:latin typeface="BLS Text" panose="00000500000000000000" pitchFamily="2" charset="-34"/>
                <a:cs typeface="BLS Text" pitchFamily="2" charset="-34"/>
              </a:rPr>
              <a:t>ได้แก่ </a:t>
            </a:r>
            <a:r>
              <a:rPr lang="th-TH" sz="800" b="1" dirty="0">
                <a:solidFill>
                  <a:schemeClr val="tx1">
                    <a:lumMod val="75000"/>
                    <a:lumOff val="25000"/>
                  </a:schemeClr>
                </a:solidFill>
                <a:latin typeface="BLS Text" panose="00000500000000000000" pitchFamily="2" charset="-34"/>
                <a:cs typeface="BLS Text" pitchFamily="2" charset="-34"/>
              </a:rPr>
              <a:t>กลุ่มพลังงานต้นน้ำและโรงกลั่น </a:t>
            </a:r>
            <a:r>
              <a:rPr lang="th-TH" sz="800" dirty="0">
                <a:solidFill>
                  <a:schemeClr val="tx1">
                    <a:lumMod val="75000"/>
                    <a:lumOff val="25000"/>
                  </a:schemeClr>
                </a:solidFill>
                <a:latin typeface="BLS Text" panose="00000500000000000000" pitchFamily="2" charset="-34"/>
                <a:cs typeface="BLS Text" pitchFamily="2" charset="-34"/>
              </a:rPr>
              <a:t>(ปรับประมาณการณ์กำไรขึ้น +2.8% ใน 1 เดือนที่ผ่านมา) นำโดย </a:t>
            </a:r>
            <a:r>
              <a:rPr lang="en-US" sz="800" b="1" dirty="0">
                <a:solidFill>
                  <a:schemeClr val="tx1">
                    <a:lumMod val="75000"/>
                    <a:lumOff val="25000"/>
                  </a:schemeClr>
                </a:solidFill>
                <a:latin typeface="BLS Text" panose="00000500000000000000" pitchFamily="2" charset="-34"/>
                <a:cs typeface="BLS Text" pitchFamily="2" charset="-34"/>
              </a:rPr>
              <a:t>PTTEP</a:t>
            </a:r>
            <a:r>
              <a:rPr lang="en-US" sz="800" dirty="0">
                <a:solidFill>
                  <a:schemeClr val="tx1">
                    <a:lumMod val="75000"/>
                    <a:lumOff val="25000"/>
                  </a:schemeClr>
                </a:solidFill>
                <a:latin typeface="BLS Text" panose="00000500000000000000" pitchFamily="2" charset="-34"/>
                <a:cs typeface="BLS Text" pitchFamily="2" charset="-34"/>
              </a:rPr>
              <a:t> (+2.0%), </a:t>
            </a:r>
            <a:r>
              <a:rPr lang="en-US" sz="800" b="1" dirty="0">
                <a:solidFill>
                  <a:schemeClr val="tx1">
                    <a:lumMod val="75000"/>
                    <a:lumOff val="25000"/>
                  </a:schemeClr>
                </a:solidFill>
                <a:latin typeface="BLS Text" panose="00000500000000000000" pitchFamily="2" charset="-34"/>
                <a:cs typeface="BLS Text" pitchFamily="2" charset="-34"/>
              </a:rPr>
              <a:t>TOP</a:t>
            </a:r>
            <a:r>
              <a:rPr lang="en-US" sz="800" dirty="0">
                <a:solidFill>
                  <a:schemeClr val="tx1">
                    <a:lumMod val="75000"/>
                    <a:lumOff val="25000"/>
                  </a:schemeClr>
                </a:solidFill>
                <a:latin typeface="BLS Text" panose="00000500000000000000" pitchFamily="2" charset="-34"/>
                <a:cs typeface="BLS Text" pitchFamily="2" charset="-34"/>
              </a:rPr>
              <a:t> (+1.5%), </a:t>
            </a:r>
            <a:r>
              <a:rPr lang="en-US" sz="800" b="1" dirty="0">
                <a:solidFill>
                  <a:schemeClr val="tx1">
                    <a:lumMod val="75000"/>
                    <a:lumOff val="25000"/>
                  </a:schemeClr>
                </a:solidFill>
                <a:latin typeface="BLS Text" panose="00000500000000000000" pitchFamily="2" charset="-34"/>
                <a:cs typeface="BLS Text" pitchFamily="2" charset="-34"/>
              </a:rPr>
              <a:t>SPRC</a:t>
            </a:r>
            <a:r>
              <a:rPr lang="en-US" sz="800" dirty="0">
                <a:solidFill>
                  <a:schemeClr val="tx1">
                    <a:lumMod val="75000"/>
                    <a:lumOff val="25000"/>
                  </a:schemeClr>
                </a:solidFill>
                <a:latin typeface="BLS Text" panose="00000500000000000000" pitchFamily="2" charset="-34"/>
                <a:cs typeface="BLS Text" pitchFamily="2" charset="-34"/>
              </a:rPr>
              <a:t> (+0.7%), </a:t>
            </a:r>
            <a:r>
              <a:rPr lang="en-US" sz="800" b="1" dirty="0">
                <a:solidFill>
                  <a:schemeClr val="tx1">
                    <a:lumMod val="75000"/>
                    <a:lumOff val="25000"/>
                  </a:schemeClr>
                </a:solidFill>
                <a:latin typeface="BLS Text" panose="00000500000000000000" pitchFamily="2" charset="-34"/>
                <a:cs typeface="BLS Text" pitchFamily="2" charset="-34"/>
              </a:rPr>
              <a:t>PTT</a:t>
            </a:r>
            <a:r>
              <a:rPr lang="en-US" sz="800" dirty="0">
                <a:solidFill>
                  <a:schemeClr val="tx1">
                    <a:lumMod val="75000"/>
                    <a:lumOff val="25000"/>
                  </a:schemeClr>
                </a:solidFill>
                <a:latin typeface="BLS Text" panose="00000500000000000000" pitchFamily="2" charset="-34"/>
                <a:cs typeface="BLS Text" pitchFamily="2" charset="-34"/>
              </a:rPr>
              <a:t> (+1.5%) </a:t>
            </a:r>
            <a:r>
              <a:rPr lang="th-TH" sz="800" dirty="0">
                <a:solidFill>
                  <a:schemeClr val="tx1">
                    <a:lumMod val="75000"/>
                    <a:lumOff val="25000"/>
                  </a:schemeClr>
                </a:solidFill>
                <a:latin typeface="BLS Text" panose="00000500000000000000" pitchFamily="2" charset="-34"/>
                <a:cs typeface="BLS Text" pitchFamily="2" charset="-34"/>
              </a:rPr>
              <a:t>จากอานิสงส์ราคาพลังงาน</a:t>
            </a:r>
            <a:r>
              <a:rPr lang="en-US" sz="800" dirty="0">
                <a:solidFill>
                  <a:schemeClr val="tx1">
                    <a:lumMod val="75000"/>
                    <a:lumOff val="25000"/>
                  </a:schemeClr>
                </a:solidFill>
                <a:latin typeface="BLS Text" panose="00000500000000000000" pitchFamily="2" charset="-34"/>
                <a:cs typeface="BLS Text" pitchFamily="2" charset="-34"/>
              </a:rPr>
              <a:t>,</a:t>
            </a:r>
            <a:r>
              <a:rPr lang="th-TH" sz="800" dirty="0">
                <a:solidFill>
                  <a:schemeClr val="tx1">
                    <a:lumMod val="75000"/>
                    <a:lumOff val="25000"/>
                  </a:schemeClr>
                </a:solidFill>
                <a:latin typeface="BLS Text" panose="00000500000000000000" pitchFamily="2" charset="-34"/>
                <a:cs typeface="BLS Text" pitchFamily="2" charset="-34"/>
              </a:rPr>
              <a:t> </a:t>
            </a:r>
            <a:r>
              <a:rPr lang="th-TH" sz="800" b="1" dirty="0">
                <a:solidFill>
                  <a:schemeClr val="tx1">
                    <a:lumMod val="75000"/>
                    <a:lumOff val="25000"/>
                  </a:schemeClr>
                </a:solidFill>
                <a:latin typeface="BLS Text" panose="00000500000000000000" pitchFamily="2" charset="-34"/>
                <a:cs typeface="BLS Text" pitchFamily="2" charset="-34"/>
              </a:rPr>
              <a:t>กลุ่มเกษตร </a:t>
            </a:r>
            <a:r>
              <a:rPr lang="th-TH" sz="800" dirty="0">
                <a:solidFill>
                  <a:schemeClr val="tx1">
                    <a:lumMod val="75000"/>
                    <a:lumOff val="25000"/>
                  </a:schemeClr>
                </a:solidFill>
                <a:latin typeface="BLS Text" panose="00000500000000000000" pitchFamily="2" charset="-34"/>
                <a:cs typeface="BLS Text" pitchFamily="2" charset="-34"/>
              </a:rPr>
              <a:t>(+12.2%) ได้แรงหนุนจากการปรับราคาขายขึ้นทั้ง</a:t>
            </a:r>
            <a:r>
              <a:rPr lang="th-TH" sz="800" b="1" dirty="0">
                <a:solidFill>
                  <a:schemeClr val="tx1">
                    <a:lumMod val="75000"/>
                    <a:lumOff val="25000"/>
                  </a:schemeClr>
                </a:solidFill>
                <a:latin typeface="BLS Text" panose="00000500000000000000" pitchFamily="2" charset="-34"/>
                <a:cs typeface="BLS Text" pitchFamily="2" charset="-34"/>
              </a:rPr>
              <a:t>ยาง/ผลิตภัณฑ์เกี่ยวกับยาง </a:t>
            </a:r>
            <a:r>
              <a:rPr lang="th-TH" sz="800" dirty="0">
                <a:solidFill>
                  <a:schemeClr val="tx1">
                    <a:lumMod val="75000"/>
                    <a:lumOff val="25000"/>
                  </a:schemeClr>
                </a:solidFill>
                <a:latin typeface="BLS Text" panose="00000500000000000000" pitchFamily="2" charset="-34"/>
                <a:cs typeface="BLS Text" pitchFamily="2" charset="-34"/>
              </a:rPr>
              <a:t>จากภาวะขาดแคลนยางธรรมชาติ รวมถึงวัตถุดิบผลิตถุงมือยางสังเคราะห์ ทำให้ </a:t>
            </a:r>
            <a:r>
              <a:rPr lang="en-US" sz="800" b="1" dirty="0">
                <a:solidFill>
                  <a:schemeClr val="tx1">
                    <a:lumMod val="75000"/>
                    <a:lumOff val="25000"/>
                  </a:schemeClr>
                </a:solidFill>
                <a:latin typeface="BLS Text" panose="00000500000000000000" pitchFamily="2" charset="-34"/>
                <a:cs typeface="BLS Text" pitchFamily="2" charset="-34"/>
              </a:rPr>
              <a:t>STA</a:t>
            </a:r>
            <a:r>
              <a:rPr lang="en-US" sz="800" dirty="0">
                <a:solidFill>
                  <a:schemeClr val="tx1">
                    <a:lumMod val="75000"/>
                    <a:lumOff val="25000"/>
                  </a:schemeClr>
                </a:solidFill>
                <a:latin typeface="BLS Text" panose="00000500000000000000" pitchFamily="2" charset="-34"/>
                <a:cs typeface="BLS Text" pitchFamily="2" charset="-34"/>
              </a:rPr>
              <a:t> (+29.9%) </a:t>
            </a:r>
            <a:r>
              <a:rPr lang="th-TH" sz="800" dirty="0">
                <a:solidFill>
                  <a:schemeClr val="tx1">
                    <a:lumMod val="75000"/>
                    <a:lumOff val="25000"/>
                  </a:schemeClr>
                </a:solidFill>
                <a:latin typeface="BLS Text" panose="00000500000000000000" pitchFamily="2" charset="-34"/>
                <a:cs typeface="BLS Text" pitchFamily="2" charset="-34"/>
              </a:rPr>
              <a:t>และ </a:t>
            </a:r>
            <a:r>
              <a:rPr lang="en-US" sz="800" b="1" dirty="0">
                <a:solidFill>
                  <a:schemeClr val="tx1">
                    <a:lumMod val="75000"/>
                    <a:lumOff val="25000"/>
                  </a:schemeClr>
                </a:solidFill>
                <a:latin typeface="BLS Text" panose="00000500000000000000" pitchFamily="2" charset="-34"/>
                <a:cs typeface="BLS Text" pitchFamily="2" charset="-34"/>
              </a:rPr>
              <a:t>STGT</a:t>
            </a:r>
            <a:r>
              <a:rPr lang="en-US" sz="800" dirty="0">
                <a:solidFill>
                  <a:schemeClr val="tx1">
                    <a:lumMod val="75000"/>
                    <a:lumOff val="25000"/>
                  </a:schemeClr>
                </a:solidFill>
                <a:latin typeface="BLS Text" panose="00000500000000000000" pitchFamily="2" charset="-34"/>
                <a:cs typeface="BLS Text" pitchFamily="2" charset="-34"/>
              </a:rPr>
              <a:t> (+26.3%) </a:t>
            </a:r>
            <a:r>
              <a:rPr lang="th-TH" sz="800" dirty="0">
                <a:solidFill>
                  <a:schemeClr val="tx1">
                    <a:lumMod val="75000"/>
                    <a:lumOff val="25000"/>
                  </a:schemeClr>
                </a:solidFill>
                <a:latin typeface="BLS Text" panose="00000500000000000000" pitchFamily="2" charset="-34"/>
                <a:cs typeface="BLS Text" pitchFamily="2" charset="-34"/>
              </a:rPr>
              <a:t>ขณะที่ ราคาเนื้อสัตว์ปรับขึ้น-ต้นทุนอาหารสัตว์ล็อกไว้ล่วงหน้า (เช่น กากถั่วเหลืองถึงกลางปี) หนุน </a:t>
            </a:r>
            <a:r>
              <a:rPr lang="en-US" sz="800" dirty="0">
                <a:solidFill>
                  <a:schemeClr val="tx1">
                    <a:lumMod val="75000"/>
                    <a:lumOff val="25000"/>
                  </a:schemeClr>
                </a:solidFill>
                <a:latin typeface="BLS Text" panose="00000500000000000000" pitchFamily="2" charset="-34"/>
                <a:cs typeface="BLS Text" pitchFamily="2" charset="-34"/>
              </a:rPr>
              <a:t>margins </a:t>
            </a:r>
            <a:r>
              <a:rPr lang="th-TH" sz="800" b="1" dirty="0">
                <a:solidFill>
                  <a:schemeClr val="tx1">
                    <a:lumMod val="75000"/>
                    <a:lumOff val="25000"/>
                  </a:schemeClr>
                </a:solidFill>
                <a:latin typeface="BLS Text" panose="00000500000000000000" pitchFamily="2" charset="-34"/>
                <a:cs typeface="BLS Text" pitchFamily="2" charset="-34"/>
              </a:rPr>
              <a:t>กลุ่มเนื้อสัตว์</a:t>
            </a:r>
            <a:r>
              <a:rPr lang="th-TH" sz="800" dirty="0">
                <a:solidFill>
                  <a:schemeClr val="tx1">
                    <a:lumMod val="75000"/>
                    <a:lumOff val="25000"/>
                  </a:schemeClr>
                </a:solidFill>
                <a:latin typeface="BLS Text" panose="00000500000000000000" pitchFamily="2" charset="-34"/>
                <a:cs typeface="BLS Text" pitchFamily="2" charset="-34"/>
              </a:rPr>
              <a:t>ขยายตัว ทำให้เห็นการปรับประมาณการณ์ขึ้นสำหรับ </a:t>
            </a:r>
            <a:r>
              <a:rPr lang="en-US" sz="800" b="1" dirty="0">
                <a:solidFill>
                  <a:schemeClr val="tx1">
                    <a:lumMod val="75000"/>
                    <a:lumOff val="25000"/>
                  </a:schemeClr>
                </a:solidFill>
                <a:latin typeface="BLS Text" panose="00000500000000000000" pitchFamily="2" charset="-34"/>
                <a:cs typeface="BLS Text" pitchFamily="2" charset="-34"/>
              </a:rPr>
              <a:t>TFG</a:t>
            </a:r>
            <a:r>
              <a:rPr lang="en-US" sz="800" dirty="0">
                <a:solidFill>
                  <a:schemeClr val="tx1">
                    <a:lumMod val="75000"/>
                    <a:lumOff val="25000"/>
                  </a:schemeClr>
                </a:solidFill>
                <a:latin typeface="BLS Text" panose="00000500000000000000" pitchFamily="2" charset="-34"/>
                <a:cs typeface="BLS Text" pitchFamily="2" charset="-34"/>
              </a:rPr>
              <a:t> (+3.7%), </a:t>
            </a:r>
            <a:r>
              <a:rPr lang="en-US" sz="800" b="1" dirty="0">
                <a:solidFill>
                  <a:schemeClr val="tx1">
                    <a:lumMod val="75000"/>
                    <a:lumOff val="25000"/>
                  </a:schemeClr>
                </a:solidFill>
                <a:latin typeface="BLS Text" panose="00000500000000000000" pitchFamily="2" charset="-34"/>
                <a:cs typeface="BLS Text" pitchFamily="2" charset="-34"/>
              </a:rPr>
              <a:t>BTG</a:t>
            </a:r>
            <a:r>
              <a:rPr lang="en-US" sz="800" dirty="0">
                <a:solidFill>
                  <a:schemeClr val="tx1">
                    <a:lumMod val="75000"/>
                    <a:lumOff val="25000"/>
                  </a:schemeClr>
                </a:solidFill>
                <a:latin typeface="BLS Text" panose="00000500000000000000" pitchFamily="2" charset="-34"/>
                <a:cs typeface="BLS Text" pitchFamily="2" charset="-34"/>
              </a:rPr>
              <a:t> (+1.7%)</a:t>
            </a:r>
          </a:p>
          <a:p>
            <a:pPr algn="thaiDist">
              <a:lnSpc>
                <a:spcPct val="120000"/>
              </a:lnSpc>
              <a:spcBef>
                <a:spcPts val="400"/>
              </a:spcBef>
              <a:buSzPct val="120000"/>
            </a:pPr>
            <a:r>
              <a:rPr lang="en-US" sz="800" b="1" dirty="0">
                <a:solidFill>
                  <a:schemeClr val="accent1"/>
                </a:solidFill>
                <a:latin typeface="BLS Text" panose="00000500000000000000" pitchFamily="2" charset="-34"/>
                <a:cs typeface="BLS Text" pitchFamily="2" charset="-34"/>
              </a:rPr>
              <a:t>2) </a:t>
            </a:r>
            <a:r>
              <a:rPr lang="th-TH" sz="800" b="1" dirty="0">
                <a:solidFill>
                  <a:schemeClr val="accent1"/>
                </a:solidFill>
                <a:latin typeface="BLS Text" panose="00000500000000000000" pitchFamily="2" charset="-34"/>
                <a:cs typeface="BLS Text" pitchFamily="2" charset="-34"/>
              </a:rPr>
              <a:t>กลุ่มยืดหยุ่นด้านต้นทุน (</a:t>
            </a:r>
            <a:r>
              <a:rPr lang="en-US" sz="800" b="1" dirty="0">
                <a:solidFill>
                  <a:schemeClr val="accent1"/>
                </a:solidFill>
                <a:latin typeface="BLS Text" panose="00000500000000000000" pitchFamily="2" charset="-34"/>
                <a:cs typeface="BLS Text" pitchFamily="2" charset="-34"/>
              </a:rPr>
              <a:t>cost flexibility) </a:t>
            </a:r>
            <a:r>
              <a:rPr lang="th-TH" sz="800" dirty="0">
                <a:solidFill>
                  <a:schemeClr val="tx1">
                    <a:lumMod val="75000"/>
                    <a:lumOff val="25000"/>
                  </a:schemeClr>
                </a:solidFill>
                <a:latin typeface="BLS Text" panose="00000500000000000000" pitchFamily="2" charset="-34"/>
                <a:cs typeface="BLS Text" pitchFamily="2" charset="-34"/>
              </a:rPr>
              <a:t>ได้แก่ </a:t>
            </a:r>
            <a:r>
              <a:rPr lang="th-TH" sz="800" b="1" dirty="0">
                <a:solidFill>
                  <a:schemeClr val="tx1">
                    <a:lumMod val="75000"/>
                    <a:lumOff val="25000"/>
                  </a:schemeClr>
                </a:solidFill>
                <a:latin typeface="BLS Text" panose="00000500000000000000" pitchFamily="2" charset="-34"/>
                <a:cs typeface="BLS Text" pitchFamily="2" charset="-34"/>
              </a:rPr>
              <a:t>ปิโตรเคมี </a:t>
            </a:r>
            <a:r>
              <a:rPr lang="th-TH" sz="800" dirty="0">
                <a:solidFill>
                  <a:schemeClr val="tx1">
                    <a:lumMod val="75000"/>
                    <a:lumOff val="25000"/>
                  </a:schemeClr>
                </a:solidFill>
                <a:latin typeface="BLS Text" panose="00000500000000000000" pitchFamily="2" charset="-34"/>
                <a:cs typeface="BLS Text" pitchFamily="2" charset="-34"/>
              </a:rPr>
              <a:t>(+1.3%) นำโดย </a:t>
            </a:r>
            <a:r>
              <a:rPr lang="en-US" sz="800" b="1" dirty="0">
                <a:solidFill>
                  <a:schemeClr val="tx1">
                    <a:lumMod val="75000"/>
                    <a:lumOff val="25000"/>
                  </a:schemeClr>
                </a:solidFill>
                <a:latin typeface="BLS Text" panose="00000500000000000000" pitchFamily="2" charset="-34"/>
                <a:cs typeface="BLS Text" pitchFamily="2" charset="-34"/>
              </a:rPr>
              <a:t>PTTGC</a:t>
            </a:r>
            <a:r>
              <a:rPr lang="en-US" sz="800" dirty="0">
                <a:solidFill>
                  <a:schemeClr val="tx1">
                    <a:lumMod val="75000"/>
                    <a:lumOff val="25000"/>
                  </a:schemeClr>
                </a:solidFill>
                <a:latin typeface="BLS Text" panose="00000500000000000000" pitchFamily="2" charset="-34"/>
                <a:cs typeface="BLS Text" pitchFamily="2" charset="-34"/>
              </a:rPr>
              <a:t> (+17.7%) </a:t>
            </a:r>
            <a:r>
              <a:rPr lang="th-TH" sz="800" dirty="0">
                <a:solidFill>
                  <a:schemeClr val="tx1">
                    <a:lumMod val="75000"/>
                    <a:lumOff val="25000"/>
                  </a:schemeClr>
                </a:solidFill>
                <a:latin typeface="BLS Text" panose="00000500000000000000" pitchFamily="2" charset="-34"/>
                <a:cs typeface="BLS Text" pitchFamily="2" charset="-34"/>
              </a:rPr>
              <a:t>เริ่มเห็น </a:t>
            </a:r>
            <a:r>
              <a:rPr lang="en-US" sz="800" dirty="0">
                <a:solidFill>
                  <a:schemeClr val="tx1">
                    <a:lumMod val="75000"/>
                    <a:lumOff val="25000"/>
                  </a:schemeClr>
                </a:solidFill>
                <a:latin typeface="BLS Text" panose="00000500000000000000" pitchFamily="2" charset="-34"/>
                <a:cs typeface="BLS Text" pitchFamily="2" charset="-34"/>
              </a:rPr>
              <a:t>upside </a:t>
            </a:r>
            <a:r>
              <a:rPr lang="th-TH" sz="800" dirty="0">
                <a:solidFill>
                  <a:schemeClr val="tx1">
                    <a:lumMod val="75000"/>
                    <a:lumOff val="25000"/>
                  </a:schemeClr>
                </a:solidFill>
                <a:latin typeface="BLS Text" panose="00000500000000000000" pitchFamily="2" charset="-34"/>
                <a:cs typeface="BLS Text" pitchFamily="2" charset="-34"/>
              </a:rPr>
              <a:t>จาก </a:t>
            </a:r>
            <a:r>
              <a:rPr lang="en-US" sz="800" dirty="0">
                <a:solidFill>
                  <a:schemeClr val="tx1">
                    <a:lumMod val="75000"/>
                    <a:lumOff val="25000"/>
                  </a:schemeClr>
                </a:solidFill>
                <a:latin typeface="BLS Text" panose="00000500000000000000" pitchFamily="2" charset="-34"/>
                <a:cs typeface="BLS Text" pitchFamily="2" charset="-34"/>
              </a:rPr>
              <a:t>supply disruption </a:t>
            </a:r>
            <a:r>
              <a:rPr lang="th-TH" sz="800" dirty="0">
                <a:solidFill>
                  <a:schemeClr val="tx1">
                    <a:lumMod val="75000"/>
                    <a:lumOff val="25000"/>
                  </a:schemeClr>
                </a:solidFill>
                <a:latin typeface="BLS Text" panose="00000500000000000000" pitchFamily="2" charset="-34"/>
                <a:cs typeface="BLS Text" pitchFamily="2" charset="-34"/>
              </a:rPr>
              <a:t>ทำให้ส่วนต่างปิโตรฯ ที่มีแนวโน้มขยายตัว</a:t>
            </a:r>
          </a:p>
          <a:p>
            <a:pPr algn="thaiDist">
              <a:lnSpc>
                <a:spcPct val="120000"/>
              </a:lnSpc>
              <a:spcBef>
                <a:spcPts val="400"/>
              </a:spcBef>
              <a:buSzPct val="120000"/>
            </a:pPr>
            <a:r>
              <a:rPr lang="th-TH" sz="800" b="1" dirty="0">
                <a:solidFill>
                  <a:schemeClr val="accent1"/>
                </a:solidFill>
                <a:latin typeface="BLS Text" panose="00000500000000000000" pitchFamily="2" charset="-34"/>
                <a:cs typeface="BLS Text" pitchFamily="2" charset="-34"/>
              </a:rPr>
              <a:t>3) กลุ่มกำไรมีเสถียรภาพสูง (</a:t>
            </a:r>
            <a:r>
              <a:rPr lang="en-US" sz="800" b="1" dirty="0">
                <a:solidFill>
                  <a:schemeClr val="accent1"/>
                </a:solidFill>
                <a:latin typeface="BLS Text" panose="00000500000000000000" pitchFamily="2" charset="-34"/>
                <a:cs typeface="BLS Text" pitchFamily="2" charset="-34"/>
              </a:rPr>
              <a:t>earnings visibility) / </a:t>
            </a:r>
            <a:r>
              <a:rPr lang="th-TH" sz="800" b="1" dirty="0">
                <a:solidFill>
                  <a:schemeClr val="accent1"/>
                </a:solidFill>
                <a:latin typeface="BLS Text" panose="00000500000000000000" pitchFamily="2" charset="-34"/>
                <a:cs typeface="BLS Text" pitchFamily="2" charset="-34"/>
              </a:rPr>
              <a:t>ปัจจัยหนุนการเติบโตเฉพาะตัว </a:t>
            </a:r>
            <a:r>
              <a:rPr lang="th-TH" sz="800" dirty="0">
                <a:solidFill>
                  <a:schemeClr val="tx1">
                    <a:lumMod val="75000"/>
                    <a:lumOff val="25000"/>
                  </a:schemeClr>
                </a:solidFill>
                <a:latin typeface="BLS Text" panose="00000500000000000000" pitchFamily="2" charset="-34"/>
                <a:cs typeface="BLS Text" pitchFamily="2" charset="-34"/>
              </a:rPr>
              <a:t>ได้แก่ </a:t>
            </a:r>
            <a:r>
              <a:rPr lang="th-TH" sz="800" b="1" dirty="0">
                <a:solidFill>
                  <a:schemeClr val="tx1">
                    <a:lumMod val="75000"/>
                    <a:lumOff val="25000"/>
                  </a:schemeClr>
                </a:solidFill>
                <a:latin typeface="BLS Text" panose="00000500000000000000" pitchFamily="2" charset="-34"/>
                <a:cs typeface="BLS Text" pitchFamily="2" charset="-34"/>
              </a:rPr>
              <a:t>กลุ่มสื่อสาร </a:t>
            </a:r>
            <a:r>
              <a:rPr lang="th-TH" sz="800" dirty="0">
                <a:solidFill>
                  <a:schemeClr val="tx1">
                    <a:lumMod val="75000"/>
                    <a:lumOff val="25000"/>
                  </a:schemeClr>
                </a:solidFill>
                <a:latin typeface="BLS Text" panose="00000500000000000000" pitchFamily="2" charset="-34"/>
                <a:cs typeface="BLS Text" pitchFamily="2" charset="-34"/>
              </a:rPr>
              <a:t>(+5.1%) ที่สะท้อนความแข็งแกร่งของกำไรจากการขยายตัวต่อเนื่องของ </a:t>
            </a:r>
            <a:r>
              <a:rPr lang="en-US" sz="800" dirty="0">
                <a:solidFill>
                  <a:schemeClr val="tx1">
                    <a:lumMod val="75000"/>
                    <a:lumOff val="25000"/>
                  </a:schemeClr>
                </a:solidFill>
                <a:latin typeface="BLS Text" panose="00000500000000000000" pitchFamily="2" charset="-34"/>
                <a:cs typeface="BLS Text" pitchFamily="2" charset="-34"/>
              </a:rPr>
              <a:t>ARPU</a:t>
            </a:r>
            <a:r>
              <a:rPr lang="th-TH" sz="800" dirty="0">
                <a:solidFill>
                  <a:schemeClr val="tx1">
                    <a:lumMod val="75000"/>
                    <a:lumOff val="25000"/>
                  </a:schemeClr>
                </a:solidFill>
                <a:latin typeface="BLS Text" panose="00000500000000000000" pitchFamily="2" charset="-34"/>
                <a:cs typeface="BLS Text" pitchFamily="2" charset="-34"/>
              </a:rPr>
              <a:t> นำโดย </a:t>
            </a:r>
            <a:r>
              <a:rPr lang="en-US" sz="800" b="1" dirty="0">
                <a:solidFill>
                  <a:schemeClr val="tx1">
                    <a:lumMod val="75000"/>
                    <a:lumOff val="25000"/>
                  </a:schemeClr>
                </a:solidFill>
                <a:latin typeface="BLS Text" panose="00000500000000000000" pitchFamily="2" charset="-34"/>
                <a:cs typeface="BLS Text" pitchFamily="2" charset="-34"/>
              </a:rPr>
              <a:t>TRUE</a:t>
            </a:r>
            <a:r>
              <a:rPr lang="th-TH" sz="800" b="1" dirty="0">
                <a:solidFill>
                  <a:schemeClr val="tx1">
                    <a:lumMod val="75000"/>
                    <a:lumOff val="25000"/>
                  </a:schemeClr>
                </a:solidFill>
                <a:latin typeface="BLS Text" panose="00000500000000000000" pitchFamily="2" charset="-34"/>
                <a:cs typeface="BLS Text" pitchFamily="2" charset="-34"/>
              </a:rPr>
              <a:t> </a:t>
            </a:r>
            <a:r>
              <a:rPr lang="en-US" sz="800" dirty="0">
                <a:solidFill>
                  <a:schemeClr val="tx1">
                    <a:lumMod val="75000"/>
                    <a:lumOff val="25000"/>
                  </a:schemeClr>
                </a:solidFill>
                <a:latin typeface="BLS Text" panose="00000500000000000000" pitchFamily="2" charset="-34"/>
                <a:cs typeface="BLS Text" pitchFamily="2" charset="-34"/>
              </a:rPr>
              <a:t>(+9.2%) </a:t>
            </a:r>
            <a:r>
              <a:rPr lang="en-US" sz="800" b="1" dirty="0">
                <a:solidFill>
                  <a:schemeClr val="tx1">
                    <a:lumMod val="75000"/>
                    <a:lumOff val="25000"/>
                  </a:schemeClr>
                </a:solidFill>
                <a:latin typeface="BLS Text" panose="00000500000000000000" pitchFamily="2" charset="-34"/>
                <a:cs typeface="BLS Text" pitchFamily="2" charset="-34"/>
              </a:rPr>
              <a:t>ADVANC</a:t>
            </a:r>
            <a:r>
              <a:rPr lang="en-US" sz="800" dirty="0">
                <a:solidFill>
                  <a:schemeClr val="tx1">
                    <a:lumMod val="75000"/>
                    <a:lumOff val="25000"/>
                  </a:schemeClr>
                </a:solidFill>
                <a:latin typeface="BLS Text" panose="00000500000000000000" pitchFamily="2" charset="-34"/>
                <a:cs typeface="BLS Text" pitchFamily="2" charset="-34"/>
              </a:rPr>
              <a:t> (+0.2%) </a:t>
            </a:r>
            <a:r>
              <a:rPr lang="th-TH" sz="800" dirty="0">
                <a:solidFill>
                  <a:schemeClr val="tx1">
                    <a:lumMod val="75000"/>
                    <a:lumOff val="25000"/>
                  </a:schemeClr>
                </a:solidFill>
                <a:latin typeface="BLS Text" panose="00000500000000000000" pitchFamily="2" charset="-34"/>
                <a:cs typeface="BLS Text" pitchFamily="2" charset="-34"/>
              </a:rPr>
              <a:t>และ</a:t>
            </a:r>
            <a:r>
              <a:rPr lang="th-TH" sz="800" b="1" dirty="0">
                <a:solidFill>
                  <a:schemeClr val="tx1">
                    <a:lumMod val="75000"/>
                    <a:lumOff val="25000"/>
                  </a:schemeClr>
                </a:solidFill>
                <a:latin typeface="BLS Text" panose="00000500000000000000" pitchFamily="2" charset="-34"/>
                <a:cs typeface="BLS Text" pitchFamily="2" charset="-34"/>
              </a:rPr>
              <a:t>กลุ่มห้างสรรพสินค้ารายได้อิงค่าเช่า </a:t>
            </a:r>
            <a:r>
              <a:rPr lang="th-TH" sz="800" dirty="0">
                <a:solidFill>
                  <a:schemeClr val="tx1">
                    <a:lumMod val="75000"/>
                    <a:lumOff val="25000"/>
                  </a:schemeClr>
                </a:solidFill>
                <a:latin typeface="BLS Text" panose="00000500000000000000" pitchFamily="2" charset="-34"/>
                <a:cs typeface="BLS Text" pitchFamily="2" charset="-34"/>
              </a:rPr>
              <a:t>โครงสร้าง</a:t>
            </a:r>
          </a:p>
        </p:txBody>
      </p:sp>
      <p:sp>
        <p:nvSpPr>
          <p:cNvPr id="15" name="TextBox 14">
            <a:extLst>
              <a:ext uri="{FF2B5EF4-FFF2-40B4-BE49-F238E27FC236}">
                <a16:creationId xmlns:a16="http://schemas.microsoft.com/office/drawing/2014/main" id="{546F7F14-A377-C8CF-5D1E-8DDF1256B72B}"/>
              </a:ext>
            </a:extLst>
          </p:cNvPr>
          <p:cNvSpPr txBox="1"/>
          <p:nvPr/>
        </p:nvSpPr>
        <p:spPr>
          <a:xfrm>
            <a:off x="3462910" y="1475656"/>
            <a:ext cx="3164970" cy="2802819"/>
          </a:xfrm>
          <a:prstGeom prst="rect">
            <a:avLst/>
          </a:prstGeom>
          <a:solidFill>
            <a:srgbClr val="EDEDED">
              <a:alpha val="60000"/>
            </a:srgbClr>
          </a:solidFill>
          <a:ln>
            <a:noFill/>
          </a:ln>
        </p:spPr>
        <p:txBody>
          <a:bodyPr wrap="square" rtlCol="0">
            <a:spAutoFit/>
          </a:bodyPr>
          <a:lstStyle/>
          <a:p>
            <a:pPr algn="thaiDist">
              <a:lnSpc>
                <a:spcPct val="120000"/>
              </a:lnSpc>
              <a:spcBef>
                <a:spcPts val="400"/>
              </a:spcBef>
              <a:buSzPct val="120000"/>
            </a:pPr>
            <a:r>
              <a:rPr lang="th-TH" sz="800" dirty="0">
                <a:solidFill>
                  <a:schemeClr val="tx1">
                    <a:lumMod val="75000"/>
                    <a:lumOff val="25000"/>
                  </a:schemeClr>
                </a:solidFill>
                <a:latin typeface="BLS Text" panose="00000500000000000000" pitchFamily="2" charset="-34"/>
                <a:cs typeface="BLS Text" pitchFamily="2" charset="-34"/>
              </a:rPr>
              <a:t>รายได้แบบ </a:t>
            </a:r>
            <a:r>
              <a:rPr lang="en-US" sz="800" dirty="0">
                <a:solidFill>
                  <a:schemeClr val="tx1">
                    <a:lumMod val="75000"/>
                    <a:lumOff val="25000"/>
                  </a:schemeClr>
                </a:solidFill>
                <a:latin typeface="BLS Text" panose="00000500000000000000" pitchFamily="2" charset="-34"/>
                <a:cs typeface="BLS Text" pitchFamily="2" charset="-34"/>
              </a:rPr>
              <a:t>recurring </a:t>
            </a:r>
            <a:r>
              <a:rPr lang="th-TH" sz="800" dirty="0">
                <a:solidFill>
                  <a:schemeClr val="tx1">
                    <a:lumMod val="75000"/>
                    <a:lumOff val="25000"/>
                  </a:schemeClr>
                </a:solidFill>
                <a:latin typeface="BLS Text" panose="00000500000000000000" pitchFamily="2" charset="-34"/>
                <a:cs typeface="BLS Text" pitchFamily="2" charset="-34"/>
              </a:rPr>
              <a:t>ทนทานต่อเศรษฐกิจ อย่าง </a:t>
            </a:r>
            <a:r>
              <a:rPr lang="en-US" sz="800" b="1" dirty="0">
                <a:solidFill>
                  <a:schemeClr val="tx1">
                    <a:lumMod val="75000"/>
                    <a:lumOff val="25000"/>
                  </a:schemeClr>
                </a:solidFill>
                <a:latin typeface="BLS Text" panose="00000500000000000000" pitchFamily="2" charset="-34"/>
                <a:cs typeface="BLS Text" pitchFamily="2" charset="-34"/>
              </a:rPr>
              <a:t>CPN</a:t>
            </a:r>
            <a:r>
              <a:rPr lang="en-US" sz="800" dirty="0">
                <a:solidFill>
                  <a:schemeClr val="tx1">
                    <a:lumMod val="75000"/>
                    <a:lumOff val="25000"/>
                  </a:schemeClr>
                </a:solidFill>
                <a:latin typeface="BLS Text" panose="00000500000000000000" pitchFamily="2" charset="-34"/>
                <a:cs typeface="BLS Text" pitchFamily="2" charset="-34"/>
              </a:rPr>
              <a:t> (+2.0)</a:t>
            </a:r>
            <a:r>
              <a:rPr lang="th-TH" sz="800" dirty="0">
                <a:solidFill>
                  <a:schemeClr val="tx1">
                    <a:lumMod val="75000"/>
                    <a:lumOff val="25000"/>
                  </a:schemeClr>
                </a:solidFill>
                <a:latin typeface="BLS Text" panose="00000500000000000000" pitchFamily="2" charset="-34"/>
                <a:cs typeface="BLS Text" pitchFamily="2" charset="-34"/>
              </a:rPr>
              <a:t> อีกทั้ง </a:t>
            </a:r>
            <a:r>
              <a:rPr lang="th-TH" sz="800" b="1" dirty="0">
                <a:solidFill>
                  <a:schemeClr val="tx1">
                    <a:lumMod val="75000"/>
                    <a:lumOff val="25000"/>
                  </a:schemeClr>
                </a:solidFill>
                <a:latin typeface="BLS Text" panose="00000500000000000000" pitchFamily="2" charset="-34"/>
                <a:cs typeface="BLS Text" pitchFamily="2" charset="-34"/>
              </a:rPr>
              <a:t>กลุ่มนิคมอุตสาหกรรม </a:t>
            </a:r>
            <a:r>
              <a:rPr lang="th-TH" sz="800" dirty="0">
                <a:solidFill>
                  <a:schemeClr val="tx1">
                    <a:lumMod val="75000"/>
                    <a:lumOff val="25000"/>
                  </a:schemeClr>
                </a:solidFill>
                <a:latin typeface="BLS Text" panose="00000500000000000000" pitchFamily="2" charset="-34"/>
                <a:cs typeface="BLS Text" pitchFamily="2" charset="-34"/>
              </a:rPr>
              <a:t>(+1.0%) หลังโครงการ </a:t>
            </a:r>
            <a:r>
              <a:rPr lang="en-US" sz="800" dirty="0">
                <a:solidFill>
                  <a:schemeClr val="tx1">
                    <a:lumMod val="75000"/>
                    <a:lumOff val="25000"/>
                  </a:schemeClr>
                </a:solidFill>
                <a:latin typeface="BLS Text" panose="00000500000000000000" pitchFamily="2" charset="-34"/>
                <a:cs typeface="BLS Text" pitchFamily="2" charset="-34"/>
              </a:rPr>
              <a:t>BOI fast pass </a:t>
            </a:r>
            <a:r>
              <a:rPr lang="th-TH" sz="800" dirty="0">
                <a:solidFill>
                  <a:schemeClr val="tx1">
                    <a:lumMod val="75000"/>
                    <a:lumOff val="25000"/>
                  </a:schemeClr>
                </a:solidFill>
                <a:latin typeface="BLS Text" panose="00000500000000000000" pitchFamily="2" charset="-34"/>
                <a:cs typeface="BLS Text" pitchFamily="2" charset="-34"/>
              </a:rPr>
              <a:t>หนุนจากกระแสเงินลงทุนต่างชาติ (</a:t>
            </a:r>
            <a:r>
              <a:rPr lang="en-US" sz="800" dirty="0">
                <a:solidFill>
                  <a:schemeClr val="tx1">
                    <a:lumMod val="75000"/>
                    <a:lumOff val="25000"/>
                  </a:schemeClr>
                </a:solidFill>
                <a:latin typeface="BLS Text" panose="00000500000000000000" pitchFamily="2" charset="-34"/>
                <a:cs typeface="BLS Text" pitchFamily="2" charset="-34"/>
              </a:rPr>
              <a:t>FDI) </a:t>
            </a:r>
            <a:r>
              <a:rPr lang="th-TH" sz="800" dirty="0">
                <a:solidFill>
                  <a:schemeClr val="tx1">
                    <a:lumMod val="75000"/>
                    <a:lumOff val="25000"/>
                  </a:schemeClr>
                </a:solidFill>
                <a:latin typeface="BLS Text" panose="00000500000000000000" pitchFamily="2" charset="-34"/>
                <a:cs typeface="BLS Text" pitchFamily="2" charset="-34"/>
              </a:rPr>
              <a:t>เติบโตแข็งแกร่ง นำโดย </a:t>
            </a:r>
            <a:r>
              <a:rPr lang="en-US" sz="800" b="1" dirty="0">
                <a:solidFill>
                  <a:schemeClr val="tx1">
                    <a:lumMod val="75000"/>
                    <a:lumOff val="25000"/>
                  </a:schemeClr>
                </a:solidFill>
                <a:latin typeface="BLS Text" panose="00000500000000000000" pitchFamily="2" charset="-34"/>
                <a:cs typeface="BLS Text" pitchFamily="2" charset="-34"/>
              </a:rPr>
              <a:t>WHA</a:t>
            </a:r>
            <a:r>
              <a:rPr lang="en-US" sz="800" dirty="0">
                <a:solidFill>
                  <a:schemeClr val="tx1">
                    <a:lumMod val="75000"/>
                    <a:lumOff val="25000"/>
                  </a:schemeClr>
                </a:solidFill>
                <a:latin typeface="BLS Text" panose="00000500000000000000" pitchFamily="2" charset="-34"/>
                <a:cs typeface="BLS Text" pitchFamily="2" charset="-34"/>
              </a:rPr>
              <a:t> (+7.7%), </a:t>
            </a:r>
            <a:r>
              <a:rPr lang="en-US" sz="800" b="1" dirty="0">
                <a:solidFill>
                  <a:schemeClr val="tx1">
                    <a:lumMod val="75000"/>
                    <a:lumOff val="25000"/>
                  </a:schemeClr>
                </a:solidFill>
                <a:latin typeface="BLS Text" panose="00000500000000000000" pitchFamily="2" charset="-34"/>
                <a:cs typeface="BLS Text" pitchFamily="2" charset="-34"/>
              </a:rPr>
              <a:t>AMATA</a:t>
            </a:r>
            <a:r>
              <a:rPr lang="en-US" sz="800" dirty="0">
                <a:solidFill>
                  <a:schemeClr val="tx1">
                    <a:lumMod val="75000"/>
                    <a:lumOff val="25000"/>
                  </a:schemeClr>
                </a:solidFill>
                <a:latin typeface="BLS Text" panose="00000500000000000000" pitchFamily="2" charset="-34"/>
                <a:cs typeface="BLS Text" pitchFamily="2" charset="-34"/>
              </a:rPr>
              <a:t> (+4.9%)</a:t>
            </a:r>
            <a:r>
              <a:rPr lang="th-TH" sz="800" dirty="0">
                <a:solidFill>
                  <a:schemeClr val="tx1">
                    <a:lumMod val="75000"/>
                    <a:lumOff val="25000"/>
                  </a:schemeClr>
                </a:solidFill>
                <a:latin typeface="BLS Text" panose="00000500000000000000" pitchFamily="2" charset="-34"/>
                <a:cs typeface="BLS Text" pitchFamily="2" charset="-34"/>
              </a:rPr>
              <a:t> นอกจากนี้ กลุ่มอุตสาหกรรมใหม่เชื่อมโยง </a:t>
            </a:r>
            <a:r>
              <a:rPr lang="en-US" sz="800" dirty="0">
                <a:solidFill>
                  <a:schemeClr val="tx1">
                    <a:lumMod val="75000"/>
                    <a:lumOff val="25000"/>
                  </a:schemeClr>
                </a:solidFill>
                <a:latin typeface="BLS Text" panose="00000500000000000000" pitchFamily="2" charset="-34"/>
                <a:cs typeface="BLS Text" pitchFamily="2" charset="-34"/>
              </a:rPr>
              <a:t>National </a:t>
            </a:r>
            <a:r>
              <a:rPr lang="en-US" sz="800" b="1" dirty="0">
                <a:solidFill>
                  <a:schemeClr val="tx1">
                    <a:lumMod val="75000"/>
                    <a:lumOff val="25000"/>
                  </a:schemeClr>
                </a:solidFill>
                <a:latin typeface="BLS Text" panose="00000500000000000000" pitchFamily="2" charset="-34"/>
                <a:cs typeface="BLS Text" pitchFamily="2" charset="-34"/>
              </a:rPr>
              <a:t>Infrastructure, </a:t>
            </a:r>
            <a:r>
              <a:rPr lang="en-US" sz="800" b="1" dirty="0" err="1">
                <a:solidFill>
                  <a:schemeClr val="tx1">
                    <a:lumMod val="75000"/>
                    <a:lumOff val="25000"/>
                  </a:schemeClr>
                </a:solidFill>
                <a:latin typeface="BLS Text" panose="00000500000000000000" pitchFamily="2" charset="-34"/>
                <a:cs typeface="BLS Text" pitchFamily="2" charset="-34"/>
              </a:rPr>
              <a:t>Digitalisation</a:t>
            </a:r>
            <a:r>
              <a:rPr lang="en-US" sz="800" b="1" dirty="0">
                <a:solidFill>
                  <a:schemeClr val="tx1">
                    <a:lumMod val="75000"/>
                    <a:lumOff val="25000"/>
                  </a:schemeClr>
                </a:solidFill>
                <a:latin typeface="BLS Text" panose="00000500000000000000" pitchFamily="2" charset="-34"/>
                <a:cs typeface="BLS Text" pitchFamily="2" charset="-34"/>
              </a:rPr>
              <a:t> &amp; Data Center </a:t>
            </a:r>
            <a:r>
              <a:rPr lang="th-TH" sz="800" dirty="0">
                <a:solidFill>
                  <a:schemeClr val="tx1">
                    <a:lumMod val="75000"/>
                    <a:lumOff val="25000"/>
                  </a:schemeClr>
                </a:solidFill>
                <a:latin typeface="BLS Text" panose="00000500000000000000" pitchFamily="2" charset="-34"/>
                <a:cs typeface="BLS Text" pitchFamily="2" charset="-34"/>
              </a:rPr>
              <a:t>นำโดย </a:t>
            </a:r>
            <a:r>
              <a:rPr lang="en-US" sz="800" b="1" dirty="0">
                <a:solidFill>
                  <a:schemeClr val="tx1">
                    <a:lumMod val="75000"/>
                    <a:lumOff val="25000"/>
                  </a:schemeClr>
                </a:solidFill>
                <a:latin typeface="BLS Text" panose="00000500000000000000" pitchFamily="2" charset="-34"/>
                <a:cs typeface="BLS Text" pitchFamily="2" charset="-34"/>
              </a:rPr>
              <a:t>DELTA</a:t>
            </a:r>
            <a:r>
              <a:rPr lang="en-US" sz="800" dirty="0">
                <a:solidFill>
                  <a:schemeClr val="tx1">
                    <a:lumMod val="75000"/>
                    <a:lumOff val="25000"/>
                  </a:schemeClr>
                </a:solidFill>
                <a:latin typeface="BLS Text" panose="00000500000000000000" pitchFamily="2" charset="-34"/>
                <a:cs typeface="BLS Text" pitchFamily="2" charset="-34"/>
              </a:rPr>
              <a:t> (+2.7%), </a:t>
            </a:r>
            <a:r>
              <a:rPr lang="en-US" sz="800" b="1" dirty="0">
                <a:solidFill>
                  <a:schemeClr val="tx1">
                    <a:lumMod val="75000"/>
                    <a:lumOff val="25000"/>
                  </a:schemeClr>
                </a:solidFill>
                <a:latin typeface="BLS Text" panose="00000500000000000000" pitchFamily="2" charset="-34"/>
                <a:cs typeface="BLS Text" pitchFamily="2" charset="-34"/>
              </a:rPr>
              <a:t>GULF</a:t>
            </a:r>
            <a:r>
              <a:rPr lang="en-US" sz="800" dirty="0">
                <a:solidFill>
                  <a:schemeClr val="tx1">
                    <a:lumMod val="75000"/>
                    <a:lumOff val="25000"/>
                  </a:schemeClr>
                </a:solidFill>
                <a:latin typeface="BLS Text" panose="00000500000000000000" pitchFamily="2" charset="-34"/>
                <a:cs typeface="BLS Text" pitchFamily="2" charset="-34"/>
              </a:rPr>
              <a:t> (+1.1%), </a:t>
            </a:r>
            <a:r>
              <a:rPr lang="en-US" sz="800" b="1" dirty="0">
                <a:solidFill>
                  <a:schemeClr val="tx1">
                    <a:lumMod val="75000"/>
                    <a:lumOff val="25000"/>
                  </a:schemeClr>
                </a:solidFill>
                <a:latin typeface="BLS Text" panose="00000500000000000000" pitchFamily="2" charset="-34"/>
                <a:cs typeface="BLS Text" pitchFamily="2" charset="-34"/>
              </a:rPr>
              <a:t>COM7</a:t>
            </a:r>
            <a:r>
              <a:rPr lang="th-TH" sz="800" b="1" dirty="0">
                <a:solidFill>
                  <a:schemeClr val="tx1">
                    <a:lumMod val="75000"/>
                    <a:lumOff val="25000"/>
                  </a:schemeClr>
                </a:solidFill>
                <a:latin typeface="BLS Text" panose="00000500000000000000" pitchFamily="2" charset="-34"/>
                <a:cs typeface="BLS Text" pitchFamily="2" charset="-34"/>
              </a:rPr>
              <a:t> </a:t>
            </a:r>
            <a:r>
              <a:rPr lang="en-US" sz="800" dirty="0">
                <a:solidFill>
                  <a:schemeClr val="tx1">
                    <a:lumMod val="75000"/>
                    <a:lumOff val="25000"/>
                  </a:schemeClr>
                </a:solidFill>
                <a:latin typeface="BLS Text" panose="00000500000000000000" pitchFamily="2" charset="-34"/>
                <a:cs typeface="BLS Text" pitchFamily="2" charset="-34"/>
              </a:rPr>
              <a:t>(+0.9%) </a:t>
            </a:r>
            <a:r>
              <a:rPr lang="th-TH" sz="800" dirty="0">
                <a:solidFill>
                  <a:schemeClr val="tx1">
                    <a:lumMod val="75000"/>
                    <a:lumOff val="25000"/>
                  </a:schemeClr>
                </a:solidFill>
                <a:latin typeface="BLS Text" panose="00000500000000000000" pitchFamily="2" charset="-34"/>
                <a:cs typeface="BLS Text" pitchFamily="2" charset="-34"/>
              </a:rPr>
              <a:t>ทำให้กำไรมี </a:t>
            </a:r>
            <a:r>
              <a:rPr lang="en-US" sz="800" dirty="0">
                <a:solidFill>
                  <a:schemeClr val="tx1">
                    <a:lumMod val="75000"/>
                    <a:lumOff val="25000"/>
                  </a:schemeClr>
                </a:solidFill>
                <a:latin typeface="BLS Text" panose="00000500000000000000" pitchFamily="2" charset="-34"/>
                <a:cs typeface="BLS Text" pitchFamily="2" charset="-34"/>
              </a:rPr>
              <a:t>momentum </a:t>
            </a:r>
            <a:r>
              <a:rPr lang="th-TH" sz="800" dirty="0">
                <a:solidFill>
                  <a:schemeClr val="tx1">
                    <a:lumMod val="75000"/>
                    <a:lumOff val="25000"/>
                  </a:schemeClr>
                </a:solidFill>
                <a:latin typeface="BLS Text" panose="00000500000000000000" pitchFamily="2" charset="-34"/>
                <a:cs typeface="BLS Text" pitchFamily="2" charset="-34"/>
              </a:rPr>
              <a:t>ที่ดี แม้ในภาวะสงคราม</a:t>
            </a:r>
          </a:p>
          <a:p>
            <a:pPr algn="thaiDist">
              <a:lnSpc>
                <a:spcPct val="120000"/>
              </a:lnSpc>
              <a:spcBef>
                <a:spcPts val="400"/>
              </a:spcBef>
              <a:buSzPct val="120000"/>
            </a:pPr>
            <a:r>
              <a:rPr lang="th-TH" sz="800" b="1" dirty="0">
                <a:solidFill>
                  <a:schemeClr val="accent3"/>
                </a:solidFill>
                <a:latin typeface="BLS Text" panose="00000500000000000000" pitchFamily="2" charset="-34"/>
                <a:cs typeface="BLS Text" pitchFamily="2" charset="-34"/>
              </a:rPr>
              <a:t>กลุ่มที่โดนกระทบ</a:t>
            </a:r>
            <a:r>
              <a:rPr lang="th-TH" sz="800" dirty="0">
                <a:solidFill>
                  <a:schemeClr val="tx1">
                    <a:lumMod val="65000"/>
                    <a:lumOff val="35000"/>
                  </a:schemeClr>
                </a:solidFill>
                <a:latin typeface="BLS Text" panose="00000500000000000000" pitchFamily="2" charset="-34"/>
                <a:cs typeface="BLS Text" pitchFamily="2" charset="-34"/>
              </a:rPr>
              <a:t>กระจุกตัวในกลุ่ม </a:t>
            </a:r>
            <a:r>
              <a:rPr lang="th-TH" sz="800" b="1" dirty="0">
                <a:solidFill>
                  <a:schemeClr val="accent3"/>
                </a:solidFill>
                <a:latin typeface="BLS Text" panose="00000500000000000000" pitchFamily="2" charset="-34"/>
                <a:cs typeface="BLS Text" pitchFamily="2" charset="-34"/>
              </a:rPr>
              <a:t>1) ต้นทุนพลังงานสูง (</a:t>
            </a:r>
            <a:r>
              <a:rPr lang="en-US" sz="800" b="1" dirty="0">
                <a:solidFill>
                  <a:schemeClr val="accent3"/>
                </a:solidFill>
                <a:latin typeface="BLS Text" panose="00000500000000000000" pitchFamily="2" charset="-34"/>
                <a:cs typeface="BLS Text" pitchFamily="2" charset="-34"/>
              </a:rPr>
              <a:t>energy cost-exposed)</a:t>
            </a:r>
            <a:r>
              <a:rPr lang="th-TH" sz="800" b="1" dirty="0">
                <a:solidFill>
                  <a:schemeClr val="accent3"/>
                </a:solidFill>
                <a:latin typeface="BLS Text" panose="00000500000000000000" pitchFamily="2" charset="-34"/>
                <a:cs typeface="BLS Text" pitchFamily="2" charset="-34"/>
              </a:rPr>
              <a:t> </a:t>
            </a:r>
            <a:r>
              <a:rPr lang="th-TH" sz="800" dirty="0">
                <a:solidFill>
                  <a:schemeClr val="tx1">
                    <a:lumMod val="65000"/>
                    <a:lumOff val="35000"/>
                  </a:schemeClr>
                </a:solidFill>
                <a:latin typeface="BLS Text" panose="00000500000000000000" pitchFamily="2" charset="-34"/>
                <a:cs typeface="BLS Text" pitchFamily="2" charset="-34"/>
              </a:rPr>
              <a:t>ได้แก่ </a:t>
            </a:r>
            <a:r>
              <a:rPr lang="th-TH" sz="800" b="1" dirty="0">
                <a:solidFill>
                  <a:schemeClr val="tx1">
                    <a:lumMod val="75000"/>
                    <a:lumOff val="25000"/>
                  </a:schemeClr>
                </a:solidFill>
                <a:latin typeface="BLS Text" panose="00000500000000000000" pitchFamily="2" charset="-34"/>
                <a:cs typeface="BLS Text" pitchFamily="2" charset="-34"/>
              </a:rPr>
              <a:t>กลุ่มเครื่องดื่ม </a:t>
            </a:r>
            <a:r>
              <a:rPr lang="th-TH" sz="800" dirty="0">
                <a:solidFill>
                  <a:schemeClr val="tx1">
                    <a:lumMod val="75000"/>
                    <a:lumOff val="25000"/>
                  </a:schemeClr>
                </a:solidFill>
                <a:latin typeface="BLS Text" panose="00000500000000000000" pitchFamily="2" charset="-34"/>
                <a:cs typeface="BLS Text" pitchFamily="2" charset="-34"/>
              </a:rPr>
              <a:t>(-2.8%) จากต้นทุนบรรจุภัณฑ์ อย่าง </a:t>
            </a:r>
            <a:r>
              <a:rPr lang="en-US" sz="800" b="1" dirty="0">
                <a:solidFill>
                  <a:schemeClr val="tx1">
                    <a:lumMod val="75000"/>
                    <a:lumOff val="25000"/>
                  </a:schemeClr>
                </a:solidFill>
                <a:latin typeface="BLS Text" panose="00000500000000000000" pitchFamily="2" charset="-34"/>
                <a:cs typeface="BLS Text" pitchFamily="2" charset="-34"/>
              </a:rPr>
              <a:t>CBG</a:t>
            </a:r>
            <a:r>
              <a:rPr lang="en-US" sz="800" dirty="0">
                <a:solidFill>
                  <a:schemeClr val="tx1">
                    <a:lumMod val="75000"/>
                    <a:lumOff val="25000"/>
                  </a:schemeClr>
                </a:solidFill>
                <a:latin typeface="BLS Text" panose="00000500000000000000" pitchFamily="2" charset="-34"/>
                <a:cs typeface="BLS Text" pitchFamily="2" charset="-34"/>
              </a:rPr>
              <a:t> (-5.5%), </a:t>
            </a:r>
            <a:r>
              <a:rPr lang="th-TH" sz="800" b="1" dirty="0">
                <a:solidFill>
                  <a:schemeClr val="tx1">
                    <a:lumMod val="75000"/>
                    <a:lumOff val="25000"/>
                  </a:schemeClr>
                </a:solidFill>
                <a:latin typeface="BLS Text" panose="00000500000000000000" pitchFamily="2" charset="-34"/>
                <a:cs typeface="BLS Text" pitchFamily="2" charset="-34"/>
              </a:rPr>
              <a:t>กลุ่มโรงไฟฟ้า </a:t>
            </a:r>
            <a:r>
              <a:rPr lang="en-US" sz="800" b="1" dirty="0">
                <a:solidFill>
                  <a:schemeClr val="tx1">
                    <a:lumMod val="75000"/>
                    <a:lumOff val="25000"/>
                  </a:schemeClr>
                </a:solidFill>
                <a:latin typeface="BLS Text" panose="00000500000000000000" pitchFamily="2" charset="-34"/>
                <a:cs typeface="BLS Text" pitchFamily="2" charset="-34"/>
              </a:rPr>
              <a:t>SPP </a:t>
            </a:r>
            <a:r>
              <a:rPr lang="th-TH" sz="800" dirty="0">
                <a:solidFill>
                  <a:schemeClr val="tx1">
                    <a:lumMod val="75000"/>
                    <a:lumOff val="25000"/>
                  </a:schemeClr>
                </a:solidFill>
                <a:latin typeface="BLS Text" panose="00000500000000000000" pitchFamily="2" charset="-34"/>
                <a:cs typeface="BLS Text" pitchFamily="2" charset="-34"/>
              </a:rPr>
              <a:t>อย่าง </a:t>
            </a:r>
            <a:r>
              <a:rPr lang="en-US" sz="800" b="1" dirty="0">
                <a:solidFill>
                  <a:schemeClr val="tx1">
                    <a:lumMod val="75000"/>
                    <a:lumOff val="25000"/>
                  </a:schemeClr>
                </a:solidFill>
                <a:latin typeface="BLS Text" panose="00000500000000000000" pitchFamily="2" charset="-34"/>
                <a:cs typeface="BLS Text" pitchFamily="2" charset="-34"/>
              </a:rPr>
              <a:t>BGRIM</a:t>
            </a:r>
            <a:r>
              <a:rPr lang="en-US" sz="800" dirty="0">
                <a:solidFill>
                  <a:schemeClr val="tx1">
                    <a:lumMod val="75000"/>
                    <a:lumOff val="25000"/>
                  </a:schemeClr>
                </a:solidFill>
                <a:latin typeface="BLS Text" panose="00000500000000000000" pitchFamily="2" charset="-34"/>
                <a:cs typeface="BLS Text" pitchFamily="2" charset="-34"/>
              </a:rPr>
              <a:t> (-4.5%) </a:t>
            </a:r>
            <a:r>
              <a:rPr lang="th-TH" sz="800" dirty="0">
                <a:solidFill>
                  <a:schemeClr val="tx1">
                    <a:lumMod val="75000"/>
                    <a:lumOff val="25000"/>
                  </a:schemeClr>
                </a:solidFill>
                <a:latin typeface="BLS Text" panose="00000500000000000000" pitchFamily="2" charset="-34"/>
                <a:cs typeface="BLS Text" pitchFamily="2" charset="-34"/>
              </a:rPr>
              <a:t>ที่ </a:t>
            </a:r>
            <a:r>
              <a:rPr lang="en-US" sz="800" dirty="0">
                <a:solidFill>
                  <a:schemeClr val="tx1">
                    <a:lumMod val="75000"/>
                    <a:lumOff val="25000"/>
                  </a:schemeClr>
                </a:solidFill>
                <a:latin typeface="BLS Text" panose="00000500000000000000" pitchFamily="2" charset="-34"/>
                <a:cs typeface="BLS Text" pitchFamily="2" charset="-34"/>
              </a:rPr>
              <a:t>margin </a:t>
            </a:r>
            <a:r>
              <a:rPr lang="th-TH" sz="800" dirty="0">
                <a:solidFill>
                  <a:schemeClr val="tx1">
                    <a:lumMod val="75000"/>
                    <a:lumOff val="25000"/>
                  </a:schemeClr>
                </a:solidFill>
                <a:latin typeface="BLS Text" panose="00000500000000000000" pitchFamily="2" charset="-34"/>
                <a:cs typeface="BLS Text" pitchFamily="2" charset="-34"/>
              </a:rPr>
              <a:t>อาจถูกกดจากต้นทุนก๊าซ</a:t>
            </a:r>
            <a:r>
              <a:rPr lang="en-US" sz="800" dirty="0">
                <a:solidFill>
                  <a:schemeClr val="tx1">
                    <a:lumMod val="75000"/>
                    <a:lumOff val="25000"/>
                  </a:schemeClr>
                </a:solidFill>
                <a:latin typeface="BLS Text" panose="00000500000000000000" pitchFamily="2" charset="-34"/>
                <a:cs typeface="BLS Text" pitchFamily="2" charset="-34"/>
              </a:rPr>
              <a:t>,</a:t>
            </a:r>
            <a:r>
              <a:rPr lang="th-TH" sz="800" dirty="0">
                <a:solidFill>
                  <a:schemeClr val="tx1">
                    <a:lumMod val="75000"/>
                    <a:lumOff val="25000"/>
                  </a:schemeClr>
                </a:solidFill>
                <a:latin typeface="BLS Text" panose="00000500000000000000" pitchFamily="2" charset="-34"/>
                <a:cs typeface="BLS Text" pitchFamily="2" charset="-34"/>
              </a:rPr>
              <a:t> </a:t>
            </a:r>
            <a:r>
              <a:rPr lang="th-TH" sz="800" b="1" dirty="0">
                <a:solidFill>
                  <a:schemeClr val="tx1">
                    <a:lumMod val="75000"/>
                    <a:lumOff val="25000"/>
                  </a:schemeClr>
                </a:solidFill>
                <a:latin typeface="BLS Text" panose="00000500000000000000" pitchFamily="2" charset="-34"/>
                <a:cs typeface="BLS Text" pitchFamily="2" charset="-34"/>
              </a:rPr>
              <a:t>กลุ่มวัสดุก่อสร้าง </a:t>
            </a:r>
            <a:r>
              <a:rPr lang="th-TH" sz="800" dirty="0">
                <a:solidFill>
                  <a:schemeClr val="tx1">
                    <a:lumMod val="75000"/>
                    <a:lumOff val="25000"/>
                  </a:schemeClr>
                </a:solidFill>
                <a:latin typeface="BLS Text" panose="00000500000000000000" pitchFamily="2" charset="-34"/>
                <a:cs typeface="BLS Text" pitchFamily="2" charset="-34"/>
              </a:rPr>
              <a:t>(-1.4%) อย่าง </a:t>
            </a:r>
            <a:r>
              <a:rPr lang="en-US" sz="800" b="1" dirty="0">
                <a:solidFill>
                  <a:schemeClr val="tx1">
                    <a:lumMod val="75000"/>
                    <a:lumOff val="25000"/>
                  </a:schemeClr>
                </a:solidFill>
                <a:latin typeface="BLS Text" panose="00000500000000000000" pitchFamily="2" charset="-34"/>
                <a:cs typeface="BLS Text" pitchFamily="2" charset="-34"/>
              </a:rPr>
              <a:t>SCCC</a:t>
            </a:r>
            <a:r>
              <a:rPr lang="th-TH" sz="800" dirty="0">
                <a:solidFill>
                  <a:schemeClr val="tx1">
                    <a:lumMod val="75000"/>
                    <a:lumOff val="25000"/>
                  </a:schemeClr>
                </a:solidFill>
                <a:latin typeface="BLS Text" panose="00000500000000000000" pitchFamily="2" charset="-34"/>
                <a:cs typeface="BLS Text" pitchFamily="2" charset="-34"/>
              </a:rPr>
              <a:t> </a:t>
            </a:r>
            <a:r>
              <a:rPr lang="en-US" sz="800" dirty="0">
                <a:solidFill>
                  <a:schemeClr val="tx1">
                    <a:lumMod val="75000"/>
                    <a:lumOff val="25000"/>
                  </a:schemeClr>
                </a:solidFill>
                <a:latin typeface="BLS Text" panose="00000500000000000000" pitchFamily="2" charset="-34"/>
                <a:cs typeface="BLS Text" pitchFamily="2" charset="-34"/>
              </a:rPr>
              <a:t>(-6.6%), </a:t>
            </a:r>
            <a:r>
              <a:rPr lang="th-TH" sz="800" b="1" dirty="0">
                <a:solidFill>
                  <a:schemeClr val="tx1">
                    <a:lumMod val="75000"/>
                    <a:lumOff val="25000"/>
                  </a:schemeClr>
                </a:solidFill>
                <a:latin typeface="BLS Text" panose="00000500000000000000" pitchFamily="2" charset="-34"/>
                <a:cs typeface="BLS Text" pitchFamily="2" charset="-34"/>
              </a:rPr>
              <a:t>ธุรกิจปั๊มน้ำมัน </a:t>
            </a:r>
            <a:r>
              <a:rPr lang="th-TH" sz="800" dirty="0">
                <a:solidFill>
                  <a:schemeClr val="tx1">
                    <a:lumMod val="75000"/>
                    <a:lumOff val="25000"/>
                  </a:schemeClr>
                </a:solidFill>
                <a:latin typeface="BLS Text" panose="00000500000000000000" pitchFamily="2" charset="-34"/>
                <a:cs typeface="BLS Text" pitchFamily="2" charset="-34"/>
              </a:rPr>
              <a:t>(</a:t>
            </a:r>
            <a:r>
              <a:rPr lang="en-US" sz="800" dirty="0">
                <a:solidFill>
                  <a:schemeClr val="tx1">
                    <a:lumMod val="75000"/>
                    <a:lumOff val="25000"/>
                  </a:schemeClr>
                </a:solidFill>
                <a:latin typeface="BLS Text" panose="00000500000000000000" pitchFamily="2" charset="-34"/>
                <a:cs typeface="BLS Text" pitchFamily="2" charset="-34"/>
              </a:rPr>
              <a:t>downstream) </a:t>
            </a:r>
            <a:r>
              <a:rPr lang="th-TH" sz="800" dirty="0">
                <a:solidFill>
                  <a:schemeClr val="tx1">
                    <a:lumMod val="75000"/>
                    <a:lumOff val="25000"/>
                  </a:schemeClr>
                </a:solidFill>
                <a:latin typeface="BLS Text" panose="00000500000000000000" pitchFamily="2" charset="-34"/>
                <a:cs typeface="BLS Text" pitchFamily="2" charset="-34"/>
              </a:rPr>
              <a:t>ถูกจำกัด </a:t>
            </a:r>
            <a:r>
              <a:rPr lang="en-US" sz="800" dirty="0">
                <a:solidFill>
                  <a:schemeClr val="tx1">
                    <a:lumMod val="75000"/>
                    <a:lumOff val="25000"/>
                  </a:schemeClr>
                </a:solidFill>
                <a:latin typeface="BLS Text" panose="00000500000000000000" pitchFamily="2" charset="-34"/>
                <a:cs typeface="BLS Text" pitchFamily="2" charset="-34"/>
              </a:rPr>
              <a:t>margin </a:t>
            </a:r>
            <a:r>
              <a:rPr lang="th-TH" sz="800" dirty="0">
                <a:solidFill>
                  <a:schemeClr val="tx1">
                    <a:lumMod val="75000"/>
                    <a:lumOff val="25000"/>
                  </a:schemeClr>
                </a:solidFill>
                <a:latin typeface="BLS Text" panose="00000500000000000000" pitchFamily="2" charset="-34"/>
                <a:cs typeface="BLS Text" pitchFamily="2" charset="-34"/>
              </a:rPr>
              <a:t>ราคาปรับขึ้นไม่ทันต้นทุนอย่าง </a:t>
            </a:r>
            <a:r>
              <a:rPr lang="en-US" sz="800" b="1" dirty="0">
                <a:solidFill>
                  <a:schemeClr val="tx1">
                    <a:lumMod val="75000"/>
                    <a:lumOff val="25000"/>
                  </a:schemeClr>
                </a:solidFill>
                <a:latin typeface="BLS Text" panose="00000500000000000000" pitchFamily="2" charset="-34"/>
                <a:cs typeface="BLS Text" pitchFamily="2" charset="-34"/>
              </a:rPr>
              <a:t>PTG</a:t>
            </a:r>
            <a:r>
              <a:rPr lang="en-US" sz="800" dirty="0">
                <a:solidFill>
                  <a:schemeClr val="tx1">
                    <a:lumMod val="75000"/>
                    <a:lumOff val="25000"/>
                  </a:schemeClr>
                </a:solidFill>
                <a:latin typeface="BLS Text" panose="00000500000000000000" pitchFamily="2" charset="-34"/>
                <a:cs typeface="BLS Text" pitchFamily="2" charset="-34"/>
              </a:rPr>
              <a:t> (-2.4</a:t>
            </a:r>
            <a:r>
              <a:rPr lang="en-US" sz="800" dirty="0">
                <a:solidFill>
                  <a:schemeClr val="tx1">
                    <a:lumMod val="65000"/>
                    <a:lumOff val="35000"/>
                  </a:schemeClr>
                </a:solidFill>
                <a:latin typeface="BLS Text" panose="00000500000000000000" pitchFamily="2" charset="-34"/>
                <a:cs typeface="BLS Text" pitchFamily="2" charset="-34"/>
              </a:rPr>
              <a:t>%)</a:t>
            </a:r>
            <a:r>
              <a:rPr lang="th-TH" sz="800" dirty="0">
                <a:solidFill>
                  <a:schemeClr val="tx1">
                    <a:lumMod val="65000"/>
                    <a:lumOff val="35000"/>
                  </a:schemeClr>
                </a:solidFill>
                <a:latin typeface="BLS Text" panose="00000500000000000000" pitchFamily="2" charset="-34"/>
                <a:cs typeface="BLS Text" pitchFamily="2" charset="-34"/>
              </a:rPr>
              <a:t> ขณะที่ </a:t>
            </a:r>
            <a:r>
              <a:rPr lang="en-US" sz="800" b="1" dirty="0">
                <a:solidFill>
                  <a:schemeClr val="accent3"/>
                </a:solidFill>
                <a:latin typeface="BLS Text" panose="00000500000000000000" pitchFamily="2" charset="-34"/>
                <a:cs typeface="BLS Text" pitchFamily="2" charset="-34"/>
              </a:rPr>
              <a:t>2) </a:t>
            </a:r>
            <a:r>
              <a:rPr lang="th-TH" sz="800" b="1" dirty="0">
                <a:solidFill>
                  <a:schemeClr val="accent3"/>
                </a:solidFill>
                <a:latin typeface="BLS Text" panose="00000500000000000000" pitchFamily="2" charset="-34"/>
                <a:cs typeface="BLS Text" pitchFamily="2" charset="-34"/>
              </a:rPr>
              <a:t>กลุ่มอ่อนไหวต่อกำลังซื้อในประเทศ (</a:t>
            </a:r>
            <a:r>
              <a:rPr lang="en-US" sz="800" b="1" dirty="0">
                <a:solidFill>
                  <a:schemeClr val="accent3"/>
                </a:solidFill>
                <a:latin typeface="BLS Text" panose="00000500000000000000" pitchFamily="2" charset="-34"/>
                <a:cs typeface="BLS Text" pitchFamily="2" charset="-34"/>
              </a:rPr>
              <a:t>domestic demand-sensitive)</a:t>
            </a:r>
            <a:r>
              <a:rPr lang="th-TH" sz="800" dirty="0">
                <a:solidFill>
                  <a:schemeClr val="tx1">
                    <a:lumMod val="65000"/>
                    <a:lumOff val="35000"/>
                  </a:schemeClr>
                </a:solidFill>
                <a:latin typeface="BLS Text" panose="00000500000000000000" pitchFamily="2" charset="-34"/>
                <a:cs typeface="BLS Text" pitchFamily="2" charset="-34"/>
              </a:rPr>
              <a:t> ได้แก่ </a:t>
            </a:r>
            <a:r>
              <a:rPr lang="th-TH" sz="800" b="1" dirty="0">
                <a:solidFill>
                  <a:schemeClr val="tx1">
                    <a:lumMod val="75000"/>
                    <a:lumOff val="25000"/>
                  </a:schemeClr>
                </a:solidFill>
                <a:latin typeface="BLS Text" panose="00000500000000000000" pitchFamily="2" charset="-34"/>
                <a:cs typeface="BLS Text" pitchFamily="2" charset="-34"/>
              </a:rPr>
              <a:t>กลุ่มค้าปลีก </a:t>
            </a:r>
            <a:r>
              <a:rPr lang="th-TH" sz="800" dirty="0">
                <a:solidFill>
                  <a:schemeClr val="tx1">
                    <a:lumMod val="75000"/>
                    <a:lumOff val="25000"/>
                  </a:schemeClr>
                </a:solidFill>
                <a:latin typeface="BLS Text" panose="00000500000000000000" pitchFamily="2" charset="-34"/>
                <a:cs typeface="BLS Text" pitchFamily="2" charset="-34"/>
              </a:rPr>
              <a:t>(-1.1%) จากแรงกดดันต้นทุนค่าไฟ-ค่าขนส่งและความเสี่ยงกำลังซื้อที่อ่อนลง โดยเฉพาะ </a:t>
            </a:r>
            <a:r>
              <a:rPr lang="en-US" sz="800" b="1" dirty="0">
                <a:solidFill>
                  <a:schemeClr val="tx1">
                    <a:lumMod val="75000"/>
                    <a:lumOff val="25000"/>
                  </a:schemeClr>
                </a:solidFill>
                <a:latin typeface="BLS Text" panose="00000500000000000000" pitchFamily="2" charset="-34"/>
                <a:cs typeface="BLS Text" pitchFamily="2" charset="-34"/>
              </a:rPr>
              <a:t>DOHOME</a:t>
            </a:r>
            <a:r>
              <a:rPr lang="en-US" sz="800" dirty="0">
                <a:solidFill>
                  <a:schemeClr val="tx1">
                    <a:lumMod val="75000"/>
                    <a:lumOff val="25000"/>
                  </a:schemeClr>
                </a:solidFill>
                <a:latin typeface="BLS Text" panose="00000500000000000000" pitchFamily="2" charset="-34"/>
                <a:cs typeface="BLS Text" pitchFamily="2" charset="-34"/>
              </a:rPr>
              <a:t> (-8.4%), </a:t>
            </a:r>
            <a:r>
              <a:rPr lang="en-US" sz="800" b="1" dirty="0">
                <a:solidFill>
                  <a:schemeClr val="tx1">
                    <a:lumMod val="75000"/>
                    <a:lumOff val="25000"/>
                  </a:schemeClr>
                </a:solidFill>
                <a:latin typeface="BLS Text" panose="00000500000000000000" pitchFamily="2" charset="-34"/>
                <a:cs typeface="BLS Text" pitchFamily="2" charset="-34"/>
              </a:rPr>
              <a:t>CPAXT</a:t>
            </a:r>
            <a:r>
              <a:rPr lang="en-US" sz="800" dirty="0">
                <a:solidFill>
                  <a:schemeClr val="tx1">
                    <a:lumMod val="75000"/>
                    <a:lumOff val="25000"/>
                  </a:schemeClr>
                </a:solidFill>
                <a:latin typeface="BLS Text" panose="00000500000000000000" pitchFamily="2" charset="-34"/>
                <a:cs typeface="BLS Text" pitchFamily="2" charset="-34"/>
              </a:rPr>
              <a:t> (-4.3%), </a:t>
            </a:r>
            <a:r>
              <a:rPr lang="en-US" sz="800" b="1" dirty="0">
                <a:solidFill>
                  <a:schemeClr val="tx1">
                    <a:lumMod val="75000"/>
                    <a:lumOff val="25000"/>
                  </a:schemeClr>
                </a:solidFill>
                <a:latin typeface="BLS Text" panose="00000500000000000000" pitchFamily="2" charset="-34"/>
                <a:cs typeface="BLS Text" pitchFamily="2" charset="-34"/>
              </a:rPr>
              <a:t>CRC</a:t>
            </a:r>
            <a:r>
              <a:rPr lang="en-US" sz="800" dirty="0">
                <a:solidFill>
                  <a:schemeClr val="tx1">
                    <a:lumMod val="75000"/>
                    <a:lumOff val="25000"/>
                  </a:schemeClr>
                </a:solidFill>
                <a:latin typeface="BLS Text" panose="00000500000000000000" pitchFamily="2" charset="-34"/>
                <a:cs typeface="BLS Text" pitchFamily="2" charset="-34"/>
              </a:rPr>
              <a:t> (-3.3%), </a:t>
            </a:r>
            <a:r>
              <a:rPr lang="th-TH" sz="800" b="1" dirty="0">
                <a:solidFill>
                  <a:schemeClr val="tx1">
                    <a:lumMod val="75000"/>
                    <a:lumOff val="25000"/>
                  </a:schemeClr>
                </a:solidFill>
                <a:latin typeface="BLS Text" panose="00000500000000000000" pitchFamily="2" charset="-34"/>
                <a:cs typeface="BLS Text" pitchFamily="2" charset="-34"/>
              </a:rPr>
              <a:t>กลุ่มอสังหาฯ</a:t>
            </a:r>
            <a:r>
              <a:rPr lang="th-TH" sz="800" dirty="0">
                <a:solidFill>
                  <a:schemeClr val="tx1">
                    <a:lumMod val="75000"/>
                    <a:lumOff val="25000"/>
                  </a:schemeClr>
                </a:solidFill>
                <a:latin typeface="BLS Text" panose="00000500000000000000" pitchFamily="2" charset="-34"/>
                <a:cs typeface="BLS Text" pitchFamily="2" charset="-34"/>
              </a:rPr>
              <a:t> (</a:t>
            </a:r>
            <a:r>
              <a:rPr lang="en-US" sz="800" b="1" dirty="0">
                <a:solidFill>
                  <a:schemeClr val="tx1">
                    <a:lumMod val="75000"/>
                    <a:lumOff val="25000"/>
                  </a:schemeClr>
                </a:solidFill>
                <a:latin typeface="BLS Text" panose="00000500000000000000" pitchFamily="2" charset="-34"/>
                <a:cs typeface="BLS Text" pitchFamily="2" charset="-34"/>
              </a:rPr>
              <a:t>PSH</a:t>
            </a:r>
            <a:r>
              <a:rPr lang="en-US" sz="800" dirty="0">
                <a:solidFill>
                  <a:schemeClr val="tx1">
                    <a:lumMod val="75000"/>
                    <a:lumOff val="25000"/>
                  </a:schemeClr>
                </a:solidFill>
                <a:latin typeface="BLS Text" panose="00000500000000000000" pitchFamily="2" charset="-34"/>
                <a:cs typeface="BLS Text" pitchFamily="2" charset="-34"/>
              </a:rPr>
              <a:t> -25.2%, </a:t>
            </a:r>
            <a:r>
              <a:rPr lang="en-US" sz="800" b="1" dirty="0">
                <a:solidFill>
                  <a:schemeClr val="tx1">
                    <a:lumMod val="75000"/>
                    <a:lumOff val="25000"/>
                  </a:schemeClr>
                </a:solidFill>
                <a:latin typeface="BLS Text" panose="00000500000000000000" pitchFamily="2" charset="-34"/>
                <a:cs typeface="BLS Text" pitchFamily="2" charset="-34"/>
              </a:rPr>
              <a:t>LPN</a:t>
            </a:r>
            <a:r>
              <a:rPr lang="en-US" sz="800" dirty="0">
                <a:solidFill>
                  <a:schemeClr val="tx1">
                    <a:lumMod val="75000"/>
                    <a:lumOff val="25000"/>
                  </a:schemeClr>
                </a:solidFill>
                <a:latin typeface="BLS Text" panose="00000500000000000000" pitchFamily="2" charset="-34"/>
                <a:cs typeface="BLS Text" pitchFamily="2" charset="-34"/>
              </a:rPr>
              <a:t> -16.3%) </a:t>
            </a:r>
            <a:r>
              <a:rPr lang="th-TH" sz="800" dirty="0">
                <a:solidFill>
                  <a:schemeClr val="tx1">
                    <a:lumMod val="75000"/>
                    <a:lumOff val="25000"/>
                  </a:schemeClr>
                </a:solidFill>
                <a:latin typeface="BLS Text" panose="00000500000000000000" pitchFamily="2" charset="-34"/>
                <a:cs typeface="BLS Text" pitchFamily="2" charset="-34"/>
              </a:rPr>
              <a:t>สะท้อนความเปราะบางของกำลังซื้อโดยเฉพาะระดับกลาง-ล่าง</a:t>
            </a:r>
            <a:endParaRPr lang="en-US" sz="800" dirty="0">
              <a:solidFill>
                <a:schemeClr val="tx1">
                  <a:lumMod val="75000"/>
                  <a:lumOff val="25000"/>
                </a:schemeClr>
              </a:solidFill>
              <a:latin typeface="BLS Text" panose="00000500000000000000" pitchFamily="2" charset="-34"/>
              <a:cs typeface="BLS Text" pitchFamily="2" charset="-34"/>
            </a:endParaRPr>
          </a:p>
        </p:txBody>
      </p:sp>
      <p:cxnSp>
        <p:nvCxnSpPr>
          <p:cNvPr id="18" name="Straight Connector 17">
            <a:extLst>
              <a:ext uri="{FF2B5EF4-FFF2-40B4-BE49-F238E27FC236}">
                <a16:creationId xmlns:a16="http://schemas.microsoft.com/office/drawing/2014/main" id="{811E1CC9-D26F-1122-558A-414813438452}"/>
              </a:ext>
            </a:extLst>
          </p:cNvPr>
          <p:cNvCxnSpPr>
            <a:cxnSpLocks/>
          </p:cNvCxnSpPr>
          <p:nvPr/>
        </p:nvCxnSpPr>
        <p:spPr>
          <a:xfrm>
            <a:off x="320593" y="8748464"/>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8324F8DD-BF3A-E2E2-000C-522B8F0D827D}"/>
              </a:ext>
            </a:extLst>
          </p:cNvPr>
          <p:cNvPicPr>
            <a:picLocks noChangeAspect="1"/>
          </p:cNvPicPr>
          <p:nvPr/>
        </p:nvPicPr>
        <p:blipFill>
          <a:blip r:embed="rId5"/>
          <a:stretch>
            <a:fillRect/>
          </a:stretch>
        </p:blipFill>
        <p:spPr>
          <a:xfrm>
            <a:off x="347738" y="4459486"/>
            <a:ext cx="2960946" cy="4215282"/>
          </a:xfrm>
          <a:prstGeom prst="rect">
            <a:avLst/>
          </a:prstGeom>
        </p:spPr>
      </p:pic>
      <p:sp>
        <p:nvSpPr>
          <p:cNvPr id="23" name="TextBox 22">
            <a:extLst>
              <a:ext uri="{FF2B5EF4-FFF2-40B4-BE49-F238E27FC236}">
                <a16:creationId xmlns:a16="http://schemas.microsoft.com/office/drawing/2014/main" id="{81748675-2985-66A0-18EB-8B4E8A4F54F6}"/>
              </a:ext>
            </a:extLst>
          </p:cNvPr>
          <p:cNvSpPr txBox="1"/>
          <p:nvPr/>
        </p:nvSpPr>
        <p:spPr>
          <a:xfrm>
            <a:off x="286492" y="4284548"/>
            <a:ext cx="5302747" cy="215444"/>
          </a:xfrm>
          <a:prstGeom prst="rect">
            <a:avLst/>
          </a:prstGeom>
          <a:noFill/>
        </p:spPr>
        <p:txBody>
          <a:bodyPr wrap="square" rtlCol="0">
            <a:spAutoFit/>
          </a:bodyPr>
          <a:lstStyle/>
          <a:p>
            <a:r>
              <a:rPr lang="th-TH" sz="800" b="1" dirty="0">
                <a:solidFill>
                  <a:schemeClr val="tx1">
                    <a:lumMod val="95000"/>
                    <a:lumOff val="5000"/>
                  </a:schemeClr>
                </a:solidFill>
                <a:latin typeface="BLS Condensed" pitchFamily="2" charset="-34"/>
                <a:ea typeface="Tahoma" pitchFamily="34" charset="0"/>
                <a:cs typeface="BLS Condensed" pitchFamily="2" charset="-34"/>
              </a:rPr>
              <a:t>รูปที่</a:t>
            </a:r>
            <a:r>
              <a:rPr lang="en-US" sz="800" b="1" dirty="0">
                <a:solidFill>
                  <a:schemeClr val="tx1">
                    <a:lumMod val="95000"/>
                    <a:lumOff val="5000"/>
                  </a:schemeClr>
                </a:solidFill>
                <a:latin typeface="BLS Condensed" pitchFamily="2" charset="-34"/>
                <a:ea typeface="Tahoma" pitchFamily="34" charset="0"/>
                <a:cs typeface="BLS Condensed" pitchFamily="2" charset="-34"/>
              </a:rPr>
              <a:t> 1: </a:t>
            </a:r>
            <a:r>
              <a:rPr lang="th-TH" sz="800" b="1" dirty="0">
                <a:solidFill>
                  <a:schemeClr val="tx1">
                    <a:lumMod val="95000"/>
                    <a:lumOff val="5000"/>
                  </a:schemeClr>
                </a:solidFill>
                <a:latin typeface="BLS Condensed" pitchFamily="2" charset="-34"/>
                <a:ea typeface="Tahoma" pitchFamily="34" charset="0"/>
                <a:cs typeface="BLS Condensed" pitchFamily="2" charset="-34"/>
              </a:rPr>
              <a:t>การปรับประมาณการณ์กำไร</a:t>
            </a:r>
            <a:endParaRPr lang="en-US" sz="800" b="1" dirty="0">
              <a:solidFill>
                <a:schemeClr val="tx1">
                  <a:lumMod val="95000"/>
                  <a:lumOff val="5000"/>
                </a:schemeClr>
              </a:solidFill>
              <a:latin typeface="BLS Condensed" pitchFamily="2" charset="-34"/>
              <a:ea typeface="Tahoma" pitchFamily="34" charset="0"/>
              <a:cs typeface="BLS Condensed" pitchFamily="2" charset="-34"/>
            </a:endParaRPr>
          </a:p>
        </p:txBody>
      </p:sp>
      <p:cxnSp>
        <p:nvCxnSpPr>
          <p:cNvPr id="31" name="Straight Connector 30">
            <a:extLst>
              <a:ext uri="{FF2B5EF4-FFF2-40B4-BE49-F238E27FC236}">
                <a16:creationId xmlns:a16="http://schemas.microsoft.com/office/drawing/2014/main" id="{ED544969-6829-5FFD-1765-676D76EE5F5B}"/>
              </a:ext>
            </a:extLst>
          </p:cNvPr>
          <p:cNvCxnSpPr/>
          <p:nvPr/>
        </p:nvCxnSpPr>
        <p:spPr>
          <a:xfrm>
            <a:off x="305146" y="4275663"/>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47AA2941-9659-DEF5-69DF-BE120C176F29}"/>
              </a:ext>
            </a:extLst>
          </p:cNvPr>
          <p:cNvSpPr/>
          <p:nvPr/>
        </p:nvSpPr>
        <p:spPr>
          <a:xfrm>
            <a:off x="297857" y="8748464"/>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a:extLst>
              <a:ext uri="{FF2B5EF4-FFF2-40B4-BE49-F238E27FC236}">
                <a16:creationId xmlns:a16="http://schemas.microsoft.com/office/drawing/2014/main" id="{974B464D-079C-66D5-267A-B0271C83992E}"/>
              </a:ext>
            </a:extLst>
          </p:cNvPr>
          <p:cNvPicPr>
            <a:picLocks noChangeAspect="1" noChangeArrowheads="1"/>
          </p:cNvPicPr>
          <p:nvPr/>
        </p:nvPicPr>
        <p:blipFill>
          <a:blip r:embed="rId6" cstate="print">
            <a:clrChange>
              <a:clrFrom>
                <a:srgbClr val="FFFFFF"/>
              </a:clrFrom>
              <a:clrTo>
                <a:srgbClr val="FFFFFF">
                  <a:alpha val="0"/>
                </a:srgbClr>
              </a:clrTo>
            </a:clrChange>
            <a:extLst>
              <a:ext uri="{BEBA8EAE-BF5A-486C-A8C5-ECC9F3942E4B}">
                <a14:imgProps xmlns:a14="http://schemas.microsoft.com/office/drawing/2010/main">
                  <a14:imgLayer r:embed="rId7">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716ED43-E385-A160-9D3A-0264F1B0EE0B}"/>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9" name="TextBox 8">
            <a:extLst>
              <a:ext uri="{FF2B5EF4-FFF2-40B4-BE49-F238E27FC236}">
                <a16:creationId xmlns:a16="http://schemas.microsoft.com/office/drawing/2014/main" id="{C8FA6393-E3EE-E08E-89C6-D50BB8050980}"/>
              </a:ext>
            </a:extLst>
          </p:cNvPr>
          <p:cNvSpPr txBox="1"/>
          <p:nvPr/>
        </p:nvSpPr>
        <p:spPr>
          <a:xfrm>
            <a:off x="1886145" y="-177626"/>
            <a:ext cx="4999239" cy="1015663"/>
          </a:xfrm>
          <a:prstGeom prst="rect">
            <a:avLst/>
          </a:prstGeom>
          <a:noFill/>
        </p:spPr>
        <p:txBody>
          <a:bodyPr wrap="square" rtlCol="0">
            <a:spAutoFit/>
          </a:bodyPr>
          <a:lstStyle/>
          <a:p>
            <a:pPr algn="r"/>
            <a:r>
              <a:rPr lang="el-GR" sz="4000" dirty="0">
                <a:solidFill>
                  <a:schemeClr val="accent3"/>
                </a:solidFill>
                <a:latin typeface="BLS Condensed Bold" pitchFamily="2" charset="-34"/>
                <a:ea typeface="Tahoma" pitchFamily="34" charset="0"/>
                <a:cs typeface="BLS Condensed Bold" pitchFamily="2" charset="-34"/>
              </a:rPr>
              <a:t>α</a:t>
            </a:r>
            <a:r>
              <a:rPr lang="en-US" sz="2400" dirty="0" err="1">
                <a:solidFill>
                  <a:schemeClr val="tx1">
                    <a:lumMod val="95000"/>
                    <a:lumOff val="5000"/>
                  </a:schemeClr>
                </a:solidFill>
                <a:latin typeface="BLS Condensed Bold" pitchFamily="2" charset="-34"/>
                <a:ea typeface="Tahoma" pitchFamily="34" charset="0"/>
                <a:cs typeface="BLS Condensed Bold" pitchFamily="2" charset="-34"/>
              </a:rPr>
              <a:t>lpha</a:t>
            </a:r>
            <a:r>
              <a:rPr lang="en-US" sz="2400" dirty="0">
                <a:solidFill>
                  <a:schemeClr val="tx1">
                    <a:lumMod val="95000"/>
                    <a:lumOff val="5000"/>
                  </a:schemeClr>
                </a:solidFill>
                <a:latin typeface="BLS Condensed Bold" pitchFamily="2" charset="-34"/>
                <a:ea typeface="Tahoma" pitchFamily="34" charset="0"/>
                <a:cs typeface="BLS Condensed Bold" pitchFamily="2" charset="-34"/>
              </a:rPr>
              <a:t> PULSE | </a:t>
            </a:r>
            <a:endParaRPr lang="th-TH" sz="2400" dirty="0">
              <a:solidFill>
                <a:schemeClr val="tx1">
                  <a:lumMod val="95000"/>
                  <a:lumOff val="5000"/>
                </a:schemeClr>
              </a:solidFill>
              <a:latin typeface="BLS Condensed Bold" pitchFamily="2" charset="-34"/>
              <a:ea typeface="Tahoma" pitchFamily="34" charset="0"/>
              <a:cs typeface="BLS Condensed Bold" pitchFamily="2" charset="-34"/>
            </a:endParaRPr>
          </a:p>
          <a:p>
            <a:pPr algn="r"/>
            <a:r>
              <a:rPr lang="en-US" sz="2000" dirty="0">
                <a:solidFill>
                  <a:schemeClr val="accent5"/>
                </a:solidFill>
                <a:latin typeface="BLS Condensed Bold" pitchFamily="2" charset="-34"/>
                <a:ea typeface="Tahoma" pitchFamily="34" charset="0"/>
                <a:cs typeface="BLS Condensed Bold" pitchFamily="2" charset="-34"/>
              </a:rPr>
              <a:t>Weekly strategy</a:t>
            </a:r>
          </a:p>
        </p:txBody>
      </p:sp>
      <p:sp>
        <p:nvSpPr>
          <p:cNvPr id="10" name="TextBox 9">
            <a:extLst>
              <a:ext uri="{FF2B5EF4-FFF2-40B4-BE49-F238E27FC236}">
                <a16:creationId xmlns:a16="http://schemas.microsoft.com/office/drawing/2014/main" id="{C2139EFA-0963-F3E4-30F9-FE4954797181}"/>
              </a:ext>
            </a:extLst>
          </p:cNvPr>
          <p:cNvSpPr txBox="1"/>
          <p:nvPr/>
        </p:nvSpPr>
        <p:spPr>
          <a:xfrm>
            <a:off x="188640" y="827584"/>
            <a:ext cx="6344324" cy="646331"/>
          </a:xfrm>
          <a:prstGeom prst="rect">
            <a:avLst/>
          </a:prstGeom>
          <a:noFill/>
        </p:spPr>
        <p:txBody>
          <a:bodyPr wrap="square">
            <a:spAutoFit/>
          </a:bodyPr>
          <a:lstStyle/>
          <a:p>
            <a:pPr algn="r"/>
            <a:r>
              <a:rPr lang="th-TH" altLang="en-US" dirty="0">
                <a:solidFill>
                  <a:schemeClr val="accent2"/>
                </a:solidFill>
                <a:latin typeface="BLS Condensed Bold" panose="00000800000000000000" pitchFamily="2" charset="-34"/>
                <a:ea typeface="Tahoma" pitchFamily="34" charset="0"/>
                <a:cs typeface="BLS Condensed Bold" panose="00000800000000000000" pitchFamily="2" charset="-34"/>
              </a:rPr>
              <a:t>ทิศทางการปรับประมาณการณ์กำไรระหว่างช่วงสงคราม </a:t>
            </a:r>
          </a:p>
          <a:p>
            <a:pPr algn="r"/>
            <a:r>
              <a:rPr lang="th-TH" altLang="en-US" dirty="0">
                <a:solidFill>
                  <a:schemeClr val="tx2"/>
                </a:solidFill>
                <a:latin typeface="BLS Condensed Bold" panose="00000800000000000000" pitchFamily="2" charset="-34"/>
                <a:ea typeface="Tahoma" pitchFamily="34" charset="0"/>
                <a:cs typeface="BLS Condensed Bold" panose="00000800000000000000" pitchFamily="2" charset="-34"/>
              </a:rPr>
              <a:t>จะช่วยแยกให้เห็นกลุ่มที่รอด และกลุ่มที่เสี่ยงชัดเจน </a:t>
            </a:r>
            <a:endParaRPr lang="en-US" altLang="en-US" dirty="0">
              <a:solidFill>
                <a:schemeClr val="accent4"/>
              </a:solidFill>
              <a:latin typeface="BLS Condensed Bold" panose="00000800000000000000" pitchFamily="2" charset="-34"/>
              <a:ea typeface="Tahoma" pitchFamily="34" charset="0"/>
              <a:cs typeface="BLS Condensed Bold" panose="00000800000000000000" pitchFamily="2" charset="-34"/>
            </a:endParaRPr>
          </a:p>
        </p:txBody>
      </p:sp>
      <p:pic>
        <p:nvPicPr>
          <p:cNvPr id="4" name="Picture 3">
            <a:extLst>
              <a:ext uri="{FF2B5EF4-FFF2-40B4-BE49-F238E27FC236}">
                <a16:creationId xmlns:a16="http://schemas.microsoft.com/office/drawing/2014/main" id="{3122BF8A-9EA1-4C02-15AC-D2ADD19A2708}"/>
              </a:ext>
            </a:extLst>
          </p:cNvPr>
          <p:cNvPicPr>
            <a:picLocks noChangeAspect="1"/>
          </p:cNvPicPr>
          <p:nvPr/>
        </p:nvPicPr>
        <p:blipFill>
          <a:blip r:embed="rId8"/>
          <a:stretch>
            <a:fillRect/>
          </a:stretch>
        </p:blipFill>
        <p:spPr>
          <a:xfrm>
            <a:off x="3639043" y="4499992"/>
            <a:ext cx="2886301" cy="4181145"/>
          </a:xfrm>
          <a:prstGeom prst="rect">
            <a:avLst/>
          </a:prstGeom>
        </p:spPr>
      </p:pic>
    </p:spTree>
    <p:extLst>
      <p:ext uri="{BB962C8B-B14F-4D97-AF65-F5344CB8AC3E}">
        <p14:creationId xmlns:p14="http://schemas.microsoft.com/office/powerpoint/2010/main" val="3357389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Watercolor of trees in the fog&#10;&#10;Description automatically generated">
            <a:extLst>
              <a:ext uri="{FF2B5EF4-FFF2-40B4-BE49-F238E27FC236}">
                <a16:creationId xmlns:a16="http://schemas.microsoft.com/office/drawing/2014/main" id="{12900066-8F13-7E4F-EEFE-B0323EB1A50D}"/>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7" r="8181" b="3959"/>
          <a:stretch/>
        </p:blipFill>
        <p:spPr>
          <a:xfrm>
            <a:off x="0" y="1"/>
            <a:ext cx="6858000" cy="8844454"/>
          </a:xfrm>
          <a:prstGeom prst="rect">
            <a:avLst/>
          </a:prstGeom>
        </p:spPr>
      </p:pic>
      <p:sp>
        <p:nvSpPr>
          <p:cNvPr id="18" name="Rectangle 17">
            <a:extLst>
              <a:ext uri="{FF2B5EF4-FFF2-40B4-BE49-F238E27FC236}">
                <a16:creationId xmlns:a16="http://schemas.microsoft.com/office/drawing/2014/main" id="{38730610-1C9D-4B76-AA1D-243E2AA95217}"/>
              </a:ext>
            </a:extLst>
          </p:cNvPr>
          <p:cNvSpPr/>
          <p:nvPr/>
        </p:nvSpPr>
        <p:spPr>
          <a:xfrm>
            <a:off x="297857" y="8699318"/>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a:extLst>
              <a:ext uri="{FF2B5EF4-FFF2-40B4-BE49-F238E27FC236}">
                <a16:creationId xmlns:a16="http://schemas.microsoft.com/office/drawing/2014/main" id="{D8EC5674-54E7-E10C-3FD1-6C6B19C2A914}"/>
              </a:ext>
            </a:extLst>
          </p:cNvPr>
          <p:cNvPicPr>
            <a:picLocks noChangeAspect="1" noChangeArrowheads="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Box 18">
            <a:extLst>
              <a:ext uri="{FF2B5EF4-FFF2-40B4-BE49-F238E27FC236}">
                <a16:creationId xmlns:a16="http://schemas.microsoft.com/office/drawing/2014/main" id="{28A0BF02-5214-05AE-B03A-4D2810D4FB22}"/>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6" name="TextBox 5">
            <a:extLst>
              <a:ext uri="{FF2B5EF4-FFF2-40B4-BE49-F238E27FC236}">
                <a16:creationId xmlns:a16="http://schemas.microsoft.com/office/drawing/2014/main" id="{DDFF7484-5537-9D50-9DAB-CC290CCFEF29}"/>
              </a:ext>
            </a:extLst>
          </p:cNvPr>
          <p:cNvSpPr txBox="1"/>
          <p:nvPr/>
        </p:nvSpPr>
        <p:spPr>
          <a:xfrm>
            <a:off x="1886145" y="-177626"/>
            <a:ext cx="4999239" cy="1015663"/>
          </a:xfrm>
          <a:prstGeom prst="rect">
            <a:avLst/>
          </a:prstGeom>
          <a:noFill/>
        </p:spPr>
        <p:txBody>
          <a:bodyPr wrap="square" rtlCol="0">
            <a:spAutoFit/>
          </a:bodyPr>
          <a:lstStyle/>
          <a:p>
            <a:pPr algn="r"/>
            <a:r>
              <a:rPr lang="el-GR" sz="4000" dirty="0">
                <a:solidFill>
                  <a:schemeClr val="accent3"/>
                </a:solidFill>
                <a:latin typeface="BLS Condensed Bold" pitchFamily="2" charset="-34"/>
                <a:ea typeface="Tahoma" pitchFamily="34" charset="0"/>
                <a:cs typeface="BLS Condensed Bold" pitchFamily="2" charset="-34"/>
              </a:rPr>
              <a:t>α</a:t>
            </a:r>
            <a:r>
              <a:rPr lang="en-US" sz="2400" dirty="0" err="1">
                <a:solidFill>
                  <a:schemeClr val="tx1">
                    <a:lumMod val="95000"/>
                    <a:lumOff val="5000"/>
                  </a:schemeClr>
                </a:solidFill>
                <a:latin typeface="BLS Condensed Bold" pitchFamily="2" charset="-34"/>
                <a:ea typeface="Tahoma" pitchFamily="34" charset="0"/>
                <a:cs typeface="BLS Condensed Bold" pitchFamily="2" charset="-34"/>
              </a:rPr>
              <a:t>lpha</a:t>
            </a:r>
            <a:r>
              <a:rPr lang="en-US" sz="2400" dirty="0">
                <a:solidFill>
                  <a:schemeClr val="tx1">
                    <a:lumMod val="95000"/>
                    <a:lumOff val="5000"/>
                  </a:schemeClr>
                </a:solidFill>
                <a:latin typeface="BLS Condensed Bold" pitchFamily="2" charset="-34"/>
                <a:ea typeface="Tahoma" pitchFamily="34" charset="0"/>
                <a:cs typeface="BLS Condensed Bold" pitchFamily="2" charset="-34"/>
              </a:rPr>
              <a:t> PULSE | </a:t>
            </a:r>
            <a:endParaRPr lang="th-TH" sz="2400" dirty="0">
              <a:solidFill>
                <a:schemeClr val="tx1">
                  <a:lumMod val="95000"/>
                  <a:lumOff val="5000"/>
                </a:schemeClr>
              </a:solidFill>
              <a:latin typeface="BLS Condensed Bold" pitchFamily="2" charset="-34"/>
              <a:ea typeface="Tahoma" pitchFamily="34" charset="0"/>
              <a:cs typeface="BLS Condensed Bold" pitchFamily="2" charset="-34"/>
            </a:endParaRPr>
          </a:p>
          <a:p>
            <a:pPr algn="r"/>
            <a:r>
              <a:rPr lang="en-US" sz="2000" dirty="0">
                <a:solidFill>
                  <a:schemeClr val="accent5"/>
                </a:solidFill>
                <a:latin typeface="BLS Condensed Bold" pitchFamily="2" charset="-34"/>
                <a:ea typeface="Tahoma" pitchFamily="34" charset="0"/>
                <a:cs typeface="BLS Condensed Bold" pitchFamily="2" charset="-34"/>
              </a:rPr>
              <a:t>Weekly strategy</a:t>
            </a:r>
          </a:p>
        </p:txBody>
      </p:sp>
      <p:sp>
        <p:nvSpPr>
          <p:cNvPr id="7" name="TextBox 6">
            <a:extLst>
              <a:ext uri="{FF2B5EF4-FFF2-40B4-BE49-F238E27FC236}">
                <a16:creationId xmlns:a16="http://schemas.microsoft.com/office/drawing/2014/main" id="{976B5C9E-A6CB-8CAE-03B8-7D22718E584A}"/>
              </a:ext>
            </a:extLst>
          </p:cNvPr>
          <p:cNvSpPr txBox="1"/>
          <p:nvPr/>
        </p:nvSpPr>
        <p:spPr>
          <a:xfrm>
            <a:off x="3464359" y="899592"/>
            <a:ext cx="3188101" cy="7863691"/>
          </a:xfrm>
          <a:prstGeom prst="rect">
            <a:avLst/>
          </a:prstGeom>
          <a:noFill/>
          <a:ln>
            <a:noFill/>
          </a:ln>
        </p:spPr>
        <p:txBody>
          <a:bodyPr wrap="square" rtlCol="0">
            <a:spAutoFit/>
          </a:bodyPr>
          <a:lstStyle/>
          <a:p>
            <a:pPr algn="thaiDist">
              <a:lnSpc>
                <a:spcPct val="120000"/>
              </a:lnSpc>
              <a:spcBef>
                <a:spcPts val="600"/>
              </a:spcBef>
              <a:buSzPct val="120000"/>
            </a:pPr>
            <a:r>
              <a:rPr lang="th-TH" sz="1000" dirty="0">
                <a:solidFill>
                  <a:schemeClr val="tx1">
                    <a:lumMod val="65000"/>
                    <a:lumOff val="35000"/>
                  </a:schemeClr>
                </a:solidFill>
                <a:latin typeface="BLS Text" pitchFamily="2" charset="-34"/>
                <a:cs typeface="BLS Text" pitchFamily="2" charset="-34"/>
              </a:rPr>
              <a:t>ในกลุ่ม </a:t>
            </a:r>
            <a:r>
              <a:rPr lang="en-US" sz="1000" dirty="0">
                <a:solidFill>
                  <a:schemeClr val="tx1">
                    <a:lumMod val="65000"/>
                    <a:lumOff val="35000"/>
                  </a:schemeClr>
                </a:solidFill>
                <a:latin typeface="BLS Text" pitchFamily="2" charset="-34"/>
                <a:cs typeface="BLS Text" pitchFamily="2" charset="-34"/>
              </a:rPr>
              <a:t>Transport </a:t>
            </a:r>
            <a:r>
              <a:rPr lang="th-TH" sz="1000" dirty="0">
                <a:solidFill>
                  <a:schemeClr val="tx1">
                    <a:lumMod val="65000"/>
                    <a:lumOff val="35000"/>
                  </a:schemeClr>
                </a:solidFill>
                <a:latin typeface="BLS Text" pitchFamily="2" charset="-34"/>
                <a:cs typeface="BLS Text" pitchFamily="2" charset="-34"/>
              </a:rPr>
              <a:t>จะเห็นความแตกต่างของ </a:t>
            </a:r>
            <a:r>
              <a:rPr lang="en-US" sz="1000" dirty="0">
                <a:solidFill>
                  <a:schemeClr val="tx1">
                    <a:lumMod val="65000"/>
                    <a:lumOff val="35000"/>
                  </a:schemeClr>
                </a:solidFill>
                <a:latin typeface="BLS Text" pitchFamily="2" charset="-34"/>
                <a:cs typeface="BLS Text" pitchFamily="2" charset="-34"/>
              </a:rPr>
              <a:t>business model </a:t>
            </a:r>
            <a:r>
              <a:rPr lang="th-TH" sz="1000" dirty="0">
                <a:solidFill>
                  <a:schemeClr val="tx1">
                    <a:lumMod val="65000"/>
                    <a:lumOff val="35000"/>
                  </a:schemeClr>
                </a:solidFill>
                <a:latin typeface="BLS Text" pitchFamily="2" charset="-34"/>
                <a:cs typeface="BLS Text" pitchFamily="2" charset="-34"/>
              </a:rPr>
              <a:t>ชัดเจน สายการบินเผชิญแรงกดดันจากต้นทุนน้ำมันโดยตรง ซึ่งมักส่งผ่านไปยังราคาตั๋วได้ช้ากว่า ทำให้ </a:t>
            </a:r>
            <a:r>
              <a:rPr lang="en-US" sz="1000" dirty="0">
                <a:solidFill>
                  <a:schemeClr val="tx1">
                    <a:lumMod val="65000"/>
                    <a:lumOff val="35000"/>
                  </a:schemeClr>
                </a:solidFill>
                <a:latin typeface="BLS Text" pitchFamily="2" charset="-34"/>
                <a:cs typeface="BLS Text" pitchFamily="2" charset="-34"/>
              </a:rPr>
              <a:t>margin </a:t>
            </a:r>
            <a:r>
              <a:rPr lang="th-TH" sz="1000" dirty="0">
                <a:solidFill>
                  <a:schemeClr val="tx1">
                    <a:lumMod val="65000"/>
                    <a:lumOff val="35000"/>
                  </a:schemeClr>
                </a:solidFill>
                <a:latin typeface="BLS Text" pitchFamily="2" charset="-34"/>
                <a:cs typeface="BLS Text" pitchFamily="2" charset="-34"/>
              </a:rPr>
              <a:t>ถูกบีบในระยะสั้น ขณะที่ธุรกิจเรือขนส่งกลับได้ประโยชน์จาก </a:t>
            </a:r>
            <a:r>
              <a:rPr lang="en-US" sz="1000" dirty="0">
                <a:solidFill>
                  <a:schemeClr val="tx1">
                    <a:lumMod val="65000"/>
                    <a:lumOff val="35000"/>
                  </a:schemeClr>
                </a:solidFill>
                <a:latin typeface="BLS Text" pitchFamily="2" charset="-34"/>
                <a:cs typeface="BLS Text" pitchFamily="2" charset="-34"/>
              </a:rPr>
              <a:t>freight rate </a:t>
            </a:r>
            <a:r>
              <a:rPr lang="th-TH" sz="1000" dirty="0">
                <a:solidFill>
                  <a:schemeClr val="tx1">
                    <a:lumMod val="65000"/>
                    <a:lumOff val="35000"/>
                  </a:schemeClr>
                </a:solidFill>
                <a:latin typeface="BLS Text" pitchFamily="2" charset="-34"/>
                <a:cs typeface="BLS Text" pitchFamily="2" charset="-34"/>
              </a:rPr>
              <a:t>ที่สูงขึ้นจากความเสี่ยงของเส้นทางการค้า ส่วนระบบขนส่งสาธารณะในเมืองอาจได้อานิสงส์จาก </a:t>
            </a:r>
            <a:r>
              <a:rPr lang="en-US" sz="1000" dirty="0">
                <a:solidFill>
                  <a:schemeClr val="tx1">
                    <a:lumMod val="65000"/>
                    <a:lumOff val="35000"/>
                  </a:schemeClr>
                </a:solidFill>
                <a:latin typeface="BLS Text" pitchFamily="2" charset="-34"/>
                <a:cs typeface="BLS Text" pitchFamily="2" charset="-34"/>
              </a:rPr>
              <a:t>behavioral shift </a:t>
            </a:r>
            <a:r>
              <a:rPr lang="th-TH" sz="1000" dirty="0">
                <a:solidFill>
                  <a:schemeClr val="tx1">
                    <a:lumMod val="65000"/>
                    <a:lumOff val="35000"/>
                  </a:schemeClr>
                </a:solidFill>
                <a:latin typeface="BLS Text" pitchFamily="2" charset="-34"/>
                <a:cs typeface="BLS Text" pitchFamily="2" charset="-34"/>
              </a:rPr>
              <a:t>ของผู้บริโภคที่หันมาใช้บริการมากขึ้นเมื่อราคาน้ำมันสูงขึ้น จึงเป็น </a:t>
            </a:r>
            <a:r>
              <a:rPr lang="en-US" sz="1000" dirty="0">
                <a:solidFill>
                  <a:schemeClr val="tx1">
                    <a:lumMod val="65000"/>
                    <a:lumOff val="35000"/>
                  </a:schemeClr>
                </a:solidFill>
                <a:latin typeface="BLS Text" pitchFamily="2" charset="-34"/>
                <a:cs typeface="BLS Text" pitchFamily="2" charset="-34"/>
              </a:rPr>
              <a:t>sector </a:t>
            </a:r>
            <a:r>
              <a:rPr lang="th-TH" sz="1000" dirty="0">
                <a:solidFill>
                  <a:schemeClr val="tx1">
                    <a:lumMod val="65000"/>
                    <a:lumOff val="35000"/>
                  </a:schemeClr>
                </a:solidFill>
                <a:latin typeface="BLS Text" pitchFamily="2" charset="-34"/>
                <a:cs typeface="BLS Text" pitchFamily="2" charset="-34"/>
              </a:rPr>
              <a:t>ที่มี </a:t>
            </a:r>
            <a:r>
              <a:rPr lang="en-US" sz="1000" dirty="0">
                <a:solidFill>
                  <a:schemeClr val="tx1">
                    <a:lumMod val="65000"/>
                    <a:lumOff val="35000"/>
                  </a:schemeClr>
                </a:solidFill>
                <a:latin typeface="BLS Text" pitchFamily="2" charset="-34"/>
                <a:cs typeface="BLS Text" pitchFamily="2" charset="-34"/>
              </a:rPr>
              <a:t>earnings divergence </a:t>
            </a:r>
            <a:r>
              <a:rPr lang="th-TH" sz="1000" dirty="0">
                <a:solidFill>
                  <a:schemeClr val="tx1">
                    <a:lumMod val="65000"/>
                    <a:lumOff val="35000"/>
                  </a:schemeClr>
                </a:solidFill>
                <a:latin typeface="BLS Text" pitchFamily="2" charset="-34"/>
                <a:cs typeface="BLS Text" pitchFamily="2" charset="-34"/>
              </a:rPr>
              <a:t>ภายในสูง</a:t>
            </a:r>
          </a:p>
          <a:p>
            <a:pPr algn="thaiDist">
              <a:lnSpc>
                <a:spcPct val="120000"/>
              </a:lnSpc>
              <a:spcBef>
                <a:spcPts val="600"/>
              </a:spcBef>
              <a:buSzPct val="120000"/>
            </a:pPr>
            <a:r>
              <a:rPr lang="th-TH" sz="1000" dirty="0">
                <a:solidFill>
                  <a:schemeClr val="tx1">
                    <a:lumMod val="65000"/>
                    <a:lumOff val="35000"/>
                  </a:schemeClr>
                </a:solidFill>
                <a:latin typeface="BLS Text" pitchFamily="2" charset="-34"/>
                <a:cs typeface="BLS Text" pitchFamily="2" charset="-34"/>
              </a:rPr>
              <a:t>ด้าน </a:t>
            </a:r>
            <a:r>
              <a:rPr lang="en-US" sz="1000" dirty="0">
                <a:solidFill>
                  <a:schemeClr val="tx1">
                    <a:lumMod val="65000"/>
                    <a:lumOff val="35000"/>
                  </a:schemeClr>
                </a:solidFill>
                <a:latin typeface="BLS Text" pitchFamily="2" charset="-34"/>
                <a:cs typeface="BLS Text" pitchFamily="2" charset="-34"/>
              </a:rPr>
              <a:t>Tourism </a:t>
            </a:r>
            <a:r>
              <a:rPr lang="th-TH" sz="1000" dirty="0">
                <a:solidFill>
                  <a:schemeClr val="tx1">
                    <a:lumMod val="65000"/>
                    <a:lumOff val="35000"/>
                  </a:schemeClr>
                </a:solidFill>
                <a:latin typeface="BLS Text" pitchFamily="2" charset="-34"/>
                <a:cs typeface="BLS Text" pitchFamily="2" charset="-34"/>
              </a:rPr>
              <a:t>และ </a:t>
            </a:r>
            <a:r>
              <a:rPr lang="en-US" sz="1000" dirty="0">
                <a:solidFill>
                  <a:schemeClr val="tx1">
                    <a:lumMod val="65000"/>
                    <a:lumOff val="35000"/>
                  </a:schemeClr>
                </a:solidFill>
                <a:latin typeface="BLS Text" pitchFamily="2" charset="-34"/>
                <a:cs typeface="BLS Text" pitchFamily="2" charset="-34"/>
              </a:rPr>
              <a:t>Healthcare </a:t>
            </a:r>
            <a:r>
              <a:rPr lang="th-TH" sz="1000" dirty="0">
                <a:solidFill>
                  <a:schemeClr val="tx1">
                    <a:lumMod val="65000"/>
                    <a:lumOff val="35000"/>
                  </a:schemeClr>
                </a:solidFill>
                <a:latin typeface="BLS Text" pitchFamily="2" charset="-34"/>
                <a:cs typeface="BLS Text" pitchFamily="2" charset="-34"/>
              </a:rPr>
              <a:t>ผลกระทบหลักไม่ได้มาจาก </a:t>
            </a:r>
            <a:r>
              <a:rPr lang="en-US" sz="1000" dirty="0">
                <a:solidFill>
                  <a:schemeClr val="tx1">
                    <a:lumMod val="65000"/>
                    <a:lumOff val="35000"/>
                  </a:schemeClr>
                </a:solidFill>
                <a:latin typeface="BLS Text" pitchFamily="2" charset="-34"/>
                <a:cs typeface="BLS Text" pitchFamily="2" charset="-34"/>
              </a:rPr>
              <a:t>demand </a:t>
            </a:r>
            <a:r>
              <a:rPr lang="th-TH" sz="1000" dirty="0">
                <a:solidFill>
                  <a:schemeClr val="tx1">
                    <a:lumMod val="65000"/>
                    <a:lumOff val="35000"/>
                  </a:schemeClr>
                </a:solidFill>
                <a:latin typeface="BLS Text" pitchFamily="2" charset="-34"/>
                <a:cs typeface="BLS Text" pitchFamily="2" charset="-34"/>
              </a:rPr>
              <a:t>ที่หายไป แต่เป็น “</a:t>
            </a:r>
            <a:r>
              <a:rPr lang="en-US" sz="1000" dirty="0">
                <a:solidFill>
                  <a:schemeClr val="tx1">
                    <a:lumMod val="65000"/>
                    <a:lumOff val="35000"/>
                  </a:schemeClr>
                </a:solidFill>
                <a:latin typeface="BLS Text" pitchFamily="2" charset="-34"/>
                <a:cs typeface="BLS Text" pitchFamily="2" charset="-34"/>
              </a:rPr>
              <a:t>mobility disruption” </a:t>
            </a:r>
            <a:r>
              <a:rPr lang="th-TH" sz="1000" dirty="0">
                <a:solidFill>
                  <a:schemeClr val="tx1">
                    <a:lumMod val="65000"/>
                    <a:lumOff val="35000"/>
                  </a:schemeClr>
                </a:solidFill>
                <a:latin typeface="BLS Text" pitchFamily="2" charset="-34"/>
                <a:cs typeface="BLS Text" pitchFamily="2" charset="-34"/>
              </a:rPr>
              <a:t>การปิดน่านฟ้าและข้อจำกัดการเดินทางทำให้ลูกค้าบาง </a:t>
            </a:r>
            <a:r>
              <a:rPr lang="en-US" sz="1000" dirty="0">
                <a:solidFill>
                  <a:schemeClr val="tx1">
                    <a:lumMod val="65000"/>
                    <a:lumOff val="35000"/>
                  </a:schemeClr>
                </a:solidFill>
                <a:latin typeface="BLS Text" pitchFamily="2" charset="-34"/>
                <a:cs typeface="BLS Text" pitchFamily="2" charset="-34"/>
              </a:rPr>
              <a:t>segment </a:t>
            </a:r>
            <a:r>
              <a:rPr lang="th-TH" sz="1000" dirty="0">
                <a:solidFill>
                  <a:schemeClr val="tx1">
                    <a:lumMod val="65000"/>
                    <a:lumOff val="35000"/>
                  </a:schemeClr>
                </a:solidFill>
                <a:latin typeface="BLS Text" pitchFamily="2" charset="-34"/>
                <a:cs typeface="BLS Text" pitchFamily="2" charset="-34"/>
              </a:rPr>
              <a:t>โดยเฉพาะจากตะวันออกกลางเข้าถึงบริการได้ยากขึ้น เช่น </a:t>
            </a:r>
            <a:r>
              <a:rPr lang="en-US" sz="1000" dirty="0">
                <a:solidFill>
                  <a:schemeClr val="tx1">
                    <a:lumMod val="65000"/>
                    <a:lumOff val="35000"/>
                  </a:schemeClr>
                </a:solidFill>
                <a:latin typeface="BLS Text" pitchFamily="2" charset="-34"/>
                <a:cs typeface="BLS Text" pitchFamily="2" charset="-34"/>
              </a:rPr>
              <a:t>BH</a:t>
            </a:r>
            <a:r>
              <a:rPr lang="th-TH" sz="1000" dirty="0">
                <a:solidFill>
                  <a:schemeClr val="tx1">
                    <a:lumMod val="65000"/>
                    <a:lumOff val="35000"/>
                  </a:schemeClr>
                </a:solidFill>
                <a:latin typeface="BLS Text" pitchFamily="2" charset="-34"/>
                <a:cs typeface="BLS Text" pitchFamily="2" charset="-34"/>
              </a:rPr>
              <a:t> อย่างไรก็ดี </a:t>
            </a:r>
            <a:r>
              <a:rPr lang="en-US" sz="1000" dirty="0">
                <a:solidFill>
                  <a:schemeClr val="tx1">
                    <a:lumMod val="65000"/>
                    <a:lumOff val="35000"/>
                  </a:schemeClr>
                </a:solidFill>
                <a:latin typeface="BLS Text" pitchFamily="2" charset="-34"/>
                <a:cs typeface="BLS Text" pitchFamily="2" charset="-34"/>
              </a:rPr>
              <a:t>demand </a:t>
            </a:r>
            <a:r>
              <a:rPr lang="th-TH" sz="1000" dirty="0">
                <a:solidFill>
                  <a:schemeClr val="tx1">
                    <a:lumMod val="65000"/>
                    <a:lumOff val="35000"/>
                  </a:schemeClr>
                </a:solidFill>
                <a:latin typeface="BLS Text" pitchFamily="2" charset="-34"/>
                <a:cs typeface="BLS Text" pitchFamily="2" charset="-34"/>
              </a:rPr>
              <a:t>จากภูมิภาคอื่นยังคงอยู่ ทำให้ผลกระทบเป็นลักษณะ </a:t>
            </a:r>
            <a:r>
              <a:rPr lang="en-US" sz="1000" dirty="0">
                <a:solidFill>
                  <a:schemeClr val="tx1">
                    <a:lumMod val="65000"/>
                    <a:lumOff val="35000"/>
                  </a:schemeClr>
                </a:solidFill>
                <a:latin typeface="BLS Text" pitchFamily="2" charset="-34"/>
                <a:cs typeface="BLS Text" pitchFamily="2" charset="-34"/>
              </a:rPr>
              <a:t>segment-specific </a:t>
            </a:r>
            <a:r>
              <a:rPr lang="th-TH" sz="1000" dirty="0">
                <a:solidFill>
                  <a:schemeClr val="tx1">
                    <a:lumMod val="65000"/>
                    <a:lumOff val="35000"/>
                  </a:schemeClr>
                </a:solidFill>
                <a:latin typeface="BLS Text" pitchFamily="2" charset="-34"/>
                <a:cs typeface="BLS Text" pitchFamily="2" charset="-34"/>
              </a:rPr>
              <a:t>และชั่วคราวมากกว่าโครงสร้าง</a:t>
            </a:r>
          </a:p>
          <a:p>
            <a:pPr algn="thaiDist">
              <a:lnSpc>
                <a:spcPct val="120000"/>
              </a:lnSpc>
              <a:spcBef>
                <a:spcPts val="600"/>
              </a:spcBef>
              <a:buSzPct val="120000"/>
            </a:pPr>
            <a:r>
              <a:rPr lang="th-TH" sz="1000" dirty="0">
                <a:solidFill>
                  <a:schemeClr val="tx1">
                    <a:lumMod val="65000"/>
                    <a:lumOff val="35000"/>
                  </a:schemeClr>
                </a:solidFill>
                <a:latin typeface="BLS Text" pitchFamily="2" charset="-34"/>
                <a:cs typeface="BLS Text" pitchFamily="2" charset="-34"/>
              </a:rPr>
              <a:t>สำหรับ </a:t>
            </a:r>
            <a:r>
              <a:rPr lang="en-US" sz="1000" dirty="0">
                <a:solidFill>
                  <a:schemeClr val="tx1">
                    <a:lumMod val="65000"/>
                    <a:lumOff val="35000"/>
                  </a:schemeClr>
                </a:solidFill>
                <a:latin typeface="BLS Text" pitchFamily="2" charset="-34"/>
                <a:cs typeface="BLS Text" pitchFamily="2" charset="-34"/>
              </a:rPr>
              <a:t>Consumer sectors </a:t>
            </a:r>
            <a:r>
              <a:rPr lang="th-TH" sz="1000" dirty="0">
                <a:solidFill>
                  <a:schemeClr val="tx1">
                    <a:lumMod val="65000"/>
                    <a:lumOff val="35000"/>
                  </a:schemeClr>
                </a:solidFill>
                <a:latin typeface="BLS Text" pitchFamily="2" charset="-34"/>
                <a:cs typeface="BLS Text" pitchFamily="2" charset="-34"/>
              </a:rPr>
              <a:t>โดยเฉพาะ </a:t>
            </a:r>
            <a:r>
              <a:rPr lang="en-US" sz="1000" dirty="0">
                <a:solidFill>
                  <a:schemeClr val="tx1">
                    <a:lumMod val="65000"/>
                    <a:lumOff val="35000"/>
                  </a:schemeClr>
                </a:solidFill>
                <a:latin typeface="BLS Text" pitchFamily="2" charset="-34"/>
                <a:cs typeface="BLS Text" pitchFamily="2" charset="-34"/>
              </a:rPr>
              <a:t>Retail </a:t>
            </a:r>
            <a:r>
              <a:rPr lang="th-TH" sz="1000" dirty="0">
                <a:solidFill>
                  <a:schemeClr val="tx1">
                    <a:lumMod val="65000"/>
                    <a:lumOff val="35000"/>
                  </a:schemeClr>
                </a:solidFill>
                <a:latin typeface="BLS Text" pitchFamily="2" charset="-34"/>
                <a:cs typeface="BLS Text" pitchFamily="2" charset="-34"/>
              </a:rPr>
              <a:t>และ </a:t>
            </a:r>
            <a:r>
              <a:rPr lang="en-US" sz="1000" dirty="0">
                <a:solidFill>
                  <a:schemeClr val="tx1">
                    <a:lumMod val="65000"/>
                    <a:lumOff val="35000"/>
                  </a:schemeClr>
                </a:solidFill>
                <a:latin typeface="BLS Text" pitchFamily="2" charset="-34"/>
                <a:cs typeface="BLS Text" pitchFamily="2" charset="-34"/>
              </a:rPr>
              <a:t>Food &amp; Beverage </a:t>
            </a:r>
            <a:r>
              <a:rPr lang="th-TH" sz="1000" dirty="0">
                <a:solidFill>
                  <a:schemeClr val="tx1">
                    <a:lumMod val="65000"/>
                    <a:lumOff val="35000"/>
                  </a:schemeClr>
                </a:solidFill>
                <a:latin typeface="BLS Text" pitchFamily="2" charset="-34"/>
                <a:cs typeface="BLS Text" pitchFamily="2" charset="-34"/>
              </a:rPr>
              <a:t>แรงกระทบหลักมาจากทั้งฝั่งต้นทุนและกำลังซื้อที่อ่อนลง โดยค่าไฟฟ้าและโลจิสติกส์ที่สูงขึ้นกด </a:t>
            </a:r>
            <a:r>
              <a:rPr lang="en-US" sz="1000" dirty="0">
                <a:solidFill>
                  <a:schemeClr val="tx1">
                    <a:lumMod val="65000"/>
                    <a:lumOff val="35000"/>
                  </a:schemeClr>
                </a:solidFill>
                <a:latin typeface="BLS Text" pitchFamily="2" charset="-34"/>
                <a:cs typeface="BLS Text" pitchFamily="2" charset="-34"/>
              </a:rPr>
              <a:t>operating cost </a:t>
            </a:r>
            <a:r>
              <a:rPr lang="th-TH" sz="1000" dirty="0">
                <a:solidFill>
                  <a:schemeClr val="tx1">
                    <a:lumMod val="65000"/>
                    <a:lumOff val="35000"/>
                  </a:schemeClr>
                </a:solidFill>
                <a:latin typeface="BLS Text" pitchFamily="2" charset="-34"/>
                <a:cs typeface="BLS Text" pitchFamily="2" charset="-34"/>
              </a:rPr>
              <a:t>ขณะที่ค่าครองชีพที่เพิ่มขึ้นทำให้ </a:t>
            </a:r>
            <a:r>
              <a:rPr lang="en-US" sz="1000" dirty="0">
                <a:solidFill>
                  <a:schemeClr val="tx1">
                    <a:lumMod val="65000"/>
                    <a:lumOff val="35000"/>
                  </a:schemeClr>
                </a:solidFill>
                <a:latin typeface="BLS Text" pitchFamily="2" charset="-34"/>
                <a:cs typeface="BLS Text" pitchFamily="2" charset="-34"/>
              </a:rPr>
              <a:t>discretionary spending </a:t>
            </a:r>
            <a:r>
              <a:rPr lang="th-TH" sz="1000" dirty="0">
                <a:solidFill>
                  <a:schemeClr val="tx1">
                    <a:lumMod val="65000"/>
                    <a:lumOff val="35000"/>
                  </a:schemeClr>
                </a:solidFill>
                <a:latin typeface="BLS Text" pitchFamily="2" charset="-34"/>
                <a:cs typeface="BLS Text" pitchFamily="2" charset="-34"/>
              </a:rPr>
              <a:t>ชะลอลง อย่างไรก็ดี เมื่อเจาะลงในกลุ่มอาหารจะเห็นความแตกต่างของ </a:t>
            </a:r>
            <a:r>
              <a:rPr lang="en-US" sz="1000" dirty="0">
                <a:solidFill>
                  <a:schemeClr val="tx1">
                    <a:lumMod val="65000"/>
                    <a:lumOff val="35000"/>
                  </a:schemeClr>
                </a:solidFill>
                <a:latin typeface="BLS Text" pitchFamily="2" charset="-34"/>
                <a:cs typeface="BLS Text" pitchFamily="2" charset="-34"/>
              </a:rPr>
              <a:t>earnings profile </a:t>
            </a:r>
            <a:r>
              <a:rPr lang="th-TH" sz="1000" dirty="0">
                <a:solidFill>
                  <a:schemeClr val="tx1">
                    <a:lumMod val="65000"/>
                    <a:lumOff val="35000"/>
                  </a:schemeClr>
                </a:solidFill>
                <a:latin typeface="BLS Text" pitchFamily="2" charset="-34"/>
                <a:cs typeface="BLS Text" pitchFamily="2" charset="-34"/>
              </a:rPr>
              <a:t>ชัดเจนตามโครงสร้างธุรกิจ </a:t>
            </a:r>
          </a:p>
          <a:p>
            <a:pPr algn="thaiDist">
              <a:lnSpc>
                <a:spcPct val="120000"/>
              </a:lnSpc>
              <a:spcBef>
                <a:spcPts val="600"/>
              </a:spcBef>
              <a:buSzPct val="120000"/>
            </a:pPr>
            <a:r>
              <a:rPr lang="th-TH" sz="1000" dirty="0">
                <a:solidFill>
                  <a:schemeClr val="tx1">
                    <a:lumMod val="65000"/>
                    <a:lumOff val="35000"/>
                  </a:schemeClr>
                </a:solidFill>
                <a:latin typeface="BLS Text" pitchFamily="2" charset="-34"/>
                <a:cs typeface="BLS Text" pitchFamily="2" charset="-34"/>
              </a:rPr>
              <a:t>โดย ผู้ผลิตเนื้อสัตว์ (</a:t>
            </a:r>
            <a:r>
              <a:rPr lang="en-US" sz="1000" dirty="0">
                <a:solidFill>
                  <a:schemeClr val="tx1">
                    <a:lumMod val="65000"/>
                    <a:lumOff val="35000"/>
                  </a:schemeClr>
                </a:solidFill>
                <a:latin typeface="BLS Text" pitchFamily="2" charset="-34"/>
                <a:cs typeface="BLS Text" pitchFamily="2" charset="-34"/>
              </a:rPr>
              <a:t>meat producers) </a:t>
            </a:r>
            <a:r>
              <a:rPr lang="th-TH" sz="1000" dirty="0">
                <a:solidFill>
                  <a:schemeClr val="tx1">
                    <a:lumMod val="65000"/>
                    <a:lumOff val="35000"/>
                  </a:schemeClr>
                </a:solidFill>
                <a:latin typeface="BLS Text" pitchFamily="2" charset="-34"/>
                <a:cs typeface="BLS Text" pitchFamily="2" charset="-34"/>
              </a:rPr>
              <a:t>อาจได้อานิสงส์ระยะสั้นจากความสามารถในการปรับราคาสินค้าได้ค่อนข้างเร็ว ประกอบกับการมีสต็อกต้นทุนเดิม (</a:t>
            </a:r>
            <a:r>
              <a:rPr lang="en-US" sz="1000" dirty="0">
                <a:solidFill>
                  <a:schemeClr val="tx1">
                    <a:lumMod val="65000"/>
                    <a:lumOff val="35000"/>
                  </a:schemeClr>
                </a:solidFill>
                <a:latin typeface="BLS Text" pitchFamily="2" charset="-34"/>
                <a:cs typeface="BLS Text" pitchFamily="2" charset="-34"/>
              </a:rPr>
              <a:t>lower-cost inventory) </a:t>
            </a:r>
            <a:r>
              <a:rPr lang="th-TH" sz="1000" dirty="0">
                <a:solidFill>
                  <a:schemeClr val="tx1">
                    <a:lumMod val="65000"/>
                    <a:lumOff val="35000"/>
                  </a:schemeClr>
                </a:solidFill>
                <a:latin typeface="BLS Text" pitchFamily="2" charset="-34"/>
                <a:cs typeface="BLS Text" pitchFamily="2" charset="-34"/>
              </a:rPr>
              <a:t>ทำให้ </a:t>
            </a:r>
            <a:r>
              <a:rPr lang="en-US" sz="1000" dirty="0">
                <a:solidFill>
                  <a:schemeClr val="tx1">
                    <a:lumMod val="65000"/>
                    <a:lumOff val="35000"/>
                  </a:schemeClr>
                </a:solidFill>
                <a:latin typeface="BLS Text" pitchFamily="2" charset="-34"/>
                <a:cs typeface="BLS Text" pitchFamily="2" charset="-34"/>
              </a:rPr>
              <a:t>margin </a:t>
            </a:r>
            <a:r>
              <a:rPr lang="th-TH" sz="1000" dirty="0">
                <a:solidFill>
                  <a:schemeClr val="tx1">
                    <a:lumMod val="65000"/>
                    <a:lumOff val="35000"/>
                  </a:schemeClr>
                </a:solidFill>
                <a:latin typeface="BLS Text" pitchFamily="2" charset="-34"/>
                <a:cs typeface="BLS Text" pitchFamily="2" charset="-34"/>
              </a:rPr>
              <a:t>อาจขยายตัวชั่วคราวในช่วงที่ราคาขายปรับขึ้นเร็วกว่าต้นทุนใหม่ ก่อนที่แรงกดดันจะค่อยๆ กลับมาเมื่อวัตถุดิบล็อตใหม่เข้าสู่ระบบ </a:t>
            </a:r>
          </a:p>
          <a:p>
            <a:pPr algn="thaiDist">
              <a:lnSpc>
                <a:spcPct val="120000"/>
              </a:lnSpc>
              <a:spcBef>
                <a:spcPts val="600"/>
              </a:spcBef>
              <a:buSzPct val="120000"/>
            </a:pPr>
            <a:r>
              <a:rPr lang="th-TH" sz="1000" dirty="0">
                <a:solidFill>
                  <a:schemeClr val="tx1">
                    <a:lumMod val="65000"/>
                    <a:lumOff val="35000"/>
                  </a:schemeClr>
                </a:solidFill>
                <a:latin typeface="BLS Text" pitchFamily="2" charset="-34"/>
                <a:cs typeface="BLS Text" pitchFamily="2" charset="-34"/>
              </a:rPr>
              <a:t>ขณะที่ ธุรกิจร้านอาหาร เผชิญแรงกดดันมากกว่า เนื่องจากต้นทุนวัตถุดิบและพลังงานเพิ่มขึ้นพร้อมกัน แต่การปรับราคาขายทำได้จำกัดและมีความเสี่ยงต่อ </a:t>
            </a:r>
            <a:r>
              <a:rPr lang="en-US" sz="1000" dirty="0">
                <a:solidFill>
                  <a:schemeClr val="tx1">
                    <a:lumMod val="65000"/>
                    <a:lumOff val="35000"/>
                  </a:schemeClr>
                </a:solidFill>
                <a:latin typeface="BLS Text" pitchFamily="2" charset="-34"/>
                <a:cs typeface="BLS Text" pitchFamily="2" charset="-34"/>
              </a:rPr>
              <a:t>traffic </a:t>
            </a:r>
            <a:r>
              <a:rPr lang="th-TH" sz="1000" dirty="0">
                <a:solidFill>
                  <a:schemeClr val="tx1">
                    <a:lumMod val="65000"/>
                    <a:lumOff val="35000"/>
                  </a:schemeClr>
                </a:solidFill>
                <a:latin typeface="BLS Text" pitchFamily="2" charset="-34"/>
                <a:cs typeface="BLS Text" pitchFamily="2" charset="-34"/>
              </a:rPr>
              <a:t>ส่งผลให้ </a:t>
            </a:r>
            <a:r>
              <a:rPr lang="en-US" sz="1000" dirty="0">
                <a:solidFill>
                  <a:schemeClr val="tx1">
                    <a:lumMod val="65000"/>
                    <a:lumOff val="35000"/>
                  </a:schemeClr>
                </a:solidFill>
                <a:latin typeface="BLS Text" pitchFamily="2" charset="-34"/>
                <a:cs typeface="BLS Text" pitchFamily="2" charset="-34"/>
              </a:rPr>
              <a:t>operating margin </a:t>
            </a:r>
            <a:r>
              <a:rPr lang="th-TH" sz="1000" dirty="0">
                <a:solidFill>
                  <a:schemeClr val="tx1">
                    <a:lumMod val="65000"/>
                    <a:lumOff val="35000"/>
                  </a:schemeClr>
                </a:solidFill>
                <a:latin typeface="BLS Text" pitchFamily="2" charset="-34"/>
                <a:cs typeface="BLS Text" pitchFamily="2" charset="-34"/>
              </a:rPr>
              <a:t>ถูก </a:t>
            </a:r>
            <a:r>
              <a:rPr lang="en-US" sz="1000" dirty="0">
                <a:solidFill>
                  <a:schemeClr val="tx1">
                    <a:lumMod val="65000"/>
                    <a:lumOff val="35000"/>
                  </a:schemeClr>
                </a:solidFill>
                <a:latin typeface="BLS Text" pitchFamily="2" charset="-34"/>
                <a:cs typeface="BLS Text" pitchFamily="2" charset="-34"/>
              </a:rPr>
              <a:t>squeeze </a:t>
            </a:r>
            <a:r>
              <a:rPr lang="th-TH" sz="1000" dirty="0">
                <a:solidFill>
                  <a:schemeClr val="tx1">
                    <a:lumMod val="65000"/>
                    <a:lumOff val="35000"/>
                  </a:schemeClr>
                </a:solidFill>
                <a:latin typeface="BLS Text" pitchFamily="2" charset="-34"/>
                <a:cs typeface="BLS Text" pitchFamily="2" charset="-34"/>
              </a:rPr>
              <a:t>ในระยะสั้น ส่วน กลุ่มเครื่องดื่ม (</a:t>
            </a:r>
            <a:r>
              <a:rPr lang="en-US" sz="1000" dirty="0">
                <a:solidFill>
                  <a:schemeClr val="tx1">
                    <a:lumMod val="65000"/>
                    <a:lumOff val="35000"/>
                  </a:schemeClr>
                </a:solidFill>
                <a:latin typeface="BLS Text" pitchFamily="2" charset="-34"/>
                <a:cs typeface="BLS Text" pitchFamily="2" charset="-34"/>
              </a:rPr>
              <a:t>beverage) </a:t>
            </a:r>
            <a:r>
              <a:rPr lang="th-TH" sz="1000" dirty="0">
                <a:solidFill>
                  <a:schemeClr val="tx1">
                    <a:lumMod val="65000"/>
                    <a:lumOff val="35000"/>
                  </a:schemeClr>
                </a:solidFill>
                <a:latin typeface="BLS Text" pitchFamily="2" charset="-34"/>
                <a:cs typeface="BLS Text" pitchFamily="2" charset="-34"/>
              </a:rPr>
              <a:t>เผชิญ </a:t>
            </a:r>
            <a:r>
              <a:rPr lang="en-US" sz="1000" dirty="0">
                <a:solidFill>
                  <a:schemeClr val="tx1">
                    <a:lumMod val="65000"/>
                    <a:lumOff val="35000"/>
                  </a:schemeClr>
                </a:solidFill>
                <a:latin typeface="BLS Text" pitchFamily="2" charset="-34"/>
                <a:cs typeface="BLS Text" pitchFamily="2" charset="-34"/>
              </a:rPr>
              <a:t>cost pressure </a:t>
            </a:r>
            <a:r>
              <a:rPr lang="th-TH" sz="1000" dirty="0">
                <a:solidFill>
                  <a:schemeClr val="tx1">
                    <a:lumMod val="65000"/>
                    <a:lumOff val="35000"/>
                  </a:schemeClr>
                </a:solidFill>
                <a:latin typeface="BLS Text" pitchFamily="2" charset="-34"/>
                <a:cs typeface="BLS Text" pitchFamily="2" charset="-34"/>
              </a:rPr>
              <a:t>จากบรรจุภัณฑ์เป็นหลัก โดยเฉพาะอะลูมิเนียมและพลาสติกที่ผูกกับราคาพลังงาน ทำให้ </a:t>
            </a:r>
            <a:r>
              <a:rPr lang="en-US" sz="1000" dirty="0">
                <a:solidFill>
                  <a:schemeClr val="tx1">
                    <a:lumMod val="65000"/>
                    <a:lumOff val="35000"/>
                  </a:schemeClr>
                </a:solidFill>
                <a:latin typeface="BLS Text" pitchFamily="2" charset="-34"/>
                <a:cs typeface="BLS Text" pitchFamily="2" charset="-34"/>
              </a:rPr>
              <a:t>gross margin </a:t>
            </a:r>
            <a:r>
              <a:rPr lang="th-TH" sz="1000" dirty="0">
                <a:solidFill>
                  <a:schemeClr val="tx1">
                    <a:lumMod val="65000"/>
                    <a:lumOff val="35000"/>
                  </a:schemeClr>
                </a:solidFill>
                <a:latin typeface="BLS Text" pitchFamily="2" charset="-34"/>
                <a:cs typeface="BLS Text" pitchFamily="2" charset="-34"/>
              </a:rPr>
              <a:t>ถูกกดดัน</a:t>
            </a:r>
          </a:p>
          <a:p>
            <a:pPr algn="thaiDist">
              <a:lnSpc>
                <a:spcPct val="120000"/>
              </a:lnSpc>
              <a:spcBef>
                <a:spcPts val="600"/>
              </a:spcBef>
              <a:buSzPct val="120000"/>
            </a:pPr>
            <a:r>
              <a:rPr lang="th-TH" sz="1000" dirty="0">
                <a:solidFill>
                  <a:schemeClr val="tx1">
                    <a:lumMod val="65000"/>
                    <a:lumOff val="35000"/>
                  </a:schemeClr>
                </a:solidFill>
                <a:latin typeface="BLS Text" pitchFamily="2" charset="-34"/>
                <a:cs typeface="BLS Text" pitchFamily="2" charset="-34"/>
              </a:rPr>
              <a:t>ขณะที่ </a:t>
            </a:r>
            <a:r>
              <a:rPr lang="en-US" sz="1000" dirty="0">
                <a:solidFill>
                  <a:schemeClr val="tx1">
                    <a:lumMod val="65000"/>
                    <a:lumOff val="35000"/>
                  </a:schemeClr>
                </a:solidFill>
                <a:latin typeface="BLS Text" pitchFamily="2" charset="-34"/>
                <a:cs typeface="BLS Text" pitchFamily="2" charset="-34"/>
              </a:rPr>
              <a:t>ICT</a:t>
            </a:r>
            <a:r>
              <a:rPr lang="th-TH" sz="1000" dirty="0">
                <a:solidFill>
                  <a:schemeClr val="tx1">
                    <a:lumMod val="65000"/>
                    <a:lumOff val="35000"/>
                  </a:schemeClr>
                </a:solidFill>
                <a:latin typeface="BLS Text" pitchFamily="2" charset="-34"/>
                <a:cs typeface="BLS Text" pitchFamily="2" charset="-34"/>
              </a:rPr>
              <a:t> ยังคงเป็นหนึ่งในกลุ่มที่มีความเป็น </a:t>
            </a:r>
            <a:r>
              <a:rPr lang="en-US" sz="1000" dirty="0">
                <a:solidFill>
                  <a:schemeClr val="tx1">
                    <a:lumMod val="65000"/>
                    <a:lumOff val="35000"/>
                  </a:schemeClr>
                </a:solidFill>
                <a:latin typeface="BLS Text" pitchFamily="2" charset="-34"/>
                <a:cs typeface="BLS Text" pitchFamily="2" charset="-34"/>
              </a:rPr>
              <a:t>defensive </a:t>
            </a:r>
            <a:r>
              <a:rPr lang="th-TH" sz="1000" dirty="0">
                <a:solidFill>
                  <a:schemeClr val="tx1">
                    <a:lumMod val="65000"/>
                    <a:lumOff val="35000"/>
                  </a:schemeClr>
                </a:solidFill>
                <a:latin typeface="BLS Text" pitchFamily="2" charset="-34"/>
                <a:cs typeface="BLS Text" pitchFamily="2" charset="-34"/>
              </a:rPr>
              <a:t>สูงสุดในบริบทของ </a:t>
            </a:r>
            <a:r>
              <a:rPr lang="en-US" sz="1000" dirty="0">
                <a:solidFill>
                  <a:schemeClr val="tx1">
                    <a:lumMod val="65000"/>
                    <a:lumOff val="35000"/>
                  </a:schemeClr>
                </a:solidFill>
                <a:latin typeface="BLS Text" pitchFamily="2" charset="-34"/>
                <a:cs typeface="BLS Text" pitchFamily="2" charset="-34"/>
              </a:rPr>
              <a:t>shock </a:t>
            </a:r>
            <a:r>
              <a:rPr lang="th-TH" sz="1000" dirty="0">
                <a:solidFill>
                  <a:schemeClr val="tx1">
                    <a:lumMod val="65000"/>
                    <a:lumOff val="35000"/>
                  </a:schemeClr>
                </a:solidFill>
                <a:latin typeface="BLS Text" pitchFamily="2" charset="-34"/>
                <a:cs typeface="BLS Text" pitchFamily="2" charset="-34"/>
              </a:rPr>
              <a:t>รอบนี้ เนื่องจากโครงสร้างรายได้เป็น </a:t>
            </a:r>
            <a:r>
              <a:rPr lang="en-US" sz="1000" dirty="0">
                <a:solidFill>
                  <a:schemeClr val="tx1">
                    <a:lumMod val="65000"/>
                    <a:lumOff val="35000"/>
                  </a:schemeClr>
                </a:solidFill>
                <a:latin typeface="BLS Text" pitchFamily="2" charset="-34"/>
                <a:cs typeface="BLS Text" pitchFamily="2" charset="-34"/>
              </a:rPr>
              <a:t>recurring cash flow </a:t>
            </a:r>
            <a:r>
              <a:rPr lang="th-TH" sz="1000" dirty="0">
                <a:solidFill>
                  <a:schemeClr val="tx1">
                    <a:lumMod val="65000"/>
                    <a:lumOff val="35000"/>
                  </a:schemeClr>
                </a:solidFill>
                <a:latin typeface="BLS Text" pitchFamily="2" charset="-34"/>
                <a:cs typeface="BLS Text" pitchFamily="2" charset="-34"/>
              </a:rPr>
              <a:t>และผูกกับการใช้งานในประเทศเป็นหลัก (</a:t>
            </a:r>
            <a:r>
              <a:rPr lang="en-US" sz="1000" dirty="0">
                <a:solidFill>
                  <a:schemeClr val="tx1">
                    <a:lumMod val="65000"/>
                    <a:lumOff val="35000"/>
                  </a:schemeClr>
                </a:solidFill>
                <a:latin typeface="BLS Text" pitchFamily="2" charset="-34"/>
                <a:cs typeface="BLS Text" pitchFamily="2" charset="-34"/>
              </a:rPr>
              <a:t>domestic demand-driven) </a:t>
            </a:r>
            <a:r>
              <a:rPr lang="th-TH" sz="1000" dirty="0">
                <a:solidFill>
                  <a:schemeClr val="tx1">
                    <a:lumMod val="65000"/>
                    <a:lumOff val="35000"/>
                  </a:schemeClr>
                </a:solidFill>
                <a:latin typeface="BLS Text" pitchFamily="2" charset="-34"/>
                <a:cs typeface="BLS Text" pitchFamily="2" charset="-34"/>
              </a:rPr>
              <a:t>ไม่ได้อิงกับวัฏ-</a:t>
            </a:r>
          </a:p>
        </p:txBody>
      </p:sp>
      <p:sp>
        <p:nvSpPr>
          <p:cNvPr id="9" name="TextBox 8">
            <a:extLst>
              <a:ext uri="{FF2B5EF4-FFF2-40B4-BE49-F238E27FC236}">
                <a16:creationId xmlns:a16="http://schemas.microsoft.com/office/drawing/2014/main" id="{7F0E0049-F914-8FCF-8D71-9FBC04845A5D}"/>
              </a:ext>
            </a:extLst>
          </p:cNvPr>
          <p:cNvSpPr txBox="1"/>
          <p:nvPr/>
        </p:nvSpPr>
        <p:spPr>
          <a:xfrm>
            <a:off x="319628" y="899592"/>
            <a:ext cx="3095782" cy="8156079"/>
          </a:xfrm>
          <a:prstGeom prst="rect">
            <a:avLst/>
          </a:prstGeom>
          <a:noFill/>
          <a:ln>
            <a:noFill/>
          </a:ln>
        </p:spPr>
        <p:txBody>
          <a:bodyPr wrap="square" rtlCol="0">
            <a:spAutoFit/>
          </a:bodyPr>
          <a:lstStyle/>
          <a:p>
            <a:pPr algn="thaiDist">
              <a:lnSpc>
                <a:spcPct val="120000"/>
              </a:lnSpc>
              <a:spcBef>
                <a:spcPts val="600"/>
              </a:spcBef>
              <a:buSzPct val="120000"/>
            </a:pPr>
            <a:r>
              <a:rPr lang="en-US" sz="1000" b="1" dirty="0">
                <a:solidFill>
                  <a:schemeClr val="tx1">
                    <a:lumMod val="65000"/>
                    <a:lumOff val="35000"/>
                  </a:schemeClr>
                </a:solidFill>
                <a:latin typeface="BLS Text" pitchFamily="2" charset="-34"/>
                <a:cs typeface="BLS Text" pitchFamily="2" charset="-34"/>
              </a:rPr>
              <a:t>Sector impact assessment – From cost shock to earnings redistribution: </a:t>
            </a:r>
            <a:r>
              <a:rPr lang="th-TH" sz="1000" dirty="0">
                <a:solidFill>
                  <a:schemeClr val="tx1">
                    <a:lumMod val="65000"/>
                    <a:lumOff val="35000"/>
                  </a:schemeClr>
                </a:solidFill>
                <a:latin typeface="BLS Text" pitchFamily="2" charset="-34"/>
                <a:cs typeface="BLS Text" pitchFamily="2" charset="-34"/>
              </a:rPr>
              <a:t>ในภาวะสงคราม ผลกระทบต่อกำไรของตลาดหุ้นไทยไม่ได้เท่ากันทุกอุตสาหกรรม แต่จะแตกต่างกันตาม 3 ช่องทางหลัก ได้แก่ ต้นทุนพลังงานที่เพิ่มขึ้น (</a:t>
            </a:r>
            <a:r>
              <a:rPr lang="en-US" sz="1000" dirty="0">
                <a:solidFill>
                  <a:schemeClr val="tx1">
                    <a:lumMod val="65000"/>
                    <a:lumOff val="35000"/>
                  </a:schemeClr>
                </a:solidFill>
                <a:latin typeface="BLS Text" pitchFamily="2" charset="-34"/>
                <a:cs typeface="BLS Text" pitchFamily="2" charset="-34"/>
              </a:rPr>
              <a:t>cost shock), </a:t>
            </a:r>
            <a:r>
              <a:rPr lang="th-TH" sz="1000" dirty="0">
                <a:solidFill>
                  <a:schemeClr val="tx1">
                    <a:lumMod val="65000"/>
                    <a:lumOff val="35000"/>
                  </a:schemeClr>
                </a:solidFill>
                <a:latin typeface="BLS Text" pitchFamily="2" charset="-34"/>
                <a:cs typeface="BLS Text" pitchFamily="2" charset="-34"/>
              </a:rPr>
              <a:t>การหยุดชะงักของ </a:t>
            </a:r>
            <a:r>
              <a:rPr lang="en-US" sz="1000" dirty="0">
                <a:solidFill>
                  <a:schemeClr val="tx1">
                    <a:lumMod val="65000"/>
                    <a:lumOff val="35000"/>
                  </a:schemeClr>
                </a:solidFill>
                <a:latin typeface="BLS Text" pitchFamily="2" charset="-34"/>
                <a:cs typeface="BLS Text" pitchFamily="2" charset="-34"/>
              </a:rPr>
              <a:t>supply chain </a:t>
            </a:r>
            <a:r>
              <a:rPr lang="th-TH" sz="1000" dirty="0">
                <a:solidFill>
                  <a:schemeClr val="tx1">
                    <a:lumMod val="65000"/>
                    <a:lumOff val="35000"/>
                  </a:schemeClr>
                </a:solidFill>
                <a:latin typeface="BLS Text" pitchFamily="2" charset="-34"/>
                <a:cs typeface="BLS Text" pitchFamily="2" charset="-34"/>
              </a:rPr>
              <a:t>และการเปลี่ยนแปลงของอุปสงค์/การเดินทาง (</a:t>
            </a:r>
            <a:r>
              <a:rPr lang="en-US" sz="1000" dirty="0">
                <a:solidFill>
                  <a:schemeClr val="tx1">
                    <a:lumMod val="65000"/>
                    <a:lumOff val="35000"/>
                  </a:schemeClr>
                </a:solidFill>
                <a:latin typeface="BLS Text" pitchFamily="2" charset="-34"/>
                <a:cs typeface="BLS Text" pitchFamily="2" charset="-34"/>
              </a:rPr>
              <a:t>demand &amp; mobility) </a:t>
            </a:r>
            <a:r>
              <a:rPr lang="th-TH" sz="1000" dirty="0">
                <a:solidFill>
                  <a:schemeClr val="tx1">
                    <a:lumMod val="65000"/>
                    <a:lumOff val="35000"/>
                  </a:schemeClr>
                </a:solidFill>
                <a:latin typeface="BLS Text" pitchFamily="2" charset="-34"/>
                <a:cs typeface="BLS Text" pitchFamily="2" charset="-34"/>
              </a:rPr>
              <a:t>ส่งผลให้เกิดความแตกต่างเชิงโครงสร้างระหว่าง “ผู้ได้ประโยชน์”, “กลุ่มที่ </a:t>
            </a:r>
            <a:r>
              <a:rPr lang="en-US" sz="1000" dirty="0">
                <a:solidFill>
                  <a:schemeClr val="tx1">
                    <a:lumMod val="65000"/>
                    <a:lumOff val="35000"/>
                  </a:schemeClr>
                </a:solidFill>
                <a:latin typeface="BLS Text" pitchFamily="2" charset="-34"/>
                <a:cs typeface="BLS Text" pitchFamily="2" charset="-34"/>
              </a:rPr>
              <a:t>margin </a:t>
            </a:r>
            <a:r>
              <a:rPr lang="th-TH" sz="1000" dirty="0">
                <a:solidFill>
                  <a:schemeClr val="tx1">
                    <a:lumMod val="65000"/>
                    <a:lumOff val="35000"/>
                  </a:schemeClr>
                </a:solidFill>
                <a:latin typeface="BLS Text" pitchFamily="2" charset="-34"/>
                <a:cs typeface="BLS Text" pitchFamily="2" charset="-34"/>
              </a:rPr>
              <a:t>ถูกกดดัน” และ “กลุ่มที่มีความทนทาน” มากกว่าการปรับตัวลงทั้งตลาด กล่าวอีกนัยหนึ่ง นี่ไม่ใช่ </a:t>
            </a:r>
            <a:r>
              <a:rPr lang="en-US" sz="1000" dirty="0">
                <a:solidFill>
                  <a:schemeClr val="tx1">
                    <a:lumMod val="65000"/>
                    <a:lumOff val="35000"/>
                  </a:schemeClr>
                </a:solidFill>
                <a:latin typeface="BLS Text" pitchFamily="2" charset="-34"/>
                <a:cs typeface="BLS Text" pitchFamily="2" charset="-34"/>
              </a:rPr>
              <a:t>earnings contraction</a:t>
            </a:r>
            <a:r>
              <a:rPr lang="th-TH" sz="1000" dirty="0">
                <a:solidFill>
                  <a:schemeClr val="tx1">
                    <a:lumMod val="65000"/>
                    <a:lumOff val="35000"/>
                  </a:schemeClr>
                </a:solidFill>
                <a:latin typeface="BLS Text" pitchFamily="2" charset="-34"/>
                <a:cs typeface="BLS Text" pitchFamily="2" charset="-34"/>
              </a:rPr>
              <a:t> ทั้งระบบ แต่เป็น </a:t>
            </a:r>
            <a:r>
              <a:rPr lang="en-US" sz="1000" dirty="0">
                <a:solidFill>
                  <a:schemeClr val="tx1">
                    <a:lumMod val="65000"/>
                    <a:lumOff val="35000"/>
                  </a:schemeClr>
                </a:solidFill>
                <a:latin typeface="BLS Text" pitchFamily="2" charset="-34"/>
                <a:cs typeface="BLS Text" pitchFamily="2" charset="-34"/>
              </a:rPr>
              <a:t>earnings redistribution </a:t>
            </a:r>
            <a:r>
              <a:rPr lang="th-TH" sz="1000" dirty="0">
                <a:solidFill>
                  <a:schemeClr val="tx1">
                    <a:lumMod val="65000"/>
                    <a:lumOff val="35000"/>
                  </a:schemeClr>
                </a:solidFill>
                <a:latin typeface="BLS Text" pitchFamily="2" charset="-34"/>
                <a:cs typeface="BLS Text" pitchFamily="2" charset="-34"/>
              </a:rPr>
              <a:t>ตาม </a:t>
            </a:r>
            <a:r>
              <a:rPr lang="en-US" sz="1000" dirty="0">
                <a:solidFill>
                  <a:schemeClr val="tx1">
                    <a:lumMod val="65000"/>
                    <a:lumOff val="35000"/>
                  </a:schemeClr>
                </a:solidFill>
                <a:latin typeface="BLS Text" pitchFamily="2" charset="-34"/>
                <a:cs typeface="BLS Text" pitchFamily="2" charset="-34"/>
              </a:rPr>
              <a:t>business model </a:t>
            </a:r>
            <a:endParaRPr lang="th-TH" sz="1000" dirty="0">
              <a:solidFill>
                <a:schemeClr val="tx1">
                  <a:lumMod val="65000"/>
                  <a:lumOff val="35000"/>
                </a:schemeClr>
              </a:solidFill>
              <a:latin typeface="BLS Text" pitchFamily="2" charset="-34"/>
              <a:cs typeface="BLS Text" pitchFamily="2" charset="-34"/>
            </a:endParaRPr>
          </a:p>
          <a:p>
            <a:pPr algn="thaiDist">
              <a:lnSpc>
                <a:spcPct val="120000"/>
              </a:lnSpc>
              <a:spcBef>
                <a:spcPts val="600"/>
              </a:spcBef>
              <a:buSzPct val="120000"/>
            </a:pPr>
            <a:r>
              <a:rPr lang="th-TH" sz="1000" dirty="0">
                <a:solidFill>
                  <a:schemeClr val="tx1">
                    <a:lumMod val="65000"/>
                    <a:lumOff val="35000"/>
                  </a:schemeClr>
                </a:solidFill>
                <a:latin typeface="BLS Text" pitchFamily="2" charset="-34"/>
                <a:cs typeface="BLS Text" pitchFamily="2" charset="-34"/>
              </a:rPr>
              <a:t>ในฝั่ง </a:t>
            </a:r>
            <a:r>
              <a:rPr lang="en-US" sz="1000" dirty="0">
                <a:solidFill>
                  <a:schemeClr val="tx1">
                    <a:lumMod val="65000"/>
                    <a:lumOff val="35000"/>
                  </a:schemeClr>
                </a:solidFill>
                <a:latin typeface="BLS Text" pitchFamily="2" charset="-34"/>
                <a:cs typeface="BLS Text" pitchFamily="2" charset="-34"/>
              </a:rPr>
              <a:t>Energy complex </a:t>
            </a:r>
            <a:r>
              <a:rPr lang="th-TH" sz="1000" dirty="0">
                <a:solidFill>
                  <a:schemeClr val="tx1">
                    <a:lumMod val="65000"/>
                    <a:lumOff val="35000"/>
                  </a:schemeClr>
                </a:solidFill>
                <a:latin typeface="BLS Text" pitchFamily="2" charset="-34"/>
                <a:cs typeface="BLS Text" pitchFamily="2" charset="-34"/>
              </a:rPr>
              <a:t>ถือเป็นผู้ได้ประโยชน์ชัดเจนที่สุด โดยเฉพาะธุรกิจ </a:t>
            </a:r>
            <a:r>
              <a:rPr lang="en-US" sz="1000" dirty="0">
                <a:solidFill>
                  <a:schemeClr val="tx1">
                    <a:lumMod val="65000"/>
                    <a:lumOff val="35000"/>
                  </a:schemeClr>
                </a:solidFill>
                <a:latin typeface="BLS Text" pitchFamily="2" charset="-34"/>
                <a:cs typeface="BLS Text" pitchFamily="2" charset="-34"/>
              </a:rPr>
              <a:t>upstream</a:t>
            </a:r>
            <a:r>
              <a:rPr lang="th-TH" sz="1000" dirty="0">
                <a:solidFill>
                  <a:schemeClr val="tx1">
                    <a:lumMod val="65000"/>
                    <a:lumOff val="35000"/>
                  </a:schemeClr>
                </a:solidFill>
                <a:latin typeface="BLS Text" pitchFamily="2" charset="-34"/>
                <a:cs typeface="BLS Text" pitchFamily="2" charset="-34"/>
              </a:rPr>
              <a:t> </a:t>
            </a:r>
            <a:r>
              <a:rPr lang="en-US" sz="1000" dirty="0">
                <a:solidFill>
                  <a:schemeClr val="tx1">
                    <a:lumMod val="65000"/>
                    <a:lumOff val="35000"/>
                  </a:schemeClr>
                </a:solidFill>
                <a:latin typeface="BLS Text" pitchFamily="2" charset="-34"/>
                <a:cs typeface="BLS Text" pitchFamily="2" charset="-34"/>
              </a:rPr>
              <a:t>(</a:t>
            </a:r>
            <a:r>
              <a:rPr lang="th-TH" sz="1000" dirty="0">
                <a:solidFill>
                  <a:schemeClr val="tx1">
                    <a:lumMod val="65000"/>
                    <a:lumOff val="35000"/>
                  </a:schemeClr>
                </a:solidFill>
                <a:latin typeface="BLS Text" pitchFamily="2" charset="-34"/>
                <a:cs typeface="BLS Text" pitchFamily="2" charset="-34"/>
              </a:rPr>
              <a:t>สำรวจและผลิต) อย่าง</a:t>
            </a:r>
            <a:r>
              <a:rPr lang="en-US" sz="1000" dirty="0">
                <a:solidFill>
                  <a:schemeClr val="tx1">
                    <a:lumMod val="65000"/>
                    <a:lumOff val="35000"/>
                  </a:schemeClr>
                </a:solidFill>
                <a:latin typeface="BLS Text" pitchFamily="2" charset="-34"/>
                <a:cs typeface="BLS Text" pitchFamily="2" charset="-34"/>
              </a:rPr>
              <a:t> PTTEP</a:t>
            </a:r>
            <a:r>
              <a:rPr lang="th-TH" sz="1000" dirty="0">
                <a:solidFill>
                  <a:schemeClr val="tx1">
                    <a:lumMod val="65000"/>
                    <a:lumOff val="35000"/>
                  </a:schemeClr>
                </a:solidFill>
                <a:latin typeface="BLS Text" pitchFamily="2" charset="-34"/>
                <a:cs typeface="BLS Text" pitchFamily="2" charset="-34"/>
              </a:rPr>
              <a:t> ที่ </a:t>
            </a:r>
            <a:r>
              <a:rPr lang="en-US" sz="1000" dirty="0">
                <a:solidFill>
                  <a:schemeClr val="tx1">
                    <a:lumMod val="65000"/>
                    <a:lumOff val="35000"/>
                  </a:schemeClr>
                </a:solidFill>
                <a:latin typeface="BLS Text" pitchFamily="2" charset="-34"/>
                <a:cs typeface="BLS Text" pitchFamily="2" charset="-34"/>
              </a:rPr>
              <a:t>monetize </a:t>
            </a:r>
            <a:r>
              <a:rPr lang="th-TH" sz="1000" dirty="0">
                <a:solidFill>
                  <a:schemeClr val="tx1">
                    <a:lumMod val="65000"/>
                    <a:lumOff val="35000"/>
                  </a:schemeClr>
                </a:solidFill>
                <a:latin typeface="BLS Text" pitchFamily="2" charset="-34"/>
                <a:cs typeface="BLS Text" pitchFamily="2" charset="-34"/>
              </a:rPr>
              <a:t>ราคาน้ำมันและก๊าซที่สูงขึ้นได้โดยตรง ขณะที่ธุรกิจโรงกลั่น</a:t>
            </a:r>
            <a:r>
              <a:rPr lang="en-US" sz="1000" dirty="0">
                <a:solidFill>
                  <a:schemeClr val="tx1">
                    <a:lumMod val="65000"/>
                    <a:lumOff val="35000"/>
                  </a:schemeClr>
                </a:solidFill>
                <a:latin typeface="BLS Text" pitchFamily="2" charset="-34"/>
                <a:cs typeface="BLS Text" pitchFamily="2" charset="-34"/>
              </a:rPr>
              <a:t> </a:t>
            </a:r>
            <a:r>
              <a:rPr lang="th-TH" sz="1000" dirty="0">
                <a:solidFill>
                  <a:schemeClr val="tx1">
                    <a:lumMod val="65000"/>
                    <a:lumOff val="35000"/>
                  </a:schemeClr>
                </a:solidFill>
                <a:latin typeface="BLS Text" pitchFamily="2" charset="-34"/>
                <a:cs typeface="BLS Text" pitchFamily="2" charset="-34"/>
              </a:rPr>
              <a:t>เช่น </a:t>
            </a:r>
            <a:r>
              <a:rPr lang="en-US" sz="1000" dirty="0">
                <a:solidFill>
                  <a:schemeClr val="tx1">
                    <a:lumMod val="65000"/>
                    <a:lumOff val="35000"/>
                  </a:schemeClr>
                </a:solidFill>
                <a:latin typeface="BLS Text" pitchFamily="2" charset="-34"/>
                <a:cs typeface="BLS Text" pitchFamily="2" charset="-34"/>
              </a:rPr>
              <a:t>TOP, SPRC </a:t>
            </a:r>
            <a:r>
              <a:rPr lang="th-TH" sz="1000" dirty="0">
                <a:solidFill>
                  <a:schemeClr val="tx1">
                    <a:lumMod val="65000"/>
                    <a:lumOff val="35000"/>
                  </a:schemeClr>
                </a:solidFill>
                <a:latin typeface="BLS Text" pitchFamily="2" charset="-34"/>
                <a:cs typeface="BLS Text" pitchFamily="2" charset="-34"/>
              </a:rPr>
              <a:t>ได้รับแรงหนุนจากค่าการกลั่นที่ดีขึ้นตามภาวะ </a:t>
            </a:r>
            <a:r>
              <a:rPr lang="en-US" sz="1000" dirty="0">
                <a:solidFill>
                  <a:schemeClr val="tx1">
                    <a:lumMod val="65000"/>
                    <a:lumOff val="35000"/>
                  </a:schemeClr>
                </a:solidFill>
                <a:latin typeface="BLS Text" pitchFamily="2" charset="-34"/>
                <a:cs typeface="BLS Text" pitchFamily="2" charset="-34"/>
              </a:rPr>
              <a:t>supply </a:t>
            </a:r>
            <a:r>
              <a:rPr lang="th-TH" sz="1000" dirty="0">
                <a:solidFill>
                  <a:schemeClr val="tx1">
                    <a:lumMod val="65000"/>
                    <a:lumOff val="35000"/>
                  </a:schemeClr>
                </a:solidFill>
                <a:latin typeface="BLS Text" pitchFamily="2" charset="-34"/>
                <a:cs typeface="BLS Text" pitchFamily="2" charset="-34"/>
              </a:rPr>
              <a:t>ตึงตัว อย่างไรก็ตาม หากลงลึกไปที่ </a:t>
            </a:r>
            <a:r>
              <a:rPr lang="en-US" sz="1000" dirty="0">
                <a:solidFill>
                  <a:schemeClr val="tx1">
                    <a:lumMod val="65000"/>
                    <a:lumOff val="35000"/>
                  </a:schemeClr>
                </a:solidFill>
                <a:latin typeface="BLS Text" pitchFamily="2" charset="-34"/>
                <a:cs typeface="BLS Text" pitchFamily="2" charset="-34"/>
              </a:rPr>
              <a:t>downstream </a:t>
            </a:r>
            <a:r>
              <a:rPr lang="th-TH" sz="1000" dirty="0">
                <a:solidFill>
                  <a:schemeClr val="tx1">
                    <a:lumMod val="65000"/>
                    <a:lumOff val="35000"/>
                  </a:schemeClr>
                </a:solidFill>
                <a:latin typeface="BLS Text" pitchFamily="2" charset="-34"/>
                <a:cs typeface="BLS Text" pitchFamily="2" charset="-34"/>
              </a:rPr>
              <a:t>ซึ่งก็คือธุรกิจค้าปลีกน้ำมันหรือ “ปั๊มน้ำมัน” เช่น </a:t>
            </a:r>
            <a:r>
              <a:rPr lang="en-US" sz="1000" dirty="0">
                <a:solidFill>
                  <a:schemeClr val="tx1">
                    <a:lumMod val="65000"/>
                    <a:lumOff val="35000"/>
                  </a:schemeClr>
                </a:solidFill>
                <a:latin typeface="BLS Text" pitchFamily="2" charset="-34"/>
                <a:cs typeface="BLS Text" pitchFamily="2" charset="-34"/>
              </a:rPr>
              <a:t>PTG </a:t>
            </a:r>
            <a:r>
              <a:rPr lang="th-TH" sz="1000" dirty="0">
                <a:solidFill>
                  <a:schemeClr val="tx1">
                    <a:lumMod val="65000"/>
                    <a:lumOff val="35000"/>
                  </a:schemeClr>
                </a:solidFill>
                <a:latin typeface="BLS Text" pitchFamily="2" charset="-34"/>
                <a:cs typeface="BLS Text" pitchFamily="2" charset="-34"/>
              </a:rPr>
              <a:t>จะพบว่ากำไรไม่ได้เพิ่มขึ้นตามราคาน้ำมันเต็มที่ เนื่องจาก </a:t>
            </a:r>
            <a:r>
              <a:rPr lang="en-US" sz="1000" dirty="0">
                <a:solidFill>
                  <a:schemeClr val="tx1">
                    <a:lumMod val="65000"/>
                    <a:lumOff val="35000"/>
                  </a:schemeClr>
                </a:solidFill>
                <a:latin typeface="BLS Text" pitchFamily="2" charset="-34"/>
                <a:cs typeface="BLS Text" pitchFamily="2" charset="-34"/>
              </a:rPr>
              <a:t>margin </a:t>
            </a:r>
            <a:r>
              <a:rPr lang="th-TH" sz="1000" dirty="0">
                <a:solidFill>
                  <a:schemeClr val="tx1">
                    <a:lumMod val="65000"/>
                    <a:lumOff val="35000"/>
                  </a:schemeClr>
                </a:solidFill>
                <a:latin typeface="BLS Text" pitchFamily="2" charset="-34"/>
                <a:cs typeface="BLS Text" pitchFamily="2" charset="-34"/>
              </a:rPr>
              <a:t>ถูกกำหนดโดยนโยบายรัฐและกลไกราคาในประเทศ ดังนั้น แม้ </a:t>
            </a:r>
            <a:r>
              <a:rPr lang="en-US" sz="1000" dirty="0">
                <a:solidFill>
                  <a:schemeClr val="tx1">
                    <a:lumMod val="65000"/>
                    <a:lumOff val="35000"/>
                  </a:schemeClr>
                </a:solidFill>
                <a:latin typeface="BLS Text" pitchFamily="2" charset="-34"/>
                <a:cs typeface="BLS Text" pitchFamily="2" charset="-34"/>
              </a:rPr>
              <a:t>sector </a:t>
            </a:r>
            <a:r>
              <a:rPr lang="th-TH" sz="1000" dirty="0">
                <a:solidFill>
                  <a:schemeClr val="tx1">
                    <a:lumMod val="65000"/>
                    <a:lumOff val="35000"/>
                  </a:schemeClr>
                </a:solidFill>
                <a:latin typeface="BLS Text" pitchFamily="2" charset="-34"/>
                <a:cs typeface="BLS Text" pitchFamily="2" charset="-34"/>
              </a:rPr>
              <a:t>นี้จะเป็น </a:t>
            </a:r>
            <a:r>
              <a:rPr lang="en-US" sz="1000" dirty="0">
                <a:solidFill>
                  <a:schemeClr val="tx1">
                    <a:lumMod val="65000"/>
                    <a:lumOff val="35000"/>
                  </a:schemeClr>
                </a:solidFill>
                <a:latin typeface="BLS Text" pitchFamily="2" charset="-34"/>
                <a:cs typeface="BLS Text" pitchFamily="2" charset="-34"/>
              </a:rPr>
              <a:t>net beneficiary </a:t>
            </a:r>
            <a:r>
              <a:rPr lang="th-TH" sz="1000" dirty="0">
                <a:solidFill>
                  <a:schemeClr val="tx1">
                    <a:lumMod val="65000"/>
                    <a:lumOff val="35000"/>
                  </a:schemeClr>
                </a:solidFill>
                <a:latin typeface="BLS Text" pitchFamily="2" charset="-34"/>
                <a:cs typeface="BLS Text" pitchFamily="2" charset="-34"/>
              </a:rPr>
              <a:t>แต่ ผลลัพธ์ของกำไรขึ้นอยู่กับตำแหน่งใน </a:t>
            </a:r>
            <a:r>
              <a:rPr lang="en-US" sz="1000" dirty="0">
                <a:solidFill>
                  <a:schemeClr val="tx1">
                    <a:lumMod val="65000"/>
                    <a:lumOff val="35000"/>
                  </a:schemeClr>
                </a:solidFill>
                <a:latin typeface="BLS Text" pitchFamily="2" charset="-34"/>
                <a:cs typeface="BLS Text" pitchFamily="2" charset="-34"/>
              </a:rPr>
              <a:t>value chain </a:t>
            </a:r>
            <a:r>
              <a:rPr lang="th-TH" sz="1000" dirty="0">
                <a:solidFill>
                  <a:schemeClr val="tx1">
                    <a:lumMod val="65000"/>
                    <a:lumOff val="35000"/>
                  </a:schemeClr>
                </a:solidFill>
                <a:latin typeface="BLS Text" pitchFamily="2" charset="-34"/>
                <a:cs typeface="BLS Text" pitchFamily="2" charset="-34"/>
              </a:rPr>
              <a:t>อย่างมีนัยสำคัญ</a:t>
            </a:r>
          </a:p>
          <a:p>
            <a:pPr algn="thaiDist">
              <a:lnSpc>
                <a:spcPct val="120000"/>
              </a:lnSpc>
              <a:spcBef>
                <a:spcPts val="600"/>
              </a:spcBef>
              <a:buSzPct val="120000"/>
            </a:pPr>
            <a:r>
              <a:rPr lang="th-TH" sz="1000" dirty="0">
                <a:solidFill>
                  <a:schemeClr val="tx1">
                    <a:lumMod val="65000"/>
                    <a:lumOff val="35000"/>
                  </a:schemeClr>
                </a:solidFill>
                <a:latin typeface="BLS Text" pitchFamily="2" charset="-34"/>
                <a:cs typeface="BLS Text" pitchFamily="2" charset="-34"/>
              </a:rPr>
              <a:t>ในทางกลับกัน กลุ่มวัสดุก่อสร้าง (</a:t>
            </a:r>
            <a:r>
              <a:rPr lang="en-US" sz="1000" dirty="0">
                <a:solidFill>
                  <a:schemeClr val="tx1">
                    <a:lumMod val="65000"/>
                    <a:lumOff val="35000"/>
                  </a:schemeClr>
                </a:solidFill>
                <a:latin typeface="BLS Text" pitchFamily="2" charset="-34"/>
                <a:cs typeface="BLS Text" pitchFamily="2" charset="-34"/>
              </a:rPr>
              <a:t>Materials) </a:t>
            </a:r>
            <a:r>
              <a:rPr lang="th-TH" sz="1000" dirty="0">
                <a:solidFill>
                  <a:schemeClr val="tx1">
                    <a:lumMod val="65000"/>
                    <a:lumOff val="35000"/>
                  </a:schemeClr>
                </a:solidFill>
                <a:latin typeface="BLS Text" pitchFamily="2" charset="-34"/>
                <a:cs typeface="BLS Text" pitchFamily="2" charset="-34"/>
              </a:rPr>
              <a:t>เป็นกลุ่มที่เปราะบางต่อ </a:t>
            </a:r>
            <a:r>
              <a:rPr lang="en-US" sz="1000" dirty="0">
                <a:solidFill>
                  <a:schemeClr val="tx1">
                    <a:lumMod val="65000"/>
                    <a:lumOff val="35000"/>
                  </a:schemeClr>
                </a:solidFill>
                <a:latin typeface="BLS Text" pitchFamily="2" charset="-34"/>
                <a:cs typeface="BLS Text" pitchFamily="2" charset="-34"/>
              </a:rPr>
              <a:t>cost shock </a:t>
            </a:r>
            <a:r>
              <a:rPr lang="th-TH" sz="1000" dirty="0">
                <a:solidFill>
                  <a:schemeClr val="tx1">
                    <a:lumMod val="65000"/>
                    <a:lumOff val="35000"/>
                  </a:schemeClr>
                </a:solidFill>
                <a:latin typeface="BLS Text" pitchFamily="2" charset="-34"/>
                <a:cs typeface="BLS Text" pitchFamily="2" charset="-34"/>
              </a:rPr>
              <a:t>เนื่องจากเป็นธุรกิจที่ “ซื้อพลังงานมาแปรรูป” ผู้ผลิตที่ใช้ </a:t>
            </a:r>
            <a:r>
              <a:rPr lang="en-US" sz="1000" dirty="0">
                <a:solidFill>
                  <a:schemeClr val="tx1">
                    <a:lumMod val="65000"/>
                    <a:lumOff val="35000"/>
                  </a:schemeClr>
                </a:solidFill>
                <a:latin typeface="BLS Text" pitchFamily="2" charset="-34"/>
                <a:cs typeface="BLS Text" pitchFamily="2" charset="-34"/>
              </a:rPr>
              <a:t>naphtha </a:t>
            </a:r>
            <a:r>
              <a:rPr lang="th-TH" sz="1000" dirty="0">
                <a:solidFill>
                  <a:schemeClr val="tx1">
                    <a:lumMod val="65000"/>
                    <a:lumOff val="35000"/>
                  </a:schemeClr>
                </a:solidFill>
                <a:latin typeface="BLS Text" pitchFamily="2" charset="-34"/>
                <a:cs typeface="BLS Text" pitchFamily="2" charset="-34"/>
              </a:rPr>
              <a:t>จากตะวันออกกลาง เช่น </a:t>
            </a:r>
            <a:r>
              <a:rPr lang="en-US" sz="1000" dirty="0">
                <a:solidFill>
                  <a:schemeClr val="tx1">
                    <a:lumMod val="65000"/>
                    <a:lumOff val="35000"/>
                  </a:schemeClr>
                </a:solidFill>
                <a:latin typeface="BLS Text" pitchFamily="2" charset="-34"/>
                <a:cs typeface="BLS Text" pitchFamily="2" charset="-34"/>
              </a:rPr>
              <a:t>SCC </a:t>
            </a:r>
            <a:r>
              <a:rPr lang="th-TH" sz="1000" dirty="0">
                <a:solidFill>
                  <a:schemeClr val="tx1">
                    <a:lumMod val="65000"/>
                    <a:lumOff val="35000"/>
                  </a:schemeClr>
                </a:solidFill>
                <a:latin typeface="BLS Text" pitchFamily="2" charset="-34"/>
                <a:cs typeface="BLS Text" pitchFamily="2" charset="-34"/>
              </a:rPr>
              <a:t>ต้องเผชิญทั้งต้นทุนที่เพิ่มขึ้นและความเสี่ยงด้าน </a:t>
            </a:r>
            <a:r>
              <a:rPr lang="en-US" sz="1000" dirty="0">
                <a:solidFill>
                  <a:schemeClr val="tx1">
                    <a:lumMod val="65000"/>
                    <a:lumOff val="35000"/>
                  </a:schemeClr>
                </a:solidFill>
                <a:latin typeface="BLS Text" pitchFamily="2" charset="-34"/>
                <a:cs typeface="BLS Text" pitchFamily="2" charset="-34"/>
              </a:rPr>
              <a:t>supply</a:t>
            </a:r>
            <a:r>
              <a:rPr lang="th-TH" sz="1000" dirty="0">
                <a:solidFill>
                  <a:schemeClr val="tx1">
                    <a:lumMod val="65000"/>
                    <a:lumOff val="35000"/>
                  </a:schemeClr>
                </a:solidFill>
                <a:latin typeface="BLS Text" pitchFamily="2" charset="-34"/>
                <a:cs typeface="BLS Text" pitchFamily="2" charset="-34"/>
              </a:rPr>
              <a:t> ขาดแคลน</a:t>
            </a:r>
            <a:r>
              <a:rPr lang="en-US" sz="1000" dirty="0">
                <a:solidFill>
                  <a:schemeClr val="tx1">
                    <a:lumMod val="65000"/>
                    <a:lumOff val="35000"/>
                  </a:schemeClr>
                </a:solidFill>
                <a:latin typeface="BLS Text" pitchFamily="2" charset="-34"/>
                <a:cs typeface="BLS Text" pitchFamily="2" charset="-34"/>
              </a:rPr>
              <a:t> </a:t>
            </a:r>
            <a:r>
              <a:rPr lang="th-TH" sz="1000" dirty="0">
                <a:solidFill>
                  <a:schemeClr val="tx1">
                    <a:lumMod val="65000"/>
                    <a:lumOff val="35000"/>
                  </a:schemeClr>
                </a:solidFill>
                <a:latin typeface="BLS Text" pitchFamily="2" charset="-34"/>
                <a:cs typeface="BLS Text" pitchFamily="2" charset="-34"/>
              </a:rPr>
              <a:t>ตรงกันข้าม ผู้ผลิตที่ใช้ก๊าซในประเทศหรือมี </a:t>
            </a:r>
            <a:r>
              <a:rPr lang="en-US" sz="1000" dirty="0">
                <a:solidFill>
                  <a:schemeClr val="tx1">
                    <a:lumMod val="65000"/>
                    <a:lumOff val="35000"/>
                  </a:schemeClr>
                </a:solidFill>
                <a:latin typeface="BLS Text" pitchFamily="2" charset="-34"/>
                <a:cs typeface="BLS Text" pitchFamily="2" charset="-34"/>
              </a:rPr>
              <a:t>integration </a:t>
            </a:r>
            <a:r>
              <a:rPr lang="th-TH" sz="1000" dirty="0">
                <a:solidFill>
                  <a:schemeClr val="tx1">
                    <a:lumMod val="65000"/>
                    <a:lumOff val="35000"/>
                  </a:schemeClr>
                </a:solidFill>
                <a:latin typeface="BLS Text" pitchFamily="2" charset="-34"/>
                <a:cs typeface="BLS Text" pitchFamily="2" charset="-34"/>
              </a:rPr>
              <a:t>กับโรงกลั่นจะมีความยืดหยุ่นมากกว่า</a:t>
            </a:r>
            <a:r>
              <a:rPr lang="en-US" sz="1000" dirty="0">
                <a:solidFill>
                  <a:schemeClr val="tx1">
                    <a:lumMod val="65000"/>
                    <a:lumOff val="35000"/>
                  </a:schemeClr>
                </a:solidFill>
                <a:latin typeface="BLS Text" pitchFamily="2" charset="-34"/>
                <a:cs typeface="BLS Text" pitchFamily="2" charset="-34"/>
              </a:rPr>
              <a:t> </a:t>
            </a:r>
            <a:r>
              <a:rPr lang="th-TH" sz="1000" dirty="0">
                <a:solidFill>
                  <a:schemeClr val="tx1">
                    <a:lumMod val="65000"/>
                    <a:lumOff val="35000"/>
                  </a:schemeClr>
                </a:solidFill>
                <a:latin typeface="BLS Text" pitchFamily="2" charset="-34"/>
                <a:cs typeface="BLS Text" pitchFamily="2" charset="-34"/>
              </a:rPr>
              <a:t>เช่น </a:t>
            </a:r>
            <a:r>
              <a:rPr lang="en-US" sz="1000" dirty="0">
                <a:solidFill>
                  <a:schemeClr val="tx1">
                    <a:lumMod val="65000"/>
                    <a:lumOff val="35000"/>
                  </a:schemeClr>
                </a:solidFill>
                <a:latin typeface="BLS Text" pitchFamily="2" charset="-34"/>
                <a:cs typeface="BLS Text" pitchFamily="2" charset="-34"/>
              </a:rPr>
              <a:t>PTTGC</a:t>
            </a:r>
            <a:r>
              <a:rPr lang="th-TH" sz="1000" dirty="0">
                <a:solidFill>
                  <a:schemeClr val="tx1">
                    <a:lumMod val="65000"/>
                    <a:lumOff val="35000"/>
                  </a:schemeClr>
                </a:solidFill>
                <a:latin typeface="BLS Text" pitchFamily="2" charset="-34"/>
                <a:cs typeface="BLS Text" pitchFamily="2" charset="-34"/>
              </a:rPr>
              <a:t> และอาจได้ประโยชน์ทางอ้อมจาก </a:t>
            </a:r>
            <a:r>
              <a:rPr lang="en-US" sz="1000" dirty="0">
                <a:solidFill>
                  <a:schemeClr val="tx1">
                    <a:lumMod val="65000"/>
                    <a:lumOff val="35000"/>
                  </a:schemeClr>
                </a:solidFill>
                <a:latin typeface="BLS Text" pitchFamily="2" charset="-34"/>
                <a:cs typeface="BLS Text" pitchFamily="2" charset="-34"/>
              </a:rPr>
              <a:t>supply </a:t>
            </a:r>
            <a:r>
              <a:rPr lang="th-TH" sz="1000" dirty="0">
                <a:solidFill>
                  <a:schemeClr val="tx1">
                    <a:lumMod val="65000"/>
                    <a:lumOff val="35000"/>
                  </a:schemeClr>
                </a:solidFill>
                <a:latin typeface="BLS Text" pitchFamily="2" charset="-34"/>
                <a:cs typeface="BLS Text" pitchFamily="2" charset="-34"/>
              </a:rPr>
              <a:t>ที่หายไปของคู่แข่ง สะท้อนว่า ความสามารถในการเข้าถึง </a:t>
            </a:r>
            <a:r>
              <a:rPr lang="en-US" sz="1000" dirty="0">
                <a:solidFill>
                  <a:schemeClr val="tx1">
                    <a:lumMod val="65000"/>
                    <a:lumOff val="35000"/>
                  </a:schemeClr>
                </a:solidFill>
                <a:latin typeface="BLS Text" pitchFamily="2" charset="-34"/>
                <a:cs typeface="BLS Text" pitchFamily="2" charset="-34"/>
              </a:rPr>
              <a:t>feedstock </a:t>
            </a:r>
            <a:r>
              <a:rPr lang="th-TH" sz="1000" dirty="0">
                <a:solidFill>
                  <a:schemeClr val="tx1">
                    <a:lumMod val="65000"/>
                    <a:lumOff val="35000"/>
                  </a:schemeClr>
                </a:solidFill>
                <a:latin typeface="BLS Text" pitchFamily="2" charset="-34"/>
                <a:cs typeface="BLS Text" pitchFamily="2" charset="-34"/>
              </a:rPr>
              <a:t>และระดับ </a:t>
            </a:r>
            <a:r>
              <a:rPr lang="en-US" sz="1000" dirty="0">
                <a:solidFill>
                  <a:schemeClr val="tx1">
                    <a:lumMod val="65000"/>
                    <a:lumOff val="35000"/>
                  </a:schemeClr>
                </a:solidFill>
                <a:latin typeface="BLS Text" pitchFamily="2" charset="-34"/>
                <a:cs typeface="BLS Text" pitchFamily="2" charset="-34"/>
              </a:rPr>
              <a:t>integration </a:t>
            </a:r>
            <a:r>
              <a:rPr lang="th-TH" sz="1000" dirty="0">
                <a:solidFill>
                  <a:schemeClr val="tx1">
                    <a:lumMod val="65000"/>
                    <a:lumOff val="35000"/>
                  </a:schemeClr>
                </a:solidFill>
                <a:latin typeface="BLS Text" pitchFamily="2" charset="-34"/>
                <a:cs typeface="BLS Text" pitchFamily="2" charset="-34"/>
              </a:rPr>
              <a:t>เป็นตัวกำหนด </a:t>
            </a:r>
            <a:r>
              <a:rPr lang="en-US" sz="1000" dirty="0">
                <a:solidFill>
                  <a:schemeClr val="tx1">
                    <a:lumMod val="65000"/>
                    <a:lumOff val="35000"/>
                  </a:schemeClr>
                </a:solidFill>
                <a:latin typeface="BLS Text" pitchFamily="2" charset="-34"/>
                <a:cs typeface="BLS Text" pitchFamily="2" charset="-34"/>
              </a:rPr>
              <a:t>resilience </a:t>
            </a:r>
            <a:r>
              <a:rPr lang="th-TH" sz="1000" dirty="0">
                <a:solidFill>
                  <a:schemeClr val="tx1">
                    <a:lumMod val="65000"/>
                    <a:lumOff val="35000"/>
                  </a:schemeClr>
                </a:solidFill>
                <a:latin typeface="BLS Text" pitchFamily="2" charset="-34"/>
                <a:cs typeface="BLS Text" pitchFamily="2" charset="-34"/>
              </a:rPr>
              <a:t>ของกำไร</a:t>
            </a:r>
          </a:p>
          <a:p>
            <a:pPr algn="thaiDist">
              <a:lnSpc>
                <a:spcPct val="120000"/>
              </a:lnSpc>
              <a:spcBef>
                <a:spcPts val="600"/>
              </a:spcBef>
              <a:buSzPct val="120000"/>
            </a:pPr>
            <a:r>
              <a:rPr lang="th-TH" sz="1000" dirty="0">
                <a:solidFill>
                  <a:schemeClr val="tx1">
                    <a:lumMod val="65000"/>
                    <a:lumOff val="35000"/>
                  </a:schemeClr>
                </a:solidFill>
                <a:latin typeface="BLS Text" pitchFamily="2" charset="-34"/>
                <a:cs typeface="BLS Text" pitchFamily="2" charset="-34"/>
              </a:rPr>
              <a:t>สำหรับ </a:t>
            </a:r>
            <a:r>
              <a:rPr lang="en-US" sz="1000" dirty="0">
                <a:solidFill>
                  <a:schemeClr val="tx1">
                    <a:lumMod val="65000"/>
                    <a:lumOff val="35000"/>
                  </a:schemeClr>
                </a:solidFill>
                <a:latin typeface="BLS Text" pitchFamily="2" charset="-34"/>
                <a:cs typeface="BLS Text" pitchFamily="2" charset="-34"/>
              </a:rPr>
              <a:t>Utilities </a:t>
            </a:r>
            <a:r>
              <a:rPr lang="th-TH" sz="1000" dirty="0">
                <a:solidFill>
                  <a:schemeClr val="tx1">
                    <a:lumMod val="65000"/>
                    <a:lumOff val="35000"/>
                  </a:schemeClr>
                </a:solidFill>
                <a:latin typeface="BLS Text" pitchFamily="2" charset="-34"/>
                <a:cs typeface="BLS Text" pitchFamily="2" charset="-34"/>
              </a:rPr>
              <a:t>ความแตกต่างอยู่ที่โครงสร้างสัญญา โรงไฟฟ้า </a:t>
            </a:r>
            <a:r>
              <a:rPr lang="en-US" sz="1000" dirty="0">
                <a:solidFill>
                  <a:schemeClr val="tx1">
                    <a:lumMod val="65000"/>
                    <a:lumOff val="35000"/>
                  </a:schemeClr>
                </a:solidFill>
                <a:latin typeface="BLS Text" pitchFamily="2" charset="-34"/>
                <a:cs typeface="BLS Text" pitchFamily="2" charset="-34"/>
              </a:rPr>
              <a:t>SPP </a:t>
            </a:r>
            <a:r>
              <a:rPr lang="th-TH" sz="1000" dirty="0">
                <a:solidFill>
                  <a:schemeClr val="tx1">
                    <a:lumMod val="65000"/>
                    <a:lumOff val="35000"/>
                  </a:schemeClr>
                </a:solidFill>
                <a:latin typeface="BLS Text" pitchFamily="2" charset="-34"/>
                <a:cs typeface="BLS Text" pitchFamily="2" charset="-34"/>
              </a:rPr>
              <a:t>เช่น </a:t>
            </a:r>
            <a:r>
              <a:rPr lang="en-US" sz="1000" dirty="0">
                <a:solidFill>
                  <a:schemeClr val="tx1">
                    <a:lumMod val="65000"/>
                    <a:lumOff val="35000"/>
                  </a:schemeClr>
                </a:solidFill>
                <a:latin typeface="BLS Text" pitchFamily="2" charset="-34"/>
                <a:cs typeface="BLS Text" pitchFamily="2" charset="-34"/>
              </a:rPr>
              <a:t>BGRIM, GPSC </a:t>
            </a:r>
            <a:r>
              <a:rPr lang="th-TH" sz="1000" dirty="0">
                <a:solidFill>
                  <a:schemeClr val="tx1">
                    <a:lumMod val="65000"/>
                    <a:lumOff val="35000"/>
                  </a:schemeClr>
                </a:solidFill>
                <a:latin typeface="BLS Text" pitchFamily="2" charset="-34"/>
                <a:cs typeface="BLS Text" pitchFamily="2" charset="-34"/>
              </a:rPr>
              <a:t>ซึ่งใช้ก๊าซเป็นต้นทุนหลักจะเผชิญแรงกดดันระยะสั้น เพราะต้นทุนปรับขึ้นเร็วกว่าค่าไฟฟ้า (</a:t>
            </a:r>
            <a:r>
              <a:rPr lang="en-US" sz="1000" dirty="0">
                <a:solidFill>
                  <a:schemeClr val="tx1">
                    <a:lumMod val="65000"/>
                    <a:lumOff val="35000"/>
                  </a:schemeClr>
                </a:solidFill>
                <a:latin typeface="BLS Text" pitchFamily="2" charset="-34"/>
                <a:cs typeface="BLS Text" pitchFamily="2" charset="-34"/>
              </a:rPr>
              <a:t>tariff lag) </a:t>
            </a:r>
            <a:r>
              <a:rPr lang="th-TH" sz="1000" dirty="0">
                <a:solidFill>
                  <a:schemeClr val="tx1">
                    <a:lumMod val="65000"/>
                    <a:lumOff val="35000"/>
                  </a:schemeClr>
                </a:solidFill>
                <a:latin typeface="BLS Text" pitchFamily="2" charset="-34"/>
                <a:cs typeface="BLS Text" pitchFamily="2" charset="-34"/>
              </a:rPr>
              <a:t>ขณะที่ </a:t>
            </a:r>
            <a:r>
              <a:rPr lang="en-US" sz="1000" dirty="0">
                <a:solidFill>
                  <a:schemeClr val="tx1">
                    <a:lumMod val="65000"/>
                    <a:lumOff val="35000"/>
                  </a:schemeClr>
                </a:solidFill>
                <a:latin typeface="BLS Text" pitchFamily="2" charset="-34"/>
                <a:cs typeface="BLS Text" pitchFamily="2" charset="-34"/>
              </a:rPr>
              <a:t>IPP </a:t>
            </a:r>
            <a:r>
              <a:rPr lang="th-TH" sz="1000" dirty="0">
                <a:solidFill>
                  <a:schemeClr val="tx1">
                    <a:lumMod val="65000"/>
                    <a:lumOff val="35000"/>
                  </a:schemeClr>
                </a:solidFill>
                <a:latin typeface="BLS Text" pitchFamily="2" charset="-34"/>
                <a:cs typeface="BLS Text" pitchFamily="2" charset="-34"/>
              </a:rPr>
              <a:t>อย่าง</a:t>
            </a:r>
            <a:r>
              <a:rPr lang="en-US" sz="1000" dirty="0">
                <a:solidFill>
                  <a:schemeClr val="tx1">
                    <a:lumMod val="65000"/>
                    <a:lumOff val="35000"/>
                  </a:schemeClr>
                </a:solidFill>
                <a:latin typeface="BLS Text" pitchFamily="2" charset="-34"/>
                <a:cs typeface="BLS Text" pitchFamily="2" charset="-34"/>
              </a:rPr>
              <a:t> GULF </a:t>
            </a:r>
            <a:r>
              <a:rPr lang="th-TH" sz="1000" dirty="0">
                <a:solidFill>
                  <a:schemeClr val="tx1">
                    <a:lumMod val="65000"/>
                    <a:lumOff val="35000"/>
                  </a:schemeClr>
                </a:solidFill>
                <a:latin typeface="BLS Text" pitchFamily="2" charset="-34"/>
                <a:cs typeface="BLS Text" pitchFamily="2" charset="-34"/>
              </a:rPr>
              <a:t>สามารถส่งผ่านต้นทุนผ่านสัญญา </a:t>
            </a:r>
            <a:r>
              <a:rPr lang="en-US" sz="1000" dirty="0">
                <a:solidFill>
                  <a:schemeClr val="tx1">
                    <a:lumMod val="65000"/>
                    <a:lumOff val="35000"/>
                  </a:schemeClr>
                </a:solidFill>
                <a:latin typeface="BLS Text" pitchFamily="2" charset="-34"/>
                <a:cs typeface="BLS Text" pitchFamily="2" charset="-34"/>
              </a:rPr>
              <a:t>PPA </a:t>
            </a:r>
            <a:r>
              <a:rPr lang="th-TH" sz="1000" dirty="0">
                <a:solidFill>
                  <a:schemeClr val="tx1">
                    <a:lumMod val="65000"/>
                    <a:lumOff val="35000"/>
                  </a:schemeClr>
                </a:solidFill>
                <a:latin typeface="BLS Text" pitchFamily="2" charset="-34"/>
                <a:cs typeface="BLS Text" pitchFamily="2" charset="-34"/>
              </a:rPr>
              <a:t>ได้ จึงมีความมั่นคงของกำไรสูงกว่า สะท้อนว่า </a:t>
            </a:r>
            <a:r>
              <a:rPr lang="en-US" sz="1000" dirty="0">
                <a:solidFill>
                  <a:schemeClr val="tx1">
                    <a:lumMod val="65000"/>
                    <a:lumOff val="35000"/>
                  </a:schemeClr>
                </a:solidFill>
                <a:latin typeface="BLS Text" pitchFamily="2" charset="-34"/>
                <a:cs typeface="BLS Text" pitchFamily="2" charset="-34"/>
              </a:rPr>
              <a:t>sector </a:t>
            </a:r>
            <a:r>
              <a:rPr lang="th-TH" sz="1000" dirty="0">
                <a:solidFill>
                  <a:schemeClr val="tx1">
                    <a:lumMod val="65000"/>
                    <a:lumOff val="35000"/>
                  </a:schemeClr>
                </a:solidFill>
                <a:latin typeface="BLS Text" pitchFamily="2" charset="-34"/>
                <a:cs typeface="BLS Text" pitchFamily="2" charset="-34"/>
              </a:rPr>
              <a:t>นี้ไม่ได้ขึ้นกับ </a:t>
            </a:r>
            <a:r>
              <a:rPr lang="en-US" sz="1000" dirty="0">
                <a:solidFill>
                  <a:schemeClr val="tx1">
                    <a:lumMod val="65000"/>
                    <a:lumOff val="35000"/>
                  </a:schemeClr>
                </a:solidFill>
                <a:latin typeface="BLS Text" pitchFamily="2" charset="-34"/>
                <a:cs typeface="BLS Text" pitchFamily="2" charset="-34"/>
              </a:rPr>
              <a:t>commodity </a:t>
            </a:r>
            <a:r>
              <a:rPr lang="th-TH" sz="1000" dirty="0">
                <a:solidFill>
                  <a:schemeClr val="tx1">
                    <a:lumMod val="65000"/>
                    <a:lumOff val="35000"/>
                  </a:schemeClr>
                </a:solidFill>
                <a:latin typeface="BLS Text" pitchFamily="2" charset="-34"/>
                <a:cs typeface="BLS Text" pitchFamily="2" charset="-34"/>
              </a:rPr>
              <a:t>โดยตรง แต่ขึ้นกับ</a:t>
            </a:r>
            <a:r>
              <a:rPr lang="en-US" sz="1000" dirty="0">
                <a:solidFill>
                  <a:schemeClr val="tx1">
                    <a:lumMod val="65000"/>
                    <a:lumOff val="35000"/>
                  </a:schemeClr>
                </a:solidFill>
                <a:latin typeface="BLS Text" pitchFamily="2" charset="-34"/>
                <a:cs typeface="BLS Text" pitchFamily="2" charset="-34"/>
              </a:rPr>
              <a:t> contract structure </a:t>
            </a:r>
            <a:r>
              <a:rPr lang="th-TH" sz="1000" dirty="0">
                <a:solidFill>
                  <a:schemeClr val="tx1">
                    <a:lumMod val="65000"/>
                    <a:lumOff val="35000"/>
                  </a:schemeClr>
                </a:solidFill>
                <a:latin typeface="BLS Text" pitchFamily="2" charset="-34"/>
                <a:cs typeface="BLS Text" pitchFamily="2" charset="-34"/>
              </a:rPr>
              <a:t>และ </a:t>
            </a:r>
            <a:r>
              <a:rPr lang="en-US" sz="1000" dirty="0">
                <a:solidFill>
                  <a:schemeClr val="tx1">
                    <a:lumMod val="65000"/>
                    <a:lumOff val="35000"/>
                  </a:schemeClr>
                </a:solidFill>
                <a:latin typeface="BLS Text" pitchFamily="2" charset="-34"/>
                <a:cs typeface="BLS Text" pitchFamily="2" charset="-34"/>
              </a:rPr>
              <a:t>pass-through mechanism</a:t>
            </a:r>
          </a:p>
        </p:txBody>
      </p:sp>
    </p:spTree>
    <p:extLst>
      <p:ext uri="{BB962C8B-B14F-4D97-AF65-F5344CB8AC3E}">
        <p14:creationId xmlns:p14="http://schemas.microsoft.com/office/powerpoint/2010/main" val="3959674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Watercolor of trees in the fog&#10;&#10;Description automatically generated">
            <a:extLst>
              <a:ext uri="{FF2B5EF4-FFF2-40B4-BE49-F238E27FC236}">
                <a16:creationId xmlns:a16="http://schemas.microsoft.com/office/drawing/2014/main" id="{12900066-8F13-7E4F-EEFE-B0323EB1A50D}"/>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7" r="8181" b="3959"/>
          <a:stretch/>
        </p:blipFill>
        <p:spPr>
          <a:xfrm>
            <a:off x="0" y="1"/>
            <a:ext cx="6858000" cy="8844454"/>
          </a:xfrm>
          <a:prstGeom prst="rect">
            <a:avLst/>
          </a:prstGeom>
        </p:spPr>
      </p:pic>
      <p:sp>
        <p:nvSpPr>
          <p:cNvPr id="18" name="Rectangle 17">
            <a:extLst>
              <a:ext uri="{FF2B5EF4-FFF2-40B4-BE49-F238E27FC236}">
                <a16:creationId xmlns:a16="http://schemas.microsoft.com/office/drawing/2014/main" id="{38730610-1C9D-4B76-AA1D-243E2AA95217}"/>
              </a:ext>
            </a:extLst>
          </p:cNvPr>
          <p:cNvSpPr/>
          <p:nvPr/>
        </p:nvSpPr>
        <p:spPr>
          <a:xfrm>
            <a:off x="297857" y="8699318"/>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a:extLst>
              <a:ext uri="{FF2B5EF4-FFF2-40B4-BE49-F238E27FC236}">
                <a16:creationId xmlns:a16="http://schemas.microsoft.com/office/drawing/2014/main" id="{D8EC5674-54E7-E10C-3FD1-6C6B19C2A914}"/>
              </a:ext>
            </a:extLst>
          </p:cNvPr>
          <p:cNvPicPr>
            <a:picLocks noChangeAspect="1" noChangeArrowheads="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Box 18">
            <a:extLst>
              <a:ext uri="{FF2B5EF4-FFF2-40B4-BE49-F238E27FC236}">
                <a16:creationId xmlns:a16="http://schemas.microsoft.com/office/drawing/2014/main" id="{28A0BF02-5214-05AE-B03A-4D2810D4FB22}"/>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6" name="TextBox 5">
            <a:extLst>
              <a:ext uri="{FF2B5EF4-FFF2-40B4-BE49-F238E27FC236}">
                <a16:creationId xmlns:a16="http://schemas.microsoft.com/office/drawing/2014/main" id="{DDFF7484-5537-9D50-9DAB-CC290CCFEF29}"/>
              </a:ext>
            </a:extLst>
          </p:cNvPr>
          <p:cNvSpPr txBox="1"/>
          <p:nvPr/>
        </p:nvSpPr>
        <p:spPr>
          <a:xfrm>
            <a:off x="1886145" y="-177626"/>
            <a:ext cx="4999239" cy="1015663"/>
          </a:xfrm>
          <a:prstGeom prst="rect">
            <a:avLst/>
          </a:prstGeom>
          <a:noFill/>
        </p:spPr>
        <p:txBody>
          <a:bodyPr wrap="square" rtlCol="0">
            <a:spAutoFit/>
          </a:bodyPr>
          <a:lstStyle/>
          <a:p>
            <a:pPr algn="r"/>
            <a:r>
              <a:rPr lang="el-GR" sz="4000" dirty="0">
                <a:solidFill>
                  <a:schemeClr val="accent3"/>
                </a:solidFill>
                <a:latin typeface="BLS Condensed Bold" pitchFamily="2" charset="-34"/>
                <a:ea typeface="Tahoma" pitchFamily="34" charset="0"/>
                <a:cs typeface="BLS Condensed Bold" pitchFamily="2" charset="-34"/>
              </a:rPr>
              <a:t>α</a:t>
            </a:r>
            <a:r>
              <a:rPr lang="en-US" sz="2400" dirty="0" err="1">
                <a:solidFill>
                  <a:schemeClr val="tx1">
                    <a:lumMod val="95000"/>
                    <a:lumOff val="5000"/>
                  </a:schemeClr>
                </a:solidFill>
                <a:latin typeface="BLS Condensed Bold" pitchFamily="2" charset="-34"/>
                <a:ea typeface="Tahoma" pitchFamily="34" charset="0"/>
                <a:cs typeface="BLS Condensed Bold" pitchFamily="2" charset="-34"/>
              </a:rPr>
              <a:t>lpha</a:t>
            </a:r>
            <a:r>
              <a:rPr lang="en-US" sz="2400" dirty="0">
                <a:solidFill>
                  <a:schemeClr val="tx1">
                    <a:lumMod val="95000"/>
                    <a:lumOff val="5000"/>
                  </a:schemeClr>
                </a:solidFill>
                <a:latin typeface="BLS Condensed Bold" pitchFamily="2" charset="-34"/>
                <a:ea typeface="Tahoma" pitchFamily="34" charset="0"/>
                <a:cs typeface="BLS Condensed Bold" pitchFamily="2" charset="-34"/>
              </a:rPr>
              <a:t> PULSE | </a:t>
            </a:r>
            <a:endParaRPr lang="th-TH" sz="2400" dirty="0">
              <a:solidFill>
                <a:schemeClr val="tx1">
                  <a:lumMod val="95000"/>
                  <a:lumOff val="5000"/>
                </a:schemeClr>
              </a:solidFill>
              <a:latin typeface="BLS Condensed Bold" pitchFamily="2" charset="-34"/>
              <a:ea typeface="Tahoma" pitchFamily="34" charset="0"/>
              <a:cs typeface="BLS Condensed Bold" pitchFamily="2" charset="-34"/>
            </a:endParaRPr>
          </a:p>
          <a:p>
            <a:pPr algn="r"/>
            <a:r>
              <a:rPr lang="en-US" sz="2000" dirty="0">
                <a:solidFill>
                  <a:schemeClr val="accent5"/>
                </a:solidFill>
                <a:latin typeface="BLS Condensed Bold" pitchFamily="2" charset="-34"/>
                <a:ea typeface="Tahoma" pitchFamily="34" charset="0"/>
                <a:cs typeface="BLS Condensed Bold" pitchFamily="2" charset="-34"/>
              </a:rPr>
              <a:t>Weekly strategy</a:t>
            </a:r>
          </a:p>
        </p:txBody>
      </p:sp>
      <p:sp>
        <p:nvSpPr>
          <p:cNvPr id="7" name="TextBox 6">
            <a:extLst>
              <a:ext uri="{FF2B5EF4-FFF2-40B4-BE49-F238E27FC236}">
                <a16:creationId xmlns:a16="http://schemas.microsoft.com/office/drawing/2014/main" id="{976B5C9E-A6CB-8CAE-03B8-7D22718E584A}"/>
              </a:ext>
            </a:extLst>
          </p:cNvPr>
          <p:cNvSpPr txBox="1"/>
          <p:nvPr/>
        </p:nvSpPr>
        <p:spPr>
          <a:xfrm>
            <a:off x="3464359" y="886232"/>
            <a:ext cx="3188101" cy="2677656"/>
          </a:xfrm>
          <a:prstGeom prst="rect">
            <a:avLst/>
          </a:prstGeom>
          <a:noFill/>
          <a:ln>
            <a:noFill/>
          </a:ln>
        </p:spPr>
        <p:txBody>
          <a:bodyPr wrap="square" rtlCol="0">
            <a:spAutoFit/>
          </a:bodyPr>
          <a:lstStyle/>
          <a:p>
            <a:pPr algn="thaiDist">
              <a:lnSpc>
                <a:spcPct val="120000"/>
              </a:lnSpc>
              <a:spcBef>
                <a:spcPts val="600"/>
              </a:spcBef>
              <a:buSzPct val="120000"/>
            </a:pPr>
            <a:r>
              <a:rPr lang="th-TH" sz="1000" dirty="0">
                <a:solidFill>
                  <a:schemeClr val="tx1">
                    <a:lumMod val="65000"/>
                    <a:lumOff val="35000"/>
                  </a:schemeClr>
                </a:solidFill>
                <a:latin typeface="BLS Text" pitchFamily="2" charset="-34"/>
                <a:cs typeface="BLS Text" pitchFamily="2" charset="-34"/>
              </a:rPr>
              <a:t>โดยรวมที่ชะลอตัวลง กดดันการบริโภคและการลงทุน โดยนิคมอุตสาหกรรม ยังมี </a:t>
            </a:r>
            <a:r>
              <a:rPr lang="en-US" sz="1000" dirty="0">
                <a:solidFill>
                  <a:schemeClr val="tx1">
                    <a:lumMod val="65000"/>
                    <a:lumOff val="35000"/>
                  </a:schemeClr>
                </a:solidFill>
                <a:latin typeface="BLS Text" pitchFamily="2" charset="-34"/>
                <a:cs typeface="BLS Text" pitchFamily="2" charset="-34"/>
              </a:rPr>
              <a:t>structural tailwind </a:t>
            </a:r>
            <a:r>
              <a:rPr lang="th-TH" sz="1000" dirty="0">
                <a:solidFill>
                  <a:schemeClr val="tx1">
                    <a:lumMod val="65000"/>
                    <a:lumOff val="35000"/>
                  </a:schemeClr>
                </a:solidFill>
                <a:latin typeface="BLS Text" pitchFamily="2" charset="-34"/>
                <a:cs typeface="BLS Text" pitchFamily="2" charset="-34"/>
              </a:rPr>
              <a:t>จาก</a:t>
            </a:r>
            <a:r>
              <a:rPr lang="en-US" sz="1000" dirty="0">
                <a:solidFill>
                  <a:schemeClr val="tx1">
                    <a:lumMod val="65000"/>
                    <a:lumOff val="35000"/>
                  </a:schemeClr>
                </a:solidFill>
                <a:latin typeface="BLS Text" pitchFamily="2" charset="-34"/>
                <a:cs typeface="BLS Text" pitchFamily="2" charset="-34"/>
              </a:rPr>
              <a:t>FDI </a:t>
            </a:r>
            <a:r>
              <a:rPr lang="th-TH" sz="1000" dirty="0">
                <a:solidFill>
                  <a:schemeClr val="tx1">
                    <a:lumMod val="65000"/>
                    <a:lumOff val="35000"/>
                  </a:schemeClr>
                </a:solidFill>
                <a:latin typeface="BLS Text" pitchFamily="2" charset="-34"/>
                <a:cs typeface="BLS Text" pitchFamily="2" charset="-34"/>
              </a:rPr>
              <a:t>ต่อเนื่อง โดยเฉพาะในกลุ่ม </a:t>
            </a:r>
            <a:r>
              <a:rPr lang="en-US" sz="1000" dirty="0">
                <a:solidFill>
                  <a:schemeClr val="tx1">
                    <a:lumMod val="65000"/>
                    <a:lumOff val="35000"/>
                  </a:schemeClr>
                </a:solidFill>
                <a:latin typeface="BLS Text" pitchFamily="2" charset="-34"/>
                <a:cs typeface="BLS Text" pitchFamily="2" charset="-34"/>
              </a:rPr>
              <a:t>data center </a:t>
            </a:r>
            <a:r>
              <a:rPr lang="th-TH" sz="1000" dirty="0">
                <a:solidFill>
                  <a:schemeClr val="tx1">
                    <a:lumMod val="65000"/>
                    <a:lumOff val="35000"/>
                  </a:schemeClr>
                </a:solidFill>
                <a:latin typeface="BLS Text" pitchFamily="2" charset="-34"/>
                <a:cs typeface="BLS Text" pitchFamily="2" charset="-34"/>
              </a:rPr>
              <a:t>และ </a:t>
            </a:r>
            <a:r>
              <a:rPr lang="en-US" sz="1000" dirty="0">
                <a:solidFill>
                  <a:schemeClr val="tx1">
                    <a:lumMod val="65000"/>
                    <a:lumOff val="35000"/>
                  </a:schemeClr>
                </a:solidFill>
                <a:latin typeface="BLS Text" pitchFamily="2" charset="-34"/>
                <a:cs typeface="BLS Text" pitchFamily="2" charset="-34"/>
              </a:rPr>
              <a:t>digital infrastructure </a:t>
            </a:r>
            <a:r>
              <a:rPr lang="th-TH" sz="1000" dirty="0">
                <a:solidFill>
                  <a:schemeClr val="tx1">
                    <a:lumMod val="65000"/>
                    <a:lumOff val="35000"/>
                  </a:schemeClr>
                </a:solidFill>
                <a:latin typeface="BLS Text" pitchFamily="2" charset="-34"/>
                <a:cs typeface="BLS Text" pitchFamily="2" charset="-34"/>
              </a:rPr>
              <a:t>ที่ยังเป็นเม็ดเงินหลัก ขณะที่ กลุ่มรับเหมาและอสังหาริมทรัพย์ มีสัดส่วนต้นทุนพลังงานไม่สูง และสามารถบริหารผ่านการปรับแบบก่อสร้าง, </a:t>
            </a:r>
            <a:r>
              <a:rPr lang="en-US" sz="1000" dirty="0">
                <a:solidFill>
                  <a:schemeClr val="tx1">
                    <a:lumMod val="65000"/>
                    <a:lumOff val="35000"/>
                  </a:schemeClr>
                </a:solidFill>
                <a:latin typeface="BLS Text" pitchFamily="2" charset="-34"/>
                <a:cs typeface="BLS Text" pitchFamily="2" charset="-34"/>
              </a:rPr>
              <a:t>sourcing </a:t>
            </a:r>
            <a:r>
              <a:rPr lang="th-TH" sz="1000" dirty="0">
                <a:solidFill>
                  <a:schemeClr val="tx1">
                    <a:lumMod val="65000"/>
                    <a:lumOff val="35000"/>
                  </a:schemeClr>
                </a:solidFill>
                <a:latin typeface="BLS Text" pitchFamily="2" charset="-34"/>
                <a:cs typeface="BLS Text" pitchFamily="2" charset="-34"/>
              </a:rPr>
              <a:t>วัสดุ หรือทยอยส่งผ่านต้นทุนบางส่วน ทำให้ </a:t>
            </a:r>
            <a:r>
              <a:rPr lang="en-US" sz="1000" dirty="0">
                <a:solidFill>
                  <a:schemeClr val="tx1">
                    <a:lumMod val="65000"/>
                    <a:lumOff val="35000"/>
                  </a:schemeClr>
                </a:solidFill>
                <a:latin typeface="BLS Text" pitchFamily="2" charset="-34"/>
                <a:cs typeface="BLS Text" pitchFamily="2" charset="-34"/>
              </a:rPr>
              <a:t>impact </a:t>
            </a:r>
            <a:r>
              <a:rPr lang="th-TH" sz="1000" dirty="0">
                <a:solidFill>
                  <a:schemeClr val="tx1">
                    <a:lumMod val="65000"/>
                    <a:lumOff val="35000"/>
                  </a:schemeClr>
                </a:solidFill>
                <a:latin typeface="BLS Text" pitchFamily="2" charset="-34"/>
                <a:cs typeface="BLS Text" pitchFamily="2" charset="-34"/>
              </a:rPr>
              <a:t>ต่อ </a:t>
            </a:r>
            <a:r>
              <a:rPr lang="en-US" sz="1000" dirty="0">
                <a:solidFill>
                  <a:schemeClr val="tx1">
                    <a:lumMod val="65000"/>
                    <a:lumOff val="35000"/>
                  </a:schemeClr>
                </a:solidFill>
                <a:latin typeface="BLS Text" pitchFamily="2" charset="-34"/>
                <a:cs typeface="BLS Text" pitchFamily="2" charset="-34"/>
              </a:rPr>
              <a:t>margin </a:t>
            </a:r>
            <a:r>
              <a:rPr lang="th-TH" sz="1000" dirty="0">
                <a:solidFill>
                  <a:schemeClr val="tx1">
                    <a:lumMod val="65000"/>
                    <a:lumOff val="35000"/>
                  </a:schemeClr>
                </a:solidFill>
                <a:latin typeface="BLS Text" pitchFamily="2" charset="-34"/>
                <a:cs typeface="BLS Text" pitchFamily="2" charset="-34"/>
              </a:rPr>
              <a:t>อยู่ในระดับจำกัด ด้าน </a:t>
            </a:r>
            <a:r>
              <a:rPr lang="en-US" sz="1000" dirty="0">
                <a:solidFill>
                  <a:schemeClr val="tx1">
                    <a:lumMod val="65000"/>
                    <a:lumOff val="35000"/>
                  </a:schemeClr>
                </a:solidFill>
                <a:latin typeface="BLS Text" pitchFamily="2" charset="-34"/>
                <a:cs typeface="BLS Text" pitchFamily="2" charset="-34"/>
              </a:rPr>
              <a:t>Financials (Bank/Consumer finance) </a:t>
            </a:r>
            <a:r>
              <a:rPr lang="th-TH" sz="1000" dirty="0">
                <a:solidFill>
                  <a:schemeClr val="tx1">
                    <a:lumMod val="65000"/>
                    <a:lumOff val="35000"/>
                  </a:schemeClr>
                </a:solidFill>
                <a:latin typeface="BLS Text" pitchFamily="2" charset="-34"/>
                <a:cs typeface="BLS Text" pitchFamily="2" charset="-34"/>
              </a:rPr>
              <a:t>จะได้รับผลกระทบผ่าน </a:t>
            </a:r>
            <a:r>
              <a:rPr lang="en-US" sz="1000" dirty="0">
                <a:solidFill>
                  <a:schemeClr val="tx1">
                    <a:lumMod val="65000"/>
                    <a:lumOff val="35000"/>
                  </a:schemeClr>
                </a:solidFill>
                <a:latin typeface="BLS Text" pitchFamily="2" charset="-34"/>
                <a:cs typeface="BLS Text" pitchFamily="2" charset="-34"/>
              </a:rPr>
              <a:t>channel </a:t>
            </a:r>
            <a:r>
              <a:rPr lang="th-TH" sz="1000" dirty="0">
                <a:solidFill>
                  <a:schemeClr val="tx1">
                    <a:lumMod val="65000"/>
                    <a:lumOff val="35000"/>
                  </a:schemeClr>
                </a:solidFill>
                <a:latin typeface="BLS Text" pitchFamily="2" charset="-34"/>
                <a:cs typeface="BLS Text" pitchFamily="2" charset="-34"/>
              </a:rPr>
              <a:t>ของ </a:t>
            </a:r>
            <a:r>
              <a:rPr lang="en-US" sz="1000" dirty="0">
                <a:solidFill>
                  <a:schemeClr val="tx1">
                    <a:lumMod val="65000"/>
                    <a:lumOff val="35000"/>
                  </a:schemeClr>
                </a:solidFill>
                <a:latin typeface="BLS Text" pitchFamily="2" charset="-34"/>
                <a:cs typeface="BLS Text" pitchFamily="2" charset="-34"/>
              </a:rPr>
              <a:t>asset quality </a:t>
            </a:r>
            <a:r>
              <a:rPr lang="th-TH" sz="1000" dirty="0">
                <a:solidFill>
                  <a:schemeClr val="tx1">
                    <a:lumMod val="65000"/>
                    <a:lumOff val="35000"/>
                  </a:schemeClr>
                </a:solidFill>
                <a:latin typeface="BLS Text" pitchFamily="2" charset="-34"/>
                <a:cs typeface="BLS Text" pitchFamily="2" charset="-34"/>
              </a:rPr>
              <a:t>มากกว่ารายได้ กล่าวคือ ภาระค่าครองชีพที่สูงขึ้นอาจกดความสามารถในการชำระหนี้ของลูกหนี้บาง </a:t>
            </a:r>
            <a:r>
              <a:rPr lang="en-US" sz="1000" dirty="0">
                <a:solidFill>
                  <a:schemeClr val="tx1">
                    <a:lumMod val="65000"/>
                    <a:lumOff val="35000"/>
                  </a:schemeClr>
                </a:solidFill>
                <a:latin typeface="BLS Text" pitchFamily="2" charset="-34"/>
                <a:cs typeface="BLS Text" pitchFamily="2" charset="-34"/>
              </a:rPr>
              <a:t>segment </a:t>
            </a:r>
            <a:r>
              <a:rPr lang="th-TH" sz="1000" dirty="0">
                <a:solidFill>
                  <a:schemeClr val="tx1">
                    <a:lumMod val="65000"/>
                    <a:lumOff val="35000"/>
                  </a:schemeClr>
                </a:solidFill>
                <a:latin typeface="BLS Text" pitchFamily="2" charset="-34"/>
                <a:cs typeface="BLS Text" pitchFamily="2" charset="-34"/>
              </a:rPr>
              <a:t>แต่ด้วย </a:t>
            </a:r>
            <a:r>
              <a:rPr lang="en-US" sz="1000" dirty="0">
                <a:solidFill>
                  <a:schemeClr val="tx1">
                    <a:lumMod val="65000"/>
                    <a:lumOff val="35000"/>
                  </a:schemeClr>
                </a:solidFill>
                <a:latin typeface="BLS Text" pitchFamily="2" charset="-34"/>
                <a:cs typeface="BLS Text" pitchFamily="2" charset="-34"/>
              </a:rPr>
              <a:t>capital buffer </a:t>
            </a:r>
            <a:r>
              <a:rPr lang="th-TH" sz="1000" dirty="0">
                <a:solidFill>
                  <a:schemeClr val="tx1">
                    <a:lumMod val="65000"/>
                    <a:lumOff val="35000"/>
                  </a:schemeClr>
                </a:solidFill>
                <a:latin typeface="BLS Text" pitchFamily="2" charset="-34"/>
                <a:cs typeface="BLS Text" pitchFamily="2" charset="-34"/>
              </a:rPr>
              <a:t>และ </a:t>
            </a:r>
            <a:r>
              <a:rPr lang="en-US" sz="1000" dirty="0">
                <a:solidFill>
                  <a:schemeClr val="tx1">
                    <a:lumMod val="65000"/>
                    <a:lumOff val="35000"/>
                  </a:schemeClr>
                </a:solidFill>
                <a:latin typeface="BLS Text" pitchFamily="2" charset="-34"/>
                <a:cs typeface="BLS Text" pitchFamily="2" charset="-34"/>
              </a:rPr>
              <a:t>provisioning </a:t>
            </a:r>
            <a:r>
              <a:rPr lang="th-TH" sz="1000" dirty="0">
                <a:solidFill>
                  <a:schemeClr val="tx1">
                    <a:lumMod val="65000"/>
                    <a:lumOff val="35000"/>
                  </a:schemeClr>
                </a:solidFill>
                <a:latin typeface="BLS Text" pitchFamily="2" charset="-34"/>
                <a:cs typeface="BLS Text" pitchFamily="2" charset="-34"/>
              </a:rPr>
              <a:t>ที่อยู่ในระดับสูง ทำให้ยังอยู่ในกรอบที่บริหารจัดการได้</a:t>
            </a:r>
          </a:p>
        </p:txBody>
      </p:sp>
      <p:sp>
        <p:nvSpPr>
          <p:cNvPr id="9" name="TextBox 8">
            <a:extLst>
              <a:ext uri="{FF2B5EF4-FFF2-40B4-BE49-F238E27FC236}">
                <a16:creationId xmlns:a16="http://schemas.microsoft.com/office/drawing/2014/main" id="{7F0E0049-F914-8FCF-8D71-9FBC04845A5D}"/>
              </a:ext>
            </a:extLst>
          </p:cNvPr>
          <p:cNvSpPr txBox="1"/>
          <p:nvPr/>
        </p:nvSpPr>
        <p:spPr>
          <a:xfrm>
            <a:off x="319628" y="886232"/>
            <a:ext cx="3095782" cy="2677656"/>
          </a:xfrm>
          <a:prstGeom prst="rect">
            <a:avLst/>
          </a:prstGeom>
          <a:noFill/>
          <a:ln>
            <a:noFill/>
          </a:ln>
        </p:spPr>
        <p:txBody>
          <a:bodyPr wrap="square" rtlCol="0">
            <a:spAutoFit/>
          </a:bodyPr>
          <a:lstStyle/>
          <a:p>
            <a:pPr algn="thaiDist">
              <a:lnSpc>
                <a:spcPct val="120000"/>
              </a:lnSpc>
              <a:spcBef>
                <a:spcPts val="600"/>
              </a:spcBef>
              <a:buSzPct val="120000"/>
            </a:pPr>
            <a:r>
              <a:rPr lang="th-TH" sz="1000" dirty="0">
                <a:solidFill>
                  <a:schemeClr val="tx1">
                    <a:lumMod val="65000"/>
                    <a:lumOff val="35000"/>
                  </a:schemeClr>
                </a:solidFill>
                <a:latin typeface="BLS Text" pitchFamily="2" charset="-34"/>
                <a:cs typeface="BLS Text" pitchFamily="2" charset="-34"/>
              </a:rPr>
              <a:t>จักรเศรษฐกิจโลกหรือ </a:t>
            </a:r>
            <a:r>
              <a:rPr lang="en-US" sz="1000" dirty="0">
                <a:solidFill>
                  <a:schemeClr val="tx1">
                    <a:lumMod val="65000"/>
                    <a:lumOff val="35000"/>
                  </a:schemeClr>
                </a:solidFill>
                <a:latin typeface="BLS Text" pitchFamily="2" charset="-34"/>
                <a:cs typeface="BLS Text" pitchFamily="2" charset="-34"/>
              </a:rPr>
              <a:t>commodity cycle </a:t>
            </a:r>
            <a:r>
              <a:rPr lang="th-TH" sz="1000" dirty="0">
                <a:solidFill>
                  <a:schemeClr val="tx1">
                    <a:lumMod val="65000"/>
                    <a:lumOff val="35000"/>
                  </a:schemeClr>
                </a:solidFill>
                <a:latin typeface="BLS Text" pitchFamily="2" charset="-34"/>
                <a:cs typeface="BLS Text" pitchFamily="2" charset="-34"/>
              </a:rPr>
              <a:t>อย่างมีนัยสำคัญ แม้ต้นทุนไฟฟ้าจะปรับตัวสูงขึ้น แต่สัดส่วนเมื่อเทียบกับรายได้รวมยังอยู่ในระดับที่บริหารจัดการได้ และผู้ประกอบการยังมี </a:t>
            </a:r>
            <a:r>
              <a:rPr lang="en-US" sz="1000" dirty="0">
                <a:solidFill>
                  <a:schemeClr val="tx1">
                    <a:lumMod val="65000"/>
                    <a:lumOff val="35000"/>
                  </a:schemeClr>
                </a:solidFill>
                <a:latin typeface="BLS Text" pitchFamily="2" charset="-34"/>
                <a:cs typeface="BLS Text" pitchFamily="2" charset="-34"/>
              </a:rPr>
              <a:t>pricing discipline </a:t>
            </a:r>
            <a:r>
              <a:rPr lang="th-TH" sz="1000" dirty="0">
                <a:solidFill>
                  <a:schemeClr val="tx1">
                    <a:lumMod val="65000"/>
                    <a:lumOff val="35000"/>
                  </a:schemeClr>
                </a:solidFill>
                <a:latin typeface="BLS Text" pitchFamily="2" charset="-34"/>
                <a:cs typeface="BLS Text" pitchFamily="2" charset="-34"/>
              </a:rPr>
              <a:t>ผ่านการบริหารแพ็กเกจและ </a:t>
            </a:r>
            <a:r>
              <a:rPr lang="en-US" sz="1000" dirty="0">
                <a:solidFill>
                  <a:schemeClr val="tx1">
                    <a:lumMod val="65000"/>
                    <a:lumOff val="35000"/>
                  </a:schemeClr>
                </a:solidFill>
                <a:latin typeface="BLS Text" pitchFamily="2" charset="-34"/>
                <a:cs typeface="BLS Text" pitchFamily="2" charset="-34"/>
              </a:rPr>
              <a:t>ARPU </a:t>
            </a:r>
            <a:r>
              <a:rPr lang="th-TH" sz="1000" dirty="0">
                <a:solidFill>
                  <a:schemeClr val="tx1">
                    <a:lumMod val="65000"/>
                    <a:lumOff val="35000"/>
                  </a:schemeClr>
                </a:solidFill>
                <a:latin typeface="BLS Text" pitchFamily="2" charset="-34"/>
                <a:cs typeface="BLS Text" pitchFamily="2" charset="-34"/>
              </a:rPr>
              <a:t>ทำให้ผลกระทบต่อ </a:t>
            </a:r>
            <a:r>
              <a:rPr lang="en-US" sz="1000" dirty="0">
                <a:solidFill>
                  <a:schemeClr val="tx1">
                    <a:lumMod val="65000"/>
                    <a:lumOff val="35000"/>
                  </a:schemeClr>
                </a:solidFill>
                <a:latin typeface="BLS Text" pitchFamily="2" charset="-34"/>
                <a:cs typeface="BLS Text" pitchFamily="2" charset="-34"/>
              </a:rPr>
              <a:t>EBITDA margin </a:t>
            </a:r>
            <a:r>
              <a:rPr lang="th-TH" sz="1000" dirty="0">
                <a:solidFill>
                  <a:schemeClr val="tx1">
                    <a:lumMod val="65000"/>
                    <a:lumOff val="35000"/>
                  </a:schemeClr>
                </a:solidFill>
                <a:latin typeface="BLS Text" pitchFamily="2" charset="-34"/>
                <a:cs typeface="BLS Text" pitchFamily="2" charset="-34"/>
              </a:rPr>
              <a:t>ค่อนข้างจำกัดเมื่อเทียบกับกลุ่ม </a:t>
            </a:r>
            <a:r>
              <a:rPr lang="en-US" sz="1000" dirty="0">
                <a:solidFill>
                  <a:schemeClr val="tx1">
                    <a:lumMod val="65000"/>
                    <a:lumOff val="35000"/>
                  </a:schemeClr>
                </a:solidFill>
                <a:latin typeface="BLS Text" pitchFamily="2" charset="-34"/>
                <a:cs typeface="BLS Text" pitchFamily="2" charset="-34"/>
              </a:rPr>
              <a:t>energy-sensitive </a:t>
            </a:r>
            <a:r>
              <a:rPr lang="th-TH" sz="1000" dirty="0">
                <a:solidFill>
                  <a:schemeClr val="tx1">
                    <a:lumMod val="65000"/>
                    <a:lumOff val="35000"/>
                  </a:schemeClr>
                </a:solidFill>
                <a:latin typeface="BLS Text" pitchFamily="2" charset="-34"/>
                <a:cs typeface="BLS Text" pitchFamily="2" charset="-34"/>
              </a:rPr>
              <a:t>อื่นๆ สะท้อนถึง </a:t>
            </a:r>
            <a:r>
              <a:rPr lang="en-US" sz="1000" dirty="0">
                <a:solidFill>
                  <a:schemeClr val="tx1">
                    <a:lumMod val="65000"/>
                    <a:lumOff val="35000"/>
                  </a:schemeClr>
                </a:solidFill>
                <a:latin typeface="BLS Text" pitchFamily="2" charset="-34"/>
                <a:cs typeface="BLS Text" pitchFamily="2" charset="-34"/>
              </a:rPr>
              <a:t>earnings visibility </a:t>
            </a:r>
            <a:r>
              <a:rPr lang="th-TH" sz="1000" dirty="0">
                <a:solidFill>
                  <a:schemeClr val="tx1">
                    <a:lumMod val="65000"/>
                    <a:lumOff val="35000"/>
                  </a:schemeClr>
                </a:solidFill>
                <a:latin typeface="BLS Text" pitchFamily="2" charset="-34"/>
                <a:cs typeface="BLS Text" pitchFamily="2" charset="-34"/>
              </a:rPr>
              <a:t>และ </a:t>
            </a:r>
            <a:r>
              <a:rPr lang="en-US" sz="1000" dirty="0">
                <a:solidFill>
                  <a:schemeClr val="tx1">
                    <a:lumMod val="65000"/>
                    <a:lumOff val="35000"/>
                  </a:schemeClr>
                </a:solidFill>
                <a:latin typeface="BLS Text" pitchFamily="2" charset="-34"/>
                <a:cs typeface="BLS Text" pitchFamily="2" charset="-34"/>
              </a:rPr>
              <a:t>stability </a:t>
            </a:r>
            <a:r>
              <a:rPr lang="th-TH" sz="1000" dirty="0">
                <a:solidFill>
                  <a:schemeClr val="tx1">
                    <a:lumMod val="65000"/>
                    <a:lumOff val="35000"/>
                  </a:schemeClr>
                </a:solidFill>
                <a:latin typeface="BLS Text" pitchFamily="2" charset="-34"/>
                <a:cs typeface="BLS Text" pitchFamily="2" charset="-34"/>
              </a:rPr>
              <a:t>ที่สูงกว่า </a:t>
            </a:r>
            <a:r>
              <a:rPr lang="en-US" sz="1000" dirty="0">
                <a:solidFill>
                  <a:schemeClr val="tx1">
                    <a:lumMod val="65000"/>
                    <a:lumOff val="35000"/>
                  </a:schemeClr>
                </a:solidFill>
                <a:latin typeface="BLS Text" pitchFamily="2" charset="-34"/>
                <a:cs typeface="BLS Text" pitchFamily="2" charset="-34"/>
              </a:rPr>
              <a:t>sector </a:t>
            </a:r>
            <a:r>
              <a:rPr lang="th-TH" sz="1000" dirty="0">
                <a:solidFill>
                  <a:schemeClr val="tx1">
                    <a:lumMod val="65000"/>
                    <a:lumOff val="35000"/>
                  </a:schemeClr>
                </a:solidFill>
                <a:latin typeface="BLS Text" pitchFamily="2" charset="-34"/>
                <a:cs typeface="BLS Text" pitchFamily="2" charset="-34"/>
              </a:rPr>
              <a:t>อื่นในภาวะผันผวน ในขณะที่ </a:t>
            </a:r>
            <a:r>
              <a:rPr lang="en-US" sz="1000" dirty="0">
                <a:solidFill>
                  <a:schemeClr val="tx1">
                    <a:lumMod val="65000"/>
                    <a:lumOff val="35000"/>
                  </a:schemeClr>
                </a:solidFill>
                <a:latin typeface="BLS Text" pitchFamily="2" charset="-34"/>
                <a:cs typeface="BLS Text" pitchFamily="2" charset="-34"/>
              </a:rPr>
              <a:t>Domestic structural plays </a:t>
            </a:r>
            <a:r>
              <a:rPr lang="th-TH" sz="1000" dirty="0">
                <a:solidFill>
                  <a:schemeClr val="tx1">
                    <a:lumMod val="65000"/>
                    <a:lumOff val="35000"/>
                  </a:schemeClr>
                </a:solidFill>
                <a:latin typeface="BLS Text" pitchFamily="2" charset="-34"/>
                <a:cs typeface="BLS Text" pitchFamily="2" charset="-34"/>
              </a:rPr>
              <a:t>ได้แก่ </a:t>
            </a:r>
            <a:r>
              <a:rPr lang="en-US" sz="1000" dirty="0">
                <a:solidFill>
                  <a:schemeClr val="tx1">
                    <a:lumMod val="65000"/>
                    <a:lumOff val="35000"/>
                  </a:schemeClr>
                </a:solidFill>
                <a:latin typeface="BLS Text" pitchFamily="2" charset="-34"/>
                <a:cs typeface="BLS Text" pitchFamily="2" charset="-34"/>
              </a:rPr>
              <a:t>Industrial Estate, Contractor, Property </a:t>
            </a:r>
            <a:r>
              <a:rPr lang="th-TH" sz="1000" dirty="0">
                <a:solidFill>
                  <a:schemeClr val="tx1">
                    <a:lumMod val="65000"/>
                    <a:lumOff val="35000"/>
                  </a:schemeClr>
                </a:solidFill>
                <a:latin typeface="BLS Text" pitchFamily="2" charset="-34"/>
                <a:cs typeface="BLS Text" pitchFamily="2" charset="-34"/>
              </a:rPr>
              <a:t>และ </a:t>
            </a:r>
            <a:r>
              <a:rPr lang="en-US" sz="1000" dirty="0">
                <a:solidFill>
                  <a:schemeClr val="tx1">
                    <a:lumMod val="65000"/>
                    <a:lumOff val="35000"/>
                  </a:schemeClr>
                </a:solidFill>
                <a:latin typeface="BLS Text" pitchFamily="2" charset="-34"/>
                <a:cs typeface="BLS Text" pitchFamily="2" charset="-34"/>
              </a:rPr>
              <a:t>Financials </a:t>
            </a:r>
            <a:r>
              <a:rPr lang="th-TH" sz="1000" dirty="0">
                <a:solidFill>
                  <a:schemeClr val="tx1">
                    <a:lumMod val="65000"/>
                    <a:lumOff val="35000"/>
                  </a:schemeClr>
                </a:solidFill>
                <a:latin typeface="BLS Text" pitchFamily="2" charset="-34"/>
                <a:cs typeface="BLS Text" pitchFamily="2" charset="-34"/>
              </a:rPr>
              <a:t>มีความอ่อนไหวต่อ </a:t>
            </a:r>
            <a:r>
              <a:rPr lang="en-US" sz="1000" dirty="0">
                <a:solidFill>
                  <a:schemeClr val="tx1">
                    <a:lumMod val="65000"/>
                    <a:lumOff val="35000"/>
                  </a:schemeClr>
                </a:solidFill>
                <a:latin typeface="BLS Text" pitchFamily="2" charset="-34"/>
                <a:cs typeface="BLS Text" pitchFamily="2" charset="-34"/>
              </a:rPr>
              <a:t>shock </a:t>
            </a:r>
            <a:r>
              <a:rPr lang="th-TH" sz="1000" dirty="0">
                <a:solidFill>
                  <a:schemeClr val="tx1">
                    <a:lumMod val="65000"/>
                    <a:lumOff val="35000"/>
                  </a:schemeClr>
                </a:solidFill>
                <a:latin typeface="BLS Text" pitchFamily="2" charset="-34"/>
                <a:cs typeface="BLS Text" pitchFamily="2" charset="-34"/>
              </a:rPr>
              <a:t>รอบนี้ค่อนข้างต่ำ เนื่องจากไม่ได้มี </a:t>
            </a:r>
            <a:r>
              <a:rPr lang="en-US" sz="1000" dirty="0">
                <a:solidFill>
                  <a:schemeClr val="tx1">
                    <a:lumMod val="65000"/>
                    <a:lumOff val="35000"/>
                  </a:schemeClr>
                </a:solidFill>
                <a:latin typeface="BLS Text" pitchFamily="2" charset="-34"/>
                <a:cs typeface="BLS Text" pitchFamily="2" charset="-34"/>
              </a:rPr>
              <a:t>direct linkage </a:t>
            </a:r>
            <a:r>
              <a:rPr lang="th-TH" sz="1000" dirty="0">
                <a:solidFill>
                  <a:schemeClr val="tx1">
                    <a:lumMod val="65000"/>
                    <a:lumOff val="35000"/>
                  </a:schemeClr>
                </a:solidFill>
                <a:latin typeface="BLS Text" pitchFamily="2" charset="-34"/>
                <a:cs typeface="BLS Text" pitchFamily="2" charset="-34"/>
              </a:rPr>
              <a:t>กับราคาพลังงานหรือ </a:t>
            </a:r>
            <a:r>
              <a:rPr lang="en-US" sz="1000" dirty="0">
                <a:solidFill>
                  <a:schemeClr val="tx1">
                    <a:lumMod val="65000"/>
                    <a:lumOff val="35000"/>
                  </a:schemeClr>
                </a:solidFill>
                <a:latin typeface="BLS Text" pitchFamily="2" charset="-34"/>
                <a:cs typeface="BLS Text" pitchFamily="2" charset="-34"/>
              </a:rPr>
              <a:t>supply disruption</a:t>
            </a:r>
            <a:r>
              <a:rPr lang="th-TH" sz="1000" dirty="0">
                <a:solidFill>
                  <a:schemeClr val="tx1">
                    <a:lumMod val="65000"/>
                    <a:lumOff val="35000"/>
                  </a:schemeClr>
                </a:solidFill>
                <a:latin typeface="BLS Text" pitchFamily="2" charset="-34"/>
                <a:cs typeface="BLS Text" pitchFamily="2" charset="-34"/>
              </a:rPr>
              <a:t> ในระดับเดียวกับกลุ่ม </a:t>
            </a:r>
            <a:r>
              <a:rPr lang="en-US" sz="1000" dirty="0">
                <a:solidFill>
                  <a:schemeClr val="tx1">
                    <a:lumMod val="65000"/>
                    <a:lumOff val="35000"/>
                  </a:schemeClr>
                </a:solidFill>
                <a:latin typeface="BLS Text" pitchFamily="2" charset="-34"/>
                <a:cs typeface="BLS Text" pitchFamily="2" charset="-34"/>
              </a:rPr>
              <a:t>global cyclicals </a:t>
            </a:r>
            <a:r>
              <a:rPr lang="th-TH" sz="1000" dirty="0">
                <a:solidFill>
                  <a:schemeClr val="tx1">
                    <a:lumMod val="65000"/>
                    <a:lumOff val="35000"/>
                  </a:schemeClr>
                </a:solidFill>
                <a:latin typeface="BLS Text" pitchFamily="2" charset="-34"/>
                <a:cs typeface="BLS Text" pitchFamily="2" charset="-34"/>
              </a:rPr>
              <a:t>แต่ยังอาจโดนกระทบทางอ้อมจากเศรษฐกิจ</a:t>
            </a:r>
          </a:p>
        </p:txBody>
      </p:sp>
      <p:graphicFrame>
        <p:nvGraphicFramePr>
          <p:cNvPr id="3" name="Table 2">
            <a:extLst>
              <a:ext uri="{FF2B5EF4-FFF2-40B4-BE49-F238E27FC236}">
                <a16:creationId xmlns:a16="http://schemas.microsoft.com/office/drawing/2014/main" id="{1C52A665-CB45-E576-05AA-21BE0EAB52C3}"/>
              </a:ext>
            </a:extLst>
          </p:cNvPr>
          <p:cNvGraphicFramePr>
            <a:graphicFrameLocks noGrp="1"/>
          </p:cNvGraphicFramePr>
          <p:nvPr>
            <p:extLst>
              <p:ext uri="{D42A27DB-BD31-4B8C-83A1-F6EECF244321}">
                <p14:modId xmlns:p14="http://schemas.microsoft.com/office/powerpoint/2010/main" val="251663294"/>
              </p:ext>
            </p:extLst>
          </p:nvPr>
        </p:nvGraphicFramePr>
        <p:xfrm>
          <a:off x="159792" y="3782049"/>
          <a:ext cx="6492667" cy="4894407"/>
        </p:xfrm>
        <a:graphic>
          <a:graphicData uri="http://schemas.openxmlformats.org/drawingml/2006/table">
            <a:tbl>
              <a:tblPr/>
              <a:tblGrid>
                <a:gridCol w="748928">
                  <a:extLst>
                    <a:ext uri="{9D8B030D-6E8A-4147-A177-3AD203B41FA5}">
                      <a16:colId xmlns:a16="http://schemas.microsoft.com/office/drawing/2014/main" val="2730138621"/>
                    </a:ext>
                  </a:extLst>
                </a:gridCol>
                <a:gridCol w="1387174">
                  <a:extLst>
                    <a:ext uri="{9D8B030D-6E8A-4147-A177-3AD203B41FA5}">
                      <a16:colId xmlns:a16="http://schemas.microsoft.com/office/drawing/2014/main" val="2125383360"/>
                    </a:ext>
                  </a:extLst>
                </a:gridCol>
                <a:gridCol w="991761">
                  <a:extLst>
                    <a:ext uri="{9D8B030D-6E8A-4147-A177-3AD203B41FA5}">
                      <a16:colId xmlns:a16="http://schemas.microsoft.com/office/drawing/2014/main" val="898087416"/>
                    </a:ext>
                  </a:extLst>
                </a:gridCol>
                <a:gridCol w="1602076">
                  <a:extLst>
                    <a:ext uri="{9D8B030D-6E8A-4147-A177-3AD203B41FA5}">
                      <a16:colId xmlns:a16="http://schemas.microsoft.com/office/drawing/2014/main" val="1773092577"/>
                    </a:ext>
                  </a:extLst>
                </a:gridCol>
                <a:gridCol w="1762728">
                  <a:extLst>
                    <a:ext uri="{9D8B030D-6E8A-4147-A177-3AD203B41FA5}">
                      <a16:colId xmlns:a16="http://schemas.microsoft.com/office/drawing/2014/main" val="1521697439"/>
                    </a:ext>
                  </a:extLst>
                </a:gridCol>
              </a:tblGrid>
              <a:tr h="170812">
                <a:tc>
                  <a:txBody>
                    <a:bodyPr/>
                    <a:lstStyle/>
                    <a:p>
                      <a:pPr algn="ctr"/>
                      <a:endParaRPr lang="th-TH" sz="900" b="1" dirty="0">
                        <a:solidFill>
                          <a:schemeClr val="bg1"/>
                        </a:solidFill>
                        <a:latin typeface="BLS Text" panose="00000500000000000000" pitchFamily="2" charset="-34"/>
                        <a:cs typeface="BLS Text" panose="00000500000000000000" pitchFamily="2" charset="-34"/>
                      </a:endParaRPr>
                    </a:p>
                  </a:txBody>
                  <a:tcPr marL="25460" marR="25460" marT="12730" marB="12730" anchor="ctr">
                    <a:lnL>
                      <a:noFill/>
                    </a:lnL>
                    <a:lnR>
                      <a:noFill/>
                    </a:lnR>
                    <a:lnT>
                      <a:noFill/>
                    </a:lnT>
                    <a:lnB>
                      <a:noFill/>
                    </a:lnB>
                    <a:solidFill>
                      <a:schemeClr val="accent1"/>
                    </a:solidFill>
                  </a:tcPr>
                </a:tc>
                <a:tc>
                  <a:txBody>
                    <a:bodyPr/>
                    <a:lstStyle/>
                    <a:p>
                      <a:pPr algn="ctr"/>
                      <a:r>
                        <a:rPr lang="en-US" sz="900" b="1" dirty="0">
                          <a:solidFill>
                            <a:schemeClr val="bg1"/>
                          </a:solidFill>
                          <a:latin typeface="BLS Text" panose="00000500000000000000" pitchFamily="2" charset="-34"/>
                          <a:cs typeface="BLS Text" panose="00000500000000000000" pitchFamily="2" charset="-34"/>
                        </a:rPr>
                        <a:t>Sub-sector / </a:t>
                      </a:r>
                      <a:r>
                        <a:rPr lang="th-TH" sz="900" b="1" dirty="0">
                          <a:solidFill>
                            <a:schemeClr val="bg1"/>
                          </a:solidFill>
                          <a:latin typeface="BLS Text" panose="00000500000000000000" pitchFamily="2" charset="-34"/>
                          <a:cs typeface="BLS Text" panose="00000500000000000000" pitchFamily="2" charset="-34"/>
                        </a:rPr>
                        <a:t>ธุรกิจ</a:t>
                      </a:r>
                    </a:p>
                  </a:txBody>
                  <a:tcPr marL="25460" marR="25460" marT="12730" marB="12730" anchor="ctr">
                    <a:lnL>
                      <a:noFill/>
                    </a:lnL>
                    <a:lnR>
                      <a:noFill/>
                    </a:lnR>
                    <a:lnT>
                      <a:noFill/>
                    </a:lnT>
                    <a:lnB>
                      <a:noFill/>
                    </a:lnB>
                    <a:solidFill>
                      <a:schemeClr val="accent1"/>
                    </a:solidFill>
                  </a:tcPr>
                </a:tc>
                <a:tc>
                  <a:txBody>
                    <a:bodyPr/>
                    <a:lstStyle/>
                    <a:p>
                      <a:pPr algn="ctr"/>
                      <a:r>
                        <a:rPr lang="en-US" sz="900" b="1" dirty="0">
                          <a:solidFill>
                            <a:schemeClr val="bg1"/>
                          </a:solidFill>
                          <a:latin typeface="BLS Text" panose="00000500000000000000" pitchFamily="2" charset="-34"/>
                          <a:cs typeface="BLS Text" panose="00000500000000000000" pitchFamily="2" charset="-34"/>
                        </a:rPr>
                        <a:t>Impact</a:t>
                      </a:r>
                    </a:p>
                  </a:txBody>
                  <a:tcPr marL="25460" marR="25460" marT="12730" marB="12730" anchor="ctr">
                    <a:lnL>
                      <a:noFill/>
                    </a:lnL>
                    <a:lnR>
                      <a:noFill/>
                    </a:lnR>
                    <a:lnT>
                      <a:noFill/>
                    </a:lnT>
                    <a:lnB>
                      <a:noFill/>
                    </a:lnB>
                    <a:solidFill>
                      <a:schemeClr val="accent1"/>
                    </a:solidFill>
                  </a:tcPr>
                </a:tc>
                <a:tc>
                  <a:txBody>
                    <a:bodyPr/>
                    <a:lstStyle/>
                    <a:p>
                      <a:pPr algn="ctr"/>
                      <a:r>
                        <a:rPr lang="th-TH" sz="900" b="1" dirty="0">
                          <a:solidFill>
                            <a:schemeClr val="bg1"/>
                          </a:solidFill>
                          <a:latin typeface="BLS Text" panose="00000500000000000000" pitchFamily="2" charset="-34"/>
                          <a:cs typeface="BLS Text" panose="00000500000000000000" pitchFamily="2" charset="-34"/>
                        </a:rPr>
                        <a:t>กลไกหลัก</a:t>
                      </a:r>
                    </a:p>
                  </a:txBody>
                  <a:tcPr marL="25460" marR="25460" marT="12730" marB="12730" anchor="ctr">
                    <a:lnL>
                      <a:noFill/>
                    </a:lnL>
                    <a:lnR>
                      <a:noFill/>
                    </a:lnR>
                    <a:lnT>
                      <a:noFill/>
                    </a:lnT>
                    <a:lnB>
                      <a:noFill/>
                    </a:lnB>
                    <a:solidFill>
                      <a:schemeClr val="accent1"/>
                    </a:solidFill>
                  </a:tcPr>
                </a:tc>
                <a:tc>
                  <a:txBody>
                    <a:bodyPr/>
                    <a:lstStyle/>
                    <a:p>
                      <a:pPr algn="ctr"/>
                      <a:r>
                        <a:rPr lang="th-TH" sz="900" b="1" dirty="0">
                          <a:solidFill>
                            <a:schemeClr val="bg1"/>
                          </a:solidFill>
                          <a:latin typeface="BLS Text" panose="00000500000000000000" pitchFamily="2" charset="-34"/>
                          <a:cs typeface="BLS Text" panose="00000500000000000000" pitchFamily="2" charset="-34"/>
                        </a:rPr>
                        <a:t>มุมมองกำไร (</a:t>
                      </a:r>
                      <a:r>
                        <a:rPr lang="en-US" sz="900" b="1" dirty="0">
                          <a:solidFill>
                            <a:schemeClr val="bg1"/>
                          </a:solidFill>
                          <a:latin typeface="BLS Text" panose="00000500000000000000" pitchFamily="2" charset="-34"/>
                          <a:cs typeface="BLS Text" panose="00000500000000000000" pitchFamily="2" charset="-34"/>
                        </a:rPr>
                        <a:t>Earnings Profile)</a:t>
                      </a:r>
                    </a:p>
                  </a:txBody>
                  <a:tcPr marL="25460" marR="25460" marT="12730" marB="12730" anchor="ctr">
                    <a:lnL>
                      <a:noFill/>
                    </a:lnL>
                    <a:lnR>
                      <a:noFill/>
                    </a:lnR>
                    <a:lnT>
                      <a:noFill/>
                    </a:lnT>
                    <a:lnB>
                      <a:noFill/>
                    </a:lnB>
                    <a:solidFill>
                      <a:schemeClr val="accent1"/>
                    </a:solidFill>
                  </a:tcPr>
                </a:tc>
                <a:extLst>
                  <a:ext uri="{0D108BD9-81ED-4DB2-BD59-A6C34878D82A}">
                    <a16:rowId xmlns:a16="http://schemas.microsoft.com/office/drawing/2014/main" val="2105013405"/>
                  </a:ext>
                </a:extLst>
              </a:tr>
              <a:tr h="154804">
                <a:tc rowSpan="3">
                  <a:txBody>
                    <a:bodyPr/>
                    <a:lstStyle/>
                    <a:p>
                      <a:pPr algn="ctr"/>
                      <a:r>
                        <a:rPr lang="en-US" sz="900" b="1" dirty="0">
                          <a:latin typeface="BLS Text" panose="00000500000000000000" pitchFamily="2" charset="-34"/>
                          <a:cs typeface="BLS Text" panose="00000500000000000000" pitchFamily="2" charset="-34"/>
                        </a:rPr>
                        <a:t>Energy</a:t>
                      </a:r>
                      <a:endParaRPr lang="en-US" sz="900" dirty="0">
                        <a:latin typeface="BLS Text" panose="00000500000000000000" pitchFamily="2" charset="-34"/>
                        <a:cs typeface="BLS Text" panose="00000500000000000000" pitchFamily="2" charset="-34"/>
                      </a:endParaRPr>
                    </a:p>
                  </a:txBody>
                  <a:tcPr marL="25460" marR="25460" marT="12730" marB="12730" anchor="ctr">
                    <a:lnL>
                      <a:noFill/>
                    </a:lnL>
                    <a:lnR>
                      <a:noFill/>
                    </a:lnR>
                    <a:lnT>
                      <a:noFill/>
                    </a:lnT>
                    <a:lnB w="3175" cap="flat" cmpd="sng" algn="ctr">
                      <a:solidFill>
                        <a:schemeClr val="tx1"/>
                      </a:solidFill>
                      <a:prstDash val="solid"/>
                      <a:round/>
                      <a:headEnd type="none" w="med" len="med"/>
                      <a:tailEnd type="none" w="med" len="med"/>
                    </a:lnB>
                  </a:tcPr>
                </a:tc>
                <a:tc>
                  <a:txBody>
                    <a:bodyPr/>
                    <a:lstStyle/>
                    <a:p>
                      <a:pPr algn="ctr"/>
                      <a:r>
                        <a:rPr lang="en-US" sz="800" dirty="0">
                          <a:latin typeface="BLS Text" panose="00000500000000000000" pitchFamily="2" charset="-34"/>
                          <a:cs typeface="BLS Text" panose="00000500000000000000" pitchFamily="2" charset="-34"/>
                        </a:rPr>
                        <a:t>Upstream (E&amp;P)</a:t>
                      </a:r>
                    </a:p>
                  </a:txBody>
                  <a:tcPr marL="25460" marR="25460" marT="12730" marB="12730" anchor="ctr">
                    <a:lnL>
                      <a:noFill/>
                    </a:lnL>
                    <a:lnR>
                      <a:noFill/>
                    </a:lnR>
                    <a:lnT>
                      <a:noFill/>
                    </a:lnT>
                    <a:lnB>
                      <a:noFill/>
                    </a:lnB>
                    <a:solidFill>
                      <a:schemeClr val="accent1">
                        <a:lumMod val="20000"/>
                        <a:lumOff val="80000"/>
                      </a:schemeClr>
                    </a:solidFill>
                  </a:tcPr>
                </a:tc>
                <a:tc>
                  <a:txBody>
                    <a:bodyPr/>
                    <a:lstStyle/>
                    <a:p>
                      <a:pPr algn="ctr"/>
                      <a:r>
                        <a:rPr lang="th-TH" sz="800" dirty="0">
                          <a:latin typeface="BLS Text" panose="00000500000000000000" pitchFamily="2" charset="-34"/>
                          <a:cs typeface="BLS Text" panose="00000500000000000000" pitchFamily="2" charset="-34"/>
                        </a:rPr>
                        <a:t>บวกมาก</a:t>
                      </a:r>
                    </a:p>
                  </a:txBody>
                  <a:tcPr marL="25460" marR="25460" marT="12730" marB="12730" anchor="ctr">
                    <a:lnL>
                      <a:noFill/>
                    </a:lnL>
                    <a:lnR>
                      <a:noFill/>
                    </a:lnR>
                    <a:lnT>
                      <a:noFill/>
                    </a:lnT>
                    <a:lnB>
                      <a:noFill/>
                    </a:lnB>
                    <a:solidFill>
                      <a:schemeClr val="accent1">
                        <a:lumMod val="20000"/>
                        <a:lumOff val="80000"/>
                      </a:schemeClr>
                    </a:solidFill>
                  </a:tcPr>
                </a:tc>
                <a:tc>
                  <a:txBody>
                    <a:bodyPr/>
                    <a:lstStyle/>
                    <a:p>
                      <a:pPr algn="ctr"/>
                      <a:r>
                        <a:rPr lang="th-TH" sz="800" dirty="0">
                          <a:latin typeface="BLS Text" panose="00000500000000000000" pitchFamily="2" charset="-34"/>
                          <a:cs typeface="BLS Text" panose="00000500000000000000" pitchFamily="2" charset="-34"/>
                        </a:rPr>
                        <a:t>ราคาน้ำมัน/ก๊าซ ขึ้น</a:t>
                      </a:r>
                    </a:p>
                  </a:txBody>
                  <a:tcPr marL="25460" marR="25460" marT="12730" marB="12730" anchor="ctr">
                    <a:lnL>
                      <a:noFill/>
                    </a:lnL>
                    <a:lnR>
                      <a:noFill/>
                    </a:lnR>
                    <a:lnT>
                      <a:noFill/>
                    </a:lnT>
                    <a:lnB>
                      <a:noFill/>
                    </a:lnB>
                    <a:solidFill>
                      <a:schemeClr val="accent1">
                        <a:lumMod val="20000"/>
                        <a:lumOff val="80000"/>
                      </a:schemeClr>
                    </a:solidFill>
                  </a:tcPr>
                </a:tc>
                <a:tc>
                  <a:txBody>
                    <a:bodyPr/>
                    <a:lstStyle/>
                    <a:p>
                      <a:pPr algn="ctr"/>
                      <a:r>
                        <a:rPr lang="en-US" sz="800" dirty="0">
                          <a:latin typeface="BLS Text" panose="00000500000000000000" pitchFamily="2" charset="-34"/>
                          <a:cs typeface="BLS Text" panose="00000500000000000000" pitchFamily="2" charset="-34"/>
                        </a:rPr>
                        <a:t>Earnings leverage </a:t>
                      </a:r>
                      <a:r>
                        <a:rPr lang="th-TH" sz="800" dirty="0">
                          <a:latin typeface="BLS Text" panose="00000500000000000000" pitchFamily="2" charset="-34"/>
                          <a:cs typeface="BLS Text" panose="00000500000000000000" pitchFamily="2" charset="-34"/>
                        </a:rPr>
                        <a:t>สูง ได้ประโยชน์เต็ม</a:t>
                      </a:r>
                    </a:p>
                  </a:txBody>
                  <a:tcPr marL="25460" marR="25460" marT="12730" marB="12730"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2482962126"/>
                  </a:ext>
                </a:extLst>
              </a:tr>
              <a:tr h="154804">
                <a:tc vMerge="1">
                  <a:txBody>
                    <a:bodyPr/>
                    <a:lstStyle/>
                    <a:p>
                      <a:pPr algn="ctr"/>
                      <a:endParaRPr lang="en-US" sz="900" dirty="0">
                        <a:latin typeface="BLS Text" panose="00000500000000000000" pitchFamily="2" charset="-34"/>
                        <a:cs typeface="BLS Text" panose="00000500000000000000" pitchFamily="2" charset="-34"/>
                      </a:endParaRPr>
                    </a:p>
                  </a:txBody>
                  <a:tcPr marL="25460" marR="25460" marT="12730" marB="12730" anchor="ctr">
                    <a:lnL>
                      <a:noFill/>
                    </a:lnL>
                    <a:lnR>
                      <a:noFill/>
                    </a:lnR>
                    <a:lnT>
                      <a:noFill/>
                    </a:lnT>
                    <a:lnB>
                      <a:noFill/>
                    </a:lnB>
                  </a:tcPr>
                </a:tc>
                <a:tc>
                  <a:txBody>
                    <a:bodyPr/>
                    <a:lstStyle/>
                    <a:p>
                      <a:pPr algn="ctr"/>
                      <a:r>
                        <a:rPr lang="en-US" sz="800" dirty="0">
                          <a:latin typeface="BLS Text" panose="00000500000000000000" pitchFamily="2" charset="-34"/>
                          <a:cs typeface="BLS Text" panose="00000500000000000000" pitchFamily="2" charset="-34"/>
                        </a:rPr>
                        <a:t>Refinery</a:t>
                      </a:r>
                    </a:p>
                  </a:txBody>
                  <a:tcPr marL="25460" marR="25460" marT="12730" marB="12730" anchor="ctr">
                    <a:lnL>
                      <a:noFill/>
                    </a:lnL>
                    <a:lnR>
                      <a:noFill/>
                    </a:lnR>
                    <a:lnT>
                      <a:noFill/>
                    </a:lnT>
                    <a:lnB>
                      <a:noFill/>
                    </a:lnB>
                    <a:solidFill>
                      <a:schemeClr val="accent1">
                        <a:lumMod val="20000"/>
                        <a:lumOff val="80000"/>
                      </a:schemeClr>
                    </a:solidFill>
                  </a:tcPr>
                </a:tc>
                <a:tc>
                  <a:txBody>
                    <a:bodyPr/>
                    <a:lstStyle/>
                    <a:p>
                      <a:pPr algn="ctr"/>
                      <a:r>
                        <a:rPr lang="th-TH" sz="800" dirty="0">
                          <a:latin typeface="BLS Text" panose="00000500000000000000" pitchFamily="2" charset="-34"/>
                          <a:cs typeface="BLS Text" panose="00000500000000000000" pitchFamily="2" charset="-34"/>
                        </a:rPr>
                        <a:t>บวก</a:t>
                      </a:r>
                    </a:p>
                  </a:txBody>
                  <a:tcPr marL="25460" marR="25460" marT="12730" marB="12730" anchor="ctr">
                    <a:lnL>
                      <a:noFill/>
                    </a:lnL>
                    <a:lnR>
                      <a:noFill/>
                    </a:lnR>
                    <a:lnT>
                      <a:noFill/>
                    </a:lnT>
                    <a:lnB>
                      <a:noFill/>
                    </a:lnB>
                    <a:solidFill>
                      <a:schemeClr val="accent1">
                        <a:lumMod val="20000"/>
                        <a:lumOff val="80000"/>
                      </a:schemeClr>
                    </a:solidFill>
                  </a:tcPr>
                </a:tc>
                <a:tc>
                  <a:txBody>
                    <a:bodyPr/>
                    <a:lstStyle/>
                    <a:p>
                      <a:pPr algn="ctr"/>
                      <a:r>
                        <a:rPr lang="en-US" sz="800" dirty="0">
                          <a:latin typeface="BLS Text" panose="00000500000000000000" pitchFamily="2" charset="-34"/>
                          <a:cs typeface="BLS Text" panose="00000500000000000000" pitchFamily="2" charset="-34"/>
                        </a:rPr>
                        <a:t>GRM </a:t>
                      </a:r>
                      <a:r>
                        <a:rPr lang="th-TH" sz="800" dirty="0">
                          <a:latin typeface="BLS Text" panose="00000500000000000000" pitchFamily="2" charset="-34"/>
                          <a:cs typeface="BLS Text" panose="00000500000000000000" pitchFamily="2" charset="-34"/>
                        </a:rPr>
                        <a:t>ขยายตาม </a:t>
                      </a:r>
                      <a:r>
                        <a:rPr lang="en-US" sz="800" dirty="0">
                          <a:latin typeface="BLS Text" panose="00000500000000000000" pitchFamily="2" charset="-34"/>
                          <a:cs typeface="BLS Text" panose="00000500000000000000" pitchFamily="2" charset="-34"/>
                        </a:rPr>
                        <a:t>supply </a:t>
                      </a:r>
                      <a:r>
                        <a:rPr lang="th-TH" sz="800" dirty="0">
                          <a:latin typeface="BLS Text" panose="00000500000000000000" pitchFamily="2" charset="-34"/>
                          <a:cs typeface="BLS Text" panose="00000500000000000000" pitchFamily="2" charset="-34"/>
                        </a:rPr>
                        <a:t>ตึง</a:t>
                      </a:r>
                    </a:p>
                  </a:txBody>
                  <a:tcPr marL="25460" marR="25460" marT="12730" marB="12730" anchor="ctr">
                    <a:lnL>
                      <a:noFill/>
                    </a:lnL>
                    <a:lnR>
                      <a:noFill/>
                    </a:lnR>
                    <a:lnT>
                      <a:noFill/>
                    </a:lnT>
                    <a:lnB>
                      <a:noFill/>
                    </a:lnB>
                    <a:solidFill>
                      <a:schemeClr val="accent1">
                        <a:lumMod val="20000"/>
                        <a:lumOff val="80000"/>
                      </a:schemeClr>
                    </a:solidFill>
                  </a:tcPr>
                </a:tc>
                <a:tc>
                  <a:txBody>
                    <a:bodyPr/>
                    <a:lstStyle/>
                    <a:p>
                      <a:pPr algn="ctr"/>
                      <a:r>
                        <a:rPr lang="th-TH" sz="800" dirty="0">
                          <a:latin typeface="BLS Text" panose="00000500000000000000" pitchFamily="2" charset="-34"/>
                          <a:cs typeface="BLS Text" panose="00000500000000000000" pitchFamily="2" charset="-34"/>
                        </a:rPr>
                        <a:t>กำไรฟื้นตาม </a:t>
                      </a:r>
                      <a:r>
                        <a:rPr lang="en-US" sz="800" dirty="0">
                          <a:latin typeface="BLS Text" panose="00000500000000000000" pitchFamily="2" charset="-34"/>
                          <a:cs typeface="BLS Text" panose="00000500000000000000" pitchFamily="2" charset="-34"/>
                        </a:rPr>
                        <a:t>margin</a:t>
                      </a:r>
                    </a:p>
                  </a:txBody>
                  <a:tcPr marL="25460" marR="25460" marT="12730" marB="12730"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2149853247"/>
                  </a:ext>
                </a:extLst>
              </a:tr>
              <a:tr h="154804">
                <a:tc vMerge="1">
                  <a:txBody>
                    <a:bodyPr/>
                    <a:lstStyle/>
                    <a:p>
                      <a:pPr algn="ctr"/>
                      <a:endParaRPr lang="en-US" sz="900" dirty="0">
                        <a:latin typeface="BLS Text" panose="00000500000000000000" pitchFamily="2" charset="-34"/>
                        <a:cs typeface="BLS Text" panose="00000500000000000000" pitchFamily="2" charset="-34"/>
                      </a:endParaRPr>
                    </a:p>
                  </a:txBody>
                  <a:tcPr marL="25460" marR="25460" marT="12730" marB="12730" anchor="ctr">
                    <a:lnL>
                      <a:noFill/>
                    </a:lnL>
                    <a:lnR>
                      <a:noFill/>
                    </a:lnR>
                    <a:lnT>
                      <a:noFill/>
                    </a:lnT>
                    <a:lnB w="3175" cap="flat" cmpd="sng" algn="ctr">
                      <a:solidFill>
                        <a:schemeClr val="tx1"/>
                      </a:solidFill>
                      <a:prstDash val="solid"/>
                      <a:round/>
                      <a:headEnd type="none" w="med" len="med"/>
                      <a:tailEnd type="none" w="med" len="med"/>
                    </a:lnB>
                  </a:tcPr>
                </a:tc>
                <a:tc>
                  <a:txBody>
                    <a:bodyPr/>
                    <a:lstStyle/>
                    <a:p>
                      <a:pPr algn="ctr"/>
                      <a:r>
                        <a:rPr lang="en-US" sz="800" dirty="0">
                          <a:latin typeface="BLS Text" panose="00000500000000000000" pitchFamily="2" charset="-34"/>
                          <a:cs typeface="BLS Text" panose="00000500000000000000" pitchFamily="2" charset="-34"/>
                        </a:rPr>
                        <a:t>Downstream (</a:t>
                      </a:r>
                      <a:r>
                        <a:rPr lang="th-TH" sz="800" dirty="0">
                          <a:latin typeface="BLS Text" panose="00000500000000000000" pitchFamily="2" charset="-34"/>
                          <a:cs typeface="BLS Text" panose="00000500000000000000" pitchFamily="2" charset="-34"/>
                        </a:rPr>
                        <a:t>ปั๊มน้ำมัน)</a:t>
                      </a:r>
                    </a:p>
                  </a:txBody>
                  <a:tcPr marL="25460" marR="25460" marT="12730" marB="12730" anchor="ctr">
                    <a:lnL>
                      <a:noFill/>
                    </a:lnL>
                    <a:lnR>
                      <a:noFill/>
                    </a:lnR>
                    <a:lnT>
                      <a:noFill/>
                    </a:lnT>
                    <a:lnB w="3175" cap="flat" cmpd="sng" algn="ctr">
                      <a:solidFill>
                        <a:schemeClr val="tx1"/>
                      </a:solidFill>
                      <a:prstDash val="solid"/>
                      <a:round/>
                      <a:headEnd type="none" w="med" len="med"/>
                      <a:tailEnd type="none" w="med" len="med"/>
                    </a:lnB>
                  </a:tcPr>
                </a:tc>
                <a:tc>
                  <a:txBody>
                    <a:bodyPr/>
                    <a:lstStyle/>
                    <a:p>
                      <a:pPr algn="ctr"/>
                      <a:r>
                        <a:rPr lang="en-US" sz="800" dirty="0">
                          <a:latin typeface="BLS Text" panose="00000500000000000000" pitchFamily="2" charset="-34"/>
                          <a:cs typeface="BLS Text" panose="00000500000000000000" pitchFamily="2" charset="-34"/>
                        </a:rPr>
                        <a:t>Neutral</a:t>
                      </a:r>
                      <a:r>
                        <a:rPr lang="th-TH" sz="800" dirty="0">
                          <a:latin typeface="BLS Text" panose="00000500000000000000" pitchFamily="2" charset="-34"/>
                          <a:cs typeface="BLS Text" panose="00000500000000000000" pitchFamily="2" charset="-34"/>
                        </a:rPr>
                        <a:t>-ลบ</a:t>
                      </a:r>
                      <a:endParaRPr lang="en-US" sz="800" dirty="0">
                        <a:latin typeface="BLS Text" panose="00000500000000000000" pitchFamily="2" charset="-34"/>
                        <a:cs typeface="BLS Text" panose="00000500000000000000" pitchFamily="2" charset="-34"/>
                      </a:endParaRPr>
                    </a:p>
                  </a:txBody>
                  <a:tcPr marL="25460" marR="25460" marT="12730" marB="12730" anchor="ctr">
                    <a:lnL>
                      <a:noFill/>
                    </a:lnL>
                    <a:lnR>
                      <a:noFill/>
                    </a:lnR>
                    <a:lnT>
                      <a:noFill/>
                    </a:lnT>
                    <a:lnB w="3175" cap="flat" cmpd="sng" algn="ctr">
                      <a:solidFill>
                        <a:schemeClr val="tx1"/>
                      </a:solidFill>
                      <a:prstDash val="solid"/>
                      <a:round/>
                      <a:headEnd type="none" w="med" len="med"/>
                      <a:tailEnd type="none" w="med" len="med"/>
                    </a:lnB>
                  </a:tcPr>
                </a:tc>
                <a:tc>
                  <a:txBody>
                    <a:bodyPr/>
                    <a:lstStyle/>
                    <a:p>
                      <a:pPr algn="ctr"/>
                      <a:r>
                        <a:rPr lang="en-US" sz="800" dirty="0">
                          <a:latin typeface="BLS Text" panose="00000500000000000000" pitchFamily="2" charset="-34"/>
                          <a:cs typeface="BLS Text" panose="00000500000000000000" pitchFamily="2" charset="-34"/>
                        </a:rPr>
                        <a:t>Margin </a:t>
                      </a:r>
                      <a:r>
                        <a:rPr lang="th-TH" sz="800" dirty="0">
                          <a:latin typeface="BLS Text" panose="00000500000000000000" pitchFamily="2" charset="-34"/>
                          <a:cs typeface="BLS Text" panose="00000500000000000000" pitchFamily="2" charset="-34"/>
                        </a:rPr>
                        <a:t>ถูกควบคุม</a:t>
                      </a:r>
                    </a:p>
                  </a:txBody>
                  <a:tcPr marL="25460" marR="25460" marT="12730" marB="12730" anchor="ctr">
                    <a:lnL>
                      <a:noFill/>
                    </a:lnL>
                    <a:lnR>
                      <a:noFill/>
                    </a:lnR>
                    <a:lnT>
                      <a:noFill/>
                    </a:lnT>
                    <a:lnB w="3175" cap="flat" cmpd="sng" algn="ctr">
                      <a:solidFill>
                        <a:schemeClr val="tx1"/>
                      </a:solidFill>
                      <a:prstDash val="solid"/>
                      <a:round/>
                      <a:headEnd type="none" w="med" len="med"/>
                      <a:tailEnd type="none" w="med" len="med"/>
                    </a:lnB>
                  </a:tcPr>
                </a:tc>
                <a:tc>
                  <a:txBody>
                    <a:bodyPr/>
                    <a:lstStyle/>
                    <a:p>
                      <a:pPr algn="ctr"/>
                      <a:r>
                        <a:rPr lang="en-US" sz="800" dirty="0">
                          <a:latin typeface="BLS Text" panose="00000500000000000000" pitchFamily="2" charset="-34"/>
                          <a:cs typeface="BLS Text" panose="00000500000000000000" pitchFamily="2" charset="-34"/>
                        </a:rPr>
                        <a:t>Upside </a:t>
                      </a:r>
                      <a:r>
                        <a:rPr lang="th-TH" sz="800" dirty="0">
                          <a:latin typeface="BLS Text" panose="00000500000000000000" pitchFamily="2" charset="-34"/>
                          <a:cs typeface="BLS Text" panose="00000500000000000000" pitchFamily="2" charset="-34"/>
                        </a:rPr>
                        <a:t>จำกัดจาก </a:t>
                      </a:r>
                      <a:r>
                        <a:rPr lang="en-US" sz="800" dirty="0">
                          <a:latin typeface="BLS Text" panose="00000500000000000000" pitchFamily="2" charset="-34"/>
                          <a:cs typeface="BLS Text" panose="00000500000000000000" pitchFamily="2" charset="-34"/>
                        </a:rPr>
                        <a:t>policy</a:t>
                      </a:r>
                    </a:p>
                  </a:txBody>
                  <a:tcPr marL="25460" marR="25460" marT="12730" marB="12730" anchor="ctr">
                    <a:lnL>
                      <a:noFill/>
                    </a:lnL>
                    <a:lnR>
                      <a:noFill/>
                    </a:lnR>
                    <a:lnT>
                      <a:noFill/>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244220"/>
                  </a:ext>
                </a:extLst>
              </a:tr>
              <a:tr h="154804">
                <a:tc rowSpan="3">
                  <a:txBody>
                    <a:bodyPr/>
                    <a:lstStyle/>
                    <a:p>
                      <a:pPr algn="ctr"/>
                      <a:r>
                        <a:rPr lang="en-US" sz="900" b="1" dirty="0">
                          <a:latin typeface="BLS Text" panose="00000500000000000000" pitchFamily="2" charset="-34"/>
                          <a:cs typeface="BLS Text" panose="00000500000000000000" pitchFamily="2" charset="-34"/>
                        </a:rPr>
                        <a:t>Chemical</a:t>
                      </a:r>
                      <a:endParaRPr lang="en-US" sz="900" dirty="0">
                        <a:latin typeface="BLS Text" panose="00000500000000000000" pitchFamily="2" charset="-34"/>
                        <a:cs typeface="BLS Text" panose="00000500000000000000" pitchFamily="2" charset="-34"/>
                      </a:endParaRPr>
                    </a:p>
                  </a:txBody>
                  <a:tcPr marL="25460" marR="25460" marT="12730" marB="12730" anchor="ctr">
                    <a:lnL>
                      <a:noFill/>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sz="800" dirty="0">
                          <a:latin typeface="BLS Text" panose="00000500000000000000" pitchFamily="2" charset="-34"/>
                          <a:cs typeface="BLS Text" panose="00000500000000000000" pitchFamily="2" charset="-34"/>
                        </a:rPr>
                        <a:t>Naphtha-based (</a:t>
                      </a:r>
                      <a:r>
                        <a:rPr lang="th-TH" sz="800" dirty="0">
                          <a:latin typeface="BLS Text" panose="00000500000000000000" pitchFamily="2" charset="-34"/>
                          <a:cs typeface="BLS Text" panose="00000500000000000000" pitchFamily="2" charset="-34"/>
                        </a:rPr>
                        <a:t>เช่น </a:t>
                      </a:r>
                      <a:r>
                        <a:rPr lang="en-US" sz="800" dirty="0">
                          <a:latin typeface="BLS Text" panose="00000500000000000000" pitchFamily="2" charset="-34"/>
                          <a:cs typeface="BLS Text" panose="00000500000000000000" pitchFamily="2" charset="-34"/>
                        </a:rPr>
                        <a:t>SCC)</a:t>
                      </a:r>
                    </a:p>
                  </a:txBody>
                  <a:tcPr marL="25460" marR="25460" marT="12730" marB="12730" anchor="ctr">
                    <a:lnL>
                      <a:noFill/>
                    </a:lnL>
                    <a:lnR>
                      <a:noFill/>
                    </a:lnR>
                    <a:lnT w="3175" cap="flat" cmpd="sng" algn="ctr">
                      <a:solidFill>
                        <a:schemeClr val="tx1"/>
                      </a:solidFill>
                      <a:prstDash val="solid"/>
                      <a:round/>
                      <a:headEnd type="none" w="med" len="med"/>
                      <a:tailEnd type="none" w="med" len="med"/>
                    </a:lnT>
                    <a:lnB>
                      <a:noFill/>
                    </a:lnB>
                  </a:tcPr>
                </a:tc>
                <a:tc>
                  <a:txBody>
                    <a:bodyPr/>
                    <a:lstStyle/>
                    <a:p>
                      <a:pPr algn="ctr"/>
                      <a:r>
                        <a:rPr lang="th-TH" sz="800" dirty="0">
                          <a:latin typeface="BLS Text" panose="00000500000000000000" pitchFamily="2" charset="-34"/>
                          <a:cs typeface="BLS Text" panose="00000500000000000000" pitchFamily="2" charset="-34"/>
                        </a:rPr>
                        <a:t>ลบมาก</a:t>
                      </a:r>
                    </a:p>
                  </a:txBody>
                  <a:tcPr marL="25460" marR="25460" marT="12730" marB="12730" anchor="ctr">
                    <a:lnL>
                      <a:noFill/>
                    </a:lnL>
                    <a:lnR>
                      <a:noFill/>
                    </a:lnR>
                    <a:lnT w="3175" cap="flat" cmpd="sng" algn="ctr">
                      <a:solidFill>
                        <a:schemeClr val="tx1"/>
                      </a:solidFill>
                      <a:prstDash val="solid"/>
                      <a:round/>
                      <a:headEnd type="none" w="med" len="med"/>
                      <a:tailEnd type="none" w="med" len="med"/>
                    </a:lnT>
                    <a:lnB>
                      <a:noFill/>
                    </a:lnB>
                  </a:tcPr>
                </a:tc>
                <a:tc>
                  <a:txBody>
                    <a:bodyPr/>
                    <a:lstStyle/>
                    <a:p>
                      <a:pPr algn="ctr"/>
                      <a:r>
                        <a:rPr lang="th-TH" sz="800" dirty="0">
                          <a:latin typeface="BLS Text" panose="00000500000000000000" pitchFamily="2" charset="-34"/>
                          <a:cs typeface="BLS Text" panose="00000500000000000000" pitchFamily="2" charset="-34"/>
                        </a:rPr>
                        <a:t>ความเสี่ยงขาดแคลน </a:t>
                      </a:r>
                      <a:r>
                        <a:rPr lang="en-US" sz="800" dirty="0">
                          <a:latin typeface="BLS Text" panose="00000500000000000000" pitchFamily="2" charset="-34"/>
                          <a:cs typeface="BLS Text" panose="00000500000000000000" pitchFamily="2" charset="-34"/>
                        </a:rPr>
                        <a:t>Feedstock</a:t>
                      </a:r>
                      <a:endParaRPr lang="th-TH" sz="800" dirty="0">
                        <a:latin typeface="BLS Text" panose="00000500000000000000" pitchFamily="2" charset="-34"/>
                        <a:cs typeface="BLS Text" panose="00000500000000000000" pitchFamily="2" charset="-34"/>
                      </a:endParaRPr>
                    </a:p>
                  </a:txBody>
                  <a:tcPr marL="25460" marR="25460" marT="12730" marB="12730" anchor="ctr">
                    <a:lnL>
                      <a:noFill/>
                    </a:lnL>
                    <a:lnR>
                      <a:noFill/>
                    </a:lnR>
                    <a:lnT w="3175" cap="flat" cmpd="sng" algn="ctr">
                      <a:solidFill>
                        <a:schemeClr val="tx1"/>
                      </a:solidFill>
                      <a:prstDash val="solid"/>
                      <a:round/>
                      <a:headEnd type="none" w="med" len="med"/>
                      <a:tailEnd type="none" w="med" len="med"/>
                    </a:lnT>
                    <a:lnB>
                      <a:noFill/>
                    </a:lnB>
                  </a:tcPr>
                </a:tc>
                <a:tc>
                  <a:txBody>
                    <a:bodyPr/>
                    <a:lstStyle/>
                    <a:p>
                      <a:pPr algn="ctr"/>
                      <a:r>
                        <a:rPr lang="th-TH" sz="800" dirty="0">
                          <a:latin typeface="BLS Text" panose="00000500000000000000" pitchFamily="2" charset="-34"/>
                          <a:cs typeface="BLS Text" panose="00000500000000000000" pitchFamily="2" charset="-34"/>
                        </a:rPr>
                        <a:t>กระทบการผลิต</a:t>
                      </a:r>
                    </a:p>
                  </a:txBody>
                  <a:tcPr marL="25460" marR="25460" marT="12730" marB="12730" anchor="ctr">
                    <a:lnL>
                      <a:noFill/>
                    </a:lnL>
                    <a:lnR>
                      <a:noFill/>
                    </a:lnR>
                    <a:lnT w="3175"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1679070369"/>
                  </a:ext>
                </a:extLst>
              </a:tr>
              <a:tr h="538989">
                <a:tc vMerge="1">
                  <a:txBody>
                    <a:bodyPr/>
                    <a:lstStyle/>
                    <a:p>
                      <a:pPr algn="ctr"/>
                      <a:endParaRPr lang="en-US" sz="900" dirty="0">
                        <a:latin typeface="BLS Text" panose="00000500000000000000" pitchFamily="2" charset="-34"/>
                        <a:cs typeface="BLS Text" panose="00000500000000000000" pitchFamily="2" charset="-34"/>
                      </a:endParaRPr>
                    </a:p>
                  </a:txBody>
                  <a:tcPr marL="25460" marR="25460" marT="12730" marB="12730" anchor="ctr">
                    <a:lnL>
                      <a:noFill/>
                    </a:lnL>
                    <a:lnR>
                      <a:noFill/>
                    </a:lnR>
                    <a:lnT>
                      <a:noFill/>
                    </a:lnT>
                    <a:lnB>
                      <a:noFill/>
                    </a:lnB>
                  </a:tcPr>
                </a:tc>
                <a:tc>
                  <a:txBody>
                    <a:bodyPr/>
                    <a:lstStyle/>
                    <a:p>
                      <a:pPr algn="ctr"/>
                      <a:r>
                        <a:rPr lang="en-US" sz="800" dirty="0">
                          <a:latin typeface="BLS Text" panose="00000500000000000000" pitchFamily="2" charset="-34"/>
                          <a:cs typeface="BLS Text" panose="00000500000000000000" pitchFamily="2" charset="-34"/>
                        </a:rPr>
                        <a:t>Gas-based / Integrated (</a:t>
                      </a:r>
                      <a:r>
                        <a:rPr lang="th-TH" sz="800" dirty="0">
                          <a:latin typeface="BLS Text" panose="00000500000000000000" pitchFamily="2" charset="-34"/>
                          <a:cs typeface="BLS Text" panose="00000500000000000000" pitchFamily="2" charset="-34"/>
                        </a:rPr>
                        <a:t>เช่น </a:t>
                      </a:r>
                      <a:r>
                        <a:rPr lang="en-US" sz="800" dirty="0">
                          <a:latin typeface="BLS Text" panose="00000500000000000000" pitchFamily="2" charset="-34"/>
                          <a:cs typeface="BLS Text" panose="00000500000000000000" pitchFamily="2" charset="-34"/>
                        </a:rPr>
                        <a:t>PTTGC </a:t>
                      </a:r>
                      <a:r>
                        <a:rPr lang="th-TH" sz="800" dirty="0">
                          <a:latin typeface="BLS Text" panose="00000500000000000000" pitchFamily="2" charset="-34"/>
                          <a:cs typeface="BLS Text" panose="00000500000000000000" pitchFamily="2" charset="-34"/>
                        </a:rPr>
                        <a:t>บางส่วน)</a:t>
                      </a:r>
                    </a:p>
                  </a:txBody>
                  <a:tcPr marL="25460" marR="25460" marT="12730" marB="12730" anchor="ctr">
                    <a:lnL>
                      <a:noFill/>
                    </a:lnL>
                    <a:lnR>
                      <a:noFill/>
                    </a:lnR>
                    <a:lnT>
                      <a:noFill/>
                    </a:lnT>
                    <a:lnB>
                      <a:noFill/>
                    </a:lnB>
                    <a:solidFill>
                      <a:schemeClr val="accent1">
                        <a:lumMod val="20000"/>
                        <a:lumOff val="80000"/>
                      </a:schemeClr>
                    </a:solidFill>
                  </a:tcPr>
                </a:tc>
                <a:tc>
                  <a:txBody>
                    <a:bodyPr/>
                    <a:lstStyle/>
                    <a:p>
                      <a:pPr algn="ctr"/>
                      <a:r>
                        <a:rPr lang="th-TH" sz="800" dirty="0">
                          <a:latin typeface="BLS Text" panose="00000500000000000000" pitchFamily="2" charset="-34"/>
                          <a:cs typeface="BLS Text" panose="00000500000000000000" pitchFamily="2" charset="-34"/>
                        </a:rPr>
                        <a:t>บวก</a:t>
                      </a:r>
                    </a:p>
                  </a:txBody>
                  <a:tcPr marL="25460" marR="25460" marT="12730" marB="12730" anchor="ctr">
                    <a:lnL>
                      <a:noFill/>
                    </a:lnL>
                    <a:lnR>
                      <a:noFill/>
                    </a:lnR>
                    <a:lnT>
                      <a:noFill/>
                    </a:lnT>
                    <a:lnB>
                      <a:noFill/>
                    </a:lnB>
                    <a:solidFill>
                      <a:schemeClr val="accent1">
                        <a:lumMod val="20000"/>
                        <a:lumOff val="80000"/>
                      </a:schemeClr>
                    </a:solidFill>
                  </a:tcPr>
                </a:tc>
                <a:tc>
                  <a:txBody>
                    <a:bodyPr/>
                    <a:lstStyle/>
                    <a:p>
                      <a:pPr algn="ctr"/>
                      <a:r>
                        <a:rPr lang="th-TH" sz="800" dirty="0">
                          <a:latin typeface="BLS Text" panose="00000500000000000000" pitchFamily="2" charset="-34"/>
                          <a:cs typeface="BLS Text" panose="00000500000000000000" pitchFamily="2" charset="-34"/>
                        </a:rPr>
                        <a:t>มี </a:t>
                      </a:r>
                      <a:r>
                        <a:rPr lang="en-US" sz="800" dirty="0">
                          <a:latin typeface="BLS Text" panose="00000500000000000000" pitchFamily="2" charset="-34"/>
                          <a:cs typeface="BLS Text" panose="00000500000000000000" pitchFamily="2" charset="-34"/>
                        </a:rPr>
                        <a:t>feedstock flexibility</a:t>
                      </a:r>
                    </a:p>
                  </a:txBody>
                  <a:tcPr marL="25460" marR="25460" marT="12730" marB="12730" anchor="ctr">
                    <a:lnL>
                      <a:noFill/>
                    </a:lnL>
                    <a:lnR>
                      <a:noFill/>
                    </a:lnR>
                    <a:lnT>
                      <a:noFill/>
                    </a:lnT>
                    <a:lnB>
                      <a:noFill/>
                    </a:lnB>
                    <a:solidFill>
                      <a:schemeClr val="accent1">
                        <a:lumMod val="20000"/>
                        <a:lumOff val="80000"/>
                      </a:schemeClr>
                    </a:solidFill>
                  </a:tcPr>
                </a:tc>
                <a:tc>
                  <a:txBody>
                    <a:bodyPr/>
                    <a:lstStyle/>
                    <a:p>
                      <a:pPr algn="ctr"/>
                      <a:r>
                        <a:rPr lang="th-TH" sz="800" dirty="0">
                          <a:latin typeface="BLS Text" panose="00000500000000000000" pitchFamily="2" charset="-34"/>
                          <a:cs typeface="BLS Text" panose="00000500000000000000" pitchFamily="2" charset="-34"/>
                        </a:rPr>
                        <a:t>ได้ประโยชน์จากการขาดแคลน </a:t>
                      </a:r>
                      <a:r>
                        <a:rPr lang="en-US" sz="800" dirty="0">
                          <a:latin typeface="BLS Text" panose="00000500000000000000" pitchFamily="2" charset="-34"/>
                          <a:cs typeface="BLS Text" panose="00000500000000000000" pitchFamily="2" charset="-34"/>
                        </a:rPr>
                        <a:t>Feedstock</a:t>
                      </a:r>
                      <a:r>
                        <a:rPr lang="th-TH" sz="800" dirty="0">
                          <a:latin typeface="BLS Text" panose="00000500000000000000" pitchFamily="2" charset="-34"/>
                          <a:cs typeface="BLS Text" panose="00000500000000000000" pitchFamily="2" charset="-34"/>
                        </a:rPr>
                        <a:t> ของบริษัทพึ่งพาตะวันออกกลางสูงผ่านส่วนต่างราคาปิโตรเคมีที่ขยายตัว</a:t>
                      </a:r>
                    </a:p>
                  </a:txBody>
                  <a:tcPr marL="25460" marR="25460" marT="12730" marB="12730"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681434891"/>
                  </a:ext>
                </a:extLst>
              </a:tr>
              <a:tr h="282866">
                <a:tc vMerge="1">
                  <a:txBody>
                    <a:bodyPr/>
                    <a:lstStyle/>
                    <a:p>
                      <a:pPr algn="ctr"/>
                      <a:endParaRPr lang="en-US" sz="900" dirty="0">
                        <a:latin typeface="BLS Text" panose="00000500000000000000" pitchFamily="2" charset="-34"/>
                        <a:cs typeface="BLS Text" panose="00000500000000000000" pitchFamily="2" charset="-34"/>
                      </a:endParaRPr>
                    </a:p>
                  </a:txBody>
                  <a:tcPr marL="25460" marR="25460" marT="12730" marB="12730" anchor="ctr">
                    <a:lnL>
                      <a:noFill/>
                    </a:lnL>
                    <a:lnR>
                      <a:noFill/>
                    </a:lnR>
                    <a:lnT>
                      <a:noFill/>
                    </a:lnT>
                    <a:lnB w="3175" cap="flat" cmpd="sng" algn="ctr">
                      <a:solidFill>
                        <a:schemeClr val="tx1"/>
                      </a:solidFill>
                      <a:prstDash val="solid"/>
                      <a:round/>
                      <a:headEnd type="none" w="med" len="med"/>
                      <a:tailEnd type="none" w="med" len="med"/>
                    </a:lnB>
                  </a:tcPr>
                </a:tc>
                <a:tc>
                  <a:txBody>
                    <a:bodyPr/>
                    <a:lstStyle/>
                    <a:p>
                      <a:pPr algn="ctr"/>
                      <a:r>
                        <a:rPr lang="en-US" sz="800" dirty="0">
                          <a:latin typeface="BLS Text" panose="00000500000000000000" pitchFamily="2" charset="-34"/>
                          <a:cs typeface="BLS Text" panose="00000500000000000000" pitchFamily="2" charset="-34"/>
                        </a:rPr>
                        <a:t>Polyester / Import-parity (</a:t>
                      </a:r>
                      <a:r>
                        <a:rPr lang="th-TH" sz="800" dirty="0">
                          <a:latin typeface="BLS Text" panose="00000500000000000000" pitchFamily="2" charset="-34"/>
                          <a:cs typeface="BLS Text" panose="00000500000000000000" pitchFamily="2" charset="-34"/>
                        </a:rPr>
                        <a:t>เช่น </a:t>
                      </a:r>
                      <a:r>
                        <a:rPr lang="en-US" sz="800" dirty="0">
                          <a:latin typeface="BLS Text" panose="00000500000000000000" pitchFamily="2" charset="-34"/>
                          <a:cs typeface="BLS Text" panose="00000500000000000000" pitchFamily="2" charset="-34"/>
                        </a:rPr>
                        <a:t>IVL)</a:t>
                      </a:r>
                    </a:p>
                  </a:txBody>
                  <a:tcPr marL="25460" marR="25460" marT="12730" marB="12730" anchor="ctr">
                    <a:lnL>
                      <a:noFill/>
                    </a:lnL>
                    <a:lnR>
                      <a:noFill/>
                    </a:lnR>
                    <a:lnT>
                      <a:noFill/>
                    </a:lnT>
                    <a:lnB w="31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th-TH" sz="800" dirty="0">
                          <a:latin typeface="BLS Text" panose="00000500000000000000" pitchFamily="2" charset="-34"/>
                          <a:cs typeface="BLS Text" panose="00000500000000000000" pitchFamily="2" charset="-34"/>
                        </a:rPr>
                        <a:t>บวก</a:t>
                      </a:r>
                    </a:p>
                  </a:txBody>
                  <a:tcPr marL="25460" marR="25460" marT="12730" marB="12730" anchor="ctr">
                    <a:lnL>
                      <a:noFill/>
                    </a:lnL>
                    <a:lnR>
                      <a:noFill/>
                    </a:lnR>
                    <a:lnT>
                      <a:noFill/>
                    </a:lnT>
                    <a:lnB w="31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800" dirty="0">
                          <a:latin typeface="BLS Text" panose="00000500000000000000" pitchFamily="2" charset="-34"/>
                          <a:cs typeface="BLS Text" panose="00000500000000000000" pitchFamily="2" charset="-34"/>
                        </a:rPr>
                        <a:t>Pass-through logistics cost</a:t>
                      </a:r>
                    </a:p>
                  </a:txBody>
                  <a:tcPr marL="25460" marR="25460" marT="12730" marB="12730" anchor="ctr">
                    <a:lnL>
                      <a:noFill/>
                    </a:lnL>
                    <a:lnR>
                      <a:noFill/>
                    </a:lnR>
                    <a:lnT>
                      <a:noFill/>
                    </a:lnT>
                    <a:lnB w="31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800" dirty="0">
                          <a:latin typeface="BLS Text" panose="00000500000000000000" pitchFamily="2" charset="-34"/>
                          <a:cs typeface="BLS Text" panose="00000500000000000000" pitchFamily="2" charset="-34"/>
                        </a:rPr>
                        <a:t>Margin </a:t>
                      </a:r>
                      <a:r>
                        <a:rPr lang="th-TH" sz="800" dirty="0">
                          <a:latin typeface="BLS Text" panose="00000500000000000000" pitchFamily="2" charset="-34"/>
                          <a:cs typeface="BLS Text" panose="00000500000000000000" pitchFamily="2" charset="-34"/>
                        </a:rPr>
                        <a:t>เสถียรกว่า</a:t>
                      </a:r>
                    </a:p>
                  </a:txBody>
                  <a:tcPr marL="25460" marR="25460" marT="12730" marB="12730" anchor="ctr">
                    <a:lnL>
                      <a:noFill/>
                    </a:lnL>
                    <a:lnR>
                      <a:noFill/>
                    </a:lnR>
                    <a:lnT>
                      <a:noFill/>
                    </a:lnT>
                    <a:lnB w="3175"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935110532"/>
                  </a:ext>
                </a:extLst>
              </a:tr>
              <a:tr h="154804">
                <a:tc rowSpan="2">
                  <a:txBody>
                    <a:bodyPr/>
                    <a:lstStyle/>
                    <a:p>
                      <a:pPr algn="ctr"/>
                      <a:r>
                        <a:rPr lang="en-US" sz="900" b="1" dirty="0">
                          <a:latin typeface="BLS Text" panose="00000500000000000000" pitchFamily="2" charset="-34"/>
                          <a:cs typeface="BLS Text" panose="00000500000000000000" pitchFamily="2" charset="-34"/>
                        </a:rPr>
                        <a:t>Utilities</a:t>
                      </a:r>
                      <a:endParaRPr lang="en-US" sz="900" dirty="0">
                        <a:latin typeface="BLS Text" panose="00000500000000000000" pitchFamily="2" charset="-34"/>
                        <a:cs typeface="BLS Text" panose="00000500000000000000" pitchFamily="2" charset="-34"/>
                      </a:endParaRPr>
                    </a:p>
                  </a:txBody>
                  <a:tcPr marL="25460" marR="25460" marT="12730" marB="12730" anchor="ctr">
                    <a:lnL>
                      <a:noFill/>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sz="800" dirty="0">
                          <a:latin typeface="BLS Text" panose="00000500000000000000" pitchFamily="2" charset="-34"/>
                          <a:cs typeface="BLS Text" panose="00000500000000000000" pitchFamily="2" charset="-34"/>
                        </a:rPr>
                        <a:t>SPP (gas-fired)</a:t>
                      </a:r>
                    </a:p>
                  </a:txBody>
                  <a:tcPr marL="25460" marR="25460" marT="12730" marB="12730" anchor="ctr">
                    <a:lnL>
                      <a:noFill/>
                    </a:lnL>
                    <a:lnR>
                      <a:noFill/>
                    </a:lnR>
                    <a:lnT w="3175" cap="flat" cmpd="sng" algn="ctr">
                      <a:solidFill>
                        <a:schemeClr val="tx1"/>
                      </a:solidFill>
                      <a:prstDash val="solid"/>
                      <a:round/>
                      <a:headEnd type="none" w="med" len="med"/>
                      <a:tailEnd type="none" w="med" len="med"/>
                    </a:lnT>
                    <a:lnB>
                      <a:noFill/>
                    </a:lnB>
                  </a:tcPr>
                </a:tc>
                <a:tc>
                  <a:txBody>
                    <a:bodyPr/>
                    <a:lstStyle/>
                    <a:p>
                      <a:pPr algn="ctr"/>
                      <a:r>
                        <a:rPr lang="th-TH" sz="800" dirty="0">
                          <a:latin typeface="BLS Text" panose="00000500000000000000" pitchFamily="2" charset="-34"/>
                          <a:cs typeface="BLS Text" panose="00000500000000000000" pitchFamily="2" charset="-34"/>
                        </a:rPr>
                        <a:t>ลบ</a:t>
                      </a:r>
                    </a:p>
                  </a:txBody>
                  <a:tcPr marL="25460" marR="25460" marT="12730" marB="12730" anchor="ctr">
                    <a:lnL>
                      <a:noFill/>
                    </a:lnL>
                    <a:lnR>
                      <a:noFill/>
                    </a:lnR>
                    <a:lnT w="3175" cap="flat" cmpd="sng" algn="ctr">
                      <a:solidFill>
                        <a:schemeClr val="tx1"/>
                      </a:solidFill>
                      <a:prstDash val="solid"/>
                      <a:round/>
                      <a:headEnd type="none" w="med" len="med"/>
                      <a:tailEnd type="none" w="med" len="med"/>
                    </a:lnT>
                    <a:lnB>
                      <a:noFill/>
                    </a:lnB>
                  </a:tcPr>
                </a:tc>
                <a:tc>
                  <a:txBody>
                    <a:bodyPr/>
                    <a:lstStyle/>
                    <a:p>
                      <a:pPr algn="ctr"/>
                      <a:r>
                        <a:rPr lang="th-TH" sz="800" dirty="0">
                          <a:latin typeface="BLS Text" panose="00000500000000000000" pitchFamily="2" charset="-34"/>
                          <a:cs typeface="BLS Text" panose="00000500000000000000" pitchFamily="2" charset="-34"/>
                        </a:rPr>
                        <a:t>ต้นทุนก๊าซขึ้น แต่ค่าไฟ </a:t>
                      </a:r>
                      <a:r>
                        <a:rPr lang="en-US" sz="800" dirty="0">
                          <a:latin typeface="BLS Text" panose="00000500000000000000" pitchFamily="2" charset="-34"/>
                          <a:cs typeface="BLS Text" panose="00000500000000000000" pitchFamily="2" charset="-34"/>
                        </a:rPr>
                        <a:t>lag</a:t>
                      </a:r>
                    </a:p>
                  </a:txBody>
                  <a:tcPr marL="25460" marR="25460" marT="12730" marB="12730" anchor="ctr">
                    <a:lnL>
                      <a:noFill/>
                    </a:lnL>
                    <a:lnR>
                      <a:noFill/>
                    </a:lnR>
                    <a:lnT w="3175" cap="flat" cmpd="sng" algn="ctr">
                      <a:solidFill>
                        <a:schemeClr val="tx1"/>
                      </a:solidFill>
                      <a:prstDash val="solid"/>
                      <a:round/>
                      <a:headEnd type="none" w="med" len="med"/>
                      <a:tailEnd type="none" w="med" len="med"/>
                    </a:lnT>
                    <a:lnB>
                      <a:noFill/>
                    </a:lnB>
                  </a:tcPr>
                </a:tc>
                <a:tc>
                  <a:txBody>
                    <a:bodyPr/>
                    <a:lstStyle/>
                    <a:p>
                      <a:pPr algn="ctr"/>
                      <a:r>
                        <a:rPr lang="en-US" sz="800">
                          <a:latin typeface="BLS Text" panose="00000500000000000000" pitchFamily="2" charset="-34"/>
                          <a:cs typeface="BLS Text" panose="00000500000000000000" pitchFamily="2" charset="-34"/>
                        </a:rPr>
                        <a:t>Margin </a:t>
                      </a:r>
                      <a:r>
                        <a:rPr lang="th-TH" sz="800">
                          <a:latin typeface="BLS Text" panose="00000500000000000000" pitchFamily="2" charset="-34"/>
                          <a:cs typeface="BLS Text" panose="00000500000000000000" pitchFamily="2" charset="-34"/>
                        </a:rPr>
                        <a:t>ถูกกดระยะสั้น</a:t>
                      </a:r>
                    </a:p>
                  </a:txBody>
                  <a:tcPr marL="25460" marR="25460" marT="12730" marB="12730" anchor="ctr">
                    <a:lnL>
                      <a:noFill/>
                    </a:lnL>
                    <a:lnR>
                      <a:noFill/>
                    </a:lnR>
                    <a:lnT w="3175"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3915612264"/>
                  </a:ext>
                </a:extLst>
              </a:tr>
              <a:tr h="154804">
                <a:tc vMerge="1">
                  <a:txBody>
                    <a:bodyPr/>
                    <a:lstStyle/>
                    <a:p>
                      <a:pPr algn="ctr"/>
                      <a:endParaRPr lang="en-US" sz="900" dirty="0">
                        <a:latin typeface="BLS Text" panose="00000500000000000000" pitchFamily="2" charset="-34"/>
                        <a:cs typeface="BLS Text" panose="00000500000000000000" pitchFamily="2" charset="-34"/>
                      </a:endParaRPr>
                    </a:p>
                  </a:txBody>
                  <a:tcPr marL="25460" marR="25460" marT="12730" marB="12730" anchor="ctr">
                    <a:lnL>
                      <a:noFill/>
                    </a:lnL>
                    <a:lnR>
                      <a:noFill/>
                    </a:lnR>
                    <a:lnT>
                      <a:noFill/>
                    </a:lnT>
                    <a:lnB w="3175" cap="flat" cmpd="sng" algn="ctr">
                      <a:solidFill>
                        <a:schemeClr val="tx1"/>
                      </a:solidFill>
                      <a:prstDash val="solid"/>
                      <a:round/>
                      <a:headEnd type="none" w="med" len="med"/>
                      <a:tailEnd type="none" w="med" len="med"/>
                    </a:lnB>
                  </a:tcPr>
                </a:tc>
                <a:tc>
                  <a:txBody>
                    <a:bodyPr/>
                    <a:lstStyle/>
                    <a:p>
                      <a:pPr algn="ctr"/>
                      <a:r>
                        <a:rPr lang="en-US" sz="800" dirty="0">
                          <a:latin typeface="BLS Text" panose="00000500000000000000" pitchFamily="2" charset="-34"/>
                          <a:cs typeface="BLS Text" panose="00000500000000000000" pitchFamily="2" charset="-34"/>
                        </a:rPr>
                        <a:t>IPP</a:t>
                      </a:r>
                    </a:p>
                  </a:txBody>
                  <a:tcPr marL="25460" marR="25460" marT="12730" marB="12730" anchor="ctr">
                    <a:lnL>
                      <a:noFill/>
                    </a:lnL>
                    <a:lnR>
                      <a:noFill/>
                    </a:lnR>
                    <a:lnT>
                      <a:noFill/>
                    </a:lnT>
                    <a:lnB w="31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800" dirty="0">
                          <a:latin typeface="BLS Text" panose="00000500000000000000" pitchFamily="2" charset="-34"/>
                          <a:cs typeface="BLS Text" panose="00000500000000000000" pitchFamily="2" charset="-34"/>
                        </a:rPr>
                        <a:t>Neutral</a:t>
                      </a:r>
                      <a:endParaRPr lang="th-TH" sz="800" dirty="0">
                        <a:latin typeface="BLS Text" panose="00000500000000000000" pitchFamily="2" charset="-34"/>
                        <a:cs typeface="BLS Text" panose="00000500000000000000" pitchFamily="2" charset="-34"/>
                      </a:endParaRPr>
                    </a:p>
                  </a:txBody>
                  <a:tcPr marL="25460" marR="25460" marT="12730" marB="12730" anchor="ctr">
                    <a:lnL>
                      <a:noFill/>
                    </a:lnL>
                    <a:lnR>
                      <a:noFill/>
                    </a:lnR>
                    <a:lnT>
                      <a:noFill/>
                    </a:lnT>
                    <a:lnB w="31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800" dirty="0">
                          <a:latin typeface="BLS Text" panose="00000500000000000000" pitchFamily="2" charset="-34"/>
                          <a:cs typeface="BLS Text" panose="00000500000000000000" pitchFamily="2" charset="-34"/>
                        </a:rPr>
                        <a:t>Pass-through </a:t>
                      </a:r>
                      <a:r>
                        <a:rPr lang="th-TH" sz="800" dirty="0">
                          <a:latin typeface="BLS Text" panose="00000500000000000000" pitchFamily="2" charset="-34"/>
                          <a:cs typeface="BLS Text" panose="00000500000000000000" pitchFamily="2" charset="-34"/>
                        </a:rPr>
                        <a:t>ผ่าน </a:t>
                      </a:r>
                      <a:r>
                        <a:rPr lang="en-US" sz="800" dirty="0">
                          <a:latin typeface="BLS Text" panose="00000500000000000000" pitchFamily="2" charset="-34"/>
                          <a:cs typeface="BLS Text" panose="00000500000000000000" pitchFamily="2" charset="-34"/>
                        </a:rPr>
                        <a:t>PPA</a:t>
                      </a:r>
                    </a:p>
                  </a:txBody>
                  <a:tcPr marL="25460" marR="25460" marT="12730" marB="12730" anchor="ctr">
                    <a:lnL>
                      <a:noFill/>
                    </a:lnL>
                    <a:lnR>
                      <a:noFill/>
                    </a:lnR>
                    <a:lnT>
                      <a:noFill/>
                    </a:lnT>
                    <a:lnB w="31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800" dirty="0">
                          <a:latin typeface="BLS Text" panose="00000500000000000000" pitchFamily="2" charset="-34"/>
                          <a:cs typeface="BLS Text" panose="00000500000000000000" pitchFamily="2" charset="-34"/>
                        </a:rPr>
                        <a:t>Earnings stable</a:t>
                      </a:r>
                    </a:p>
                  </a:txBody>
                  <a:tcPr marL="25460" marR="25460" marT="12730" marB="12730" anchor="ctr">
                    <a:lnL>
                      <a:noFill/>
                    </a:lnL>
                    <a:lnR>
                      <a:noFill/>
                    </a:lnR>
                    <a:lnT>
                      <a:noFill/>
                    </a:lnT>
                    <a:lnB w="3175"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310539201"/>
                  </a:ext>
                </a:extLst>
              </a:tr>
              <a:tr h="282866">
                <a:tc rowSpan="3">
                  <a:txBody>
                    <a:bodyPr/>
                    <a:lstStyle/>
                    <a:p>
                      <a:pPr algn="ctr"/>
                      <a:r>
                        <a:rPr lang="en-US" sz="900" b="1" dirty="0">
                          <a:latin typeface="BLS Text" panose="00000500000000000000" pitchFamily="2" charset="-34"/>
                          <a:cs typeface="BLS Text" panose="00000500000000000000" pitchFamily="2" charset="-34"/>
                        </a:rPr>
                        <a:t>Transport</a:t>
                      </a:r>
                      <a:endParaRPr lang="en-US" sz="900" dirty="0">
                        <a:latin typeface="BLS Text" panose="00000500000000000000" pitchFamily="2" charset="-34"/>
                        <a:cs typeface="BLS Text" panose="00000500000000000000" pitchFamily="2" charset="-34"/>
                      </a:endParaRPr>
                    </a:p>
                  </a:txBody>
                  <a:tcPr marL="25460" marR="25460" marT="12730" marB="12730" anchor="ctr">
                    <a:lnL>
                      <a:noFill/>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sz="800">
                          <a:latin typeface="BLS Text" panose="00000500000000000000" pitchFamily="2" charset="-34"/>
                          <a:cs typeface="BLS Text" panose="00000500000000000000" pitchFamily="2" charset="-34"/>
                        </a:rPr>
                        <a:t>Airlines</a:t>
                      </a:r>
                    </a:p>
                  </a:txBody>
                  <a:tcPr marL="25460" marR="25460" marT="12730" marB="12730" anchor="ctr">
                    <a:lnL>
                      <a:noFill/>
                    </a:lnL>
                    <a:lnR>
                      <a:noFill/>
                    </a:lnR>
                    <a:lnT w="3175" cap="flat" cmpd="sng" algn="ctr">
                      <a:solidFill>
                        <a:schemeClr val="tx1"/>
                      </a:solidFill>
                      <a:prstDash val="solid"/>
                      <a:round/>
                      <a:headEnd type="none" w="med" len="med"/>
                      <a:tailEnd type="none" w="med" len="med"/>
                    </a:lnT>
                    <a:lnB>
                      <a:noFill/>
                    </a:lnB>
                  </a:tcPr>
                </a:tc>
                <a:tc>
                  <a:txBody>
                    <a:bodyPr/>
                    <a:lstStyle/>
                    <a:p>
                      <a:pPr algn="ctr"/>
                      <a:r>
                        <a:rPr lang="th-TH" sz="800" dirty="0">
                          <a:latin typeface="BLS Text" panose="00000500000000000000" pitchFamily="2" charset="-34"/>
                          <a:cs typeface="BLS Text" panose="00000500000000000000" pitchFamily="2" charset="-34"/>
                        </a:rPr>
                        <a:t>ลบมาก</a:t>
                      </a:r>
                    </a:p>
                  </a:txBody>
                  <a:tcPr marL="25460" marR="25460" marT="12730" marB="12730" anchor="ctr">
                    <a:lnL>
                      <a:noFill/>
                    </a:lnL>
                    <a:lnR>
                      <a:noFill/>
                    </a:lnR>
                    <a:lnT w="3175" cap="flat" cmpd="sng" algn="ctr">
                      <a:solidFill>
                        <a:schemeClr val="tx1"/>
                      </a:solidFill>
                      <a:prstDash val="solid"/>
                      <a:round/>
                      <a:headEnd type="none" w="med" len="med"/>
                      <a:tailEnd type="none" w="med" len="med"/>
                    </a:lnT>
                    <a:lnB>
                      <a:noFill/>
                    </a:lnB>
                  </a:tcPr>
                </a:tc>
                <a:tc>
                  <a:txBody>
                    <a:bodyPr/>
                    <a:lstStyle/>
                    <a:p>
                      <a:pPr algn="ctr"/>
                      <a:r>
                        <a:rPr lang="en-US" sz="800" dirty="0">
                          <a:latin typeface="BLS Text" panose="00000500000000000000" pitchFamily="2" charset="-34"/>
                          <a:cs typeface="BLS Text" panose="00000500000000000000" pitchFamily="2" charset="-34"/>
                        </a:rPr>
                        <a:t>Fuel cost </a:t>
                      </a:r>
                      <a:r>
                        <a:rPr lang="th-TH" sz="800" dirty="0">
                          <a:latin typeface="BLS Text" panose="00000500000000000000" pitchFamily="2" charset="-34"/>
                          <a:cs typeface="BLS Text" panose="00000500000000000000" pitchFamily="2" charset="-34"/>
                        </a:rPr>
                        <a:t>ขึ้น</a:t>
                      </a:r>
                      <a:r>
                        <a:rPr lang="en-US" sz="800" dirty="0">
                          <a:latin typeface="BLS Text" panose="00000500000000000000" pitchFamily="2" charset="-34"/>
                          <a:cs typeface="BLS Text" panose="00000500000000000000" pitchFamily="2" charset="-34"/>
                        </a:rPr>
                        <a:t> &gt; fare adjustment</a:t>
                      </a:r>
                      <a:r>
                        <a:rPr lang="th-TH" sz="800" dirty="0">
                          <a:latin typeface="BLS Text" panose="00000500000000000000" pitchFamily="2" charset="-34"/>
                          <a:cs typeface="BLS Text" panose="00000500000000000000" pitchFamily="2" charset="-34"/>
                        </a:rPr>
                        <a:t> ปรับค่าตั๋วขึ้นไม่ทัน</a:t>
                      </a:r>
                      <a:endParaRPr lang="en-US" sz="800" dirty="0">
                        <a:latin typeface="BLS Text" panose="00000500000000000000" pitchFamily="2" charset="-34"/>
                        <a:cs typeface="BLS Text" panose="00000500000000000000" pitchFamily="2" charset="-34"/>
                      </a:endParaRPr>
                    </a:p>
                  </a:txBody>
                  <a:tcPr marL="25460" marR="25460" marT="12730" marB="12730" anchor="ctr">
                    <a:lnL>
                      <a:noFill/>
                    </a:lnL>
                    <a:lnR>
                      <a:noFill/>
                    </a:lnR>
                    <a:lnT w="3175" cap="flat" cmpd="sng" algn="ctr">
                      <a:solidFill>
                        <a:schemeClr val="tx1"/>
                      </a:solidFill>
                      <a:prstDash val="solid"/>
                      <a:round/>
                      <a:headEnd type="none" w="med" len="med"/>
                      <a:tailEnd type="none" w="med" len="med"/>
                    </a:lnT>
                    <a:lnB>
                      <a:noFill/>
                    </a:lnB>
                  </a:tcPr>
                </a:tc>
                <a:tc>
                  <a:txBody>
                    <a:bodyPr/>
                    <a:lstStyle/>
                    <a:p>
                      <a:pPr algn="ctr"/>
                      <a:r>
                        <a:rPr lang="en-US" sz="800" dirty="0">
                          <a:latin typeface="BLS Text" panose="00000500000000000000" pitchFamily="2" charset="-34"/>
                          <a:cs typeface="BLS Text" panose="00000500000000000000" pitchFamily="2" charset="-34"/>
                        </a:rPr>
                        <a:t>Margin </a:t>
                      </a:r>
                      <a:r>
                        <a:rPr lang="th-TH" sz="800" dirty="0">
                          <a:latin typeface="BLS Text" panose="00000500000000000000" pitchFamily="2" charset="-34"/>
                          <a:cs typeface="BLS Text" panose="00000500000000000000" pitchFamily="2" charset="-34"/>
                        </a:rPr>
                        <a:t>ถูก </a:t>
                      </a:r>
                      <a:r>
                        <a:rPr lang="en-US" sz="800" dirty="0">
                          <a:latin typeface="BLS Text" panose="00000500000000000000" pitchFamily="2" charset="-34"/>
                          <a:cs typeface="BLS Text" panose="00000500000000000000" pitchFamily="2" charset="-34"/>
                        </a:rPr>
                        <a:t>squeeze</a:t>
                      </a:r>
                    </a:p>
                  </a:txBody>
                  <a:tcPr marL="25460" marR="25460" marT="12730" marB="12730" anchor="ctr">
                    <a:lnL>
                      <a:noFill/>
                    </a:lnL>
                    <a:lnR>
                      <a:noFill/>
                    </a:lnR>
                    <a:lnT w="3175"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3179117137"/>
                  </a:ext>
                </a:extLst>
              </a:tr>
              <a:tr h="154804">
                <a:tc vMerge="1">
                  <a:txBody>
                    <a:bodyPr/>
                    <a:lstStyle/>
                    <a:p>
                      <a:pPr algn="ctr"/>
                      <a:endParaRPr lang="en-US" sz="900" dirty="0">
                        <a:latin typeface="BLS Text" panose="00000500000000000000" pitchFamily="2" charset="-34"/>
                        <a:cs typeface="BLS Text" panose="00000500000000000000" pitchFamily="2" charset="-34"/>
                      </a:endParaRPr>
                    </a:p>
                  </a:txBody>
                  <a:tcPr marL="25460" marR="25460" marT="12730" marB="12730" anchor="ctr">
                    <a:lnL>
                      <a:noFill/>
                    </a:lnL>
                    <a:lnR>
                      <a:noFill/>
                    </a:lnR>
                    <a:lnT>
                      <a:noFill/>
                    </a:lnT>
                    <a:lnB>
                      <a:noFill/>
                    </a:lnB>
                  </a:tcPr>
                </a:tc>
                <a:tc>
                  <a:txBody>
                    <a:bodyPr/>
                    <a:lstStyle/>
                    <a:p>
                      <a:pPr algn="ctr"/>
                      <a:r>
                        <a:rPr lang="en-US" sz="800" dirty="0">
                          <a:latin typeface="BLS Text" panose="00000500000000000000" pitchFamily="2" charset="-34"/>
                          <a:cs typeface="BLS Text" panose="00000500000000000000" pitchFamily="2" charset="-34"/>
                        </a:rPr>
                        <a:t>Shipping</a:t>
                      </a:r>
                    </a:p>
                  </a:txBody>
                  <a:tcPr marL="25460" marR="25460" marT="12730" marB="12730" anchor="ctr">
                    <a:lnL>
                      <a:noFill/>
                    </a:lnL>
                    <a:lnR>
                      <a:noFill/>
                    </a:lnR>
                    <a:lnT>
                      <a:noFill/>
                    </a:lnT>
                    <a:lnB>
                      <a:noFill/>
                    </a:lnB>
                  </a:tcPr>
                </a:tc>
                <a:tc>
                  <a:txBody>
                    <a:bodyPr/>
                    <a:lstStyle/>
                    <a:p>
                      <a:pPr algn="ctr"/>
                      <a:r>
                        <a:rPr lang="th-TH" sz="800" dirty="0">
                          <a:latin typeface="BLS Text" panose="00000500000000000000" pitchFamily="2" charset="-34"/>
                          <a:cs typeface="BLS Text" panose="00000500000000000000" pitchFamily="2" charset="-34"/>
                        </a:rPr>
                        <a:t>บวก</a:t>
                      </a:r>
                    </a:p>
                  </a:txBody>
                  <a:tcPr marL="25460" marR="25460" marT="12730" marB="12730" anchor="ctr">
                    <a:lnL>
                      <a:noFill/>
                    </a:lnL>
                    <a:lnR>
                      <a:noFill/>
                    </a:lnR>
                    <a:lnT>
                      <a:noFill/>
                    </a:lnT>
                    <a:lnB>
                      <a:noFill/>
                    </a:lnB>
                  </a:tcPr>
                </a:tc>
                <a:tc>
                  <a:txBody>
                    <a:bodyPr/>
                    <a:lstStyle/>
                    <a:p>
                      <a:pPr algn="ctr"/>
                      <a:r>
                        <a:rPr lang="en-US" sz="800" dirty="0">
                          <a:latin typeface="BLS Text" panose="00000500000000000000" pitchFamily="2" charset="-34"/>
                          <a:cs typeface="BLS Text" panose="00000500000000000000" pitchFamily="2" charset="-34"/>
                        </a:rPr>
                        <a:t>Freight rate </a:t>
                      </a:r>
                      <a:r>
                        <a:rPr lang="th-TH" sz="800" dirty="0">
                          <a:latin typeface="BLS Text" panose="00000500000000000000" pitchFamily="2" charset="-34"/>
                          <a:cs typeface="BLS Text" panose="00000500000000000000" pitchFamily="2" charset="-34"/>
                        </a:rPr>
                        <a:t>ขึ้น</a:t>
                      </a:r>
                      <a:endParaRPr lang="en-US" sz="800" dirty="0">
                        <a:latin typeface="BLS Text" panose="00000500000000000000" pitchFamily="2" charset="-34"/>
                        <a:cs typeface="BLS Text" panose="00000500000000000000" pitchFamily="2" charset="-34"/>
                      </a:endParaRPr>
                    </a:p>
                  </a:txBody>
                  <a:tcPr marL="25460" marR="25460" marT="12730" marB="12730" anchor="ctr">
                    <a:lnL>
                      <a:noFill/>
                    </a:lnL>
                    <a:lnR>
                      <a:noFill/>
                    </a:lnR>
                    <a:lnT>
                      <a:noFill/>
                    </a:lnT>
                    <a:lnB>
                      <a:noFill/>
                    </a:lnB>
                  </a:tcPr>
                </a:tc>
                <a:tc>
                  <a:txBody>
                    <a:bodyPr/>
                    <a:lstStyle/>
                    <a:p>
                      <a:pPr algn="ctr"/>
                      <a:r>
                        <a:rPr lang="th-TH" sz="800">
                          <a:latin typeface="BLS Text" panose="00000500000000000000" pitchFamily="2" charset="-34"/>
                          <a:cs typeface="BLS Text" panose="00000500000000000000" pitchFamily="2" charset="-34"/>
                        </a:rPr>
                        <a:t>กำไรเร่งตัว</a:t>
                      </a:r>
                    </a:p>
                  </a:txBody>
                  <a:tcPr marL="25460" marR="25460" marT="12730" marB="12730" anchor="ctr">
                    <a:lnL>
                      <a:noFill/>
                    </a:lnL>
                    <a:lnR>
                      <a:noFill/>
                    </a:lnR>
                    <a:lnT>
                      <a:noFill/>
                    </a:lnT>
                    <a:lnB>
                      <a:noFill/>
                    </a:lnB>
                  </a:tcPr>
                </a:tc>
                <a:extLst>
                  <a:ext uri="{0D108BD9-81ED-4DB2-BD59-A6C34878D82A}">
                    <a16:rowId xmlns:a16="http://schemas.microsoft.com/office/drawing/2014/main" val="1089684348"/>
                  </a:ext>
                </a:extLst>
              </a:tr>
              <a:tr h="154804">
                <a:tc vMerge="1">
                  <a:txBody>
                    <a:bodyPr/>
                    <a:lstStyle/>
                    <a:p>
                      <a:pPr algn="ctr"/>
                      <a:endParaRPr lang="en-US" sz="900" dirty="0">
                        <a:latin typeface="BLS Text" panose="00000500000000000000" pitchFamily="2" charset="-34"/>
                        <a:cs typeface="BLS Text" panose="00000500000000000000" pitchFamily="2" charset="-34"/>
                      </a:endParaRPr>
                    </a:p>
                  </a:txBody>
                  <a:tcPr marL="25460" marR="25460" marT="12730" marB="12730" anchor="ctr">
                    <a:lnL>
                      <a:noFill/>
                    </a:lnL>
                    <a:lnR>
                      <a:noFill/>
                    </a:lnR>
                    <a:lnT>
                      <a:noFill/>
                    </a:lnT>
                    <a:lnB w="3175" cap="flat" cmpd="sng" algn="ctr">
                      <a:solidFill>
                        <a:schemeClr val="tx1"/>
                      </a:solidFill>
                      <a:prstDash val="solid"/>
                      <a:round/>
                      <a:headEnd type="none" w="med" len="med"/>
                      <a:tailEnd type="none" w="med" len="med"/>
                    </a:lnB>
                  </a:tcPr>
                </a:tc>
                <a:tc>
                  <a:txBody>
                    <a:bodyPr/>
                    <a:lstStyle/>
                    <a:p>
                      <a:pPr algn="ctr"/>
                      <a:r>
                        <a:rPr lang="en-US" sz="800">
                          <a:latin typeface="BLS Text" panose="00000500000000000000" pitchFamily="2" charset="-34"/>
                          <a:cs typeface="BLS Text" panose="00000500000000000000" pitchFamily="2" charset="-34"/>
                        </a:rPr>
                        <a:t>Mass transit</a:t>
                      </a:r>
                    </a:p>
                  </a:txBody>
                  <a:tcPr marL="25460" marR="25460" marT="12730" marB="12730" anchor="ctr">
                    <a:lnL>
                      <a:noFill/>
                    </a:lnL>
                    <a:lnR>
                      <a:noFill/>
                    </a:lnR>
                    <a:lnT>
                      <a:noFill/>
                    </a:lnT>
                    <a:lnB w="3175" cap="flat" cmpd="sng" algn="ctr">
                      <a:solidFill>
                        <a:schemeClr val="tx1"/>
                      </a:solidFill>
                      <a:prstDash val="solid"/>
                      <a:round/>
                      <a:headEnd type="none" w="med" len="med"/>
                      <a:tailEnd type="none" w="med" len="med"/>
                    </a:lnB>
                  </a:tcPr>
                </a:tc>
                <a:tc>
                  <a:txBody>
                    <a:bodyPr/>
                    <a:lstStyle/>
                    <a:p>
                      <a:pPr algn="ctr"/>
                      <a:r>
                        <a:rPr lang="en-US" sz="800" dirty="0">
                          <a:latin typeface="BLS Text" panose="00000500000000000000" pitchFamily="2" charset="-34"/>
                          <a:cs typeface="BLS Text" panose="00000500000000000000" pitchFamily="2" charset="-34"/>
                        </a:rPr>
                        <a:t>Neutral</a:t>
                      </a:r>
                    </a:p>
                  </a:txBody>
                  <a:tcPr marL="25460" marR="25460" marT="12730" marB="12730" anchor="ctr">
                    <a:lnL>
                      <a:noFill/>
                    </a:lnL>
                    <a:lnR>
                      <a:noFill/>
                    </a:lnR>
                    <a:lnT>
                      <a:noFill/>
                    </a:lnT>
                    <a:lnB w="3175" cap="flat" cmpd="sng" algn="ctr">
                      <a:solidFill>
                        <a:schemeClr val="tx1"/>
                      </a:solidFill>
                      <a:prstDash val="solid"/>
                      <a:round/>
                      <a:headEnd type="none" w="med" len="med"/>
                      <a:tailEnd type="none" w="med" len="med"/>
                    </a:lnB>
                  </a:tcPr>
                </a:tc>
                <a:tc>
                  <a:txBody>
                    <a:bodyPr/>
                    <a:lstStyle/>
                    <a:p>
                      <a:pPr algn="ctr"/>
                      <a:r>
                        <a:rPr lang="en-US" sz="800" dirty="0">
                          <a:latin typeface="BLS Text" panose="00000500000000000000" pitchFamily="2" charset="-34"/>
                          <a:cs typeface="BLS Text" panose="00000500000000000000" pitchFamily="2" charset="-34"/>
                        </a:rPr>
                        <a:t>Demand shift </a:t>
                      </a:r>
                      <a:r>
                        <a:rPr lang="th-TH" sz="800" dirty="0">
                          <a:latin typeface="BLS Text" panose="00000500000000000000" pitchFamily="2" charset="-34"/>
                          <a:cs typeface="BLS Text" panose="00000500000000000000" pitchFamily="2" charset="-34"/>
                        </a:rPr>
                        <a:t>เล็กน้อย</a:t>
                      </a:r>
                    </a:p>
                  </a:txBody>
                  <a:tcPr marL="25460" marR="25460" marT="12730" marB="12730" anchor="ctr">
                    <a:lnL>
                      <a:noFill/>
                    </a:lnL>
                    <a:lnR>
                      <a:noFill/>
                    </a:lnR>
                    <a:lnT>
                      <a:noFill/>
                    </a:lnT>
                    <a:lnB w="3175" cap="flat" cmpd="sng" algn="ctr">
                      <a:solidFill>
                        <a:schemeClr val="tx1"/>
                      </a:solidFill>
                      <a:prstDash val="solid"/>
                      <a:round/>
                      <a:headEnd type="none" w="med" len="med"/>
                      <a:tailEnd type="none" w="med" len="med"/>
                    </a:lnB>
                  </a:tcPr>
                </a:tc>
                <a:tc>
                  <a:txBody>
                    <a:bodyPr/>
                    <a:lstStyle/>
                    <a:p>
                      <a:pPr algn="ctr"/>
                      <a:r>
                        <a:rPr lang="en-US" sz="800" dirty="0">
                          <a:latin typeface="BLS Text" panose="00000500000000000000" pitchFamily="2" charset="-34"/>
                          <a:cs typeface="BLS Text" panose="00000500000000000000" pitchFamily="2" charset="-34"/>
                        </a:rPr>
                        <a:t>Impact </a:t>
                      </a:r>
                      <a:r>
                        <a:rPr lang="th-TH" sz="800" dirty="0">
                          <a:latin typeface="BLS Text" panose="00000500000000000000" pitchFamily="2" charset="-34"/>
                          <a:cs typeface="BLS Text" panose="00000500000000000000" pitchFamily="2" charset="-34"/>
                        </a:rPr>
                        <a:t>จำกัด</a:t>
                      </a:r>
                    </a:p>
                  </a:txBody>
                  <a:tcPr marL="25460" marR="25460" marT="12730" marB="12730" anchor="ctr">
                    <a:lnL>
                      <a:noFill/>
                    </a:lnL>
                    <a:lnR>
                      <a:noFill/>
                    </a:lnR>
                    <a:lnT>
                      <a:noFill/>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0155271"/>
                  </a:ext>
                </a:extLst>
              </a:tr>
              <a:tr h="282866">
                <a:tc rowSpan="3">
                  <a:txBody>
                    <a:bodyPr/>
                    <a:lstStyle/>
                    <a:p>
                      <a:pPr algn="ctr"/>
                      <a:r>
                        <a:rPr lang="en-US" sz="900" b="1" dirty="0">
                          <a:latin typeface="BLS Text" panose="00000500000000000000" pitchFamily="2" charset="-34"/>
                          <a:cs typeface="BLS Text" panose="00000500000000000000" pitchFamily="2" charset="-34"/>
                        </a:rPr>
                        <a:t>Food &amp; Beverage</a:t>
                      </a:r>
                      <a:endParaRPr lang="en-US" sz="900" dirty="0">
                        <a:latin typeface="BLS Text" panose="00000500000000000000" pitchFamily="2" charset="-34"/>
                        <a:cs typeface="BLS Text" panose="00000500000000000000" pitchFamily="2" charset="-34"/>
                      </a:endParaRPr>
                    </a:p>
                  </a:txBody>
                  <a:tcPr marL="25460" marR="25460" marT="12730" marB="12730" anchor="ctr">
                    <a:lnL>
                      <a:noFill/>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sz="800" dirty="0">
                          <a:latin typeface="BLS Text" panose="00000500000000000000" pitchFamily="2" charset="-34"/>
                          <a:cs typeface="BLS Text" panose="00000500000000000000" pitchFamily="2" charset="-34"/>
                        </a:rPr>
                        <a:t>Meat producers</a:t>
                      </a:r>
                    </a:p>
                  </a:txBody>
                  <a:tcPr marL="25460" marR="25460" marT="12730" marB="12730" anchor="ctr">
                    <a:lnL>
                      <a:noFill/>
                    </a:lnL>
                    <a:lnR>
                      <a:noFill/>
                    </a:lnR>
                    <a:lnT w="3175" cap="flat" cmpd="sng" algn="ctr">
                      <a:solidFill>
                        <a:schemeClr val="tx1"/>
                      </a:solidFill>
                      <a:prstDash val="solid"/>
                      <a:round/>
                      <a:headEnd type="none" w="med" len="med"/>
                      <a:tailEnd type="none" w="med" len="med"/>
                    </a:lnT>
                    <a:lnB>
                      <a:noFill/>
                    </a:lnB>
                    <a:solidFill>
                      <a:schemeClr val="accent1">
                        <a:lumMod val="20000"/>
                        <a:lumOff val="80000"/>
                      </a:schemeClr>
                    </a:solidFill>
                  </a:tcPr>
                </a:tc>
                <a:tc>
                  <a:txBody>
                    <a:bodyPr/>
                    <a:lstStyle/>
                    <a:p>
                      <a:pPr algn="ctr"/>
                      <a:r>
                        <a:rPr lang="th-TH" sz="800" dirty="0">
                          <a:latin typeface="BLS Text" panose="00000500000000000000" pitchFamily="2" charset="-34"/>
                          <a:cs typeface="BLS Text" panose="00000500000000000000" pitchFamily="2" charset="-34"/>
                        </a:rPr>
                        <a:t>บวก (ระยะสั้น)</a:t>
                      </a:r>
                    </a:p>
                  </a:txBody>
                  <a:tcPr marL="25460" marR="25460" marT="12730" marB="12730" anchor="ctr">
                    <a:lnL>
                      <a:noFill/>
                    </a:lnL>
                    <a:lnR>
                      <a:noFill/>
                    </a:lnR>
                    <a:lnT w="3175" cap="flat" cmpd="sng" algn="ctr">
                      <a:solidFill>
                        <a:schemeClr val="tx1"/>
                      </a:solidFill>
                      <a:prstDash val="solid"/>
                      <a:round/>
                      <a:headEnd type="none" w="med" len="med"/>
                      <a:tailEnd type="none" w="med" len="med"/>
                    </a:lnT>
                    <a:lnB>
                      <a:noFill/>
                    </a:lnB>
                    <a:solidFill>
                      <a:schemeClr val="accent1">
                        <a:lumMod val="20000"/>
                        <a:lumOff val="80000"/>
                      </a:schemeClr>
                    </a:solidFill>
                  </a:tcPr>
                </a:tc>
                <a:tc>
                  <a:txBody>
                    <a:bodyPr/>
                    <a:lstStyle/>
                    <a:p>
                      <a:pPr algn="ctr"/>
                      <a:r>
                        <a:rPr lang="th-TH" sz="800" dirty="0">
                          <a:latin typeface="BLS Text" panose="00000500000000000000" pitchFamily="2" charset="-34"/>
                          <a:cs typeface="BLS Text" panose="00000500000000000000" pitchFamily="2" charset="-34"/>
                        </a:rPr>
                        <a:t>ปรับราคาได้เร็ว + ต้นทุน </a:t>
                      </a:r>
                      <a:r>
                        <a:rPr lang="en-US" sz="800" dirty="0">
                          <a:latin typeface="BLS Text" panose="00000500000000000000" pitchFamily="2" charset="-34"/>
                          <a:cs typeface="BLS Text" panose="00000500000000000000" pitchFamily="2" charset="-34"/>
                        </a:rPr>
                        <a:t>stock </a:t>
                      </a:r>
                      <a:r>
                        <a:rPr lang="th-TH" sz="800" dirty="0">
                          <a:latin typeface="BLS Text" panose="00000500000000000000" pitchFamily="2" charset="-34"/>
                          <a:cs typeface="BLS Text" panose="00000500000000000000" pitchFamily="2" charset="-34"/>
                        </a:rPr>
                        <a:t>เดิม</a:t>
                      </a:r>
                      <a:r>
                        <a:rPr lang="en-US" sz="800" dirty="0">
                          <a:latin typeface="BLS Text" panose="00000500000000000000" pitchFamily="2" charset="-34"/>
                          <a:cs typeface="BLS Text" panose="00000500000000000000" pitchFamily="2" charset="-34"/>
                        </a:rPr>
                        <a:t> (</a:t>
                      </a:r>
                      <a:r>
                        <a:rPr lang="th-TH" sz="800" dirty="0">
                          <a:latin typeface="BLS Text" panose="00000500000000000000" pitchFamily="2" charset="-34"/>
                          <a:cs typeface="BLS Text" panose="00000500000000000000" pitchFamily="2" charset="-34"/>
                        </a:rPr>
                        <a:t>ยาวถึงกลางปี</a:t>
                      </a:r>
                      <a:r>
                        <a:rPr lang="en-US" sz="800" dirty="0">
                          <a:latin typeface="BLS Text" panose="00000500000000000000" pitchFamily="2" charset="-34"/>
                          <a:cs typeface="BLS Text" panose="00000500000000000000" pitchFamily="2" charset="-34"/>
                        </a:rPr>
                        <a:t>)</a:t>
                      </a:r>
                      <a:endParaRPr lang="th-TH" sz="800" dirty="0">
                        <a:latin typeface="BLS Text" panose="00000500000000000000" pitchFamily="2" charset="-34"/>
                        <a:cs typeface="BLS Text" panose="00000500000000000000" pitchFamily="2" charset="-34"/>
                      </a:endParaRPr>
                    </a:p>
                  </a:txBody>
                  <a:tcPr marL="25460" marR="25460" marT="12730" marB="12730" anchor="ctr">
                    <a:lnL>
                      <a:noFill/>
                    </a:lnL>
                    <a:lnR>
                      <a:noFill/>
                    </a:lnR>
                    <a:lnT w="3175" cap="flat" cmpd="sng" algn="ctr">
                      <a:solidFill>
                        <a:schemeClr val="tx1"/>
                      </a:solidFill>
                      <a:prstDash val="solid"/>
                      <a:round/>
                      <a:headEnd type="none" w="med" len="med"/>
                      <a:tailEnd type="none" w="med" len="med"/>
                    </a:lnT>
                    <a:lnB>
                      <a:noFill/>
                    </a:lnB>
                    <a:solidFill>
                      <a:schemeClr val="accent1">
                        <a:lumMod val="20000"/>
                        <a:lumOff val="80000"/>
                      </a:schemeClr>
                    </a:solidFill>
                  </a:tcPr>
                </a:tc>
                <a:tc>
                  <a:txBody>
                    <a:bodyPr/>
                    <a:lstStyle/>
                    <a:p>
                      <a:pPr algn="ctr"/>
                      <a:r>
                        <a:rPr lang="en-US" sz="800" dirty="0">
                          <a:latin typeface="BLS Text" panose="00000500000000000000" pitchFamily="2" charset="-34"/>
                          <a:cs typeface="BLS Text" panose="00000500000000000000" pitchFamily="2" charset="-34"/>
                        </a:rPr>
                        <a:t>Margin </a:t>
                      </a:r>
                      <a:r>
                        <a:rPr lang="th-TH" sz="800" dirty="0">
                          <a:latin typeface="BLS Text" panose="00000500000000000000" pitchFamily="2" charset="-34"/>
                          <a:cs typeface="BLS Text" panose="00000500000000000000" pitchFamily="2" charset="-34"/>
                        </a:rPr>
                        <a:t>ขยายชั่วคราว</a:t>
                      </a:r>
                    </a:p>
                  </a:txBody>
                  <a:tcPr marL="25460" marR="25460" marT="12730" marB="12730" anchor="ctr">
                    <a:lnL>
                      <a:noFill/>
                    </a:lnL>
                    <a:lnR>
                      <a:noFill/>
                    </a:lnR>
                    <a:lnT w="3175" cap="flat" cmpd="sng" algn="ctr">
                      <a:solidFill>
                        <a:schemeClr val="tx1"/>
                      </a:solidFill>
                      <a:prstDash val="solid"/>
                      <a:round/>
                      <a:headEnd type="none" w="med" len="med"/>
                      <a:tailEnd type="none" w="med" len="med"/>
                    </a:lnT>
                    <a:lnB>
                      <a:noFill/>
                    </a:lnB>
                    <a:solidFill>
                      <a:schemeClr val="accent1">
                        <a:lumMod val="20000"/>
                        <a:lumOff val="80000"/>
                      </a:schemeClr>
                    </a:solidFill>
                  </a:tcPr>
                </a:tc>
                <a:extLst>
                  <a:ext uri="{0D108BD9-81ED-4DB2-BD59-A6C34878D82A}">
                    <a16:rowId xmlns:a16="http://schemas.microsoft.com/office/drawing/2014/main" val="2434788713"/>
                  </a:ext>
                </a:extLst>
              </a:tr>
              <a:tr h="154804">
                <a:tc vMerge="1">
                  <a:txBody>
                    <a:bodyPr/>
                    <a:lstStyle/>
                    <a:p>
                      <a:pPr algn="ctr"/>
                      <a:endParaRPr lang="en-US" sz="900" dirty="0">
                        <a:latin typeface="BLS Text" panose="00000500000000000000" pitchFamily="2" charset="-34"/>
                        <a:cs typeface="BLS Text" panose="00000500000000000000" pitchFamily="2" charset="-34"/>
                      </a:endParaRPr>
                    </a:p>
                  </a:txBody>
                  <a:tcPr marL="25460" marR="25460" marT="12730" marB="12730" anchor="ctr">
                    <a:lnL>
                      <a:noFill/>
                    </a:lnL>
                    <a:lnR>
                      <a:noFill/>
                    </a:lnR>
                    <a:lnT>
                      <a:noFill/>
                    </a:lnT>
                    <a:lnB>
                      <a:noFill/>
                    </a:lnB>
                  </a:tcPr>
                </a:tc>
                <a:tc>
                  <a:txBody>
                    <a:bodyPr/>
                    <a:lstStyle/>
                    <a:p>
                      <a:pPr algn="ctr"/>
                      <a:r>
                        <a:rPr lang="en-US" sz="800">
                          <a:latin typeface="BLS Text" panose="00000500000000000000" pitchFamily="2" charset="-34"/>
                          <a:cs typeface="BLS Text" panose="00000500000000000000" pitchFamily="2" charset="-34"/>
                        </a:rPr>
                        <a:t>Restaurants</a:t>
                      </a:r>
                    </a:p>
                  </a:txBody>
                  <a:tcPr marL="25460" marR="25460" marT="12730" marB="12730" anchor="ctr">
                    <a:lnL>
                      <a:noFill/>
                    </a:lnL>
                    <a:lnR>
                      <a:noFill/>
                    </a:lnR>
                    <a:lnT>
                      <a:noFill/>
                    </a:lnT>
                    <a:lnB>
                      <a:noFill/>
                    </a:lnB>
                  </a:tcPr>
                </a:tc>
                <a:tc>
                  <a:txBody>
                    <a:bodyPr/>
                    <a:lstStyle/>
                    <a:p>
                      <a:pPr algn="ctr"/>
                      <a:r>
                        <a:rPr lang="th-TH" sz="800" dirty="0">
                          <a:latin typeface="BLS Text" panose="00000500000000000000" pitchFamily="2" charset="-34"/>
                          <a:cs typeface="BLS Text" panose="00000500000000000000" pitchFamily="2" charset="-34"/>
                        </a:rPr>
                        <a:t>ลบ</a:t>
                      </a:r>
                    </a:p>
                  </a:txBody>
                  <a:tcPr marL="25460" marR="25460" marT="12730" marB="12730" anchor="ctr">
                    <a:lnL>
                      <a:noFill/>
                    </a:lnL>
                    <a:lnR>
                      <a:noFill/>
                    </a:lnR>
                    <a:lnT>
                      <a:noFill/>
                    </a:lnT>
                    <a:lnB>
                      <a:noFill/>
                    </a:lnB>
                  </a:tcPr>
                </a:tc>
                <a:tc>
                  <a:txBody>
                    <a:bodyPr/>
                    <a:lstStyle/>
                    <a:p>
                      <a:pPr algn="ctr"/>
                      <a:r>
                        <a:rPr lang="en-US" sz="800" dirty="0">
                          <a:latin typeface="BLS Text" panose="00000500000000000000" pitchFamily="2" charset="-34"/>
                          <a:cs typeface="BLS Text" panose="00000500000000000000" pitchFamily="2" charset="-34"/>
                        </a:rPr>
                        <a:t>Cost </a:t>
                      </a:r>
                      <a:r>
                        <a:rPr lang="th-TH" sz="800" dirty="0">
                          <a:latin typeface="BLS Text" panose="00000500000000000000" pitchFamily="2" charset="-34"/>
                          <a:cs typeface="BLS Text" panose="00000500000000000000" pitchFamily="2" charset="-34"/>
                        </a:rPr>
                        <a:t>ขึ้น</a:t>
                      </a:r>
                      <a:r>
                        <a:rPr lang="en-US" sz="800" dirty="0">
                          <a:latin typeface="BLS Text" panose="00000500000000000000" pitchFamily="2" charset="-34"/>
                          <a:cs typeface="BLS Text" panose="00000500000000000000" pitchFamily="2" charset="-34"/>
                        </a:rPr>
                        <a:t> </a:t>
                      </a:r>
                      <a:r>
                        <a:rPr lang="th-TH" sz="800" dirty="0">
                          <a:latin typeface="BLS Text" panose="00000500000000000000" pitchFamily="2" charset="-34"/>
                          <a:cs typeface="BLS Text" panose="00000500000000000000" pitchFamily="2" charset="-34"/>
                        </a:rPr>
                        <a:t>แต่ขึ้นราคาได้จำกัด</a:t>
                      </a:r>
                    </a:p>
                  </a:txBody>
                  <a:tcPr marL="25460" marR="25460" marT="12730" marB="12730" anchor="ctr">
                    <a:lnL>
                      <a:noFill/>
                    </a:lnL>
                    <a:lnR>
                      <a:noFill/>
                    </a:lnR>
                    <a:lnT>
                      <a:noFill/>
                    </a:lnT>
                    <a:lnB>
                      <a:noFill/>
                    </a:lnB>
                  </a:tcPr>
                </a:tc>
                <a:tc>
                  <a:txBody>
                    <a:bodyPr/>
                    <a:lstStyle/>
                    <a:p>
                      <a:pPr algn="ctr"/>
                      <a:r>
                        <a:rPr lang="en-US" sz="800" dirty="0">
                          <a:latin typeface="BLS Text" panose="00000500000000000000" pitchFamily="2" charset="-34"/>
                          <a:cs typeface="BLS Text" panose="00000500000000000000" pitchFamily="2" charset="-34"/>
                        </a:rPr>
                        <a:t>Margin </a:t>
                      </a:r>
                      <a:r>
                        <a:rPr lang="th-TH" sz="800" dirty="0">
                          <a:latin typeface="BLS Text" panose="00000500000000000000" pitchFamily="2" charset="-34"/>
                          <a:cs typeface="BLS Text" panose="00000500000000000000" pitchFamily="2" charset="-34"/>
                        </a:rPr>
                        <a:t>ถูก </a:t>
                      </a:r>
                      <a:r>
                        <a:rPr lang="en-US" sz="800" dirty="0">
                          <a:latin typeface="BLS Text" panose="00000500000000000000" pitchFamily="2" charset="-34"/>
                          <a:cs typeface="BLS Text" panose="00000500000000000000" pitchFamily="2" charset="-34"/>
                        </a:rPr>
                        <a:t>squeeze</a:t>
                      </a:r>
                    </a:p>
                  </a:txBody>
                  <a:tcPr marL="25460" marR="25460" marT="12730" marB="12730" anchor="ctr">
                    <a:lnL>
                      <a:noFill/>
                    </a:lnL>
                    <a:lnR>
                      <a:noFill/>
                    </a:lnR>
                    <a:lnT>
                      <a:noFill/>
                    </a:lnT>
                    <a:lnB>
                      <a:noFill/>
                    </a:lnB>
                  </a:tcPr>
                </a:tc>
                <a:extLst>
                  <a:ext uri="{0D108BD9-81ED-4DB2-BD59-A6C34878D82A}">
                    <a16:rowId xmlns:a16="http://schemas.microsoft.com/office/drawing/2014/main" val="1592710348"/>
                  </a:ext>
                </a:extLst>
              </a:tr>
              <a:tr h="282866">
                <a:tc vMerge="1">
                  <a:txBody>
                    <a:bodyPr/>
                    <a:lstStyle/>
                    <a:p>
                      <a:pPr algn="ctr"/>
                      <a:endParaRPr lang="en-US" sz="900" dirty="0">
                        <a:latin typeface="BLS Text" panose="00000500000000000000" pitchFamily="2" charset="-34"/>
                        <a:cs typeface="BLS Text" panose="00000500000000000000" pitchFamily="2" charset="-34"/>
                      </a:endParaRPr>
                    </a:p>
                  </a:txBody>
                  <a:tcPr marL="25460" marR="25460" marT="12730" marB="12730" anchor="ctr">
                    <a:lnL>
                      <a:noFill/>
                    </a:lnL>
                    <a:lnR>
                      <a:noFill/>
                    </a:lnR>
                    <a:lnT>
                      <a:noFill/>
                    </a:lnT>
                    <a:lnB w="3175" cap="flat" cmpd="sng" algn="ctr">
                      <a:solidFill>
                        <a:schemeClr val="tx1"/>
                      </a:solidFill>
                      <a:prstDash val="solid"/>
                      <a:round/>
                      <a:headEnd type="none" w="med" len="med"/>
                      <a:tailEnd type="none" w="med" len="med"/>
                    </a:lnB>
                  </a:tcPr>
                </a:tc>
                <a:tc>
                  <a:txBody>
                    <a:bodyPr/>
                    <a:lstStyle/>
                    <a:p>
                      <a:pPr algn="ctr"/>
                      <a:r>
                        <a:rPr lang="en-US" sz="800" dirty="0">
                          <a:latin typeface="BLS Text" panose="00000500000000000000" pitchFamily="2" charset="-34"/>
                          <a:cs typeface="BLS Text" panose="00000500000000000000" pitchFamily="2" charset="-34"/>
                        </a:rPr>
                        <a:t>Beverage</a:t>
                      </a:r>
                    </a:p>
                  </a:txBody>
                  <a:tcPr marL="25460" marR="25460" marT="12730" marB="12730" anchor="ctr">
                    <a:lnL>
                      <a:noFill/>
                    </a:lnL>
                    <a:lnR>
                      <a:noFill/>
                    </a:lnR>
                    <a:lnT>
                      <a:noFill/>
                    </a:lnT>
                    <a:lnB w="3175" cap="flat" cmpd="sng" algn="ctr">
                      <a:solidFill>
                        <a:schemeClr val="tx1"/>
                      </a:solidFill>
                      <a:prstDash val="solid"/>
                      <a:round/>
                      <a:headEnd type="none" w="med" len="med"/>
                      <a:tailEnd type="none" w="med" len="med"/>
                    </a:lnB>
                  </a:tcPr>
                </a:tc>
                <a:tc>
                  <a:txBody>
                    <a:bodyPr/>
                    <a:lstStyle/>
                    <a:p>
                      <a:pPr algn="ctr"/>
                      <a:r>
                        <a:rPr lang="th-TH" sz="800" dirty="0">
                          <a:latin typeface="BLS Text" panose="00000500000000000000" pitchFamily="2" charset="-34"/>
                          <a:cs typeface="BLS Text" panose="00000500000000000000" pitchFamily="2" charset="-34"/>
                        </a:rPr>
                        <a:t>ลบ</a:t>
                      </a:r>
                    </a:p>
                  </a:txBody>
                  <a:tcPr marL="25460" marR="25460" marT="12730" marB="12730" anchor="ctr">
                    <a:lnL>
                      <a:noFill/>
                    </a:lnL>
                    <a:lnR>
                      <a:noFill/>
                    </a:lnR>
                    <a:lnT>
                      <a:noFill/>
                    </a:lnT>
                    <a:lnB w="3175" cap="flat" cmpd="sng" algn="ctr">
                      <a:solidFill>
                        <a:schemeClr val="tx1"/>
                      </a:solidFill>
                      <a:prstDash val="solid"/>
                      <a:round/>
                      <a:headEnd type="none" w="med" len="med"/>
                      <a:tailEnd type="none" w="med" len="med"/>
                    </a:lnB>
                  </a:tcPr>
                </a:tc>
                <a:tc>
                  <a:txBody>
                    <a:bodyPr/>
                    <a:lstStyle/>
                    <a:p>
                      <a:pPr algn="ctr"/>
                      <a:r>
                        <a:rPr lang="en-US" sz="800" dirty="0">
                          <a:latin typeface="BLS Text" panose="00000500000000000000" pitchFamily="2" charset="-34"/>
                          <a:cs typeface="BLS Text" panose="00000500000000000000" pitchFamily="2" charset="-34"/>
                        </a:rPr>
                        <a:t>Packaging cost (Aluminum, PET) </a:t>
                      </a:r>
                      <a:r>
                        <a:rPr lang="th-TH" sz="800" dirty="0">
                          <a:latin typeface="BLS Text" panose="00000500000000000000" pitchFamily="2" charset="-34"/>
                          <a:cs typeface="BLS Text" panose="00000500000000000000" pitchFamily="2" charset="-34"/>
                        </a:rPr>
                        <a:t>ขึ้น</a:t>
                      </a:r>
                      <a:endParaRPr lang="en-US" sz="800" dirty="0">
                        <a:latin typeface="BLS Text" panose="00000500000000000000" pitchFamily="2" charset="-34"/>
                        <a:cs typeface="BLS Text" panose="00000500000000000000" pitchFamily="2" charset="-34"/>
                      </a:endParaRPr>
                    </a:p>
                  </a:txBody>
                  <a:tcPr marL="25460" marR="25460" marT="12730" marB="12730" anchor="ctr">
                    <a:lnL>
                      <a:noFill/>
                    </a:lnL>
                    <a:lnR>
                      <a:noFill/>
                    </a:lnR>
                    <a:lnT>
                      <a:noFill/>
                    </a:lnT>
                    <a:lnB w="3175" cap="flat" cmpd="sng" algn="ctr">
                      <a:solidFill>
                        <a:schemeClr val="tx1"/>
                      </a:solidFill>
                      <a:prstDash val="solid"/>
                      <a:round/>
                      <a:headEnd type="none" w="med" len="med"/>
                      <a:tailEnd type="none" w="med" len="med"/>
                    </a:lnB>
                  </a:tcPr>
                </a:tc>
                <a:tc>
                  <a:txBody>
                    <a:bodyPr/>
                    <a:lstStyle/>
                    <a:p>
                      <a:pPr algn="ctr"/>
                      <a:r>
                        <a:rPr lang="en-US" sz="800" dirty="0">
                          <a:latin typeface="BLS Text" panose="00000500000000000000" pitchFamily="2" charset="-34"/>
                          <a:cs typeface="BLS Text" panose="00000500000000000000" pitchFamily="2" charset="-34"/>
                        </a:rPr>
                        <a:t>Gross margin </a:t>
                      </a:r>
                      <a:r>
                        <a:rPr lang="th-TH" sz="800" dirty="0">
                          <a:latin typeface="BLS Text" panose="00000500000000000000" pitchFamily="2" charset="-34"/>
                          <a:cs typeface="BLS Text" panose="00000500000000000000" pitchFamily="2" charset="-34"/>
                        </a:rPr>
                        <a:t>ถูกกด</a:t>
                      </a:r>
                    </a:p>
                  </a:txBody>
                  <a:tcPr marL="25460" marR="25460" marT="12730" marB="12730" anchor="ctr">
                    <a:lnL>
                      <a:noFill/>
                    </a:lnL>
                    <a:lnR>
                      <a:noFill/>
                    </a:lnR>
                    <a:lnT>
                      <a:noFill/>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400954"/>
                  </a:ext>
                </a:extLst>
              </a:tr>
              <a:tr h="314881">
                <a:tc>
                  <a:txBody>
                    <a:bodyPr/>
                    <a:lstStyle/>
                    <a:p>
                      <a:pPr algn="ctr"/>
                      <a:r>
                        <a:rPr lang="en-US" sz="900" b="1" dirty="0">
                          <a:latin typeface="BLS Text" panose="00000500000000000000" pitchFamily="2" charset="-34"/>
                          <a:cs typeface="BLS Text" panose="00000500000000000000" pitchFamily="2" charset="-34"/>
                        </a:rPr>
                        <a:t>Retail / Commerce</a:t>
                      </a:r>
                      <a:endParaRPr lang="en-US" sz="900" dirty="0">
                        <a:latin typeface="BLS Text" panose="00000500000000000000" pitchFamily="2" charset="-34"/>
                        <a:cs typeface="BLS Text" panose="00000500000000000000" pitchFamily="2" charset="-34"/>
                      </a:endParaRPr>
                    </a:p>
                  </a:txBody>
                  <a:tcPr marL="25460" marR="25460" marT="12730" marB="12730" anchor="ctr">
                    <a:lnL>
                      <a:noFill/>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sz="800" dirty="0">
                          <a:latin typeface="BLS Text" panose="00000500000000000000" pitchFamily="2" charset="-34"/>
                          <a:cs typeface="BLS Text" panose="00000500000000000000" pitchFamily="2" charset="-34"/>
                        </a:rPr>
                        <a:t>Modern trade / Wholesale</a:t>
                      </a:r>
                    </a:p>
                  </a:txBody>
                  <a:tcPr marL="25460" marR="25460" marT="12730" marB="12730" anchor="ctr">
                    <a:lnL>
                      <a:noFill/>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th-TH" sz="800" dirty="0">
                          <a:latin typeface="BLS Text" panose="00000500000000000000" pitchFamily="2" charset="-34"/>
                          <a:cs typeface="BLS Text" panose="00000500000000000000" pitchFamily="2" charset="-34"/>
                        </a:rPr>
                        <a:t>ลบ (ทางอ้อม)</a:t>
                      </a:r>
                    </a:p>
                  </a:txBody>
                  <a:tcPr marL="25460" marR="25460" marT="12730" marB="12730" anchor="ctr">
                    <a:lnL>
                      <a:noFill/>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th-TH" sz="800" dirty="0">
                          <a:latin typeface="BLS Text" panose="00000500000000000000" pitchFamily="2" charset="-34"/>
                          <a:cs typeface="BLS Text" panose="00000500000000000000" pitchFamily="2" charset="-34"/>
                        </a:rPr>
                        <a:t>ค่าไฟ + </a:t>
                      </a:r>
                      <a:r>
                        <a:rPr lang="en-US" sz="800" dirty="0">
                          <a:latin typeface="BLS Text" panose="00000500000000000000" pitchFamily="2" charset="-34"/>
                          <a:cs typeface="BLS Text" panose="00000500000000000000" pitchFamily="2" charset="-34"/>
                        </a:rPr>
                        <a:t>logistics</a:t>
                      </a:r>
                      <a:r>
                        <a:rPr lang="th-TH" sz="800" dirty="0">
                          <a:latin typeface="BLS Text" panose="00000500000000000000" pitchFamily="2" charset="-34"/>
                          <a:cs typeface="BLS Text" panose="00000500000000000000" pitchFamily="2" charset="-34"/>
                        </a:rPr>
                        <a:t> ขึ้น</a:t>
                      </a:r>
                      <a:endParaRPr lang="en-US" sz="800" dirty="0">
                        <a:latin typeface="BLS Text" panose="00000500000000000000" pitchFamily="2" charset="-34"/>
                        <a:cs typeface="BLS Text" panose="00000500000000000000" pitchFamily="2" charset="-34"/>
                      </a:endParaRPr>
                    </a:p>
                  </a:txBody>
                  <a:tcPr marL="25460" marR="25460" marT="12730" marB="12730" anchor="ctr">
                    <a:lnL>
                      <a:noFill/>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sz="800" dirty="0">
                          <a:latin typeface="BLS Text" panose="00000500000000000000" pitchFamily="2" charset="-34"/>
                          <a:cs typeface="BLS Text" panose="00000500000000000000" pitchFamily="2" charset="-34"/>
                        </a:rPr>
                        <a:t>Margin </a:t>
                      </a:r>
                      <a:r>
                        <a:rPr lang="th-TH" sz="800" dirty="0">
                          <a:latin typeface="BLS Text" panose="00000500000000000000" pitchFamily="2" charset="-34"/>
                          <a:cs typeface="BLS Text" panose="00000500000000000000" pitchFamily="2" charset="-34"/>
                        </a:rPr>
                        <a:t>ถูกกด + </a:t>
                      </a:r>
                      <a:r>
                        <a:rPr lang="en-US" sz="800" dirty="0">
                          <a:latin typeface="BLS Text" panose="00000500000000000000" pitchFamily="2" charset="-34"/>
                          <a:cs typeface="BLS Text" panose="00000500000000000000" pitchFamily="2" charset="-34"/>
                        </a:rPr>
                        <a:t>demand </a:t>
                      </a:r>
                      <a:r>
                        <a:rPr lang="th-TH" sz="800" dirty="0">
                          <a:latin typeface="BLS Text" panose="00000500000000000000" pitchFamily="2" charset="-34"/>
                          <a:cs typeface="BLS Text" panose="00000500000000000000" pitchFamily="2" charset="-34"/>
                        </a:rPr>
                        <a:t>ชะลอ</a:t>
                      </a:r>
                    </a:p>
                  </a:txBody>
                  <a:tcPr marL="25460" marR="25460" marT="12730" marB="12730" anchor="ctr">
                    <a:lnL>
                      <a:noFill/>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439670"/>
                  </a:ext>
                </a:extLst>
              </a:tr>
              <a:tr h="154804">
                <a:tc rowSpan="2">
                  <a:txBody>
                    <a:bodyPr/>
                    <a:lstStyle/>
                    <a:p>
                      <a:pPr algn="ctr"/>
                      <a:r>
                        <a:rPr lang="en-US" sz="900" b="1" dirty="0">
                          <a:latin typeface="BLS Text" panose="00000500000000000000" pitchFamily="2" charset="-34"/>
                          <a:cs typeface="BLS Text" panose="00000500000000000000" pitchFamily="2" charset="-34"/>
                        </a:rPr>
                        <a:t>Tourism / Healthcare</a:t>
                      </a:r>
                      <a:endParaRPr lang="en-US" sz="900" dirty="0">
                        <a:latin typeface="BLS Text" panose="00000500000000000000" pitchFamily="2" charset="-34"/>
                        <a:cs typeface="BLS Text" panose="00000500000000000000" pitchFamily="2" charset="-34"/>
                      </a:endParaRPr>
                    </a:p>
                  </a:txBody>
                  <a:tcPr marL="25460" marR="25460" marT="12730" marB="12730" anchor="ctr">
                    <a:lnL>
                      <a:noFill/>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sz="800" dirty="0">
                          <a:latin typeface="BLS Text" panose="00000500000000000000" pitchFamily="2" charset="-34"/>
                          <a:cs typeface="BLS Text" panose="00000500000000000000" pitchFamily="2" charset="-34"/>
                        </a:rPr>
                        <a:t>Hospitals (ME exposure </a:t>
                      </a:r>
                      <a:r>
                        <a:rPr lang="th-TH" sz="800" dirty="0">
                          <a:latin typeface="BLS Text" panose="00000500000000000000" pitchFamily="2" charset="-34"/>
                          <a:cs typeface="BLS Text" panose="00000500000000000000" pitchFamily="2" charset="-34"/>
                        </a:rPr>
                        <a:t>สูง)</a:t>
                      </a:r>
                    </a:p>
                  </a:txBody>
                  <a:tcPr marL="25460" marR="25460" marT="12730" marB="12730" anchor="ctr">
                    <a:lnL>
                      <a:noFill/>
                    </a:lnL>
                    <a:lnR>
                      <a:noFill/>
                    </a:lnR>
                    <a:lnT w="3175" cap="flat" cmpd="sng" algn="ctr">
                      <a:solidFill>
                        <a:schemeClr val="tx1"/>
                      </a:solidFill>
                      <a:prstDash val="solid"/>
                      <a:round/>
                      <a:headEnd type="none" w="med" len="med"/>
                      <a:tailEnd type="none" w="med" len="med"/>
                    </a:lnT>
                    <a:lnB>
                      <a:noFill/>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dirty="0">
                          <a:latin typeface="BLS Text" panose="00000500000000000000" pitchFamily="2" charset="-34"/>
                          <a:cs typeface="BLS Text" panose="00000500000000000000" pitchFamily="2" charset="-34"/>
                        </a:rPr>
                        <a:t>Neutral-</a:t>
                      </a:r>
                      <a:r>
                        <a:rPr lang="th-TH" sz="800" dirty="0">
                          <a:latin typeface="BLS Text" panose="00000500000000000000" pitchFamily="2" charset="-34"/>
                          <a:cs typeface="BLS Text" panose="00000500000000000000" pitchFamily="2" charset="-34"/>
                        </a:rPr>
                        <a:t>ลบ</a:t>
                      </a:r>
                    </a:p>
                  </a:txBody>
                  <a:tcPr marL="25460" marR="25460" marT="12730" marB="12730" anchor="ctr">
                    <a:lnL>
                      <a:noFill/>
                    </a:lnL>
                    <a:lnR>
                      <a:noFill/>
                    </a:lnR>
                    <a:lnT w="3175" cap="flat" cmpd="sng" algn="ctr">
                      <a:solidFill>
                        <a:schemeClr val="tx1"/>
                      </a:solidFill>
                      <a:prstDash val="solid"/>
                      <a:round/>
                      <a:headEnd type="none" w="med" len="med"/>
                      <a:tailEnd type="none" w="med" len="med"/>
                    </a:lnT>
                    <a:lnB>
                      <a:noFill/>
                    </a:lnB>
                  </a:tcPr>
                </a:tc>
                <a:tc>
                  <a:txBody>
                    <a:bodyPr/>
                    <a:lstStyle/>
                    <a:p>
                      <a:pPr algn="ctr"/>
                      <a:r>
                        <a:rPr lang="en-US" sz="800" dirty="0">
                          <a:latin typeface="BLS Text" panose="00000500000000000000" pitchFamily="2" charset="-34"/>
                          <a:cs typeface="BLS Text" panose="00000500000000000000" pitchFamily="2" charset="-34"/>
                        </a:rPr>
                        <a:t>Mobility disruption</a:t>
                      </a:r>
                    </a:p>
                  </a:txBody>
                  <a:tcPr marL="25460" marR="25460" marT="12730" marB="12730" anchor="ctr">
                    <a:lnL>
                      <a:noFill/>
                    </a:lnL>
                    <a:lnR>
                      <a:noFill/>
                    </a:lnR>
                    <a:lnT w="3175" cap="flat" cmpd="sng" algn="ctr">
                      <a:solidFill>
                        <a:schemeClr val="tx1"/>
                      </a:solidFill>
                      <a:prstDash val="solid"/>
                      <a:round/>
                      <a:headEnd type="none" w="med" len="med"/>
                      <a:tailEnd type="none" w="med" len="med"/>
                    </a:lnT>
                    <a:lnB>
                      <a:noFill/>
                    </a:lnB>
                  </a:tcPr>
                </a:tc>
                <a:tc>
                  <a:txBody>
                    <a:bodyPr/>
                    <a:lstStyle/>
                    <a:p>
                      <a:pPr algn="ctr"/>
                      <a:r>
                        <a:rPr lang="en-US" sz="800" dirty="0">
                          <a:latin typeface="BLS Text" panose="00000500000000000000" pitchFamily="2" charset="-34"/>
                          <a:cs typeface="BLS Text" panose="00000500000000000000" pitchFamily="2" charset="-34"/>
                        </a:rPr>
                        <a:t>Volume </a:t>
                      </a:r>
                      <a:r>
                        <a:rPr lang="th-TH" sz="800" dirty="0">
                          <a:latin typeface="BLS Text" panose="00000500000000000000" pitchFamily="2" charset="-34"/>
                          <a:cs typeface="BLS Text" panose="00000500000000000000" pitchFamily="2" charset="-34"/>
                        </a:rPr>
                        <a:t>ชะลอเฉพาะ </a:t>
                      </a:r>
                      <a:r>
                        <a:rPr lang="en-US" sz="800" dirty="0">
                          <a:latin typeface="BLS Text" panose="00000500000000000000" pitchFamily="2" charset="-34"/>
                          <a:cs typeface="BLS Text" panose="00000500000000000000" pitchFamily="2" charset="-34"/>
                        </a:rPr>
                        <a:t>segment</a:t>
                      </a:r>
                    </a:p>
                  </a:txBody>
                  <a:tcPr marL="25460" marR="25460" marT="12730" marB="12730" anchor="ctr">
                    <a:lnL>
                      <a:noFill/>
                    </a:lnL>
                    <a:lnR>
                      <a:noFill/>
                    </a:lnR>
                    <a:lnT w="3175"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812039245"/>
                  </a:ext>
                </a:extLst>
              </a:tr>
              <a:tr h="410927">
                <a:tc vMerge="1">
                  <a:txBody>
                    <a:bodyPr/>
                    <a:lstStyle/>
                    <a:p>
                      <a:pPr algn="ctr"/>
                      <a:endParaRPr lang="en-US" sz="900" dirty="0">
                        <a:latin typeface="BLS Text" panose="00000500000000000000" pitchFamily="2" charset="-34"/>
                        <a:cs typeface="BLS Text" panose="00000500000000000000" pitchFamily="2" charset="-34"/>
                      </a:endParaRPr>
                    </a:p>
                  </a:txBody>
                  <a:tcPr marL="25460" marR="25460" marT="12730" marB="12730" anchor="ctr">
                    <a:lnL>
                      <a:noFill/>
                    </a:lnL>
                    <a:lnR>
                      <a:noFill/>
                    </a:lnR>
                    <a:lnT>
                      <a:noFill/>
                    </a:lnT>
                    <a:lnB w="3175" cap="flat" cmpd="sng" algn="ctr">
                      <a:solidFill>
                        <a:schemeClr val="tx1"/>
                      </a:solidFill>
                      <a:prstDash val="solid"/>
                      <a:round/>
                      <a:headEnd type="none" w="med" len="med"/>
                      <a:tailEnd type="none" w="med" len="med"/>
                    </a:lnB>
                  </a:tcPr>
                </a:tc>
                <a:tc>
                  <a:txBody>
                    <a:bodyPr/>
                    <a:lstStyle/>
                    <a:p>
                      <a:pPr algn="ctr"/>
                      <a:r>
                        <a:rPr lang="en-US" sz="800">
                          <a:latin typeface="BLS Text" panose="00000500000000000000" pitchFamily="2" charset="-34"/>
                          <a:cs typeface="BLS Text" panose="00000500000000000000" pitchFamily="2" charset="-34"/>
                        </a:rPr>
                        <a:t>Hotels / Airlines-linked tourism</a:t>
                      </a:r>
                    </a:p>
                  </a:txBody>
                  <a:tcPr marL="25460" marR="25460" marT="12730" marB="12730" anchor="ctr">
                    <a:lnL>
                      <a:noFill/>
                    </a:lnL>
                    <a:lnR>
                      <a:noFill/>
                    </a:lnR>
                    <a:lnT>
                      <a:noFill/>
                    </a:lnT>
                    <a:lnB w="3175"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dirty="0">
                          <a:latin typeface="BLS Text" panose="00000500000000000000" pitchFamily="2" charset="-34"/>
                          <a:cs typeface="BLS Text" panose="00000500000000000000" pitchFamily="2" charset="-34"/>
                        </a:rPr>
                        <a:t>Neutral-</a:t>
                      </a:r>
                      <a:r>
                        <a:rPr lang="th-TH" sz="800" dirty="0">
                          <a:latin typeface="BLS Text" panose="00000500000000000000" pitchFamily="2" charset="-34"/>
                          <a:cs typeface="BLS Text" panose="00000500000000000000" pitchFamily="2" charset="-34"/>
                        </a:rPr>
                        <a:t>ลบ</a:t>
                      </a:r>
                    </a:p>
                  </a:txBody>
                  <a:tcPr marL="25460" marR="25460" marT="12730" marB="12730" anchor="ctr">
                    <a:lnL>
                      <a:noFill/>
                    </a:lnL>
                    <a:lnR>
                      <a:noFill/>
                    </a:lnR>
                    <a:lnT>
                      <a:noFill/>
                    </a:lnT>
                    <a:lnB w="3175" cap="flat" cmpd="sng" algn="ctr">
                      <a:solidFill>
                        <a:schemeClr val="tx1"/>
                      </a:solidFill>
                      <a:prstDash val="solid"/>
                      <a:round/>
                      <a:headEnd type="none" w="med" len="med"/>
                      <a:tailEnd type="none" w="med" len="med"/>
                    </a:lnB>
                  </a:tcPr>
                </a:tc>
                <a:tc>
                  <a:txBody>
                    <a:bodyPr/>
                    <a:lstStyle/>
                    <a:p>
                      <a:pPr algn="ctr"/>
                      <a:r>
                        <a:rPr lang="en-US" sz="800" dirty="0">
                          <a:latin typeface="BLS Text" panose="00000500000000000000" pitchFamily="2" charset="-34"/>
                          <a:cs typeface="BLS Text" panose="00000500000000000000" pitchFamily="2" charset="-34"/>
                        </a:rPr>
                        <a:t>Travel friction</a:t>
                      </a:r>
                      <a:r>
                        <a:rPr lang="th-TH" sz="800" dirty="0">
                          <a:latin typeface="BLS Text" panose="00000500000000000000" pitchFamily="2" charset="-34"/>
                          <a:cs typeface="BLS Text" panose="00000500000000000000" pitchFamily="2" charset="-34"/>
                        </a:rPr>
                        <a:t> / ต้นทุนพลังงานกดดัน / ปรับราคาตั๋วขึ้น อาจกดดันอุปสงค์</a:t>
                      </a:r>
                      <a:endParaRPr lang="en-US" sz="800" dirty="0">
                        <a:latin typeface="BLS Text" panose="00000500000000000000" pitchFamily="2" charset="-34"/>
                        <a:cs typeface="BLS Text" panose="00000500000000000000" pitchFamily="2" charset="-34"/>
                      </a:endParaRPr>
                    </a:p>
                  </a:txBody>
                  <a:tcPr marL="25460" marR="25460" marT="12730" marB="12730" anchor="ctr">
                    <a:lnL>
                      <a:noFill/>
                    </a:lnL>
                    <a:lnR>
                      <a:noFill/>
                    </a:lnR>
                    <a:lnT>
                      <a:noFill/>
                    </a:lnT>
                    <a:lnB w="3175" cap="flat" cmpd="sng" algn="ctr">
                      <a:solidFill>
                        <a:schemeClr val="tx1"/>
                      </a:solidFill>
                      <a:prstDash val="solid"/>
                      <a:round/>
                      <a:headEnd type="none" w="med" len="med"/>
                      <a:tailEnd type="none" w="med" len="med"/>
                    </a:lnB>
                  </a:tcPr>
                </a:tc>
                <a:tc>
                  <a:txBody>
                    <a:bodyPr/>
                    <a:lstStyle/>
                    <a:p>
                      <a:pPr algn="ctr"/>
                      <a:r>
                        <a:rPr lang="th-TH" sz="800" dirty="0">
                          <a:latin typeface="BLS Text" panose="00000500000000000000" pitchFamily="2" charset="-34"/>
                          <a:cs typeface="BLS Text" panose="00000500000000000000" pitchFamily="2" charset="-34"/>
                        </a:rPr>
                        <a:t>กระทบระยะสั้น</a:t>
                      </a:r>
                    </a:p>
                  </a:txBody>
                  <a:tcPr marL="25460" marR="25460" marT="12730" marB="12730" anchor="ctr">
                    <a:lnL>
                      <a:noFill/>
                    </a:lnL>
                    <a:lnR>
                      <a:noFill/>
                    </a:lnR>
                    <a:lnT>
                      <a:noFill/>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3367340"/>
                  </a:ext>
                </a:extLst>
              </a:tr>
              <a:tr h="170812">
                <a:tc>
                  <a:txBody>
                    <a:bodyPr/>
                    <a:lstStyle/>
                    <a:p>
                      <a:pPr algn="ctr"/>
                      <a:r>
                        <a:rPr lang="en-US" sz="900" b="1" dirty="0">
                          <a:latin typeface="BLS Text" panose="00000500000000000000" pitchFamily="2" charset="-34"/>
                          <a:cs typeface="BLS Text" panose="00000500000000000000" pitchFamily="2" charset="-34"/>
                        </a:rPr>
                        <a:t>ICT</a:t>
                      </a:r>
                      <a:endParaRPr lang="en-US" sz="900" dirty="0">
                        <a:latin typeface="BLS Text" panose="00000500000000000000" pitchFamily="2" charset="-34"/>
                        <a:cs typeface="BLS Text" panose="00000500000000000000" pitchFamily="2" charset="-34"/>
                      </a:endParaRPr>
                    </a:p>
                  </a:txBody>
                  <a:tcPr marL="25460" marR="25460" marT="12730" marB="12730" anchor="ctr">
                    <a:lnL>
                      <a:noFill/>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sz="800" dirty="0">
                          <a:latin typeface="BLS Text" panose="00000500000000000000" pitchFamily="2" charset="-34"/>
                          <a:cs typeface="BLS Text" panose="00000500000000000000" pitchFamily="2" charset="-34"/>
                        </a:rPr>
                        <a:t>ICT</a:t>
                      </a:r>
                    </a:p>
                  </a:txBody>
                  <a:tcPr marL="25460" marR="25460" marT="12730" marB="12730" anchor="ctr">
                    <a:lnL>
                      <a:noFill/>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800" dirty="0">
                          <a:latin typeface="BLS Text" panose="00000500000000000000" pitchFamily="2" charset="-34"/>
                          <a:cs typeface="BLS Text" panose="00000500000000000000" pitchFamily="2" charset="-34"/>
                        </a:rPr>
                        <a:t>Neutral</a:t>
                      </a:r>
                      <a:endParaRPr lang="th-TH" sz="800" dirty="0">
                        <a:latin typeface="BLS Text" panose="00000500000000000000" pitchFamily="2" charset="-34"/>
                        <a:cs typeface="BLS Text" panose="00000500000000000000" pitchFamily="2" charset="-34"/>
                      </a:endParaRPr>
                    </a:p>
                  </a:txBody>
                  <a:tcPr marL="25460" marR="25460" marT="12730" marB="12730" anchor="ctr">
                    <a:lnL>
                      <a:noFill/>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800" dirty="0">
                          <a:latin typeface="BLS Text" panose="00000500000000000000" pitchFamily="2" charset="-34"/>
                          <a:cs typeface="BLS Text" panose="00000500000000000000" pitchFamily="2" charset="-34"/>
                        </a:rPr>
                        <a:t>Recurring + domestic demand</a:t>
                      </a:r>
                    </a:p>
                  </a:txBody>
                  <a:tcPr marL="25460" marR="25460" marT="12730" marB="12730" anchor="ctr">
                    <a:lnL>
                      <a:noFill/>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800" dirty="0">
                          <a:latin typeface="BLS Text" panose="00000500000000000000" pitchFamily="2" charset="-34"/>
                          <a:cs typeface="BLS Text" panose="00000500000000000000" pitchFamily="2" charset="-34"/>
                        </a:rPr>
                        <a:t>Earnings visibility </a:t>
                      </a:r>
                      <a:r>
                        <a:rPr lang="th-TH" sz="800" dirty="0">
                          <a:latin typeface="BLS Text" panose="00000500000000000000" pitchFamily="2" charset="-34"/>
                          <a:cs typeface="BLS Text" panose="00000500000000000000" pitchFamily="2" charset="-34"/>
                        </a:rPr>
                        <a:t>สูง</a:t>
                      </a:r>
                    </a:p>
                  </a:txBody>
                  <a:tcPr marL="25460" marR="25460" marT="12730" marB="12730" anchor="ctr">
                    <a:lnL>
                      <a:noFill/>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723796074"/>
                  </a:ext>
                </a:extLst>
              </a:tr>
              <a:tr h="170812">
                <a:tc>
                  <a:txBody>
                    <a:bodyPr/>
                    <a:lstStyle/>
                    <a:p>
                      <a:pPr algn="ctr"/>
                      <a:r>
                        <a:rPr lang="en-US" sz="900" b="1" dirty="0">
                          <a:latin typeface="BLS Text" panose="00000500000000000000" pitchFamily="2" charset="-34"/>
                          <a:cs typeface="BLS Text" panose="00000500000000000000" pitchFamily="2" charset="-34"/>
                        </a:rPr>
                        <a:t>Property</a:t>
                      </a:r>
                    </a:p>
                  </a:txBody>
                  <a:tcPr marL="25460" marR="25460" marT="12730" marB="12730" anchor="ctr">
                    <a:lnL>
                      <a:noFill/>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sz="800" dirty="0">
                          <a:latin typeface="BLS Text" panose="00000500000000000000" pitchFamily="2" charset="-34"/>
                          <a:cs typeface="BLS Text" panose="00000500000000000000" pitchFamily="2" charset="-34"/>
                        </a:rPr>
                        <a:t>Industrial Estate</a:t>
                      </a:r>
                    </a:p>
                  </a:txBody>
                  <a:tcPr marL="25460" marR="25460" marT="12730" marB="12730" anchor="ctr">
                    <a:lnL>
                      <a:noFill/>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800" dirty="0">
                          <a:latin typeface="BLS Text" panose="00000500000000000000" pitchFamily="2" charset="-34"/>
                          <a:cs typeface="BLS Text" panose="00000500000000000000" pitchFamily="2" charset="-34"/>
                        </a:rPr>
                        <a:t>Neutral</a:t>
                      </a:r>
                      <a:endParaRPr lang="th-TH" sz="800" dirty="0">
                        <a:latin typeface="BLS Text" panose="00000500000000000000" pitchFamily="2" charset="-34"/>
                        <a:cs typeface="BLS Text" panose="00000500000000000000" pitchFamily="2" charset="-34"/>
                      </a:endParaRPr>
                    </a:p>
                  </a:txBody>
                  <a:tcPr marL="25460" marR="25460" marT="12730" marB="12730" anchor="ctr">
                    <a:lnL>
                      <a:noFill/>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800" dirty="0">
                          <a:latin typeface="BLS Text" panose="00000500000000000000" pitchFamily="2" charset="-34"/>
                          <a:cs typeface="BLS Text" panose="00000500000000000000" pitchFamily="2" charset="-34"/>
                        </a:rPr>
                        <a:t>FDI</a:t>
                      </a:r>
                      <a:r>
                        <a:rPr lang="th-TH" sz="800" dirty="0">
                          <a:latin typeface="BLS Text" panose="00000500000000000000" pitchFamily="2" charset="-34"/>
                          <a:cs typeface="BLS Text" panose="00000500000000000000" pitchFamily="2" charset="-34"/>
                        </a:rPr>
                        <a:t> + </a:t>
                      </a:r>
                      <a:r>
                        <a:rPr lang="en-US" sz="800" dirty="0">
                          <a:latin typeface="BLS Text" panose="00000500000000000000" pitchFamily="2" charset="-34"/>
                          <a:cs typeface="BLS Text" panose="00000500000000000000" pitchFamily="2" charset="-34"/>
                        </a:rPr>
                        <a:t>BOI fast pass</a:t>
                      </a:r>
                    </a:p>
                  </a:txBody>
                  <a:tcPr marL="25460" marR="25460" marT="12730" marB="12730" anchor="ctr">
                    <a:lnL>
                      <a:noFill/>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800" dirty="0">
                          <a:latin typeface="BLS Text" panose="00000500000000000000" pitchFamily="2" charset="-34"/>
                          <a:cs typeface="BLS Text" panose="00000500000000000000" pitchFamily="2" charset="-34"/>
                        </a:rPr>
                        <a:t>Impact </a:t>
                      </a:r>
                      <a:r>
                        <a:rPr lang="th-TH" sz="800" dirty="0">
                          <a:latin typeface="BLS Text" panose="00000500000000000000" pitchFamily="2" charset="-34"/>
                          <a:cs typeface="BLS Text" panose="00000500000000000000" pitchFamily="2" charset="-34"/>
                        </a:rPr>
                        <a:t>จำกัด</a:t>
                      </a:r>
                    </a:p>
                  </a:txBody>
                  <a:tcPr marL="25460" marR="25460" marT="12730" marB="12730" anchor="ctr">
                    <a:lnL>
                      <a:noFill/>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83834233"/>
                  </a:ext>
                </a:extLst>
              </a:tr>
              <a:tr h="154804">
                <a:tc rowSpan="2">
                  <a:txBody>
                    <a:bodyPr/>
                    <a:lstStyle/>
                    <a:p>
                      <a:pPr algn="ctr"/>
                      <a:r>
                        <a:rPr lang="en-US" sz="900" b="1" dirty="0">
                          <a:latin typeface="BLS Text" panose="00000500000000000000" pitchFamily="2" charset="-34"/>
                          <a:cs typeface="BLS Text" panose="00000500000000000000" pitchFamily="2" charset="-34"/>
                        </a:rPr>
                        <a:t>Financials</a:t>
                      </a:r>
                    </a:p>
                  </a:txBody>
                  <a:tcPr marL="25460" marR="25460" marT="12730" marB="12730" anchor="ctr">
                    <a:lnL>
                      <a:noFill/>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sz="800" dirty="0">
                          <a:latin typeface="BLS Text" panose="00000500000000000000" pitchFamily="2" charset="-34"/>
                          <a:cs typeface="BLS Text" panose="00000500000000000000" pitchFamily="2" charset="-34"/>
                        </a:rPr>
                        <a:t> Bank</a:t>
                      </a:r>
                      <a:endParaRPr lang="en-US" dirty="0"/>
                    </a:p>
                  </a:txBody>
                  <a:tcPr marL="25460" marR="25460" marT="12730" marB="12730" anchor="ctr">
                    <a:lnL>
                      <a:noFill/>
                    </a:lnL>
                    <a:lnR>
                      <a:noFill/>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800" dirty="0">
                          <a:latin typeface="BLS Text" panose="00000500000000000000" pitchFamily="2" charset="-34"/>
                          <a:cs typeface="BLS Text" panose="00000500000000000000" pitchFamily="2" charset="-34"/>
                        </a:rPr>
                        <a:t>Neutral</a:t>
                      </a:r>
                      <a:endParaRPr lang="en-US" dirty="0"/>
                    </a:p>
                  </a:txBody>
                  <a:tcPr marL="25460" marR="25460" marT="12730" marB="12730" anchor="ctr">
                    <a:lnL>
                      <a:noFill/>
                    </a:lnL>
                    <a:lnR>
                      <a:noFill/>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800" dirty="0">
                          <a:latin typeface="BLS Text" panose="00000500000000000000" pitchFamily="2" charset="-34"/>
                          <a:cs typeface="BLS Text" panose="00000500000000000000" pitchFamily="2" charset="-34"/>
                        </a:rPr>
                        <a:t>Asset quality channel</a:t>
                      </a:r>
                      <a:endParaRPr lang="en-US" dirty="0"/>
                    </a:p>
                  </a:txBody>
                  <a:tcPr marL="25460" marR="25460" marT="12730" marB="12730" anchor="ctr">
                    <a:lnL>
                      <a:noFill/>
                    </a:lnL>
                    <a:lnR>
                      <a:noFill/>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800" dirty="0">
                          <a:latin typeface="BLS Text" panose="00000500000000000000" pitchFamily="2" charset="-34"/>
                          <a:cs typeface="BLS Text" panose="00000500000000000000" pitchFamily="2" charset="-34"/>
                        </a:rPr>
                        <a:t>Impact </a:t>
                      </a:r>
                      <a:r>
                        <a:rPr lang="th-TH" sz="800" dirty="0">
                          <a:latin typeface="BLS Text" panose="00000500000000000000" pitchFamily="2" charset="-34"/>
                          <a:cs typeface="BLS Text" panose="00000500000000000000" pitchFamily="2" charset="-34"/>
                        </a:rPr>
                        <a:t>จำกัด</a:t>
                      </a:r>
                    </a:p>
                  </a:txBody>
                  <a:tcPr marL="25460" marR="25460" marT="12730" marB="12730" anchor="ctr">
                    <a:lnL>
                      <a:noFill/>
                    </a:lnL>
                    <a:lnR>
                      <a:noFill/>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065201762"/>
                  </a:ext>
                </a:extLst>
              </a:tr>
              <a:tr h="282866">
                <a:tc vMerge="1">
                  <a:txBody>
                    <a:bodyPr/>
                    <a:lstStyle/>
                    <a:p>
                      <a:pPr marL="0" algn="ctr" defTabSz="914400" rtl="0" eaLnBrk="1" latinLnBrk="0" hangingPunct="1"/>
                      <a:endParaRPr lang="en-US" sz="900" b="1" kern="1200" dirty="0">
                        <a:solidFill>
                          <a:schemeClr val="tx1"/>
                        </a:solidFill>
                        <a:latin typeface="BLS Text" panose="00000500000000000000" pitchFamily="2" charset="-34"/>
                        <a:ea typeface="+mn-ea"/>
                        <a:cs typeface="BLS Text" panose="00000500000000000000" pitchFamily="2" charset="-34"/>
                      </a:endParaRPr>
                    </a:p>
                  </a:txBody>
                  <a:tcPr marL="25460" marR="25460" marT="12730" marB="12730" anchor="ctr">
                    <a:lnL>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sz="800" b="0" kern="1200" dirty="0">
                          <a:solidFill>
                            <a:schemeClr val="tx1"/>
                          </a:solidFill>
                          <a:latin typeface="BLS Text" panose="00000500000000000000" pitchFamily="2" charset="-34"/>
                          <a:ea typeface="+mn-ea"/>
                          <a:cs typeface="BLS Text" panose="00000500000000000000" pitchFamily="2" charset="-34"/>
                        </a:rPr>
                        <a:t>Finance</a:t>
                      </a:r>
                    </a:p>
                  </a:txBody>
                  <a:tcPr marL="25460" marR="25460" marT="12730" marB="12730" anchor="ctr">
                    <a:lnL w="3175" cap="flat" cmpd="sng" algn="ctr">
                      <a:noFill/>
                      <a:prstDash val="solid"/>
                      <a:round/>
                      <a:headEnd type="none" w="med" len="med"/>
                      <a:tailEnd type="none" w="med" len="med"/>
                    </a:lnL>
                    <a:lnR>
                      <a:noFill/>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sz="800" b="0" kern="1200" dirty="0">
                          <a:solidFill>
                            <a:schemeClr val="tx1"/>
                          </a:solidFill>
                          <a:latin typeface="BLS Text" panose="00000500000000000000" pitchFamily="2" charset="-34"/>
                          <a:ea typeface="+mn-ea"/>
                          <a:cs typeface="BLS Text" panose="00000500000000000000" pitchFamily="2" charset="-34"/>
                        </a:rPr>
                        <a:t>Neutral</a:t>
                      </a:r>
                    </a:p>
                  </a:txBody>
                  <a:tcPr marL="25460" marR="25460" marT="12730" marB="12730" anchor="ctr">
                    <a:lnL>
                      <a:noFill/>
                    </a:lnL>
                    <a:lnR>
                      <a:noFill/>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dirty="0">
                          <a:solidFill>
                            <a:schemeClr val="tx1"/>
                          </a:solidFill>
                          <a:latin typeface="BLS Text" panose="00000500000000000000" pitchFamily="2" charset="-34"/>
                          <a:ea typeface="+mn-ea"/>
                          <a:cs typeface="BLS Text" panose="00000500000000000000" pitchFamily="2" charset="-34"/>
                        </a:rPr>
                        <a:t>Asset quality channel</a:t>
                      </a:r>
                    </a:p>
                  </a:txBody>
                  <a:tcPr marL="25460" marR="25460" marT="12730" marB="12730" anchor="ctr">
                    <a:lnL>
                      <a:noFill/>
                    </a:lnL>
                    <a:lnR>
                      <a:noFill/>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dirty="0">
                          <a:solidFill>
                            <a:schemeClr val="tx1"/>
                          </a:solidFill>
                          <a:latin typeface="BLS Text" panose="00000500000000000000" pitchFamily="2" charset="-34"/>
                          <a:ea typeface="+mn-ea"/>
                          <a:cs typeface="BLS Text" panose="00000500000000000000" pitchFamily="2" charset="-34"/>
                        </a:rPr>
                        <a:t>Impact </a:t>
                      </a:r>
                      <a:r>
                        <a:rPr lang="th-TH" sz="800" b="0" kern="1200" dirty="0">
                          <a:solidFill>
                            <a:schemeClr val="tx1"/>
                          </a:solidFill>
                          <a:latin typeface="BLS Text" panose="00000500000000000000" pitchFamily="2" charset="-34"/>
                          <a:ea typeface="+mn-ea"/>
                          <a:cs typeface="BLS Text" panose="00000500000000000000" pitchFamily="2" charset="-34"/>
                        </a:rPr>
                        <a:t>จำกัด แต่เสี่ยงกว่าธนาคาร</a:t>
                      </a:r>
                      <a:r>
                        <a:rPr lang="en-US" sz="800" b="0" kern="1200" dirty="0">
                          <a:solidFill>
                            <a:schemeClr val="tx1"/>
                          </a:solidFill>
                          <a:latin typeface="BLS Text" panose="00000500000000000000" pitchFamily="2" charset="-34"/>
                          <a:ea typeface="+mn-ea"/>
                          <a:cs typeface="BLS Text" panose="00000500000000000000" pitchFamily="2" charset="-34"/>
                        </a:rPr>
                        <a:t> </a:t>
                      </a:r>
                      <a:r>
                        <a:rPr lang="th-TH" sz="800" b="0" kern="1200" dirty="0">
                          <a:solidFill>
                            <a:schemeClr val="tx1"/>
                          </a:solidFill>
                          <a:latin typeface="BLS Text" panose="00000500000000000000" pitchFamily="2" charset="-34"/>
                          <a:ea typeface="+mn-ea"/>
                          <a:cs typeface="BLS Text" panose="00000500000000000000" pitchFamily="2" charset="-34"/>
                        </a:rPr>
                        <a:t>เปราะบางต่อเศรษฐกิจฐานรากมากกว่า</a:t>
                      </a:r>
                    </a:p>
                  </a:txBody>
                  <a:tcPr marL="25460" marR="25460" marT="12730" marB="12730" anchor="ctr">
                    <a:lnL>
                      <a:noFill/>
                    </a:lnL>
                    <a:lnR>
                      <a:noFill/>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8618118"/>
                  </a:ext>
                </a:extLst>
              </a:tr>
            </a:tbl>
          </a:graphicData>
        </a:graphic>
      </p:graphicFrame>
      <p:sp>
        <p:nvSpPr>
          <p:cNvPr id="4" name="TextBox 3">
            <a:extLst>
              <a:ext uri="{FF2B5EF4-FFF2-40B4-BE49-F238E27FC236}">
                <a16:creationId xmlns:a16="http://schemas.microsoft.com/office/drawing/2014/main" id="{679D3056-4166-94D7-F4F3-0BE227896DE8}"/>
              </a:ext>
            </a:extLst>
          </p:cNvPr>
          <p:cNvSpPr txBox="1"/>
          <p:nvPr/>
        </p:nvSpPr>
        <p:spPr>
          <a:xfrm>
            <a:off x="286492" y="3564468"/>
            <a:ext cx="5302747" cy="215444"/>
          </a:xfrm>
          <a:prstGeom prst="rect">
            <a:avLst/>
          </a:prstGeom>
          <a:noFill/>
        </p:spPr>
        <p:txBody>
          <a:bodyPr wrap="square" rtlCol="0">
            <a:spAutoFit/>
          </a:bodyPr>
          <a:lstStyle/>
          <a:p>
            <a:r>
              <a:rPr lang="th-TH" sz="800" b="1" dirty="0">
                <a:solidFill>
                  <a:schemeClr val="tx1">
                    <a:lumMod val="95000"/>
                    <a:lumOff val="5000"/>
                  </a:schemeClr>
                </a:solidFill>
                <a:latin typeface="BLS Condensed" pitchFamily="2" charset="-34"/>
                <a:ea typeface="Tahoma" pitchFamily="34" charset="0"/>
                <a:cs typeface="BLS Condensed" pitchFamily="2" charset="-34"/>
              </a:rPr>
              <a:t>รูปที่</a:t>
            </a:r>
            <a:r>
              <a:rPr lang="en-US" sz="800" b="1" dirty="0">
                <a:solidFill>
                  <a:schemeClr val="tx1">
                    <a:lumMod val="95000"/>
                    <a:lumOff val="5000"/>
                  </a:schemeClr>
                </a:solidFill>
                <a:latin typeface="BLS Condensed" pitchFamily="2" charset="-34"/>
                <a:ea typeface="Tahoma" pitchFamily="34" charset="0"/>
                <a:cs typeface="BLS Condensed" pitchFamily="2" charset="-34"/>
              </a:rPr>
              <a:t> 2: </a:t>
            </a:r>
            <a:r>
              <a:rPr lang="th-TH" sz="800" b="1" dirty="0">
                <a:solidFill>
                  <a:schemeClr val="tx1">
                    <a:lumMod val="95000"/>
                    <a:lumOff val="5000"/>
                  </a:schemeClr>
                </a:solidFill>
                <a:latin typeface="BLS Condensed" pitchFamily="2" charset="-34"/>
                <a:ea typeface="Tahoma" pitchFamily="34" charset="0"/>
                <a:cs typeface="BLS Condensed" pitchFamily="2" charset="-34"/>
              </a:rPr>
              <a:t>ผลกระทบจากสงครามต่อแต่ละอุตสาหกรรม</a:t>
            </a:r>
            <a:endParaRPr lang="en-US" sz="800" b="1" dirty="0">
              <a:solidFill>
                <a:schemeClr val="tx1">
                  <a:lumMod val="95000"/>
                  <a:lumOff val="5000"/>
                </a:schemeClr>
              </a:solidFill>
              <a:latin typeface="BLS Condensed" pitchFamily="2" charset="-34"/>
              <a:ea typeface="Tahoma" pitchFamily="34" charset="0"/>
              <a:cs typeface="BLS Condensed" pitchFamily="2" charset="-34"/>
            </a:endParaRPr>
          </a:p>
        </p:txBody>
      </p:sp>
      <p:cxnSp>
        <p:nvCxnSpPr>
          <p:cNvPr id="5" name="Straight Connector 4">
            <a:extLst>
              <a:ext uri="{FF2B5EF4-FFF2-40B4-BE49-F238E27FC236}">
                <a16:creationId xmlns:a16="http://schemas.microsoft.com/office/drawing/2014/main" id="{834C0392-2FA3-62AE-AD32-FFC14CA72584}"/>
              </a:ext>
            </a:extLst>
          </p:cNvPr>
          <p:cNvCxnSpPr/>
          <p:nvPr/>
        </p:nvCxnSpPr>
        <p:spPr>
          <a:xfrm>
            <a:off x="305146" y="3555583"/>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0401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97858" y="8699316"/>
            <a:ext cx="6235106"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2"/>
          <p:cNvSpPr>
            <a:spLocks noGrp="1"/>
          </p:cNvSpPr>
          <p:nvPr>
            <p:ph type="sldNum" sz="quarter" idx="12"/>
          </p:nvPr>
        </p:nvSpPr>
        <p:spPr>
          <a:xfrm>
            <a:off x="4914900" y="8659771"/>
            <a:ext cx="1600200" cy="486833"/>
          </a:xfrm>
        </p:spPr>
        <p:txBody>
          <a:bodyPr/>
          <a:lstStyle/>
          <a:p>
            <a:fld id="{10452F14-DDA8-46AC-9FFA-A749C5B763D3}" type="slidenum">
              <a:rPr lang="en-US" smtClean="0">
                <a:latin typeface="BLS" panose="00000500000000000000" pitchFamily="2" charset="-34"/>
                <a:cs typeface="BLS" panose="00000500000000000000" pitchFamily="2" charset="-34"/>
              </a:rPr>
              <a:t>5</a:t>
            </a:fld>
            <a:endParaRPr lang="en-US">
              <a:latin typeface="BLS" panose="00000500000000000000" pitchFamily="2" charset="-34"/>
              <a:cs typeface="BLS" panose="00000500000000000000" pitchFamily="2" charset="-34"/>
            </a:endParaRPr>
          </a:p>
        </p:txBody>
      </p:sp>
      <p:grpSp>
        <p:nvGrpSpPr>
          <p:cNvPr id="11" name="Group 156"/>
          <p:cNvGrpSpPr>
            <a:grpSpLocks/>
          </p:cNvGrpSpPr>
          <p:nvPr/>
        </p:nvGrpSpPr>
        <p:grpSpPr bwMode="auto">
          <a:xfrm>
            <a:off x="3374529" y="6536080"/>
            <a:ext cx="708025" cy="781050"/>
            <a:chOff x="1800" y="1440"/>
            <a:chExt cx="1539" cy="1800"/>
          </a:xfrm>
        </p:grpSpPr>
        <p:pic>
          <p:nvPicPr>
            <p:cNvPr id="17" name="Picture 15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00"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5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04"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5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3"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6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07"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6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16"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6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50"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16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54"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16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53"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6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7"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6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04" y="216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16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3" y="216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16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07" y="216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6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56" y="252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7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60" y="252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17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96" y="2880"/>
              <a:ext cx="323" cy="360"/>
            </a:xfrm>
            <a:prstGeom prst="rect">
              <a:avLst/>
            </a:prstGeom>
            <a:noFill/>
            <a:extLst>
              <a:ext uri="{909E8E84-426E-40DD-AFC4-6F175D3DCCD1}">
                <a14:hiddenFill xmlns:a14="http://schemas.microsoft.com/office/drawing/2010/main">
                  <a:solidFill>
                    <a:srgbClr val="FFFFFF"/>
                  </a:solidFill>
                </a14:hiddenFill>
              </a:ext>
            </a:extLst>
          </p:spPr>
        </p:pic>
      </p:grpSp>
      <p:sp>
        <p:nvSpPr>
          <p:cNvPr id="32" name="TextBox 31"/>
          <p:cNvSpPr txBox="1"/>
          <p:nvPr/>
        </p:nvSpPr>
        <p:spPr>
          <a:xfrm>
            <a:off x="297858" y="611560"/>
            <a:ext cx="6235106" cy="338554"/>
          </a:xfrm>
          <a:prstGeom prst="rect">
            <a:avLst/>
          </a:prstGeom>
          <a:noFill/>
        </p:spPr>
        <p:txBody>
          <a:bodyPr wrap="square" rtlCol="0">
            <a:spAutoFit/>
          </a:bodyPr>
          <a:lstStyle/>
          <a:p>
            <a:r>
              <a:rPr lang="en-US" sz="1600" b="1" err="1">
                <a:solidFill>
                  <a:srgbClr val="404040"/>
                </a:solidFill>
                <a:latin typeface="BLS Condensed Bold" pitchFamily="2" charset="-34"/>
                <a:cs typeface="BLS Condensed Bold" pitchFamily="2" charset="-34"/>
              </a:rPr>
              <a:t>Bualuang</a:t>
            </a:r>
            <a:r>
              <a:rPr lang="en-US" sz="1600" b="1">
                <a:solidFill>
                  <a:srgbClr val="404040"/>
                </a:solidFill>
                <a:latin typeface="BLS Condensed Bold" pitchFamily="2" charset="-34"/>
                <a:cs typeface="BLS Condensed Bold" pitchFamily="2" charset="-34"/>
              </a:rPr>
              <a:t> Securities Public Company Limited</a:t>
            </a:r>
            <a:endParaRPr lang="en-US" sz="1600">
              <a:solidFill>
                <a:srgbClr val="404040"/>
              </a:solidFill>
              <a:latin typeface="BLS Condensed Bold" pitchFamily="2" charset="-34"/>
              <a:ea typeface="Tahoma" pitchFamily="34" charset="0"/>
              <a:cs typeface="BLS Condensed Bold" pitchFamily="2" charset="-34"/>
            </a:endParaRPr>
          </a:p>
        </p:txBody>
      </p:sp>
      <p:sp>
        <p:nvSpPr>
          <p:cNvPr id="12" name="Text Box 155"/>
          <p:cNvSpPr txBox="1">
            <a:spLocks noChangeArrowheads="1"/>
          </p:cNvSpPr>
          <p:nvPr/>
        </p:nvSpPr>
        <p:spPr bwMode="auto">
          <a:xfrm>
            <a:off x="4737844" y="624260"/>
            <a:ext cx="1644650" cy="319087"/>
          </a:xfrm>
          <a:prstGeom prst="rect">
            <a:avLst/>
          </a:prstGeom>
          <a:solidFill>
            <a:srgbClr val="002060"/>
          </a:solidFill>
          <a:ln w="9525">
            <a:solidFill>
              <a:srgbClr val="00206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600" b="1" i="0" u="none" strike="noStrike" cap="none" normalizeH="0" baseline="0">
                <a:ln>
                  <a:noFill/>
                </a:ln>
                <a:solidFill>
                  <a:srgbClr val="FFFFFF"/>
                </a:solidFill>
                <a:effectLst/>
                <a:latin typeface="BLS Condensed Bold" pitchFamily="2" charset="-34"/>
                <a:ea typeface="Arial" pitchFamily="34" charset="0"/>
                <a:cs typeface="BLS Condensed Bold" pitchFamily="2" charset="-34"/>
              </a:rPr>
              <a:t>DISCLAIMER</a:t>
            </a:r>
            <a:endParaRPr kumimoji="0" lang="en-US" sz="1800" b="0" i="0" u="none" strike="noStrike" cap="none" normalizeH="0" baseline="0">
              <a:ln>
                <a:noFill/>
              </a:ln>
              <a:solidFill>
                <a:schemeClr val="tx1"/>
              </a:solidFill>
              <a:effectLst/>
              <a:latin typeface="BLS Condensed Bold" pitchFamily="2" charset="-34"/>
              <a:cs typeface="BLS Condensed Bold" pitchFamily="2" charset="-34"/>
            </a:endParaRPr>
          </a:p>
        </p:txBody>
      </p:sp>
      <p:sp>
        <p:nvSpPr>
          <p:cNvPr id="35" name="Rectangle 34"/>
          <p:cNvSpPr/>
          <p:nvPr/>
        </p:nvSpPr>
        <p:spPr>
          <a:xfrm>
            <a:off x="294066" y="1043608"/>
            <a:ext cx="6235106" cy="36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297858" y="1187624"/>
            <a:ext cx="6231314" cy="3539430"/>
          </a:xfrm>
          <a:prstGeom prst="rect">
            <a:avLst/>
          </a:prstGeom>
          <a:noFill/>
        </p:spPr>
        <p:txBody>
          <a:bodyPr wrap="square" rtlCol="0">
            <a:spAutoFit/>
          </a:bodyPr>
          <a:lstStyle/>
          <a:p>
            <a:pPr algn="just"/>
            <a:r>
              <a:rPr lang="en-GB" sz="800" dirty="0">
                <a:solidFill>
                  <a:srgbClr val="404040"/>
                </a:solidFill>
                <a:latin typeface="BLS" pitchFamily="2" charset="-34"/>
                <a:cs typeface="BLS" pitchFamily="2" charset="-34"/>
              </a:rPr>
              <a:t>BUALUANG SECURITIES PUBLIC COMPANY LIMITED (BLS) is a subsidiary of BANGKOK BANK PUBLIC COMPANY LIMITED (BBL). This document is produced based upon sources believed to be reliable but their accuracy, completeness or correctness is not guaranteed. The statements or expressions of opinion herein were arrived at after due and careful consideration to use as information for investment. Expressions of opinion contained herein are subject to change without notice. This document is not, and should not be construed as, an offer or the solicitation of an offer to buy or sell any securities. The use of any information shall be at the sole discretion and risk of the user.</a:t>
            </a:r>
          </a:p>
          <a:p>
            <a:pPr algn="just"/>
            <a:endParaRPr lang="en-US" sz="800" dirty="0">
              <a:solidFill>
                <a:srgbClr val="404040"/>
              </a:solidFill>
              <a:latin typeface="BLS" pitchFamily="2" charset="-34"/>
              <a:cs typeface="BLS" pitchFamily="2" charset="-34"/>
            </a:endParaRPr>
          </a:p>
          <a:p>
            <a:pPr algn="just"/>
            <a:r>
              <a:rPr lang="en-GB" sz="800" dirty="0">
                <a:solidFill>
                  <a:srgbClr val="404040"/>
                </a:solidFill>
                <a:latin typeface="BLS" pitchFamily="2" charset="-34"/>
                <a:cs typeface="BLS" pitchFamily="2" charset="-34"/>
              </a:rPr>
              <a:t>BUALUANG SECURITIES PUBLIC COMPANY LIMITED MAY BE IN RELATIONSHIPS WITH THE SECURITIES IN THIS REPORT. “Opinions, projections and other information contained in this report are based upon sources believed to be accurate including the draft prospectus, but no responsibility is accepted for any loss occasioned by reliance placed upon the contents hereof. </a:t>
            </a:r>
            <a:r>
              <a:rPr lang="en-GB" sz="800" dirty="0" err="1">
                <a:solidFill>
                  <a:srgbClr val="404040"/>
                </a:solidFill>
                <a:latin typeface="BLS" pitchFamily="2" charset="-34"/>
                <a:cs typeface="BLS" pitchFamily="2" charset="-34"/>
              </a:rPr>
              <a:t>Bualuang</a:t>
            </a:r>
            <a:r>
              <a:rPr lang="en-GB" sz="800" dirty="0">
                <a:solidFill>
                  <a:srgbClr val="404040"/>
                </a:solidFill>
                <a:latin typeface="BLS" pitchFamily="2" charset="-34"/>
                <a:cs typeface="BLS" pitchFamily="2" charset="-34"/>
              </a:rPr>
              <a:t> Securities Public Company Limited may from time to time perform investment, advisory or other services for companies mentioned in this report, as well as dealing (as principal or otherwise) in, or otherwise being interested in, any securities mentioned herein, This report does not constitute a solicitation to buy or sell any securities”. Investors should carefully read details in the prospectus before making investment decision.</a:t>
            </a:r>
          </a:p>
          <a:p>
            <a:pPr algn="just"/>
            <a:endParaRPr lang="en-US" sz="800" dirty="0">
              <a:solidFill>
                <a:srgbClr val="404040"/>
              </a:solidFill>
              <a:latin typeface="BLS" pitchFamily="2" charset="-34"/>
              <a:cs typeface="BLS" pitchFamily="2" charset="-34"/>
            </a:endParaRPr>
          </a:p>
          <a:p>
            <a:pPr algn="just"/>
            <a:r>
              <a:rPr lang="en-GB" sz="800" dirty="0">
                <a:solidFill>
                  <a:srgbClr val="404040"/>
                </a:solidFill>
                <a:latin typeface="BLS" pitchFamily="2" charset="-34"/>
                <a:cs typeface="BLS" pitchFamily="2" charset="-34"/>
              </a:rPr>
              <a:t>BUALUANG SECURITIES PUBLIC COMPANY LIMITED MAY ACT AS MARKET MAKER AND ISSUER OF DWs, AND ISSUER OF STRUCTURED NOTES ON THESE SECURITIES. The company may prepare the research reports on those underlying securities. Investors should carefully read the details of the derivative warrants and structured notes in the prospectus before making investment decisions.</a:t>
            </a: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US" sz="800" dirty="0">
              <a:solidFill>
                <a:srgbClr val="404040"/>
              </a:solidFill>
              <a:latin typeface="BLS" pitchFamily="2" charset="-34"/>
              <a:cs typeface="BLS" pitchFamily="2" charset="-34"/>
            </a:endParaRPr>
          </a:p>
          <a:p>
            <a:pPr algn="just"/>
            <a:endParaRPr lang="en-US" sz="800" dirty="0">
              <a:solidFill>
                <a:srgbClr val="404040"/>
              </a:solidFill>
              <a:latin typeface="BLS" pitchFamily="2" charset="-34"/>
              <a:cs typeface="BLS" pitchFamily="2" charset="-34"/>
            </a:endParaRPr>
          </a:p>
          <a:p>
            <a:pPr algn="just"/>
            <a:r>
              <a:rPr lang="en-US" sz="800" dirty="0">
                <a:solidFill>
                  <a:srgbClr val="404040"/>
                </a:solidFill>
                <a:latin typeface="BLS" pitchFamily="2" charset="-34"/>
                <a:cs typeface="BLS" pitchFamily="2" charset="-34"/>
              </a:rPr>
              <a:t>BUALUANG SECURITIES PUBLIC COMPANY LIMITED IS OR MAY BE AN UNDERWRITER/CO-UNDERWRITER/JOINT LEAD IN RESPECT OF THE INITIAL PUBLIC OFFERING (IPO) OF SECURITIES.</a:t>
            </a:r>
          </a:p>
        </p:txBody>
      </p:sp>
      <p:graphicFrame>
        <p:nvGraphicFramePr>
          <p:cNvPr id="36" name="Table 35"/>
          <p:cNvGraphicFramePr>
            <a:graphicFrameLocks noGrp="1"/>
          </p:cNvGraphicFramePr>
          <p:nvPr/>
        </p:nvGraphicFramePr>
        <p:xfrm>
          <a:off x="388937" y="4923329"/>
          <a:ext cx="5993557" cy="920750"/>
        </p:xfrm>
        <a:graphic>
          <a:graphicData uri="http://schemas.openxmlformats.org/drawingml/2006/table">
            <a:tbl>
              <a:tblPr firstRow="1" firstCol="1" bandRow="1">
                <a:tableStyleId>{5C22544A-7EE6-4342-B048-85BDC9FD1C3A}</a:tableStyleId>
              </a:tblPr>
              <a:tblGrid>
                <a:gridCol w="2541183">
                  <a:extLst>
                    <a:ext uri="{9D8B030D-6E8A-4147-A177-3AD203B41FA5}">
                      <a16:colId xmlns:a16="http://schemas.microsoft.com/office/drawing/2014/main" val="20000"/>
                    </a:ext>
                  </a:extLst>
                </a:gridCol>
                <a:gridCol w="3452374">
                  <a:extLst>
                    <a:ext uri="{9D8B030D-6E8A-4147-A177-3AD203B41FA5}">
                      <a16:colId xmlns:a16="http://schemas.microsoft.com/office/drawing/2014/main" val="20001"/>
                    </a:ext>
                  </a:extLst>
                </a:gridCol>
              </a:tblGrid>
              <a:tr h="411537">
                <a:tc>
                  <a:txBody>
                    <a:bodyPr/>
                    <a:lstStyle/>
                    <a:p>
                      <a:pPr algn="ctr">
                        <a:spcAft>
                          <a:spcPts val="0"/>
                        </a:spcAft>
                        <a:tabLst>
                          <a:tab pos="2743200" algn="ctr"/>
                          <a:tab pos="5486400" algn="r"/>
                          <a:tab pos="5486400" algn="r"/>
                        </a:tabLst>
                      </a:pPr>
                      <a:r>
                        <a:rPr lang="en-US" sz="800" dirty="0">
                          <a:solidFill>
                            <a:srgbClr val="404040"/>
                          </a:solidFill>
                          <a:effectLst/>
                          <a:latin typeface="BLS" pitchFamily="2" charset="-34"/>
                          <a:cs typeface="BLS" pitchFamily="2" charset="-34"/>
                        </a:rPr>
                        <a:t>Financial Advisor</a:t>
                      </a:r>
                      <a:endParaRPr lang="en-US" sz="800" dirty="0">
                        <a:solidFill>
                          <a:srgbClr val="404040"/>
                        </a:solidFill>
                        <a:effectLst/>
                        <a:latin typeface="BLS" pitchFamily="2" charset="-34"/>
                        <a:ea typeface="Times New Roman"/>
                        <a:cs typeface="BLS" pitchFamily="2" charset="-34"/>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tabLst>
                          <a:tab pos="2743200" algn="ctr"/>
                          <a:tab pos="5486400" algn="r"/>
                        </a:tabLst>
                      </a:pPr>
                      <a:r>
                        <a:rPr lang="en-US" sz="800" dirty="0">
                          <a:solidFill>
                            <a:srgbClr val="404040"/>
                          </a:solidFill>
                          <a:effectLst/>
                          <a:latin typeface="BLS" pitchFamily="2" charset="-34"/>
                          <a:cs typeface="BLS" pitchFamily="2" charset="-34"/>
                        </a:rPr>
                        <a:t>Lead underwriter/</a:t>
                      </a:r>
                    </a:p>
                    <a:p>
                      <a:pPr algn="ctr">
                        <a:spcAft>
                          <a:spcPts val="0"/>
                        </a:spcAft>
                        <a:tabLst>
                          <a:tab pos="2743200" algn="ctr"/>
                          <a:tab pos="5486400" algn="r"/>
                          <a:tab pos="5486400" algn="r"/>
                        </a:tabLst>
                      </a:pPr>
                      <a:r>
                        <a:rPr lang="en-US" sz="800" dirty="0">
                          <a:solidFill>
                            <a:srgbClr val="404040"/>
                          </a:solidFill>
                          <a:effectLst/>
                          <a:latin typeface="BLS" pitchFamily="2" charset="-34"/>
                          <a:cs typeface="BLS" pitchFamily="2" charset="-34"/>
                        </a:rPr>
                        <a:t>Underwriter/</a:t>
                      </a:r>
                    </a:p>
                    <a:p>
                      <a:pPr algn="ctr">
                        <a:spcAft>
                          <a:spcPts val="0"/>
                        </a:spcAft>
                        <a:tabLst>
                          <a:tab pos="2743200" algn="ctr"/>
                          <a:tab pos="5486400" algn="r"/>
                          <a:tab pos="5486400" algn="r"/>
                        </a:tabLst>
                      </a:pPr>
                      <a:r>
                        <a:rPr lang="en-US" sz="800" dirty="0">
                          <a:solidFill>
                            <a:srgbClr val="404040"/>
                          </a:solidFill>
                          <a:effectLst/>
                          <a:latin typeface="BLS" pitchFamily="2" charset="-34"/>
                          <a:cs typeface="BLS" pitchFamily="2" charset="-34"/>
                        </a:rPr>
                        <a:t>Co-underwriter</a:t>
                      </a:r>
                      <a:endParaRPr lang="en-US" sz="800" dirty="0">
                        <a:solidFill>
                          <a:srgbClr val="404040"/>
                        </a:solidFill>
                        <a:effectLst/>
                        <a:latin typeface="BLS" pitchFamily="2" charset="-34"/>
                        <a:ea typeface="Times New Roman"/>
                        <a:cs typeface="BLS" pitchFamily="2" charset="-34"/>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09213">
                <a:tc>
                  <a:txBody>
                    <a:bodyPr/>
                    <a:lstStyle/>
                    <a:p>
                      <a:pPr algn="l">
                        <a:lnSpc>
                          <a:spcPts val="1320"/>
                        </a:lnSpc>
                        <a:spcBef>
                          <a:spcPts val="0"/>
                        </a:spcBef>
                        <a:spcAft>
                          <a:spcPts val="0"/>
                        </a:spcAft>
                      </a:pPr>
                      <a:endParaRPr lang="en-US" sz="800" b="0" dirty="0">
                        <a:solidFill>
                          <a:srgbClr val="404040"/>
                        </a:solidFill>
                        <a:effectLst/>
                        <a:latin typeface="BLS" pitchFamily="2" charset="-34"/>
                        <a:ea typeface="Times New Roman"/>
                        <a:cs typeface="BLS" pitchFamily="2"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ts val="500"/>
                        </a:lnSpc>
                        <a:spcBef>
                          <a:spcPts val="0"/>
                        </a:spcBef>
                        <a:spcAft>
                          <a:spcPts val="0"/>
                        </a:spcAft>
                        <a:tabLst>
                          <a:tab pos="1266825" algn="l"/>
                        </a:tabLst>
                      </a:pPr>
                      <a:endParaRPr lang="en-US" sz="700" b="0" dirty="0">
                        <a:solidFill>
                          <a:srgbClr val="404040"/>
                        </a:solidFill>
                        <a:effectLst/>
                        <a:latin typeface="BLS" pitchFamily="2" charset="-34"/>
                        <a:ea typeface="Times New Roman"/>
                        <a:cs typeface="BLS" pitchFamily="2" charset="-34"/>
                      </a:endParaRPr>
                    </a:p>
                    <a:p>
                      <a:pPr algn="just">
                        <a:lnSpc>
                          <a:spcPts val="500"/>
                        </a:lnSpc>
                        <a:spcBef>
                          <a:spcPts val="0"/>
                        </a:spcBef>
                        <a:spcAft>
                          <a:spcPts val="0"/>
                        </a:spcAft>
                        <a:tabLst>
                          <a:tab pos="1266825" algn="l"/>
                        </a:tabLst>
                      </a:pPr>
                      <a:endParaRPr lang="en-US" sz="200" dirty="0">
                        <a:solidFill>
                          <a:srgbClr val="404040"/>
                        </a:solidFill>
                        <a:effectLst/>
                        <a:latin typeface="BLS" pitchFamily="2" charset="-34"/>
                        <a:ea typeface="Times New Roman"/>
                        <a:cs typeface="BLS" pitchFamily="2"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37" name="Table 36"/>
          <p:cNvGraphicFramePr>
            <a:graphicFrameLocks noGrp="1"/>
          </p:cNvGraphicFramePr>
          <p:nvPr/>
        </p:nvGraphicFramePr>
        <p:xfrm>
          <a:off x="404664" y="6291481"/>
          <a:ext cx="6353174" cy="1219200"/>
        </p:xfrm>
        <a:graphic>
          <a:graphicData uri="http://schemas.openxmlformats.org/drawingml/2006/table">
            <a:tbl>
              <a:tblPr firstRow="1" firstCol="1" bandRow="1">
                <a:tableStyleId>{5C22544A-7EE6-4342-B048-85BDC9FD1C3A}</a:tableStyleId>
              </a:tblPr>
              <a:tblGrid>
                <a:gridCol w="2278152">
                  <a:extLst>
                    <a:ext uri="{9D8B030D-6E8A-4147-A177-3AD203B41FA5}">
                      <a16:colId xmlns:a16="http://schemas.microsoft.com/office/drawing/2014/main" val="20000"/>
                    </a:ext>
                  </a:extLst>
                </a:gridCol>
                <a:gridCol w="2037511">
                  <a:extLst>
                    <a:ext uri="{9D8B030D-6E8A-4147-A177-3AD203B41FA5}">
                      <a16:colId xmlns:a16="http://schemas.microsoft.com/office/drawing/2014/main" val="20001"/>
                    </a:ext>
                  </a:extLst>
                </a:gridCol>
                <a:gridCol w="2037511">
                  <a:extLst>
                    <a:ext uri="{9D8B030D-6E8A-4147-A177-3AD203B41FA5}">
                      <a16:colId xmlns:a16="http://schemas.microsoft.com/office/drawing/2014/main" val="20002"/>
                    </a:ext>
                  </a:extLst>
                </a:gridCol>
              </a:tblGrid>
              <a:tr h="215900">
                <a:tc>
                  <a:txBody>
                    <a:bodyPr/>
                    <a:lstStyle/>
                    <a:p>
                      <a:pPr algn="ctr">
                        <a:spcBef>
                          <a:spcPts val="300"/>
                        </a:spcBef>
                        <a:spcAft>
                          <a:spcPts val="0"/>
                        </a:spcAft>
                      </a:pPr>
                      <a:r>
                        <a:rPr lang="en-US" sz="800">
                          <a:solidFill>
                            <a:srgbClr val="404040"/>
                          </a:solidFill>
                          <a:effectLst/>
                          <a:latin typeface="BLS" pitchFamily="2" charset="-34"/>
                          <a:cs typeface="BLS" pitchFamily="2" charset="-34"/>
                        </a:rPr>
                        <a:t>Score Range</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 Score Range</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Description</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extLst>
                  <a:ext uri="{0D108BD9-81ED-4DB2-BD59-A6C34878D82A}">
                    <a16:rowId xmlns:a16="http://schemas.microsoft.com/office/drawing/2014/main" val="10000"/>
                  </a:ext>
                </a:extLst>
              </a:tr>
              <a:tr h="161925">
                <a:tc>
                  <a:txBody>
                    <a:bodyPr/>
                    <a:lstStyle/>
                    <a:p>
                      <a:pPr algn="ctr">
                        <a:spcAft>
                          <a:spcPts val="0"/>
                        </a:spcAft>
                      </a:pPr>
                      <a:r>
                        <a:rPr lang="en-US" sz="800">
                          <a:solidFill>
                            <a:srgbClr val="404040"/>
                          </a:solidFill>
                          <a:effectLst/>
                          <a:latin typeface="BLS" pitchFamily="2" charset="-34"/>
                          <a:cs typeface="BLS" pitchFamily="2" charset="-34"/>
                        </a:rPr>
                        <a:t>90 – 100</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Excellent</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1"/>
                  </a:ext>
                </a:extLst>
              </a:tr>
              <a:tr h="161925">
                <a:tc>
                  <a:txBody>
                    <a:bodyPr/>
                    <a:lstStyle/>
                    <a:p>
                      <a:pPr algn="ctr">
                        <a:spcAft>
                          <a:spcPts val="0"/>
                        </a:spcAft>
                      </a:pPr>
                      <a:r>
                        <a:rPr lang="en-US" sz="800">
                          <a:solidFill>
                            <a:srgbClr val="404040"/>
                          </a:solidFill>
                          <a:effectLst/>
                          <a:latin typeface="BLS" pitchFamily="2" charset="-34"/>
                          <a:cs typeface="BLS" pitchFamily="2" charset="-34"/>
                        </a:rPr>
                        <a:t>80 – 89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Very Good</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2"/>
                  </a:ext>
                </a:extLst>
              </a:tr>
              <a:tr h="161925">
                <a:tc>
                  <a:txBody>
                    <a:bodyPr/>
                    <a:lstStyle/>
                    <a:p>
                      <a:pPr algn="ctr">
                        <a:spcAft>
                          <a:spcPts val="0"/>
                        </a:spcAft>
                      </a:pPr>
                      <a:r>
                        <a:rPr lang="en-US" sz="800">
                          <a:solidFill>
                            <a:srgbClr val="404040"/>
                          </a:solidFill>
                          <a:effectLst/>
                          <a:latin typeface="BLS" pitchFamily="2" charset="-34"/>
                          <a:cs typeface="BLS" pitchFamily="2" charset="-34"/>
                        </a:rPr>
                        <a:t>70 – 79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Good</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3"/>
                  </a:ext>
                </a:extLst>
              </a:tr>
              <a:tr h="161925">
                <a:tc>
                  <a:txBody>
                    <a:bodyPr/>
                    <a:lstStyle/>
                    <a:p>
                      <a:pPr algn="ctr">
                        <a:spcAft>
                          <a:spcPts val="0"/>
                        </a:spcAft>
                      </a:pPr>
                      <a:r>
                        <a:rPr lang="en-US" sz="800">
                          <a:solidFill>
                            <a:srgbClr val="404040"/>
                          </a:solidFill>
                          <a:effectLst/>
                          <a:latin typeface="BLS" pitchFamily="2" charset="-34"/>
                          <a:cs typeface="BLS" pitchFamily="2" charset="-34"/>
                        </a:rPr>
                        <a:t>60 – 69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Satisfactory</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4"/>
                  </a:ext>
                </a:extLst>
              </a:tr>
              <a:tr h="161925">
                <a:tc>
                  <a:txBody>
                    <a:bodyPr/>
                    <a:lstStyle/>
                    <a:p>
                      <a:pPr algn="ctr">
                        <a:spcAft>
                          <a:spcPts val="0"/>
                        </a:spcAft>
                      </a:pPr>
                      <a:r>
                        <a:rPr lang="en-US" sz="800">
                          <a:solidFill>
                            <a:srgbClr val="404040"/>
                          </a:solidFill>
                          <a:effectLst/>
                          <a:latin typeface="BLS" pitchFamily="2" charset="-34"/>
                          <a:cs typeface="BLS" pitchFamily="2" charset="-34"/>
                        </a:rPr>
                        <a:t>50 – 59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Pass</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5"/>
                  </a:ext>
                </a:extLst>
              </a:tr>
              <a:tr h="193675">
                <a:tc>
                  <a:txBody>
                    <a:bodyPr/>
                    <a:lstStyle/>
                    <a:p>
                      <a:pPr algn="ctr">
                        <a:spcBef>
                          <a:spcPts val="300"/>
                        </a:spcBef>
                        <a:spcAft>
                          <a:spcPts val="0"/>
                        </a:spcAft>
                      </a:pPr>
                      <a:r>
                        <a:rPr lang="en-US" sz="800">
                          <a:solidFill>
                            <a:srgbClr val="404040"/>
                          </a:solidFill>
                          <a:effectLst/>
                          <a:latin typeface="BLS" pitchFamily="2" charset="-34"/>
                          <a:cs typeface="BLS" pitchFamily="2" charset="-34"/>
                        </a:rPr>
                        <a:t>Below 50</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 No logo given</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N/A</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extLst>
                  <a:ext uri="{0D108BD9-81ED-4DB2-BD59-A6C34878D82A}">
                    <a16:rowId xmlns:a16="http://schemas.microsoft.com/office/drawing/2014/main" val="10006"/>
                  </a:ext>
                </a:extLst>
              </a:tr>
            </a:tbl>
          </a:graphicData>
        </a:graphic>
      </p:graphicFrame>
      <p:sp>
        <p:nvSpPr>
          <p:cNvPr id="38" name="TextBox 37"/>
          <p:cNvSpPr txBox="1"/>
          <p:nvPr/>
        </p:nvSpPr>
        <p:spPr>
          <a:xfrm>
            <a:off x="404664" y="6001157"/>
            <a:ext cx="5977830" cy="215444"/>
          </a:xfrm>
          <a:prstGeom prst="rect">
            <a:avLst/>
          </a:prstGeom>
          <a:noFill/>
        </p:spPr>
        <p:txBody>
          <a:bodyPr wrap="square" rtlCol="0">
            <a:spAutoFit/>
          </a:bodyPr>
          <a:lstStyle/>
          <a:p>
            <a:pPr algn="just"/>
            <a:r>
              <a:rPr lang="en-US" sz="800" b="1">
                <a:solidFill>
                  <a:srgbClr val="404040"/>
                </a:solidFill>
                <a:latin typeface="BLS" pitchFamily="2" charset="-34"/>
                <a:cs typeface="BLS" pitchFamily="2" charset="-34"/>
              </a:rPr>
              <a:t>CG Rating</a:t>
            </a:r>
          </a:p>
        </p:txBody>
      </p:sp>
      <p:sp>
        <p:nvSpPr>
          <p:cNvPr id="39" name="TextBox 38"/>
          <p:cNvSpPr txBox="1"/>
          <p:nvPr/>
        </p:nvSpPr>
        <p:spPr>
          <a:xfrm>
            <a:off x="1052736" y="7875657"/>
            <a:ext cx="4752528" cy="584775"/>
          </a:xfrm>
          <a:prstGeom prst="rect">
            <a:avLst/>
          </a:prstGeom>
          <a:noFill/>
        </p:spPr>
        <p:txBody>
          <a:bodyPr wrap="square" rtlCol="0">
            <a:spAutoFit/>
          </a:bodyPr>
          <a:lstStyle/>
          <a:p>
            <a:pPr algn="ctr"/>
            <a:r>
              <a:rPr lang="en-US" sz="800" b="1">
                <a:latin typeface="BLS" pitchFamily="2" charset="-34"/>
                <a:cs typeface="BLS" pitchFamily="2" charset="-34"/>
              </a:rPr>
              <a:t>Thailand's Private Sector Collective Action Coalition Against Corruption </a:t>
            </a:r>
            <a:r>
              <a:rPr lang="en-US" sz="800" b="1" err="1">
                <a:latin typeface="BLS" pitchFamily="2" charset="-34"/>
                <a:cs typeface="BLS" pitchFamily="2" charset="-34"/>
              </a:rPr>
              <a:t>programme</a:t>
            </a:r>
            <a:r>
              <a:rPr lang="en-US" sz="800" b="1">
                <a:latin typeface="BLS" pitchFamily="2" charset="-34"/>
                <a:cs typeface="BLS" pitchFamily="2" charset="-34"/>
              </a:rPr>
              <a:t> (Thai CAC) under Thai Institute of Directors</a:t>
            </a:r>
          </a:p>
          <a:p>
            <a:pPr marL="171450" indent="-171450" algn="ctr">
              <a:buFont typeface="Arial" pitchFamily="34" charset="0"/>
              <a:buChar char="•"/>
            </a:pPr>
            <a:r>
              <a:rPr lang="en-US" sz="800">
                <a:latin typeface="BLS" pitchFamily="2" charset="-34"/>
                <a:cs typeface="BLS" pitchFamily="2" charset="-34"/>
              </a:rPr>
              <a:t>companies that have </a:t>
            </a:r>
            <a:r>
              <a:rPr lang="en-US" sz="800" b="1">
                <a:latin typeface="BLS" pitchFamily="2" charset="-34"/>
                <a:cs typeface="BLS" pitchFamily="2" charset="-34"/>
              </a:rPr>
              <a:t>declared</a:t>
            </a:r>
            <a:r>
              <a:rPr lang="en-US" sz="800">
                <a:latin typeface="BLS" pitchFamily="2" charset="-34"/>
                <a:cs typeface="BLS" pitchFamily="2" charset="-34"/>
              </a:rPr>
              <a:t> their intention to join CAC, and</a:t>
            </a:r>
          </a:p>
          <a:p>
            <a:pPr marL="171450" indent="-171450" algn="ctr">
              <a:buFont typeface="Arial" pitchFamily="34" charset="0"/>
              <a:buChar char="•"/>
            </a:pPr>
            <a:r>
              <a:rPr lang="en-US" sz="800">
                <a:latin typeface="BLS" pitchFamily="2" charset="-34"/>
                <a:cs typeface="BLS" pitchFamily="2" charset="-34"/>
              </a:rPr>
              <a:t>companies </a:t>
            </a:r>
            <a:r>
              <a:rPr lang="en-US" sz="800" b="1">
                <a:latin typeface="BLS" pitchFamily="2" charset="-34"/>
                <a:cs typeface="BLS" pitchFamily="2" charset="-34"/>
              </a:rPr>
              <a:t>certified</a:t>
            </a:r>
            <a:r>
              <a:rPr lang="en-US" sz="800">
                <a:latin typeface="BLS" pitchFamily="2" charset="-34"/>
                <a:cs typeface="BLS" pitchFamily="2" charset="-34"/>
              </a:rPr>
              <a:t> by CAC.</a:t>
            </a:r>
            <a:endParaRPr lang="en-US" sz="800">
              <a:solidFill>
                <a:srgbClr val="404040"/>
              </a:solidFill>
              <a:latin typeface="BLS" pitchFamily="2" charset="-34"/>
              <a:cs typeface="BLS" pitchFamily="2" charset="-34"/>
            </a:endParaRPr>
          </a:p>
        </p:txBody>
      </p:sp>
      <p:pic>
        <p:nvPicPr>
          <p:cNvPr id="1026" name="Picture 2">
            <a:extLst>
              <a:ext uri="{FF2B5EF4-FFF2-40B4-BE49-F238E27FC236}">
                <a16:creationId xmlns:a16="http://schemas.microsoft.com/office/drawing/2014/main" id="{0E5D63DB-D9DE-7124-6220-F449B2D45F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937" y="3631607"/>
            <a:ext cx="6324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2">
            <a:extLst>
              <a:ext uri="{FF2B5EF4-FFF2-40B4-BE49-F238E27FC236}">
                <a16:creationId xmlns:a16="http://schemas.microsoft.com/office/drawing/2014/main" id="{2FADF063-618E-2A0B-B0CC-F9AEA43EBAD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0823" y="107504"/>
            <a:ext cx="731838"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Connector 2">
            <a:extLst>
              <a:ext uri="{FF2B5EF4-FFF2-40B4-BE49-F238E27FC236}">
                <a16:creationId xmlns:a16="http://schemas.microsoft.com/office/drawing/2014/main" id="{9F434746-9B89-59A7-88CF-4D5439A09315}"/>
              </a:ext>
            </a:extLst>
          </p:cNvPr>
          <p:cNvCxnSpPr/>
          <p:nvPr/>
        </p:nvCxnSpPr>
        <p:spPr>
          <a:xfrm>
            <a:off x="1254791" y="190033"/>
            <a:ext cx="0" cy="108000"/>
          </a:xfrm>
          <a:prstGeom prst="line">
            <a:avLst/>
          </a:prstGeom>
          <a:ln w="1905">
            <a:solidFill>
              <a:srgbClr val="00206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4CC043B-0591-672D-2174-7401EDDCA5CE}"/>
              </a:ext>
            </a:extLst>
          </p:cNvPr>
          <p:cNvSpPr txBox="1"/>
          <p:nvPr/>
        </p:nvSpPr>
        <p:spPr>
          <a:xfrm>
            <a:off x="332656" y="30656"/>
            <a:ext cx="970575" cy="184666"/>
          </a:xfrm>
          <a:prstGeom prst="rect">
            <a:avLst/>
          </a:prstGeom>
          <a:noFill/>
        </p:spPr>
        <p:txBody>
          <a:bodyPr wrap="square">
            <a:spAutoFit/>
          </a:bodyPr>
          <a:lstStyle/>
          <a:p>
            <a:pPr algn="r"/>
            <a:r>
              <a:rPr lang="en-US" sz="600" b="1" dirty="0">
                <a:solidFill>
                  <a:srgbClr val="CCAE8A"/>
                </a:solidFill>
                <a:latin typeface="Aharoni" panose="020F0502020204030204" pitchFamily="2" charset="-79"/>
                <a:ea typeface="Tahoma" pitchFamily="34" charset="0"/>
                <a:cs typeface="Aharoni" panose="020F0502020204030204" pitchFamily="2" charset="-79"/>
              </a:rPr>
              <a:t>BLS WEALTH</a:t>
            </a:r>
            <a:endParaRPr lang="th-TH" sz="5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10" name="TextBox 9">
            <a:extLst>
              <a:ext uri="{FF2B5EF4-FFF2-40B4-BE49-F238E27FC236}">
                <a16:creationId xmlns:a16="http://schemas.microsoft.com/office/drawing/2014/main" id="{2531F109-D890-A9D4-6394-29EC9D37B88A}"/>
              </a:ext>
            </a:extLst>
          </p:cNvPr>
          <p:cNvSpPr txBox="1"/>
          <p:nvPr/>
        </p:nvSpPr>
        <p:spPr>
          <a:xfrm>
            <a:off x="1207813" y="131801"/>
            <a:ext cx="1411131" cy="230832"/>
          </a:xfrm>
          <a:prstGeom prst="rect">
            <a:avLst/>
          </a:prstGeom>
          <a:noFill/>
        </p:spPr>
        <p:txBody>
          <a:bodyPr wrap="square" rtlCol="0">
            <a:spAutoFit/>
          </a:bodyPr>
          <a:lstStyle/>
          <a:p>
            <a:r>
              <a:rPr lang="en-US" sz="450" b="1" dirty="0">
                <a:solidFill>
                  <a:schemeClr val="accent3"/>
                </a:solidFill>
                <a:latin typeface="Arial" pitchFamily="34" charset="0"/>
                <a:cs typeface="Arial" pitchFamily="34" charset="0"/>
              </a:rPr>
              <a:t>Data-driven</a:t>
            </a:r>
            <a:endParaRPr lang="th-TH" sz="450" b="1" dirty="0">
              <a:solidFill>
                <a:schemeClr val="accent3"/>
              </a:solidFill>
              <a:latin typeface="Arial" pitchFamily="34" charset="0"/>
              <a:cs typeface="Arial" pitchFamily="34" charset="0"/>
            </a:endParaRPr>
          </a:p>
          <a:p>
            <a:r>
              <a:rPr lang="en-US" sz="450" b="1" dirty="0">
                <a:solidFill>
                  <a:schemeClr val="tx2"/>
                </a:solidFill>
                <a:latin typeface="Arial" pitchFamily="34" charset="0"/>
                <a:cs typeface="Arial" pitchFamily="34" charset="0"/>
              </a:rPr>
              <a:t>RESEARCH</a:t>
            </a:r>
          </a:p>
        </p:txBody>
      </p:sp>
    </p:spTree>
    <p:extLst>
      <p:ext uri="{BB962C8B-B14F-4D97-AF65-F5344CB8AC3E}">
        <p14:creationId xmlns:p14="http://schemas.microsoft.com/office/powerpoint/2010/main" val="329149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97858" y="8699316"/>
            <a:ext cx="6235106"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2"/>
          <p:cNvSpPr>
            <a:spLocks noGrp="1"/>
          </p:cNvSpPr>
          <p:nvPr>
            <p:ph type="sldNum" sz="quarter" idx="12"/>
          </p:nvPr>
        </p:nvSpPr>
        <p:spPr>
          <a:xfrm>
            <a:off x="4914900" y="8659771"/>
            <a:ext cx="1600200" cy="486833"/>
          </a:xfrm>
        </p:spPr>
        <p:txBody>
          <a:bodyPr/>
          <a:lstStyle/>
          <a:p>
            <a:fld id="{10452F14-DDA8-46AC-9FFA-A749C5B763D3}" type="slidenum">
              <a:rPr lang="en-US" smtClean="0">
                <a:latin typeface="BLS" panose="00000500000000000000" pitchFamily="2" charset="-34"/>
                <a:cs typeface="BLS" panose="00000500000000000000" pitchFamily="2" charset="-34"/>
              </a:rPr>
              <a:t>6</a:t>
            </a:fld>
            <a:endParaRPr lang="en-US" dirty="0">
              <a:latin typeface="BLS" panose="00000500000000000000" pitchFamily="2" charset="-34"/>
              <a:cs typeface="BLS" panose="00000500000000000000" pitchFamily="2" charset="-34"/>
            </a:endParaRPr>
          </a:p>
        </p:txBody>
      </p:sp>
      <p:sp>
        <p:nvSpPr>
          <p:cNvPr id="12" name="Text Box 155"/>
          <p:cNvSpPr txBox="1">
            <a:spLocks noChangeArrowheads="1"/>
          </p:cNvSpPr>
          <p:nvPr/>
        </p:nvSpPr>
        <p:spPr bwMode="auto">
          <a:xfrm>
            <a:off x="297858" y="624260"/>
            <a:ext cx="6231314" cy="319087"/>
          </a:xfrm>
          <a:prstGeom prst="rect">
            <a:avLst/>
          </a:prstGeom>
          <a:solidFill>
            <a:srgbClr val="002060"/>
          </a:solidFill>
          <a:ln w="9525">
            <a:solidFill>
              <a:srgbClr val="002060"/>
            </a:solidFill>
            <a:miter lim="800000"/>
            <a:headEnd/>
            <a:tailEnd/>
          </a:ln>
        </p:spPr>
        <p:txBody>
          <a:bodyPr vert="horz" wrap="square" lIns="91440" tIns="45720" rIns="91440" bIns="45720" numCol="1" anchor="ctr" anchorCtr="0" compatLnSpc="1">
            <a:prstTxWarp prst="textNoShape">
              <a:avLst/>
            </a:prstTxWarp>
          </a:bodyPr>
          <a:lstStyle/>
          <a:p>
            <a:pPr>
              <a:spcAft>
                <a:spcPts val="0"/>
              </a:spcAft>
              <a:tabLst>
                <a:tab pos="2743200" algn="ctr"/>
                <a:tab pos="5486400" algn="r"/>
              </a:tabLst>
            </a:pPr>
            <a:r>
              <a:rPr lang="en-US" sz="1000" b="1">
                <a:solidFill>
                  <a:srgbClr val="FFFFFF"/>
                </a:solidFill>
                <a:latin typeface="BLS Condensed Bold" pitchFamily="2" charset="-34"/>
                <a:ea typeface="Arial" pitchFamily="34" charset="0"/>
                <a:cs typeface="BLS Condensed Bold" pitchFamily="2" charset="-34"/>
              </a:rPr>
              <a:t>CORPORATE GOVERNANCE REPORT DISCLAIMER</a:t>
            </a:r>
          </a:p>
        </p:txBody>
      </p:sp>
      <p:sp>
        <p:nvSpPr>
          <p:cNvPr id="13" name="TextBox 12"/>
          <p:cNvSpPr txBox="1"/>
          <p:nvPr/>
        </p:nvSpPr>
        <p:spPr>
          <a:xfrm>
            <a:off x="297858" y="1043608"/>
            <a:ext cx="6231314" cy="3293209"/>
          </a:xfrm>
          <a:prstGeom prst="rect">
            <a:avLst/>
          </a:prstGeom>
          <a:noFill/>
        </p:spPr>
        <p:txBody>
          <a:bodyPr wrap="square" rtlCol="0">
            <a:spAutoFit/>
          </a:bodyPr>
          <a:lstStyle/>
          <a:p>
            <a:pPr algn="just"/>
            <a:r>
              <a:rPr lang="en-GB" sz="800">
                <a:solidFill>
                  <a:srgbClr val="404040"/>
                </a:solidFill>
                <a:latin typeface="BLS" pitchFamily="2" charset="-34"/>
                <a:cs typeface="BLS" pitchFamily="2" charset="-34"/>
              </a:rPr>
              <a:t>This research report was prepared by </a:t>
            </a:r>
            <a:r>
              <a:rPr lang="en-GB" sz="800" err="1">
                <a:solidFill>
                  <a:srgbClr val="404040"/>
                </a:solidFill>
                <a:latin typeface="BLS" pitchFamily="2" charset="-34"/>
                <a:cs typeface="BLS" pitchFamily="2" charset="-34"/>
              </a:rPr>
              <a:t>Bualuang</a:t>
            </a:r>
            <a:r>
              <a:rPr lang="en-GB" sz="800">
                <a:solidFill>
                  <a:srgbClr val="404040"/>
                </a:solidFill>
                <a:latin typeface="BLS" pitchFamily="2" charset="-34"/>
                <a:cs typeface="BLS" pitchFamily="2" charset="-34"/>
              </a:rPr>
              <a:t> Securities Public Company Limited and refers to research prepared by Morgan Stanley. Morgan Stanley does not warrant or guarantee the accuracy or completeness of its research reports. Morgan Stanley reserves copyright and other proprietary rights in the material reproduced in this report. Morgan Stanley is under no obligation to inform </a:t>
            </a:r>
            <a:r>
              <a:rPr lang="en-GB" sz="800" err="1">
                <a:solidFill>
                  <a:srgbClr val="404040"/>
                </a:solidFill>
                <a:latin typeface="BLS" pitchFamily="2" charset="-34"/>
                <a:cs typeface="BLS" pitchFamily="2" charset="-34"/>
              </a:rPr>
              <a:t>Bualuang</a:t>
            </a:r>
            <a:r>
              <a:rPr lang="en-GB" sz="800">
                <a:solidFill>
                  <a:srgbClr val="404040"/>
                </a:solidFill>
                <a:latin typeface="BLS" pitchFamily="2" charset="-34"/>
                <a:cs typeface="BLS" pitchFamily="2" charset="-34"/>
              </a:rPr>
              <a:t> Securities or you if the views or information referred to or reproduced in this research report change.</a:t>
            </a:r>
          </a:p>
          <a:p>
            <a:pPr algn="just"/>
            <a:endParaRPr lang="en-US" sz="800">
              <a:solidFill>
                <a:srgbClr val="404040"/>
              </a:solidFill>
              <a:latin typeface="BLS" pitchFamily="2" charset="-34"/>
              <a:cs typeface="BLS" pitchFamily="2" charset="-34"/>
            </a:endParaRPr>
          </a:p>
          <a:p>
            <a:pPr algn="just"/>
            <a:r>
              <a:rPr lang="en-GB" sz="800" b="1">
                <a:solidFill>
                  <a:srgbClr val="404040"/>
                </a:solidFill>
                <a:latin typeface="BLS" pitchFamily="2" charset="-34"/>
                <a:cs typeface="BLS" pitchFamily="2" charset="-34"/>
              </a:rPr>
              <a:t>Corporate Governance Report disclaimer</a:t>
            </a:r>
          </a:p>
          <a:p>
            <a:pPr algn="just"/>
            <a:endParaRPr lang="en-US" sz="400" b="1">
              <a:solidFill>
                <a:srgbClr val="404040"/>
              </a:solidFill>
              <a:latin typeface="BLS" pitchFamily="2" charset="-34"/>
              <a:cs typeface="BLS" pitchFamily="2" charset="-34"/>
            </a:endParaRPr>
          </a:p>
          <a:p>
            <a:pPr algn="just"/>
            <a:r>
              <a:rPr lang="en-US" sz="800">
                <a:solidFill>
                  <a:srgbClr val="404040"/>
                </a:solidFill>
                <a:latin typeface="BLS" pitchFamily="2" charset="-34"/>
                <a:cs typeface="BLS" pitchFamily="2" charset="-34"/>
              </a:rPr>
              <a:t>The disclosure of the survey result of the Thai Institute of Directors Association (IOD) regarding corporate governance is made pursuant to the policy of the Office of the Securities and Exchange Commission. The IOD survey is based on the information of a company listed on the Stock Exchange of Thailand and the Market for Alternative Investment disclosed to the public and able to be accessed by a general public investor. The result, therefore, is from the perspective of a third party. It is not an evaluation of operation and is not based on inside information.</a:t>
            </a:r>
          </a:p>
          <a:p>
            <a:pPr algn="just"/>
            <a:r>
              <a:rPr lang="en-US" sz="800">
                <a:solidFill>
                  <a:srgbClr val="404040"/>
                </a:solidFill>
                <a:latin typeface="BLS" pitchFamily="2" charset="-34"/>
                <a:cs typeface="BLS" pitchFamily="2" charset="-34"/>
              </a:rPr>
              <a:t>The survey result is as of the date appearing in the Corporate Governance Report of Thai Listed Companies. As a result, the survey result may be changed after that date. </a:t>
            </a:r>
            <a:r>
              <a:rPr lang="en-US" sz="800" err="1">
                <a:solidFill>
                  <a:srgbClr val="404040"/>
                </a:solidFill>
                <a:latin typeface="BLS" pitchFamily="2" charset="-34"/>
                <a:cs typeface="BLS" pitchFamily="2" charset="-34"/>
              </a:rPr>
              <a:t>Bualuang</a:t>
            </a:r>
            <a:r>
              <a:rPr lang="en-US" sz="800">
                <a:solidFill>
                  <a:srgbClr val="404040"/>
                </a:solidFill>
                <a:latin typeface="BLS" pitchFamily="2" charset="-34"/>
                <a:cs typeface="BLS" pitchFamily="2" charset="-34"/>
              </a:rPr>
              <a:t> Securities Public Company Limited neither confirms nor certifies the accuracy of such survey results.</a:t>
            </a:r>
          </a:p>
          <a:p>
            <a:pPr algn="just"/>
            <a:r>
              <a:rPr lang="en-US" sz="800">
                <a:solidFill>
                  <a:srgbClr val="404040"/>
                </a:solidFill>
                <a:latin typeface="BLS" pitchFamily="2" charset="-34"/>
                <a:cs typeface="BLS" pitchFamily="2" charset="-34"/>
              </a:rPr>
              <a:t> </a:t>
            </a:r>
          </a:p>
          <a:p>
            <a:pPr algn="just"/>
            <a:r>
              <a:rPr lang="en-US" sz="800">
                <a:solidFill>
                  <a:srgbClr val="404040"/>
                </a:solidFill>
                <a:latin typeface="BLS" pitchFamily="2" charset="-34"/>
                <a:cs typeface="BLS" pitchFamily="2" charset="-34"/>
              </a:rPr>
              <a:t>“Disclaimer: The disclosure of the Anti-Corruption Progress Indicators of a listed company on the Stock Exchange of Thailand, which is assessed by the relevant institution as disclosed by the Office of the Securities and Exchange Commission, is made in order to comply with the policy and sustainable development plan for the listed companies. The relevant institution made this assessment based on the information received from the listed company, as stipulated in the form for the assessment of Anti-corruption, which refers to the Annual Registration Statement (Form 56-1), Annual Report (Form 56-2), or other relevant documents or reports of such listed company. The assessment result is therefore made from the perspective of a third party. It is not an assessment of operation and is not based on any inside information. Since this assessment is only the assessment result as of the date appearing in the assessment result, it may be changed after that date or when there is any change to the relevant information. Nevertheless, </a:t>
            </a:r>
            <a:r>
              <a:rPr lang="en-US" sz="800" err="1">
                <a:solidFill>
                  <a:srgbClr val="404040"/>
                </a:solidFill>
                <a:latin typeface="BLS" pitchFamily="2" charset="-34"/>
                <a:cs typeface="BLS" pitchFamily="2" charset="-34"/>
              </a:rPr>
              <a:t>Bualuang</a:t>
            </a:r>
            <a:r>
              <a:rPr lang="en-US" sz="800">
                <a:solidFill>
                  <a:srgbClr val="404040"/>
                </a:solidFill>
                <a:latin typeface="BLS" pitchFamily="2" charset="-34"/>
                <a:cs typeface="BLS" pitchFamily="2" charset="-34"/>
              </a:rPr>
              <a:t> Securities Public Company Limited neither confirms, verifies, nor certifies the accuracy and completeness of the assessment result.”</a:t>
            </a:r>
          </a:p>
        </p:txBody>
      </p:sp>
      <p:sp>
        <p:nvSpPr>
          <p:cNvPr id="33" name="Text Box 155"/>
          <p:cNvSpPr txBox="1">
            <a:spLocks noChangeArrowheads="1"/>
          </p:cNvSpPr>
          <p:nvPr/>
        </p:nvSpPr>
        <p:spPr bwMode="auto">
          <a:xfrm>
            <a:off x="294066" y="4572000"/>
            <a:ext cx="6231314" cy="319087"/>
          </a:xfrm>
          <a:prstGeom prst="rect">
            <a:avLst/>
          </a:prstGeom>
          <a:solidFill>
            <a:srgbClr val="002060"/>
          </a:solidFill>
          <a:ln w="9525">
            <a:solidFill>
              <a:srgbClr val="002060"/>
            </a:solidFill>
            <a:miter lim="800000"/>
            <a:headEnd/>
            <a:tailEnd/>
          </a:ln>
        </p:spPr>
        <p:txBody>
          <a:bodyPr vert="horz" wrap="square" lIns="91440" tIns="45720" rIns="91440" bIns="45720" numCol="1" anchor="ctr" anchorCtr="0" compatLnSpc="1">
            <a:prstTxWarp prst="textNoShape">
              <a:avLst/>
            </a:prstTxWarp>
          </a:bodyPr>
          <a:lstStyle/>
          <a:p>
            <a:pPr>
              <a:spcAft>
                <a:spcPts val="0"/>
              </a:spcAft>
              <a:tabLst>
                <a:tab pos="2743200" algn="ctr"/>
                <a:tab pos="5486400" algn="r"/>
              </a:tabLst>
            </a:pPr>
            <a:r>
              <a:rPr lang="en-US" sz="1000" b="1">
                <a:solidFill>
                  <a:srgbClr val="FFFFFF"/>
                </a:solidFill>
                <a:latin typeface="BLS Condensed Bold" pitchFamily="2" charset="-34"/>
                <a:ea typeface="Arial" pitchFamily="34" charset="0"/>
                <a:cs typeface="BLS Condensed Bold" pitchFamily="2" charset="-34"/>
              </a:rPr>
              <a:t>BUALUANG RESEARCH – RECOMMENDATION FRAMEWORK</a:t>
            </a:r>
          </a:p>
        </p:txBody>
      </p:sp>
      <p:sp>
        <p:nvSpPr>
          <p:cNvPr id="34" name="TextBox 33"/>
          <p:cNvSpPr txBox="1"/>
          <p:nvPr/>
        </p:nvSpPr>
        <p:spPr>
          <a:xfrm>
            <a:off x="294066" y="5004048"/>
            <a:ext cx="3121345" cy="1323439"/>
          </a:xfrm>
          <a:prstGeom prst="rect">
            <a:avLst/>
          </a:prstGeom>
          <a:noFill/>
        </p:spPr>
        <p:txBody>
          <a:bodyPr wrap="square" rtlCol="0">
            <a:spAutoFit/>
          </a:bodyPr>
          <a:lstStyle/>
          <a:p>
            <a:r>
              <a:rPr lang="en-US" sz="800" b="1">
                <a:solidFill>
                  <a:srgbClr val="404040"/>
                </a:solidFill>
                <a:latin typeface="BLS" pitchFamily="2" charset="-34"/>
                <a:cs typeface="BLS" pitchFamily="2" charset="-34"/>
              </a:rPr>
              <a:t>STOCK RECOMMENDATIONS</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 </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BUY:</a:t>
            </a:r>
            <a:r>
              <a:rPr lang="en-US" sz="800">
                <a:solidFill>
                  <a:srgbClr val="404040"/>
                </a:solidFill>
                <a:latin typeface="BLS" pitchFamily="2" charset="-34"/>
                <a:cs typeface="BLS" pitchFamily="2" charset="-34"/>
              </a:rPr>
              <a:t> Expected positive total returns of 15% or more over the next 12 months.</a:t>
            </a:r>
          </a:p>
          <a:p>
            <a:r>
              <a:rPr lang="en-US" sz="800" b="1">
                <a:solidFill>
                  <a:srgbClr val="404040"/>
                </a:solidFill>
                <a:latin typeface="BLS" pitchFamily="2" charset="-34"/>
                <a:cs typeface="BLS" pitchFamily="2" charset="-34"/>
              </a:rPr>
              <a:t>HOLD:</a:t>
            </a:r>
            <a:r>
              <a:rPr lang="en-US" sz="800">
                <a:solidFill>
                  <a:srgbClr val="404040"/>
                </a:solidFill>
                <a:latin typeface="BLS" pitchFamily="2" charset="-34"/>
                <a:cs typeface="BLS" pitchFamily="2" charset="-34"/>
              </a:rPr>
              <a:t> Expected total returns of between -15% and +15% over the next 12 months.</a:t>
            </a:r>
          </a:p>
          <a:p>
            <a:r>
              <a:rPr lang="en-US" sz="800" b="1">
                <a:solidFill>
                  <a:srgbClr val="404040"/>
                </a:solidFill>
                <a:latin typeface="BLS" pitchFamily="2" charset="-34"/>
                <a:cs typeface="BLS" pitchFamily="2" charset="-34"/>
              </a:rPr>
              <a:t>SELL:</a:t>
            </a:r>
            <a:r>
              <a:rPr lang="en-US" sz="800">
                <a:solidFill>
                  <a:srgbClr val="404040"/>
                </a:solidFill>
                <a:latin typeface="BLS" pitchFamily="2" charset="-34"/>
                <a:cs typeface="BLS" pitchFamily="2" charset="-34"/>
              </a:rPr>
              <a:t> Expected negative total returns of 15% or more over the next 12 months.</a:t>
            </a:r>
          </a:p>
          <a:p>
            <a:r>
              <a:rPr lang="en-US" sz="800" b="1">
                <a:solidFill>
                  <a:srgbClr val="404040"/>
                </a:solidFill>
                <a:latin typeface="BLS" pitchFamily="2" charset="-34"/>
                <a:cs typeface="BLS" pitchFamily="2" charset="-34"/>
              </a:rPr>
              <a:t>TRADING BUY:</a:t>
            </a:r>
            <a:r>
              <a:rPr lang="en-US" sz="800">
                <a:solidFill>
                  <a:srgbClr val="404040"/>
                </a:solidFill>
                <a:latin typeface="BLS" pitchFamily="2" charset="-34"/>
                <a:cs typeface="BLS" pitchFamily="2" charset="-34"/>
              </a:rPr>
              <a:t> Expected positive total returns of 15% or more over the next 3 months.</a:t>
            </a:r>
          </a:p>
        </p:txBody>
      </p:sp>
      <p:sp>
        <p:nvSpPr>
          <p:cNvPr id="40" name="TextBox 39"/>
          <p:cNvSpPr txBox="1"/>
          <p:nvPr/>
        </p:nvSpPr>
        <p:spPr>
          <a:xfrm>
            <a:off x="3403999" y="5006935"/>
            <a:ext cx="3121345" cy="1446550"/>
          </a:xfrm>
          <a:prstGeom prst="rect">
            <a:avLst/>
          </a:prstGeom>
          <a:noFill/>
        </p:spPr>
        <p:txBody>
          <a:bodyPr wrap="square" rtlCol="0">
            <a:spAutoFit/>
          </a:bodyPr>
          <a:lstStyle/>
          <a:p>
            <a:r>
              <a:rPr lang="en-US" sz="800" b="1">
                <a:solidFill>
                  <a:srgbClr val="404040"/>
                </a:solidFill>
                <a:latin typeface="BLS" pitchFamily="2" charset="-34"/>
                <a:cs typeface="BLS" pitchFamily="2" charset="-34"/>
              </a:rPr>
              <a:t>SECTOR RECOMMENDATIONS</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 </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OVERWEIGHT:</a:t>
            </a:r>
            <a:r>
              <a:rPr lang="en-US" sz="800">
                <a:solidFill>
                  <a:srgbClr val="404040"/>
                </a:solidFill>
                <a:latin typeface="BLS" pitchFamily="2" charset="-34"/>
                <a:cs typeface="BLS" pitchFamily="2" charset="-34"/>
              </a:rPr>
              <a:t> The industry, as defined by the analyst's coverage universe, is expected to outperform the relevant primary market index over the next 12 months.</a:t>
            </a:r>
          </a:p>
          <a:p>
            <a:r>
              <a:rPr lang="en-US" sz="800" b="1">
                <a:solidFill>
                  <a:srgbClr val="404040"/>
                </a:solidFill>
                <a:latin typeface="BLS" pitchFamily="2" charset="-34"/>
                <a:cs typeface="BLS" pitchFamily="2" charset="-34"/>
              </a:rPr>
              <a:t>NEUTRAL:</a:t>
            </a:r>
            <a:r>
              <a:rPr lang="en-US" sz="800">
                <a:solidFill>
                  <a:srgbClr val="404040"/>
                </a:solidFill>
                <a:latin typeface="BLS" pitchFamily="2" charset="-34"/>
                <a:cs typeface="BLS" pitchFamily="2" charset="-34"/>
              </a:rPr>
              <a:t> The industry, as defined by the analyst's coverage universe, is expected to perform in line with the relevant primary market index over the next 12 months.</a:t>
            </a:r>
          </a:p>
          <a:p>
            <a:r>
              <a:rPr lang="en-US" sz="800" b="1">
                <a:solidFill>
                  <a:srgbClr val="404040"/>
                </a:solidFill>
                <a:latin typeface="BLS" pitchFamily="2" charset="-34"/>
                <a:cs typeface="BLS" pitchFamily="2" charset="-34"/>
              </a:rPr>
              <a:t>UNDERWEIGHT:</a:t>
            </a:r>
            <a:r>
              <a:rPr lang="en-US" sz="800">
                <a:solidFill>
                  <a:srgbClr val="404040"/>
                </a:solidFill>
                <a:latin typeface="BLS" pitchFamily="2" charset="-34"/>
                <a:cs typeface="BLS" pitchFamily="2" charset="-34"/>
              </a:rPr>
              <a:t> The industry, as defined by the analyst's coverage universe, is expected to underperform the relevant primary market index over the next 12 months.</a:t>
            </a:r>
          </a:p>
        </p:txBody>
      </p:sp>
      <p:pic>
        <p:nvPicPr>
          <p:cNvPr id="2" name="Picture 2">
            <a:extLst>
              <a:ext uri="{FF2B5EF4-FFF2-40B4-BE49-F238E27FC236}">
                <a16:creationId xmlns:a16="http://schemas.microsoft.com/office/drawing/2014/main" id="{68EBA98D-DAEB-71F6-F8D5-DDD9F3BDDDE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0823" y="107504"/>
            <a:ext cx="731838"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Connector 2">
            <a:extLst>
              <a:ext uri="{FF2B5EF4-FFF2-40B4-BE49-F238E27FC236}">
                <a16:creationId xmlns:a16="http://schemas.microsoft.com/office/drawing/2014/main" id="{7E2E67D1-A25A-2469-0444-85CC17E609CB}"/>
              </a:ext>
            </a:extLst>
          </p:cNvPr>
          <p:cNvCxnSpPr/>
          <p:nvPr/>
        </p:nvCxnSpPr>
        <p:spPr>
          <a:xfrm>
            <a:off x="1254791" y="190033"/>
            <a:ext cx="0" cy="108000"/>
          </a:xfrm>
          <a:prstGeom prst="line">
            <a:avLst/>
          </a:prstGeom>
          <a:ln w="1905">
            <a:solidFill>
              <a:srgbClr val="00206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FD7DE02-ED03-5EC3-18A3-C3FFFC2FDA4D}"/>
              </a:ext>
            </a:extLst>
          </p:cNvPr>
          <p:cNvSpPr txBox="1"/>
          <p:nvPr/>
        </p:nvSpPr>
        <p:spPr>
          <a:xfrm>
            <a:off x="332656" y="30656"/>
            <a:ext cx="970575" cy="184666"/>
          </a:xfrm>
          <a:prstGeom prst="rect">
            <a:avLst/>
          </a:prstGeom>
          <a:noFill/>
        </p:spPr>
        <p:txBody>
          <a:bodyPr wrap="square">
            <a:spAutoFit/>
          </a:bodyPr>
          <a:lstStyle/>
          <a:p>
            <a:pPr algn="r"/>
            <a:r>
              <a:rPr lang="en-US" sz="600" b="1" dirty="0">
                <a:solidFill>
                  <a:srgbClr val="CCAE8A"/>
                </a:solidFill>
                <a:latin typeface="Aharoni" panose="020F0502020204030204" pitchFamily="2" charset="-79"/>
                <a:ea typeface="Tahoma" pitchFamily="34" charset="0"/>
                <a:cs typeface="Aharoni" panose="020F0502020204030204" pitchFamily="2" charset="-79"/>
              </a:rPr>
              <a:t>BLS WEALTH</a:t>
            </a:r>
            <a:endParaRPr lang="th-TH" sz="5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10" name="TextBox 9">
            <a:extLst>
              <a:ext uri="{FF2B5EF4-FFF2-40B4-BE49-F238E27FC236}">
                <a16:creationId xmlns:a16="http://schemas.microsoft.com/office/drawing/2014/main" id="{13DF9989-335C-A019-5306-81DB174F4CC4}"/>
              </a:ext>
            </a:extLst>
          </p:cNvPr>
          <p:cNvSpPr txBox="1"/>
          <p:nvPr/>
        </p:nvSpPr>
        <p:spPr>
          <a:xfrm>
            <a:off x="1207813" y="131801"/>
            <a:ext cx="1411131" cy="230832"/>
          </a:xfrm>
          <a:prstGeom prst="rect">
            <a:avLst/>
          </a:prstGeom>
          <a:noFill/>
        </p:spPr>
        <p:txBody>
          <a:bodyPr wrap="square" rtlCol="0">
            <a:spAutoFit/>
          </a:bodyPr>
          <a:lstStyle/>
          <a:p>
            <a:r>
              <a:rPr lang="en-US" sz="450" b="1" dirty="0">
                <a:solidFill>
                  <a:schemeClr val="accent3"/>
                </a:solidFill>
                <a:latin typeface="Arial" pitchFamily="34" charset="0"/>
                <a:cs typeface="Arial" pitchFamily="34" charset="0"/>
              </a:rPr>
              <a:t>Data-driven</a:t>
            </a:r>
            <a:endParaRPr lang="th-TH" sz="450" b="1" dirty="0">
              <a:solidFill>
                <a:schemeClr val="accent3"/>
              </a:solidFill>
              <a:latin typeface="Arial" pitchFamily="34" charset="0"/>
              <a:cs typeface="Arial" pitchFamily="34" charset="0"/>
            </a:endParaRPr>
          </a:p>
          <a:p>
            <a:r>
              <a:rPr lang="en-US" sz="450" b="1" dirty="0">
                <a:solidFill>
                  <a:schemeClr val="tx2"/>
                </a:solidFill>
                <a:latin typeface="Arial" pitchFamily="34" charset="0"/>
                <a:cs typeface="Arial" pitchFamily="34" charset="0"/>
              </a:rPr>
              <a:t>RESEARCH</a:t>
            </a:r>
          </a:p>
        </p:txBody>
      </p:sp>
    </p:spTree>
    <p:extLst>
      <p:ext uri="{BB962C8B-B14F-4D97-AF65-F5344CB8AC3E}">
        <p14:creationId xmlns:p14="http://schemas.microsoft.com/office/powerpoint/2010/main" val="2177988180"/>
      </p:ext>
    </p:extLst>
  </p:cSld>
  <p:clrMapOvr>
    <a:masterClrMapping/>
  </p:clrMapOvr>
</p:sld>
</file>

<file path=ppt/theme/theme1.xml><?xml version="1.0" encoding="utf-8"?>
<a:theme xmlns:a="http://schemas.openxmlformats.org/drawingml/2006/main" name="Office Theme">
  <a:themeElements>
    <a:clrScheme name="BLS">
      <a:dk1>
        <a:sysClr val="windowText" lastClr="000000"/>
      </a:dk1>
      <a:lt1>
        <a:sysClr val="window" lastClr="FFFFFF"/>
      </a:lt1>
      <a:dk2>
        <a:srgbClr val="1F497D"/>
      </a:dk2>
      <a:lt2>
        <a:srgbClr val="EEECE1"/>
      </a:lt2>
      <a:accent1>
        <a:srgbClr val="215968"/>
      </a:accent1>
      <a:accent2>
        <a:srgbClr val="A17D3D"/>
      </a:accent2>
      <a:accent3>
        <a:srgbClr val="AC1D3F"/>
      </a:accent3>
      <a:accent4>
        <a:srgbClr val="162A4C"/>
      </a:accent4>
      <a:accent5>
        <a:srgbClr val="A6A6A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143991</TotalTime>
  <Words>3899</Words>
  <Application>Microsoft Office PowerPoint</Application>
  <PresentationFormat>On-screen Show (4:3)</PresentationFormat>
  <Paragraphs>279</Paragraphs>
  <Slides>6</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vt:i4>
      </vt:variant>
    </vt:vector>
  </HeadingPairs>
  <TitlesOfParts>
    <vt:vector size="16" baseType="lpstr">
      <vt:lpstr>Aharoni</vt:lpstr>
      <vt:lpstr>Arial</vt:lpstr>
      <vt:lpstr>BLS</vt:lpstr>
      <vt:lpstr>BLS Bold</vt:lpstr>
      <vt:lpstr>BLS Condensed</vt:lpstr>
      <vt:lpstr>BLS Condensed </vt:lpstr>
      <vt:lpstr>BLS Condensed Bold</vt:lpstr>
      <vt:lpstr>BLS Text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sfsdfds</dc:title>
  <dc:creator>Nuttimas Akarapanuvitaya</dc:creator>
  <cp:lastModifiedBy>Piriyapon Kongvanich</cp:lastModifiedBy>
  <cp:revision>4640</cp:revision>
  <cp:lastPrinted>2024-11-19T12:54:25Z</cp:lastPrinted>
  <dcterms:created xsi:type="dcterms:W3CDTF">2019-01-16T11:18:39Z</dcterms:created>
  <dcterms:modified xsi:type="dcterms:W3CDTF">2026-03-21T05:37:27Z</dcterms:modified>
</cp:coreProperties>
</file>