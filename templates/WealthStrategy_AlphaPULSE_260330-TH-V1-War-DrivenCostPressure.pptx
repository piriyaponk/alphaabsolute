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8"/>
  </p:notesMasterIdLst>
  <p:sldIdLst>
    <p:sldId id="410" r:id="rId2"/>
    <p:sldId id="563" r:id="rId3"/>
    <p:sldId id="561" r:id="rId4"/>
    <p:sldId id="562" r:id="rId5"/>
    <p:sldId id="353" r:id="rId6"/>
    <p:sldId id="354" r:id="rId7"/>
  </p:sldIdLst>
  <p:sldSz cx="6858000" cy="9144000" type="screen4x3"/>
  <p:notesSz cx="6807200" cy="99393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420" userDrawn="1">
          <p15:clr>
            <a:srgbClr val="A4A3A4"/>
          </p15:clr>
        </p15:guide>
        <p15:guide id="2" pos="2160">
          <p15:clr>
            <a:srgbClr val="A4A3A4"/>
          </p15:clr>
        </p15:guide>
      </p15:sldGuideLst>
    </p:ext>
    <p:ext uri="{2D200454-40CA-4A62-9FC3-DE9A4176ACB9}">
      <p15:notesGuideLst xmlns:p15="http://schemas.microsoft.com/office/powerpoint/2012/main">
        <p15:guide id="1" orient="horz" pos="3130" userDrawn="1">
          <p15:clr>
            <a:srgbClr val="A4A3A4"/>
          </p15:clr>
        </p15:guide>
        <p15:guide id="2" pos="2144"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EDED"/>
    <a:srgbClr val="FFCCCC"/>
    <a:srgbClr val="A17D3D"/>
    <a:srgbClr val="F2F2F2"/>
    <a:srgbClr val="AC1D3F"/>
    <a:srgbClr val="1C3765"/>
    <a:srgbClr val="A6A6A6"/>
    <a:srgbClr val="215968"/>
    <a:srgbClr val="162A4C"/>
    <a:srgbClr val="2D7A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814" autoAdjust="0"/>
    <p:restoredTop sz="96349" autoAdjust="0"/>
  </p:normalViewPr>
  <p:slideViewPr>
    <p:cSldViewPr>
      <p:cViewPr>
        <p:scale>
          <a:sx n="100" d="100"/>
          <a:sy n="100" d="100"/>
        </p:scale>
        <p:origin x="1038" y="-798"/>
      </p:cViewPr>
      <p:guideLst>
        <p:guide orient="horz" pos="5420"/>
        <p:guide pos="2160"/>
      </p:guideLst>
    </p:cSldViewPr>
  </p:slideViewPr>
  <p:notesTextViewPr>
    <p:cViewPr>
      <p:scale>
        <a:sx n="150" d="100"/>
        <a:sy n="150" d="100"/>
      </p:scale>
      <p:origin x="0" y="0"/>
    </p:cViewPr>
  </p:notesTextViewPr>
  <p:notesViewPr>
    <p:cSldViewPr>
      <p:cViewPr varScale="1">
        <p:scale>
          <a:sx n="75" d="100"/>
          <a:sy n="75" d="100"/>
        </p:scale>
        <p:origin x="-4020" y="-84"/>
      </p:cViewPr>
      <p:guideLst>
        <p:guide orient="horz" pos="3130"/>
        <p:guide pos="2144"/>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6" y="6"/>
            <a:ext cx="2949533" cy="496427"/>
          </a:xfrm>
          <a:prstGeom prst="rect">
            <a:avLst/>
          </a:prstGeom>
        </p:spPr>
        <p:txBody>
          <a:bodyPr vert="horz" lIns="88249" tIns="44125" rIns="88249" bIns="44125" rtlCol="0"/>
          <a:lstStyle>
            <a:lvl1pPr algn="l">
              <a:defRPr sz="1200"/>
            </a:lvl1pPr>
          </a:lstStyle>
          <a:p>
            <a:endParaRPr lang="en-US"/>
          </a:p>
        </p:txBody>
      </p:sp>
      <p:sp>
        <p:nvSpPr>
          <p:cNvPr id="3" name="Date Placeholder 2"/>
          <p:cNvSpPr>
            <a:spLocks noGrp="1"/>
          </p:cNvSpPr>
          <p:nvPr>
            <p:ph type="dt" idx="1"/>
          </p:nvPr>
        </p:nvSpPr>
        <p:spPr>
          <a:xfrm>
            <a:off x="3856146" y="6"/>
            <a:ext cx="2949532" cy="496427"/>
          </a:xfrm>
          <a:prstGeom prst="rect">
            <a:avLst/>
          </a:prstGeom>
        </p:spPr>
        <p:txBody>
          <a:bodyPr vert="horz" lIns="88249" tIns="44125" rIns="88249" bIns="44125" rtlCol="0"/>
          <a:lstStyle>
            <a:lvl1pPr algn="r">
              <a:defRPr sz="1200"/>
            </a:lvl1pPr>
          </a:lstStyle>
          <a:p>
            <a:fld id="{E0B721B7-C9AF-4FEC-A17C-5AA640F24497}" type="datetimeFigureOut">
              <a:rPr lang="en-US" smtClean="0"/>
              <a:t>28-Mar-26</a:t>
            </a:fld>
            <a:endParaRPr lang="en-US"/>
          </a:p>
        </p:txBody>
      </p:sp>
      <p:sp>
        <p:nvSpPr>
          <p:cNvPr id="4" name="Slide Image Placeholder 3"/>
          <p:cNvSpPr>
            <a:spLocks noGrp="1" noRot="1" noChangeAspect="1"/>
          </p:cNvSpPr>
          <p:nvPr>
            <p:ph type="sldImg" idx="2"/>
          </p:nvPr>
        </p:nvSpPr>
        <p:spPr>
          <a:xfrm>
            <a:off x="2006600" y="746125"/>
            <a:ext cx="2794000" cy="3725863"/>
          </a:xfrm>
          <a:prstGeom prst="rect">
            <a:avLst/>
          </a:prstGeom>
          <a:noFill/>
          <a:ln w="12700">
            <a:solidFill>
              <a:prstClr val="black"/>
            </a:solidFill>
          </a:ln>
        </p:spPr>
        <p:txBody>
          <a:bodyPr vert="horz" lIns="88249" tIns="44125" rIns="88249" bIns="44125" rtlCol="0" anchor="ctr"/>
          <a:lstStyle/>
          <a:p>
            <a:endParaRPr lang="en-US"/>
          </a:p>
        </p:txBody>
      </p:sp>
      <p:sp>
        <p:nvSpPr>
          <p:cNvPr id="5" name="Notes Placeholder 4"/>
          <p:cNvSpPr>
            <a:spLocks noGrp="1"/>
          </p:cNvSpPr>
          <p:nvPr>
            <p:ph type="body" sz="quarter" idx="3"/>
          </p:nvPr>
        </p:nvSpPr>
        <p:spPr>
          <a:xfrm>
            <a:off x="681480" y="4720684"/>
            <a:ext cx="5445760" cy="4472471"/>
          </a:xfrm>
          <a:prstGeom prst="rect">
            <a:avLst/>
          </a:prstGeom>
        </p:spPr>
        <p:txBody>
          <a:bodyPr vert="horz" lIns="88249" tIns="44125" rIns="88249" bIns="44125"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6" y="9441374"/>
            <a:ext cx="2949533" cy="496427"/>
          </a:xfrm>
          <a:prstGeom prst="rect">
            <a:avLst/>
          </a:prstGeom>
        </p:spPr>
        <p:txBody>
          <a:bodyPr vert="horz" lIns="88249" tIns="44125" rIns="88249" bIns="44125" rtlCol="0" anchor="b"/>
          <a:lstStyle>
            <a:lvl1pPr algn="l">
              <a:defRPr sz="1200"/>
            </a:lvl1pPr>
          </a:lstStyle>
          <a:p>
            <a:endParaRPr lang="en-US"/>
          </a:p>
        </p:txBody>
      </p:sp>
      <p:sp>
        <p:nvSpPr>
          <p:cNvPr id="7" name="Slide Number Placeholder 6"/>
          <p:cNvSpPr>
            <a:spLocks noGrp="1"/>
          </p:cNvSpPr>
          <p:nvPr>
            <p:ph type="sldNum" sz="quarter" idx="5"/>
          </p:nvPr>
        </p:nvSpPr>
        <p:spPr>
          <a:xfrm>
            <a:off x="3856146" y="9441374"/>
            <a:ext cx="2949532" cy="496427"/>
          </a:xfrm>
          <a:prstGeom prst="rect">
            <a:avLst/>
          </a:prstGeom>
        </p:spPr>
        <p:txBody>
          <a:bodyPr vert="horz" lIns="88249" tIns="44125" rIns="88249" bIns="44125" rtlCol="0" anchor="b"/>
          <a:lstStyle>
            <a:lvl1pPr algn="r">
              <a:defRPr sz="1200"/>
            </a:lvl1pPr>
          </a:lstStyle>
          <a:p>
            <a:fld id="{2CD61325-C3CE-4DCC-9429-B8D45AC53B9F}" type="slidenum">
              <a:rPr lang="en-US" smtClean="0"/>
              <a:t>‹#›</a:t>
            </a:fld>
            <a:endParaRPr lang="en-US"/>
          </a:p>
        </p:txBody>
      </p:sp>
    </p:spTree>
    <p:extLst>
      <p:ext uri="{BB962C8B-B14F-4D97-AF65-F5344CB8AC3E}">
        <p14:creationId xmlns:p14="http://schemas.microsoft.com/office/powerpoint/2010/main" val="1000859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BEC07-B796-FBF0-EC48-E64CC63144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781B8B-4C9C-0128-3F2A-081F2D1B0D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41D090-7278-53B1-530D-6B9EFC847460}"/>
              </a:ext>
            </a:extLst>
          </p:cNvPr>
          <p:cNvSpPr>
            <a:spLocks noGrp="1"/>
          </p:cNvSpPr>
          <p:nvPr>
            <p:ph type="body" idx="1"/>
          </p:nvPr>
        </p:nvSpPr>
        <p:spPr/>
        <p:txBody>
          <a:bodyPr/>
          <a:lstStyle/>
          <a:p>
            <a:r>
              <a:rPr lang="th-TH" sz="950" dirty="0"/>
              <a:t>10 ตัวหลักแรก แต่ละช่วง มีตัวไหนบ้าง แต่ละรอบ </a:t>
            </a:r>
            <a:r>
              <a:rPr lang="en-US" sz="950" dirty="0"/>
              <a:t>list</a:t>
            </a:r>
            <a:r>
              <a:rPr lang="th-TH" sz="950" dirty="0"/>
              <a:t> มา ---</a:t>
            </a:r>
            <a:r>
              <a:rPr lang="en-US" sz="950" dirty="0"/>
              <a:t> </a:t>
            </a:r>
            <a:r>
              <a:rPr lang="th-TH" sz="950" dirty="0"/>
              <a:t>ค่อยเติม ตัวใหม่เข้ามา </a:t>
            </a:r>
            <a:r>
              <a:rPr lang="en-US" sz="950" dirty="0"/>
              <a:t>&gt;&gt;&gt;</a:t>
            </a:r>
            <a:r>
              <a:rPr lang="th-TH" sz="950" dirty="0"/>
              <a:t> </a:t>
            </a:r>
            <a:r>
              <a:rPr lang="en-US" sz="950" dirty="0"/>
              <a:t>infra + financial  &gt;&gt;&gt; </a:t>
            </a:r>
            <a:r>
              <a:rPr lang="th-TH" sz="950" dirty="0"/>
              <a:t>เข้าหุ้น </a:t>
            </a:r>
            <a:r>
              <a:rPr lang="en-US" sz="950" dirty="0"/>
              <a:t>top 10, + essential sector / infra . </a:t>
            </a:r>
            <a:r>
              <a:rPr lang="en-US" sz="950" dirty="0" err="1"/>
              <a:t>ict</a:t>
            </a:r>
            <a:r>
              <a:rPr lang="en-US" sz="950" dirty="0"/>
              <a:t> bank  / </a:t>
            </a:r>
            <a:endParaRPr lang="th-TH" sz="950" dirty="0"/>
          </a:p>
          <a:p>
            <a:r>
              <a:rPr lang="en-US" sz="950" dirty="0"/>
              <a:t>Manufact + earnings </a:t>
            </a:r>
            <a:r>
              <a:rPr lang="th-TH" sz="950" dirty="0"/>
              <a:t>ฟื้น</a:t>
            </a:r>
            <a:r>
              <a:rPr lang="en-US" sz="950" dirty="0"/>
              <a:t> &gt;&gt;&gt;&gt;</a:t>
            </a:r>
            <a:r>
              <a:rPr lang="th-TH" sz="950" dirty="0"/>
              <a:t> เทียบ 3 วงจร </a:t>
            </a:r>
          </a:p>
        </p:txBody>
      </p:sp>
      <p:sp>
        <p:nvSpPr>
          <p:cNvPr id="4" name="Slide Number Placeholder 3">
            <a:extLst>
              <a:ext uri="{FF2B5EF4-FFF2-40B4-BE49-F238E27FC236}">
                <a16:creationId xmlns:a16="http://schemas.microsoft.com/office/drawing/2014/main" id="{3DED5535-8828-2418-BED8-8BE95BEEAE40}"/>
              </a:ext>
            </a:extLst>
          </p:cNvPr>
          <p:cNvSpPr>
            <a:spLocks noGrp="1"/>
          </p:cNvSpPr>
          <p:nvPr>
            <p:ph type="sldNum" sz="quarter" idx="10"/>
          </p:nvPr>
        </p:nvSpPr>
        <p:spPr/>
        <p:txBody>
          <a:bodyPr/>
          <a:lstStyle/>
          <a:p>
            <a:fld id="{2CD61325-C3CE-4DCC-9429-B8D45AC53B9F}" type="slidenum">
              <a:rPr lang="en-US" smtClean="0"/>
              <a:t>1</a:t>
            </a:fld>
            <a:endParaRPr lang="en-US"/>
          </a:p>
        </p:txBody>
      </p:sp>
    </p:spTree>
    <p:extLst>
      <p:ext uri="{BB962C8B-B14F-4D97-AF65-F5344CB8AC3E}">
        <p14:creationId xmlns:p14="http://schemas.microsoft.com/office/powerpoint/2010/main" val="3015434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BEC07-B796-FBF0-EC48-E64CC63144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781B8B-4C9C-0128-3F2A-081F2D1B0D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41D090-7278-53B1-530D-6B9EFC847460}"/>
              </a:ext>
            </a:extLst>
          </p:cNvPr>
          <p:cNvSpPr>
            <a:spLocks noGrp="1"/>
          </p:cNvSpPr>
          <p:nvPr>
            <p:ph type="body" idx="1"/>
          </p:nvPr>
        </p:nvSpPr>
        <p:spPr/>
        <p:txBody>
          <a:bodyPr/>
          <a:lstStyle/>
          <a:p>
            <a:r>
              <a:rPr lang="th-TH" sz="950" dirty="0"/>
              <a:t>10 ตัวหลักแรก แต่ละช่วง มีตัวไหนบ้าง แต่ละรอบ </a:t>
            </a:r>
            <a:r>
              <a:rPr lang="en-US" sz="950" dirty="0"/>
              <a:t>list</a:t>
            </a:r>
            <a:r>
              <a:rPr lang="th-TH" sz="950" dirty="0"/>
              <a:t> มา ---</a:t>
            </a:r>
            <a:r>
              <a:rPr lang="en-US" sz="950" dirty="0"/>
              <a:t> </a:t>
            </a:r>
            <a:r>
              <a:rPr lang="th-TH" sz="950" dirty="0"/>
              <a:t>ค่อยเติม ตัวใหม่เข้ามา </a:t>
            </a:r>
            <a:r>
              <a:rPr lang="en-US" sz="950" dirty="0"/>
              <a:t>&gt;&gt;&gt;</a:t>
            </a:r>
            <a:r>
              <a:rPr lang="th-TH" sz="950" dirty="0"/>
              <a:t> </a:t>
            </a:r>
            <a:r>
              <a:rPr lang="en-US" sz="950" dirty="0"/>
              <a:t>infra + financial  &gt;&gt;&gt; </a:t>
            </a:r>
            <a:r>
              <a:rPr lang="th-TH" sz="950" dirty="0"/>
              <a:t>เข้าหุ้น </a:t>
            </a:r>
            <a:r>
              <a:rPr lang="en-US" sz="950" dirty="0"/>
              <a:t>top 10, + essential sector / infra . </a:t>
            </a:r>
            <a:r>
              <a:rPr lang="en-US" sz="950" dirty="0" err="1"/>
              <a:t>ict</a:t>
            </a:r>
            <a:r>
              <a:rPr lang="en-US" sz="950" dirty="0"/>
              <a:t> bank  / </a:t>
            </a:r>
            <a:endParaRPr lang="th-TH" sz="950" dirty="0"/>
          </a:p>
          <a:p>
            <a:r>
              <a:rPr lang="en-US" sz="950" dirty="0"/>
              <a:t>Manufact + earnings </a:t>
            </a:r>
            <a:r>
              <a:rPr lang="th-TH" sz="950" dirty="0"/>
              <a:t>ฟื้น</a:t>
            </a:r>
            <a:r>
              <a:rPr lang="en-US" sz="950" dirty="0"/>
              <a:t> &gt;&gt;&gt;&gt;</a:t>
            </a:r>
            <a:r>
              <a:rPr lang="th-TH" sz="950" dirty="0"/>
              <a:t> เทียบ 3 วงจร </a:t>
            </a:r>
          </a:p>
        </p:txBody>
      </p:sp>
      <p:sp>
        <p:nvSpPr>
          <p:cNvPr id="4" name="Slide Number Placeholder 3">
            <a:extLst>
              <a:ext uri="{FF2B5EF4-FFF2-40B4-BE49-F238E27FC236}">
                <a16:creationId xmlns:a16="http://schemas.microsoft.com/office/drawing/2014/main" id="{3DED5535-8828-2418-BED8-8BE95BEEAE40}"/>
              </a:ext>
            </a:extLst>
          </p:cNvPr>
          <p:cNvSpPr>
            <a:spLocks noGrp="1"/>
          </p:cNvSpPr>
          <p:nvPr>
            <p:ph type="sldNum" sz="quarter" idx="10"/>
          </p:nvPr>
        </p:nvSpPr>
        <p:spPr/>
        <p:txBody>
          <a:bodyPr/>
          <a:lstStyle/>
          <a:p>
            <a:fld id="{2CD61325-C3CE-4DCC-9429-B8D45AC53B9F}" type="slidenum">
              <a:rPr lang="en-US" smtClean="0"/>
              <a:t>2</a:t>
            </a:fld>
            <a:endParaRPr lang="en-US"/>
          </a:p>
        </p:txBody>
      </p:sp>
    </p:spTree>
    <p:extLst>
      <p:ext uri="{BB962C8B-B14F-4D97-AF65-F5344CB8AC3E}">
        <p14:creationId xmlns:p14="http://schemas.microsoft.com/office/powerpoint/2010/main" val="2922461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BEC07-B796-FBF0-EC48-E64CC63144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781B8B-4C9C-0128-3F2A-081F2D1B0D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41D090-7278-53B1-530D-6B9EFC847460}"/>
              </a:ext>
            </a:extLst>
          </p:cNvPr>
          <p:cNvSpPr>
            <a:spLocks noGrp="1"/>
          </p:cNvSpPr>
          <p:nvPr>
            <p:ph type="body" idx="1"/>
          </p:nvPr>
        </p:nvSpPr>
        <p:spPr/>
        <p:txBody>
          <a:bodyPr/>
          <a:lstStyle/>
          <a:p>
            <a:r>
              <a:rPr lang="th-TH" sz="950" dirty="0"/>
              <a:t>10 ตัวหลักแรก แต่ละช่วง มีตัวไหนบ้าง แต่ละรอบ </a:t>
            </a:r>
            <a:r>
              <a:rPr lang="en-US" sz="950" dirty="0"/>
              <a:t>list</a:t>
            </a:r>
            <a:r>
              <a:rPr lang="th-TH" sz="950" dirty="0"/>
              <a:t> มา ---</a:t>
            </a:r>
            <a:r>
              <a:rPr lang="en-US" sz="950" dirty="0"/>
              <a:t> </a:t>
            </a:r>
            <a:r>
              <a:rPr lang="th-TH" sz="950" dirty="0"/>
              <a:t>ค่อยเติม ตัวใหม่เข้ามา </a:t>
            </a:r>
            <a:r>
              <a:rPr lang="en-US" sz="950" dirty="0"/>
              <a:t>&gt;&gt;&gt;</a:t>
            </a:r>
            <a:r>
              <a:rPr lang="th-TH" sz="950" dirty="0"/>
              <a:t> </a:t>
            </a:r>
            <a:r>
              <a:rPr lang="en-US" sz="950" dirty="0"/>
              <a:t>infra + financial  &gt;&gt;&gt; </a:t>
            </a:r>
            <a:r>
              <a:rPr lang="th-TH" sz="950" dirty="0"/>
              <a:t>เข้าหุ้น </a:t>
            </a:r>
            <a:r>
              <a:rPr lang="en-US" sz="950" dirty="0"/>
              <a:t>top 10, + essential sector / infra . </a:t>
            </a:r>
            <a:r>
              <a:rPr lang="en-US" sz="950" dirty="0" err="1"/>
              <a:t>ict</a:t>
            </a:r>
            <a:r>
              <a:rPr lang="en-US" sz="950" dirty="0"/>
              <a:t> bank  / </a:t>
            </a:r>
            <a:endParaRPr lang="th-TH" sz="950" dirty="0"/>
          </a:p>
          <a:p>
            <a:r>
              <a:rPr lang="en-US" sz="950" dirty="0"/>
              <a:t>Manufact + earnings </a:t>
            </a:r>
            <a:r>
              <a:rPr lang="th-TH" sz="950" dirty="0"/>
              <a:t>ฟื้น</a:t>
            </a:r>
            <a:r>
              <a:rPr lang="en-US" sz="950" dirty="0"/>
              <a:t> &gt;&gt;&gt;&gt;</a:t>
            </a:r>
            <a:r>
              <a:rPr lang="th-TH" sz="950" dirty="0"/>
              <a:t> เทียบ 3 วงจร </a:t>
            </a:r>
          </a:p>
        </p:txBody>
      </p:sp>
      <p:sp>
        <p:nvSpPr>
          <p:cNvPr id="4" name="Slide Number Placeholder 3">
            <a:extLst>
              <a:ext uri="{FF2B5EF4-FFF2-40B4-BE49-F238E27FC236}">
                <a16:creationId xmlns:a16="http://schemas.microsoft.com/office/drawing/2014/main" id="{3DED5535-8828-2418-BED8-8BE95BEEAE40}"/>
              </a:ext>
            </a:extLst>
          </p:cNvPr>
          <p:cNvSpPr>
            <a:spLocks noGrp="1"/>
          </p:cNvSpPr>
          <p:nvPr>
            <p:ph type="sldNum" sz="quarter" idx="10"/>
          </p:nvPr>
        </p:nvSpPr>
        <p:spPr/>
        <p:txBody>
          <a:bodyPr/>
          <a:lstStyle/>
          <a:p>
            <a:fld id="{2CD61325-C3CE-4DCC-9429-B8D45AC53B9F}" type="slidenum">
              <a:rPr lang="en-US" smtClean="0"/>
              <a:t>3</a:t>
            </a:fld>
            <a:endParaRPr lang="en-US"/>
          </a:p>
        </p:txBody>
      </p:sp>
    </p:spTree>
    <p:extLst>
      <p:ext uri="{BB962C8B-B14F-4D97-AF65-F5344CB8AC3E}">
        <p14:creationId xmlns:p14="http://schemas.microsoft.com/office/powerpoint/2010/main" val="28751948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BEC07-B796-FBF0-EC48-E64CC63144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781B8B-4C9C-0128-3F2A-081F2D1B0D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41D090-7278-53B1-530D-6B9EFC847460}"/>
              </a:ext>
            </a:extLst>
          </p:cNvPr>
          <p:cNvSpPr>
            <a:spLocks noGrp="1"/>
          </p:cNvSpPr>
          <p:nvPr>
            <p:ph type="body" idx="1"/>
          </p:nvPr>
        </p:nvSpPr>
        <p:spPr/>
        <p:txBody>
          <a:bodyPr/>
          <a:lstStyle/>
          <a:p>
            <a:r>
              <a:rPr lang="th-TH" sz="950" dirty="0"/>
              <a:t>10 ตัวหลักแรก แต่ละช่วง มีตัวไหนบ้าง แต่ละรอบ </a:t>
            </a:r>
            <a:r>
              <a:rPr lang="en-US" sz="950" dirty="0"/>
              <a:t>list</a:t>
            </a:r>
            <a:r>
              <a:rPr lang="th-TH" sz="950" dirty="0"/>
              <a:t> มา ---</a:t>
            </a:r>
            <a:r>
              <a:rPr lang="en-US" sz="950" dirty="0"/>
              <a:t> </a:t>
            </a:r>
            <a:r>
              <a:rPr lang="th-TH" sz="950" dirty="0"/>
              <a:t>ค่อยเติม ตัวใหม่เข้ามา </a:t>
            </a:r>
            <a:r>
              <a:rPr lang="en-US" sz="950" dirty="0"/>
              <a:t>&gt;&gt;&gt;</a:t>
            </a:r>
            <a:r>
              <a:rPr lang="th-TH" sz="950" dirty="0"/>
              <a:t> </a:t>
            </a:r>
            <a:r>
              <a:rPr lang="en-US" sz="950" dirty="0"/>
              <a:t>infra + financial  &gt;&gt;&gt; </a:t>
            </a:r>
            <a:r>
              <a:rPr lang="th-TH" sz="950" dirty="0"/>
              <a:t>เข้าหุ้น </a:t>
            </a:r>
            <a:r>
              <a:rPr lang="en-US" sz="950" dirty="0"/>
              <a:t>top 10, + essential sector / infra . </a:t>
            </a:r>
            <a:r>
              <a:rPr lang="en-US" sz="950" dirty="0" err="1"/>
              <a:t>ict</a:t>
            </a:r>
            <a:r>
              <a:rPr lang="en-US" sz="950" dirty="0"/>
              <a:t> bank  / </a:t>
            </a:r>
            <a:endParaRPr lang="th-TH" sz="950" dirty="0"/>
          </a:p>
          <a:p>
            <a:r>
              <a:rPr lang="en-US" sz="950" dirty="0"/>
              <a:t>Manufact + earnings </a:t>
            </a:r>
            <a:r>
              <a:rPr lang="th-TH" sz="950" dirty="0"/>
              <a:t>ฟื้น</a:t>
            </a:r>
            <a:r>
              <a:rPr lang="en-US" sz="950" dirty="0"/>
              <a:t> &gt;&gt;&gt;&gt;</a:t>
            </a:r>
            <a:r>
              <a:rPr lang="th-TH" sz="950" dirty="0"/>
              <a:t> เทียบ 3 วงจร </a:t>
            </a:r>
          </a:p>
        </p:txBody>
      </p:sp>
      <p:sp>
        <p:nvSpPr>
          <p:cNvPr id="4" name="Slide Number Placeholder 3">
            <a:extLst>
              <a:ext uri="{FF2B5EF4-FFF2-40B4-BE49-F238E27FC236}">
                <a16:creationId xmlns:a16="http://schemas.microsoft.com/office/drawing/2014/main" id="{3DED5535-8828-2418-BED8-8BE95BEEAE40}"/>
              </a:ext>
            </a:extLst>
          </p:cNvPr>
          <p:cNvSpPr>
            <a:spLocks noGrp="1"/>
          </p:cNvSpPr>
          <p:nvPr>
            <p:ph type="sldNum" sz="quarter" idx="10"/>
          </p:nvPr>
        </p:nvSpPr>
        <p:spPr/>
        <p:txBody>
          <a:bodyPr/>
          <a:lstStyle/>
          <a:p>
            <a:fld id="{2CD61325-C3CE-4DCC-9429-B8D45AC53B9F}" type="slidenum">
              <a:rPr lang="en-US" smtClean="0"/>
              <a:t>4</a:t>
            </a:fld>
            <a:endParaRPr lang="en-US"/>
          </a:p>
        </p:txBody>
      </p:sp>
    </p:spTree>
    <p:extLst>
      <p:ext uri="{BB962C8B-B14F-4D97-AF65-F5344CB8AC3E}">
        <p14:creationId xmlns:p14="http://schemas.microsoft.com/office/powerpoint/2010/main" val="4317922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CD61325-C3CE-4DCC-9429-B8D45AC53B9F}" type="slidenum">
              <a:rPr lang="en-US" smtClean="0"/>
              <a:t>5</a:t>
            </a:fld>
            <a:endParaRPr lang="en-US"/>
          </a:p>
        </p:txBody>
      </p:sp>
    </p:spTree>
    <p:extLst>
      <p:ext uri="{BB962C8B-B14F-4D97-AF65-F5344CB8AC3E}">
        <p14:creationId xmlns:p14="http://schemas.microsoft.com/office/powerpoint/2010/main" val="8372004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2840568"/>
            <a:ext cx="5829300" cy="1960033"/>
          </a:xfrm>
        </p:spPr>
        <p:txBody>
          <a:bodyPr/>
          <a:lstStyle/>
          <a:p>
            <a:r>
              <a:rPr lang="en-US"/>
              <a:t>Click to edit Master title style</a:t>
            </a:r>
          </a:p>
        </p:txBody>
      </p:sp>
      <p:sp>
        <p:nvSpPr>
          <p:cNvPr id="3" name="Subtitle 2"/>
          <p:cNvSpPr>
            <a:spLocks noGrp="1"/>
          </p:cNvSpPr>
          <p:nvPr>
            <p:ph type="subTitle" idx="1"/>
          </p:nvPr>
        </p:nvSpPr>
        <p:spPr>
          <a:xfrm>
            <a:off x="1028700" y="5181600"/>
            <a:ext cx="4800600" cy="23368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8047A014-A296-4BC7-B627-8AC2C71DC79A}" type="datetime1">
              <a:rPr lang="en-US" smtClean="0"/>
              <a:t>28-Mar-26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452F14-DDA8-46AC-9FFA-A749C5B763D3}" type="slidenum">
              <a:rPr lang="en-US" smtClean="0"/>
              <a:t>‹#›</a:t>
            </a:fld>
            <a:endParaRPr lang="en-US"/>
          </a:p>
        </p:txBody>
      </p:sp>
    </p:spTree>
    <p:extLst>
      <p:ext uri="{BB962C8B-B14F-4D97-AF65-F5344CB8AC3E}">
        <p14:creationId xmlns:p14="http://schemas.microsoft.com/office/powerpoint/2010/main" val="958133076"/>
      </p:ext>
    </p:extLst>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7CDB215-8979-4C4B-8BFF-594D56AA267D}" type="datetime1">
              <a:rPr lang="en-US" smtClean="0"/>
              <a:t>28-Mar-26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452F14-DDA8-46AC-9FFA-A749C5B763D3}" type="slidenum">
              <a:rPr lang="en-US" smtClean="0"/>
              <a:t>‹#›</a:t>
            </a:fld>
            <a:endParaRPr lang="en-US"/>
          </a:p>
        </p:txBody>
      </p:sp>
    </p:spTree>
    <p:extLst>
      <p:ext uri="{BB962C8B-B14F-4D97-AF65-F5344CB8AC3E}">
        <p14:creationId xmlns:p14="http://schemas.microsoft.com/office/powerpoint/2010/main" val="2975940730"/>
      </p:ext>
    </p:extLst>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41735" y="5875867"/>
            <a:ext cx="5829300" cy="1816100"/>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541735" y="3875618"/>
            <a:ext cx="5829300" cy="2000249"/>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BCDC7C3-8DAC-42B5-992E-67718E4C44E5}" type="datetime1">
              <a:rPr lang="en-US" smtClean="0"/>
              <a:t>28-Mar-26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452F14-DDA8-46AC-9FFA-A749C5B763D3}" type="slidenum">
              <a:rPr lang="en-US" smtClean="0"/>
              <a:t>‹#›</a:t>
            </a:fld>
            <a:endParaRPr lang="en-US"/>
          </a:p>
        </p:txBody>
      </p:sp>
    </p:spTree>
    <p:extLst>
      <p:ext uri="{BB962C8B-B14F-4D97-AF65-F5344CB8AC3E}">
        <p14:creationId xmlns:p14="http://schemas.microsoft.com/office/powerpoint/2010/main" val="4183853049"/>
      </p:ext>
    </p:extLst>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57175" y="2844800"/>
            <a:ext cx="2257425" cy="804545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628900" y="2844800"/>
            <a:ext cx="2257425" cy="804545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9922C08-459E-4CD8-B5EB-31D4A04C5811}" type="datetime1">
              <a:rPr lang="en-US" smtClean="0"/>
              <a:t>28-Mar-26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452F14-DDA8-46AC-9FFA-A749C5B763D3}" type="slidenum">
              <a:rPr lang="en-US" smtClean="0"/>
              <a:t>‹#›</a:t>
            </a:fld>
            <a:endParaRPr lang="en-US"/>
          </a:p>
        </p:txBody>
      </p:sp>
    </p:spTree>
    <p:extLst>
      <p:ext uri="{BB962C8B-B14F-4D97-AF65-F5344CB8AC3E}">
        <p14:creationId xmlns:p14="http://schemas.microsoft.com/office/powerpoint/2010/main" val="3487619625"/>
      </p:ext>
    </p:extLst>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42900" y="366184"/>
            <a:ext cx="6172200" cy="1524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42900" y="2046817"/>
            <a:ext cx="3030141" cy="8530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42900" y="2899833"/>
            <a:ext cx="3030141" cy="526838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483769" y="2046817"/>
            <a:ext cx="3031331" cy="8530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483769" y="2899833"/>
            <a:ext cx="3031331" cy="526838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52B8B4D-A61B-4297-B86B-E166B5F5EE8D}" type="datetime1">
              <a:rPr lang="en-US" smtClean="0"/>
              <a:t>28-Mar-26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0452F14-DDA8-46AC-9FFA-A749C5B763D3}" type="slidenum">
              <a:rPr lang="en-US" smtClean="0"/>
              <a:t>‹#›</a:t>
            </a:fld>
            <a:endParaRPr lang="en-US"/>
          </a:p>
        </p:txBody>
      </p:sp>
    </p:spTree>
    <p:extLst>
      <p:ext uri="{BB962C8B-B14F-4D97-AF65-F5344CB8AC3E}">
        <p14:creationId xmlns:p14="http://schemas.microsoft.com/office/powerpoint/2010/main" val="633737455"/>
      </p:ext>
    </p:extLst>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01687B9-2387-4B48-9744-8FAC5A1118EE}" type="datetime1">
              <a:rPr lang="en-US" smtClean="0"/>
              <a:t>28-Mar-26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0452F14-DDA8-46AC-9FFA-A749C5B763D3}" type="slidenum">
              <a:rPr lang="en-US" smtClean="0"/>
              <a:t>‹#›</a:t>
            </a:fld>
            <a:endParaRPr lang="en-US"/>
          </a:p>
        </p:txBody>
      </p:sp>
    </p:spTree>
    <p:extLst>
      <p:ext uri="{BB962C8B-B14F-4D97-AF65-F5344CB8AC3E}">
        <p14:creationId xmlns:p14="http://schemas.microsoft.com/office/powerpoint/2010/main" val="1819670914"/>
      </p:ext>
    </p:extLst>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B5B9114-7087-471F-AF84-A0410930461A}" type="datetime1">
              <a:rPr lang="en-US" smtClean="0"/>
              <a:t>28-Mar-26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0452F14-DDA8-46AC-9FFA-A749C5B763D3}" type="slidenum">
              <a:rPr lang="en-US" smtClean="0"/>
              <a:t>‹#›</a:t>
            </a:fld>
            <a:endParaRPr lang="en-US"/>
          </a:p>
        </p:txBody>
      </p:sp>
    </p:spTree>
    <p:extLst>
      <p:ext uri="{BB962C8B-B14F-4D97-AF65-F5344CB8AC3E}">
        <p14:creationId xmlns:p14="http://schemas.microsoft.com/office/powerpoint/2010/main" val="983966796"/>
      </p:ext>
    </p:extLst>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42900" y="364067"/>
            <a:ext cx="2256235" cy="154940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2681287" y="364067"/>
            <a:ext cx="3833813" cy="7804151"/>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42900" y="1913467"/>
            <a:ext cx="2256235" cy="625475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5F0D1AB-4ECA-4B83-BD72-A342722AC28A}" type="datetime1">
              <a:rPr lang="en-US" smtClean="0"/>
              <a:t>28-Mar-26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452F14-DDA8-46AC-9FFA-A749C5B763D3}" type="slidenum">
              <a:rPr lang="en-US" smtClean="0"/>
              <a:t>‹#›</a:t>
            </a:fld>
            <a:endParaRPr lang="en-US"/>
          </a:p>
        </p:txBody>
      </p:sp>
    </p:spTree>
    <p:extLst>
      <p:ext uri="{BB962C8B-B14F-4D97-AF65-F5344CB8AC3E}">
        <p14:creationId xmlns:p14="http://schemas.microsoft.com/office/powerpoint/2010/main" val="544862049"/>
      </p:ext>
    </p:extLst>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44216" y="6400800"/>
            <a:ext cx="4114800" cy="755651"/>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344216" y="817033"/>
            <a:ext cx="41148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344216" y="7156451"/>
            <a:ext cx="4114800" cy="107314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AE8CDB0-7FCC-4FCC-8459-EB9C4EEE4A94}" type="datetime1">
              <a:rPr lang="en-US" smtClean="0"/>
              <a:t>28-Mar-26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452F14-DDA8-46AC-9FFA-A749C5B763D3}" type="slidenum">
              <a:rPr lang="en-US" smtClean="0"/>
              <a:t>‹#›</a:t>
            </a:fld>
            <a:endParaRPr lang="en-US"/>
          </a:p>
        </p:txBody>
      </p:sp>
    </p:spTree>
    <p:extLst>
      <p:ext uri="{BB962C8B-B14F-4D97-AF65-F5344CB8AC3E}">
        <p14:creationId xmlns:p14="http://schemas.microsoft.com/office/powerpoint/2010/main" val="4174542708"/>
      </p:ext>
    </p:extLst>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0A88985-0A44-49F4-87FE-C728C8ADB646}" type="datetime1">
              <a:rPr lang="en-US" smtClean="0"/>
              <a:t>28-Mar-26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452F14-DDA8-46AC-9FFA-A749C5B763D3}" type="slidenum">
              <a:rPr lang="en-US" smtClean="0"/>
              <a:t>‹#›</a:t>
            </a:fld>
            <a:endParaRPr lang="en-US"/>
          </a:p>
        </p:txBody>
      </p:sp>
    </p:spTree>
    <p:extLst>
      <p:ext uri="{BB962C8B-B14F-4D97-AF65-F5344CB8AC3E}">
        <p14:creationId xmlns:p14="http://schemas.microsoft.com/office/powerpoint/2010/main" val="2371311106"/>
      </p:ext>
    </p:extLst>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729037" y="488951"/>
            <a:ext cx="1157288" cy="104013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57175" y="488951"/>
            <a:ext cx="3357563" cy="104013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C6D9C90-B8D6-4F33-9BC1-9F057637A2EC}" type="datetime1">
              <a:rPr lang="en-US" smtClean="0"/>
              <a:t>28-Mar-26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452F14-DDA8-46AC-9FFA-A749C5B763D3}" type="slidenum">
              <a:rPr lang="en-US" smtClean="0"/>
              <a:t>‹#›</a:t>
            </a:fld>
            <a:endParaRPr lang="en-US"/>
          </a:p>
        </p:txBody>
      </p:sp>
    </p:spTree>
    <p:extLst>
      <p:ext uri="{BB962C8B-B14F-4D97-AF65-F5344CB8AC3E}">
        <p14:creationId xmlns:p14="http://schemas.microsoft.com/office/powerpoint/2010/main" val="18977486"/>
      </p:ext>
    </p:extLst>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2900" y="366184"/>
            <a:ext cx="6172200" cy="1524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42900" y="2133601"/>
            <a:ext cx="6172200" cy="603461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42900" y="8475134"/>
            <a:ext cx="1600200" cy="486833"/>
          </a:xfrm>
          <a:prstGeom prst="rect">
            <a:avLst/>
          </a:prstGeom>
        </p:spPr>
        <p:txBody>
          <a:bodyPr vert="horz" lIns="91440" tIns="45720" rIns="91440" bIns="45720" rtlCol="0" anchor="ctr"/>
          <a:lstStyle>
            <a:lvl1pPr algn="l">
              <a:defRPr sz="1200">
                <a:solidFill>
                  <a:schemeClr val="tx1">
                    <a:tint val="75000"/>
                  </a:schemeClr>
                </a:solidFill>
              </a:defRPr>
            </a:lvl1pPr>
          </a:lstStyle>
          <a:p>
            <a:fld id="{0A8762D2-009C-48A5-857B-14D015A0005E}" type="datetime1">
              <a:rPr lang="en-US" smtClean="0"/>
              <a:t>28-Mar-26</a:t>
            </a:fld>
            <a:endParaRPr lang="en-US"/>
          </a:p>
        </p:txBody>
      </p:sp>
      <p:sp>
        <p:nvSpPr>
          <p:cNvPr id="5" name="Footer Placeholder 4"/>
          <p:cNvSpPr>
            <a:spLocks noGrp="1"/>
          </p:cNvSpPr>
          <p:nvPr>
            <p:ph type="ftr" sz="quarter" idx="3"/>
          </p:nvPr>
        </p:nvSpPr>
        <p:spPr>
          <a:xfrm>
            <a:off x="2343150" y="8475134"/>
            <a:ext cx="2171700" cy="486833"/>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914900" y="8475134"/>
            <a:ext cx="1600200" cy="486833"/>
          </a:xfrm>
          <a:prstGeom prst="rect">
            <a:avLst/>
          </a:prstGeom>
        </p:spPr>
        <p:txBody>
          <a:bodyPr vert="horz" lIns="91440" tIns="45720" rIns="91440" bIns="45720" rtlCol="0" anchor="ctr"/>
          <a:lstStyle>
            <a:lvl1pPr algn="r">
              <a:defRPr sz="1200">
                <a:solidFill>
                  <a:schemeClr val="tx1">
                    <a:tint val="75000"/>
                  </a:schemeClr>
                </a:solidFill>
              </a:defRPr>
            </a:lvl1pPr>
          </a:lstStyle>
          <a:p>
            <a:fld id="{10452F14-DDA8-46AC-9FFA-A749C5B763D3}" type="slidenum">
              <a:rPr lang="en-US" smtClean="0"/>
              <a:t>‹#›</a:t>
            </a:fld>
            <a:endParaRPr lang="en-US"/>
          </a:p>
        </p:txBody>
      </p:sp>
      <p:sp>
        <p:nvSpPr>
          <p:cNvPr id="7" name="TextBox 6">
            <a:extLst>
              <a:ext uri="{FF2B5EF4-FFF2-40B4-BE49-F238E27FC236}">
                <a16:creationId xmlns:a16="http://schemas.microsoft.com/office/drawing/2014/main" id="{5A981C10-AEFA-B2EB-219B-8A42B27A49D4}"/>
              </a:ext>
            </a:extLst>
          </p:cNvPr>
          <p:cNvSpPr txBox="1"/>
          <p:nvPr userDrawn="1"/>
        </p:nvSpPr>
        <p:spPr>
          <a:xfrm>
            <a:off x="5373216" y="8821052"/>
            <a:ext cx="1440160" cy="215444"/>
          </a:xfrm>
          <a:prstGeom prst="rect">
            <a:avLst/>
          </a:prstGeom>
          <a:noFill/>
        </p:spPr>
        <p:txBody>
          <a:bodyPr wrap="square">
            <a:spAutoFit/>
          </a:bodyPr>
          <a:lstStyle/>
          <a:p>
            <a:r>
              <a:rPr lang="en-US" sz="800" b="0" dirty="0">
                <a:solidFill>
                  <a:schemeClr val="bg1">
                    <a:lumMod val="50000"/>
                  </a:schemeClr>
                </a:solidFill>
                <a:effectLst/>
                <a:latin typeface="Arial" panose="020B0604020202020204" pitchFamily="34" charset="0"/>
                <a:ea typeface="Times New Roman" panose="02020603050405020304" pitchFamily="18" charset="0"/>
                <a:cs typeface="Arial" panose="020B0604020202020204" pitchFamily="34" charset="0"/>
              </a:rPr>
              <a:t>      Wealth Strategy </a:t>
            </a:r>
            <a:fld id="{10452F14-DDA8-46AC-9FFA-A749C5B763D3}" type="slidenum">
              <a:rPr lang="en-US" sz="800" b="0" smtClean="0">
                <a:solidFill>
                  <a:schemeClr val="bg1">
                    <a:lumMod val="50000"/>
                  </a:schemeClr>
                </a:solidFill>
                <a:latin typeface="Arial" panose="020B0604020202020204" pitchFamily="34" charset="0"/>
                <a:cs typeface="Arial" panose="020B0604020202020204" pitchFamily="34" charset="0"/>
              </a:rPr>
              <a:pPr/>
              <a:t>‹#›</a:t>
            </a:fld>
            <a:r>
              <a:rPr lang="en-US" sz="800" b="0" dirty="0">
                <a:solidFill>
                  <a:schemeClr val="bg1">
                    <a:lumMod val="50000"/>
                  </a:schemeClr>
                </a:solidFill>
                <a:effectLst/>
                <a:latin typeface="Arial" panose="020B0604020202020204" pitchFamily="34" charset="0"/>
                <a:ea typeface="Times New Roman" panose="02020603050405020304" pitchFamily="18" charset="0"/>
                <a:cs typeface="Arial" panose="020B0604020202020204" pitchFamily="34" charset="0"/>
              </a:rPr>
              <a:t> </a:t>
            </a:r>
            <a:endParaRPr lang="en-US" sz="800" b="0" dirty="0">
              <a:solidFill>
                <a:schemeClr val="bg1">
                  <a:lumMod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821983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80" userDrawn="1">
          <p15:clr>
            <a:srgbClr val="F26B43"/>
          </p15:clr>
        </p15:guide>
        <p15:guide id="2" pos="2160"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png"/><Relationship Id="rId7" Type="http://schemas.openxmlformats.org/officeDocument/2006/relationships/image" Target="../media/image4.emf"/><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emf"/><Relationship Id="rId5" Type="http://schemas.openxmlformats.org/officeDocument/2006/relationships/image" Target="../media/image2.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png"/><Relationship Id="rId7" Type="http://schemas.openxmlformats.org/officeDocument/2006/relationships/image" Target="../media/image4.emf"/><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3.emf"/><Relationship Id="rId5" Type="http://schemas.openxmlformats.org/officeDocument/2006/relationships/image" Target="../media/image2.png"/><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8" Type="http://schemas.openxmlformats.org/officeDocument/2006/relationships/image" Target="../media/image8.emf"/><Relationship Id="rId3" Type="http://schemas.openxmlformats.org/officeDocument/2006/relationships/image" Target="../media/image1.png"/><Relationship Id="rId7" Type="http://schemas.openxmlformats.org/officeDocument/2006/relationships/image" Target="../media/image7.emf"/><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microsoft.com/office/2007/relationships/hdphoto" Target="../media/hdphoto2.wdp"/><Relationship Id="rId5" Type="http://schemas.openxmlformats.org/officeDocument/2006/relationships/image" Target="../media/image6.png"/><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8" Type="http://schemas.openxmlformats.org/officeDocument/2006/relationships/image" Target="../media/image10.emf"/><Relationship Id="rId3" Type="http://schemas.openxmlformats.org/officeDocument/2006/relationships/image" Target="../media/image1.png"/><Relationship Id="rId7" Type="http://schemas.openxmlformats.org/officeDocument/2006/relationships/image" Target="../media/image9.emf"/><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microsoft.com/office/2007/relationships/hdphoto" Target="../media/hdphoto2.wdp"/><Relationship Id="rId5" Type="http://schemas.openxmlformats.org/officeDocument/2006/relationships/image" Target="../media/image6.png"/><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emf"/></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9AD5D-75DD-7C3E-4E12-95FE9E6DA851}"/>
            </a:ext>
          </a:extLst>
        </p:cNvPr>
        <p:cNvGrpSpPr/>
        <p:nvPr/>
      </p:nvGrpSpPr>
      <p:grpSpPr>
        <a:xfrm>
          <a:off x="0" y="0"/>
          <a:ext cx="0" cy="0"/>
          <a:chOff x="0" y="0"/>
          <a:chExt cx="0" cy="0"/>
        </a:xfrm>
      </p:grpSpPr>
      <p:pic>
        <p:nvPicPr>
          <p:cNvPr id="5" name="Picture 4" descr="Watercolor of trees in the fog&#10;&#10;Description automatically generated">
            <a:extLst>
              <a:ext uri="{FF2B5EF4-FFF2-40B4-BE49-F238E27FC236}">
                <a16:creationId xmlns:a16="http://schemas.microsoft.com/office/drawing/2014/main" id="{FB46D737-2FF6-5661-E106-CBC8C1117565}"/>
              </a:ext>
            </a:extLst>
          </p:cNvPr>
          <p:cNvPicPr>
            <a:picLocks noChangeAspect="1"/>
          </p:cNvPicPr>
          <p:nvPr/>
        </p:nvPicPr>
        <p:blipFill rotWithShape="1">
          <a:blip r:embed="rId3" cstate="print">
            <a:duotone>
              <a:schemeClr val="accent4">
                <a:shade val="45000"/>
                <a:satMod val="135000"/>
              </a:schemeClr>
              <a:prstClr val="white"/>
            </a:duotone>
            <a:alphaModFix/>
            <a:extLst>
              <a:ext uri="{BEBA8EAE-BF5A-486C-A8C5-ECC9F3942E4B}">
                <a14:imgProps xmlns:a14="http://schemas.microsoft.com/office/drawing/2010/main">
                  <a14:imgLayer r:embed="rId4">
                    <a14:imgEffect>
                      <a14:brightnessContrast bright="60000" contrast="40000"/>
                    </a14:imgEffect>
                  </a14:imgLayer>
                </a14:imgProps>
              </a:ext>
              <a:ext uri="{28A0092B-C50C-407E-A947-70E740481C1C}">
                <a14:useLocalDpi xmlns:a14="http://schemas.microsoft.com/office/drawing/2010/main" val="0"/>
              </a:ext>
            </a:extLst>
          </a:blip>
          <a:srcRect l="56413" t="2666" r="8181" b="3959"/>
          <a:stretch/>
        </p:blipFill>
        <p:spPr>
          <a:xfrm>
            <a:off x="0" y="0"/>
            <a:ext cx="6858000" cy="9144000"/>
          </a:xfrm>
          <a:prstGeom prst="rect">
            <a:avLst/>
          </a:prstGeom>
        </p:spPr>
      </p:pic>
      <p:sp>
        <p:nvSpPr>
          <p:cNvPr id="19" name="TextBox 18">
            <a:extLst>
              <a:ext uri="{FF2B5EF4-FFF2-40B4-BE49-F238E27FC236}">
                <a16:creationId xmlns:a16="http://schemas.microsoft.com/office/drawing/2014/main" id="{01D3EDA3-679C-BA8B-9EDE-9A31378F2861}"/>
              </a:ext>
            </a:extLst>
          </p:cNvPr>
          <p:cNvSpPr txBox="1"/>
          <p:nvPr/>
        </p:nvSpPr>
        <p:spPr>
          <a:xfrm>
            <a:off x="658256" y="2649508"/>
            <a:ext cx="720080" cy="230832"/>
          </a:xfrm>
          <a:prstGeom prst="rect">
            <a:avLst/>
          </a:prstGeom>
          <a:noFill/>
        </p:spPr>
        <p:txBody>
          <a:bodyPr wrap="square" rtlCol="0">
            <a:spAutoFit/>
          </a:bodyPr>
          <a:lstStyle/>
          <a:p>
            <a:r>
              <a:rPr lang="th-TH" sz="900" dirty="0">
                <a:solidFill>
                  <a:schemeClr val="bg1"/>
                </a:solidFill>
                <a:latin typeface="BLS Text" panose="00000500000000000000" pitchFamily="2" charset="-34"/>
                <a:cs typeface="BLS Text" panose="00000500000000000000" pitchFamily="2" charset="-34"/>
              </a:rPr>
              <a:t>12 ธ.ค. </a:t>
            </a:r>
          </a:p>
        </p:txBody>
      </p:sp>
      <p:sp>
        <p:nvSpPr>
          <p:cNvPr id="20" name="TextBox 19">
            <a:extLst>
              <a:ext uri="{FF2B5EF4-FFF2-40B4-BE49-F238E27FC236}">
                <a16:creationId xmlns:a16="http://schemas.microsoft.com/office/drawing/2014/main" id="{FC28B75D-C3AA-F0C5-6200-83DB873637CB}"/>
              </a:ext>
            </a:extLst>
          </p:cNvPr>
          <p:cNvSpPr txBox="1"/>
          <p:nvPr/>
        </p:nvSpPr>
        <p:spPr>
          <a:xfrm>
            <a:off x="531946" y="2641334"/>
            <a:ext cx="904643"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ราชกิจจาประกาศยุบสภา</a:t>
            </a:r>
          </a:p>
        </p:txBody>
      </p:sp>
      <p:sp>
        <p:nvSpPr>
          <p:cNvPr id="21" name="TextBox 20">
            <a:extLst>
              <a:ext uri="{FF2B5EF4-FFF2-40B4-BE49-F238E27FC236}">
                <a16:creationId xmlns:a16="http://schemas.microsoft.com/office/drawing/2014/main" id="{C1FE4F51-5E04-9485-3236-75E85E050C64}"/>
              </a:ext>
            </a:extLst>
          </p:cNvPr>
          <p:cNvSpPr txBox="1"/>
          <p:nvPr/>
        </p:nvSpPr>
        <p:spPr>
          <a:xfrm>
            <a:off x="1497212" y="2649508"/>
            <a:ext cx="779660" cy="230832"/>
          </a:xfrm>
          <a:prstGeom prst="rect">
            <a:avLst/>
          </a:prstGeom>
          <a:noFill/>
        </p:spPr>
        <p:txBody>
          <a:bodyPr wrap="square" rtlCol="0">
            <a:spAutoFit/>
          </a:bodyPr>
          <a:lstStyle/>
          <a:p>
            <a:r>
              <a:rPr lang="th-TH" sz="900" dirty="0">
                <a:solidFill>
                  <a:schemeClr val="bg1"/>
                </a:solidFill>
                <a:latin typeface="BLS Text" panose="00000500000000000000" pitchFamily="2" charset="-34"/>
                <a:cs typeface="BLS Text" panose="00000500000000000000" pitchFamily="2" charset="-34"/>
              </a:rPr>
              <a:t>13-17 ธ.ค.</a:t>
            </a:r>
          </a:p>
        </p:txBody>
      </p:sp>
      <p:sp>
        <p:nvSpPr>
          <p:cNvPr id="25" name="TextBox 24">
            <a:extLst>
              <a:ext uri="{FF2B5EF4-FFF2-40B4-BE49-F238E27FC236}">
                <a16:creationId xmlns:a16="http://schemas.microsoft.com/office/drawing/2014/main" id="{D3C2255B-69C2-3386-D320-629A8A4034DA}"/>
              </a:ext>
            </a:extLst>
          </p:cNvPr>
          <p:cNvSpPr txBox="1"/>
          <p:nvPr/>
        </p:nvSpPr>
        <p:spPr>
          <a:xfrm>
            <a:off x="2319090" y="2649508"/>
            <a:ext cx="779660" cy="230832"/>
          </a:xfrm>
          <a:prstGeom prst="rect">
            <a:avLst/>
          </a:prstGeom>
          <a:noFill/>
        </p:spPr>
        <p:txBody>
          <a:bodyPr wrap="square" rtlCol="0">
            <a:spAutoFit/>
          </a:bodyPr>
          <a:lstStyle/>
          <a:p>
            <a:r>
              <a:rPr lang="th-TH" sz="900" dirty="0">
                <a:solidFill>
                  <a:schemeClr val="bg1"/>
                </a:solidFill>
                <a:latin typeface="BLS Text" panose="00000500000000000000" pitchFamily="2" charset="-34"/>
                <a:cs typeface="BLS Text" panose="00000500000000000000" pitchFamily="2" charset="-34"/>
              </a:rPr>
              <a:t>20-28 ธ.ค.</a:t>
            </a:r>
          </a:p>
        </p:txBody>
      </p:sp>
      <p:sp>
        <p:nvSpPr>
          <p:cNvPr id="26" name="TextBox 25">
            <a:extLst>
              <a:ext uri="{FF2B5EF4-FFF2-40B4-BE49-F238E27FC236}">
                <a16:creationId xmlns:a16="http://schemas.microsoft.com/office/drawing/2014/main" id="{5999F6F0-82E9-12DE-4CF8-661B374D7BDF}"/>
              </a:ext>
            </a:extLst>
          </p:cNvPr>
          <p:cNvSpPr txBox="1"/>
          <p:nvPr/>
        </p:nvSpPr>
        <p:spPr>
          <a:xfrm>
            <a:off x="3212976" y="2649508"/>
            <a:ext cx="779660" cy="230832"/>
          </a:xfrm>
          <a:prstGeom prst="rect">
            <a:avLst/>
          </a:prstGeom>
          <a:noFill/>
        </p:spPr>
        <p:txBody>
          <a:bodyPr wrap="square" rtlCol="0">
            <a:spAutoFit/>
          </a:bodyPr>
          <a:lstStyle/>
          <a:p>
            <a:r>
              <a:rPr lang="th-TH" sz="900" dirty="0">
                <a:solidFill>
                  <a:schemeClr val="bg1"/>
                </a:solidFill>
                <a:latin typeface="BLS Text" panose="00000500000000000000" pitchFamily="2" charset="-34"/>
                <a:cs typeface="BLS Text" panose="00000500000000000000" pitchFamily="2" charset="-34"/>
              </a:rPr>
              <a:t>8 ก.พ.</a:t>
            </a:r>
          </a:p>
        </p:txBody>
      </p:sp>
      <p:sp>
        <p:nvSpPr>
          <p:cNvPr id="27" name="TextBox 26">
            <a:extLst>
              <a:ext uri="{FF2B5EF4-FFF2-40B4-BE49-F238E27FC236}">
                <a16:creationId xmlns:a16="http://schemas.microsoft.com/office/drawing/2014/main" id="{F8D73585-35FB-F0D5-2763-F6BB3312E8F0}"/>
              </a:ext>
            </a:extLst>
          </p:cNvPr>
          <p:cNvSpPr txBox="1"/>
          <p:nvPr/>
        </p:nvSpPr>
        <p:spPr>
          <a:xfrm>
            <a:off x="3872662" y="2653338"/>
            <a:ext cx="878577" cy="230832"/>
          </a:xfrm>
          <a:prstGeom prst="rect">
            <a:avLst/>
          </a:prstGeom>
          <a:noFill/>
        </p:spPr>
        <p:txBody>
          <a:bodyPr wrap="square" rtlCol="0">
            <a:spAutoFit/>
          </a:bodyPr>
          <a:lstStyle/>
          <a:p>
            <a:r>
              <a:rPr lang="th-TH" sz="900" dirty="0">
                <a:solidFill>
                  <a:schemeClr val="bg1"/>
                </a:solidFill>
                <a:latin typeface="BLS Text" panose="00000500000000000000" pitchFamily="2" charset="-34"/>
                <a:cs typeface="BLS Text" panose="00000500000000000000" pitchFamily="2" charset="-34"/>
              </a:rPr>
              <a:t>มี.ค.- ต้น เม.ย.</a:t>
            </a:r>
          </a:p>
        </p:txBody>
      </p:sp>
      <p:sp>
        <p:nvSpPr>
          <p:cNvPr id="28" name="TextBox 27">
            <a:extLst>
              <a:ext uri="{FF2B5EF4-FFF2-40B4-BE49-F238E27FC236}">
                <a16:creationId xmlns:a16="http://schemas.microsoft.com/office/drawing/2014/main" id="{4CEC07A3-D6A0-E1B2-370E-DB8B4F43D9B9}"/>
              </a:ext>
            </a:extLst>
          </p:cNvPr>
          <p:cNvSpPr txBox="1"/>
          <p:nvPr/>
        </p:nvSpPr>
        <p:spPr>
          <a:xfrm>
            <a:off x="4731749" y="2655699"/>
            <a:ext cx="779660" cy="2308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เม.ย.</a:t>
            </a:r>
          </a:p>
        </p:txBody>
      </p:sp>
      <p:sp>
        <p:nvSpPr>
          <p:cNvPr id="29" name="TextBox 28">
            <a:extLst>
              <a:ext uri="{FF2B5EF4-FFF2-40B4-BE49-F238E27FC236}">
                <a16:creationId xmlns:a16="http://schemas.microsoft.com/office/drawing/2014/main" id="{3010FF72-72AB-A1E4-8365-3636CBE05B6A}"/>
              </a:ext>
            </a:extLst>
          </p:cNvPr>
          <p:cNvSpPr txBox="1"/>
          <p:nvPr/>
        </p:nvSpPr>
        <p:spPr>
          <a:xfrm>
            <a:off x="5511409" y="2649965"/>
            <a:ext cx="779660" cy="2308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พ.ค.</a:t>
            </a:r>
          </a:p>
        </p:txBody>
      </p:sp>
      <p:sp>
        <p:nvSpPr>
          <p:cNvPr id="30" name="TextBox 29">
            <a:extLst>
              <a:ext uri="{FF2B5EF4-FFF2-40B4-BE49-F238E27FC236}">
                <a16:creationId xmlns:a16="http://schemas.microsoft.com/office/drawing/2014/main" id="{5E822032-D7A4-8CF4-B820-3F60B01D58F8}"/>
              </a:ext>
            </a:extLst>
          </p:cNvPr>
          <p:cNvSpPr txBox="1"/>
          <p:nvPr/>
        </p:nvSpPr>
        <p:spPr>
          <a:xfrm>
            <a:off x="1484784" y="2641334"/>
            <a:ext cx="720080"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ประกาศวันเลือกตั้ง</a:t>
            </a:r>
          </a:p>
        </p:txBody>
      </p:sp>
      <p:sp>
        <p:nvSpPr>
          <p:cNvPr id="32" name="TextBox 31">
            <a:extLst>
              <a:ext uri="{FF2B5EF4-FFF2-40B4-BE49-F238E27FC236}">
                <a16:creationId xmlns:a16="http://schemas.microsoft.com/office/drawing/2014/main" id="{745AAF70-D983-7504-39C7-037FE66D73A6}"/>
              </a:ext>
            </a:extLst>
          </p:cNvPr>
          <p:cNvSpPr txBox="1"/>
          <p:nvPr/>
        </p:nvSpPr>
        <p:spPr>
          <a:xfrm>
            <a:off x="2276872" y="2637439"/>
            <a:ext cx="779660"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พรรคส่งผู้สมัคร ส.ส.</a:t>
            </a:r>
          </a:p>
        </p:txBody>
      </p:sp>
      <p:sp>
        <p:nvSpPr>
          <p:cNvPr id="34" name="TextBox 33">
            <a:extLst>
              <a:ext uri="{FF2B5EF4-FFF2-40B4-BE49-F238E27FC236}">
                <a16:creationId xmlns:a16="http://schemas.microsoft.com/office/drawing/2014/main" id="{7E062017-FAEE-96BF-D26F-89DCC0880C8E}"/>
              </a:ext>
            </a:extLst>
          </p:cNvPr>
          <p:cNvSpPr txBox="1"/>
          <p:nvPr/>
        </p:nvSpPr>
        <p:spPr>
          <a:xfrm>
            <a:off x="3072457" y="2661863"/>
            <a:ext cx="779660" cy="2308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เลือกตั้ง</a:t>
            </a:r>
          </a:p>
        </p:txBody>
      </p:sp>
      <p:sp>
        <p:nvSpPr>
          <p:cNvPr id="35" name="TextBox 34">
            <a:extLst>
              <a:ext uri="{FF2B5EF4-FFF2-40B4-BE49-F238E27FC236}">
                <a16:creationId xmlns:a16="http://schemas.microsoft.com/office/drawing/2014/main" id="{3B782CAF-F939-A52B-3801-9742737BB1B9}"/>
              </a:ext>
            </a:extLst>
          </p:cNvPr>
          <p:cNvSpPr txBox="1"/>
          <p:nvPr/>
        </p:nvSpPr>
        <p:spPr>
          <a:xfrm>
            <a:off x="3810726" y="2667080"/>
            <a:ext cx="878577"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ประกาศ ส.ส. อย่างทางการ</a:t>
            </a:r>
          </a:p>
        </p:txBody>
      </p:sp>
      <p:sp>
        <p:nvSpPr>
          <p:cNvPr id="36" name="TextBox 35">
            <a:extLst>
              <a:ext uri="{FF2B5EF4-FFF2-40B4-BE49-F238E27FC236}">
                <a16:creationId xmlns:a16="http://schemas.microsoft.com/office/drawing/2014/main" id="{1A9E9AAC-6A37-023B-CB7D-D641133919A7}"/>
              </a:ext>
            </a:extLst>
          </p:cNvPr>
          <p:cNvSpPr txBox="1"/>
          <p:nvPr/>
        </p:nvSpPr>
        <p:spPr>
          <a:xfrm>
            <a:off x="4590386" y="2658083"/>
            <a:ext cx="1125089"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เลือกนายก/แต่งตั้งคณะรัฐมนตรี</a:t>
            </a:r>
          </a:p>
        </p:txBody>
      </p:sp>
      <p:sp>
        <p:nvSpPr>
          <p:cNvPr id="38" name="TextBox 37">
            <a:extLst>
              <a:ext uri="{FF2B5EF4-FFF2-40B4-BE49-F238E27FC236}">
                <a16:creationId xmlns:a16="http://schemas.microsoft.com/office/drawing/2014/main" id="{BFC4648D-0610-3B7B-438F-BDB5A8586805}"/>
              </a:ext>
            </a:extLst>
          </p:cNvPr>
          <p:cNvSpPr txBox="1"/>
          <p:nvPr/>
        </p:nvSpPr>
        <p:spPr>
          <a:xfrm>
            <a:off x="5509560" y="2658083"/>
            <a:ext cx="1125089" cy="2308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รัฐบาลใหม่</a:t>
            </a:r>
          </a:p>
        </p:txBody>
      </p:sp>
      <p:sp>
        <p:nvSpPr>
          <p:cNvPr id="24" name="TextBox 23">
            <a:extLst>
              <a:ext uri="{FF2B5EF4-FFF2-40B4-BE49-F238E27FC236}">
                <a16:creationId xmlns:a16="http://schemas.microsoft.com/office/drawing/2014/main" id="{8C8CCC20-1C5E-6125-6A36-E7FC910AC4BE}"/>
              </a:ext>
            </a:extLst>
          </p:cNvPr>
          <p:cNvSpPr txBox="1"/>
          <p:nvPr/>
        </p:nvSpPr>
        <p:spPr>
          <a:xfrm>
            <a:off x="5517232" y="454697"/>
            <a:ext cx="1196244" cy="246221"/>
          </a:xfrm>
          <a:prstGeom prst="rect">
            <a:avLst/>
          </a:prstGeom>
          <a:noFill/>
        </p:spPr>
        <p:txBody>
          <a:bodyPr wrap="square" rtlCol="0">
            <a:spAutoFit/>
          </a:bodyPr>
          <a:lstStyle/>
          <a:p>
            <a:r>
              <a:rPr lang="en-US" sz="1000" b="1" dirty="0">
                <a:solidFill>
                  <a:schemeClr val="tx2"/>
                </a:solidFill>
                <a:latin typeface="BLS Bold" panose="00000800000000000000" pitchFamily="50" charset="-34"/>
                <a:cs typeface="BLS Bold" panose="00000800000000000000" pitchFamily="50" charset="-34"/>
              </a:rPr>
              <a:t>March 30, 2026</a:t>
            </a:r>
          </a:p>
        </p:txBody>
      </p:sp>
      <p:pic>
        <p:nvPicPr>
          <p:cNvPr id="40" name="Picture 2">
            <a:extLst>
              <a:ext uri="{FF2B5EF4-FFF2-40B4-BE49-F238E27FC236}">
                <a16:creationId xmlns:a16="http://schemas.microsoft.com/office/drawing/2014/main" id="{D40CF1FE-6670-0F86-7CBF-4A474C22E170}"/>
              </a:ext>
            </a:extLst>
          </p:cNvPr>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33218" y="194588"/>
            <a:ext cx="1725613" cy="569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 name="TextBox 41">
            <a:extLst>
              <a:ext uri="{FF2B5EF4-FFF2-40B4-BE49-F238E27FC236}">
                <a16:creationId xmlns:a16="http://schemas.microsoft.com/office/drawing/2014/main" id="{E1F831D5-46CB-EB78-341D-EACF1E4B4898}"/>
              </a:ext>
            </a:extLst>
          </p:cNvPr>
          <p:cNvSpPr txBox="1"/>
          <p:nvPr/>
        </p:nvSpPr>
        <p:spPr>
          <a:xfrm>
            <a:off x="1162281" y="138550"/>
            <a:ext cx="970575" cy="253916"/>
          </a:xfrm>
          <a:prstGeom prst="rect">
            <a:avLst/>
          </a:prstGeom>
          <a:noFill/>
        </p:spPr>
        <p:txBody>
          <a:bodyPr wrap="square">
            <a:spAutoFit/>
          </a:bodyPr>
          <a:lstStyle/>
          <a:p>
            <a:pPr algn="r"/>
            <a:r>
              <a:rPr lang="en-US" sz="1050" b="1" dirty="0">
                <a:solidFill>
                  <a:srgbClr val="CCAE8A"/>
                </a:solidFill>
                <a:latin typeface="Aharoni" panose="020F0502020204030204" pitchFamily="2" charset="-79"/>
                <a:ea typeface="Tahoma" pitchFamily="34" charset="0"/>
                <a:cs typeface="Aharoni" panose="020F0502020204030204" pitchFamily="2" charset="-79"/>
              </a:rPr>
              <a:t>BLS WEALTH</a:t>
            </a:r>
            <a:endParaRPr lang="th-TH" sz="1000" b="1" dirty="0">
              <a:solidFill>
                <a:srgbClr val="CCAE8A"/>
              </a:solidFill>
              <a:latin typeface="Aharoni" panose="020F0502020204030204" pitchFamily="2" charset="-79"/>
              <a:ea typeface="Tahoma" pitchFamily="34" charset="0"/>
              <a:cs typeface="BLS Condensed Bold" panose="00000800000000000000" pitchFamily="2" charset="-34"/>
            </a:endParaRPr>
          </a:p>
        </p:txBody>
      </p:sp>
      <p:sp>
        <p:nvSpPr>
          <p:cNvPr id="44" name="TextBox 43">
            <a:extLst>
              <a:ext uri="{FF2B5EF4-FFF2-40B4-BE49-F238E27FC236}">
                <a16:creationId xmlns:a16="http://schemas.microsoft.com/office/drawing/2014/main" id="{7D94CCD9-3CD7-7EBD-08D1-4EDC6069CD8F}"/>
              </a:ext>
            </a:extLst>
          </p:cNvPr>
          <p:cNvSpPr txBox="1"/>
          <p:nvPr/>
        </p:nvSpPr>
        <p:spPr>
          <a:xfrm>
            <a:off x="259758" y="539552"/>
            <a:ext cx="4825426" cy="1015663"/>
          </a:xfrm>
          <a:prstGeom prst="rect">
            <a:avLst/>
          </a:prstGeom>
          <a:noFill/>
        </p:spPr>
        <p:txBody>
          <a:bodyPr wrap="square" rtlCol="0">
            <a:spAutoFit/>
          </a:bodyPr>
          <a:lstStyle/>
          <a:p>
            <a:r>
              <a:rPr lang="el-GR" sz="6000" dirty="0">
                <a:solidFill>
                  <a:schemeClr val="accent3">
                    <a:lumMod val="75000"/>
                  </a:schemeClr>
                </a:solidFill>
                <a:latin typeface="BLS Condensed Bold" pitchFamily="2" charset="-34"/>
                <a:ea typeface="Tahoma" pitchFamily="34" charset="0"/>
                <a:cs typeface="BLS Condensed Bold" pitchFamily="2" charset="-34"/>
              </a:rPr>
              <a:t>α</a:t>
            </a:r>
            <a:r>
              <a:rPr lang="en-US" sz="3600" dirty="0" err="1">
                <a:latin typeface="BLS Condensed Bold" pitchFamily="2" charset="-34"/>
                <a:ea typeface="Tahoma" pitchFamily="34" charset="0"/>
                <a:cs typeface="BLS Condensed Bold" pitchFamily="2" charset="-34"/>
              </a:rPr>
              <a:t>lpha</a:t>
            </a:r>
            <a:r>
              <a:rPr lang="en-US" sz="3600" dirty="0">
                <a:latin typeface="BLS Condensed Bold" pitchFamily="2" charset="-34"/>
                <a:ea typeface="Tahoma" pitchFamily="34" charset="0"/>
                <a:cs typeface="BLS Condensed Bold" pitchFamily="2" charset="-34"/>
              </a:rPr>
              <a:t> </a:t>
            </a:r>
            <a:r>
              <a:rPr lang="en-US" sz="3200" dirty="0">
                <a:latin typeface="BLS Condensed Bold" pitchFamily="2" charset="-34"/>
                <a:ea typeface="Tahoma" pitchFamily="34" charset="0"/>
                <a:cs typeface="BLS Condensed Bold" pitchFamily="2" charset="-34"/>
              </a:rPr>
              <a:t>PULSE </a:t>
            </a:r>
            <a:r>
              <a:rPr lang="en-US" sz="2800" b="1" dirty="0">
                <a:solidFill>
                  <a:schemeClr val="tx1">
                    <a:lumMod val="65000"/>
                    <a:lumOff val="35000"/>
                  </a:schemeClr>
                </a:solidFill>
                <a:latin typeface="BLS Condensed "/>
                <a:ea typeface="Tahoma" pitchFamily="34" charset="0"/>
                <a:cs typeface="BLS Condensed Bold" pitchFamily="2" charset="-34"/>
              </a:rPr>
              <a:t>|</a:t>
            </a:r>
            <a:r>
              <a:rPr lang="en-GB" sz="3000" dirty="0">
                <a:solidFill>
                  <a:srgbClr val="DB002A"/>
                </a:solidFill>
                <a:latin typeface="BLS Condensed Bold" pitchFamily="2" charset="-34"/>
                <a:ea typeface="Tahoma" pitchFamily="34" charset="0"/>
                <a:cs typeface="BLS Condensed Bold" pitchFamily="2" charset="-34"/>
              </a:rPr>
              <a:t> </a:t>
            </a:r>
            <a:r>
              <a:rPr lang="en-US" sz="2400" dirty="0">
                <a:solidFill>
                  <a:schemeClr val="bg1">
                    <a:lumMod val="50000"/>
                  </a:schemeClr>
                </a:solidFill>
                <a:latin typeface="BLS Condensed Bold" pitchFamily="2" charset="-34"/>
                <a:ea typeface="Tahoma" pitchFamily="34" charset="0"/>
                <a:cs typeface="BLS Condensed Bold" pitchFamily="2" charset="-34"/>
              </a:rPr>
              <a:t>W</a:t>
            </a:r>
            <a:r>
              <a:rPr lang="en-GB" sz="2400" dirty="0" err="1">
                <a:solidFill>
                  <a:schemeClr val="bg1">
                    <a:lumMod val="50000"/>
                  </a:schemeClr>
                </a:solidFill>
                <a:latin typeface="BLS Condensed Bold" pitchFamily="2" charset="-34"/>
                <a:ea typeface="Tahoma" pitchFamily="34" charset="0"/>
                <a:cs typeface="BLS Condensed Bold" pitchFamily="2" charset="-34"/>
              </a:rPr>
              <a:t>eekly</a:t>
            </a:r>
            <a:r>
              <a:rPr lang="en-GB" sz="2400" dirty="0">
                <a:solidFill>
                  <a:schemeClr val="bg1">
                    <a:lumMod val="50000"/>
                  </a:schemeClr>
                </a:solidFill>
                <a:latin typeface="BLS Condensed Bold" pitchFamily="2" charset="-34"/>
                <a:ea typeface="Tahoma" pitchFamily="34" charset="0"/>
                <a:cs typeface="BLS Condensed Bold" pitchFamily="2" charset="-34"/>
              </a:rPr>
              <a:t> strategy</a:t>
            </a:r>
            <a:endParaRPr lang="en-GB" sz="2000" dirty="0">
              <a:solidFill>
                <a:schemeClr val="bg1">
                  <a:lumMod val="50000"/>
                </a:schemeClr>
              </a:solidFill>
              <a:latin typeface="BLS Condensed Bold" pitchFamily="2" charset="-34"/>
              <a:ea typeface="Tahoma" pitchFamily="34" charset="0"/>
              <a:cs typeface="BLS Condensed Bold" pitchFamily="2" charset="-34"/>
            </a:endParaRPr>
          </a:p>
        </p:txBody>
      </p:sp>
      <p:sp>
        <p:nvSpPr>
          <p:cNvPr id="45" name="TextBox 44">
            <a:extLst>
              <a:ext uri="{FF2B5EF4-FFF2-40B4-BE49-F238E27FC236}">
                <a16:creationId xmlns:a16="http://schemas.microsoft.com/office/drawing/2014/main" id="{EDDE772F-3591-A6B2-8675-AD72CCBF567B}"/>
              </a:ext>
            </a:extLst>
          </p:cNvPr>
          <p:cNvSpPr txBox="1"/>
          <p:nvPr/>
        </p:nvSpPr>
        <p:spPr>
          <a:xfrm>
            <a:off x="106587" y="1450975"/>
            <a:ext cx="6922812" cy="315471"/>
          </a:xfrm>
          <a:prstGeom prst="rect">
            <a:avLst/>
          </a:prstGeom>
          <a:noFill/>
          <a:ln>
            <a:noFill/>
          </a:ln>
        </p:spPr>
        <p:txBody>
          <a:bodyPr wrap="square" rtlCol="0">
            <a:spAutoFit/>
          </a:bodyPr>
          <a:lstStyle/>
          <a:p>
            <a:r>
              <a:rPr lang="en-US" altLang="en-US" sz="1450" b="1" dirty="0">
                <a:solidFill>
                  <a:schemeClr val="tx2"/>
                </a:solidFill>
                <a:latin typeface="BLS Condensed" pitchFamily="2" charset="-34"/>
                <a:ea typeface="Tahoma" pitchFamily="34" charset="0"/>
                <a:cs typeface="BLS Condensed" pitchFamily="2" charset="-34"/>
              </a:rPr>
              <a:t>Selective Plays Amid War-Driven Cost Pressure |</a:t>
            </a:r>
            <a:r>
              <a:rPr lang="th-TH" altLang="en-US" sz="1450" b="1" dirty="0">
                <a:solidFill>
                  <a:schemeClr val="tx2"/>
                </a:solidFill>
                <a:latin typeface="BLS Condensed" pitchFamily="2" charset="-34"/>
                <a:ea typeface="Tahoma" pitchFamily="34" charset="0"/>
                <a:cs typeface="BLS Condensed" pitchFamily="2" charset="-34"/>
              </a:rPr>
              <a:t> โอกาสลงทุนท่ามกลางแรงกดดันต้นทุนจากสงคราม</a:t>
            </a:r>
            <a:endParaRPr lang="en-US" altLang="en-US" sz="1450" b="1" dirty="0">
              <a:solidFill>
                <a:schemeClr val="tx2"/>
              </a:solidFill>
              <a:latin typeface="BLS Condensed" pitchFamily="2" charset="-34"/>
              <a:ea typeface="Tahoma" pitchFamily="34" charset="0"/>
              <a:cs typeface="BLS Condensed" pitchFamily="2" charset="-34"/>
            </a:endParaRPr>
          </a:p>
        </p:txBody>
      </p:sp>
      <p:sp>
        <p:nvSpPr>
          <p:cNvPr id="49" name="TextBox 48">
            <a:extLst>
              <a:ext uri="{FF2B5EF4-FFF2-40B4-BE49-F238E27FC236}">
                <a16:creationId xmlns:a16="http://schemas.microsoft.com/office/drawing/2014/main" id="{5CFB5291-3F9E-F04A-57ED-EC8540FF0A70}"/>
              </a:ext>
            </a:extLst>
          </p:cNvPr>
          <p:cNvSpPr txBox="1"/>
          <p:nvPr/>
        </p:nvSpPr>
        <p:spPr>
          <a:xfrm>
            <a:off x="4039911" y="1838921"/>
            <a:ext cx="2848745" cy="246221"/>
          </a:xfrm>
          <a:prstGeom prst="rect">
            <a:avLst/>
          </a:prstGeom>
          <a:noFill/>
        </p:spPr>
        <p:txBody>
          <a:bodyPr wrap="square" rtlCol="0">
            <a:spAutoFit/>
          </a:bodyPr>
          <a:lstStyle/>
          <a:p>
            <a:r>
              <a:rPr lang="en-US" sz="1000" b="1" dirty="0">
                <a:solidFill>
                  <a:schemeClr val="tx2"/>
                </a:solidFill>
                <a:latin typeface="BLS Bold" panose="00000800000000000000" pitchFamily="2" charset="-34"/>
                <a:cs typeface="BLS Bold" panose="00000800000000000000" pitchFamily="2" charset="-34"/>
              </a:rPr>
              <a:t>SET target: 1560</a:t>
            </a:r>
          </a:p>
        </p:txBody>
      </p:sp>
      <p:cxnSp>
        <p:nvCxnSpPr>
          <p:cNvPr id="51" name="Straight Connector 50">
            <a:extLst>
              <a:ext uri="{FF2B5EF4-FFF2-40B4-BE49-F238E27FC236}">
                <a16:creationId xmlns:a16="http://schemas.microsoft.com/office/drawing/2014/main" id="{AA859AB4-FEB7-E719-3157-D4109949119E}"/>
              </a:ext>
            </a:extLst>
          </p:cNvPr>
          <p:cNvCxnSpPr>
            <a:cxnSpLocks/>
          </p:cNvCxnSpPr>
          <p:nvPr/>
        </p:nvCxnSpPr>
        <p:spPr>
          <a:xfrm>
            <a:off x="4008212" y="2092837"/>
            <a:ext cx="2743200" cy="0"/>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FCD14692-5E72-A147-72A0-450B7B453809}"/>
              </a:ext>
            </a:extLst>
          </p:cNvPr>
          <p:cNvSpPr txBox="1"/>
          <p:nvPr/>
        </p:nvSpPr>
        <p:spPr>
          <a:xfrm>
            <a:off x="4018706" y="2073840"/>
            <a:ext cx="2290634" cy="230832"/>
          </a:xfrm>
          <a:prstGeom prst="rect">
            <a:avLst/>
          </a:prstGeom>
          <a:noFill/>
        </p:spPr>
        <p:txBody>
          <a:bodyPr wrap="square" lIns="0" rIns="0" rtlCol="0">
            <a:spAutoFit/>
          </a:bodyPr>
          <a:lstStyle/>
          <a:p>
            <a:r>
              <a:rPr lang="en-US" sz="900" dirty="0">
                <a:solidFill>
                  <a:srgbClr val="A17D3D"/>
                </a:solidFill>
                <a:latin typeface="BLS Condensed" pitchFamily="2" charset="-34"/>
                <a:ea typeface="Tahoma" pitchFamily="34" charset="0"/>
                <a:cs typeface="BLS Condensed" pitchFamily="2" charset="-34"/>
              </a:rPr>
              <a:t>Weekly PULSE: </a:t>
            </a:r>
          </a:p>
        </p:txBody>
      </p:sp>
      <p:sp>
        <p:nvSpPr>
          <p:cNvPr id="2" name="TextBox 1">
            <a:extLst>
              <a:ext uri="{FF2B5EF4-FFF2-40B4-BE49-F238E27FC236}">
                <a16:creationId xmlns:a16="http://schemas.microsoft.com/office/drawing/2014/main" id="{9E85ABDE-7CE6-F0E6-1824-B9305003B1AB}"/>
              </a:ext>
            </a:extLst>
          </p:cNvPr>
          <p:cNvSpPr txBox="1"/>
          <p:nvPr/>
        </p:nvSpPr>
        <p:spPr>
          <a:xfrm>
            <a:off x="188640" y="1859779"/>
            <a:ext cx="3711820" cy="7035259"/>
          </a:xfrm>
          <a:prstGeom prst="rect">
            <a:avLst/>
          </a:prstGeom>
          <a:solidFill>
            <a:schemeClr val="accent5">
              <a:lumMod val="20000"/>
              <a:lumOff val="80000"/>
            </a:schemeClr>
          </a:solidFill>
          <a:ln>
            <a:noFill/>
          </a:ln>
        </p:spPr>
        <p:txBody>
          <a:bodyPr wrap="square" rtlCol="0">
            <a:spAutoFit/>
          </a:bodyPr>
          <a:lstStyle/>
          <a:p>
            <a:pPr algn="thaiDist">
              <a:lnSpc>
                <a:spcPct val="120000"/>
              </a:lnSpc>
              <a:spcBef>
                <a:spcPts val="400"/>
              </a:spcBef>
              <a:buSzPct val="120000"/>
            </a:pPr>
            <a:r>
              <a:rPr lang="th-TH" sz="800" b="1" dirty="0">
                <a:solidFill>
                  <a:schemeClr val="tx1">
                    <a:lumMod val="65000"/>
                    <a:lumOff val="35000"/>
                  </a:schemeClr>
                </a:solidFill>
                <a:latin typeface="BLS Text" panose="00000500000000000000" pitchFamily="2" charset="-34"/>
                <a:cs typeface="BLS Text" pitchFamily="2" charset="-34"/>
              </a:rPr>
              <a:t>ผลกระทบของสงครามผ่านต้นทุนพลังงานเริ่มชัดเจนขึ้น อาจเพิ่มความเสี่ยงระยะสั้น:</a:t>
            </a:r>
            <a:r>
              <a:rPr lang="en-US" sz="800" b="1" dirty="0">
                <a:solidFill>
                  <a:schemeClr val="tx1">
                    <a:lumMod val="65000"/>
                    <a:lumOff val="35000"/>
                  </a:schemeClr>
                </a:solidFill>
                <a:latin typeface="BLS Text" panose="00000500000000000000" pitchFamily="2" charset="-34"/>
                <a:cs typeface="BLS Text" pitchFamily="2" charset="-34"/>
              </a:rPr>
              <a:t> </a:t>
            </a:r>
            <a:r>
              <a:rPr lang="th-TH" sz="800" dirty="0">
                <a:solidFill>
                  <a:schemeClr val="tx1">
                    <a:lumMod val="65000"/>
                    <a:lumOff val="35000"/>
                  </a:schemeClr>
                </a:solidFill>
                <a:latin typeface="BLS Text" panose="00000500000000000000" pitchFamily="2" charset="-34"/>
                <a:cs typeface="BLS Text" pitchFamily="2" charset="-34"/>
              </a:rPr>
              <a:t>หลังความตึงเครียดทางภูมิรัฐศาสตร์ยกระดับ ราคาพลังงานปรับตัวขึ้นอย่างมีนัยสำคัญ โดยราคาน้ำมันดิบ </a:t>
            </a:r>
            <a:r>
              <a:rPr lang="en-US" sz="800" dirty="0">
                <a:solidFill>
                  <a:schemeClr val="tx1">
                    <a:lumMod val="65000"/>
                    <a:lumOff val="35000"/>
                  </a:schemeClr>
                </a:solidFill>
                <a:latin typeface="BLS Text" panose="00000500000000000000" pitchFamily="2" charset="-34"/>
                <a:cs typeface="BLS Text" pitchFamily="2" charset="-34"/>
              </a:rPr>
              <a:t>Brent </a:t>
            </a:r>
            <a:r>
              <a:rPr lang="th-TH" sz="800" dirty="0">
                <a:solidFill>
                  <a:schemeClr val="tx1">
                    <a:lumMod val="65000"/>
                    <a:lumOff val="35000"/>
                  </a:schemeClr>
                </a:solidFill>
                <a:latin typeface="BLS Text" panose="00000500000000000000" pitchFamily="2" charset="-34"/>
                <a:cs typeface="BLS Text" pitchFamily="2" charset="-34"/>
              </a:rPr>
              <a:t>เพิ่มขึ้นราว +</a:t>
            </a:r>
            <a:r>
              <a:rPr lang="en-US" sz="800" dirty="0">
                <a:solidFill>
                  <a:schemeClr val="tx1">
                    <a:lumMod val="65000"/>
                    <a:lumOff val="35000"/>
                  </a:schemeClr>
                </a:solidFill>
                <a:latin typeface="BLS Text" panose="00000500000000000000" pitchFamily="2" charset="-34"/>
                <a:cs typeface="BLS Text" pitchFamily="2" charset="-34"/>
              </a:rPr>
              <a:t>55</a:t>
            </a:r>
            <a:r>
              <a:rPr lang="th-TH" sz="800" dirty="0">
                <a:solidFill>
                  <a:schemeClr val="tx1">
                    <a:lumMod val="65000"/>
                    <a:lumOff val="35000"/>
                  </a:schemeClr>
                </a:solidFill>
                <a:latin typeface="BLS Text" panose="00000500000000000000" pitchFamily="2" charset="-34"/>
                <a:cs typeface="BLS Text" pitchFamily="2" charset="-34"/>
              </a:rPr>
              <a:t>% </a:t>
            </a:r>
            <a:r>
              <a:rPr lang="en-US" sz="800" dirty="0">
                <a:solidFill>
                  <a:schemeClr val="tx1">
                    <a:lumMod val="65000"/>
                    <a:lumOff val="35000"/>
                  </a:schemeClr>
                </a:solidFill>
                <a:latin typeface="BLS Text" panose="00000500000000000000" pitchFamily="2" charset="-34"/>
                <a:cs typeface="BLS Text" pitchFamily="2" charset="-34"/>
              </a:rPr>
              <a:t>MTD </a:t>
            </a:r>
            <a:r>
              <a:rPr lang="th-TH" sz="800" dirty="0">
                <a:solidFill>
                  <a:schemeClr val="tx1">
                    <a:lumMod val="65000"/>
                    <a:lumOff val="35000"/>
                  </a:schemeClr>
                </a:solidFill>
                <a:latin typeface="BLS Text" panose="00000500000000000000" pitchFamily="2" charset="-34"/>
                <a:cs typeface="BLS Text" pitchFamily="2" charset="-34"/>
              </a:rPr>
              <a:t>สู่ระดับประมาณ </a:t>
            </a:r>
            <a:r>
              <a:rPr lang="en-US" sz="800" dirty="0">
                <a:solidFill>
                  <a:schemeClr val="tx1">
                    <a:lumMod val="65000"/>
                    <a:lumOff val="35000"/>
                  </a:schemeClr>
                </a:solidFill>
                <a:latin typeface="BLS Text" panose="00000500000000000000" pitchFamily="2" charset="-34"/>
                <a:cs typeface="BLS Text" pitchFamily="2" charset="-34"/>
              </a:rPr>
              <a:t>$106/</a:t>
            </a:r>
            <a:r>
              <a:rPr lang="en-US" sz="800" dirty="0" err="1">
                <a:solidFill>
                  <a:schemeClr val="tx1">
                    <a:lumMod val="65000"/>
                    <a:lumOff val="35000"/>
                  </a:schemeClr>
                </a:solidFill>
                <a:latin typeface="BLS Text" panose="00000500000000000000" pitchFamily="2" charset="-34"/>
                <a:cs typeface="BLS Text" pitchFamily="2" charset="-34"/>
              </a:rPr>
              <a:t>bbl</a:t>
            </a:r>
            <a:r>
              <a:rPr lang="en-US" sz="800" dirty="0">
                <a:solidFill>
                  <a:schemeClr val="tx1">
                    <a:lumMod val="65000"/>
                    <a:lumOff val="35000"/>
                  </a:schemeClr>
                </a:solidFill>
                <a:latin typeface="BLS Text" panose="00000500000000000000" pitchFamily="2" charset="-34"/>
                <a:cs typeface="BLS Text" pitchFamily="2" charset="-34"/>
              </a:rPr>
              <a:t> </a:t>
            </a:r>
            <a:r>
              <a:rPr lang="th-TH" sz="800" dirty="0">
                <a:solidFill>
                  <a:schemeClr val="tx1">
                    <a:lumMod val="65000"/>
                    <a:lumOff val="35000"/>
                  </a:schemeClr>
                </a:solidFill>
                <a:latin typeface="BLS Text" panose="00000500000000000000" pitchFamily="2" charset="-34"/>
                <a:cs typeface="BLS Text" pitchFamily="2" charset="-34"/>
              </a:rPr>
              <a:t>ขณะที่ราคาน้ำมันดีเซลในประเทศปรับขึ้นราว +30% </a:t>
            </a:r>
            <a:r>
              <a:rPr lang="en-US" sz="800" dirty="0">
                <a:solidFill>
                  <a:schemeClr val="tx1">
                    <a:lumMod val="65000"/>
                    <a:lumOff val="35000"/>
                  </a:schemeClr>
                </a:solidFill>
                <a:latin typeface="BLS Text" panose="00000500000000000000" pitchFamily="2" charset="-34"/>
                <a:cs typeface="BLS Text" pitchFamily="2" charset="-34"/>
              </a:rPr>
              <a:t>MTD </a:t>
            </a:r>
            <a:r>
              <a:rPr lang="th-TH" sz="800" dirty="0">
                <a:solidFill>
                  <a:schemeClr val="tx1">
                    <a:lumMod val="65000"/>
                    <a:lumOff val="35000"/>
                  </a:schemeClr>
                </a:solidFill>
                <a:latin typeface="BLS Text" panose="00000500000000000000" pitchFamily="2" charset="-34"/>
                <a:cs typeface="BLS Text" pitchFamily="2" charset="-34"/>
              </a:rPr>
              <a:t>แตะระดับประมาณ 39 บาท/ลิตร สะท้อนแรงกดดันด้านต้นทุนที่อาจเริ่มส่งผ่านเข้าสู่ระบบเศรษฐกิจจริง นอกจากนี้ สินค้าโภคภัณฑ์อื่นที่เชื่อมโยงกับต้นทุนการผลิตและการขนส่ง เช่น อลูมิเนียม (</a:t>
            </a:r>
            <a:r>
              <a:rPr lang="en-US" sz="800" dirty="0">
                <a:solidFill>
                  <a:schemeClr val="tx1">
                    <a:lumMod val="65000"/>
                    <a:lumOff val="35000"/>
                  </a:schemeClr>
                </a:solidFill>
                <a:latin typeface="BLS Text" panose="00000500000000000000" pitchFamily="2" charset="-34"/>
                <a:cs typeface="BLS Text" pitchFamily="2" charset="-34"/>
              </a:rPr>
              <a:t>LME Aluminum +3% MTD), </a:t>
            </a:r>
            <a:r>
              <a:rPr lang="th-TH" sz="800" dirty="0">
                <a:solidFill>
                  <a:schemeClr val="tx1">
                    <a:lumMod val="65000"/>
                    <a:lumOff val="35000"/>
                  </a:schemeClr>
                </a:solidFill>
                <a:latin typeface="BLS Text" panose="00000500000000000000" pitchFamily="2" charset="-34"/>
                <a:cs typeface="BLS Text" pitchFamily="2" charset="-34"/>
              </a:rPr>
              <a:t>ข้าวโพด (</a:t>
            </a:r>
            <a:r>
              <a:rPr lang="en-US" sz="800" dirty="0">
                <a:solidFill>
                  <a:schemeClr val="tx1">
                    <a:lumMod val="65000"/>
                    <a:lumOff val="35000"/>
                  </a:schemeClr>
                </a:solidFill>
                <a:latin typeface="BLS Text" panose="00000500000000000000" pitchFamily="2" charset="-34"/>
                <a:cs typeface="BLS Text" pitchFamily="2" charset="-34"/>
              </a:rPr>
              <a:t>CBT Corn +7%), </a:t>
            </a:r>
            <a:r>
              <a:rPr lang="th-TH" sz="800" dirty="0">
                <a:solidFill>
                  <a:schemeClr val="tx1">
                    <a:lumMod val="65000"/>
                    <a:lumOff val="35000"/>
                  </a:schemeClr>
                </a:solidFill>
                <a:latin typeface="BLS Text" panose="00000500000000000000" pitchFamily="2" charset="-34"/>
                <a:cs typeface="BLS Text" pitchFamily="2" charset="-34"/>
              </a:rPr>
              <a:t>น้ำตาล (</a:t>
            </a:r>
            <a:r>
              <a:rPr lang="en-US" sz="800" dirty="0">
                <a:solidFill>
                  <a:schemeClr val="tx1">
                    <a:lumMod val="65000"/>
                    <a:lumOff val="35000"/>
                  </a:schemeClr>
                </a:solidFill>
                <a:latin typeface="BLS Text" panose="00000500000000000000" pitchFamily="2" charset="-34"/>
                <a:cs typeface="BLS Text" pitchFamily="2" charset="-34"/>
              </a:rPr>
              <a:t>ICE Sugar +9%) </a:t>
            </a:r>
            <a:r>
              <a:rPr lang="th-TH" sz="800" dirty="0">
                <a:solidFill>
                  <a:schemeClr val="tx1">
                    <a:lumMod val="65000"/>
                    <a:lumOff val="35000"/>
                  </a:schemeClr>
                </a:solidFill>
                <a:latin typeface="BLS Text" panose="00000500000000000000" pitchFamily="2" charset="-34"/>
                <a:cs typeface="BLS Text" pitchFamily="2" charset="-34"/>
              </a:rPr>
              <a:t>และกากถั่วเหลือง (</a:t>
            </a:r>
            <a:r>
              <a:rPr lang="en-US" sz="800" dirty="0">
                <a:solidFill>
                  <a:schemeClr val="tx1">
                    <a:lumMod val="65000"/>
                    <a:lumOff val="35000"/>
                  </a:schemeClr>
                </a:solidFill>
                <a:latin typeface="BLS Text" panose="00000500000000000000" pitchFamily="2" charset="-34"/>
                <a:cs typeface="BLS Text" pitchFamily="2" charset="-34"/>
              </a:rPr>
              <a:t>CBT Soybean Meal +3%) </a:t>
            </a:r>
            <a:r>
              <a:rPr lang="th-TH" sz="800" dirty="0">
                <a:solidFill>
                  <a:schemeClr val="tx1">
                    <a:lumMod val="65000"/>
                    <a:lumOff val="35000"/>
                  </a:schemeClr>
                </a:solidFill>
                <a:latin typeface="BLS Text" panose="00000500000000000000" pitchFamily="2" charset="-34"/>
                <a:cs typeface="BLS Text" pitchFamily="2" charset="-34"/>
              </a:rPr>
              <a:t>ต่างปรับตัวขึ้นในทิศทางเดียวกัน สะท้อนความเสี่ยง </a:t>
            </a:r>
            <a:r>
              <a:rPr lang="en-US" sz="800" dirty="0">
                <a:solidFill>
                  <a:schemeClr val="tx1">
                    <a:lumMod val="65000"/>
                    <a:lumOff val="35000"/>
                  </a:schemeClr>
                </a:solidFill>
                <a:latin typeface="BLS Text" panose="00000500000000000000" pitchFamily="2" charset="-34"/>
                <a:cs typeface="BLS Text" pitchFamily="2" charset="-34"/>
              </a:rPr>
              <a:t>cost-push inflation </a:t>
            </a:r>
            <a:r>
              <a:rPr lang="th-TH" sz="800" dirty="0">
                <a:solidFill>
                  <a:schemeClr val="tx1">
                    <a:lumMod val="65000"/>
                    <a:lumOff val="35000"/>
                  </a:schemeClr>
                </a:solidFill>
                <a:latin typeface="BLS Text" panose="00000500000000000000" pitchFamily="2" charset="-34"/>
                <a:cs typeface="BLS Text" pitchFamily="2" charset="-34"/>
              </a:rPr>
              <a:t>ที่อาจขยายวงกว้าง และกดดันทั้งอัตรากำไรของภาคธุรกิจและกำลังซื้อของผู้บริโภคในระยะถัดไป</a:t>
            </a:r>
          </a:p>
          <a:p>
            <a:pPr algn="thaiDist">
              <a:lnSpc>
                <a:spcPct val="120000"/>
              </a:lnSpc>
              <a:spcBef>
                <a:spcPts val="300"/>
              </a:spcBef>
              <a:buSzPct val="120000"/>
            </a:pPr>
            <a:r>
              <a:rPr lang="th-TH" sz="800" b="1" dirty="0">
                <a:solidFill>
                  <a:schemeClr val="tx1">
                    <a:lumMod val="65000"/>
                    <a:lumOff val="35000"/>
                  </a:schemeClr>
                </a:solidFill>
                <a:latin typeface="BLS Text" panose="00000500000000000000" pitchFamily="2" charset="-34"/>
                <a:cs typeface="BLS Text" pitchFamily="2" charset="-34"/>
              </a:rPr>
              <a:t>กลุ่มรอด</a:t>
            </a:r>
            <a:r>
              <a:rPr lang="en-US" sz="800" b="1" dirty="0">
                <a:solidFill>
                  <a:schemeClr val="tx1">
                    <a:lumMod val="65000"/>
                    <a:lumOff val="35000"/>
                  </a:schemeClr>
                </a:solidFill>
                <a:latin typeface="BLS Text" panose="00000500000000000000" pitchFamily="2" charset="-34"/>
                <a:cs typeface="BLS Text" pitchFamily="2" charset="-34"/>
              </a:rPr>
              <a:t>-</a:t>
            </a:r>
            <a:r>
              <a:rPr lang="th-TH" sz="800" b="1" dirty="0">
                <a:solidFill>
                  <a:schemeClr val="tx1">
                    <a:lumMod val="65000"/>
                    <a:lumOff val="35000"/>
                  </a:schemeClr>
                </a:solidFill>
                <a:latin typeface="BLS Text" panose="00000500000000000000" pitchFamily="2" charset="-34"/>
                <a:cs typeface="BLS Text" pitchFamily="2" charset="-34"/>
              </a:rPr>
              <a:t>กระทบหนัก</a:t>
            </a:r>
            <a:r>
              <a:rPr lang="en-US" sz="800" b="1" dirty="0">
                <a:solidFill>
                  <a:schemeClr val="tx1">
                    <a:lumMod val="65000"/>
                    <a:lumOff val="35000"/>
                  </a:schemeClr>
                </a:solidFill>
                <a:latin typeface="BLS Text" panose="00000500000000000000" pitchFamily="2" charset="-34"/>
                <a:cs typeface="BLS Text" pitchFamily="2" charset="-34"/>
              </a:rPr>
              <a:t>? </a:t>
            </a:r>
            <a:r>
              <a:rPr lang="th-TH" sz="800" b="1" dirty="0">
                <a:solidFill>
                  <a:schemeClr val="tx1">
                    <a:lumMod val="65000"/>
                    <a:lumOff val="35000"/>
                  </a:schemeClr>
                </a:solidFill>
                <a:latin typeface="BLS Text" panose="00000500000000000000" pitchFamily="2" charset="-34"/>
                <a:cs typeface="BLS Text" pitchFamily="2" charset="-34"/>
              </a:rPr>
              <a:t>ช่วงราคาน้ำมันดิบ-ดีเซลขึ้นแรงในสงครามรอบก่อน: </a:t>
            </a:r>
            <a:r>
              <a:rPr lang="th-TH" sz="800" dirty="0">
                <a:solidFill>
                  <a:schemeClr val="tx1">
                    <a:lumMod val="65000"/>
                    <a:lumOff val="35000"/>
                  </a:schemeClr>
                </a:solidFill>
                <a:latin typeface="BLS Text" panose="00000500000000000000" pitchFamily="2" charset="-34"/>
                <a:cs typeface="BLS Text" pitchFamily="2" charset="-34"/>
              </a:rPr>
              <a:t>ในอดีตช่วงสงครามรัสเซีย–ยูเครนปี 2022 ซึ่งราคาน้ำมันโลกปรับตัวขึ้นแรงและดีเซลในประเทศขยับขึ้นสู่ระดับสูงสุดราว 34.9 บาท/ลิตร (จากระดับเฉลี่ยก่อนสงคราม ~29.9 บาท/ลิตร) พบว่า </a:t>
            </a:r>
            <a:r>
              <a:rPr lang="th-TH" sz="800" b="1" dirty="0">
                <a:solidFill>
                  <a:schemeClr val="tx1">
                    <a:lumMod val="65000"/>
                    <a:lumOff val="35000"/>
                  </a:schemeClr>
                </a:solidFill>
                <a:latin typeface="BLS Text" panose="00000500000000000000" pitchFamily="2" charset="-34"/>
                <a:cs typeface="BLS Text" pitchFamily="2" charset="-34"/>
              </a:rPr>
              <a:t>กลุ่มอุตสาหกรรมที่ยังเห็นอัตรากำไรจากการดำเนินงาน (</a:t>
            </a:r>
            <a:r>
              <a:rPr lang="en-US" sz="800" b="1" dirty="0">
                <a:solidFill>
                  <a:schemeClr val="tx1">
                    <a:lumMod val="65000"/>
                    <a:lumOff val="35000"/>
                  </a:schemeClr>
                </a:solidFill>
                <a:latin typeface="BLS Text" panose="00000500000000000000" pitchFamily="2" charset="-34"/>
                <a:cs typeface="BLS Text" pitchFamily="2" charset="-34"/>
              </a:rPr>
              <a:t>EBIT margins) </a:t>
            </a:r>
            <a:r>
              <a:rPr lang="th-TH" sz="800" b="1" dirty="0">
                <a:solidFill>
                  <a:schemeClr val="tx1">
                    <a:lumMod val="65000"/>
                    <a:lumOff val="35000"/>
                  </a:schemeClr>
                </a:solidFill>
                <a:latin typeface="BLS Text" panose="00000500000000000000" pitchFamily="2" charset="-34"/>
                <a:cs typeface="BLS Text" pitchFamily="2" charset="-34"/>
              </a:rPr>
              <a:t>ยังขยายตัวได้ </a:t>
            </a:r>
            <a:r>
              <a:rPr lang="th-TH" sz="800" dirty="0">
                <a:solidFill>
                  <a:schemeClr val="tx1">
                    <a:lumMod val="65000"/>
                    <a:lumOff val="35000"/>
                  </a:schemeClr>
                </a:solidFill>
                <a:latin typeface="BLS Text" panose="00000500000000000000" pitchFamily="2" charset="-34"/>
                <a:cs typeface="BLS Text" pitchFamily="2" charset="-34"/>
              </a:rPr>
              <a:t>ได้แก่ ธุรกิจรายได้เชื่อมโยงราคาพลังงาน (</a:t>
            </a:r>
            <a:r>
              <a:rPr lang="en-US" sz="800" dirty="0">
                <a:solidFill>
                  <a:schemeClr val="tx1">
                    <a:lumMod val="65000"/>
                    <a:lumOff val="35000"/>
                  </a:schemeClr>
                </a:solidFill>
                <a:latin typeface="BLS Text" panose="00000500000000000000" pitchFamily="2" charset="-34"/>
                <a:cs typeface="BLS Text" pitchFamily="2" charset="-34"/>
              </a:rPr>
              <a:t>energy-linked earnings) </a:t>
            </a:r>
            <a:r>
              <a:rPr lang="th-TH" sz="800" dirty="0">
                <a:solidFill>
                  <a:schemeClr val="tx1">
                    <a:lumMod val="65000"/>
                    <a:lumOff val="35000"/>
                  </a:schemeClr>
                </a:solidFill>
                <a:latin typeface="BLS Text" panose="00000500000000000000" pitchFamily="2" charset="-34"/>
                <a:cs typeface="BLS Text" pitchFamily="2" charset="-34"/>
              </a:rPr>
              <a:t>และ/หรือ มีความสามารถในการส่งผ่านต้นทุน (</a:t>
            </a:r>
            <a:r>
              <a:rPr lang="en-US" sz="800" dirty="0">
                <a:solidFill>
                  <a:schemeClr val="tx1">
                    <a:lumMod val="65000"/>
                    <a:lumOff val="35000"/>
                  </a:schemeClr>
                </a:solidFill>
                <a:latin typeface="BLS Text" panose="00000500000000000000" pitchFamily="2" charset="-34"/>
                <a:cs typeface="BLS Text" pitchFamily="2" charset="-34"/>
              </a:rPr>
              <a:t>cost pass-through ability) </a:t>
            </a:r>
            <a:r>
              <a:rPr lang="th-TH" sz="800" dirty="0">
                <a:solidFill>
                  <a:schemeClr val="tx1">
                    <a:lumMod val="65000"/>
                    <a:lumOff val="35000"/>
                  </a:schemeClr>
                </a:solidFill>
                <a:latin typeface="BLS Text" panose="00000500000000000000" pitchFamily="2" charset="-34"/>
                <a:cs typeface="BLS Text" pitchFamily="2" charset="-34"/>
              </a:rPr>
              <a:t>กลุ่มพลังงานต้นน้ำ </a:t>
            </a:r>
            <a:r>
              <a:rPr lang="en-US" sz="800" dirty="0">
                <a:solidFill>
                  <a:schemeClr val="tx1">
                    <a:lumMod val="65000"/>
                    <a:lumOff val="35000"/>
                  </a:schemeClr>
                </a:solidFill>
                <a:latin typeface="BLS Text" panose="00000500000000000000" pitchFamily="2" charset="-34"/>
                <a:cs typeface="BLS Text" pitchFamily="2" charset="-34"/>
              </a:rPr>
              <a:t>PTTEP </a:t>
            </a:r>
            <a:r>
              <a:rPr lang="th-TH" sz="800" dirty="0">
                <a:solidFill>
                  <a:schemeClr val="tx1">
                    <a:lumMod val="65000"/>
                    <a:lumOff val="35000"/>
                  </a:schemeClr>
                </a:solidFill>
                <a:latin typeface="BLS Text" panose="00000500000000000000" pitchFamily="2" charset="-34"/>
                <a:cs typeface="BLS Text" pitchFamily="2" charset="-34"/>
              </a:rPr>
              <a:t>และโรงกลั่น </a:t>
            </a:r>
            <a:r>
              <a:rPr lang="en-US" sz="800" dirty="0">
                <a:solidFill>
                  <a:schemeClr val="tx1">
                    <a:lumMod val="65000"/>
                    <a:lumOff val="35000"/>
                  </a:schemeClr>
                </a:solidFill>
                <a:latin typeface="BLS Text" panose="00000500000000000000" pitchFamily="2" charset="-34"/>
                <a:cs typeface="BLS Text" pitchFamily="2" charset="-34"/>
              </a:rPr>
              <a:t>TOP, SPRC, </a:t>
            </a:r>
            <a:r>
              <a:rPr lang="th-TH" sz="800" dirty="0">
                <a:solidFill>
                  <a:schemeClr val="tx1">
                    <a:lumMod val="65000"/>
                    <a:lumOff val="35000"/>
                  </a:schemeClr>
                </a:solidFill>
                <a:latin typeface="BLS Text" panose="00000500000000000000" pitchFamily="2" charset="-34"/>
                <a:cs typeface="BLS Text" pitchFamily="2" charset="-34"/>
              </a:rPr>
              <a:t>กลุ่มเกษตร/อาหาร </a:t>
            </a:r>
            <a:r>
              <a:rPr lang="en-US" sz="800" dirty="0">
                <a:solidFill>
                  <a:schemeClr val="tx1">
                    <a:lumMod val="65000"/>
                    <a:lumOff val="35000"/>
                  </a:schemeClr>
                </a:solidFill>
                <a:latin typeface="BLS Text" panose="00000500000000000000" pitchFamily="2" charset="-34"/>
                <a:cs typeface="BLS Text" pitchFamily="2" charset="-34"/>
              </a:rPr>
              <a:t>CPF, BTG, TFG </a:t>
            </a:r>
            <a:r>
              <a:rPr lang="th-TH" sz="800" dirty="0">
                <a:solidFill>
                  <a:schemeClr val="tx1">
                    <a:lumMod val="65000"/>
                    <a:lumOff val="35000"/>
                  </a:schemeClr>
                </a:solidFill>
                <a:latin typeface="BLS Text" panose="00000500000000000000" pitchFamily="2" charset="-34"/>
                <a:cs typeface="BLS Text" pitchFamily="2" charset="-34"/>
              </a:rPr>
              <a:t>กลุ่มห้างสรรพสินค้า </a:t>
            </a:r>
            <a:r>
              <a:rPr lang="en-US" sz="800" dirty="0">
                <a:solidFill>
                  <a:schemeClr val="tx1">
                    <a:lumMod val="65000"/>
                    <a:lumOff val="35000"/>
                  </a:schemeClr>
                </a:solidFill>
                <a:latin typeface="BLS Text" panose="00000500000000000000" pitchFamily="2" charset="-34"/>
                <a:cs typeface="BLS Text" pitchFamily="2" charset="-34"/>
              </a:rPr>
              <a:t>CPN,</a:t>
            </a:r>
            <a:r>
              <a:rPr lang="th-TH" sz="800" dirty="0">
                <a:solidFill>
                  <a:schemeClr val="tx1">
                    <a:lumMod val="65000"/>
                    <a:lumOff val="35000"/>
                  </a:schemeClr>
                </a:solidFill>
                <a:latin typeface="BLS Text" panose="00000500000000000000" pitchFamily="2" charset="-34"/>
                <a:cs typeface="BLS Text" pitchFamily="2" charset="-34"/>
              </a:rPr>
              <a:t> กลุ่มโรงพยาบาล </a:t>
            </a:r>
            <a:r>
              <a:rPr lang="en-US" sz="800" dirty="0">
                <a:solidFill>
                  <a:schemeClr val="tx1">
                    <a:lumMod val="65000"/>
                    <a:lumOff val="35000"/>
                  </a:schemeClr>
                </a:solidFill>
                <a:latin typeface="BLS Text" panose="00000500000000000000" pitchFamily="2" charset="-34"/>
                <a:cs typeface="BLS Text" pitchFamily="2" charset="-34"/>
              </a:rPr>
              <a:t>BH, BDMS, </a:t>
            </a:r>
            <a:r>
              <a:rPr lang="th-TH" sz="800" dirty="0">
                <a:solidFill>
                  <a:schemeClr val="tx1">
                    <a:lumMod val="65000"/>
                    <a:lumOff val="35000"/>
                  </a:schemeClr>
                </a:solidFill>
                <a:latin typeface="BLS Text" panose="00000500000000000000" pitchFamily="2" charset="-34"/>
                <a:cs typeface="BLS Text" pitchFamily="2" charset="-34"/>
              </a:rPr>
              <a:t>กลุ่มนิคมฯ </a:t>
            </a:r>
            <a:r>
              <a:rPr lang="en-US" sz="800" dirty="0">
                <a:solidFill>
                  <a:schemeClr val="tx1">
                    <a:lumMod val="65000"/>
                    <a:lumOff val="35000"/>
                  </a:schemeClr>
                </a:solidFill>
                <a:latin typeface="BLS Text" panose="00000500000000000000" pitchFamily="2" charset="-34"/>
                <a:cs typeface="BLS Text" pitchFamily="2" charset="-34"/>
              </a:rPr>
              <a:t>WHA AMATA </a:t>
            </a:r>
          </a:p>
          <a:p>
            <a:pPr algn="thaiDist">
              <a:lnSpc>
                <a:spcPct val="120000"/>
              </a:lnSpc>
              <a:spcBef>
                <a:spcPts val="400"/>
              </a:spcBef>
              <a:buSzPct val="120000"/>
            </a:pPr>
            <a:r>
              <a:rPr lang="th-TH" sz="800" b="1" dirty="0">
                <a:solidFill>
                  <a:schemeClr val="tx1">
                    <a:lumMod val="65000"/>
                    <a:lumOff val="35000"/>
                  </a:schemeClr>
                </a:solidFill>
                <a:latin typeface="BLS Text" panose="00000500000000000000" pitchFamily="2" charset="-34"/>
                <a:cs typeface="BLS Text" pitchFamily="2" charset="-34"/>
              </a:rPr>
              <a:t>กลุ่มที่กระทบจำกัด อัตรากำไรทรงตัว มีความสามารถในการส่งผ่านต้นทุน </a:t>
            </a:r>
            <a:r>
              <a:rPr lang="th-TH" sz="800" dirty="0">
                <a:solidFill>
                  <a:schemeClr val="tx1">
                    <a:lumMod val="65000"/>
                    <a:lumOff val="35000"/>
                  </a:schemeClr>
                </a:solidFill>
                <a:latin typeface="BLS Text" panose="00000500000000000000" pitchFamily="2" charset="-34"/>
                <a:cs typeface="BLS Text" pitchFamily="2" charset="-34"/>
              </a:rPr>
              <a:t>ได้แก่ กลุ่มค้าปลีกของใช้จำเป็น </a:t>
            </a:r>
            <a:r>
              <a:rPr lang="en-US" sz="800" dirty="0">
                <a:solidFill>
                  <a:schemeClr val="tx1">
                    <a:lumMod val="65000"/>
                    <a:lumOff val="35000"/>
                  </a:schemeClr>
                </a:solidFill>
                <a:latin typeface="BLS Text" panose="00000500000000000000" pitchFamily="2" charset="-34"/>
                <a:cs typeface="BLS Text" pitchFamily="2" charset="-34"/>
              </a:rPr>
              <a:t>CPALL </a:t>
            </a:r>
            <a:r>
              <a:rPr lang="th-TH" sz="800" dirty="0">
                <a:solidFill>
                  <a:schemeClr val="tx1">
                    <a:lumMod val="65000"/>
                    <a:lumOff val="35000"/>
                  </a:schemeClr>
                </a:solidFill>
                <a:latin typeface="BLS Text" panose="00000500000000000000" pitchFamily="2" charset="-34"/>
                <a:cs typeface="BLS Text" pitchFamily="2" charset="-34"/>
              </a:rPr>
              <a:t>กลุ่มสื่อสาร </a:t>
            </a:r>
            <a:r>
              <a:rPr lang="en-US" sz="800" dirty="0">
                <a:solidFill>
                  <a:schemeClr val="tx1">
                    <a:lumMod val="65000"/>
                    <a:lumOff val="35000"/>
                  </a:schemeClr>
                </a:solidFill>
                <a:latin typeface="BLS Text" panose="00000500000000000000" pitchFamily="2" charset="-34"/>
                <a:cs typeface="BLS Text" pitchFamily="2" charset="-34"/>
              </a:rPr>
              <a:t>ADVANC </a:t>
            </a:r>
            <a:r>
              <a:rPr lang="th-TH" sz="800" dirty="0">
                <a:solidFill>
                  <a:schemeClr val="tx1">
                    <a:lumMod val="65000"/>
                    <a:lumOff val="35000"/>
                  </a:schemeClr>
                </a:solidFill>
                <a:latin typeface="BLS Text" panose="00000500000000000000" pitchFamily="2" charset="-34"/>
                <a:cs typeface="BLS Text" pitchFamily="2" charset="-34"/>
              </a:rPr>
              <a:t>กลุ่มธนาคาร </a:t>
            </a:r>
            <a:r>
              <a:rPr lang="en-US" sz="800" dirty="0">
                <a:solidFill>
                  <a:schemeClr val="tx1">
                    <a:lumMod val="65000"/>
                    <a:lumOff val="35000"/>
                  </a:schemeClr>
                </a:solidFill>
                <a:latin typeface="BLS Text" panose="00000500000000000000" pitchFamily="2" charset="-34"/>
                <a:cs typeface="BLS Text" pitchFamily="2" charset="-34"/>
              </a:rPr>
              <a:t>KTB KBANK SCB BBL </a:t>
            </a:r>
            <a:r>
              <a:rPr lang="th-TH" sz="800" dirty="0">
                <a:solidFill>
                  <a:schemeClr val="tx1">
                    <a:lumMod val="65000"/>
                    <a:lumOff val="35000"/>
                  </a:schemeClr>
                </a:solidFill>
                <a:latin typeface="BLS Text" panose="00000500000000000000" pitchFamily="2" charset="-34"/>
                <a:cs typeface="BLS Text" pitchFamily="2" charset="-34"/>
              </a:rPr>
              <a:t>กลุ่มส่งออกอาหารสัตว์เลี้ยง </a:t>
            </a:r>
            <a:r>
              <a:rPr lang="en-US" sz="800" dirty="0">
                <a:solidFill>
                  <a:schemeClr val="tx1">
                    <a:lumMod val="65000"/>
                    <a:lumOff val="35000"/>
                  </a:schemeClr>
                </a:solidFill>
                <a:latin typeface="BLS Text" panose="00000500000000000000" pitchFamily="2" charset="-34"/>
                <a:cs typeface="BLS Text" pitchFamily="2" charset="-34"/>
              </a:rPr>
              <a:t>ITC </a:t>
            </a:r>
          </a:p>
          <a:p>
            <a:pPr algn="thaiDist">
              <a:lnSpc>
                <a:spcPct val="120000"/>
              </a:lnSpc>
              <a:spcBef>
                <a:spcPts val="400"/>
              </a:spcBef>
              <a:buSzPct val="120000"/>
            </a:pPr>
            <a:r>
              <a:rPr lang="th-TH" sz="800" b="1" dirty="0">
                <a:solidFill>
                  <a:schemeClr val="tx1">
                    <a:lumMod val="65000"/>
                    <a:lumOff val="35000"/>
                  </a:schemeClr>
                </a:solidFill>
                <a:latin typeface="BLS Text" panose="00000500000000000000" pitchFamily="2" charset="-34"/>
                <a:cs typeface="BLS Text" pitchFamily="2" charset="-34"/>
              </a:rPr>
              <a:t>กลุ่มที่โดนกระทบแรง อัตรากำไรหดตัว </a:t>
            </a:r>
            <a:r>
              <a:rPr lang="th-TH" sz="800" dirty="0">
                <a:solidFill>
                  <a:schemeClr val="tx1">
                    <a:lumMod val="65000"/>
                    <a:lumOff val="35000"/>
                  </a:schemeClr>
                </a:solidFill>
                <a:latin typeface="BLS Text" panose="00000500000000000000" pitchFamily="2" charset="-34"/>
                <a:cs typeface="BLS Text" pitchFamily="2" charset="-34"/>
              </a:rPr>
              <a:t>ได้แก่ กลุ่มต้นทุนพลังงานสูง (</a:t>
            </a:r>
            <a:r>
              <a:rPr lang="en-US" sz="800" dirty="0">
                <a:solidFill>
                  <a:schemeClr val="tx1">
                    <a:lumMod val="65000"/>
                    <a:lumOff val="35000"/>
                  </a:schemeClr>
                </a:solidFill>
                <a:latin typeface="BLS Text" panose="00000500000000000000" pitchFamily="2" charset="-34"/>
                <a:cs typeface="BLS Text" pitchFamily="2" charset="-34"/>
              </a:rPr>
              <a:t>energy cost-exposed) </a:t>
            </a:r>
            <a:r>
              <a:rPr lang="th-TH" sz="800" dirty="0">
                <a:solidFill>
                  <a:schemeClr val="tx1">
                    <a:lumMod val="65000"/>
                    <a:lumOff val="35000"/>
                  </a:schemeClr>
                </a:solidFill>
                <a:latin typeface="BLS Text" panose="00000500000000000000" pitchFamily="2" charset="-34"/>
                <a:cs typeface="BLS Text" pitchFamily="2" charset="-34"/>
              </a:rPr>
              <a:t>กลุ่มวัสดุก่อสร้าง </a:t>
            </a:r>
            <a:r>
              <a:rPr lang="en-US" sz="800" dirty="0">
                <a:solidFill>
                  <a:schemeClr val="tx1">
                    <a:lumMod val="65000"/>
                    <a:lumOff val="35000"/>
                  </a:schemeClr>
                </a:solidFill>
                <a:latin typeface="BLS Text" panose="00000500000000000000" pitchFamily="2" charset="-34"/>
                <a:cs typeface="BLS Text" pitchFamily="2" charset="-34"/>
              </a:rPr>
              <a:t>SCC </a:t>
            </a:r>
            <a:r>
              <a:rPr lang="th-TH" sz="800" dirty="0">
                <a:solidFill>
                  <a:schemeClr val="tx1">
                    <a:lumMod val="65000"/>
                    <a:lumOff val="35000"/>
                  </a:schemeClr>
                </a:solidFill>
                <a:latin typeface="BLS Text" panose="00000500000000000000" pitchFamily="2" charset="-34"/>
                <a:cs typeface="BLS Text" pitchFamily="2" charset="-34"/>
              </a:rPr>
              <a:t>กลุ่มโรงไฟฟ้าขนาดเล็ก </a:t>
            </a:r>
            <a:r>
              <a:rPr lang="en-US" sz="800" dirty="0">
                <a:solidFill>
                  <a:schemeClr val="tx1">
                    <a:lumMod val="65000"/>
                    <a:lumOff val="35000"/>
                  </a:schemeClr>
                </a:solidFill>
                <a:latin typeface="BLS Text" panose="00000500000000000000" pitchFamily="2" charset="-34"/>
                <a:cs typeface="BLS Text" pitchFamily="2" charset="-34"/>
              </a:rPr>
              <a:t>SPP BGRIM GPSC </a:t>
            </a:r>
            <a:r>
              <a:rPr lang="th-TH" sz="800" dirty="0">
                <a:solidFill>
                  <a:schemeClr val="tx1">
                    <a:lumMod val="65000"/>
                    <a:lumOff val="35000"/>
                  </a:schemeClr>
                </a:solidFill>
                <a:latin typeface="BLS Text" panose="00000500000000000000" pitchFamily="2" charset="-34"/>
                <a:cs typeface="BLS Text" pitchFamily="2" charset="-34"/>
              </a:rPr>
              <a:t>รวมถึงกลุ่มอ่อนไหวต่อกำลังซื้อในประเทศ (</a:t>
            </a:r>
            <a:r>
              <a:rPr lang="en-US" sz="800" dirty="0">
                <a:solidFill>
                  <a:schemeClr val="tx1">
                    <a:lumMod val="65000"/>
                    <a:lumOff val="35000"/>
                  </a:schemeClr>
                </a:solidFill>
                <a:latin typeface="BLS Text" panose="00000500000000000000" pitchFamily="2" charset="-34"/>
                <a:cs typeface="BLS Text" pitchFamily="2" charset="-34"/>
              </a:rPr>
              <a:t>domestic demand-sensitive) </a:t>
            </a:r>
            <a:r>
              <a:rPr lang="th-TH" sz="800" dirty="0">
                <a:solidFill>
                  <a:schemeClr val="tx1">
                    <a:lumMod val="65000"/>
                    <a:lumOff val="35000"/>
                  </a:schemeClr>
                </a:solidFill>
                <a:latin typeface="BLS Text" panose="00000500000000000000" pitchFamily="2" charset="-34"/>
                <a:cs typeface="BLS Text" pitchFamily="2" charset="-34"/>
              </a:rPr>
              <a:t>อย่างกลุ่มค้าปลีกของฟุ่มเฟือย โดยเฉพาะค้าปลีกวัสดุก่อสร้าง </a:t>
            </a:r>
            <a:r>
              <a:rPr lang="en-US" sz="800" dirty="0">
                <a:solidFill>
                  <a:schemeClr val="tx1">
                    <a:lumMod val="65000"/>
                    <a:lumOff val="35000"/>
                  </a:schemeClr>
                </a:solidFill>
                <a:latin typeface="BLS Text" panose="00000500000000000000" pitchFamily="2" charset="-34"/>
                <a:cs typeface="BLS Text" pitchFamily="2" charset="-34"/>
              </a:rPr>
              <a:t>DOHOME </a:t>
            </a:r>
          </a:p>
          <a:p>
            <a:pPr algn="thaiDist">
              <a:lnSpc>
                <a:spcPct val="120000"/>
              </a:lnSpc>
              <a:spcBef>
                <a:spcPts val="400"/>
              </a:spcBef>
              <a:buSzPct val="120000"/>
            </a:pPr>
            <a:r>
              <a:rPr lang="en-US" sz="800" b="1" dirty="0">
                <a:solidFill>
                  <a:schemeClr val="tx1">
                    <a:lumMod val="65000"/>
                    <a:lumOff val="35000"/>
                  </a:schemeClr>
                </a:solidFill>
                <a:latin typeface="BLS Text" panose="00000500000000000000" pitchFamily="2" charset="-34"/>
                <a:cs typeface="BLS Text" pitchFamily="2" charset="-34"/>
              </a:rPr>
              <a:t>Selective plays: </a:t>
            </a:r>
            <a:r>
              <a:rPr lang="th-TH" sz="800" dirty="0">
                <a:solidFill>
                  <a:schemeClr val="tx1">
                    <a:lumMod val="65000"/>
                    <a:lumOff val="35000"/>
                  </a:schemeClr>
                </a:solidFill>
                <a:latin typeface="BLS Text" panose="00000500000000000000" pitchFamily="2" charset="-34"/>
                <a:cs typeface="BLS Text" pitchFamily="2" charset="-34"/>
              </a:rPr>
              <a:t>เน้นหุ้นที่ยังซื้อขายต่ำกว่าระดับก่อนเกิดสงคราม (</a:t>
            </a:r>
            <a:r>
              <a:rPr lang="en-US" sz="800" dirty="0">
                <a:solidFill>
                  <a:schemeClr val="tx1">
                    <a:lumMod val="65000"/>
                    <a:lumOff val="35000"/>
                  </a:schemeClr>
                </a:solidFill>
                <a:latin typeface="BLS Text" panose="00000500000000000000" pitchFamily="2" charset="-34"/>
                <a:cs typeface="BLS Text" pitchFamily="2" charset="-34"/>
              </a:rPr>
              <a:t>pre-war</a:t>
            </a:r>
            <a:r>
              <a:rPr lang="th-TH" sz="800" dirty="0">
                <a:solidFill>
                  <a:schemeClr val="tx1">
                    <a:lumMod val="65000"/>
                    <a:lumOff val="35000"/>
                  </a:schemeClr>
                </a:solidFill>
                <a:latin typeface="BLS Text" panose="00000500000000000000" pitchFamily="2" charset="-34"/>
                <a:cs typeface="BLS Text" pitchFamily="2" charset="-34"/>
              </a:rPr>
              <a:t> </a:t>
            </a:r>
            <a:r>
              <a:rPr lang="en-US" sz="800" dirty="0">
                <a:solidFill>
                  <a:schemeClr val="tx1">
                    <a:lumMod val="65000"/>
                    <a:lumOff val="35000"/>
                  </a:schemeClr>
                </a:solidFill>
                <a:latin typeface="BLS Text" panose="00000500000000000000" pitchFamily="2" charset="-34"/>
                <a:cs typeface="BLS Text" pitchFamily="2" charset="-34"/>
              </a:rPr>
              <a:t>level)</a:t>
            </a:r>
            <a:r>
              <a:rPr lang="th-TH" sz="800" dirty="0">
                <a:solidFill>
                  <a:schemeClr val="tx1">
                    <a:lumMod val="65000"/>
                    <a:lumOff val="35000"/>
                  </a:schemeClr>
                </a:solidFill>
                <a:latin typeface="BLS Text" panose="00000500000000000000" pitchFamily="2" charset="-34"/>
                <a:cs typeface="BLS Text" pitchFamily="2" charset="-34"/>
              </a:rPr>
              <a:t> สัดส่วนต้นทุนพลังงานต่ำ/ส่งผ่านต้นทุนได้ (</a:t>
            </a:r>
            <a:r>
              <a:rPr lang="en-US" sz="800" dirty="0">
                <a:solidFill>
                  <a:schemeClr val="tx1">
                    <a:lumMod val="65000"/>
                    <a:lumOff val="35000"/>
                  </a:schemeClr>
                </a:solidFill>
                <a:latin typeface="BLS Text" panose="00000500000000000000" pitchFamily="2" charset="-34"/>
                <a:cs typeface="BLS Text" pitchFamily="2" charset="-34"/>
              </a:rPr>
              <a:t>pricing power)</a:t>
            </a:r>
            <a:r>
              <a:rPr lang="th-TH" sz="800" dirty="0">
                <a:solidFill>
                  <a:schemeClr val="tx1">
                    <a:lumMod val="65000"/>
                    <a:lumOff val="35000"/>
                  </a:schemeClr>
                </a:solidFill>
                <a:latin typeface="BLS Text" panose="00000500000000000000" pitchFamily="2" charset="-34"/>
                <a:cs typeface="BLS Text" pitchFamily="2" charset="-34"/>
              </a:rPr>
              <a:t> มี </a:t>
            </a:r>
            <a:r>
              <a:rPr lang="en-US" sz="800" dirty="0">
                <a:solidFill>
                  <a:schemeClr val="tx1">
                    <a:lumMod val="65000"/>
                    <a:lumOff val="35000"/>
                  </a:schemeClr>
                </a:solidFill>
                <a:latin typeface="BLS Text" panose="00000500000000000000" pitchFamily="2" charset="-34"/>
                <a:cs typeface="BLS Text" pitchFamily="2" charset="-34"/>
              </a:rPr>
              <a:t>catalyst </a:t>
            </a:r>
            <a:r>
              <a:rPr lang="th-TH" sz="800" dirty="0">
                <a:solidFill>
                  <a:schemeClr val="tx1">
                    <a:lumMod val="65000"/>
                    <a:lumOff val="35000"/>
                  </a:schemeClr>
                </a:solidFill>
                <a:latin typeface="BLS Text" panose="00000500000000000000" pitchFamily="2" charset="-34"/>
                <a:cs typeface="BLS Text" pitchFamily="2" charset="-34"/>
              </a:rPr>
              <a:t>การฟื้นตัวหลังสงคราม โดยสามารถแบ่งเป็น 2 กลุ่มหลัก ได้แก่ </a:t>
            </a:r>
          </a:p>
          <a:p>
            <a:pPr algn="thaiDist">
              <a:lnSpc>
                <a:spcPct val="120000"/>
              </a:lnSpc>
              <a:spcBef>
                <a:spcPts val="400"/>
              </a:spcBef>
              <a:buSzPct val="120000"/>
            </a:pPr>
            <a:r>
              <a:rPr lang="en-US" sz="800" b="1" dirty="0">
                <a:solidFill>
                  <a:schemeClr val="tx1">
                    <a:lumMod val="65000"/>
                    <a:lumOff val="35000"/>
                  </a:schemeClr>
                </a:solidFill>
                <a:latin typeface="BLS Text" panose="00000500000000000000" pitchFamily="2" charset="-34"/>
                <a:cs typeface="BLS Text" pitchFamily="2" charset="-34"/>
              </a:rPr>
              <a:t>1) Discount from pre-war level (</a:t>
            </a:r>
            <a:r>
              <a:rPr lang="th-TH" sz="800" b="1" dirty="0">
                <a:solidFill>
                  <a:schemeClr val="tx1">
                    <a:lumMod val="65000"/>
                    <a:lumOff val="35000"/>
                  </a:schemeClr>
                </a:solidFill>
                <a:latin typeface="BLS Text" panose="00000500000000000000" pitchFamily="2" charset="-34"/>
                <a:cs typeface="BLS Text" pitchFamily="2" charset="-34"/>
              </a:rPr>
              <a:t>ลงแรงเกินพื้นฐาน): </a:t>
            </a:r>
            <a:r>
              <a:rPr lang="th-TH" sz="800" dirty="0">
                <a:solidFill>
                  <a:schemeClr val="tx1">
                    <a:lumMod val="65000"/>
                    <a:lumOff val="35000"/>
                  </a:schemeClr>
                </a:solidFill>
                <a:latin typeface="BLS Text" panose="00000500000000000000" pitchFamily="2" charset="-34"/>
                <a:cs typeface="BLS Text" pitchFamily="2" charset="-34"/>
              </a:rPr>
              <a:t>หุ้นที่ราคาปรับตัวลงแรงกว่าปัจจัยพื้นฐาน แต่มี </a:t>
            </a:r>
            <a:r>
              <a:rPr lang="en-US" sz="800" dirty="0">
                <a:solidFill>
                  <a:schemeClr val="tx1">
                    <a:lumMod val="65000"/>
                    <a:lumOff val="35000"/>
                  </a:schemeClr>
                </a:solidFill>
                <a:latin typeface="BLS Text" panose="00000500000000000000" pitchFamily="2" charset="-34"/>
                <a:cs typeface="BLS Text" pitchFamily="2" charset="-34"/>
              </a:rPr>
              <a:t>exposure </a:t>
            </a:r>
            <a:r>
              <a:rPr lang="th-TH" sz="800" dirty="0">
                <a:solidFill>
                  <a:schemeClr val="tx1">
                    <a:lumMod val="65000"/>
                    <a:lumOff val="35000"/>
                  </a:schemeClr>
                </a:solidFill>
                <a:latin typeface="BLS Text" panose="00000500000000000000" pitchFamily="2" charset="-34"/>
                <a:cs typeface="BLS Text" pitchFamily="2" charset="-34"/>
              </a:rPr>
              <a:t>ต่อพลังงานต่ำ และได้อานิสงส์จากการฟื้นตัวของ </a:t>
            </a:r>
            <a:r>
              <a:rPr lang="en-US" sz="800" dirty="0">
                <a:solidFill>
                  <a:schemeClr val="tx1">
                    <a:lumMod val="65000"/>
                    <a:lumOff val="35000"/>
                  </a:schemeClr>
                </a:solidFill>
                <a:latin typeface="BLS Text" panose="00000500000000000000" pitchFamily="2" charset="-34"/>
                <a:cs typeface="BLS Text" pitchFamily="2" charset="-34"/>
              </a:rPr>
              <a:t>demand </a:t>
            </a:r>
            <a:r>
              <a:rPr lang="th-TH" sz="800" dirty="0">
                <a:solidFill>
                  <a:schemeClr val="tx1">
                    <a:lumMod val="65000"/>
                    <a:lumOff val="35000"/>
                  </a:schemeClr>
                </a:solidFill>
                <a:latin typeface="BLS Text" panose="00000500000000000000" pitchFamily="2" charset="-34"/>
                <a:cs typeface="BLS Text" pitchFamily="2" charset="-34"/>
              </a:rPr>
              <a:t>หลังสงคราม เช่น </a:t>
            </a:r>
            <a:r>
              <a:rPr lang="en-US" sz="800" b="1" dirty="0">
                <a:solidFill>
                  <a:schemeClr val="tx1">
                    <a:lumMod val="65000"/>
                    <a:lumOff val="35000"/>
                  </a:schemeClr>
                </a:solidFill>
                <a:latin typeface="BLS Text" panose="00000500000000000000" pitchFamily="2" charset="-34"/>
                <a:cs typeface="BLS Text" pitchFamily="2" charset="-34"/>
              </a:rPr>
              <a:t>BH</a:t>
            </a:r>
            <a:r>
              <a:rPr lang="en-US" sz="800" dirty="0">
                <a:solidFill>
                  <a:schemeClr val="tx1">
                    <a:lumMod val="65000"/>
                    <a:lumOff val="35000"/>
                  </a:schemeClr>
                </a:solidFill>
                <a:latin typeface="BLS Text" panose="00000500000000000000" pitchFamily="2" charset="-34"/>
                <a:cs typeface="BLS Text" pitchFamily="2" charset="-34"/>
              </a:rPr>
              <a:t> </a:t>
            </a:r>
            <a:r>
              <a:rPr lang="th-TH" sz="800" dirty="0">
                <a:solidFill>
                  <a:schemeClr val="tx1">
                    <a:lumMod val="65000"/>
                    <a:lumOff val="35000"/>
                  </a:schemeClr>
                </a:solidFill>
                <a:latin typeface="BLS Text" panose="00000500000000000000" pitchFamily="2" charset="-34"/>
                <a:cs typeface="BLS Text" pitchFamily="2" charset="-34"/>
              </a:rPr>
              <a:t>ราคาต่ำกว่าก่อนสงคราม 23%</a:t>
            </a:r>
            <a:r>
              <a:rPr lang="en-US" sz="800" dirty="0">
                <a:solidFill>
                  <a:schemeClr val="tx1">
                    <a:lumMod val="65000"/>
                    <a:lumOff val="35000"/>
                  </a:schemeClr>
                </a:solidFill>
                <a:latin typeface="BLS Text" panose="00000500000000000000" pitchFamily="2" charset="-34"/>
                <a:cs typeface="BLS Text" pitchFamily="2" charset="-34"/>
              </a:rPr>
              <a:t>, </a:t>
            </a:r>
            <a:r>
              <a:rPr lang="th-TH" sz="800" dirty="0">
                <a:solidFill>
                  <a:schemeClr val="tx1">
                    <a:lumMod val="65000"/>
                    <a:lumOff val="35000"/>
                  </a:schemeClr>
                </a:solidFill>
                <a:latin typeface="BLS Text" panose="00000500000000000000" pitchFamily="2" charset="-34"/>
                <a:cs typeface="BLS Text" pitchFamily="2" charset="-34"/>
              </a:rPr>
              <a:t>ราคาหุ้นสะท้อนการหายไปของรายได้ตะวันออกกลางไปแล้ว</a:t>
            </a:r>
            <a:r>
              <a:rPr lang="en-US" sz="800" dirty="0">
                <a:solidFill>
                  <a:schemeClr val="tx1">
                    <a:lumMod val="65000"/>
                    <a:lumOff val="35000"/>
                  </a:schemeClr>
                </a:solidFill>
                <a:latin typeface="BLS Text" panose="00000500000000000000" pitchFamily="2" charset="-34"/>
                <a:cs typeface="BLS Text" pitchFamily="2" charset="-34"/>
              </a:rPr>
              <a:t>, proxy </a:t>
            </a:r>
            <a:r>
              <a:rPr lang="th-TH" sz="800" dirty="0">
                <a:solidFill>
                  <a:schemeClr val="tx1">
                    <a:lumMod val="65000"/>
                    <a:lumOff val="35000"/>
                  </a:schemeClr>
                </a:solidFill>
                <a:latin typeface="BLS Text" panose="00000500000000000000" pitchFamily="2" charset="-34"/>
                <a:cs typeface="BLS Text" pitchFamily="2" charset="-34"/>
              </a:rPr>
              <a:t>ของ </a:t>
            </a:r>
            <a:r>
              <a:rPr lang="en-US" sz="800" dirty="0">
                <a:solidFill>
                  <a:schemeClr val="tx1">
                    <a:lumMod val="65000"/>
                    <a:lumOff val="35000"/>
                  </a:schemeClr>
                </a:solidFill>
                <a:latin typeface="BLS Text" panose="00000500000000000000" pitchFamily="2" charset="-34"/>
                <a:cs typeface="BLS Text" pitchFamily="2" charset="-34"/>
              </a:rPr>
              <a:t>medical tourism </a:t>
            </a:r>
            <a:r>
              <a:rPr lang="th-TH" sz="800" dirty="0">
                <a:solidFill>
                  <a:schemeClr val="tx1">
                    <a:lumMod val="65000"/>
                    <a:lumOff val="35000"/>
                  </a:schemeClr>
                </a:solidFill>
                <a:latin typeface="BLS Text" panose="00000500000000000000" pitchFamily="2" charset="-34"/>
                <a:cs typeface="BLS Text" pitchFamily="2" charset="-34"/>
              </a:rPr>
              <a:t>เมื่อ </a:t>
            </a:r>
            <a:r>
              <a:rPr lang="en-US" sz="800" dirty="0">
                <a:solidFill>
                  <a:schemeClr val="tx1">
                    <a:lumMod val="65000"/>
                    <a:lumOff val="35000"/>
                  </a:schemeClr>
                </a:solidFill>
                <a:latin typeface="BLS Text" panose="00000500000000000000" pitchFamily="2" charset="-34"/>
                <a:cs typeface="BLS Text" pitchFamily="2" charset="-34"/>
              </a:rPr>
              <a:t>sentiment </a:t>
            </a:r>
            <a:r>
              <a:rPr lang="th-TH" sz="800" dirty="0">
                <a:solidFill>
                  <a:schemeClr val="tx1">
                    <a:lumMod val="65000"/>
                    <a:lumOff val="35000"/>
                  </a:schemeClr>
                </a:solidFill>
                <a:latin typeface="BLS Text" panose="00000500000000000000" pitchFamily="2" charset="-34"/>
                <a:cs typeface="BLS Text" pitchFamily="2" charset="-34"/>
              </a:rPr>
              <a:t>คลี่คลาย</a:t>
            </a:r>
            <a:r>
              <a:rPr lang="en-US" sz="800" dirty="0">
                <a:solidFill>
                  <a:schemeClr val="tx1">
                    <a:lumMod val="65000"/>
                    <a:lumOff val="35000"/>
                  </a:schemeClr>
                </a:solidFill>
                <a:latin typeface="BLS Text" panose="00000500000000000000" pitchFamily="2" charset="-34"/>
                <a:cs typeface="BLS Text" pitchFamily="2" charset="-34"/>
              </a:rPr>
              <a:t>, </a:t>
            </a:r>
            <a:r>
              <a:rPr lang="en-US" sz="800" b="1" dirty="0">
                <a:solidFill>
                  <a:schemeClr val="tx1">
                    <a:lumMod val="65000"/>
                    <a:lumOff val="35000"/>
                  </a:schemeClr>
                </a:solidFill>
                <a:latin typeface="BLS Text" panose="00000500000000000000" pitchFamily="2" charset="-34"/>
                <a:cs typeface="BLS Text" pitchFamily="2" charset="-34"/>
              </a:rPr>
              <a:t>MINT</a:t>
            </a:r>
            <a:r>
              <a:rPr lang="en-US" sz="800" dirty="0">
                <a:solidFill>
                  <a:schemeClr val="tx1">
                    <a:lumMod val="65000"/>
                    <a:lumOff val="35000"/>
                  </a:schemeClr>
                </a:solidFill>
                <a:latin typeface="BLS Text" panose="00000500000000000000" pitchFamily="2" charset="-34"/>
                <a:cs typeface="BLS Text" pitchFamily="2" charset="-34"/>
              </a:rPr>
              <a:t> </a:t>
            </a:r>
            <a:r>
              <a:rPr lang="th-TH" sz="800" dirty="0">
                <a:solidFill>
                  <a:schemeClr val="tx1">
                    <a:lumMod val="65000"/>
                    <a:lumOff val="35000"/>
                  </a:schemeClr>
                </a:solidFill>
                <a:latin typeface="BLS Text" panose="00000500000000000000" pitchFamily="2" charset="-34"/>
                <a:cs typeface="BLS Text" pitchFamily="2" charset="-34"/>
              </a:rPr>
              <a:t>ราคาต่ำกว่าก่อนสงคราม 17.3%</a:t>
            </a:r>
            <a:r>
              <a:rPr lang="en-US" sz="800" dirty="0">
                <a:solidFill>
                  <a:schemeClr val="tx1">
                    <a:lumMod val="65000"/>
                    <a:lumOff val="35000"/>
                  </a:schemeClr>
                </a:solidFill>
                <a:latin typeface="BLS Text" panose="00000500000000000000" pitchFamily="2" charset="-34"/>
                <a:cs typeface="BLS Text" pitchFamily="2" charset="-34"/>
              </a:rPr>
              <a:t>, </a:t>
            </a:r>
            <a:r>
              <a:rPr lang="th-TH" sz="800" dirty="0">
                <a:solidFill>
                  <a:schemeClr val="tx1">
                    <a:lumMod val="65000"/>
                    <a:lumOff val="35000"/>
                  </a:schemeClr>
                </a:solidFill>
                <a:latin typeface="BLS Text" panose="00000500000000000000" pitchFamily="2" charset="-34"/>
                <a:cs typeface="BLS Text" pitchFamily="2" charset="-34"/>
              </a:rPr>
              <a:t>กระทบน้อยสุดในกลุ่มโรงแรม</a:t>
            </a:r>
            <a:r>
              <a:rPr lang="en-US" sz="800" dirty="0">
                <a:solidFill>
                  <a:schemeClr val="tx1">
                    <a:lumMod val="65000"/>
                    <a:lumOff val="35000"/>
                  </a:schemeClr>
                </a:solidFill>
                <a:latin typeface="BLS Text" panose="00000500000000000000" pitchFamily="2" charset="-34"/>
                <a:cs typeface="BLS Text" pitchFamily="2" charset="-34"/>
              </a:rPr>
              <a:t>, </a:t>
            </a:r>
            <a:r>
              <a:rPr lang="th-TH" sz="800" dirty="0">
                <a:solidFill>
                  <a:schemeClr val="tx1">
                    <a:lumMod val="65000"/>
                    <a:lumOff val="35000"/>
                  </a:schemeClr>
                </a:solidFill>
                <a:latin typeface="BLS Text" panose="00000500000000000000" pitchFamily="2" charset="-34"/>
                <a:cs typeface="BLS Text" pitchFamily="2" charset="-34"/>
              </a:rPr>
              <a:t>ฐานรายได้ยุโรปที่แข็งแรง (ลูกค้าภายในยุโรปมากกว่า 70%)</a:t>
            </a:r>
            <a:r>
              <a:rPr lang="en-US" sz="800" dirty="0">
                <a:solidFill>
                  <a:schemeClr val="tx1">
                    <a:lumMod val="65000"/>
                    <a:lumOff val="35000"/>
                  </a:schemeClr>
                </a:solidFill>
                <a:latin typeface="BLS Text" panose="00000500000000000000" pitchFamily="2" charset="-34"/>
                <a:cs typeface="BLS Text" pitchFamily="2" charset="-34"/>
              </a:rPr>
              <a:t>, </a:t>
            </a:r>
            <a:r>
              <a:rPr lang="th-TH" sz="800" dirty="0">
                <a:solidFill>
                  <a:schemeClr val="tx1">
                    <a:lumMod val="65000"/>
                    <a:lumOff val="35000"/>
                  </a:schemeClr>
                </a:solidFill>
                <a:latin typeface="BLS Text" panose="00000500000000000000" pitchFamily="2" charset="-34"/>
                <a:cs typeface="BLS Text" pitchFamily="2" charset="-34"/>
              </a:rPr>
              <a:t>ล็อกต้นทุนพลังงานไว้แล้วมากกว่า 70%</a:t>
            </a:r>
            <a:r>
              <a:rPr lang="en-US" sz="800" dirty="0">
                <a:solidFill>
                  <a:schemeClr val="tx1">
                    <a:lumMod val="65000"/>
                    <a:lumOff val="35000"/>
                  </a:schemeClr>
                </a:solidFill>
                <a:latin typeface="BLS Text" panose="00000500000000000000" pitchFamily="2" charset="-34"/>
                <a:cs typeface="BLS Text" pitchFamily="2" charset="-34"/>
              </a:rPr>
              <a:t>, </a:t>
            </a:r>
            <a:r>
              <a:rPr lang="en-US" sz="800" dirty="0" err="1">
                <a:solidFill>
                  <a:schemeClr val="tx1">
                    <a:lumMod val="65000"/>
                    <a:lumOff val="35000"/>
                  </a:schemeClr>
                </a:solidFill>
                <a:latin typeface="BLS Text" panose="00000500000000000000" pitchFamily="2" charset="-34"/>
                <a:cs typeface="BLS Text" pitchFamily="2" charset="-34"/>
              </a:rPr>
              <a:t>RevPar</a:t>
            </a:r>
            <a:r>
              <a:rPr lang="en-US" sz="800" dirty="0">
                <a:solidFill>
                  <a:schemeClr val="tx1">
                    <a:lumMod val="65000"/>
                    <a:lumOff val="35000"/>
                  </a:schemeClr>
                </a:solidFill>
                <a:latin typeface="BLS Text" panose="00000500000000000000" pitchFamily="2" charset="-34"/>
                <a:cs typeface="BLS Text" pitchFamily="2" charset="-34"/>
              </a:rPr>
              <a:t> 1Q26 </a:t>
            </a:r>
            <a:r>
              <a:rPr lang="th-TH" sz="800" dirty="0">
                <a:solidFill>
                  <a:schemeClr val="tx1">
                    <a:lumMod val="65000"/>
                    <a:lumOff val="35000"/>
                  </a:schemeClr>
                </a:solidFill>
                <a:latin typeface="BLS Text" panose="00000500000000000000" pitchFamily="2" charset="-34"/>
                <a:cs typeface="BLS Text" pitchFamily="2" charset="-34"/>
              </a:rPr>
              <a:t>ยังเติบโต (ยุโรป +8%, ไทย +15%, </a:t>
            </a:r>
            <a:r>
              <a:rPr lang="en-US" sz="800" dirty="0">
                <a:solidFill>
                  <a:schemeClr val="tx1">
                    <a:lumMod val="65000"/>
                    <a:lumOff val="35000"/>
                  </a:schemeClr>
                </a:solidFill>
                <a:latin typeface="BLS Text" panose="00000500000000000000" pitchFamily="2" charset="-34"/>
                <a:cs typeface="BLS Text" pitchFamily="2" charset="-34"/>
              </a:rPr>
              <a:t>Maldives +8%), </a:t>
            </a:r>
            <a:r>
              <a:rPr lang="en-US" sz="800" b="1" dirty="0">
                <a:solidFill>
                  <a:schemeClr val="tx1">
                    <a:lumMod val="65000"/>
                    <a:lumOff val="35000"/>
                  </a:schemeClr>
                </a:solidFill>
                <a:latin typeface="BLS Text" panose="00000500000000000000" pitchFamily="2" charset="-34"/>
                <a:cs typeface="BLS Text" pitchFamily="2" charset="-34"/>
              </a:rPr>
              <a:t>ITC</a:t>
            </a:r>
            <a:r>
              <a:rPr lang="en-US" sz="800" dirty="0">
                <a:solidFill>
                  <a:schemeClr val="tx1">
                    <a:lumMod val="65000"/>
                    <a:lumOff val="35000"/>
                  </a:schemeClr>
                </a:solidFill>
                <a:latin typeface="BLS Text" panose="00000500000000000000" pitchFamily="2" charset="-34"/>
                <a:cs typeface="BLS Text" pitchFamily="2" charset="-34"/>
              </a:rPr>
              <a:t> </a:t>
            </a:r>
            <a:r>
              <a:rPr lang="th-TH" sz="800" dirty="0">
                <a:solidFill>
                  <a:schemeClr val="tx1">
                    <a:lumMod val="65000"/>
                    <a:lumOff val="35000"/>
                  </a:schemeClr>
                </a:solidFill>
                <a:latin typeface="BLS Text" panose="00000500000000000000" pitchFamily="2" charset="-34"/>
                <a:cs typeface="BLS Text" pitchFamily="2" charset="-34"/>
              </a:rPr>
              <a:t>ราคาต่ำกว่าก่อนสงคราม 10.7%</a:t>
            </a:r>
            <a:r>
              <a:rPr lang="en-US" sz="800" dirty="0">
                <a:solidFill>
                  <a:schemeClr val="tx1">
                    <a:lumMod val="65000"/>
                    <a:lumOff val="35000"/>
                  </a:schemeClr>
                </a:solidFill>
                <a:latin typeface="BLS Text" panose="00000500000000000000" pitchFamily="2" charset="-34"/>
                <a:cs typeface="BLS Text" pitchFamily="2" charset="-34"/>
              </a:rPr>
              <a:t>, </a:t>
            </a:r>
            <a:r>
              <a:rPr lang="th-TH" sz="800" dirty="0">
                <a:solidFill>
                  <a:schemeClr val="tx1">
                    <a:lumMod val="65000"/>
                    <a:lumOff val="35000"/>
                  </a:schemeClr>
                </a:solidFill>
                <a:latin typeface="BLS Text" panose="00000500000000000000" pitchFamily="2" charset="-34"/>
                <a:cs typeface="BLS Text" pitchFamily="2" charset="-34"/>
              </a:rPr>
              <a:t>กำไร </a:t>
            </a:r>
            <a:r>
              <a:rPr lang="en-US" sz="800" dirty="0">
                <a:solidFill>
                  <a:schemeClr val="tx1">
                    <a:lumMod val="65000"/>
                    <a:lumOff val="35000"/>
                  </a:schemeClr>
                </a:solidFill>
                <a:latin typeface="BLS Text" panose="00000500000000000000" pitchFamily="2" charset="-34"/>
                <a:cs typeface="BLS Text" pitchFamily="2" charset="-34"/>
              </a:rPr>
              <a:t>1Q26 </a:t>
            </a:r>
            <a:r>
              <a:rPr lang="th-TH" sz="800" dirty="0">
                <a:solidFill>
                  <a:schemeClr val="tx1">
                    <a:lumMod val="65000"/>
                    <a:lumOff val="35000"/>
                  </a:schemeClr>
                </a:solidFill>
                <a:latin typeface="BLS Text" panose="00000500000000000000" pitchFamily="2" charset="-34"/>
                <a:cs typeface="BLS Text" pitchFamily="2" charset="-34"/>
              </a:rPr>
              <a:t>ดีกว่าคาดเดิม</a:t>
            </a:r>
            <a:r>
              <a:rPr lang="en-US" sz="800" dirty="0">
                <a:solidFill>
                  <a:schemeClr val="tx1">
                    <a:lumMod val="65000"/>
                    <a:lumOff val="35000"/>
                  </a:schemeClr>
                </a:solidFill>
                <a:latin typeface="BLS Text" panose="00000500000000000000" pitchFamily="2" charset="-34"/>
                <a:cs typeface="BLS Text" pitchFamily="2" charset="-34"/>
              </a:rPr>
              <a:t>, </a:t>
            </a:r>
            <a:r>
              <a:rPr lang="th-TH" sz="800" dirty="0">
                <a:solidFill>
                  <a:schemeClr val="tx1">
                    <a:lumMod val="65000"/>
                    <a:lumOff val="35000"/>
                  </a:schemeClr>
                </a:solidFill>
                <a:latin typeface="BLS Text" panose="00000500000000000000" pitchFamily="2" charset="-34"/>
                <a:cs typeface="BLS Text" pitchFamily="2" charset="-34"/>
              </a:rPr>
              <a:t>ยอดขายเติบโต 12-15% </a:t>
            </a:r>
            <a:r>
              <a:rPr lang="en-US" sz="800" dirty="0">
                <a:solidFill>
                  <a:schemeClr val="tx1">
                    <a:lumMod val="65000"/>
                    <a:lumOff val="35000"/>
                  </a:schemeClr>
                </a:solidFill>
                <a:latin typeface="BLS Text" panose="00000500000000000000" pitchFamily="2" charset="-34"/>
                <a:cs typeface="BLS Text" pitchFamily="2" charset="-34"/>
              </a:rPr>
              <a:t>YoY </a:t>
            </a:r>
            <a:r>
              <a:rPr lang="th-TH" sz="800" dirty="0">
                <a:solidFill>
                  <a:schemeClr val="tx1">
                    <a:lumMod val="65000"/>
                    <a:lumOff val="35000"/>
                  </a:schemeClr>
                </a:solidFill>
                <a:latin typeface="BLS Text" panose="00000500000000000000" pitchFamily="2" charset="-34"/>
                <a:cs typeface="BLS Text" pitchFamily="2" charset="-34"/>
              </a:rPr>
              <a:t>และอัตรากำไรขั้นต้นสูงขึ้น </a:t>
            </a:r>
            <a:r>
              <a:rPr lang="en-US" sz="800" dirty="0">
                <a:solidFill>
                  <a:schemeClr val="tx1">
                    <a:lumMod val="65000"/>
                    <a:lumOff val="35000"/>
                  </a:schemeClr>
                </a:solidFill>
                <a:latin typeface="BLS Text" panose="00000500000000000000" pitchFamily="2" charset="-34"/>
                <a:cs typeface="BLS Text" pitchFamily="2" charset="-34"/>
              </a:rPr>
              <a:t>YoY </a:t>
            </a:r>
            <a:r>
              <a:rPr lang="th-TH" sz="800" dirty="0">
                <a:solidFill>
                  <a:schemeClr val="tx1">
                    <a:lumMod val="65000"/>
                    <a:lumOff val="35000"/>
                  </a:schemeClr>
                </a:solidFill>
                <a:latin typeface="BLS Text" panose="00000500000000000000" pitchFamily="2" charset="-34"/>
                <a:cs typeface="BLS Text" pitchFamily="2" charset="-34"/>
              </a:rPr>
              <a:t>จากสัดส่วนสินค้า </a:t>
            </a:r>
            <a:r>
              <a:rPr lang="en-US" sz="800" dirty="0">
                <a:solidFill>
                  <a:schemeClr val="tx1">
                    <a:lumMod val="65000"/>
                    <a:lumOff val="35000"/>
                  </a:schemeClr>
                </a:solidFill>
                <a:latin typeface="BLS Text" panose="00000500000000000000" pitchFamily="2" charset="-34"/>
                <a:cs typeface="BLS Text" pitchFamily="2" charset="-34"/>
              </a:rPr>
              <a:t>premium </a:t>
            </a:r>
            <a:r>
              <a:rPr lang="th-TH" sz="800" dirty="0">
                <a:solidFill>
                  <a:schemeClr val="tx1">
                    <a:lumMod val="65000"/>
                    <a:lumOff val="35000"/>
                  </a:schemeClr>
                </a:solidFill>
                <a:latin typeface="BLS Text" panose="00000500000000000000" pitchFamily="2" charset="-34"/>
                <a:cs typeface="BLS Text" pitchFamily="2" charset="-34"/>
              </a:rPr>
              <a:t>สูงขึ้นในไตรมาส 1</a:t>
            </a:r>
            <a:r>
              <a:rPr lang="en-US" sz="800" dirty="0">
                <a:solidFill>
                  <a:schemeClr val="tx1">
                    <a:lumMod val="65000"/>
                    <a:lumOff val="35000"/>
                  </a:schemeClr>
                </a:solidFill>
                <a:latin typeface="BLS Text" panose="00000500000000000000" pitchFamily="2" charset="-34"/>
                <a:cs typeface="BLS Text" pitchFamily="2" charset="-34"/>
              </a:rPr>
              <a:t> </a:t>
            </a:r>
            <a:r>
              <a:rPr lang="th-TH" sz="800" dirty="0">
                <a:solidFill>
                  <a:schemeClr val="tx1">
                    <a:lumMod val="65000"/>
                    <a:lumOff val="35000"/>
                  </a:schemeClr>
                </a:solidFill>
                <a:latin typeface="BLS Text" panose="00000500000000000000" pitchFamily="2" charset="-34"/>
                <a:cs typeface="BLS Text" pitchFamily="2" charset="-34"/>
              </a:rPr>
              <a:t>และความต้องการสินค้ายังแข็งแกร่งต่อใน 2</a:t>
            </a:r>
            <a:r>
              <a:rPr lang="en-US" sz="800" dirty="0">
                <a:solidFill>
                  <a:schemeClr val="tx1">
                    <a:lumMod val="65000"/>
                    <a:lumOff val="35000"/>
                  </a:schemeClr>
                </a:solidFill>
                <a:latin typeface="BLS Text" panose="00000500000000000000" pitchFamily="2" charset="-34"/>
                <a:cs typeface="BLS Text" pitchFamily="2" charset="-34"/>
              </a:rPr>
              <a:t>Q26</a:t>
            </a:r>
            <a:r>
              <a:rPr lang="th-TH" sz="800" dirty="0">
                <a:solidFill>
                  <a:schemeClr val="tx1">
                    <a:lumMod val="65000"/>
                    <a:lumOff val="35000"/>
                  </a:schemeClr>
                </a:solidFill>
                <a:latin typeface="BLS Text" panose="00000500000000000000" pitchFamily="2" charset="-34"/>
                <a:cs typeface="BLS Text" pitchFamily="2" charset="-34"/>
              </a:rPr>
              <a:t> หนุนการปรับราคาขายขึ้น</a:t>
            </a:r>
            <a:r>
              <a:rPr lang="en-US" sz="800" dirty="0">
                <a:solidFill>
                  <a:schemeClr val="tx1">
                    <a:lumMod val="65000"/>
                    <a:lumOff val="35000"/>
                  </a:schemeClr>
                </a:solidFill>
                <a:latin typeface="BLS Text" panose="00000500000000000000" pitchFamily="2" charset="-34"/>
                <a:cs typeface="BLS Text" pitchFamily="2" charset="-34"/>
              </a:rPr>
              <a:t>,</a:t>
            </a:r>
            <a:r>
              <a:rPr lang="th-TH" sz="800" dirty="0">
                <a:solidFill>
                  <a:schemeClr val="tx1">
                    <a:lumMod val="65000"/>
                    <a:lumOff val="35000"/>
                  </a:schemeClr>
                </a:solidFill>
                <a:latin typeface="BLS Text" panose="00000500000000000000" pitchFamily="2" charset="-34"/>
                <a:cs typeface="BLS Text" pitchFamily="2" charset="-34"/>
              </a:rPr>
              <a:t> สต๊อกวัตถุดิบมีถึงประมาณเดือนพ.ค.</a:t>
            </a:r>
            <a:r>
              <a:rPr lang="en-US" sz="800" dirty="0">
                <a:solidFill>
                  <a:schemeClr val="tx1">
                    <a:lumMod val="65000"/>
                    <a:lumOff val="35000"/>
                  </a:schemeClr>
                </a:solidFill>
                <a:latin typeface="BLS Text" panose="00000500000000000000" pitchFamily="2" charset="-34"/>
                <a:cs typeface="BLS Text" pitchFamily="2" charset="-34"/>
              </a:rPr>
              <a:t>,</a:t>
            </a:r>
            <a:r>
              <a:rPr lang="th-TH" sz="800" dirty="0">
                <a:solidFill>
                  <a:schemeClr val="tx1">
                    <a:lumMod val="65000"/>
                    <a:lumOff val="35000"/>
                  </a:schemeClr>
                </a:solidFill>
                <a:latin typeface="BLS Text" panose="00000500000000000000" pitchFamily="2" charset="-34"/>
                <a:cs typeface="BLS Text" pitchFamily="2" charset="-34"/>
              </a:rPr>
              <a:t> </a:t>
            </a:r>
            <a:r>
              <a:rPr lang="en-US" sz="800" b="1" dirty="0">
                <a:solidFill>
                  <a:schemeClr val="tx1">
                    <a:lumMod val="65000"/>
                    <a:lumOff val="35000"/>
                  </a:schemeClr>
                </a:solidFill>
                <a:latin typeface="BLS Text" panose="00000500000000000000" pitchFamily="2" charset="-34"/>
                <a:cs typeface="BLS Text" pitchFamily="2" charset="-34"/>
              </a:rPr>
              <a:t>GULF</a:t>
            </a:r>
            <a:r>
              <a:rPr lang="en-US" sz="800" dirty="0">
                <a:solidFill>
                  <a:schemeClr val="tx1">
                    <a:lumMod val="65000"/>
                    <a:lumOff val="35000"/>
                  </a:schemeClr>
                </a:solidFill>
                <a:latin typeface="BLS Text" panose="00000500000000000000" pitchFamily="2" charset="-34"/>
                <a:cs typeface="BLS Text" pitchFamily="2" charset="-34"/>
              </a:rPr>
              <a:t> </a:t>
            </a:r>
            <a:r>
              <a:rPr lang="th-TH" sz="800" dirty="0">
                <a:solidFill>
                  <a:schemeClr val="tx1">
                    <a:lumMod val="65000"/>
                    <a:lumOff val="35000"/>
                  </a:schemeClr>
                </a:solidFill>
                <a:latin typeface="BLS Text" panose="00000500000000000000" pitchFamily="2" charset="-34"/>
                <a:cs typeface="BLS Text" pitchFamily="2" charset="-34"/>
              </a:rPr>
              <a:t>ราคาต่ำกว่าก่อนสงคราม 6%</a:t>
            </a:r>
            <a:r>
              <a:rPr lang="en-US" sz="800" dirty="0">
                <a:solidFill>
                  <a:schemeClr val="tx1">
                    <a:lumMod val="65000"/>
                    <a:lumOff val="35000"/>
                  </a:schemeClr>
                </a:solidFill>
                <a:latin typeface="BLS Text" panose="00000500000000000000" pitchFamily="2" charset="-34"/>
                <a:cs typeface="BLS Text" pitchFamily="2" charset="-34"/>
              </a:rPr>
              <a:t>,</a:t>
            </a:r>
            <a:r>
              <a:rPr lang="th-TH" sz="800" dirty="0">
                <a:solidFill>
                  <a:schemeClr val="tx1">
                    <a:lumMod val="65000"/>
                    <a:lumOff val="35000"/>
                  </a:schemeClr>
                </a:solidFill>
                <a:latin typeface="BLS Text" panose="00000500000000000000" pitchFamily="2" charset="-34"/>
                <a:cs typeface="BLS Text" pitchFamily="2" charset="-34"/>
              </a:rPr>
              <a:t> คาดเห็นความชัดเจนแผน </a:t>
            </a:r>
            <a:r>
              <a:rPr lang="en-US" sz="800" dirty="0">
                <a:solidFill>
                  <a:schemeClr val="tx1">
                    <a:lumMod val="65000"/>
                    <a:lumOff val="35000"/>
                  </a:schemeClr>
                </a:solidFill>
                <a:latin typeface="BLS Text" panose="00000500000000000000" pitchFamily="2" charset="-34"/>
                <a:cs typeface="BLS Text" pitchFamily="2" charset="-34"/>
              </a:rPr>
              <a:t>PDP </a:t>
            </a:r>
            <a:r>
              <a:rPr lang="th-TH" sz="800" dirty="0">
                <a:solidFill>
                  <a:schemeClr val="tx1">
                    <a:lumMod val="65000"/>
                    <a:lumOff val="35000"/>
                  </a:schemeClr>
                </a:solidFill>
                <a:latin typeface="BLS Text" panose="00000500000000000000" pitchFamily="2" charset="-34"/>
                <a:cs typeface="BLS Text" pitchFamily="2" charset="-34"/>
              </a:rPr>
              <a:t>ใหม่ หลังได้รัฐบาลเต็มรูปแบบเดือนเม.ย. </a:t>
            </a:r>
          </a:p>
          <a:p>
            <a:pPr algn="thaiDist">
              <a:lnSpc>
                <a:spcPct val="120000"/>
              </a:lnSpc>
              <a:spcBef>
                <a:spcPts val="400"/>
              </a:spcBef>
              <a:buSzPct val="120000"/>
            </a:pPr>
            <a:r>
              <a:rPr lang="th-TH" sz="800" b="1" dirty="0">
                <a:solidFill>
                  <a:schemeClr val="tx1">
                    <a:lumMod val="65000"/>
                    <a:lumOff val="35000"/>
                  </a:schemeClr>
                </a:solidFill>
                <a:latin typeface="BLS Text" panose="00000500000000000000" pitchFamily="2" charset="-34"/>
                <a:cs typeface="BLS Text" pitchFamily="2" charset="-34"/>
              </a:rPr>
              <a:t>2) </a:t>
            </a:r>
            <a:r>
              <a:rPr lang="en-US" sz="800" b="1" dirty="0">
                <a:solidFill>
                  <a:schemeClr val="tx1">
                    <a:lumMod val="65000"/>
                    <a:lumOff val="35000"/>
                  </a:schemeClr>
                </a:solidFill>
                <a:latin typeface="BLS Text" panose="00000500000000000000" pitchFamily="2" charset="-34"/>
                <a:cs typeface="BLS Text" pitchFamily="2" charset="-34"/>
              </a:rPr>
              <a:t>Dividend-supported recovery (</a:t>
            </a:r>
            <a:r>
              <a:rPr lang="th-TH" sz="800" b="1" dirty="0">
                <a:solidFill>
                  <a:schemeClr val="tx1">
                    <a:lumMod val="65000"/>
                    <a:lumOff val="35000"/>
                  </a:schemeClr>
                </a:solidFill>
                <a:latin typeface="BLS Text" panose="00000500000000000000" pitchFamily="2" charset="-34"/>
                <a:cs typeface="BLS Text" pitchFamily="2" charset="-34"/>
              </a:rPr>
              <a:t>มีเงินปันผลรองรับระยะสั้น): </a:t>
            </a:r>
            <a:r>
              <a:rPr lang="th-TH" sz="800" dirty="0">
                <a:solidFill>
                  <a:schemeClr val="tx1">
                    <a:lumMod val="65000"/>
                    <a:lumOff val="35000"/>
                  </a:schemeClr>
                </a:solidFill>
                <a:latin typeface="BLS Text" panose="00000500000000000000" pitchFamily="2" charset="-34"/>
                <a:cs typeface="BLS Text" pitchFamily="2" charset="-34"/>
              </a:rPr>
              <a:t>หุ้นที่มี </a:t>
            </a:r>
            <a:r>
              <a:rPr lang="en-US" sz="800" dirty="0">
                <a:solidFill>
                  <a:schemeClr val="tx1">
                    <a:lumMod val="65000"/>
                    <a:lumOff val="35000"/>
                  </a:schemeClr>
                </a:solidFill>
                <a:latin typeface="BLS Text" panose="00000500000000000000" pitchFamily="2" charset="-34"/>
                <a:cs typeface="BLS Text" pitchFamily="2" charset="-34"/>
              </a:rPr>
              <a:t>dividend yield </a:t>
            </a:r>
            <a:r>
              <a:rPr lang="th-TH" sz="800" dirty="0">
                <a:solidFill>
                  <a:schemeClr val="tx1">
                    <a:lumMod val="65000"/>
                    <a:lumOff val="35000"/>
                  </a:schemeClr>
                </a:solidFill>
                <a:latin typeface="BLS Text" panose="00000500000000000000" pitchFamily="2" charset="-34"/>
                <a:cs typeface="BLS Text" pitchFamily="2" charset="-34"/>
              </a:rPr>
              <a:t>ระยะสั้น (1–2 เดือน) ช่วยจำกัด </a:t>
            </a:r>
            <a:r>
              <a:rPr lang="en-US" sz="800" dirty="0">
                <a:solidFill>
                  <a:schemeClr val="tx1">
                    <a:lumMod val="65000"/>
                    <a:lumOff val="35000"/>
                  </a:schemeClr>
                </a:solidFill>
                <a:latin typeface="BLS Text" panose="00000500000000000000" pitchFamily="2" charset="-34"/>
                <a:cs typeface="BLS Text" pitchFamily="2" charset="-34"/>
              </a:rPr>
              <a:t>downside </a:t>
            </a:r>
            <a:r>
              <a:rPr lang="th-TH" sz="800" dirty="0">
                <a:solidFill>
                  <a:schemeClr val="tx1">
                    <a:lumMod val="65000"/>
                    <a:lumOff val="35000"/>
                  </a:schemeClr>
                </a:solidFill>
                <a:latin typeface="BLS Text" panose="00000500000000000000" pitchFamily="2" charset="-34"/>
                <a:cs typeface="BLS Text" pitchFamily="2" charset="-34"/>
              </a:rPr>
              <a:t>พร้อมพื้นฐานไม่ได้รับผลกระทบจากต้นทุนพลังงานมาก เช่น </a:t>
            </a:r>
            <a:r>
              <a:rPr lang="en-US" sz="800" b="1" dirty="0">
                <a:solidFill>
                  <a:schemeClr val="tx1">
                    <a:lumMod val="65000"/>
                    <a:lumOff val="35000"/>
                  </a:schemeClr>
                </a:solidFill>
                <a:latin typeface="BLS Text" panose="00000500000000000000" pitchFamily="2" charset="-34"/>
                <a:cs typeface="BLS Text" pitchFamily="2" charset="-34"/>
              </a:rPr>
              <a:t>BBL</a:t>
            </a:r>
            <a:r>
              <a:rPr lang="en-US" sz="800" dirty="0">
                <a:solidFill>
                  <a:schemeClr val="tx1">
                    <a:lumMod val="65000"/>
                    <a:lumOff val="35000"/>
                  </a:schemeClr>
                </a:solidFill>
                <a:latin typeface="BLS Text" panose="00000500000000000000" pitchFamily="2" charset="-34"/>
                <a:cs typeface="BLS Text" pitchFamily="2" charset="-34"/>
              </a:rPr>
              <a:t> </a:t>
            </a:r>
            <a:r>
              <a:rPr lang="th-TH" sz="800" dirty="0">
                <a:solidFill>
                  <a:schemeClr val="tx1">
                    <a:lumMod val="65000"/>
                    <a:lumOff val="35000"/>
                  </a:schemeClr>
                </a:solidFill>
                <a:latin typeface="BLS Text" panose="00000500000000000000" pitchFamily="2" charset="-34"/>
                <a:cs typeface="BLS Text" pitchFamily="2" charset="-34"/>
              </a:rPr>
              <a:t>ราคาต่ำกว่าก่อนสงคราม 5.6%, อัตราผลตอบแทนเงินปันผล 4.8%, </a:t>
            </a:r>
            <a:r>
              <a:rPr lang="en-US" sz="800" dirty="0">
                <a:solidFill>
                  <a:schemeClr val="tx1">
                    <a:lumMod val="65000"/>
                    <a:lumOff val="35000"/>
                  </a:schemeClr>
                </a:solidFill>
                <a:latin typeface="BLS Text" panose="00000500000000000000" pitchFamily="2" charset="-34"/>
                <a:cs typeface="BLS Text" pitchFamily="2" charset="-34"/>
              </a:rPr>
              <a:t>XD </a:t>
            </a:r>
            <a:r>
              <a:rPr lang="th-TH" sz="800" dirty="0">
                <a:solidFill>
                  <a:schemeClr val="tx1">
                    <a:lumMod val="65000"/>
                    <a:lumOff val="35000"/>
                  </a:schemeClr>
                </a:solidFill>
                <a:latin typeface="BLS Text" panose="00000500000000000000" pitchFamily="2" charset="-34"/>
                <a:cs typeface="BLS Text" pitchFamily="2" charset="-34"/>
              </a:rPr>
              <a:t>วันที่ 22 เม.ย.</a:t>
            </a:r>
            <a:r>
              <a:rPr lang="en-US" sz="800" dirty="0">
                <a:solidFill>
                  <a:schemeClr val="tx1">
                    <a:lumMod val="65000"/>
                    <a:lumOff val="35000"/>
                  </a:schemeClr>
                </a:solidFill>
                <a:latin typeface="BLS Text" panose="00000500000000000000" pitchFamily="2" charset="-34"/>
                <a:cs typeface="BLS Text" pitchFamily="2" charset="-34"/>
              </a:rPr>
              <a:t>, </a:t>
            </a:r>
            <a:r>
              <a:rPr lang="en-US" sz="800" b="1" dirty="0">
                <a:solidFill>
                  <a:schemeClr val="tx1">
                    <a:lumMod val="65000"/>
                    <a:lumOff val="35000"/>
                  </a:schemeClr>
                </a:solidFill>
                <a:latin typeface="BLS Text" panose="00000500000000000000" pitchFamily="2" charset="-34"/>
                <a:cs typeface="BLS Text" pitchFamily="2" charset="-34"/>
              </a:rPr>
              <a:t>WHA</a:t>
            </a:r>
            <a:r>
              <a:rPr lang="en-US" sz="800" dirty="0">
                <a:solidFill>
                  <a:schemeClr val="tx1">
                    <a:lumMod val="65000"/>
                    <a:lumOff val="35000"/>
                  </a:schemeClr>
                </a:solidFill>
                <a:latin typeface="BLS Text" panose="00000500000000000000" pitchFamily="2" charset="-34"/>
                <a:cs typeface="BLS Text" pitchFamily="2" charset="-34"/>
              </a:rPr>
              <a:t> </a:t>
            </a:r>
            <a:r>
              <a:rPr lang="th-TH" sz="800" dirty="0">
                <a:solidFill>
                  <a:schemeClr val="tx1">
                    <a:lumMod val="65000"/>
                    <a:lumOff val="35000"/>
                  </a:schemeClr>
                </a:solidFill>
                <a:latin typeface="BLS Text" panose="00000500000000000000" pitchFamily="2" charset="-34"/>
                <a:cs typeface="BLS Text" pitchFamily="2" charset="-34"/>
              </a:rPr>
              <a:t>ราคาต่ำกว่าก่อนสงคราม 5.5%, อัตราผลตอบแทนเงินปันผล 3.5%, </a:t>
            </a:r>
            <a:r>
              <a:rPr lang="en-US" sz="800" dirty="0">
                <a:solidFill>
                  <a:schemeClr val="tx1">
                    <a:lumMod val="65000"/>
                    <a:lumOff val="35000"/>
                  </a:schemeClr>
                </a:solidFill>
                <a:latin typeface="BLS Text" panose="00000500000000000000" pitchFamily="2" charset="-34"/>
                <a:cs typeface="BLS Text" pitchFamily="2" charset="-34"/>
              </a:rPr>
              <a:t>XD </a:t>
            </a:r>
            <a:r>
              <a:rPr lang="th-TH" sz="800" dirty="0">
                <a:solidFill>
                  <a:schemeClr val="tx1">
                    <a:lumMod val="65000"/>
                    <a:lumOff val="35000"/>
                  </a:schemeClr>
                </a:solidFill>
                <a:latin typeface="BLS Text" panose="00000500000000000000" pitchFamily="2" charset="-34"/>
                <a:cs typeface="BLS Text" pitchFamily="2" charset="-34"/>
              </a:rPr>
              <a:t>วันที่ 11 พ.ค. </a:t>
            </a:r>
            <a:r>
              <a:rPr lang="en-US" sz="800" dirty="0">
                <a:solidFill>
                  <a:schemeClr val="tx2"/>
                </a:solidFill>
                <a:latin typeface="BLS Text" panose="00000500000000000000" pitchFamily="2" charset="-34"/>
                <a:cs typeface="BLS Text" pitchFamily="2" charset="-34"/>
              </a:rPr>
              <a:t>(</a:t>
            </a:r>
            <a:r>
              <a:rPr lang="th-TH" sz="800" dirty="0">
                <a:solidFill>
                  <a:schemeClr val="tx2"/>
                </a:solidFill>
                <a:latin typeface="BLS Text" panose="00000500000000000000" pitchFamily="2" charset="-34"/>
                <a:cs typeface="BLS Text" pitchFamily="2" charset="-34"/>
              </a:rPr>
              <a:t>ต่อหน้า 2</a:t>
            </a:r>
            <a:r>
              <a:rPr lang="en-US" sz="800" dirty="0">
                <a:solidFill>
                  <a:schemeClr val="tx2"/>
                </a:solidFill>
                <a:latin typeface="BLS Text" panose="00000500000000000000" pitchFamily="2" charset="-34"/>
                <a:cs typeface="BLS Text" pitchFamily="2" charset="-34"/>
              </a:rPr>
              <a:t>)</a:t>
            </a:r>
            <a:endParaRPr lang="th-TH" sz="800" dirty="0">
              <a:solidFill>
                <a:schemeClr val="tx2"/>
              </a:solidFill>
              <a:latin typeface="BLS Text" panose="00000500000000000000" pitchFamily="2" charset="-34"/>
              <a:cs typeface="BLS Text" pitchFamily="2" charset="-34"/>
            </a:endParaRPr>
          </a:p>
        </p:txBody>
      </p:sp>
      <p:cxnSp>
        <p:nvCxnSpPr>
          <p:cNvPr id="3" name="Straight Connector 2">
            <a:extLst>
              <a:ext uri="{FF2B5EF4-FFF2-40B4-BE49-F238E27FC236}">
                <a16:creationId xmlns:a16="http://schemas.microsoft.com/office/drawing/2014/main" id="{3FB7FD5E-C2F4-696F-9623-665905EA508D}"/>
              </a:ext>
            </a:extLst>
          </p:cNvPr>
          <p:cNvCxnSpPr/>
          <p:nvPr/>
        </p:nvCxnSpPr>
        <p:spPr>
          <a:xfrm>
            <a:off x="2161884" y="410050"/>
            <a:ext cx="0" cy="230832"/>
          </a:xfrm>
          <a:prstGeom prst="line">
            <a:avLst/>
          </a:prstGeom>
          <a:ln w="3175">
            <a:solidFill>
              <a:srgbClr val="002060"/>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F492222F-6A22-6060-8AE7-28693619881E}"/>
              </a:ext>
            </a:extLst>
          </p:cNvPr>
          <p:cNvSpPr txBox="1"/>
          <p:nvPr/>
        </p:nvSpPr>
        <p:spPr>
          <a:xfrm>
            <a:off x="2161884" y="337471"/>
            <a:ext cx="1411131" cy="369332"/>
          </a:xfrm>
          <a:prstGeom prst="rect">
            <a:avLst/>
          </a:prstGeom>
          <a:noFill/>
        </p:spPr>
        <p:txBody>
          <a:bodyPr wrap="square" rtlCol="0">
            <a:spAutoFit/>
          </a:bodyPr>
          <a:lstStyle/>
          <a:p>
            <a:r>
              <a:rPr lang="en-US" sz="900" b="1" dirty="0">
                <a:solidFill>
                  <a:schemeClr val="accent3">
                    <a:lumMod val="50000"/>
                  </a:schemeClr>
                </a:solidFill>
                <a:latin typeface="Arial" pitchFamily="34" charset="0"/>
                <a:cs typeface="Arial" pitchFamily="34" charset="0"/>
              </a:rPr>
              <a:t>Data-driven</a:t>
            </a:r>
            <a:endParaRPr lang="th-TH" sz="900" b="1" dirty="0">
              <a:solidFill>
                <a:schemeClr val="accent3">
                  <a:lumMod val="50000"/>
                </a:schemeClr>
              </a:solidFill>
              <a:latin typeface="Arial" pitchFamily="34" charset="0"/>
              <a:cs typeface="Arial" pitchFamily="34" charset="0"/>
            </a:endParaRPr>
          </a:p>
          <a:p>
            <a:r>
              <a:rPr lang="en-US" sz="900" b="1" dirty="0">
                <a:solidFill>
                  <a:schemeClr val="tx2">
                    <a:lumMod val="50000"/>
                  </a:schemeClr>
                </a:solidFill>
                <a:latin typeface="Arial" pitchFamily="34" charset="0"/>
                <a:cs typeface="Arial" pitchFamily="34" charset="0"/>
              </a:rPr>
              <a:t>RESEARCH</a:t>
            </a:r>
          </a:p>
        </p:txBody>
      </p:sp>
      <p:cxnSp>
        <p:nvCxnSpPr>
          <p:cNvPr id="59" name="Straight Connector 58">
            <a:extLst>
              <a:ext uri="{FF2B5EF4-FFF2-40B4-BE49-F238E27FC236}">
                <a16:creationId xmlns:a16="http://schemas.microsoft.com/office/drawing/2014/main" id="{11C7C5D5-EAE4-B3E6-9DF7-E15CEA3E4EEB}"/>
              </a:ext>
            </a:extLst>
          </p:cNvPr>
          <p:cNvCxnSpPr>
            <a:cxnSpLocks/>
          </p:cNvCxnSpPr>
          <p:nvPr/>
        </p:nvCxnSpPr>
        <p:spPr>
          <a:xfrm>
            <a:off x="4008212" y="4704969"/>
            <a:ext cx="2743200" cy="0"/>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241A465B-AFF2-BD30-A3C3-2B78B03168F9}"/>
              </a:ext>
            </a:extLst>
          </p:cNvPr>
          <p:cNvSpPr txBox="1"/>
          <p:nvPr/>
        </p:nvSpPr>
        <p:spPr>
          <a:xfrm>
            <a:off x="4018706" y="4716016"/>
            <a:ext cx="2290634" cy="230832"/>
          </a:xfrm>
          <a:prstGeom prst="rect">
            <a:avLst/>
          </a:prstGeom>
          <a:noFill/>
        </p:spPr>
        <p:txBody>
          <a:bodyPr wrap="square" lIns="0" rIns="0" rtlCol="0">
            <a:spAutoFit/>
          </a:bodyPr>
          <a:lstStyle/>
          <a:p>
            <a:r>
              <a:rPr lang="en-US" sz="900" dirty="0">
                <a:solidFill>
                  <a:srgbClr val="A17D3D"/>
                </a:solidFill>
                <a:latin typeface="BLS Condensed" pitchFamily="2" charset="-34"/>
                <a:ea typeface="Tahoma" pitchFamily="34" charset="0"/>
                <a:cs typeface="BLS Condensed" pitchFamily="2" charset="-34"/>
              </a:rPr>
              <a:t>1) Discount from pre-war level (</a:t>
            </a:r>
            <a:r>
              <a:rPr lang="th-TH" sz="900" dirty="0">
                <a:solidFill>
                  <a:srgbClr val="A17D3D"/>
                </a:solidFill>
                <a:latin typeface="BLS Condensed" pitchFamily="2" charset="-34"/>
                <a:ea typeface="Tahoma" pitchFamily="34" charset="0"/>
                <a:cs typeface="BLS Condensed" pitchFamily="2" charset="-34"/>
              </a:rPr>
              <a:t>ลงแรงเกินพื้นฐาน) </a:t>
            </a:r>
            <a:endParaRPr lang="en-US" sz="900" dirty="0">
              <a:solidFill>
                <a:srgbClr val="A17D3D"/>
              </a:solidFill>
              <a:latin typeface="BLS Condensed" pitchFamily="2" charset="-34"/>
              <a:ea typeface="Tahoma" pitchFamily="34" charset="0"/>
              <a:cs typeface="BLS Condensed" pitchFamily="2" charset="-34"/>
            </a:endParaRPr>
          </a:p>
        </p:txBody>
      </p:sp>
      <p:pic>
        <p:nvPicPr>
          <p:cNvPr id="8" name="Picture 7">
            <a:extLst>
              <a:ext uri="{FF2B5EF4-FFF2-40B4-BE49-F238E27FC236}">
                <a16:creationId xmlns:a16="http://schemas.microsoft.com/office/drawing/2014/main" id="{90C5826A-82F6-493F-C6AA-E5918A636E04}"/>
              </a:ext>
            </a:extLst>
          </p:cNvPr>
          <p:cNvPicPr>
            <a:picLocks noChangeAspect="1"/>
          </p:cNvPicPr>
          <p:nvPr/>
        </p:nvPicPr>
        <p:blipFill rotWithShape="1">
          <a:blip r:embed="rId6"/>
          <a:srcRect b="2850"/>
          <a:stretch/>
        </p:blipFill>
        <p:spPr>
          <a:xfrm>
            <a:off x="4045727" y="4932040"/>
            <a:ext cx="2688080" cy="1383812"/>
          </a:xfrm>
          <a:prstGeom prst="rect">
            <a:avLst/>
          </a:prstGeom>
        </p:spPr>
      </p:pic>
      <p:sp>
        <p:nvSpPr>
          <p:cNvPr id="47" name="TextBox 46">
            <a:extLst>
              <a:ext uri="{FF2B5EF4-FFF2-40B4-BE49-F238E27FC236}">
                <a16:creationId xmlns:a16="http://schemas.microsoft.com/office/drawing/2014/main" id="{C9066BA8-BE99-5985-B984-4F43D0AC32DB}"/>
              </a:ext>
            </a:extLst>
          </p:cNvPr>
          <p:cNvSpPr txBox="1"/>
          <p:nvPr/>
        </p:nvSpPr>
        <p:spPr>
          <a:xfrm>
            <a:off x="4293096" y="8486854"/>
            <a:ext cx="2471462" cy="261610"/>
          </a:xfrm>
          <a:prstGeom prst="rect">
            <a:avLst/>
          </a:prstGeom>
          <a:noFill/>
          <a:ln>
            <a:noFill/>
          </a:ln>
        </p:spPr>
        <p:txBody>
          <a:bodyPr wrap="square" rtlCol="0">
            <a:spAutoFit/>
          </a:bodyPr>
          <a:lstStyle/>
          <a:p>
            <a:pPr algn="r"/>
            <a:r>
              <a:rPr lang="en-US" sz="900" b="1" dirty="0">
                <a:solidFill>
                  <a:schemeClr val="accent5">
                    <a:lumMod val="75000"/>
                  </a:schemeClr>
                </a:solidFill>
                <a:latin typeface="BLS Condensed" pitchFamily="2" charset="-34"/>
                <a:ea typeface="Tahoma" pitchFamily="34" charset="0"/>
                <a:cs typeface="BLS Condensed" pitchFamily="2" charset="-34"/>
              </a:rPr>
              <a:t>Wealth Research</a:t>
            </a:r>
            <a:endParaRPr lang="en-US" sz="500" dirty="0">
              <a:solidFill>
                <a:schemeClr val="tx1">
                  <a:lumMod val="95000"/>
                  <a:lumOff val="5000"/>
                </a:schemeClr>
              </a:solidFill>
              <a:latin typeface="BLS Condensed" pitchFamily="2" charset="-34"/>
              <a:ea typeface="Tahoma" pitchFamily="34" charset="0"/>
              <a:cs typeface="BLS Condensed" pitchFamily="2" charset="-34"/>
            </a:endParaRPr>
          </a:p>
          <a:p>
            <a:pPr algn="r"/>
            <a:endParaRPr lang="en-US" sz="200" dirty="0">
              <a:solidFill>
                <a:srgbClr val="404040"/>
              </a:solidFill>
              <a:latin typeface="BLS Condensed" pitchFamily="2" charset="-34"/>
              <a:ea typeface="Tahoma" pitchFamily="34" charset="0"/>
              <a:cs typeface="BLS Condensed" pitchFamily="2" charset="-34"/>
            </a:endParaRPr>
          </a:p>
        </p:txBody>
      </p:sp>
      <p:cxnSp>
        <p:nvCxnSpPr>
          <p:cNvPr id="48" name="Straight Connector 47">
            <a:extLst>
              <a:ext uri="{FF2B5EF4-FFF2-40B4-BE49-F238E27FC236}">
                <a16:creationId xmlns:a16="http://schemas.microsoft.com/office/drawing/2014/main" id="{DB442B00-E779-9C8E-61D1-873917185A99}"/>
              </a:ext>
            </a:extLst>
          </p:cNvPr>
          <p:cNvCxnSpPr/>
          <p:nvPr/>
        </p:nvCxnSpPr>
        <p:spPr>
          <a:xfrm>
            <a:off x="4437360" y="8264589"/>
            <a:ext cx="2232000" cy="0"/>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A457ED2F-E361-DE3A-BDB9-F5BB7E8B266C}"/>
              </a:ext>
            </a:extLst>
          </p:cNvPr>
          <p:cNvPicPr>
            <a:picLocks noChangeAspect="1"/>
          </p:cNvPicPr>
          <p:nvPr/>
        </p:nvPicPr>
        <p:blipFill>
          <a:blip r:embed="rId7"/>
          <a:stretch>
            <a:fillRect/>
          </a:stretch>
        </p:blipFill>
        <p:spPr>
          <a:xfrm>
            <a:off x="4018706" y="6516216"/>
            <a:ext cx="2705070" cy="2027709"/>
          </a:xfrm>
          <a:prstGeom prst="rect">
            <a:avLst/>
          </a:prstGeom>
        </p:spPr>
      </p:pic>
      <p:sp>
        <p:nvSpPr>
          <p:cNvPr id="14" name="TextBox 13">
            <a:extLst>
              <a:ext uri="{FF2B5EF4-FFF2-40B4-BE49-F238E27FC236}">
                <a16:creationId xmlns:a16="http://schemas.microsoft.com/office/drawing/2014/main" id="{C3045D37-3163-597E-F418-C9A8ADD16B9F}"/>
              </a:ext>
            </a:extLst>
          </p:cNvPr>
          <p:cNvSpPr txBox="1"/>
          <p:nvPr/>
        </p:nvSpPr>
        <p:spPr>
          <a:xfrm>
            <a:off x="4018706" y="6300192"/>
            <a:ext cx="2616879" cy="230832"/>
          </a:xfrm>
          <a:prstGeom prst="rect">
            <a:avLst/>
          </a:prstGeom>
          <a:noFill/>
        </p:spPr>
        <p:txBody>
          <a:bodyPr wrap="square" lIns="0" rIns="0" rtlCol="0">
            <a:spAutoFit/>
          </a:bodyPr>
          <a:lstStyle/>
          <a:p>
            <a:r>
              <a:rPr lang="en-US" sz="900" dirty="0">
                <a:solidFill>
                  <a:srgbClr val="A17D3D"/>
                </a:solidFill>
                <a:latin typeface="BLS Condensed" pitchFamily="2" charset="-34"/>
                <a:ea typeface="Tahoma" pitchFamily="34" charset="0"/>
                <a:cs typeface="BLS Condensed" pitchFamily="2" charset="-34"/>
              </a:rPr>
              <a:t>2) Dividend-supported recovery (</a:t>
            </a:r>
            <a:r>
              <a:rPr lang="th-TH" sz="900" dirty="0">
                <a:solidFill>
                  <a:srgbClr val="A17D3D"/>
                </a:solidFill>
                <a:latin typeface="BLS Condensed" pitchFamily="2" charset="-34"/>
                <a:ea typeface="Tahoma" pitchFamily="34" charset="0"/>
                <a:cs typeface="BLS Condensed" pitchFamily="2" charset="-34"/>
              </a:rPr>
              <a:t>มีเงินปันผลรองรับระยะสั้น)</a:t>
            </a:r>
            <a:endParaRPr lang="en-US" sz="900" dirty="0">
              <a:solidFill>
                <a:srgbClr val="A17D3D"/>
              </a:solidFill>
              <a:latin typeface="BLS Condensed" pitchFamily="2" charset="-34"/>
              <a:ea typeface="Tahoma" pitchFamily="34" charset="0"/>
              <a:cs typeface="BLS Condensed" pitchFamily="2" charset="-34"/>
            </a:endParaRPr>
          </a:p>
        </p:txBody>
      </p:sp>
      <p:sp>
        <p:nvSpPr>
          <p:cNvPr id="11" name="TextBox 10">
            <a:extLst>
              <a:ext uri="{FF2B5EF4-FFF2-40B4-BE49-F238E27FC236}">
                <a16:creationId xmlns:a16="http://schemas.microsoft.com/office/drawing/2014/main" id="{C7236C13-3759-8FB1-0CD1-5FC325CB7A9A}"/>
              </a:ext>
            </a:extLst>
          </p:cNvPr>
          <p:cNvSpPr txBox="1"/>
          <p:nvPr/>
        </p:nvSpPr>
        <p:spPr>
          <a:xfrm>
            <a:off x="3461403" y="8611125"/>
            <a:ext cx="2471462" cy="569387"/>
          </a:xfrm>
          <a:prstGeom prst="rect">
            <a:avLst/>
          </a:prstGeom>
          <a:noFill/>
          <a:ln>
            <a:noFill/>
          </a:ln>
        </p:spPr>
        <p:txBody>
          <a:bodyPr wrap="square" rtlCol="0">
            <a:spAutoFit/>
          </a:bodyPr>
          <a:lstStyle/>
          <a:p>
            <a:pPr algn="r"/>
            <a:r>
              <a:rPr lang="th-TH" sz="700" dirty="0">
                <a:solidFill>
                  <a:srgbClr val="404040"/>
                </a:solidFill>
                <a:latin typeface="BLS Condensed" pitchFamily="2" charset="-34"/>
                <a:ea typeface="Tahoma" pitchFamily="34" charset="0"/>
                <a:cs typeface="BLS Condensed" pitchFamily="2" charset="-34"/>
              </a:rPr>
              <a:t>พิริยพล  คงวาณิช</a:t>
            </a:r>
            <a:endParaRPr lang="en-US" sz="700" dirty="0">
              <a:solidFill>
                <a:srgbClr val="404040"/>
              </a:solidFill>
              <a:latin typeface="BLS Condensed" pitchFamily="2" charset="-34"/>
              <a:ea typeface="Tahoma" pitchFamily="34" charset="0"/>
              <a:cs typeface="BLS Condensed" pitchFamily="2" charset="-34"/>
            </a:endParaRPr>
          </a:p>
          <a:p>
            <a:pPr algn="r"/>
            <a:r>
              <a:rPr lang="th-TH" sz="500" dirty="0">
                <a:solidFill>
                  <a:srgbClr val="404040"/>
                </a:solidFill>
                <a:latin typeface="BLS Condensed" pitchFamily="2" charset="-34"/>
                <a:ea typeface="Tahoma" pitchFamily="34" charset="0"/>
                <a:cs typeface="BLS Condensed" pitchFamily="2" charset="-34"/>
              </a:rPr>
              <a:t>นักกลยุทธ์/ผู้จัดการกองทุน/</a:t>
            </a:r>
            <a:endParaRPr lang="en-US" sz="500" dirty="0">
              <a:solidFill>
                <a:srgbClr val="404040"/>
              </a:solidFill>
              <a:latin typeface="BLS Condensed" pitchFamily="2" charset="-34"/>
              <a:ea typeface="Tahoma" pitchFamily="34" charset="0"/>
              <a:cs typeface="BLS Condensed" pitchFamily="2" charset="-34"/>
            </a:endParaRPr>
          </a:p>
          <a:p>
            <a:pPr algn="r"/>
            <a:r>
              <a:rPr lang="th-TH" sz="500" dirty="0">
                <a:solidFill>
                  <a:srgbClr val="404040"/>
                </a:solidFill>
                <a:latin typeface="BLS Condensed" pitchFamily="2" charset="-34"/>
                <a:ea typeface="Tahoma" pitchFamily="34" charset="0"/>
                <a:cs typeface="BLS Condensed" pitchFamily="2" charset="-34"/>
              </a:rPr>
              <a:t>นักวิเคราะห์การลงทุนปัจจัยพื้นฐานด้านหลักทรัพย์</a:t>
            </a:r>
          </a:p>
          <a:p>
            <a:pPr algn="r"/>
            <a:r>
              <a:rPr lang="en-US" sz="500" dirty="0">
                <a:solidFill>
                  <a:srgbClr val="404040"/>
                </a:solidFill>
                <a:latin typeface="BLS Condensed" pitchFamily="2" charset="-34"/>
                <a:ea typeface="Tahoma" pitchFamily="34" charset="0"/>
                <a:cs typeface="BLS Condensed" pitchFamily="2" charset="-34"/>
              </a:rPr>
              <a:t>Piriyapon.kon@bualuang.co.th</a:t>
            </a:r>
          </a:p>
          <a:p>
            <a:pPr algn="r"/>
            <a:r>
              <a:rPr lang="en-US" sz="500" dirty="0">
                <a:solidFill>
                  <a:schemeClr val="accent5">
                    <a:lumMod val="75000"/>
                  </a:schemeClr>
                </a:solidFill>
                <a:latin typeface="BLS Condensed" pitchFamily="2" charset="-34"/>
                <a:ea typeface="Tahoma" pitchFamily="34" charset="0"/>
                <a:cs typeface="BLS Condensed" pitchFamily="2" charset="-34"/>
              </a:rPr>
              <a:t>+66 2 618 1333</a:t>
            </a:r>
            <a:endParaRPr lang="en-US" sz="700" dirty="0">
              <a:solidFill>
                <a:srgbClr val="404040"/>
              </a:solidFill>
              <a:latin typeface="BLS Condensed" pitchFamily="2" charset="-34"/>
              <a:ea typeface="Tahoma" pitchFamily="34" charset="0"/>
              <a:cs typeface="BLS Condensed" pitchFamily="2" charset="-34"/>
            </a:endParaRPr>
          </a:p>
          <a:p>
            <a:pPr algn="r"/>
            <a:endParaRPr lang="en-US" sz="200" dirty="0">
              <a:solidFill>
                <a:srgbClr val="404040"/>
              </a:solidFill>
              <a:latin typeface="BLS Condensed" pitchFamily="2" charset="-34"/>
              <a:ea typeface="Tahoma" pitchFamily="34" charset="0"/>
              <a:cs typeface="BLS Condensed" pitchFamily="2" charset="-34"/>
            </a:endParaRPr>
          </a:p>
          <a:p>
            <a:pPr algn="r"/>
            <a:endParaRPr lang="en-US" sz="200" dirty="0">
              <a:solidFill>
                <a:srgbClr val="404040"/>
              </a:solidFill>
              <a:latin typeface="BLS Condensed" pitchFamily="2" charset="-34"/>
              <a:ea typeface="Tahoma" pitchFamily="34" charset="0"/>
              <a:cs typeface="BLS Condensed" pitchFamily="2" charset="-34"/>
            </a:endParaRPr>
          </a:p>
        </p:txBody>
      </p:sp>
      <p:sp>
        <p:nvSpPr>
          <p:cNvPr id="13" name="TextBox 12">
            <a:extLst>
              <a:ext uri="{FF2B5EF4-FFF2-40B4-BE49-F238E27FC236}">
                <a16:creationId xmlns:a16="http://schemas.microsoft.com/office/drawing/2014/main" id="{6DCBF6DF-DDD7-732E-1011-21022104764B}"/>
              </a:ext>
            </a:extLst>
          </p:cNvPr>
          <p:cNvSpPr txBox="1"/>
          <p:nvPr/>
        </p:nvSpPr>
        <p:spPr>
          <a:xfrm>
            <a:off x="4317629" y="8676456"/>
            <a:ext cx="2471462" cy="338554"/>
          </a:xfrm>
          <a:prstGeom prst="rect">
            <a:avLst/>
          </a:prstGeom>
          <a:noFill/>
          <a:ln>
            <a:noFill/>
          </a:ln>
        </p:spPr>
        <p:txBody>
          <a:bodyPr wrap="square" rtlCol="0">
            <a:spAutoFit/>
          </a:bodyPr>
          <a:lstStyle/>
          <a:p>
            <a:pPr algn="r"/>
            <a:endParaRPr lang="en-US" sz="200" dirty="0">
              <a:solidFill>
                <a:srgbClr val="404040"/>
              </a:solidFill>
              <a:latin typeface="BLS Condensed" pitchFamily="2" charset="-34"/>
              <a:ea typeface="Tahoma" pitchFamily="34" charset="0"/>
              <a:cs typeface="BLS Condensed" pitchFamily="2" charset="-34"/>
            </a:endParaRPr>
          </a:p>
          <a:p>
            <a:pPr algn="r"/>
            <a:r>
              <a:rPr lang="th-TH" sz="700" dirty="0">
                <a:solidFill>
                  <a:srgbClr val="404040"/>
                </a:solidFill>
                <a:latin typeface="BLS Condensed" pitchFamily="2" charset="-34"/>
                <a:ea typeface="Tahoma" pitchFamily="34" charset="0"/>
                <a:cs typeface="BLS Condensed" pitchFamily="2" charset="-34"/>
              </a:rPr>
              <a:t>อิทธิ สุตัณฑวิบูลย์ </a:t>
            </a:r>
          </a:p>
          <a:p>
            <a:pPr algn="r"/>
            <a:r>
              <a:rPr lang="th-TH" sz="500" dirty="0">
                <a:solidFill>
                  <a:srgbClr val="404040"/>
                </a:solidFill>
                <a:latin typeface="BLS Condensed" pitchFamily="2" charset="-34"/>
                <a:ea typeface="Tahoma" pitchFamily="34" charset="0"/>
                <a:cs typeface="BLS Condensed" pitchFamily="2" charset="-34"/>
              </a:rPr>
              <a:t>ผู้ช่วยนักวิเคราะห์</a:t>
            </a:r>
            <a:endParaRPr lang="en-US" sz="500" dirty="0">
              <a:solidFill>
                <a:srgbClr val="404040"/>
              </a:solidFill>
              <a:latin typeface="BLS Condensed" pitchFamily="2" charset="-34"/>
              <a:ea typeface="Tahoma" pitchFamily="34" charset="0"/>
              <a:cs typeface="BLS Condensed" pitchFamily="2" charset="-34"/>
            </a:endParaRPr>
          </a:p>
          <a:p>
            <a:pPr algn="r"/>
            <a:endParaRPr lang="en-US" sz="200" dirty="0">
              <a:solidFill>
                <a:srgbClr val="404040"/>
              </a:solidFill>
              <a:latin typeface="BLS Condensed" pitchFamily="2" charset="-34"/>
              <a:ea typeface="Tahoma" pitchFamily="34" charset="0"/>
              <a:cs typeface="BLS Condensed" pitchFamily="2" charset="-34"/>
            </a:endParaRPr>
          </a:p>
        </p:txBody>
      </p:sp>
      <p:pic>
        <p:nvPicPr>
          <p:cNvPr id="7" name="Picture 6" descr="A table of numbers and letters&#10;&#10;Description automatically generated">
            <a:extLst>
              <a:ext uri="{FF2B5EF4-FFF2-40B4-BE49-F238E27FC236}">
                <a16:creationId xmlns:a16="http://schemas.microsoft.com/office/drawing/2014/main" id="{373F4994-EC38-194F-0617-53C18B7A204D}"/>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003130" y="2246637"/>
            <a:ext cx="2717706" cy="2451178"/>
          </a:xfrm>
          <a:prstGeom prst="rect">
            <a:avLst/>
          </a:prstGeom>
        </p:spPr>
      </p:pic>
    </p:spTree>
    <p:extLst>
      <p:ext uri="{BB962C8B-B14F-4D97-AF65-F5344CB8AC3E}">
        <p14:creationId xmlns:p14="http://schemas.microsoft.com/office/powerpoint/2010/main" val="508124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9AD5D-75DD-7C3E-4E12-95FE9E6DA851}"/>
            </a:ext>
          </a:extLst>
        </p:cNvPr>
        <p:cNvGrpSpPr/>
        <p:nvPr/>
      </p:nvGrpSpPr>
      <p:grpSpPr>
        <a:xfrm>
          <a:off x="0" y="0"/>
          <a:ext cx="0" cy="0"/>
          <a:chOff x="0" y="0"/>
          <a:chExt cx="0" cy="0"/>
        </a:xfrm>
      </p:grpSpPr>
      <p:pic>
        <p:nvPicPr>
          <p:cNvPr id="5" name="Picture 4" descr="Watercolor of trees in the fog&#10;&#10;Description automatically generated">
            <a:extLst>
              <a:ext uri="{FF2B5EF4-FFF2-40B4-BE49-F238E27FC236}">
                <a16:creationId xmlns:a16="http://schemas.microsoft.com/office/drawing/2014/main" id="{FB46D737-2FF6-5661-E106-CBC8C1117565}"/>
              </a:ext>
            </a:extLst>
          </p:cNvPr>
          <p:cNvPicPr>
            <a:picLocks noChangeAspect="1"/>
          </p:cNvPicPr>
          <p:nvPr/>
        </p:nvPicPr>
        <p:blipFill rotWithShape="1">
          <a:blip r:embed="rId3" cstate="print">
            <a:duotone>
              <a:schemeClr val="accent4">
                <a:shade val="45000"/>
                <a:satMod val="135000"/>
              </a:schemeClr>
              <a:prstClr val="white"/>
            </a:duotone>
            <a:alphaModFix/>
            <a:extLst>
              <a:ext uri="{BEBA8EAE-BF5A-486C-A8C5-ECC9F3942E4B}">
                <a14:imgProps xmlns:a14="http://schemas.microsoft.com/office/drawing/2010/main">
                  <a14:imgLayer r:embed="rId4">
                    <a14:imgEffect>
                      <a14:brightnessContrast bright="60000" contrast="40000"/>
                    </a14:imgEffect>
                  </a14:imgLayer>
                </a14:imgProps>
              </a:ext>
              <a:ext uri="{28A0092B-C50C-407E-A947-70E740481C1C}">
                <a14:useLocalDpi xmlns:a14="http://schemas.microsoft.com/office/drawing/2010/main" val="0"/>
              </a:ext>
            </a:extLst>
          </a:blip>
          <a:srcRect l="56413" t="2666" r="8181" b="3959"/>
          <a:stretch/>
        </p:blipFill>
        <p:spPr>
          <a:xfrm>
            <a:off x="0" y="0"/>
            <a:ext cx="6858000" cy="9144000"/>
          </a:xfrm>
          <a:prstGeom prst="rect">
            <a:avLst/>
          </a:prstGeom>
        </p:spPr>
      </p:pic>
      <p:sp>
        <p:nvSpPr>
          <p:cNvPr id="19" name="TextBox 18">
            <a:extLst>
              <a:ext uri="{FF2B5EF4-FFF2-40B4-BE49-F238E27FC236}">
                <a16:creationId xmlns:a16="http://schemas.microsoft.com/office/drawing/2014/main" id="{01D3EDA3-679C-BA8B-9EDE-9A31378F2861}"/>
              </a:ext>
            </a:extLst>
          </p:cNvPr>
          <p:cNvSpPr txBox="1"/>
          <p:nvPr/>
        </p:nvSpPr>
        <p:spPr>
          <a:xfrm>
            <a:off x="658256" y="2649508"/>
            <a:ext cx="720080" cy="230832"/>
          </a:xfrm>
          <a:prstGeom prst="rect">
            <a:avLst/>
          </a:prstGeom>
          <a:noFill/>
        </p:spPr>
        <p:txBody>
          <a:bodyPr wrap="square" rtlCol="0">
            <a:spAutoFit/>
          </a:bodyPr>
          <a:lstStyle/>
          <a:p>
            <a:r>
              <a:rPr lang="th-TH" sz="900" dirty="0">
                <a:solidFill>
                  <a:schemeClr val="bg1"/>
                </a:solidFill>
                <a:latin typeface="BLS Text" panose="00000500000000000000" pitchFamily="2" charset="-34"/>
                <a:cs typeface="BLS Text" panose="00000500000000000000" pitchFamily="2" charset="-34"/>
              </a:rPr>
              <a:t>12 ธ.ค. </a:t>
            </a:r>
          </a:p>
        </p:txBody>
      </p:sp>
      <p:sp>
        <p:nvSpPr>
          <p:cNvPr id="20" name="TextBox 19">
            <a:extLst>
              <a:ext uri="{FF2B5EF4-FFF2-40B4-BE49-F238E27FC236}">
                <a16:creationId xmlns:a16="http://schemas.microsoft.com/office/drawing/2014/main" id="{FC28B75D-C3AA-F0C5-6200-83DB873637CB}"/>
              </a:ext>
            </a:extLst>
          </p:cNvPr>
          <p:cNvSpPr txBox="1"/>
          <p:nvPr/>
        </p:nvSpPr>
        <p:spPr>
          <a:xfrm>
            <a:off x="531946" y="2641334"/>
            <a:ext cx="904643"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ราชกิจจาประกาศยุบสภา</a:t>
            </a:r>
          </a:p>
        </p:txBody>
      </p:sp>
      <p:sp>
        <p:nvSpPr>
          <p:cNvPr id="21" name="TextBox 20">
            <a:extLst>
              <a:ext uri="{FF2B5EF4-FFF2-40B4-BE49-F238E27FC236}">
                <a16:creationId xmlns:a16="http://schemas.microsoft.com/office/drawing/2014/main" id="{C1FE4F51-5E04-9485-3236-75E85E050C64}"/>
              </a:ext>
            </a:extLst>
          </p:cNvPr>
          <p:cNvSpPr txBox="1"/>
          <p:nvPr/>
        </p:nvSpPr>
        <p:spPr>
          <a:xfrm>
            <a:off x="1497212" y="2649508"/>
            <a:ext cx="779660" cy="230832"/>
          </a:xfrm>
          <a:prstGeom prst="rect">
            <a:avLst/>
          </a:prstGeom>
          <a:noFill/>
        </p:spPr>
        <p:txBody>
          <a:bodyPr wrap="square" rtlCol="0">
            <a:spAutoFit/>
          </a:bodyPr>
          <a:lstStyle/>
          <a:p>
            <a:r>
              <a:rPr lang="th-TH" sz="900" dirty="0">
                <a:solidFill>
                  <a:schemeClr val="bg1"/>
                </a:solidFill>
                <a:latin typeface="BLS Text" panose="00000500000000000000" pitchFamily="2" charset="-34"/>
                <a:cs typeface="BLS Text" panose="00000500000000000000" pitchFamily="2" charset="-34"/>
              </a:rPr>
              <a:t>13-17 ธ.ค.</a:t>
            </a:r>
          </a:p>
        </p:txBody>
      </p:sp>
      <p:sp>
        <p:nvSpPr>
          <p:cNvPr id="25" name="TextBox 24">
            <a:extLst>
              <a:ext uri="{FF2B5EF4-FFF2-40B4-BE49-F238E27FC236}">
                <a16:creationId xmlns:a16="http://schemas.microsoft.com/office/drawing/2014/main" id="{D3C2255B-69C2-3386-D320-629A8A4034DA}"/>
              </a:ext>
            </a:extLst>
          </p:cNvPr>
          <p:cNvSpPr txBox="1"/>
          <p:nvPr/>
        </p:nvSpPr>
        <p:spPr>
          <a:xfrm>
            <a:off x="2319090" y="2649508"/>
            <a:ext cx="779660" cy="230832"/>
          </a:xfrm>
          <a:prstGeom prst="rect">
            <a:avLst/>
          </a:prstGeom>
          <a:noFill/>
        </p:spPr>
        <p:txBody>
          <a:bodyPr wrap="square" rtlCol="0">
            <a:spAutoFit/>
          </a:bodyPr>
          <a:lstStyle/>
          <a:p>
            <a:r>
              <a:rPr lang="th-TH" sz="900" dirty="0">
                <a:solidFill>
                  <a:schemeClr val="bg1"/>
                </a:solidFill>
                <a:latin typeface="BLS Text" panose="00000500000000000000" pitchFamily="2" charset="-34"/>
                <a:cs typeface="BLS Text" panose="00000500000000000000" pitchFamily="2" charset="-34"/>
              </a:rPr>
              <a:t>20-28 ธ.ค.</a:t>
            </a:r>
          </a:p>
        </p:txBody>
      </p:sp>
      <p:sp>
        <p:nvSpPr>
          <p:cNvPr id="26" name="TextBox 25">
            <a:extLst>
              <a:ext uri="{FF2B5EF4-FFF2-40B4-BE49-F238E27FC236}">
                <a16:creationId xmlns:a16="http://schemas.microsoft.com/office/drawing/2014/main" id="{5999F6F0-82E9-12DE-4CF8-661B374D7BDF}"/>
              </a:ext>
            </a:extLst>
          </p:cNvPr>
          <p:cNvSpPr txBox="1"/>
          <p:nvPr/>
        </p:nvSpPr>
        <p:spPr>
          <a:xfrm>
            <a:off x="3212976" y="2649508"/>
            <a:ext cx="779660" cy="230832"/>
          </a:xfrm>
          <a:prstGeom prst="rect">
            <a:avLst/>
          </a:prstGeom>
          <a:noFill/>
        </p:spPr>
        <p:txBody>
          <a:bodyPr wrap="square" rtlCol="0">
            <a:spAutoFit/>
          </a:bodyPr>
          <a:lstStyle/>
          <a:p>
            <a:r>
              <a:rPr lang="th-TH" sz="900" dirty="0">
                <a:solidFill>
                  <a:schemeClr val="bg1"/>
                </a:solidFill>
                <a:latin typeface="BLS Text" panose="00000500000000000000" pitchFamily="2" charset="-34"/>
                <a:cs typeface="BLS Text" panose="00000500000000000000" pitchFamily="2" charset="-34"/>
              </a:rPr>
              <a:t>8 ก.พ.</a:t>
            </a:r>
          </a:p>
        </p:txBody>
      </p:sp>
      <p:sp>
        <p:nvSpPr>
          <p:cNvPr id="27" name="TextBox 26">
            <a:extLst>
              <a:ext uri="{FF2B5EF4-FFF2-40B4-BE49-F238E27FC236}">
                <a16:creationId xmlns:a16="http://schemas.microsoft.com/office/drawing/2014/main" id="{F8D73585-35FB-F0D5-2763-F6BB3312E8F0}"/>
              </a:ext>
            </a:extLst>
          </p:cNvPr>
          <p:cNvSpPr txBox="1"/>
          <p:nvPr/>
        </p:nvSpPr>
        <p:spPr>
          <a:xfrm>
            <a:off x="3872662" y="2653338"/>
            <a:ext cx="878577" cy="230832"/>
          </a:xfrm>
          <a:prstGeom prst="rect">
            <a:avLst/>
          </a:prstGeom>
          <a:noFill/>
        </p:spPr>
        <p:txBody>
          <a:bodyPr wrap="square" rtlCol="0">
            <a:spAutoFit/>
          </a:bodyPr>
          <a:lstStyle/>
          <a:p>
            <a:r>
              <a:rPr lang="th-TH" sz="900" dirty="0">
                <a:solidFill>
                  <a:schemeClr val="bg1"/>
                </a:solidFill>
                <a:latin typeface="BLS Text" panose="00000500000000000000" pitchFamily="2" charset="-34"/>
                <a:cs typeface="BLS Text" panose="00000500000000000000" pitchFamily="2" charset="-34"/>
              </a:rPr>
              <a:t>มี.ค.- ต้น เม.ย.</a:t>
            </a:r>
          </a:p>
        </p:txBody>
      </p:sp>
      <p:sp>
        <p:nvSpPr>
          <p:cNvPr id="28" name="TextBox 27">
            <a:extLst>
              <a:ext uri="{FF2B5EF4-FFF2-40B4-BE49-F238E27FC236}">
                <a16:creationId xmlns:a16="http://schemas.microsoft.com/office/drawing/2014/main" id="{4CEC07A3-D6A0-E1B2-370E-DB8B4F43D9B9}"/>
              </a:ext>
            </a:extLst>
          </p:cNvPr>
          <p:cNvSpPr txBox="1"/>
          <p:nvPr/>
        </p:nvSpPr>
        <p:spPr>
          <a:xfrm>
            <a:off x="4731749" y="2655699"/>
            <a:ext cx="779660" cy="2308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เม.ย.</a:t>
            </a:r>
          </a:p>
        </p:txBody>
      </p:sp>
      <p:sp>
        <p:nvSpPr>
          <p:cNvPr id="29" name="TextBox 28">
            <a:extLst>
              <a:ext uri="{FF2B5EF4-FFF2-40B4-BE49-F238E27FC236}">
                <a16:creationId xmlns:a16="http://schemas.microsoft.com/office/drawing/2014/main" id="{3010FF72-72AB-A1E4-8365-3636CBE05B6A}"/>
              </a:ext>
            </a:extLst>
          </p:cNvPr>
          <p:cNvSpPr txBox="1"/>
          <p:nvPr/>
        </p:nvSpPr>
        <p:spPr>
          <a:xfrm>
            <a:off x="5511409" y="2649965"/>
            <a:ext cx="779660" cy="2308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พ.ค.</a:t>
            </a:r>
          </a:p>
        </p:txBody>
      </p:sp>
      <p:sp>
        <p:nvSpPr>
          <p:cNvPr id="30" name="TextBox 29">
            <a:extLst>
              <a:ext uri="{FF2B5EF4-FFF2-40B4-BE49-F238E27FC236}">
                <a16:creationId xmlns:a16="http://schemas.microsoft.com/office/drawing/2014/main" id="{5E822032-D7A4-8CF4-B820-3F60B01D58F8}"/>
              </a:ext>
            </a:extLst>
          </p:cNvPr>
          <p:cNvSpPr txBox="1"/>
          <p:nvPr/>
        </p:nvSpPr>
        <p:spPr>
          <a:xfrm>
            <a:off x="1484784" y="2641334"/>
            <a:ext cx="720080"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ประกาศวันเลือกตั้ง</a:t>
            </a:r>
          </a:p>
        </p:txBody>
      </p:sp>
      <p:sp>
        <p:nvSpPr>
          <p:cNvPr id="32" name="TextBox 31">
            <a:extLst>
              <a:ext uri="{FF2B5EF4-FFF2-40B4-BE49-F238E27FC236}">
                <a16:creationId xmlns:a16="http://schemas.microsoft.com/office/drawing/2014/main" id="{745AAF70-D983-7504-39C7-037FE66D73A6}"/>
              </a:ext>
            </a:extLst>
          </p:cNvPr>
          <p:cNvSpPr txBox="1"/>
          <p:nvPr/>
        </p:nvSpPr>
        <p:spPr>
          <a:xfrm>
            <a:off x="2276872" y="2637439"/>
            <a:ext cx="779660"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พรรคส่งผู้สมัคร ส.ส.</a:t>
            </a:r>
          </a:p>
        </p:txBody>
      </p:sp>
      <p:sp>
        <p:nvSpPr>
          <p:cNvPr id="34" name="TextBox 33">
            <a:extLst>
              <a:ext uri="{FF2B5EF4-FFF2-40B4-BE49-F238E27FC236}">
                <a16:creationId xmlns:a16="http://schemas.microsoft.com/office/drawing/2014/main" id="{7E062017-FAEE-96BF-D26F-89DCC0880C8E}"/>
              </a:ext>
            </a:extLst>
          </p:cNvPr>
          <p:cNvSpPr txBox="1"/>
          <p:nvPr/>
        </p:nvSpPr>
        <p:spPr>
          <a:xfrm>
            <a:off x="3072457" y="2661863"/>
            <a:ext cx="779660" cy="2308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เลือกตั้ง</a:t>
            </a:r>
          </a:p>
        </p:txBody>
      </p:sp>
      <p:sp>
        <p:nvSpPr>
          <p:cNvPr id="35" name="TextBox 34">
            <a:extLst>
              <a:ext uri="{FF2B5EF4-FFF2-40B4-BE49-F238E27FC236}">
                <a16:creationId xmlns:a16="http://schemas.microsoft.com/office/drawing/2014/main" id="{3B782CAF-F939-A52B-3801-9742737BB1B9}"/>
              </a:ext>
            </a:extLst>
          </p:cNvPr>
          <p:cNvSpPr txBox="1"/>
          <p:nvPr/>
        </p:nvSpPr>
        <p:spPr>
          <a:xfrm>
            <a:off x="3810726" y="2667080"/>
            <a:ext cx="878577"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ประกาศ ส.ส. อย่างทางการ</a:t>
            </a:r>
          </a:p>
        </p:txBody>
      </p:sp>
      <p:sp>
        <p:nvSpPr>
          <p:cNvPr id="36" name="TextBox 35">
            <a:extLst>
              <a:ext uri="{FF2B5EF4-FFF2-40B4-BE49-F238E27FC236}">
                <a16:creationId xmlns:a16="http://schemas.microsoft.com/office/drawing/2014/main" id="{1A9E9AAC-6A37-023B-CB7D-D641133919A7}"/>
              </a:ext>
            </a:extLst>
          </p:cNvPr>
          <p:cNvSpPr txBox="1"/>
          <p:nvPr/>
        </p:nvSpPr>
        <p:spPr>
          <a:xfrm>
            <a:off x="4590386" y="2658083"/>
            <a:ext cx="1125089"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เลือกนายก/แต่งตั้งคณะรัฐมนตรี</a:t>
            </a:r>
          </a:p>
        </p:txBody>
      </p:sp>
      <p:sp>
        <p:nvSpPr>
          <p:cNvPr id="38" name="TextBox 37">
            <a:extLst>
              <a:ext uri="{FF2B5EF4-FFF2-40B4-BE49-F238E27FC236}">
                <a16:creationId xmlns:a16="http://schemas.microsoft.com/office/drawing/2014/main" id="{BFC4648D-0610-3B7B-438F-BDB5A8586805}"/>
              </a:ext>
            </a:extLst>
          </p:cNvPr>
          <p:cNvSpPr txBox="1"/>
          <p:nvPr/>
        </p:nvSpPr>
        <p:spPr>
          <a:xfrm>
            <a:off x="5509560" y="2658083"/>
            <a:ext cx="1125089" cy="2308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รัฐบาลใหม่</a:t>
            </a:r>
          </a:p>
        </p:txBody>
      </p:sp>
      <p:sp>
        <p:nvSpPr>
          <p:cNvPr id="24" name="TextBox 23">
            <a:extLst>
              <a:ext uri="{FF2B5EF4-FFF2-40B4-BE49-F238E27FC236}">
                <a16:creationId xmlns:a16="http://schemas.microsoft.com/office/drawing/2014/main" id="{8C8CCC20-1C5E-6125-6A36-E7FC910AC4BE}"/>
              </a:ext>
            </a:extLst>
          </p:cNvPr>
          <p:cNvSpPr txBox="1"/>
          <p:nvPr/>
        </p:nvSpPr>
        <p:spPr>
          <a:xfrm>
            <a:off x="5517232" y="454697"/>
            <a:ext cx="1196244" cy="246221"/>
          </a:xfrm>
          <a:prstGeom prst="rect">
            <a:avLst/>
          </a:prstGeom>
          <a:noFill/>
        </p:spPr>
        <p:txBody>
          <a:bodyPr wrap="square" rtlCol="0">
            <a:spAutoFit/>
          </a:bodyPr>
          <a:lstStyle/>
          <a:p>
            <a:r>
              <a:rPr lang="en-US" sz="1000" b="1" dirty="0">
                <a:solidFill>
                  <a:schemeClr val="tx2"/>
                </a:solidFill>
                <a:latin typeface="BLS Bold" panose="00000800000000000000" pitchFamily="50" charset="-34"/>
                <a:cs typeface="BLS Bold" panose="00000800000000000000" pitchFamily="50" charset="-34"/>
              </a:rPr>
              <a:t>March 30, 2026</a:t>
            </a:r>
          </a:p>
        </p:txBody>
      </p:sp>
      <p:pic>
        <p:nvPicPr>
          <p:cNvPr id="40" name="Picture 2">
            <a:extLst>
              <a:ext uri="{FF2B5EF4-FFF2-40B4-BE49-F238E27FC236}">
                <a16:creationId xmlns:a16="http://schemas.microsoft.com/office/drawing/2014/main" id="{D40CF1FE-6670-0F86-7CBF-4A474C22E170}"/>
              </a:ext>
            </a:extLst>
          </p:cNvPr>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33218" y="194588"/>
            <a:ext cx="1725613" cy="569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 name="TextBox 41">
            <a:extLst>
              <a:ext uri="{FF2B5EF4-FFF2-40B4-BE49-F238E27FC236}">
                <a16:creationId xmlns:a16="http://schemas.microsoft.com/office/drawing/2014/main" id="{E1F831D5-46CB-EB78-341D-EACF1E4B4898}"/>
              </a:ext>
            </a:extLst>
          </p:cNvPr>
          <p:cNvSpPr txBox="1"/>
          <p:nvPr/>
        </p:nvSpPr>
        <p:spPr>
          <a:xfrm>
            <a:off x="1162281" y="138550"/>
            <a:ext cx="970575" cy="253916"/>
          </a:xfrm>
          <a:prstGeom prst="rect">
            <a:avLst/>
          </a:prstGeom>
          <a:noFill/>
        </p:spPr>
        <p:txBody>
          <a:bodyPr wrap="square">
            <a:spAutoFit/>
          </a:bodyPr>
          <a:lstStyle/>
          <a:p>
            <a:pPr algn="r"/>
            <a:r>
              <a:rPr lang="en-US" sz="1050" b="1" dirty="0">
                <a:solidFill>
                  <a:srgbClr val="CCAE8A"/>
                </a:solidFill>
                <a:latin typeface="Aharoni" panose="020F0502020204030204" pitchFamily="2" charset="-79"/>
                <a:ea typeface="Tahoma" pitchFamily="34" charset="0"/>
                <a:cs typeface="Aharoni" panose="020F0502020204030204" pitchFamily="2" charset="-79"/>
              </a:rPr>
              <a:t>BLS WEALTH</a:t>
            </a:r>
            <a:endParaRPr lang="th-TH" sz="1000" b="1" dirty="0">
              <a:solidFill>
                <a:srgbClr val="CCAE8A"/>
              </a:solidFill>
              <a:latin typeface="Aharoni" panose="020F0502020204030204" pitchFamily="2" charset="-79"/>
              <a:ea typeface="Tahoma" pitchFamily="34" charset="0"/>
              <a:cs typeface="BLS Condensed Bold" panose="00000800000000000000" pitchFamily="2" charset="-34"/>
            </a:endParaRPr>
          </a:p>
        </p:txBody>
      </p:sp>
      <p:sp>
        <p:nvSpPr>
          <p:cNvPr id="44" name="TextBox 43">
            <a:extLst>
              <a:ext uri="{FF2B5EF4-FFF2-40B4-BE49-F238E27FC236}">
                <a16:creationId xmlns:a16="http://schemas.microsoft.com/office/drawing/2014/main" id="{7D94CCD9-3CD7-7EBD-08D1-4EDC6069CD8F}"/>
              </a:ext>
            </a:extLst>
          </p:cNvPr>
          <p:cNvSpPr txBox="1"/>
          <p:nvPr/>
        </p:nvSpPr>
        <p:spPr>
          <a:xfrm>
            <a:off x="259758" y="539552"/>
            <a:ext cx="4825426" cy="1015663"/>
          </a:xfrm>
          <a:prstGeom prst="rect">
            <a:avLst/>
          </a:prstGeom>
          <a:noFill/>
        </p:spPr>
        <p:txBody>
          <a:bodyPr wrap="square" rtlCol="0">
            <a:spAutoFit/>
          </a:bodyPr>
          <a:lstStyle/>
          <a:p>
            <a:r>
              <a:rPr lang="el-GR" sz="6000" dirty="0">
                <a:solidFill>
                  <a:schemeClr val="accent3">
                    <a:lumMod val="75000"/>
                  </a:schemeClr>
                </a:solidFill>
                <a:latin typeface="BLS Condensed Bold" pitchFamily="2" charset="-34"/>
                <a:ea typeface="Tahoma" pitchFamily="34" charset="0"/>
                <a:cs typeface="BLS Condensed Bold" pitchFamily="2" charset="-34"/>
              </a:rPr>
              <a:t>α</a:t>
            </a:r>
            <a:r>
              <a:rPr lang="en-US" sz="3600" dirty="0" err="1">
                <a:latin typeface="BLS Condensed Bold" pitchFamily="2" charset="-34"/>
                <a:ea typeface="Tahoma" pitchFamily="34" charset="0"/>
                <a:cs typeface="BLS Condensed Bold" pitchFamily="2" charset="-34"/>
              </a:rPr>
              <a:t>lpha</a:t>
            </a:r>
            <a:r>
              <a:rPr lang="en-US" sz="3600" dirty="0">
                <a:latin typeface="BLS Condensed Bold" pitchFamily="2" charset="-34"/>
                <a:ea typeface="Tahoma" pitchFamily="34" charset="0"/>
                <a:cs typeface="BLS Condensed Bold" pitchFamily="2" charset="-34"/>
              </a:rPr>
              <a:t> </a:t>
            </a:r>
            <a:r>
              <a:rPr lang="en-US" sz="3200" dirty="0">
                <a:latin typeface="BLS Condensed Bold" pitchFamily="2" charset="-34"/>
                <a:ea typeface="Tahoma" pitchFamily="34" charset="0"/>
                <a:cs typeface="BLS Condensed Bold" pitchFamily="2" charset="-34"/>
              </a:rPr>
              <a:t>PULSE </a:t>
            </a:r>
            <a:r>
              <a:rPr lang="en-US" sz="2800" b="1" dirty="0">
                <a:solidFill>
                  <a:schemeClr val="tx1">
                    <a:lumMod val="65000"/>
                    <a:lumOff val="35000"/>
                  </a:schemeClr>
                </a:solidFill>
                <a:latin typeface="BLS Condensed "/>
                <a:ea typeface="Tahoma" pitchFamily="34" charset="0"/>
                <a:cs typeface="BLS Condensed Bold" pitchFamily="2" charset="-34"/>
              </a:rPr>
              <a:t>|</a:t>
            </a:r>
            <a:r>
              <a:rPr lang="en-GB" sz="3000" dirty="0">
                <a:solidFill>
                  <a:srgbClr val="DB002A"/>
                </a:solidFill>
                <a:latin typeface="BLS Condensed Bold" pitchFamily="2" charset="-34"/>
                <a:ea typeface="Tahoma" pitchFamily="34" charset="0"/>
                <a:cs typeface="BLS Condensed Bold" pitchFamily="2" charset="-34"/>
              </a:rPr>
              <a:t> </a:t>
            </a:r>
            <a:r>
              <a:rPr lang="en-US" sz="2400" dirty="0">
                <a:solidFill>
                  <a:schemeClr val="bg1">
                    <a:lumMod val="50000"/>
                  </a:schemeClr>
                </a:solidFill>
                <a:latin typeface="BLS Condensed Bold" pitchFamily="2" charset="-34"/>
                <a:ea typeface="Tahoma" pitchFamily="34" charset="0"/>
                <a:cs typeface="BLS Condensed Bold" pitchFamily="2" charset="-34"/>
              </a:rPr>
              <a:t>W</a:t>
            </a:r>
            <a:r>
              <a:rPr lang="en-GB" sz="2400" dirty="0" err="1">
                <a:solidFill>
                  <a:schemeClr val="bg1">
                    <a:lumMod val="50000"/>
                  </a:schemeClr>
                </a:solidFill>
                <a:latin typeface="BLS Condensed Bold" pitchFamily="2" charset="-34"/>
                <a:ea typeface="Tahoma" pitchFamily="34" charset="0"/>
                <a:cs typeface="BLS Condensed Bold" pitchFamily="2" charset="-34"/>
              </a:rPr>
              <a:t>eekly</a:t>
            </a:r>
            <a:r>
              <a:rPr lang="en-GB" sz="2400" dirty="0">
                <a:solidFill>
                  <a:schemeClr val="bg1">
                    <a:lumMod val="50000"/>
                  </a:schemeClr>
                </a:solidFill>
                <a:latin typeface="BLS Condensed Bold" pitchFamily="2" charset="-34"/>
                <a:ea typeface="Tahoma" pitchFamily="34" charset="0"/>
                <a:cs typeface="BLS Condensed Bold" pitchFamily="2" charset="-34"/>
              </a:rPr>
              <a:t> strategy</a:t>
            </a:r>
            <a:endParaRPr lang="en-GB" sz="2000" dirty="0">
              <a:solidFill>
                <a:schemeClr val="bg1">
                  <a:lumMod val="50000"/>
                </a:schemeClr>
              </a:solidFill>
              <a:latin typeface="BLS Condensed Bold" pitchFamily="2" charset="-34"/>
              <a:ea typeface="Tahoma" pitchFamily="34" charset="0"/>
              <a:cs typeface="BLS Condensed Bold" pitchFamily="2" charset="-34"/>
            </a:endParaRPr>
          </a:p>
        </p:txBody>
      </p:sp>
      <p:sp>
        <p:nvSpPr>
          <p:cNvPr id="45" name="TextBox 44">
            <a:extLst>
              <a:ext uri="{FF2B5EF4-FFF2-40B4-BE49-F238E27FC236}">
                <a16:creationId xmlns:a16="http://schemas.microsoft.com/office/drawing/2014/main" id="{EDDE772F-3591-A6B2-8675-AD72CCBF567B}"/>
              </a:ext>
            </a:extLst>
          </p:cNvPr>
          <p:cNvSpPr txBox="1"/>
          <p:nvPr/>
        </p:nvSpPr>
        <p:spPr>
          <a:xfrm>
            <a:off x="106587" y="1450975"/>
            <a:ext cx="6922812" cy="315471"/>
          </a:xfrm>
          <a:prstGeom prst="rect">
            <a:avLst/>
          </a:prstGeom>
          <a:noFill/>
          <a:ln>
            <a:noFill/>
          </a:ln>
        </p:spPr>
        <p:txBody>
          <a:bodyPr wrap="square" rtlCol="0">
            <a:spAutoFit/>
          </a:bodyPr>
          <a:lstStyle/>
          <a:p>
            <a:r>
              <a:rPr lang="en-US" altLang="en-US" sz="1450" b="1" dirty="0">
                <a:solidFill>
                  <a:schemeClr val="tx2"/>
                </a:solidFill>
                <a:latin typeface="BLS Condensed" pitchFamily="2" charset="-34"/>
                <a:ea typeface="Tahoma" pitchFamily="34" charset="0"/>
                <a:cs typeface="BLS Condensed" pitchFamily="2" charset="-34"/>
              </a:rPr>
              <a:t>Selective Plays Amid War-Driven Cost Pressure |</a:t>
            </a:r>
            <a:r>
              <a:rPr lang="th-TH" altLang="en-US" sz="1450" b="1" dirty="0">
                <a:solidFill>
                  <a:schemeClr val="tx2"/>
                </a:solidFill>
                <a:latin typeface="BLS Condensed" pitchFamily="2" charset="-34"/>
                <a:ea typeface="Tahoma" pitchFamily="34" charset="0"/>
                <a:cs typeface="BLS Condensed" pitchFamily="2" charset="-34"/>
              </a:rPr>
              <a:t> โอกาสลงทุนท่ามกลางแรงกดดันต้นทุนจากสงคราม</a:t>
            </a:r>
            <a:endParaRPr lang="en-US" altLang="en-US" sz="1450" b="1" dirty="0">
              <a:solidFill>
                <a:schemeClr val="tx2"/>
              </a:solidFill>
              <a:latin typeface="BLS Condensed" pitchFamily="2" charset="-34"/>
              <a:ea typeface="Tahoma" pitchFamily="34" charset="0"/>
              <a:cs typeface="BLS Condensed" pitchFamily="2" charset="-34"/>
            </a:endParaRPr>
          </a:p>
        </p:txBody>
      </p:sp>
      <p:sp>
        <p:nvSpPr>
          <p:cNvPr id="49" name="TextBox 48">
            <a:extLst>
              <a:ext uri="{FF2B5EF4-FFF2-40B4-BE49-F238E27FC236}">
                <a16:creationId xmlns:a16="http://schemas.microsoft.com/office/drawing/2014/main" id="{5CFB5291-3F9E-F04A-57ED-EC8540FF0A70}"/>
              </a:ext>
            </a:extLst>
          </p:cNvPr>
          <p:cNvSpPr txBox="1"/>
          <p:nvPr/>
        </p:nvSpPr>
        <p:spPr>
          <a:xfrm>
            <a:off x="4039911" y="1838921"/>
            <a:ext cx="2848745" cy="246221"/>
          </a:xfrm>
          <a:prstGeom prst="rect">
            <a:avLst/>
          </a:prstGeom>
          <a:noFill/>
        </p:spPr>
        <p:txBody>
          <a:bodyPr wrap="square" rtlCol="0">
            <a:spAutoFit/>
          </a:bodyPr>
          <a:lstStyle/>
          <a:p>
            <a:r>
              <a:rPr lang="en-US" sz="1000" b="1" dirty="0">
                <a:solidFill>
                  <a:schemeClr val="tx2"/>
                </a:solidFill>
                <a:latin typeface="BLS Bold" panose="00000800000000000000" pitchFamily="2" charset="-34"/>
                <a:cs typeface="BLS Bold" panose="00000800000000000000" pitchFamily="2" charset="-34"/>
              </a:rPr>
              <a:t>SET target: 1560</a:t>
            </a:r>
          </a:p>
        </p:txBody>
      </p:sp>
      <p:cxnSp>
        <p:nvCxnSpPr>
          <p:cNvPr id="51" name="Straight Connector 50">
            <a:extLst>
              <a:ext uri="{FF2B5EF4-FFF2-40B4-BE49-F238E27FC236}">
                <a16:creationId xmlns:a16="http://schemas.microsoft.com/office/drawing/2014/main" id="{AA859AB4-FEB7-E719-3157-D4109949119E}"/>
              </a:ext>
            </a:extLst>
          </p:cNvPr>
          <p:cNvCxnSpPr>
            <a:cxnSpLocks/>
          </p:cNvCxnSpPr>
          <p:nvPr/>
        </p:nvCxnSpPr>
        <p:spPr>
          <a:xfrm>
            <a:off x="4008212" y="2092837"/>
            <a:ext cx="2743200" cy="0"/>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FCD14692-5E72-A147-72A0-450B7B453809}"/>
              </a:ext>
            </a:extLst>
          </p:cNvPr>
          <p:cNvSpPr txBox="1"/>
          <p:nvPr/>
        </p:nvSpPr>
        <p:spPr>
          <a:xfrm>
            <a:off x="4018706" y="2073840"/>
            <a:ext cx="2290634" cy="230832"/>
          </a:xfrm>
          <a:prstGeom prst="rect">
            <a:avLst/>
          </a:prstGeom>
          <a:noFill/>
        </p:spPr>
        <p:txBody>
          <a:bodyPr wrap="square" lIns="0" rIns="0" rtlCol="0">
            <a:spAutoFit/>
          </a:bodyPr>
          <a:lstStyle/>
          <a:p>
            <a:r>
              <a:rPr lang="en-US" sz="900" dirty="0">
                <a:solidFill>
                  <a:srgbClr val="A17D3D"/>
                </a:solidFill>
                <a:latin typeface="BLS Condensed" pitchFamily="2" charset="-34"/>
                <a:ea typeface="Tahoma" pitchFamily="34" charset="0"/>
                <a:cs typeface="BLS Condensed" pitchFamily="2" charset="-34"/>
              </a:rPr>
              <a:t>Weekly PULSE: </a:t>
            </a:r>
          </a:p>
        </p:txBody>
      </p:sp>
      <p:sp>
        <p:nvSpPr>
          <p:cNvPr id="2" name="TextBox 1">
            <a:extLst>
              <a:ext uri="{FF2B5EF4-FFF2-40B4-BE49-F238E27FC236}">
                <a16:creationId xmlns:a16="http://schemas.microsoft.com/office/drawing/2014/main" id="{9E85ABDE-7CE6-F0E6-1824-B9305003B1AB}"/>
              </a:ext>
            </a:extLst>
          </p:cNvPr>
          <p:cNvSpPr txBox="1"/>
          <p:nvPr/>
        </p:nvSpPr>
        <p:spPr>
          <a:xfrm>
            <a:off x="188640" y="1859779"/>
            <a:ext cx="3711820" cy="3689215"/>
          </a:xfrm>
          <a:prstGeom prst="rect">
            <a:avLst/>
          </a:prstGeom>
          <a:solidFill>
            <a:schemeClr val="accent5">
              <a:lumMod val="20000"/>
              <a:lumOff val="80000"/>
            </a:schemeClr>
          </a:solidFill>
          <a:ln>
            <a:noFill/>
          </a:ln>
        </p:spPr>
        <p:txBody>
          <a:bodyPr wrap="square" rtlCol="0">
            <a:spAutoFit/>
          </a:bodyPr>
          <a:lstStyle/>
          <a:p>
            <a:pPr algn="thaiDist">
              <a:lnSpc>
                <a:spcPct val="120000"/>
              </a:lnSpc>
              <a:spcBef>
                <a:spcPts val="400"/>
              </a:spcBef>
              <a:buSzPct val="120000"/>
            </a:pPr>
            <a:r>
              <a:rPr lang="th-TH" sz="800" b="1" dirty="0">
                <a:solidFill>
                  <a:schemeClr val="tx1">
                    <a:lumMod val="65000"/>
                    <a:lumOff val="35000"/>
                  </a:schemeClr>
                </a:solidFill>
                <a:latin typeface="BLS Text" panose="00000500000000000000" pitchFamily="2" charset="-34"/>
                <a:cs typeface="BLS Text" pitchFamily="2" charset="-34"/>
              </a:rPr>
              <a:t>ตลาดหุ้นจะทยอยฟื้นตัว หลังความไม่แน่นอนของสงครามเริ่มคลี่คลาย (</a:t>
            </a:r>
            <a:r>
              <a:rPr lang="en-US" sz="800" b="1" dirty="0">
                <a:solidFill>
                  <a:schemeClr val="tx1">
                    <a:lumMod val="65000"/>
                    <a:lumOff val="35000"/>
                  </a:schemeClr>
                </a:solidFill>
                <a:latin typeface="BLS Text" panose="00000500000000000000" pitchFamily="2" charset="-34"/>
                <a:cs typeface="BLS Text" pitchFamily="2" charset="-34"/>
              </a:rPr>
              <a:t>de-escalation phase):</a:t>
            </a:r>
            <a:r>
              <a:rPr lang="th-TH" sz="800" b="1" dirty="0">
                <a:solidFill>
                  <a:schemeClr val="tx1">
                    <a:lumMod val="65000"/>
                    <a:lumOff val="35000"/>
                  </a:schemeClr>
                </a:solidFill>
                <a:latin typeface="BLS Text" panose="00000500000000000000" pitchFamily="2" charset="-34"/>
                <a:cs typeface="BLS Text" pitchFamily="2" charset="-34"/>
              </a:rPr>
              <a:t> </a:t>
            </a:r>
            <a:r>
              <a:rPr lang="th-TH" sz="800" dirty="0">
                <a:solidFill>
                  <a:schemeClr val="tx1">
                    <a:lumMod val="65000"/>
                    <a:lumOff val="35000"/>
                  </a:schemeClr>
                </a:solidFill>
                <a:latin typeface="BLS Text" panose="00000500000000000000" pitchFamily="2" charset="-34"/>
                <a:cs typeface="BLS Text" pitchFamily="2" charset="-34"/>
              </a:rPr>
              <a:t>ในอดีต ตลาดหุ้นจบรอบขาลง ทั่วไปมักเกิดได้ 2 ลักษณะหลัก ได้แก่ 1) การเริ่มต้นกระบวนการเจรจา (</a:t>
            </a:r>
            <a:r>
              <a:rPr lang="en-US" sz="800" dirty="0">
                <a:solidFill>
                  <a:schemeClr val="tx1">
                    <a:lumMod val="65000"/>
                    <a:lumOff val="35000"/>
                  </a:schemeClr>
                </a:solidFill>
                <a:latin typeface="BLS Text" panose="00000500000000000000" pitchFamily="2" charset="-34"/>
                <a:cs typeface="BLS Text" pitchFamily="2" charset="-34"/>
              </a:rPr>
              <a:t>negotiation signal) </a:t>
            </a:r>
            <a:r>
              <a:rPr lang="th-TH" sz="800" dirty="0">
                <a:solidFill>
                  <a:schemeClr val="tx1">
                    <a:lumMod val="65000"/>
                    <a:lumOff val="35000"/>
                  </a:schemeClr>
                </a:solidFill>
                <a:latin typeface="BLS Text" panose="00000500000000000000" pitchFamily="2" charset="-34"/>
                <a:cs typeface="BLS Text" pitchFamily="2" charset="-34"/>
              </a:rPr>
              <a:t>หรือ 2) การเห็นทิศทางของผู้ชนะในสนามรบอย่างชัดเจน (</a:t>
            </a:r>
            <a:r>
              <a:rPr lang="en-US" sz="800" dirty="0">
                <a:solidFill>
                  <a:schemeClr val="tx1">
                    <a:lumMod val="65000"/>
                    <a:lumOff val="35000"/>
                  </a:schemeClr>
                </a:solidFill>
                <a:latin typeface="BLS Text" panose="00000500000000000000" pitchFamily="2" charset="-34"/>
                <a:cs typeface="BLS Text" pitchFamily="2" charset="-34"/>
              </a:rPr>
              <a:t>clear military turning point) </a:t>
            </a:r>
            <a:r>
              <a:rPr lang="th-TH" sz="800" dirty="0">
                <a:solidFill>
                  <a:schemeClr val="tx1">
                    <a:lumMod val="65000"/>
                    <a:lumOff val="35000"/>
                  </a:schemeClr>
                </a:solidFill>
                <a:latin typeface="BLS Text" panose="00000500000000000000" pitchFamily="2" charset="-34"/>
                <a:cs typeface="BLS Text" pitchFamily="2" charset="-34"/>
              </a:rPr>
              <a:t>ซึ่งทำให้ตลาดสามารถประเมินผลกระทบทางเศรษฐกิจได้ชัดขึ้นตัวอย่างที่ชัดเจนคือ สงครามอ่าวเปอร์เซีย (</a:t>
            </a:r>
            <a:r>
              <a:rPr lang="en-US" sz="800" dirty="0">
                <a:solidFill>
                  <a:schemeClr val="tx1">
                    <a:lumMod val="65000"/>
                    <a:lumOff val="35000"/>
                  </a:schemeClr>
                </a:solidFill>
                <a:latin typeface="BLS Text" panose="00000500000000000000" pitchFamily="2" charset="-34"/>
                <a:cs typeface="BLS Text" pitchFamily="2" charset="-34"/>
              </a:rPr>
              <a:t>Gulf War, 1991) </a:t>
            </a:r>
            <a:r>
              <a:rPr lang="th-TH" sz="800" dirty="0">
                <a:solidFill>
                  <a:schemeClr val="tx1">
                    <a:lumMod val="65000"/>
                    <a:lumOff val="35000"/>
                  </a:schemeClr>
                </a:solidFill>
                <a:latin typeface="BLS Text" panose="00000500000000000000" pitchFamily="2" charset="-34"/>
                <a:cs typeface="BLS Text" pitchFamily="2" charset="-34"/>
              </a:rPr>
              <a:t>ซึ่งตลาดหุ้นโลกเริ่มฟื้นตัวในช่วงที่ กองกำลังสหรัฐฯ เปิดปฏิบัติการภาคพื้นดินและสามารถยึดพื้นที่สำคัญของอิรักได้ ส่งสัญญาณว่าความขัดแย้งกำลังเข้าสู่ช่วงท้ายของวัฏจักรสงคราม ส่งผลให้ความเสี่ยงเชิงภูมิรัฐศาสตร์เริ่มลดลง และตลาดหุ้นปรับตัวขึ้นก่อนที่สงครามจะยุติอย่างเป็นทางการ สำหรับสถานการณ์ปัจจุบัน เรามองว่า รูปแบบการตอบสนองของตลาดมีลักษณะคล้ายกัน กล่าวคือ ตลาดเริ่มกลับมาฟื้นตัวเมื่อเริ่มเห็น สัญญาณการคลี่คลายของสงคราม (</a:t>
            </a:r>
            <a:r>
              <a:rPr lang="en-US" sz="800" dirty="0">
                <a:solidFill>
                  <a:schemeClr val="tx1">
                    <a:lumMod val="65000"/>
                    <a:lumOff val="35000"/>
                  </a:schemeClr>
                </a:solidFill>
                <a:latin typeface="BLS Text" panose="00000500000000000000" pitchFamily="2" charset="-34"/>
                <a:cs typeface="BLS Text" pitchFamily="2" charset="-34"/>
              </a:rPr>
              <a:t>de-escalation signal) </a:t>
            </a:r>
            <a:r>
              <a:rPr lang="th-TH" sz="800" dirty="0">
                <a:solidFill>
                  <a:schemeClr val="tx1">
                    <a:lumMod val="65000"/>
                    <a:lumOff val="35000"/>
                  </a:schemeClr>
                </a:solidFill>
                <a:latin typeface="BLS Text" panose="00000500000000000000" pitchFamily="2" charset="-34"/>
                <a:cs typeface="BLS Text" pitchFamily="2" charset="-34"/>
              </a:rPr>
              <a:t>ไม่ว่าจะผ่านการเจรจาหรือการเห็นจุดเปลี่ยนในสนามรบ แม้การเจรจาอาจยังไม่แน่นอน และการปะทะอาจยังดำเนินต่อ แต่เพียงสัญญาณการพยายามเริ่มต้นการเจรจายุติสงคราม มักทำให้ตลาดเริ่มตอบสนองน้อยลง และเพียงพอให้ตลาดหุ้นเริ่มทยอยฟื้นตัวได้</a:t>
            </a:r>
          </a:p>
          <a:p>
            <a:pPr algn="thaiDist">
              <a:lnSpc>
                <a:spcPct val="120000"/>
              </a:lnSpc>
              <a:spcBef>
                <a:spcPts val="400"/>
              </a:spcBef>
              <a:buSzPct val="120000"/>
            </a:pPr>
            <a:r>
              <a:rPr lang="th-TH" sz="800" b="1" dirty="0">
                <a:solidFill>
                  <a:schemeClr val="tx1">
                    <a:lumMod val="65000"/>
                    <a:lumOff val="35000"/>
                  </a:schemeClr>
                </a:solidFill>
                <a:latin typeface="BLS Text" panose="00000500000000000000" pitchFamily="2" charset="-34"/>
                <a:cs typeface="BLS Text" pitchFamily="2" charset="-34"/>
              </a:rPr>
              <a:t>ฟันโฟลว์คาดจะกลับมาหนุนตลาดหุ้นไทย มองเป้าหมายดัชนี 1560</a:t>
            </a:r>
            <a:r>
              <a:rPr lang="en-US" sz="800" b="1" dirty="0">
                <a:solidFill>
                  <a:schemeClr val="tx1">
                    <a:lumMod val="65000"/>
                    <a:lumOff val="35000"/>
                  </a:schemeClr>
                </a:solidFill>
                <a:latin typeface="BLS Text" panose="00000500000000000000" pitchFamily="2" charset="-34"/>
                <a:cs typeface="BLS Text" pitchFamily="2" charset="-34"/>
              </a:rPr>
              <a:t>:</a:t>
            </a:r>
            <a:r>
              <a:rPr lang="th-TH" sz="800" b="1" dirty="0">
                <a:solidFill>
                  <a:schemeClr val="tx1">
                    <a:lumMod val="65000"/>
                    <a:lumOff val="35000"/>
                  </a:schemeClr>
                </a:solidFill>
                <a:latin typeface="BLS Text" panose="00000500000000000000" pitchFamily="2" charset="-34"/>
                <a:cs typeface="BLS Text" pitchFamily="2" charset="-34"/>
              </a:rPr>
              <a:t> </a:t>
            </a:r>
            <a:r>
              <a:rPr lang="th-TH" sz="800" dirty="0">
                <a:solidFill>
                  <a:schemeClr val="tx1">
                    <a:lumMod val="65000"/>
                    <a:lumOff val="35000"/>
                  </a:schemeClr>
                </a:solidFill>
                <a:latin typeface="BLS Text" panose="00000500000000000000" pitchFamily="2" charset="-34"/>
                <a:cs typeface="BLS Text" pitchFamily="2" charset="-34"/>
              </a:rPr>
              <a:t>กระแสเงินลงทุนต่างชาติ (</a:t>
            </a:r>
            <a:r>
              <a:rPr lang="en-US" sz="800" dirty="0">
                <a:solidFill>
                  <a:schemeClr val="tx1">
                    <a:lumMod val="65000"/>
                    <a:lumOff val="35000"/>
                  </a:schemeClr>
                </a:solidFill>
                <a:latin typeface="BLS Text" panose="00000500000000000000" pitchFamily="2" charset="-34"/>
                <a:cs typeface="BLS Text" pitchFamily="2" charset="-34"/>
              </a:rPr>
              <a:t>foreign fund flows) </a:t>
            </a:r>
            <a:r>
              <a:rPr lang="th-TH" sz="800" dirty="0">
                <a:solidFill>
                  <a:schemeClr val="tx1">
                    <a:lumMod val="65000"/>
                    <a:lumOff val="35000"/>
                  </a:schemeClr>
                </a:solidFill>
                <a:latin typeface="BLS Text" panose="00000500000000000000" pitchFamily="2" charset="-34"/>
                <a:cs typeface="BLS Text" pitchFamily="2" charset="-34"/>
              </a:rPr>
              <a:t>แม้ในช่วงที่ความตึงเครียดภูมิรัฐศาสตร์เพิ่มขึ้น นักลงทุนต่างชาติอาจลดความเสี่ยงในระยะสั้น (</a:t>
            </a:r>
            <a:r>
              <a:rPr lang="en-US" sz="800" dirty="0">
                <a:solidFill>
                  <a:schemeClr val="tx1">
                    <a:lumMod val="65000"/>
                    <a:lumOff val="35000"/>
                  </a:schemeClr>
                </a:solidFill>
                <a:latin typeface="BLS Text" panose="00000500000000000000" pitchFamily="2" charset="-34"/>
                <a:cs typeface="BLS Text" pitchFamily="2" charset="-34"/>
              </a:rPr>
              <a:t>short-term de-risking) </a:t>
            </a:r>
            <a:r>
              <a:rPr lang="th-TH" sz="800" dirty="0">
                <a:solidFill>
                  <a:schemeClr val="tx1">
                    <a:lumMod val="65000"/>
                    <a:lumOff val="35000"/>
                  </a:schemeClr>
                </a:solidFill>
                <a:latin typeface="BLS Text" panose="00000500000000000000" pitchFamily="2" charset="-34"/>
                <a:cs typeface="BLS Text" pitchFamily="2" charset="-34"/>
              </a:rPr>
              <a:t>ส่งผลให้ตลาดหุ้นปรับฐาน แต่สถิติในอดีตสะท้อนว่าแรงขายดังกล่าวมักเป็นเพียงระยะสั้น และเม็ดเงินมีแนวโน้มไหลกลับเข้าสู่ตลาดเกิดใหม่อีกครั้ง เมื่อความไม่แน่นอนเริ่มคลี่คลาย โดยในอดีตรอบการไหลเข้าของเงินทุนต่างชาติในตลาดหุ้นไทย มักกินระยะเวลาเฉลี่ยประมาณ 10-12 เดือน และมีเม็ดเงินซื้อสุทธิรวมประมาณ 1.6-2 แสนล้านบาท หากสงครามคลี่คลายภายใน 6 สัปดาห์ </a:t>
            </a:r>
            <a:r>
              <a:rPr lang="en-US" sz="800" dirty="0">
                <a:solidFill>
                  <a:schemeClr val="tx1">
                    <a:lumMod val="65000"/>
                    <a:lumOff val="35000"/>
                  </a:schemeClr>
                </a:solidFill>
                <a:latin typeface="BLS Text" panose="00000500000000000000" pitchFamily="2" charset="-34"/>
                <a:cs typeface="BLS Text" pitchFamily="2" charset="-34"/>
              </a:rPr>
              <a:t>GDP </a:t>
            </a:r>
            <a:r>
              <a:rPr lang="th-TH" sz="800" dirty="0">
                <a:solidFill>
                  <a:schemeClr val="tx1">
                    <a:lumMod val="65000"/>
                    <a:lumOff val="35000"/>
                  </a:schemeClr>
                </a:solidFill>
                <a:latin typeface="BLS Text" panose="00000500000000000000" pitchFamily="2" charset="-34"/>
                <a:cs typeface="BLS Text" pitchFamily="2" charset="-34"/>
              </a:rPr>
              <a:t>ไทยปี 2026 ยังมีแนวโน้มเติบโตได้ประมาณ 1.8% และกำไรต่อหุ้นของตลาด (</a:t>
            </a:r>
            <a:r>
              <a:rPr lang="en-US" sz="800" dirty="0">
                <a:solidFill>
                  <a:schemeClr val="tx1">
                    <a:lumMod val="65000"/>
                    <a:lumOff val="35000"/>
                  </a:schemeClr>
                </a:solidFill>
                <a:latin typeface="BLS Text" panose="00000500000000000000" pitchFamily="2" charset="-34"/>
                <a:cs typeface="BLS Text" pitchFamily="2" charset="-34"/>
              </a:rPr>
              <a:t>SET EPS) </a:t>
            </a:r>
            <a:r>
              <a:rPr lang="th-TH" sz="800" dirty="0">
                <a:solidFill>
                  <a:schemeClr val="tx1">
                    <a:lumMod val="65000"/>
                    <a:lumOff val="35000"/>
                  </a:schemeClr>
                </a:solidFill>
                <a:latin typeface="BLS Text" panose="00000500000000000000" pitchFamily="2" charset="-34"/>
                <a:cs typeface="BLS Text" pitchFamily="2" charset="-34"/>
              </a:rPr>
              <a:t>คาดเพิ่มขึ้นเป็น 93.5 บาท (+2.2% </a:t>
            </a:r>
            <a:r>
              <a:rPr lang="en-US" sz="800" dirty="0">
                <a:solidFill>
                  <a:schemeClr val="tx1">
                    <a:lumMod val="65000"/>
                    <a:lumOff val="35000"/>
                  </a:schemeClr>
                </a:solidFill>
                <a:latin typeface="BLS Text" panose="00000500000000000000" pitchFamily="2" charset="-34"/>
                <a:cs typeface="BLS Text" pitchFamily="2" charset="-34"/>
              </a:rPr>
              <a:t>YoY) </a:t>
            </a:r>
            <a:r>
              <a:rPr lang="th-TH" sz="800" dirty="0">
                <a:solidFill>
                  <a:schemeClr val="tx1">
                    <a:lumMod val="65000"/>
                    <a:lumOff val="35000"/>
                  </a:schemeClr>
                </a:solidFill>
                <a:latin typeface="BLS Text" panose="00000500000000000000" pitchFamily="2" charset="-34"/>
                <a:cs typeface="BLS Text" pitchFamily="2" charset="-34"/>
              </a:rPr>
              <a:t>ซึ่งยังสนับสนุนเป้าหมายดัชนี </a:t>
            </a:r>
            <a:r>
              <a:rPr lang="en-US" sz="800" dirty="0">
                <a:solidFill>
                  <a:schemeClr val="tx1">
                    <a:lumMod val="65000"/>
                    <a:lumOff val="35000"/>
                  </a:schemeClr>
                </a:solidFill>
                <a:latin typeface="BLS Text" panose="00000500000000000000" pitchFamily="2" charset="-34"/>
                <a:cs typeface="BLS Text" pitchFamily="2" charset="-34"/>
              </a:rPr>
              <a:t>SET </a:t>
            </a:r>
            <a:r>
              <a:rPr lang="th-TH" sz="800" dirty="0">
                <a:solidFill>
                  <a:schemeClr val="tx1">
                    <a:lumMod val="65000"/>
                    <a:lumOff val="35000"/>
                  </a:schemeClr>
                </a:solidFill>
                <a:latin typeface="BLS Text" panose="00000500000000000000" pitchFamily="2" charset="-34"/>
                <a:cs typeface="BLS Text" pitchFamily="2" charset="-34"/>
              </a:rPr>
              <a:t>ปี 2026 ที่ประมาณ 1560 จุด </a:t>
            </a:r>
          </a:p>
        </p:txBody>
      </p:sp>
      <p:cxnSp>
        <p:nvCxnSpPr>
          <p:cNvPr id="3" name="Straight Connector 2">
            <a:extLst>
              <a:ext uri="{FF2B5EF4-FFF2-40B4-BE49-F238E27FC236}">
                <a16:creationId xmlns:a16="http://schemas.microsoft.com/office/drawing/2014/main" id="{3FB7FD5E-C2F4-696F-9623-665905EA508D}"/>
              </a:ext>
            </a:extLst>
          </p:cNvPr>
          <p:cNvCxnSpPr/>
          <p:nvPr/>
        </p:nvCxnSpPr>
        <p:spPr>
          <a:xfrm>
            <a:off x="2161884" y="410050"/>
            <a:ext cx="0" cy="230832"/>
          </a:xfrm>
          <a:prstGeom prst="line">
            <a:avLst/>
          </a:prstGeom>
          <a:ln w="3175">
            <a:solidFill>
              <a:srgbClr val="002060"/>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F492222F-6A22-6060-8AE7-28693619881E}"/>
              </a:ext>
            </a:extLst>
          </p:cNvPr>
          <p:cNvSpPr txBox="1"/>
          <p:nvPr/>
        </p:nvSpPr>
        <p:spPr>
          <a:xfrm>
            <a:off x="2161884" y="337471"/>
            <a:ext cx="1411131" cy="369332"/>
          </a:xfrm>
          <a:prstGeom prst="rect">
            <a:avLst/>
          </a:prstGeom>
          <a:noFill/>
        </p:spPr>
        <p:txBody>
          <a:bodyPr wrap="square" rtlCol="0">
            <a:spAutoFit/>
          </a:bodyPr>
          <a:lstStyle/>
          <a:p>
            <a:r>
              <a:rPr lang="en-US" sz="900" b="1" dirty="0">
                <a:solidFill>
                  <a:schemeClr val="accent3">
                    <a:lumMod val="50000"/>
                  </a:schemeClr>
                </a:solidFill>
                <a:latin typeface="Arial" pitchFamily="34" charset="0"/>
                <a:cs typeface="Arial" pitchFamily="34" charset="0"/>
              </a:rPr>
              <a:t>Data-driven</a:t>
            </a:r>
            <a:endParaRPr lang="th-TH" sz="900" b="1" dirty="0">
              <a:solidFill>
                <a:schemeClr val="accent3">
                  <a:lumMod val="50000"/>
                </a:schemeClr>
              </a:solidFill>
              <a:latin typeface="Arial" pitchFamily="34" charset="0"/>
              <a:cs typeface="Arial" pitchFamily="34" charset="0"/>
            </a:endParaRPr>
          </a:p>
          <a:p>
            <a:r>
              <a:rPr lang="en-US" sz="900" b="1" dirty="0">
                <a:solidFill>
                  <a:schemeClr val="tx2">
                    <a:lumMod val="50000"/>
                  </a:schemeClr>
                </a:solidFill>
                <a:latin typeface="Arial" pitchFamily="34" charset="0"/>
                <a:cs typeface="Arial" pitchFamily="34" charset="0"/>
              </a:rPr>
              <a:t>RESEARCH</a:t>
            </a:r>
          </a:p>
        </p:txBody>
      </p:sp>
      <p:cxnSp>
        <p:nvCxnSpPr>
          <p:cNvPr id="59" name="Straight Connector 58">
            <a:extLst>
              <a:ext uri="{FF2B5EF4-FFF2-40B4-BE49-F238E27FC236}">
                <a16:creationId xmlns:a16="http://schemas.microsoft.com/office/drawing/2014/main" id="{11C7C5D5-EAE4-B3E6-9DF7-E15CEA3E4EEB}"/>
              </a:ext>
            </a:extLst>
          </p:cNvPr>
          <p:cNvCxnSpPr>
            <a:cxnSpLocks/>
          </p:cNvCxnSpPr>
          <p:nvPr/>
        </p:nvCxnSpPr>
        <p:spPr>
          <a:xfrm>
            <a:off x="4008212" y="4704969"/>
            <a:ext cx="2743200" cy="0"/>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241A465B-AFF2-BD30-A3C3-2B78B03168F9}"/>
              </a:ext>
            </a:extLst>
          </p:cNvPr>
          <p:cNvSpPr txBox="1"/>
          <p:nvPr/>
        </p:nvSpPr>
        <p:spPr>
          <a:xfrm>
            <a:off x="4018706" y="4716016"/>
            <a:ext cx="2290634" cy="230832"/>
          </a:xfrm>
          <a:prstGeom prst="rect">
            <a:avLst/>
          </a:prstGeom>
          <a:noFill/>
        </p:spPr>
        <p:txBody>
          <a:bodyPr wrap="square" lIns="0" rIns="0" rtlCol="0">
            <a:spAutoFit/>
          </a:bodyPr>
          <a:lstStyle/>
          <a:p>
            <a:r>
              <a:rPr lang="en-US" sz="900" dirty="0">
                <a:solidFill>
                  <a:srgbClr val="A17D3D"/>
                </a:solidFill>
                <a:latin typeface="BLS Condensed" pitchFamily="2" charset="-34"/>
                <a:ea typeface="Tahoma" pitchFamily="34" charset="0"/>
                <a:cs typeface="BLS Condensed" pitchFamily="2" charset="-34"/>
              </a:rPr>
              <a:t>1) Discount from pre-war level (</a:t>
            </a:r>
            <a:r>
              <a:rPr lang="th-TH" sz="900" dirty="0">
                <a:solidFill>
                  <a:srgbClr val="A17D3D"/>
                </a:solidFill>
                <a:latin typeface="BLS Condensed" pitchFamily="2" charset="-34"/>
                <a:ea typeface="Tahoma" pitchFamily="34" charset="0"/>
                <a:cs typeface="BLS Condensed" pitchFamily="2" charset="-34"/>
              </a:rPr>
              <a:t>ลงแรงเกินพื้นฐาน) </a:t>
            </a:r>
            <a:endParaRPr lang="en-US" sz="900" dirty="0">
              <a:solidFill>
                <a:srgbClr val="A17D3D"/>
              </a:solidFill>
              <a:latin typeface="BLS Condensed" pitchFamily="2" charset="-34"/>
              <a:ea typeface="Tahoma" pitchFamily="34" charset="0"/>
              <a:cs typeface="BLS Condensed" pitchFamily="2" charset="-34"/>
            </a:endParaRPr>
          </a:p>
        </p:txBody>
      </p:sp>
      <p:pic>
        <p:nvPicPr>
          <p:cNvPr id="8" name="Picture 7">
            <a:extLst>
              <a:ext uri="{FF2B5EF4-FFF2-40B4-BE49-F238E27FC236}">
                <a16:creationId xmlns:a16="http://schemas.microsoft.com/office/drawing/2014/main" id="{90C5826A-82F6-493F-C6AA-E5918A636E04}"/>
              </a:ext>
            </a:extLst>
          </p:cNvPr>
          <p:cNvPicPr>
            <a:picLocks noChangeAspect="1"/>
          </p:cNvPicPr>
          <p:nvPr/>
        </p:nvPicPr>
        <p:blipFill rotWithShape="1">
          <a:blip r:embed="rId6"/>
          <a:srcRect b="2850"/>
          <a:stretch/>
        </p:blipFill>
        <p:spPr>
          <a:xfrm>
            <a:off x="4045727" y="4932040"/>
            <a:ext cx="2688080" cy="1383812"/>
          </a:xfrm>
          <a:prstGeom prst="rect">
            <a:avLst/>
          </a:prstGeom>
        </p:spPr>
      </p:pic>
      <p:sp>
        <p:nvSpPr>
          <p:cNvPr id="47" name="TextBox 46">
            <a:extLst>
              <a:ext uri="{FF2B5EF4-FFF2-40B4-BE49-F238E27FC236}">
                <a16:creationId xmlns:a16="http://schemas.microsoft.com/office/drawing/2014/main" id="{C9066BA8-BE99-5985-B984-4F43D0AC32DB}"/>
              </a:ext>
            </a:extLst>
          </p:cNvPr>
          <p:cNvSpPr txBox="1"/>
          <p:nvPr/>
        </p:nvSpPr>
        <p:spPr>
          <a:xfrm>
            <a:off x="4293096" y="8486854"/>
            <a:ext cx="2471462" cy="261610"/>
          </a:xfrm>
          <a:prstGeom prst="rect">
            <a:avLst/>
          </a:prstGeom>
          <a:noFill/>
          <a:ln>
            <a:noFill/>
          </a:ln>
        </p:spPr>
        <p:txBody>
          <a:bodyPr wrap="square" rtlCol="0">
            <a:spAutoFit/>
          </a:bodyPr>
          <a:lstStyle/>
          <a:p>
            <a:pPr algn="r"/>
            <a:r>
              <a:rPr lang="en-US" sz="900" b="1" dirty="0">
                <a:solidFill>
                  <a:schemeClr val="accent5">
                    <a:lumMod val="75000"/>
                  </a:schemeClr>
                </a:solidFill>
                <a:latin typeface="BLS Condensed" pitchFamily="2" charset="-34"/>
                <a:ea typeface="Tahoma" pitchFamily="34" charset="0"/>
                <a:cs typeface="BLS Condensed" pitchFamily="2" charset="-34"/>
              </a:rPr>
              <a:t>Wealth Research</a:t>
            </a:r>
            <a:endParaRPr lang="en-US" sz="500" dirty="0">
              <a:solidFill>
                <a:schemeClr val="tx1">
                  <a:lumMod val="95000"/>
                  <a:lumOff val="5000"/>
                </a:schemeClr>
              </a:solidFill>
              <a:latin typeface="BLS Condensed" pitchFamily="2" charset="-34"/>
              <a:ea typeface="Tahoma" pitchFamily="34" charset="0"/>
              <a:cs typeface="BLS Condensed" pitchFamily="2" charset="-34"/>
            </a:endParaRPr>
          </a:p>
          <a:p>
            <a:pPr algn="r"/>
            <a:endParaRPr lang="en-US" sz="200" dirty="0">
              <a:solidFill>
                <a:srgbClr val="404040"/>
              </a:solidFill>
              <a:latin typeface="BLS Condensed" pitchFamily="2" charset="-34"/>
              <a:ea typeface="Tahoma" pitchFamily="34" charset="0"/>
              <a:cs typeface="BLS Condensed" pitchFamily="2" charset="-34"/>
            </a:endParaRPr>
          </a:p>
        </p:txBody>
      </p:sp>
      <p:cxnSp>
        <p:nvCxnSpPr>
          <p:cNvPr id="48" name="Straight Connector 47">
            <a:extLst>
              <a:ext uri="{FF2B5EF4-FFF2-40B4-BE49-F238E27FC236}">
                <a16:creationId xmlns:a16="http://schemas.microsoft.com/office/drawing/2014/main" id="{DB442B00-E779-9C8E-61D1-873917185A99}"/>
              </a:ext>
            </a:extLst>
          </p:cNvPr>
          <p:cNvCxnSpPr/>
          <p:nvPr/>
        </p:nvCxnSpPr>
        <p:spPr>
          <a:xfrm>
            <a:off x="4437360" y="8264589"/>
            <a:ext cx="2232000" cy="0"/>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A457ED2F-E361-DE3A-BDB9-F5BB7E8B266C}"/>
              </a:ext>
            </a:extLst>
          </p:cNvPr>
          <p:cNvPicPr>
            <a:picLocks noChangeAspect="1"/>
          </p:cNvPicPr>
          <p:nvPr/>
        </p:nvPicPr>
        <p:blipFill>
          <a:blip r:embed="rId7"/>
          <a:stretch>
            <a:fillRect/>
          </a:stretch>
        </p:blipFill>
        <p:spPr>
          <a:xfrm>
            <a:off x="4018706" y="6516216"/>
            <a:ext cx="2705070" cy="2058402"/>
          </a:xfrm>
          <a:prstGeom prst="rect">
            <a:avLst/>
          </a:prstGeom>
        </p:spPr>
      </p:pic>
      <p:sp>
        <p:nvSpPr>
          <p:cNvPr id="14" name="TextBox 13">
            <a:extLst>
              <a:ext uri="{FF2B5EF4-FFF2-40B4-BE49-F238E27FC236}">
                <a16:creationId xmlns:a16="http://schemas.microsoft.com/office/drawing/2014/main" id="{C3045D37-3163-597E-F418-C9A8ADD16B9F}"/>
              </a:ext>
            </a:extLst>
          </p:cNvPr>
          <p:cNvSpPr txBox="1"/>
          <p:nvPr/>
        </p:nvSpPr>
        <p:spPr>
          <a:xfrm>
            <a:off x="4018706" y="6300192"/>
            <a:ext cx="2616879" cy="230832"/>
          </a:xfrm>
          <a:prstGeom prst="rect">
            <a:avLst/>
          </a:prstGeom>
          <a:noFill/>
        </p:spPr>
        <p:txBody>
          <a:bodyPr wrap="square" lIns="0" rIns="0" rtlCol="0">
            <a:spAutoFit/>
          </a:bodyPr>
          <a:lstStyle/>
          <a:p>
            <a:r>
              <a:rPr lang="en-US" sz="900" dirty="0">
                <a:solidFill>
                  <a:srgbClr val="A17D3D"/>
                </a:solidFill>
                <a:latin typeface="BLS Condensed" pitchFamily="2" charset="-34"/>
                <a:ea typeface="Tahoma" pitchFamily="34" charset="0"/>
                <a:cs typeface="BLS Condensed" pitchFamily="2" charset="-34"/>
              </a:rPr>
              <a:t>2) Dividend-supported recovery (</a:t>
            </a:r>
            <a:r>
              <a:rPr lang="th-TH" sz="900" dirty="0">
                <a:solidFill>
                  <a:srgbClr val="A17D3D"/>
                </a:solidFill>
                <a:latin typeface="BLS Condensed" pitchFamily="2" charset="-34"/>
                <a:ea typeface="Tahoma" pitchFamily="34" charset="0"/>
                <a:cs typeface="BLS Condensed" pitchFamily="2" charset="-34"/>
              </a:rPr>
              <a:t>มีเงินปันผลรองรับระยะสั้น)</a:t>
            </a:r>
            <a:endParaRPr lang="en-US" sz="900" dirty="0">
              <a:solidFill>
                <a:srgbClr val="A17D3D"/>
              </a:solidFill>
              <a:latin typeface="BLS Condensed" pitchFamily="2" charset="-34"/>
              <a:ea typeface="Tahoma" pitchFamily="34" charset="0"/>
              <a:cs typeface="BLS Condensed" pitchFamily="2" charset="-34"/>
            </a:endParaRPr>
          </a:p>
        </p:txBody>
      </p:sp>
      <p:sp>
        <p:nvSpPr>
          <p:cNvPr id="11" name="TextBox 10">
            <a:extLst>
              <a:ext uri="{FF2B5EF4-FFF2-40B4-BE49-F238E27FC236}">
                <a16:creationId xmlns:a16="http://schemas.microsoft.com/office/drawing/2014/main" id="{C7236C13-3759-8FB1-0CD1-5FC325CB7A9A}"/>
              </a:ext>
            </a:extLst>
          </p:cNvPr>
          <p:cNvSpPr txBox="1"/>
          <p:nvPr/>
        </p:nvSpPr>
        <p:spPr>
          <a:xfrm>
            <a:off x="3461403" y="8611125"/>
            <a:ext cx="2471462" cy="569387"/>
          </a:xfrm>
          <a:prstGeom prst="rect">
            <a:avLst/>
          </a:prstGeom>
          <a:noFill/>
          <a:ln>
            <a:noFill/>
          </a:ln>
        </p:spPr>
        <p:txBody>
          <a:bodyPr wrap="square" rtlCol="0">
            <a:spAutoFit/>
          </a:bodyPr>
          <a:lstStyle/>
          <a:p>
            <a:pPr algn="r"/>
            <a:r>
              <a:rPr lang="th-TH" sz="700" dirty="0">
                <a:solidFill>
                  <a:srgbClr val="404040"/>
                </a:solidFill>
                <a:latin typeface="BLS Condensed" pitchFamily="2" charset="-34"/>
                <a:ea typeface="Tahoma" pitchFamily="34" charset="0"/>
                <a:cs typeface="BLS Condensed" pitchFamily="2" charset="-34"/>
              </a:rPr>
              <a:t>พิริยพล  คงวาณิช</a:t>
            </a:r>
            <a:endParaRPr lang="en-US" sz="700" dirty="0">
              <a:solidFill>
                <a:srgbClr val="404040"/>
              </a:solidFill>
              <a:latin typeface="BLS Condensed" pitchFamily="2" charset="-34"/>
              <a:ea typeface="Tahoma" pitchFamily="34" charset="0"/>
              <a:cs typeface="BLS Condensed" pitchFamily="2" charset="-34"/>
            </a:endParaRPr>
          </a:p>
          <a:p>
            <a:pPr algn="r"/>
            <a:r>
              <a:rPr lang="th-TH" sz="500" dirty="0">
                <a:solidFill>
                  <a:srgbClr val="404040"/>
                </a:solidFill>
                <a:latin typeface="BLS Condensed" pitchFamily="2" charset="-34"/>
                <a:ea typeface="Tahoma" pitchFamily="34" charset="0"/>
                <a:cs typeface="BLS Condensed" pitchFamily="2" charset="-34"/>
              </a:rPr>
              <a:t>นักกลยุทธ์/ผู้จัดการกองทุน/</a:t>
            </a:r>
            <a:endParaRPr lang="en-US" sz="500" dirty="0">
              <a:solidFill>
                <a:srgbClr val="404040"/>
              </a:solidFill>
              <a:latin typeface="BLS Condensed" pitchFamily="2" charset="-34"/>
              <a:ea typeface="Tahoma" pitchFamily="34" charset="0"/>
              <a:cs typeface="BLS Condensed" pitchFamily="2" charset="-34"/>
            </a:endParaRPr>
          </a:p>
          <a:p>
            <a:pPr algn="r"/>
            <a:r>
              <a:rPr lang="th-TH" sz="500" dirty="0">
                <a:solidFill>
                  <a:srgbClr val="404040"/>
                </a:solidFill>
                <a:latin typeface="BLS Condensed" pitchFamily="2" charset="-34"/>
                <a:ea typeface="Tahoma" pitchFamily="34" charset="0"/>
                <a:cs typeface="BLS Condensed" pitchFamily="2" charset="-34"/>
              </a:rPr>
              <a:t>นักวิเคราะห์การลงทุนปัจจัยพื้นฐานด้านหลักทรัพย์</a:t>
            </a:r>
          </a:p>
          <a:p>
            <a:pPr algn="r"/>
            <a:r>
              <a:rPr lang="en-US" sz="500" dirty="0">
                <a:solidFill>
                  <a:srgbClr val="404040"/>
                </a:solidFill>
                <a:latin typeface="BLS Condensed" pitchFamily="2" charset="-34"/>
                <a:ea typeface="Tahoma" pitchFamily="34" charset="0"/>
                <a:cs typeface="BLS Condensed" pitchFamily="2" charset="-34"/>
              </a:rPr>
              <a:t>Piriyapon.kon@bualuang.co.th</a:t>
            </a:r>
          </a:p>
          <a:p>
            <a:pPr algn="r"/>
            <a:r>
              <a:rPr lang="en-US" sz="500" dirty="0">
                <a:solidFill>
                  <a:schemeClr val="accent5">
                    <a:lumMod val="75000"/>
                  </a:schemeClr>
                </a:solidFill>
                <a:latin typeface="BLS Condensed" pitchFamily="2" charset="-34"/>
                <a:ea typeface="Tahoma" pitchFamily="34" charset="0"/>
                <a:cs typeface="BLS Condensed" pitchFamily="2" charset="-34"/>
              </a:rPr>
              <a:t>+66 2 618 1333</a:t>
            </a:r>
            <a:endParaRPr lang="en-US" sz="700" dirty="0">
              <a:solidFill>
                <a:srgbClr val="404040"/>
              </a:solidFill>
              <a:latin typeface="BLS Condensed" pitchFamily="2" charset="-34"/>
              <a:ea typeface="Tahoma" pitchFamily="34" charset="0"/>
              <a:cs typeface="BLS Condensed" pitchFamily="2" charset="-34"/>
            </a:endParaRPr>
          </a:p>
          <a:p>
            <a:pPr algn="r"/>
            <a:endParaRPr lang="en-US" sz="200" dirty="0">
              <a:solidFill>
                <a:srgbClr val="404040"/>
              </a:solidFill>
              <a:latin typeface="BLS Condensed" pitchFamily="2" charset="-34"/>
              <a:ea typeface="Tahoma" pitchFamily="34" charset="0"/>
              <a:cs typeface="BLS Condensed" pitchFamily="2" charset="-34"/>
            </a:endParaRPr>
          </a:p>
          <a:p>
            <a:pPr algn="r"/>
            <a:endParaRPr lang="en-US" sz="200" dirty="0">
              <a:solidFill>
                <a:srgbClr val="404040"/>
              </a:solidFill>
              <a:latin typeface="BLS Condensed" pitchFamily="2" charset="-34"/>
              <a:ea typeface="Tahoma" pitchFamily="34" charset="0"/>
              <a:cs typeface="BLS Condensed" pitchFamily="2" charset="-34"/>
            </a:endParaRPr>
          </a:p>
        </p:txBody>
      </p:sp>
      <p:sp>
        <p:nvSpPr>
          <p:cNvPr id="13" name="TextBox 12">
            <a:extLst>
              <a:ext uri="{FF2B5EF4-FFF2-40B4-BE49-F238E27FC236}">
                <a16:creationId xmlns:a16="http://schemas.microsoft.com/office/drawing/2014/main" id="{6DCBF6DF-DDD7-732E-1011-21022104764B}"/>
              </a:ext>
            </a:extLst>
          </p:cNvPr>
          <p:cNvSpPr txBox="1"/>
          <p:nvPr/>
        </p:nvSpPr>
        <p:spPr>
          <a:xfrm>
            <a:off x="4317629" y="8676456"/>
            <a:ext cx="2471462" cy="338554"/>
          </a:xfrm>
          <a:prstGeom prst="rect">
            <a:avLst/>
          </a:prstGeom>
          <a:noFill/>
          <a:ln>
            <a:noFill/>
          </a:ln>
        </p:spPr>
        <p:txBody>
          <a:bodyPr wrap="square" rtlCol="0">
            <a:spAutoFit/>
          </a:bodyPr>
          <a:lstStyle/>
          <a:p>
            <a:pPr algn="r"/>
            <a:endParaRPr lang="en-US" sz="200" dirty="0">
              <a:solidFill>
                <a:srgbClr val="404040"/>
              </a:solidFill>
              <a:latin typeface="BLS Condensed" pitchFamily="2" charset="-34"/>
              <a:ea typeface="Tahoma" pitchFamily="34" charset="0"/>
              <a:cs typeface="BLS Condensed" pitchFamily="2" charset="-34"/>
            </a:endParaRPr>
          </a:p>
          <a:p>
            <a:pPr algn="r"/>
            <a:r>
              <a:rPr lang="th-TH" sz="700" dirty="0">
                <a:solidFill>
                  <a:srgbClr val="404040"/>
                </a:solidFill>
                <a:latin typeface="BLS Condensed" pitchFamily="2" charset="-34"/>
                <a:ea typeface="Tahoma" pitchFamily="34" charset="0"/>
                <a:cs typeface="BLS Condensed" pitchFamily="2" charset="-34"/>
              </a:rPr>
              <a:t>อิทธิ สุตัณฑวิบูลย์ </a:t>
            </a:r>
          </a:p>
          <a:p>
            <a:pPr algn="r"/>
            <a:r>
              <a:rPr lang="th-TH" sz="500" dirty="0">
                <a:solidFill>
                  <a:srgbClr val="404040"/>
                </a:solidFill>
                <a:latin typeface="BLS Condensed" pitchFamily="2" charset="-34"/>
                <a:ea typeface="Tahoma" pitchFamily="34" charset="0"/>
                <a:cs typeface="BLS Condensed" pitchFamily="2" charset="-34"/>
              </a:rPr>
              <a:t>ผู้ช่วยนักวิเคราะห์</a:t>
            </a:r>
            <a:endParaRPr lang="en-US" sz="500" dirty="0">
              <a:solidFill>
                <a:srgbClr val="404040"/>
              </a:solidFill>
              <a:latin typeface="BLS Condensed" pitchFamily="2" charset="-34"/>
              <a:ea typeface="Tahoma" pitchFamily="34" charset="0"/>
              <a:cs typeface="BLS Condensed" pitchFamily="2" charset="-34"/>
            </a:endParaRPr>
          </a:p>
          <a:p>
            <a:pPr algn="r"/>
            <a:endParaRPr lang="en-US" sz="200" dirty="0">
              <a:solidFill>
                <a:srgbClr val="404040"/>
              </a:solidFill>
              <a:latin typeface="BLS Condensed" pitchFamily="2" charset="-34"/>
              <a:ea typeface="Tahoma" pitchFamily="34" charset="0"/>
              <a:cs typeface="BLS Condensed" pitchFamily="2" charset="-34"/>
            </a:endParaRPr>
          </a:p>
        </p:txBody>
      </p:sp>
      <p:pic>
        <p:nvPicPr>
          <p:cNvPr id="7" name="Picture 6" descr="A table of numbers and letters&#10;&#10;Description automatically generated">
            <a:extLst>
              <a:ext uri="{FF2B5EF4-FFF2-40B4-BE49-F238E27FC236}">
                <a16:creationId xmlns:a16="http://schemas.microsoft.com/office/drawing/2014/main" id="{373F4994-EC38-194F-0617-53C18B7A204D}"/>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003130" y="2246637"/>
            <a:ext cx="2717706" cy="2451178"/>
          </a:xfrm>
          <a:prstGeom prst="rect">
            <a:avLst/>
          </a:prstGeom>
        </p:spPr>
      </p:pic>
    </p:spTree>
    <p:extLst>
      <p:ext uri="{BB962C8B-B14F-4D97-AF65-F5344CB8AC3E}">
        <p14:creationId xmlns:p14="http://schemas.microsoft.com/office/powerpoint/2010/main" val="26802797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9AD5D-75DD-7C3E-4E12-95FE9E6DA851}"/>
            </a:ext>
          </a:extLst>
        </p:cNvPr>
        <p:cNvGrpSpPr/>
        <p:nvPr/>
      </p:nvGrpSpPr>
      <p:grpSpPr>
        <a:xfrm>
          <a:off x="0" y="0"/>
          <a:ext cx="0" cy="0"/>
          <a:chOff x="0" y="0"/>
          <a:chExt cx="0" cy="0"/>
        </a:xfrm>
      </p:grpSpPr>
      <p:pic>
        <p:nvPicPr>
          <p:cNvPr id="5" name="Picture 4" descr="Watercolor of trees in the fog&#10;&#10;Description automatically generated">
            <a:extLst>
              <a:ext uri="{FF2B5EF4-FFF2-40B4-BE49-F238E27FC236}">
                <a16:creationId xmlns:a16="http://schemas.microsoft.com/office/drawing/2014/main" id="{FB46D737-2FF6-5661-E106-CBC8C1117565}"/>
              </a:ext>
            </a:extLst>
          </p:cNvPr>
          <p:cNvPicPr>
            <a:picLocks noChangeAspect="1"/>
          </p:cNvPicPr>
          <p:nvPr/>
        </p:nvPicPr>
        <p:blipFill rotWithShape="1">
          <a:blip r:embed="rId3" cstate="print">
            <a:duotone>
              <a:schemeClr val="accent4">
                <a:shade val="45000"/>
                <a:satMod val="135000"/>
              </a:schemeClr>
              <a:prstClr val="white"/>
            </a:duotone>
            <a:alphaModFix/>
            <a:extLst>
              <a:ext uri="{BEBA8EAE-BF5A-486C-A8C5-ECC9F3942E4B}">
                <a14:imgProps xmlns:a14="http://schemas.microsoft.com/office/drawing/2010/main">
                  <a14:imgLayer r:embed="rId4">
                    <a14:imgEffect>
                      <a14:brightnessContrast bright="60000" contrast="40000"/>
                    </a14:imgEffect>
                  </a14:imgLayer>
                </a14:imgProps>
              </a:ext>
              <a:ext uri="{28A0092B-C50C-407E-A947-70E740481C1C}">
                <a14:useLocalDpi xmlns:a14="http://schemas.microsoft.com/office/drawing/2010/main" val="0"/>
              </a:ext>
            </a:extLst>
          </a:blip>
          <a:srcRect l="56413" t="2666" r="8181" b="8602"/>
          <a:stretch/>
        </p:blipFill>
        <p:spPr>
          <a:xfrm>
            <a:off x="0" y="0"/>
            <a:ext cx="6858000" cy="8689302"/>
          </a:xfrm>
          <a:prstGeom prst="rect">
            <a:avLst/>
          </a:prstGeom>
        </p:spPr>
      </p:pic>
      <p:sp>
        <p:nvSpPr>
          <p:cNvPr id="19" name="TextBox 18">
            <a:extLst>
              <a:ext uri="{FF2B5EF4-FFF2-40B4-BE49-F238E27FC236}">
                <a16:creationId xmlns:a16="http://schemas.microsoft.com/office/drawing/2014/main" id="{01D3EDA3-679C-BA8B-9EDE-9A31378F2861}"/>
              </a:ext>
            </a:extLst>
          </p:cNvPr>
          <p:cNvSpPr txBox="1"/>
          <p:nvPr/>
        </p:nvSpPr>
        <p:spPr>
          <a:xfrm>
            <a:off x="658256" y="2695311"/>
            <a:ext cx="720080" cy="230832"/>
          </a:xfrm>
          <a:prstGeom prst="rect">
            <a:avLst/>
          </a:prstGeom>
          <a:noFill/>
        </p:spPr>
        <p:txBody>
          <a:bodyPr wrap="square" rtlCol="0">
            <a:spAutoFit/>
          </a:bodyPr>
          <a:lstStyle/>
          <a:p>
            <a:r>
              <a:rPr lang="th-TH" sz="900" dirty="0">
                <a:solidFill>
                  <a:schemeClr val="bg1"/>
                </a:solidFill>
                <a:latin typeface="BLS Text" panose="00000500000000000000" pitchFamily="2" charset="-34"/>
                <a:cs typeface="BLS Text" panose="00000500000000000000" pitchFamily="2" charset="-34"/>
              </a:rPr>
              <a:t>12 ธ.ค. </a:t>
            </a:r>
          </a:p>
        </p:txBody>
      </p:sp>
      <p:sp>
        <p:nvSpPr>
          <p:cNvPr id="20" name="TextBox 19">
            <a:extLst>
              <a:ext uri="{FF2B5EF4-FFF2-40B4-BE49-F238E27FC236}">
                <a16:creationId xmlns:a16="http://schemas.microsoft.com/office/drawing/2014/main" id="{FC28B75D-C3AA-F0C5-6200-83DB873637CB}"/>
              </a:ext>
            </a:extLst>
          </p:cNvPr>
          <p:cNvSpPr txBox="1"/>
          <p:nvPr/>
        </p:nvSpPr>
        <p:spPr>
          <a:xfrm>
            <a:off x="531946" y="2687137"/>
            <a:ext cx="904643"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ราชกิจจาประกาศยุบสภา</a:t>
            </a:r>
          </a:p>
        </p:txBody>
      </p:sp>
      <p:sp>
        <p:nvSpPr>
          <p:cNvPr id="21" name="TextBox 20">
            <a:extLst>
              <a:ext uri="{FF2B5EF4-FFF2-40B4-BE49-F238E27FC236}">
                <a16:creationId xmlns:a16="http://schemas.microsoft.com/office/drawing/2014/main" id="{C1FE4F51-5E04-9485-3236-75E85E050C64}"/>
              </a:ext>
            </a:extLst>
          </p:cNvPr>
          <p:cNvSpPr txBox="1"/>
          <p:nvPr/>
        </p:nvSpPr>
        <p:spPr>
          <a:xfrm>
            <a:off x="1497212" y="2695311"/>
            <a:ext cx="779660" cy="230832"/>
          </a:xfrm>
          <a:prstGeom prst="rect">
            <a:avLst/>
          </a:prstGeom>
          <a:noFill/>
        </p:spPr>
        <p:txBody>
          <a:bodyPr wrap="square" rtlCol="0">
            <a:spAutoFit/>
          </a:bodyPr>
          <a:lstStyle/>
          <a:p>
            <a:r>
              <a:rPr lang="th-TH" sz="900" dirty="0">
                <a:solidFill>
                  <a:schemeClr val="bg1"/>
                </a:solidFill>
                <a:latin typeface="BLS Text" panose="00000500000000000000" pitchFamily="2" charset="-34"/>
                <a:cs typeface="BLS Text" panose="00000500000000000000" pitchFamily="2" charset="-34"/>
              </a:rPr>
              <a:t>13-17 ธ.ค.</a:t>
            </a:r>
          </a:p>
        </p:txBody>
      </p:sp>
      <p:sp>
        <p:nvSpPr>
          <p:cNvPr id="25" name="TextBox 24">
            <a:extLst>
              <a:ext uri="{FF2B5EF4-FFF2-40B4-BE49-F238E27FC236}">
                <a16:creationId xmlns:a16="http://schemas.microsoft.com/office/drawing/2014/main" id="{D3C2255B-69C2-3386-D320-629A8A4034DA}"/>
              </a:ext>
            </a:extLst>
          </p:cNvPr>
          <p:cNvSpPr txBox="1"/>
          <p:nvPr/>
        </p:nvSpPr>
        <p:spPr>
          <a:xfrm>
            <a:off x="2319090" y="2695311"/>
            <a:ext cx="779660" cy="230832"/>
          </a:xfrm>
          <a:prstGeom prst="rect">
            <a:avLst/>
          </a:prstGeom>
          <a:noFill/>
        </p:spPr>
        <p:txBody>
          <a:bodyPr wrap="square" rtlCol="0">
            <a:spAutoFit/>
          </a:bodyPr>
          <a:lstStyle/>
          <a:p>
            <a:r>
              <a:rPr lang="th-TH" sz="900" dirty="0">
                <a:solidFill>
                  <a:schemeClr val="bg1"/>
                </a:solidFill>
                <a:latin typeface="BLS Text" panose="00000500000000000000" pitchFamily="2" charset="-34"/>
                <a:cs typeface="BLS Text" panose="00000500000000000000" pitchFamily="2" charset="-34"/>
              </a:rPr>
              <a:t>20-28 ธ.ค.</a:t>
            </a:r>
          </a:p>
        </p:txBody>
      </p:sp>
      <p:sp>
        <p:nvSpPr>
          <p:cNvPr id="30" name="TextBox 29">
            <a:extLst>
              <a:ext uri="{FF2B5EF4-FFF2-40B4-BE49-F238E27FC236}">
                <a16:creationId xmlns:a16="http://schemas.microsoft.com/office/drawing/2014/main" id="{5E822032-D7A4-8CF4-B820-3F60B01D58F8}"/>
              </a:ext>
            </a:extLst>
          </p:cNvPr>
          <p:cNvSpPr txBox="1"/>
          <p:nvPr/>
        </p:nvSpPr>
        <p:spPr>
          <a:xfrm>
            <a:off x="1484784" y="2687137"/>
            <a:ext cx="720080"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ประกาศวันเลือกตั้ง</a:t>
            </a:r>
          </a:p>
        </p:txBody>
      </p:sp>
      <p:sp>
        <p:nvSpPr>
          <p:cNvPr id="32" name="TextBox 31">
            <a:extLst>
              <a:ext uri="{FF2B5EF4-FFF2-40B4-BE49-F238E27FC236}">
                <a16:creationId xmlns:a16="http://schemas.microsoft.com/office/drawing/2014/main" id="{745AAF70-D983-7504-39C7-037FE66D73A6}"/>
              </a:ext>
            </a:extLst>
          </p:cNvPr>
          <p:cNvSpPr txBox="1"/>
          <p:nvPr/>
        </p:nvSpPr>
        <p:spPr>
          <a:xfrm>
            <a:off x="2276872" y="2683242"/>
            <a:ext cx="779660"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พรรคส่งผู้สมัคร ส.ส.</a:t>
            </a:r>
          </a:p>
        </p:txBody>
      </p:sp>
      <p:sp>
        <p:nvSpPr>
          <p:cNvPr id="35" name="TextBox 34">
            <a:extLst>
              <a:ext uri="{FF2B5EF4-FFF2-40B4-BE49-F238E27FC236}">
                <a16:creationId xmlns:a16="http://schemas.microsoft.com/office/drawing/2014/main" id="{3B782CAF-F939-A52B-3801-9742737BB1B9}"/>
              </a:ext>
            </a:extLst>
          </p:cNvPr>
          <p:cNvSpPr txBox="1"/>
          <p:nvPr/>
        </p:nvSpPr>
        <p:spPr>
          <a:xfrm>
            <a:off x="3810726" y="2712883"/>
            <a:ext cx="878577"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ประกาศ ส.ส. อย่างทางการ</a:t>
            </a:r>
          </a:p>
        </p:txBody>
      </p:sp>
      <p:sp>
        <p:nvSpPr>
          <p:cNvPr id="36" name="TextBox 35">
            <a:extLst>
              <a:ext uri="{FF2B5EF4-FFF2-40B4-BE49-F238E27FC236}">
                <a16:creationId xmlns:a16="http://schemas.microsoft.com/office/drawing/2014/main" id="{1A9E9AAC-6A37-023B-CB7D-D641133919A7}"/>
              </a:ext>
            </a:extLst>
          </p:cNvPr>
          <p:cNvSpPr txBox="1"/>
          <p:nvPr/>
        </p:nvSpPr>
        <p:spPr>
          <a:xfrm>
            <a:off x="4590386" y="2703886"/>
            <a:ext cx="1125089"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เลือกนายก/แต่งตั้งคณะรัฐมนตรี</a:t>
            </a:r>
          </a:p>
        </p:txBody>
      </p:sp>
      <p:sp>
        <p:nvSpPr>
          <p:cNvPr id="2" name="TextBox 1">
            <a:extLst>
              <a:ext uri="{FF2B5EF4-FFF2-40B4-BE49-F238E27FC236}">
                <a16:creationId xmlns:a16="http://schemas.microsoft.com/office/drawing/2014/main" id="{9E85ABDE-7CE6-F0E6-1824-B9305003B1AB}"/>
              </a:ext>
            </a:extLst>
          </p:cNvPr>
          <p:cNvSpPr txBox="1"/>
          <p:nvPr/>
        </p:nvSpPr>
        <p:spPr>
          <a:xfrm>
            <a:off x="188640" y="1907704"/>
            <a:ext cx="3164970" cy="2754600"/>
          </a:xfrm>
          <a:prstGeom prst="rect">
            <a:avLst/>
          </a:prstGeom>
          <a:solidFill>
            <a:srgbClr val="EDEDED">
              <a:alpha val="60000"/>
            </a:srgbClr>
          </a:solidFill>
          <a:ln>
            <a:noFill/>
          </a:ln>
        </p:spPr>
        <p:txBody>
          <a:bodyPr wrap="square" rtlCol="0">
            <a:spAutoFit/>
          </a:bodyPr>
          <a:lstStyle/>
          <a:p>
            <a:pPr algn="thaiDist">
              <a:lnSpc>
                <a:spcPct val="120000"/>
              </a:lnSpc>
              <a:spcBef>
                <a:spcPts val="300"/>
              </a:spcBef>
              <a:buSzPct val="120000"/>
            </a:pPr>
            <a:r>
              <a:rPr lang="th-TH" sz="1000" dirty="0">
                <a:solidFill>
                  <a:schemeClr val="tx1">
                    <a:lumMod val="65000"/>
                    <a:lumOff val="35000"/>
                  </a:schemeClr>
                </a:solidFill>
                <a:latin typeface="BLS Text" panose="00000500000000000000" pitchFamily="2" charset="-34"/>
                <a:cs typeface="BLS Text" pitchFamily="2" charset="-34"/>
              </a:rPr>
              <a:t>ในอดีตช่วงสงครามรัสเซีย–ยูเครนปี 2022 ซึ่งราคาน้ำมันโลกปรับตัวขึ้นแรงและดีเซลในประเทศขยับขึ้นสู่ระดับสูงสุดราว 34.9 บาท/ลิตร หากเปรียบเทียบอัตรากำไรจากการดำเนินงาน (</a:t>
            </a:r>
            <a:r>
              <a:rPr lang="en-US" sz="1000" dirty="0">
                <a:solidFill>
                  <a:schemeClr val="tx1">
                    <a:lumMod val="65000"/>
                    <a:lumOff val="35000"/>
                  </a:schemeClr>
                </a:solidFill>
                <a:latin typeface="BLS Text" panose="00000500000000000000" pitchFamily="2" charset="-34"/>
                <a:cs typeface="BLS Text" pitchFamily="2" charset="-34"/>
              </a:rPr>
              <a:t>EBIT margins) </a:t>
            </a:r>
            <a:r>
              <a:rPr lang="th-TH" sz="1000" dirty="0">
                <a:solidFill>
                  <a:schemeClr val="tx1">
                    <a:lumMod val="65000"/>
                    <a:lumOff val="35000"/>
                  </a:schemeClr>
                </a:solidFill>
                <a:latin typeface="BLS Text" panose="00000500000000000000" pitchFamily="2" charset="-34"/>
                <a:cs typeface="BLS Text" pitchFamily="2" charset="-34"/>
              </a:rPr>
              <a:t>ในช่วงราคาดีเซลยืนสูงเฉลี่ย 34.6 บาท/ลิตร (</a:t>
            </a:r>
            <a:r>
              <a:rPr lang="en-US" sz="1000" dirty="0">
                <a:solidFill>
                  <a:schemeClr val="tx1">
                    <a:lumMod val="65000"/>
                    <a:lumOff val="35000"/>
                  </a:schemeClr>
                </a:solidFill>
                <a:latin typeface="BLS Text" panose="00000500000000000000" pitchFamily="2" charset="-34"/>
                <a:cs typeface="BLS Text" pitchFamily="2" charset="-34"/>
              </a:rPr>
              <a:t>Brent </a:t>
            </a:r>
            <a:r>
              <a:rPr lang="th-TH" sz="1000" dirty="0">
                <a:solidFill>
                  <a:schemeClr val="tx1">
                    <a:lumMod val="65000"/>
                    <a:lumOff val="35000"/>
                  </a:schemeClr>
                </a:solidFill>
                <a:latin typeface="BLS Text" panose="00000500000000000000" pitchFamily="2" charset="-34"/>
                <a:cs typeface="BLS Text" pitchFamily="2" charset="-34"/>
              </a:rPr>
              <a:t>เฉลี่ย $92.1/</a:t>
            </a:r>
            <a:r>
              <a:rPr lang="en-US" sz="1000" dirty="0" err="1">
                <a:solidFill>
                  <a:schemeClr val="tx1">
                    <a:lumMod val="65000"/>
                    <a:lumOff val="35000"/>
                  </a:schemeClr>
                </a:solidFill>
                <a:latin typeface="BLS Text" panose="00000500000000000000" pitchFamily="2" charset="-34"/>
                <a:cs typeface="BLS Text" pitchFamily="2" charset="-34"/>
              </a:rPr>
              <a:t>bbl</a:t>
            </a:r>
            <a:r>
              <a:rPr lang="en-US" sz="1000" dirty="0">
                <a:solidFill>
                  <a:schemeClr val="tx1">
                    <a:lumMod val="65000"/>
                    <a:lumOff val="35000"/>
                  </a:schemeClr>
                </a:solidFill>
                <a:latin typeface="BLS Text" panose="00000500000000000000" pitchFamily="2" charset="-34"/>
                <a:cs typeface="BLS Text" pitchFamily="2" charset="-34"/>
              </a:rPr>
              <a:t>) </a:t>
            </a:r>
            <a:r>
              <a:rPr lang="th-TH" sz="1000" dirty="0">
                <a:solidFill>
                  <a:schemeClr val="tx1">
                    <a:lumMod val="65000"/>
                    <a:lumOff val="35000"/>
                  </a:schemeClr>
                </a:solidFill>
                <a:latin typeface="BLS Text" panose="00000500000000000000" pitchFamily="2" charset="-34"/>
                <a:cs typeface="BLS Text" pitchFamily="2" charset="-34"/>
              </a:rPr>
              <a:t>ช่วง 2</a:t>
            </a:r>
            <a:r>
              <a:rPr lang="en-US" sz="1000" dirty="0">
                <a:solidFill>
                  <a:schemeClr val="tx1">
                    <a:lumMod val="65000"/>
                    <a:lumOff val="35000"/>
                  </a:schemeClr>
                </a:solidFill>
                <a:latin typeface="BLS Text" panose="00000500000000000000" pitchFamily="2" charset="-34"/>
                <a:cs typeface="BLS Text" pitchFamily="2" charset="-34"/>
              </a:rPr>
              <a:t>Q22-1Q23 </a:t>
            </a:r>
            <a:r>
              <a:rPr lang="th-TH" sz="1000" dirty="0">
                <a:solidFill>
                  <a:schemeClr val="tx1">
                    <a:lumMod val="65000"/>
                    <a:lumOff val="35000"/>
                  </a:schemeClr>
                </a:solidFill>
                <a:latin typeface="BLS Text" panose="00000500000000000000" pitchFamily="2" charset="-34"/>
                <a:cs typeface="BLS Text" pitchFamily="2" charset="-34"/>
              </a:rPr>
              <a:t>สะท้อนผลกระทบจากสงคราม เทียบกับช่วงก่อนหน้าสงครามที่ราคาดีเซลเฉลี่ยอยู่ที่ 29.7 บาท/ลิตร (</a:t>
            </a:r>
            <a:r>
              <a:rPr lang="en-US" sz="1000" dirty="0">
                <a:solidFill>
                  <a:schemeClr val="tx1">
                    <a:lumMod val="65000"/>
                    <a:lumOff val="35000"/>
                  </a:schemeClr>
                </a:solidFill>
                <a:latin typeface="BLS Text" panose="00000500000000000000" pitchFamily="2" charset="-34"/>
                <a:cs typeface="BLS Text" pitchFamily="2" charset="-34"/>
              </a:rPr>
              <a:t>Brent </a:t>
            </a:r>
            <a:r>
              <a:rPr lang="th-TH" sz="1000" dirty="0">
                <a:solidFill>
                  <a:schemeClr val="tx1">
                    <a:lumMod val="65000"/>
                    <a:lumOff val="35000"/>
                  </a:schemeClr>
                </a:solidFill>
                <a:latin typeface="BLS Text" panose="00000500000000000000" pitchFamily="2" charset="-34"/>
                <a:cs typeface="BLS Text" pitchFamily="2" charset="-34"/>
              </a:rPr>
              <a:t>เฉลี่ย $84.8/</a:t>
            </a:r>
            <a:r>
              <a:rPr lang="en-US" sz="1000" dirty="0" err="1">
                <a:solidFill>
                  <a:schemeClr val="tx1">
                    <a:lumMod val="65000"/>
                    <a:lumOff val="35000"/>
                  </a:schemeClr>
                </a:solidFill>
                <a:latin typeface="BLS Text" panose="00000500000000000000" pitchFamily="2" charset="-34"/>
                <a:cs typeface="BLS Text" pitchFamily="2" charset="-34"/>
              </a:rPr>
              <a:t>bbl</a:t>
            </a:r>
            <a:r>
              <a:rPr lang="en-US" sz="1000" dirty="0">
                <a:solidFill>
                  <a:schemeClr val="tx1">
                    <a:lumMod val="65000"/>
                    <a:lumOff val="35000"/>
                  </a:schemeClr>
                </a:solidFill>
                <a:latin typeface="BLS Text" panose="00000500000000000000" pitchFamily="2" charset="-34"/>
                <a:cs typeface="BLS Text" pitchFamily="2" charset="-34"/>
              </a:rPr>
              <a:t>) </a:t>
            </a:r>
            <a:r>
              <a:rPr lang="th-TH" sz="1000" dirty="0">
                <a:solidFill>
                  <a:schemeClr val="tx1">
                    <a:lumMod val="65000"/>
                    <a:lumOff val="35000"/>
                  </a:schemeClr>
                </a:solidFill>
                <a:latin typeface="BLS Text" panose="00000500000000000000" pitchFamily="2" charset="-34"/>
                <a:cs typeface="BLS Text" pitchFamily="2" charset="-34"/>
              </a:rPr>
              <a:t>ช่วง 2</a:t>
            </a:r>
            <a:r>
              <a:rPr lang="en-US" sz="1000" dirty="0">
                <a:solidFill>
                  <a:schemeClr val="tx1">
                    <a:lumMod val="65000"/>
                    <a:lumOff val="35000"/>
                  </a:schemeClr>
                </a:solidFill>
                <a:latin typeface="BLS Text" panose="00000500000000000000" pitchFamily="2" charset="-34"/>
                <a:cs typeface="BLS Text" pitchFamily="2" charset="-34"/>
              </a:rPr>
              <a:t>Q21-1Q22 </a:t>
            </a:r>
            <a:r>
              <a:rPr lang="th-TH" sz="1000" dirty="0">
                <a:solidFill>
                  <a:schemeClr val="tx1">
                    <a:lumMod val="65000"/>
                    <a:lumOff val="35000"/>
                  </a:schemeClr>
                </a:solidFill>
                <a:latin typeface="BLS Text" panose="00000500000000000000" pitchFamily="2" charset="-34"/>
                <a:cs typeface="BLS Text" pitchFamily="2" charset="-34"/>
              </a:rPr>
              <a:t>พบว่า </a:t>
            </a:r>
            <a:endParaRPr lang="en-US" sz="1000" dirty="0">
              <a:solidFill>
                <a:schemeClr val="tx1">
                  <a:lumMod val="65000"/>
                  <a:lumOff val="35000"/>
                </a:schemeClr>
              </a:solidFill>
              <a:latin typeface="BLS Text" panose="00000500000000000000" pitchFamily="2" charset="-34"/>
              <a:cs typeface="BLS Text" pitchFamily="2" charset="-34"/>
            </a:endParaRPr>
          </a:p>
          <a:p>
            <a:pPr marL="171450" indent="-171450" algn="thaiDist">
              <a:lnSpc>
                <a:spcPct val="120000"/>
              </a:lnSpc>
              <a:spcBef>
                <a:spcPts val="600"/>
              </a:spcBef>
              <a:buSzPct val="120000"/>
              <a:buFont typeface="Arial" panose="020B0604020202020204" pitchFamily="34" charset="0"/>
              <a:buChar char="•"/>
            </a:pPr>
            <a:r>
              <a:rPr lang="th-TH" sz="1000" b="1" dirty="0">
                <a:solidFill>
                  <a:schemeClr val="tx1">
                    <a:lumMod val="65000"/>
                    <a:lumOff val="35000"/>
                  </a:schemeClr>
                </a:solidFill>
                <a:latin typeface="BLS Text" panose="00000500000000000000" pitchFamily="2" charset="-34"/>
                <a:cs typeface="BLS Text" pitchFamily="2" charset="-34"/>
              </a:rPr>
              <a:t>กลุ่มอุตสาหกรรมที่ยังเห็นอัตรากำไรจากการดำเนินงาน (</a:t>
            </a:r>
            <a:r>
              <a:rPr lang="en-US" sz="1000" b="1" dirty="0">
                <a:solidFill>
                  <a:schemeClr val="tx1">
                    <a:lumMod val="65000"/>
                    <a:lumOff val="35000"/>
                  </a:schemeClr>
                </a:solidFill>
                <a:latin typeface="BLS Text" panose="00000500000000000000" pitchFamily="2" charset="-34"/>
                <a:cs typeface="BLS Text" pitchFamily="2" charset="-34"/>
              </a:rPr>
              <a:t>EBIT margins) </a:t>
            </a:r>
            <a:r>
              <a:rPr lang="th-TH" sz="1000" b="1" dirty="0">
                <a:solidFill>
                  <a:schemeClr val="tx1">
                    <a:lumMod val="65000"/>
                    <a:lumOff val="35000"/>
                  </a:schemeClr>
                </a:solidFill>
                <a:latin typeface="BLS Text" panose="00000500000000000000" pitchFamily="2" charset="-34"/>
                <a:cs typeface="BLS Text" pitchFamily="2" charset="-34"/>
              </a:rPr>
              <a:t>ยังขยายตัวได้ </a:t>
            </a:r>
            <a:r>
              <a:rPr lang="th-TH" sz="1000" dirty="0">
                <a:solidFill>
                  <a:schemeClr val="tx1">
                    <a:lumMod val="65000"/>
                    <a:lumOff val="35000"/>
                  </a:schemeClr>
                </a:solidFill>
                <a:latin typeface="BLS Text" panose="00000500000000000000" pitchFamily="2" charset="-34"/>
                <a:cs typeface="BLS Text" pitchFamily="2" charset="-34"/>
              </a:rPr>
              <a:t>ได้แก่ ธุรกิจรายได้เชื่อมโยงราคาพลังงาน (</a:t>
            </a:r>
            <a:r>
              <a:rPr lang="en-US" sz="1000" dirty="0">
                <a:solidFill>
                  <a:schemeClr val="tx1">
                    <a:lumMod val="65000"/>
                    <a:lumOff val="35000"/>
                  </a:schemeClr>
                </a:solidFill>
                <a:latin typeface="BLS Text" panose="00000500000000000000" pitchFamily="2" charset="-34"/>
                <a:cs typeface="BLS Text" pitchFamily="2" charset="-34"/>
              </a:rPr>
              <a:t>energy-linked earnings) </a:t>
            </a:r>
            <a:r>
              <a:rPr lang="th-TH" sz="1000" dirty="0">
                <a:solidFill>
                  <a:schemeClr val="tx1">
                    <a:lumMod val="65000"/>
                    <a:lumOff val="35000"/>
                  </a:schemeClr>
                </a:solidFill>
                <a:latin typeface="BLS Text" panose="00000500000000000000" pitchFamily="2" charset="-34"/>
                <a:cs typeface="BLS Text" pitchFamily="2" charset="-34"/>
              </a:rPr>
              <a:t>และ/หรือ มีความสามารถในการส่งผ่านต้นทุน (</a:t>
            </a:r>
            <a:r>
              <a:rPr lang="en-US" sz="1000" dirty="0">
                <a:solidFill>
                  <a:schemeClr val="tx1">
                    <a:lumMod val="65000"/>
                    <a:lumOff val="35000"/>
                  </a:schemeClr>
                </a:solidFill>
                <a:latin typeface="BLS Text" panose="00000500000000000000" pitchFamily="2" charset="-34"/>
                <a:cs typeface="BLS Text" pitchFamily="2" charset="-34"/>
              </a:rPr>
              <a:t>cost pass-through ability) </a:t>
            </a:r>
            <a:r>
              <a:rPr lang="th-TH" sz="1000" dirty="0">
                <a:solidFill>
                  <a:schemeClr val="tx1">
                    <a:lumMod val="65000"/>
                    <a:lumOff val="35000"/>
                  </a:schemeClr>
                </a:solidFill>
                <a:latin typeface="BLS Text" panose="00000500000000000000" pitchFamily="2" charset="-34"/>
                <a:cs typeface="BLS Text" pitchFamily="2" charset="-34"/>
              </a:rPr>
              <a:t>กลุ่มพลังงานต้นน้ำ </a:t>
            </a:r>
            <a:r>
              <a:rPr lang="en-US" sz="1000" dirty="0">
                <a:solidFill>
                  <a:schemeClr val="tx1">
                    <a:lumMod val="65000"/>
                    <a:lumOff val="35000"/>
                  </a:schemeClr>
                </a:solidFill>
                <a:latin typeface="BLS Text" panose="00000500000000000000" pitchFamily="2" charset="-34"/>
                <a:cs typeface="BLS Text" pitchFamily="2" charset="-34"/>
              </a:rPr>
              <a:t>PTTEP </a:t>
            </a:r>
            <a:r>
              <a:rPr lang="th-TH" sz="1000" dirty="0">
                <a:solidFill>
                  <a:schemeClr val="tx1">
                    <a:lumMod val="65000"/>
                    <a:lumOff val="35000"/>
                  </a:schemeClr>
                </a:solidFill>
                <a:latin typeface="BLS Text" panose="00000500000000000000" pitchFamily="2" charset="-34"/>
                <a:cs typeface="BLS Text" pitchFamily="2" charset="-34"/>
              </a:rPr>
              <a:t>และโรงกลั่น </a:t>
            </a:r>
            <a:r>
              <a:rPr lang="en-US" sz="1000" dirty="0">
                <a:solidFill>
                  <a:schemeClr val="tx1">
                    <a:lumMod val="65000"/>
                    <a:lumOff val="35000"/>
                  </a:schemeClr>
                </a:solidFill>
                <a:latin typeface="BLS Text" panose="00000500000000000000" pitchFamily="2" charset="-34"/>
                <a:cs typeface="BLS Text" pitchFamily="2" charset="-34"/>
              </a:rPr>
              <a:t>TOP, SPRC</a:t>
            </a:r>
          </a:p>
        </p:txBody>
      </p:sp>
      <p:sp>
        <p:nvSpPr>
          <p:cNvPr id="15" name="TextBox 14">
            <a:extLst>
              <a:ext uri="{FF2B5EF4-FFF2-40B4-BE49-F238E27FC236}">
                <a16:creationId xmlns:a16="http://schemas.microsoft.com/office/drawing/2014/main" id="{546F7F14-A377-C8CF-5D1E-8DDF1256B72B}"/>
              </a:ext>
            </a:extLst>
          </p:cNvPr>
          <p:cNvSpPr txBox="1"/>
          <p:nvPr/>
        </p:nvSpPr>
        <p:spPr>
          <a:xfrm>
            <a:off x="3462910" y="1907704"/>
            <a:ext cx="3164970" cy="2780248"/>
          </a:xfrm>
          <a:prstGeom prst="rect">
            <a:avLst/>
          </a:prstGeom>
          <a:solidFill>
            <a:srgbClr val="EDEDED">
              <a:alpha val="60000"/>
            </a:srgbClr>
          </a:solidFill>
          <a:ln>
            <a:noFill/>
          </a:ln>
        </p:spPr>
        <p:txBody>
          <a:bodyPr wrap="square" rtlCol="0">
            <a:spAutoFit/>
          </a:bodyPr>
          <a:lstStyle/>
          <a:p>
            <a:pPr marL="171450" algn="thaiDist">
              <a:lnSpc>
                <a:spcPct val="120000"/>
              </a:lnSpc>
              <a:spcBef>
                <a:spcPts val="400"/>
              </a:spcBef>
              <a:buSzPct val="120000"/>
            </a:pPr>
            <a:r>
              <a:rPr lang="th-TH" sz="1000" dirty="0">
                <a:solidFill>
                  <a:schemeClr val="tx1">
                    <a:lumMod val="65000"/>
                    <a:lumOff val="35000"/>
                  </a:schemeClr>
                </a:solidFill>
                <a:latin typeface="BLS Text" panose="00000500000000000000" pitchFamily="2" charset="-34"/>
                <a:cs typeface="BLS Text" pitchFamily="2" charset="-34"/>
              </a:rPr>
              <a:t>กลุ่มเกษตร/อาหาร </a:t>
            </a:r>
            <a:r>
              <a:rPr lang="en-US" sz="1000" dirty="0">
                <a:solidFill>
                  <a:schemeClr val="tx1">
                    <a:lumMod val="65000"/>
                    <a:lumOff val="35000"/>
                  </a:schemeClr>
                </a:solidFill>
                <a:latin typeface="BLS Text" panose="00000500000000000000" pitchFamily="2" charset="-34"/>
                <a:cs typeface="BLS Text" pitchFamily="2" charset="-34"/>
              </a:rPr>
              <a:t>CPF, BTG, TFG </a:t>
            </a:r>
            <a:r>
              <a:rPr lang="th-TH" sz="1000" dirty="0">
                <a:solidFill>
                  <a:schemeClr val="tx1">
                    <a:lumMod val="65000"/>
                    <a:lumOff val="35000"/>
                  </a:schemeClr>
                </a:solidFill>
                <a:latin typeface="BLS Text" panose="00000500000000000000" pitchFamily="2" charset="-34"/>
                <a:cs typeface="BLS Text" pitchFamily="2" charset="-34"/>
              </a:rPr>
              <a:t>กลุ่มห้างสรรพสินค้า </a:t>
            </a:r>
            <a:r>
              <a:rPr lang="en-US" sz="1000" dirty="0">
                <a:solidFill>
                  <a:schemeClr val="tx1">
                    <a:lumMod val="65000"/>
                    <a:lumOff val="35000"/>
                  </a:schemeClr>
                </a:solidFill>
                <a:latin typeface="BLS Text" panose="00000500000000000000" pitchFamily="2" charset="-34"/>
                <a:cs typeface="BLS Text" pitchFamily="2" charset="-34"/>
              </a:rPr>
              <a:t>CPN,</a:t>
            </a:r>
            <a:r>
              <a:rPr lang="th-TH" sz="1000" dirty="0">
                <a:solidFill>
                  <a:schemeClr val="tx1">
                    <a:lumMod val="65000"/>
                    <a:lumOff val="35000"/>
                  </a:schemeClr>
                </a:solidFill>
                <a:latin typeface="BLS Text" panose="00000500000000000000" pitchFamily="2" charset="-34"/>
                <a:cs typeface="BLS Text" pitchFamily="2" charset="-34"/>
              </a:rPr>
              <a:t> กลุ่มโรงพยาบาล </a:t>
            </a:r>
            <a:r>
              <a:rPr lang="en-US" sz="1000" dirty="0">
                <a:solidFill>
                  <a:schemeClr val="tx1">
                    <a:lumMod val="65000"/>
                    <a:lumOff val="35000"/>
                  </a:schemeClr>
                </a:solidFill>
                <a:latin typeface="BLS Text" panose="00000500000000000000" pitchFamily="2" charset="-34"/>
                <a:cs typeface="BLS Text" pitchFamily="2" charset="-34"/>
              </a:rPr>
              <a:t>BH, BDMS, </a:t>
            </a:r>
            <a:r>
              <a:rPr lang="th-TH" sz="1000" dirty="0">
                <a:solidFill>
                  <a:schemeClr val="tx1">
                    <a:lumMod val="65000"/>
                    <a:lumOff val="35000"/>
                  </a:schemeClr>
                </a:solidFill>
                <a:latin typeface="BLS Text" panose="00000500000000000000" pitchFamily="2" charset="-34"/>
                <a:cs typeface="BLS Text" pitchFamily="2" charset="-34"/>
              </a:rPr>
              <a:t>กลุ่มนิคมฯ </a:t>
            </a:r>
            <a:r>
              <a:rPr lang="en-US" sz="1000" dirty="0">
                <a:solidFill>
                  <a:schemeClr val="tx1">
                    <a:lumMod val="65000"/>
                    <a:lumOff val="35000"/>
                  </a:schemeClr>
                </a:solidFill>
                <a:latin typeface="BLS Text" panose="00000500000000000000" pitchFamily="2" charset="-34"/>
                <a:cs typeface="BLS Text" pitchFamily="2" charset="-34"/>
              </a:rPr>
              <a:t>WHA AMATA </a:t>
            </a:r>
          </a:p>
          <a:p>
            <a:pPr marL="171450" indent="-171450" algn="thaiDist">
              <a:lnSpc>
                <a:spcPct val="120000"/>
              </a:lnSpc>
              <a:spcBef>
                <a:spcPts val="400"/>
              </a:spcBef>
              <a:buSzPct val="120000"/>
              <a:buFont typeface="Arial" panose="020B0604020202020204" pitchFamily="34" charset="0"/>
              <a:buChar char="•"/>
            </a:pPr>
            <a:r>
              <a:rPr lang="th-TH" sz="1000" b="1" dirty="0">
                <a:solidFill>
                  <a:schemeClr val="tx1">
                    <a:lumMod val="65000"/>
                    <a:lumOff val="35000"/>
                  </a:schemeClr>
                </a:solidFill>
                <a:latin typeface="BLS Text" panose="00000500000000000000" pitchFamily="2" charset="-34"/>
                <a:cs typeface="BLS Text" pitchFamily="2" charset="-34"/>
              </a:rPr>
              <a:t>กลุ่มที่กระทบจำกัด อัตรากำไรทรงตัว มีความสามารถในการส่งผ่านต้นทุน </a:t>
            </a:r>
            <a:r>
              <a:rPr lang="th-TH" sz="1000" dirty="0">
                <a:solidFill>
                  <a:schemeClr val="tx1">
                    <a:lumMod val="65000"/>
                    <a:lumOff val="35000"/>
                  </a:schemeClr>
                </a:solidFill>
                <a:latin typeface="BLS Text" panose="00000500000000000000" pitchFamily="2" charset="-34"/>
                <a:cs typeface="BLS Text" pitchFamily="2" charset="-34"/>
              </a:rPr>
              <a:t>ได้แก่ กลุ่มค้าปลีกของใช้จำเป็น </a:t>
            </a:r>
            <a:r>
              <a:rPr lang="en-US" sz="1000" dirty="0">
                <a:solidFill>
                  <a:schemeClr val="tx1">
                    <a:lumMod val="65000"/>
                    <a:lumOff val="35000"/>
                  </a:schemeClr>
                </a:solidFill>
                <a:latin typeface="BLS Text" panose="00000500000000000000" pitchFamily="2" charset="-34"/>
                <a:cs typeface="BLS Text" pitchFamily="2" charset="-34"/>
              </a:rPr>
              <a:t>CPALL </a:t>
            </a:r>
            <a:r>
              <a:rPr lang="th-TH" sz="1000" dirty="0">
                <a:solidFill>
                  <a:schemeClr val="tx1">
                    <a:lumMod val="65000"/>
                    <a:lumOff val="35000"/>
                  </a:schemeClr>
                </a:solidFill>
                <a:latin typeface="BLS Text" panose="00000500000000000000" pitchFamily="2" charset="-34"/>
                <a:cs typeface="BLS Text" pitchFamily="2" charset="-34"/>
              </a:rPr>
              <a:t>กลุ่มสื่อสาร </a:t>
            </a:r>
            <a:r>
              <a:rPr lang="en-US" sz="1000" dirty="0">
                <a:solidFill>
                  <a:schemeClr val="tx1">
                    <a:lumMod val="65000"/>
                    <a:lumOff val="35000"/>
                  </a:schemeClr>
                </a:solidFill>
                <a:latin typeface="BLS Text" panose="00000500000000000000" pitchFamily="2" charset="-34"/>
                <a:cs typeface="BLS Text" pitchFamily="2" charset="-34"/>
              </a:rPr>
              <a:t>ADVANC </a:t>
            </a:r>
            <a:r>
              <a:rPr lang="th-TH" sz="1000" dirty="0">
                <a:solidFill>
                  <a:schemeClr val="tx1">
                    <a:lumMod val="65000"/>
                    <a:lumOff val="35000"/>
                  </a:schemeClr>
                </a:solidFill>
                <a:latin typeface="BLS Text" panose="00000500000000000000" pitchFamily="2" charset="-34"/>
                <a:cs typeface="BLS Text" pitchFamily="2" charset="-34"/>
              </a:rPr>
              <a:t>กลุ่มธนาคาร </a:t>
            </a:r>
            <a:r>
              <a:rPr lang="en-US" sz="1000" dirty="0">
                <a:solidFill>
                  <a:schemeClr val="tx1">
                    <a:lumMod val="65000"/>
                    <a:lumOff val="35000"/>
                  </a:schemeClr>
                </a:solidFill>
                <a:latin typeface="BLS Text" panose="00000500000000000000" pitchFamily="2" charset="-34"/>
                <a:cs typeface="BLS Text" pitchFamily="2" charset="-34"/>
              </a:rPr>
              <a:t>KTB KBANK SCB BBL </a:t>
            </a:r>
            <a:r>
              <a:rPr lang="th-TH" sz="1000" dirty="0">
                <a:solidFill>
                  <a:schemeClr val="tx1">
                    <a:lumMod val="65000"/>
                    <a:lumOff val="35000"/>
                  </a:schemeClr>
                </a:solidFill>
                <a:latin typeface="BLS Text" panose="00000500000000000000" pitchFamily="2" charset="-34"/>
                <a:cs typeface="BLS Text" pitchFamily="2" charset="-34"/>
              </a:rPr>
              <a:t>กลุ่มส่งออกอาหารสัตว์เลี้ยง </a:t>
            </a:r>
            <a:r>
              <a:rPr lang="en-US" sz="1000" dirty="0">
                <a:solidFill>
                  <a:schemeClr val="tx1">
                    <a:lumMod val="65000"/>
                    <a:lumOff val="35000"/>
                  </a:schemeClr>
                </a:solidFill>
                <a:latin typeface="BLS Text" panose="00000500000000000000" pitchFamily="2" charset="-34"/>
                <a:cs typeface="BLS Text" pitchFamily="2" charset="-34"/>
              </a:rPr>
              <a:t>ITC </a:t>
            </a:r>
          </a:p>
          <a:p>
            <a:pPr marL="171450" indent="-171450" algn="thaiDist">
              <a:lnSpc>
                <a:spcPct val="120000"/>
              </a:lnSpc>
              <a:spcBef>
                <a:spcPts val="400"/>
              </a:spcBef>
              <a:buSzPct val="120000"/>
              <a:buFont typeface="Arial" panose="020B0604020202020204" pitchFamily="34" charset="0"/>
              <a:buChar char="•"/>
            </a:pPr>
            <a:r>
              <a:rPr lang="th-TH" sz="1000" b="1" dirty="0">
                <a:solidFill>
                  <a:schemeClr val="tx1">
                    <a:lumMod val="65000"/>
                    <a:lumOff val="35000"/>
                  </a:schemeClr>
                </a:solidFill>
                <a:latin typeface="BLS Text" panose="00000500000000000000" pitchFamily="2" charset="-34"/>
                <a:cs typeface="BLS Text" pitchFamily="2" charset="-34"/>
              </a:rPr>
              <a:t>กลุ่มที่โดนกระทบแรง อัตรากำไรหดตัว </a:t>
            </a:r>
            <a:r>
              <a:rPr lang="th-TH" sz="1000" dirty="0">
                <a:solidFill>
                  <a:schemeClr val="tx1">
                    <a:lumMod val="65000"/>
                    <a:lumOff val="35000"/>
                  </a:schemeClr>
                </a:solidFill>
                <a:latin typeface="BLS Text" panose="00000500000000000000" pitchFamily="2" charset="-34"/>
                <a:cs typeface="BLS Text" pitchFamily="2" charset="-34"/>
              </a:rPr>
              <a:t>ได้แก่ กลุ่มต้นทุนพลังงานสูง (</a:t>
            </a:r>
            <a:r>
              <a:rPr lang="en-US" sz="1000" dirty="0">
                <a:solidFill>
                  <a:schemeClr val="tx1">
                    <a:lumMod val="65000"/>
                    <a:lumOff val="35000"/>
                  </a:schemeClr>
                </a:solidFill>
                <a:latin typeface="BLS Text" panose="00000500000000000000" pitchFamily="2" charset="-34"/>
                <a:cs typeface="BLS Text" pitchFamily="2" charset="-34"/>
              </a:rPr>
              <a:t>energy cost-exposed) </a:t>
            </a:r>
            <a:r>
              <a:rPr lang="th-TH" sz="1000" dirty="0">
                <a:solidFill>
                  <a:schemeClr val="tx1">
                    <a:lumMod val="65000"/>
                    <a:lumOff val="35000"/>
                  </a:schemeClr>
                </a:solidFill>
                <a:latin typeface="BLS Text" panose="00000500000000000000" pitchFamily="2" charset="-34"/>
                <a:cs typeface="BLS Text" pitchFamily="2" charset="-34"/>
              </a:rPr>
              <a:t>กลุ่มวัสดุก่อสร้าง </a:t>
            </a:r>
            <a:r>
              <a:rPr lang="en-US" sz="1000" dirty="0">
                <a:solidFill>
                  <a:schemeClr val="tx1">
                    <a:lumMod val="65000"/>
                    <a:lumOff val="35000"/>
                  </a:schemeClr>
                </a:solidFill>
                <a:latin typeface="BLS Text" panose="00000500000000000000" pitchFamily="2" charset="-34"/>
                <a:cs typeface="BLS Text" pitchFamily="2" charset="-34"/>
              </a:rPr>
              <a:t>SCC </a:t>
            </a:r>
            <a:r>
              <a:rPr lang="th-TH" sz="1000" dirty="0">
                <a:solidFill>
                  <a:schemeClr val="tx1">
                    <a:lumMod val="65000"/>
                    <a:lumOff val="35000"/>
                  </a:schemeClr>
                </a:solidFill>
                <a:latin typeface="BLS Text" panose="00000500000000000000" pitchFamily="2" charset="-34"/>
                <a:cs typeface="BLS Text" pitchFamily="2" charset="-34"/>
              </a:rPr>
              <a:t>กลุ่มโรงไฟฟ้าขนาดเล็ก </a:t>
            </a:r>
            <a:r>
              <a:rPr lang="en-US" sz="1000" dirty="0">
                <a:solidFill>
                  <a:schemeClr val="tx1">
                    <a:lumMod val="65000"/>
                    <a:lumOff val="35000"/>
                  </a:schemeClr>
                </a:solidFill>
                <a:latin typeface="BLS Text" panose="00000500000000000000" pitchFamily="2" charset="-34"/>
                <a:cs typeface="BLS Text" pitchFamily="2" charset="-34"/>
              </a:rPr>
              <a:t>SPP BGRIM GPSC </a:t>
            </a:r>
            <a:r>
              <a:rPr lang="th-TH" sz="1000" dirty="0">
                <a:solidFill>
                  <a:schemeClr val="tx1">
                    <a:lumMod val="65000"/>
                    <a:lumOff val="35000"/>
                  </a:schemeClr>
                </a:solidFill>
                <a:latin typeface="BLS Text" panose="00000500000000000000" pitchFamily="2" charset="-34"/>
                <a:cs typeface="BLS Text" pitchFamily="2" charset="-34"/>
              </a:rPr>
              <a:t>รวมถึงกลุ่มอ่อนไหวต่อกำลังซื้อในประเทศ (</a:t>
            </a:r>
            <a:r>
              <a:rPr lang="en-US" sz="1000" dirty="0">
                <a:solidFill>
                  <a:schemeClr val="tx1">
                    <a:lumMod val="65000"/>
                    <a:lumOff val="35000"/>
                  </a:schemeClr>
                </a:solidFill>
                <a:latin typeface="BLS Text" panose="00000500000000000000" pitchFamily="2" charset="-34"/>
                <a:cs typeface="BLS Text" pitchFamily="2" charset="-34"/>
              </a:rPr>
              <a:t>domestic demand-sensitive) </a:t>
            </a:r>
            <a:r>
              <a:rPr lang="th-TH" sz="1000" dirty="0">
                <a:solidFill>
                  <a:schemeClr val="tx1">
                    <a:lumMod val="65000"/>
                    <a:lumOff val="35000"/>
                  </a:schemeClr>
                </a:solidFill>
                <a:latin typeface="BLS Text" panose="00000500000000000000" pitchFamily="2" charset="-34"/>
                <a:cs typeface="BLS Text" pitchFamily="2" charset="-34"/>
              </a:rPr>
              <a:t>อย่างกลุ่มค้าปลีกของฟุ่มเฟือย โดยเฉพาะค้าปลีกวัสดุก่อสร้าง </a:t>
            </a:r>
            <a:r>
              <a:rPr lang="en-US" sz="1000" dirty="0">
                <a:solidFill>
                  <a:schemeClr val="tx1">
                    <a:lumMod val="65000"/>
                    <a:lumOff val="35000"/>
                  </a:schemeClr>
                </a:solidFill>
                <a:latin typeface="BLS Text" panose="00000500000000000000" pitchFamily="2" charset="-34"/>
                <a:cs typeface="BLS Text" pitchFamily="2" charset="-34"/>
              </a:rPr>
              <a:t>DOHOME </a:t>
            </a:r>
          </a:p>
        </p:txBody>
      </p:sp>
      <p:cxnSp>
        <p:nvCxnSpPr>
          <p:cNvPr id="18" name="Straight Connector 17">
            <a:extLst>
              <a:ext uri="{FF2B5EF4-FFF2-40B4-BE49-F238E27FC236}">
                <a16:creationId xmlns:a16="http://schemas.microsoft.com/office/drawing/2014/main" id="{811E1CC9-D26F-1122-558A-414813438452}"/>
              </a:ext>
            </a:extLst>
          </p:cNvPr>
          <p:cNvCxnSpPr>
            <a:cxnSpLocks/>
          </p:cNvCxnSpPr>
          <p:nvPr/>
        </p:nvCxnSpPr>
        <p:spPr>
          <a:xfrm>
            <a:off x="320593" y="8748464"/>
            <a:ext cx="6126480" cy="0"/>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81748675-2985-66A0-18EB-8B4E8A4F54F6}"/>
              </a:ext>
            </a:extLst>
          </p:cNvPr>
          <p:cNvSpPr txBox="1"/>
          <p:nvPr/>
        </p:nvSpPr>
        <p:spPr>
          <a:xfrm>
            <a:off x="286492" y="4751106"/>
            <a:ext cx="6022828" cy="215444"/>
          </a:xfrm>
          <a:prstGeom prst="rect">
            <a:avLst/>
          </a:prstGeom>
          <a:noFill/>
        </p:spPr>
        <p:txBody>
          <a:bodyPr wrap="square" rtlCol="0">
            <a:spAutoFit/>
          </a:bodyPr>
          <a:lstStyle/>
          <a:p>
            <a:r>
              <a:rPr lang="th-TH" sz="800" b="1" dirty="0">
                <a:solidFill>
                  <a:schemeClr val="tx1">
                    <a:lumMod val="95000"/>
                    <a:lumOff val="5000"/>
                  </a:schemeClr>
                </a:solidFill>
                <a:latin typeface="BLS Condensed" pitchFamily="2" charset="-34"/>
                <a:ea typeface="Tahoma" pitchFamily="34" charset="0"/>
                <a:cs typeface="BLS Condensed" pitchFamily="2" charset="-34"/>
              </a:rPr>
              <a:t>รูปที่</a:t>
            </a:r>
            <a:r>
              <a:rPr lang="en-US" sz="800" b="1" dirty="0">
                <a:solidFill>
                  <a:schemeClr val="tx1">
                    <a:lumMod val="95000"/>
                    <a:lumOff val="5000"/>
                  </a:schemeClr>
                </a:solidFill>
                <a:latin typeface="BLS Condensed" pitchFamily="2" charset="-34"/>
                <a:ea typeface="Tahoma" pitchFamily="34" charset="0"/>
                <a:cs typeface="BLS Condensed" pitchFamily="2" charset="-34"/>
              </a:rPr>
              <a:t> 1: Change in EBIT Margin (bps): Low vs High Oil Price Environment - Post vs Pre Russia-Ukraine War (2Q22–1Q23 vs 2Q21–1Q22)</a:t>
            </a:r>
          </a:p>
        </p:txBody>
      </p:sp>
      <p:cxnSp>
        <p:nvCxnSpPr>
          <p:cNvPr id="31" name="Straight Connector 30">
            <a:extLst>
              <a:ext uri="{FF2B5EF4-FFF2-40B4-BE49-F238E27FC236}">
                <a16:creationId xmlns:a16="http://schemas.microsoft.com/office/drawing/2014/main" id="{ED544969-6829-5FFD-1765-676D76EE5F5B}"/>
              </a:ext>
            </a:extLst>
          </p:cNvPr>
          <p:cNvCxnSpPr/>
          <p:nvPr/>
        </p:nvCxnSpPr>
        <p:spPr>
          <a:xfrm>
            <a:off x="305146" y="4742221"/>
            <a:ext cx="6126480" cy="0"/>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47AA2941-9659-DEF5-69DF-BE120C176F29}"/>
              </a:ext>
            </a:extLst>
          </p:cNvPr>
          <p:cNvSpPr/>
          <p:nvPr/>
        </p:nvSpPr>
        <p:spPr>
          <a:xfrm>
            <a:off x="297857" y="8748464"/>
            <a:ext cx="6235107" cy="45719"/>
          </a:xfrm>
          <a:prstGeom prst="rect">
            <a:avLst/>
          </a:prstGeom>
          <a:gradFill>
            <a:gsLst>
              <a:gs pos="0">
                <a:schemeClr val="accent1">
                  <a:lumMod val="60000"/>
                  <a:lumOff val="40000"/>
                </a:schemeClr>
              </a:gs>
              <a:gs pos="50000">
                <a:schemeClr val="accent1">
                  <a:lumMod val="75000"/>
                </a:schemeClr>
              </a:gs>
              <a:gs pos="100000">
                <a:schemeClr val="accent1">
                  <a:lumMod val="5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2">
            <a:extLst>
              <a:ext uri="{FF2B5EF4-FFF2-40B4-BE49-F238E27FC236}">
                <a16:creationId xmlns:a16="http://schemas.microsoft.com/office/drawing/2014/main" id="{974B464D-079C-66D5-267A-B0271C83992E}"/>
              </a:ext>
            </a:extLst>
          </p:cNvPr>
          <p:cNvPicPr>
            <a:picLocks noChangeAspect="1" noChangeArrowheads="1"/>
          </p:cNvPicPr>
          <p:nvPr/>
        </p:nvPicPr>
        <p:blipFill>
          <a:blip r:embed="rId5" cstate="print">
            <a:clrChange>
              <a:clrFrom>
                <a:srgbClr val="FFFFFF"/>
              </a:clrFrom>
              <a:clrTo>
                <a:srgbClr val="FFFFFF">
                  <a:alpha val="0"/>
                </a:srgbClr>
              </a:clrTo>
            </a:clrChange>
            <a:extLst>
              <a:ext uri="{BEBA8EAE-BF5A-486C-A8C5-ECC9F3942E4B}">
                <a14:imgProps xmlns:a14="http://schemas.microsoft.com/office/drawing/2010/main">
                  <a14:imgLayer r:embed="rId6">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159793" y="125733"/>
            <a:ext cx="1252983" cy="4138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A716ED43-E385-A160-9D3A-0264F1B0EE0B}"/>
              </a:ext>
            </a:extLst>
          </p:cNvPr>
          <p:cNvSpPr txBox="1"/>
          <p:nvPr/>
        </p:nvSpPr>
        <p:spPr>
          <a:xfrm>
            <a:off x="514209" y="61918"/>
            <a:ext cx="970575" cy="253916"/>
          </a:xfrm>
          <a:prstGeom prst="rect">
            <a:avLst/>
          </a:prstGeom>
          <a:noFill/>
        </p:spPr>
        <p:txBody>
          <a:bodyPr wrap="square">
            <a:spAutoFit/>
          </a:bodyPr>
          <a:lstStyle/>
          <a:p>
            <a:pPr algn="r"/>
            <a:r>
              <a:rPr lang="en-US" sz="1050" b="1" dirty="0">
                <a:solidFill>
                  <a:srgbClr val="CCAE8A"/>
                </a:solidFill>
                <a:latin typeface="Aharoni" panose="020F0502020204030204" pitchFamily="2" charset="-79"/>
                <a:ea typeface="Tahoma" pitchFamily="34" charset="0"/>
                <a:cs typeface="Aharoni" panose="020F0502020204030204" pitchFamily="2" charset="-79"/>
              </a:rPr>
              <a:t>BLS</a:t>
            </a:r>
            <a:r>
              <a:rPr lang="th-TH" sz="1050" b="1" dirty="0">
                <a:solidFill>
                  <a:srgbClr val="CCAE8A"/>
                </a:solidFill>
                <a:latin typeface="Aharoni" panose="020F0502020204030204" pitchFamily="2" charset="-79"/>
                <a:ea typeface="Tahoma" pitchFamily="34" charset="0"/>
                <a:cs typeface="Aharoni" panose="020F0502020204030204" pitchFamily="2" charset="-79"/>
              </a:rPr>
              <a:t> </a:t>
            </a:r>
            <a:r>
              <a:rPr lang="en-US" sz="1050" b="1" dirty="0">
                <a:solidFill>
                  <a:srgbClr val="CCAE8A"/>
                </a:solidFill>
                <a:latin typeface="Aharoni" panose="020F0502020204030204" pitchFamily="2" charset="-79"/>
                <a:ea typeface="Tahoma" pitchFamily="34" charset="0"/>
                <a:cs typeface="Aharoni" panose="020F0502020204030204" pitchFamily="2" charset="-79"/>
              </a:rPr>
              <a:t>WEALTH</a:t>
            </a:r>
            <a:endParaRPr lang="th-TH" sz="1000" b="1" dirty="0">
              <a:solidFill>
                <a:srgbClr val="CCAE8A"/>
              </a:solidFill>
              <a:latin typeface="Aharoni" panose="020F0502020204030204" pitchFamily="2" charset="-79"/>
              <a:ea typeface="Tahoma" pitchFamily="34" charset="0"/>
              <a:cs typeface="BLS Condensed Bold" panose="00000800000000000000" pitchFamily="2" charset="-34"/>
            </a:endParaRPr>
          </a:p>
        </p:txBody>
      </p:sp>
      <p:sp>
        <p:nvSpPr>
          <p:cNvPr id="9" name="TextBox 8">
            <a:extLst>
              <a:ext uri="{FF2B5EF4-FFF2-40B4-BE49-F238E27FC236}">
                <a16:creationId xmlns:a16="http://schemas.microsoft.com/office/drawing/2014/main" id="{C8FA6393-E3EE-E08E-89C6-D50BB8050980}"/>
              </a:ext>
            </a:extLst>
          </p:cNvPr>
          <p:cNvSpPr txBox="1"/>
          <p:nvPr/>
        </p:nvSpPr>
        <p:spPr>
          <a:xfrm>
            <a:off x="1886145" y="-177626"/>
            <a:ext cx="4999239" cy="1015663"/>
          </a:xfrm>
          <a:prstGeom prst="rect">
            <a:avLst/>
          </a:prstGeom>
          <a:noFill/>
        </p:spPr>
        <p:txBody>
          <a:bodyPr wrap="square" rtlCol="0">
            <a:spAutoFit/>
          </a:bodyPr>
          <a:lstStyle/>
          <a:p>
            <a:pPr algn="r"/>
            <a:r>
              <a:rPr lang="el-GR" sz="4000" dirty="0">
                <a:solidFill>
                  <a:schemeClr val="accent3"/>
                </a:solidFill>
                <a:latin typeface="BLS Condensed Bold" pitchFamily="2" charset="-34"/>
                <a:ea typeface="Tahoma" pitchFamily="34" charset="0"/>
                <a:cs typeface="BLS Condensed Bold" pitchFamily="2" charset="-34"/>
              </a:rPr>
              <a:t>α</a:t>
            </a:r>
            <a:r>
              <a:rPr lang="en-US" sz="2400" dirty="0" err="1">
                <a:solidFill>
                  <a:schemeClr val="tx1">
                    <a:lumMod val="95000"/>
                    <a:lumOff val="5000"/>
                  </a:schemeClr>
                </a:solidFill>
                <a:latin typeface="BLS Condensed Bold" pitchFamily="2" charset="-34"/>
                <a:ea typeface="Tahoma" pitchFamily="34" charset="0"/>
                <a:cs typeface="BLS Condensed Bold" pitchFamily="2" charset="-34"/>
              </a:rPr>
              <a:t>lpha</a:t>
            </a:r>
            <a:r>
              <a:rPr lang="en-US" sz="2400" dirty="0">
                <a:solidFill>
                  <a:schemeClr val="tx1">
                    <a:lumMod val="95000"/>
                    <a:lumOff val="5000"/>
                  </a:schemeClr>
                </a:solidFill>
                <a:latin typeface="BLS Condensed Bold" pitchFamily="2" charset="-34"/>
                <a:ea typeface="Tahoma" pitchFamily="34" charset="0"/>
                <a:cs typeface="BLS Condensed Bold" pitchFamily="2" charset="-34"/>
              </a:rPr>
              <a:t> PULSE | </a:t>
            </a:r>
            <a:endParaRPr lang="th-TH" sz="2400" dirty="0">
              <a:solidFill>
                <a:schemeClr val="tx1">
                  <a:lumMod val="95000"/>
                  <a:lumOff val="5000"/>
                </a:schemeClr>
              </a:solidFill>
              <a:latin typeface="BLS Condensed Bold" pitchFamily="2" charset="-34"/>
              <a:ea typeface="Tahoma" pitchFamily="34" charset="0"/>
              <a:cs typeface="BLS Condensed Bold" pitchFamily="2" charset="-34"/>
            </a:endParaRPr>
          </a:p>
          <a:p>
            <a:pPr algn="r"/>
            <a:r>
              <a:rPr lang="en-US" sz="2000" dirty="0">
                <a:solidFill>
                  <a:schemeClr val="accent5"/>
                </a:solidFill>
                <a:latin typeface="BLS Condensed Bold" pitchFamily="2" charset="-34"/>
                <a:ea typeface="Tahoma" pitchFamily="34" charset="0"/>
                <a:cs typeface="BLS Condensed Bold" pitchFamily="2" charset="-34"/>
              </a:rPr>
              <a:t>Weekly strategy</a:t>
            </a:r>
          </a:p>
        </p:txBody>
      </p:sp>
      <p:sp>
        <p:nvSpPr>
          <p:cNvPr id="10" name="TextBox 9">
            <a:extLst>
              <a:ext uri="{FF2B5EF4-FFF2-40B4-BE49-F238E27FC236}">
                <a16:creationId xmlns:a16="http://schemas.microsoft.com/office/drawing/2014/main" id="{C2139EFA-0963-F3E4-30F9-FE4954797181}"/>
              </a:ext>
            </a:extLst>
          </p:cNvPr>
          <p:cNvSpPr txBox="1"/>
          <p:nvPr/>
        </p:nvSpPr>
        <p:spPr>
          <a:xfrm>
            <a:off x="188640" y="899592"/>
            <a:ext cx="6344324" cy="892552"/>
          </a:xfrm>
          <a:prstGeom prst="rect">
            <a:avLst/>
          </a:prstGeom>
          <a:noFill/>
        </p:spPr>
        <p:txBody>
          <a:bodyPr wrap="square">
            <a:spAutoFit/>
          </a:bodyPr>
          <a:lstStyle/>
          <a:p>
            <a:pPr algn="r"/>
            <a:r>
              <a:rPr lang="th-TH" altLang="en-US" sz="2600" dirty="0">
                <a:solidFill>
                  <a:schemeClr val="accent2"/>
                </a:solidFill>
                <a:latin typeface="BLS Condensed Bold" panose="00000800000000000000" pitchFamily="2" charset="-34"/>
                <a:ea typeface="Tahoma" pitchFamily="34" charset="0"/>
                <a:cs typeface="BLS Condensed Bold" panose="00000800000000000000" pitchFamily="2" charset="-34"/>
              </a:rPr>
              <a:t>กลุ่มไหนรอด-กระทบหนัก? </a:t>
            </a:r>
            <a:endParaRPr lang="en-US" altLang="en-US" sz="2600" dirty="0">
              <a:solidFill>
                <a:schemeClr val="accent2"/>
              </a:solidFill>
              <a:latin typeface="BLS Condensed Bold" panose="00000800000000000000" pitchFamily="2" charset="-34"/>
              <a:ea typeface="Tahoma" pitchFamily="34" charset="0"/>
              <a:cs typeface="BLS Condensed Bold" panose="00000800000000000000" pitchFamily="2" charset="-34"/>
            </a:endParaRPr>
          </a:p>
          <a:p>
            <a:pPr algn="r"/>
            <a:r>
              <a:rPr lang="th-TH" altLang="en-US" sz="2600" dirty="0">
                <a:solidFill>
                  <a:schemeClr val="accent2"/>
                </a:solidFill>
                <a:latin typeface="BLS Condensed Bold" panose="00000800000000000000" pitchFamily="2" charset="-34"/>
                <a:ea typeface="Tahoma" pitchFamily="34" charset="0"/>
                <a:cs typeface="BLS Condensed Bold" panose="00000800000000000000" pitchFamily="2" charset="-34"/>
              </a:rPr>
              <a:t>ช่วงราคาน้ำมันดิบ-ดีเซลขึ้นแรงในสงครามรอบก่อน</a:t>
            </a:r>
            <a:endParaRPr lang="en-US" altLang="en-US" sz="2600" dirty="0">
              <a:solidFill>
                <a:schemeClr val="accent2"/>
              </a:solidFill>
              <a:latin typeface="BLS Condensed Bold" panose="00000800000000000000" pitchFamily="2" charset="-34"/>
              <a:ea typeface="Tahoma" pitchFamily="34" charset="0"/>
              <a:cs typeface="BLS Condensed Bold" panose="00000800000000000000" pitchFamily="2" charset="-34"/>
            </a:endParaRPr>
          </a:p>
        </p:txBody>
      </p:sp>
      <p:pic>
        <p:nvPicPr>
          <p:cNvPr id="6" name="Picture 5">
            <a:extLst>
              <a:ext uri="{FF2B5EF4-FFF2-40B4-BE49-F238E27FC236}">
                <a16:creationId xmlns:a16="http://schemas.microsoft.com/office/drawing/2014/main" id="{520119B2-2FB3-B8C1-577D-8DA2A1475302}"/>
              </a:ext>
            </a:extLst>
          </p:cNvPr>
          <p:cNvPicPr>
            <a:picLocks noChangeAspect="1"/>
          </p:cNvPicPr>
          <p:nvPr/>
        </p:nvPicPr>
        <p:blipFill>
          <a:blip r:embed="rId7"/>
          <a:stretch>
            <a:fillRect/>
          </a:stretch>
        </p:blipFill>
        <p:spPr>
          <a:xfrm>
            <a:off x="156509" y="5015131"/>
            <a:ext cx="2900310" cy="3373293"/>
          </a:xfrm>
          <a:prstGeom prst="rect">
            <a:avLst/>
          </a:prstGeom>
        </p:spPr>
      </p:pic>
      <p:pic>
        <p:nvPicPr>
          <p:cNvPr id="16" name="Picture 15">
            <a:extLst>
              <a:ext uri="{FF2B5EF4-FFF2-40B4-BE49-F238E27FC236}">
                <a16:creationId xmlns:a16="http://schemas.microsoft.com/office/drawing/2014/main" id="{0066052B-56A2-7936-8B6C-E03CA17DB43B}"/>
              </a:ext>
            </a:extLst>
          </p:cNvPr>
          <p:cNvPicPr>
            <a:picLocks noChangeAspect="1"/>
          </p:cNvPicPr>
          <p:nvPr/>
        </p:nvPicPr>
        <p:blipFill>
          <a:blip r:embed="rId8"/>
          <a:stretch>
            <a:fillRect/>
          </a:stretch>
        </p:blipFill>
        <p:spPr>
          <a:xfrm>
            <a:off x="3253205" y="5015131"/>
            <a:ext cx="3488163" cy="3517309"/>
          </a:xfrm>
          <a:prstGeom prst="rect">
            <a:avLst/>
          </a:prstGeom>
        </p:spPr>
      </p:pic>
    </p:spTree>
    <p:extLst>
      <p:ext uri="{BB962C8B-B14F-4D97-AF65-F5344CB8AC3E}">
        <p14:creationId xmlns:p14="http://schemas.microsoft.com/office/powerpoint/2010/main" val="33573898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9AD5D-75DD-7C3E-4E12-95FE9E6DA851}"/>
            </a:ext>
          </a:extLst>
        </p:cNvPr>
        <p:cNvGrpSpPr/>
        <p:nvPr/>
      </p:nvGrpSpPr>
      <p:grpSpPr>
        <a:xfrm>
          <a:off x="0" y="0"/>
          <a:ext cx="0" cy="0"/>
          <a:chOff x="0" y="0"/>
          <a:chExt cx="0" cy="0"/>
        </a:xfrm>
      </p:grpSpPr>
      <p:pic>
        <p:nvPicPr>
          <p:cNvPr id="5" name="Picture 4" descr="Watercolor of trees in the fog&#10;&#10;Description automatically generated">
            <a:extLst>
              <a:ext uri="{FF2B5EF4-FFF2-40B4-BE49-F238E27FC236}">
                <a16:creationId xmlns:a16="http://schemas.microsoft.com/office/drawing/2014/main" id="{FB46D737-2FF6-5661-E106-CBC8C1117565}"/>
              </a:ext>
            </a:extLst>
          </p:cNvPr>
          <p:cNvPicPr>
            <a:picLocks noChangeAspect="1"/>
          </p:cNvPicPr>
          <p:nvPr/>
        </p:nvPicPr>
        <p:blipFill rotWithShape="1">
          <a:blip r:embed="rId3" cstate="print">
            <a:duotone>
              <a:schemeClr val="accent4">
                <a:shade val="45000"/>
                <a:satMod val="135000"/>
              </a:schemeClr>
              <a:prstClr val="white"/>
            </a:duotone>
            <a:alphaModFix/>
            <a:extLst>
              <a:ext uri="{BEBA8EAE-BF5A-486C-A8C5-ECC9F3942E4B}">
                <a14:imgProps xmlns:a14="http://schemas.microsoft.com/office/drawing/2010/main">
                  <a14:imgLayer r:embed="rId4">
                    <a14:imgEffect>
                      <a14:brightnessContrast bright="60000" contrast="40000"/>
                    </a14:imgEffect>
                  </a14:imgLayer>
                </a14:imgProps>
              </a:ext>
              <a:ext uri="{28A0092B-C50C-407E-A947-70E740481C1C}">
                <a14:useLocalDpi xmlns:a14="http://schemas.microsoft.com/office/drawing/2010/main" val="0"/>
              </a:ext>
            </a:extLst>
          </a:blip>
          <a:srcRect l="56413" t="2666" r="8181" b="8602"/>
          <a:stretch/>
        </p:blipFill>
        <p:spPr>
          <a:xfrm>
            <a:off x="0" y="0"/>
            <a:ext cx="6858000" cy="8689302"/>
          </a:xfrm>
          <a:prstGeom prst="rect">
            <a:avLst/>
          </a:prstGeom>
        </p:spPr>
      </p:pic>
      <p:sp>
        <p:nvSpPr>
          <p:cNvPr id="2" name="TextBox 1">
            <a:extLst>
              <a:ext uri="{FF2B5EF4-FFF2-40B4-BE49-F238E27FC236}">
                <a16:creationId xmlns:a16="http://schemas.microsoft.com/office/drawing/2014/main" id="{9E85ABDE-7CE6-F0E6-1824-B9305003B1AB}"/>
              </a:ext>
            </a:extLst>
          </p:cNvPr>
          <p:cNvSpPr txBox="1"/>
          <p:nvPr/>
        </p:nvSpPr>
        <p:spPr>
          <a:xfrm>
            <a:off x="181677" y="1953495"/>
            <a:ext cx="6487682" cy="480131"/>
          </a:xfrm>
          <a:prstGeom prst="rect">
            <a:avLst/>
          </a:prstGeom>
          <a:solidFill>
            <a:srgbClr val="EDEDED">
              <a:alpha val="60000"/>
            </a:srgbClr>
          </a:solidFill>
          <a:ln>
            <a:noFill/>
          </a:ln>
        </p:spPr>
        <p:txBody>
          <a:bodyPr wrap="square" rtlCol="0">
            <a:spAutoFit/>
          </a:bodyPr>
          <a:lstStyle/>
          <a:p>
            <a:pPr algn="thaiDist">
              <a:lnSpc>
                <a:spcPct val="120000"/>
              </a:lnSpc>
              <a:spcBef>
                <a:spcPts val="300"/>
              </a:spcBef>
              <a:buSzPct val="120000"/>
            </a:pPr>
            <a:r>
              <a:rPr lang="en-US" sz="1050" b="1" dirty="0">
                <a:solidFill>
                  <a:schemeClr val="tx1">
                    <a:lumMod val="65000"/>
                    <a:lumOff val="35000"/>
                  </a:schemeClr>
                </a:solidFill>
                <a:latin typeface="BLS Text" panose="00000500000000000000" pitchFamily="2" charset="-34"/>
                <a:cs typeface="BLS Text" pitchFamily="2" charset="-34"/>
              </a:rPr>
              <a:t>1) Discount from pre-war level (</a:t>
            </a:r>
            <a:r>
              <a:rPr lang="th-TH" sz="1050" b="1" dirty="0">
                <a:solidFill>
                  <a:schemeClr val="tx1">
                    <a:lumMod val="65000"/>
                    <a:lumOff val="35000"/>
                  </a:schemeClr>
                </a:solidFill>
                <a:latin typeface="BLS Text" panose="00000500000000000000" pitchFamily="2" charset="-34"/>
                <a:cs typeface="BLS Text" pitchFamily="2" charset="-34"/>
              </a:rPr>
              <a:t>ลงแรงเกินพื้นฐาน): </a:t>
            </a:r>
            <a:r>
              <a:rPr lang="th-TH" sz="1050" dirty="0">
                <a:solidFill>
                  <a:schemeClr val="tx1">
                    <a:lumMod val="65000"/>
                    <a:lumOff val="35000"/>
                  </a:schemeClr>
                </a:solidFill>
                <a:latin typeface="BLS Text" panose="00000500000000000000" pitchFamily="2" charset="-34"/>
                <a:cs typeface="BLS Text" pitchFamily="2" charset="-34"/>
              </a:rPr>
              <a:t>หุ้นที่ราคาปรับตัวลงแรงกว่าปัจจัยพื้นฐาน แต่มี </a:t>
            </a:r>
            <a:r>
              <a:rPr lang="en-US" sz="1050" dirty="0">
                <a:solidFill>
                  <a:schemeClr val="tx1">
                    <a:lumMod val="65000"/>
                    <a:lumOff val="35000"/>
                  </a:schemeClr>
                </a:solidFill>
                <a:latin typeface="BLS Text" panose="00000500000000000000" pitchFamily="2" charset="-34"/>
                <a:cs typeface="BLS Text" pitchFamily="2" charset="-34"/>
              </a:rPr>
              <a:t>exposure </a:t>
            </a:r>
            <a:r>
              <a:rPr lang="th-TH" sz="1050" dirty="0">
                <a:solidFill>
                  <a:schemeClr val="tx1">
                    <a:lumMod val="65000"/>
                    <a:lumOff val="35000"/>
                  </a:schemeClr>
                </a:solidFill>
                <a:latin typeface="BLS Text" panose="00000500000000000000" pitchFamily="2" charset="-34"/>
                <a:cs typeface="BLS Text" pitchFamily="2" charset="-34"/>
              </a:rPr>
              <a:t>ต่อพลังงานต่ำ และได้อานิสงส์จากการฟื้นตัวของ </a:t>
            </a:r>
            <a:r>
              <a:rPr lang="en-US" sz="1050" dirty="0">
                <a:solidFill>
                  <a:schemeClr val="tx1">
                    <a:lumMod val="65000"/>
                    <a:lumOff val="35000"/>
                  </a:schemeClr>
                </a:solidFill>
                <a:latin typeface="BLS Text" panose="00000500000000000000" pitchFamily="2" charset="-34"/>
                <a:cs typeface="BLS Text" pitchFamily="2" charset="-34"/>
              </a:rPr>
              <a:t>demand </a:t>
            </a:r>
            <a:r>
              <a:rPr lang="th-TH" sz="1050" dirty="0">
                <a:solidFill>
                  <a:schemeClr val="tx1">
                    <a:lumMod val="65000"/>
                    <a:lumOff val="35000"/>
                  </a:schemeClr>
                </a:solidFill>
                <a:latin typeface="BLS Text" panose="00000500000000000000" pitchFamily="2" charset="-34"/>
                <a:cs typeface="BLS Text" pitchFamily="2" charset="-34"/>
              </a:rPr>
              <a:t>หลังสงคราม</a:t>
            </a:r>
            <a:endParaRPr lang="en-US" sz="1050" dirty="0">
              <a:solidFill>
                <a:schemeClr val="tx1">
                  <a:lumMod val="65000"/>
                  <a:lumOff val="35000"/>
                </a:schemeClr>
              </a:solidFill>
              <a:latin typeface="BLS Text" panose="00000500000000000000" pitchFamily="2" charset="-34"/>
              <a:cs typeface="BLS Text" pitchFamily="2" charset="-34"/>
            </a:endParaRPr>
          </a:p>
        </p:txBody>
      </p:sp>
      <p:sp>
        <p:nvSpPr>
          <p:cNvPr id="15" name="TextBox 14">
            <a:extLst>
              <a:ext uri="{FF2B5EF4-FFF2-40B4-BE49-F238E27FC236}">
                <a16:creationId xmlns:a16="http://schemas.microsoft.com/office/drawing/2014/main" id="{546F7F14-A377-C8CF-5D1E-8DDF1256B72B}"/>
              </a:ext>
            </a:extLst>
          </p:cNvPr>
          <p:cNvSpPr txBox="1"/>
          <p:nvPr/>
        </p:nvSpPr>
        <p:spPr>
          <a:xfrm>
            <a:off x="181678" y="5868144"/>
            <a:ext cx="6487682" cy="480131"/>
          </a:xfrm>
          <a:prstGeom prst="rect">
            <a:avLst/>
          </a:prstGeom>
          <a:solidFill>
            <a:srgbClr val="EDEDED">
              <a:alpha val="60000"/>
            </a:srgbClr>
          </a:solidFill>
          <a:ln>
            <a:noFill/>
          </a:ln>
        </p:spPr>
        <p:txBody>
          <a:bodyPr wrap="square" rtlCol="0">
            <a:spAutoFit/>
          </a:bodyPr>
          <a:lstStyle/>
          <a:p>
            <a:pPr algn="thaiDist">
              <a:lnSpc>
                <a:spcPct val="120000"/>
              </a:lnSpc>
              <a:spcBef>
                <a:spcPts val="400"/>
              </a:spcBef>
              <a:buSzPct val="120000"/>
            </a:pPr>
            <a:r>
              <a:rPr lang="th-TH" sz="1050" b="1" dirty="0">
                <a:solidFill>
                  <a:schemeClr val="tx1">
                    <a:lumMod val="65000"/>
                    <a:lumOff val="35000"/>
                  </a:schemeClr>
                </a:solidFill>
                <a:latin typeface="BLS Text" panose="00000500000000000000" pitchFamily="2" charset="-34"/>
                <a:cs typeface="BLS Text" pitchFamily="2" charset="-34"/>
              </a:rPr>
              <a:t>2) </a:t>
            </a:r>
            <a:r>
              <a:rPr lang="en-US" sz="1050" b="1" dirty="0">
                <a:solidFill>
                  <a:schemeClr val="tx1">
                    <a:lumMod val="65000"/>
                    <a:lumOff val="35000"/>
                  </a:schemeClr>
                </a:solidFill>
                <a:latin typeface="BLS Text" panose="00000500000000000000" pitchFamily="2" charset="-34"/>
                <a:cs typeface="BLS Text" pitchFamily="2" charset="-34"/>
              </a:rPr>
              <a:t>Dividend-supported recovery (</a:t>
            </a:r>
            <a:r>
              <a:rPr lang="th-TH" sz="1050" b="1" dirty="0">
                <a:solidFill>
                  <a:schemeClr val="tx1">
                    <a:lumMod val="65000"/>
                    <a:lumOff val="35000"/>
                  </a:schemeClr>
                </a:solidFill>
                <a:latin typeface="BLS Text" panose="00000500000000000000" pitchFamily="2" charset="-34"/>
                <a:cs typeface="BLS Text" pitchFamily="2" charset="-34"/>
              </a:rPr>
              <a:t>มีเงินปันผลรองรับระยะสั้น): </a:t>
            </a:r>
            <a:r>
              <a:rPr lang="th-TH" sz="1050" dirty="0">
                <a:solidFill>
                  <a:schemeClr val="tx1">
                    <a:lumMod val="65000"/>
                    <a:lumOff val="35000"/>
                  </a:schemeClr>
                </a:solidFill>
                <a:latin typeface="BLS Text" panose="00000500000000000000" pitchFamily="2" charset="-34"/>
                <a:cs typeface="BLS Text" pitchFamily="2" charset="-34"/>
              </a:rPr>
              <a:t>หุ้นที่มี </a:t>
            </a:r>
            <a:r>
              <a:rPr lang="en-US" sz="1050" dirty="0">
                <a:solidFill>
                  <a:schemeClr val="tx1">
                    <a:lumMod val="65000"/>
                    <a:lumOff val="35000"/>
                  </a:schemeClr>
                </a:solidFill>
                <a:latin typeface="BLS Text" panose="00000500000000000000" pitchFamily="2" charset="-34"/>
                <a:cs typeface="BLS Text" pitchFamily="2" charset="-34"/>
              </a:rPr>
              <a:t>dividend yield </a:t>
            </a:r>
            <a:r>
              <a:rPr lang="th-TH" sz="1050" dirty="0">
                <a:solidFill>
                  <a:schemeClr val="tx1">
                    <a:lumMod val="65000"/>
                    <a:lumOff val="35000"/>
                  </a:schemeClr>
                </a:solidFill>
                <a:latin typeface="BLS Text" panose="00000500000000000000" pitchFamily="2" charset="-34"/>
                <a:cs typeface="BLS Text" pitchFamily="2" charset="-34"/>
              </a:rPr>
              <a:t>ระยะสั้น (1–2 เดือน) ช่วยจำกัด </a:t>
            </a:r>
            <a:r>
              <a:rPr lang="en-US" sz="1050" dirty="0">
                <a:solidFill>
                  <a:schemeClr val="tx1">
                    <a:lumMod val="65000"/>
                    <a:lumOff val="35000"/>
                  </a:schemeClr>
                </a:solidFill>
                <a:latin typeface="BLS Text" panose="00000500000000000000" pitchFamily="2" charset="-34"/>
                <a:cs typeface="BLS Text" pitchFamily="2" charset="-34"/>
              </a:rPr>
              <a:t>downside </a:t>
            </a:r>
            <a:r>
              <a:rPr lang="th-TH" sz="1050" dirty="0">
                <a:solidFill>
                  <a:schemeClr val="tx1">
                    <a:lumMod val="65000"/>
                    <a:lumOff val="35000"/>
                  </a:schemeClr>
                </a:solidFill>
                <a:latin typeface="BLS Text" panose="00000500000000000000" pitchFamily="2" charset="-34"/>
                <a:cs typeface="BLS Text" pitchFamily="2" charset="-34"/>
              </a:rPr>
              <a:t>พร้อมพื้นฐานไม่ได้รับผลกระทบจากต้นทุนพลังงานมาก</a:t>
            </a:r>
            <a:endParaRPr lang="en-US" sz="1050" dirty="0">
              <a:solidFill>
                <a:schemeClr val="tx1">
                  <a:lumMod val="65000"/>
                  <a:lumOff val="35000"/>
                </a:schemeClr>
              </a:solidFill>
              <a:latin typeface="BLS Text" panose="00000500000000000000" pitchFamily="2" charset="-34"/>
              <a:cs typeface="BLS Text" pitchFamily="2" charset="-34"/>
            </a:endParaRPr>
          </a:p>
        </p:txBody>
      </p:sp>
      <p:cxnSp>
        <p:nvCxnSpPr>
          <p:cNvPr id="18" name="Straight Connector 17">
            <a:extLst>
              <a:ext uri="{FF2B5EF4-FFF2-40B4-BE49-F238E27FC236}">
                <a16:creationId xmlns:a16="http://schemas.microsoft.com/office/drawing/2014/main" id="{811E1CC9-D26F-1122-558A-414813438452}"/>
              </a:ext>
            </a:extLst>
          </p:cNvPr>
          <p:cNvCxnSpPr>
            <a:cxnSpLocks/>
          </p:cNvCxnSpPr>
          <p:nvPr/>
        </p:nvCxnSpPr>
        <p:spPr>
          <a:xfrm>
            <a:off x="320593" y="8748464"/>
            <a:ext cx="6126480" cy="0"/>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47AA2941-9659-DEF5-69DF-BE120C176F29}"/>
              </a:ext>
            </a:extLst>
          </p:cNvPr>
          <p:cNvSpPr/>
          <p:nvPr/>
        </p:nvSpPr>
        <p:spPr>
          <a:xfrm>
            <a:off x="297857" y="8748464"/>
            <a:ext cx="6235107" cy="45719"/>
          </a:xfrm>
          <a:prstGeom prst="rect">
            <a:avLst/>
          </a:prstGeom>
          <a:gradFill>
            <a:gsLst>
              <a:gs pos="0">
                <a:schemeClr val="accent1">
                  <a:lumMod val="60000"/>
                  <a:lumOff val="40000"/>
                </a:schemeClr>
              </a:gs>
              <a:gs pos="50000">
                <a:schemeClr val="accent1">
                  <a:lumMod val="75000"/>
                </a:schemeClr>
              </a:gs>
              <a:gs pos="100000">
                <a:schemeClr val="accent1">
                  <a:lumMod val="5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2">
            <a:extLst>
              <a:ext uri="{FF2B5EF4-FFF2-40B4-BE49-F238E27FC236}">
                <a16:creationId xmlns:a16="http://schemas.microsoft.com/office/drawing/2014/main" id="{974B464D-079C-66D5-267A-B0271C83992E}"/>
              </a:ext>
            </a:extLst>
          </p:cNvPr>
          <p:cNvPicPr>
            <a:picLocks noChangeAspect="1" noChangeArrowheads="1"/>
          </p:cNvPicPr>
          <p:nvPr/>
        </p:nvPicPr>
        <p:blipFill>
          <a:blip r:embed="rId5" cstate="print">
            <a:clrChange>
              <a:clrFrom>
                <a:srgbClr val="FFFFFF"/>
              </a:clrFrom>
              <a:clrTo>
                <a:srgbClr val="FFFFFF">
                  <a:alpha val="0"/>
                </a:srgbClr>
              </a:clrTo>
            </a:clrChange>
            <a:extLst>
              <a:ext uri="{BEBA8EAE-BF5A-486C-A8C5-ECC9F3942E4B}">
                <a14:imgProps xmlns:a14="http://schemas.microsoft.com/office/drawing/2010/main">
                  <a14:imgLayer r:embed="rId6">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159793" y="125733"/>
            <a:ext cx="1252983" cy="4138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A716ED43-E385-A160-9D3A-0264F1B0EE0B}"/>
              </a:ext>
            </a:extLst>
          </p:cNvPr>
          <p:cNvSpPr txBox="1"/>
          <p:nvPr/>
        </p:nvSpPr>
        <p:spPr>
          <a:xfrm>
            <a:off x="514209" y="61918"/>
            <a:ext cx="970575" cy="253916"/>
          </a:xfrm>
          <a:prstGeom prst="rect">
            <a:avLst/>
          </a:prstGeom>
          <a:noFill/>
        </p:spPr>
        <p:txBody>
          <a:bodyPr wrap="square">
            <a:spAutoFit/>
          </a:bodyPr>
          <a:lstStyle/>
          <a:p>
            <a:pPr algn="r"/>
            <a:r>
              <a:rPr lang="en-US" sz="1050" b="1" dirty="0">
                <a:solidFill>
                  <a:srgbClr val="CCAE8A"/>
                </a:solidFill>
                <a:latin typeface="Aharoni" panose="020F0502020204030204" pitchFamily="2" charset="-79"/>
                <a:ea typeface="Tahoma" pitchFamily="34" charset="0"/>
                <a:cs typeface="Aharoni" panose="020F0502020204030204" pitchFamily="2" charset="-79"/>
              </a:rPr>
              <a:t>BLS</a:t>
            </a:r>
            <a:r>
              <a:rPr lang="th-TH" sz="1050" b="1" dirty="0">
                <a:solidFill>
                  <a:srgbClr val="CCAE8A"/>
                </a:solidFill>
                <a:latin typeface="Aharoni" panose="020F0502020204030204" pitchFamily="2" charset="-79"/>
                <a:ea typeface="Tahoma" pitchFamily="34" charset="0"/>
                <a:cs typeface="Aharoni" panose="020F0502020204030204" pitchFamily="2" charset="-79"/>
              </a:rPr>
              <a:t> </a:t>
            </a:r>
            <a:r>
              <a:rPr lang="en-US" sz="1050" b="1" dirty="0">
                <a:solidFill>
                  <a:srgbClr val="CCAE8A"/>
                </a:solidFill>
                <a:latin typeface="Aharoni" panose="020F0502020204030204" pitchFamily="2" charset="-79"/>
                <a:ea typeface="Tahoma" pitchFamily="34" charset="0"/>
                <a:cs typeface="Aharoni" panose="020F0502020204030204" pitchFamily="2" charset="-79"/>
              </a:rPr>
              <a:t>WEALTH</a:t>
            </a:r>
            <a:endParaRPr lang="th-TH" sz="1000" b="1" dirty="0">
              <a:solidFill>
                <a:srgbClr val="CCAE8A"/>
              </a:solidFill>
              <a:latin typeface="Aharoni" panose="020F0502020204030204" pitchFamily="2" charset="-79"/>
              <a:ea typeface="Tahoma" pitchFamily="34" charset="0"/>
              <a:cs typeface="BLS Condensed Bold" panose="00000800000000000000" pitchFamily="2" charset="-34"/>
            </a:endParaRPr>
          </a:p>
        </p:txBody>
      </p:sp>
      <p:sp>
        <p:nvSpPr>
          <p:cNvPr id="9" name="TextBox 8">
            <a:extLst>
              <a:ext uri="{FF2B5EF4-FFF2-40B4-BE49-F238E27FC236}">
                <a16:creationId xmlns:a16="http://schemas.microsoft.com/office/drawing/2014/main" id="{C8FA6393-E3EE-E08E-89C6-D50BB8050980}"/>
              </a:ext>
            </a:extLst>
          </p:cNvPr>
          <p:cNvSpPr txBox="1"/>
          <p:nvPr/>
        </p:nvSpPr>
        <p:spPr>
          <a:xfrm>
            <a:off x="1886145" y="-177626"/>
            <a:ext cx="4999239" cy="1015663"/>
          </a:xfrm>
          <a:prstGeom prst="rect">
            <a:avLst/>
          </a:prstGeom>
          <a:noFill/>
        </p:spPr>
        <p:txBody>
          <a:bodyPr wrap="square" rtlCol="0">
            <a:spAutoFit/>
          </a:bodyPr>
          <a:lstStyle/>
          <a:p>
            <a:pPr algn="r"/>
            <a:r>
              <a:rPr lang="el-GR" sz="4000" dirty="0">
                <a:solidFill>
                  <a:schemeClr val="accent3"/>
                </a:solidFill>
                <a:latin typeface="BLS Condensed Bold" pitchFamily="2" charset="-34"/>
                <a:ea typeface="Tahoma" pitchFamily="34" charset="0"/>
                <a:cs typeface="BLS Condensed Bold" pitchFamily="2" charset="-34"/>
              </a:rPr>
              <a:t>α</a:t>
            </a:r>
            <a:r>
              <a:rPr lang="en-US" sz="2400" dirty="0" err="1">
                <a:solidFill>
                  <a:schemeClr val="tx1">
                    <a:lumMod val="95000"/>
                    <a:lumOff val="5000"/>
                  </a:schemeClr>
                </a:solidFill>
                <a:latin typeface="BLS Condensed Bold" pitchFamily="2" charset="-34"/>
                <a:ea typeface="Tahoma" pitchFamily="34" charset="0"/>
                <a:cs typeface="BLS Condensed Bold" pitchFamily="2" charset="-34"/>
              </a:rPr>
              <a:t>lpha</a:t>
            </a:r>
            <a:r>
              <a:rPr lang="en-US" sz="2400" dirty="0">
                <a:solidFill>
                  <a:schemeClr val="tx1">
                    <a:lumMod val="95000"/>
                    <a:lumOff val="5000"/>
                  </a:schemeClr>
                </a:solidFill>
                <a:latin typeface="BLS Condensed Bold" pitchFamily="2" charset="-34"/>
                <a:ea typeface="Tahoma" pitchFamily="34" charset="0"/>
                <a:cs typeface="BLS Condensed Bold" pitchFamily="2" charset="-34"/>
              </a:rPr>
              <a:t> PULSE | </a:t>
            </a:r>
            <a:endParaRPr lang="th-TH" sz="2400" dirty="0">
              <a:solidFill>
                <a:schemeClr val="tx1">
                  <a:lumMod val="95000"/>
                  <a:lumOff val="5000"/>
                </a:schemeClr>
              </a:solidFill>
              <a:latin typeface="BLS Condensed Bold" pitchFamily="2" charset="-34"/>
              <a:ea typeface="Tahoma" pitchFamily="34" charset="0"/>
              <a:cs typeface="BLS Condensed Bold" pitchFamily="2" charset="-34"/>
            </a:endParaRPr>
          </a:p>
          <a:p>
            <a:pPr algn="r"/>
            <a:r>
              <a:rPr lang="en-US" sz="2000" dirty="0">
                <a:solidFill>
                  <a:schemeClr val="accent5"/>
                </a:solidFill>
                <a:latin typeface="BLS Condensed Bold" pitchFamily="2" charset="-34"/>
                <a:ea typeface="Tahoma" pitchFamily="34" charset="0"/>
                <a:cs typeface="BLS Condensed Bold" pitchFamily="2" charset="-34"/>
              </a:rPr>
              <a:t>Weekly strategy</a:t>
            </a:r>
          </a:p>
        </p:txBody>
      </p:sp>
      <p:sp>
        <p:nvSpPr>
          <p:cNvPr id="10" name="TextBox 9">
            <a:extLst>
              <a:ext uri="{FF2B5EF4-FFF2-40B4-BE49-F238E27FC236}">
                <a16:creationId xmlns:a16="http://schemas.microsoft.com/office/drawing/2014/main" id="{C2139EFA-0963-F3E4-30F9-FE4954797181}"/>
              </a:ext>
            </a:extLst>
          </p:cNvPr>
          <p:cNvSpPr txBox="1"/>
          <p:nvPr/>
        </p:nvSpPr>
        <p:spPr>
          <a:xfrm>
            <a:off x="188640" y="845875"/>
            <a:ext cx="6344324" cy="1061829"/>
          </a:xfrm>
          <a:prstGeom prst="rect">
            <a:avLst/>
          </a:prstGeom>
          <a:noFill/>
        </p:spPr>
        <p:txBody>
          <a:bodyPr wrap="square">
            <a:spAutoFit/>
          </a:bodyPr>
          <a:lstStyle/>
          <a:p>
            <a:pPr algn="r"/>
            <a:r>
              <a:rPr lang="th-TH" altLang="en-US" sz="2100" dirty="0">
                <a:solidFill>
                  <a:schemeClr val="accent2"/>
                </a:solidFill>
                <a:latin typeface="BLS Condensed Bold" panose="00000800000000000000" pitchFamily="2" charset="-34"/>
                <a:ea typeface="Tahoma" pitchFamily="34" charset="0"/>
                <a:cs typeface="BLS Condensed Bold" panose="00000800000000000000" pitchFamily="2" charset="-34"/>
              </a:rPr>
              <a:t>เน้นหุ้นที่ยังซื้อขายต่ำกว่าระดับก่อนเกิดสงคราม (</a:t>
            </a:r>
            <a:r>
              <a:rPr lang="en-US" altLang="en-US" sz="2100" dirty="0">
                <a:solidFill>
                  <a:schemeClr val="accent2"/>
                </a:solidFill>
                <a:latin typeface="BLS Condensed Bold" panose="00000800000000000000" pitchFamily="2" charset="-34"/>
                <a:ea typeface="Tahoma" pitchFamily="34" charset="0"/>
                <a:cs typeface="BLS Condensed Bold" panose="00000800000000000000" pitchFamily="2" charset="-34"/>
              </a:rPr>
              <a:t>pre-war level) </a:t>
            </a:r>
          </a:p>
          <a:p>
            <a:pPr algn="r"/>
            <a:r>
              <a:rPr lang="th-TH" altLang="en-US" sz="2100" dirty="0">
                <a:solidFill>
                  <a:schemeClr val="accent2"/>
                </a:solidFill>
                <a:latin typeface="BLS Condensed Bold" panose="00000800000000000000" pitchFamily="2" charset="-34"/>
                <a:ea typeface="Tahoma" pitchFamily="34" charset="0"/>
                <a:cs typeface="BLS Condensed Bold" panose="00000800000000000000" pitchFamily="2" charset="-34"/>
              </a:rPr>
              <a:t>สัดส่วนต้นทุนพลังงานต่ำ/ส่งผ่านต้นทุนได้ (</a:t>
            </a:r>
            <a:r>
              <a:rPr lang="en-US" altLang="en-US" sz="2100" dirty="0">
                <a:solidFill>
                  <a:schemeClr val="accent2"/>
                </a:solidFill>
                <a:latin typeface="BLS Condensed Bold" panose="00000800000000000000" pitchFamily="2" charset="-34"/>
                <a:ea typeface="Tahoma" pitchFamily="34" charset="0"/>
                <a:cs typeface="BLS Condensed Bold" panose="00000800000000000000" pitchFamily="2" charset="-34"/>
              </a:rPr>
              <a:t>pricing power) </a:t>
            </a:r>
          </a:p>
          <a:p>
            <a:pPr algn="r"/>
            <a:r>
              <a:rPr lang="th-TH" altLang="en-US" sz="2100" dirty="0">
                <a:solidFill>
                  <a:schemeClr val="accent2"/>
                </a:solidFill>
                <a:latin typeface="BLS Condensed Bold" panose="00000800000000000000" pitchFamily="2" charset="-34"/>
                <a:ea typeface="Tahoma" pitchFamily="34" charset="0"/>
                <a:cs typeface="BLS Condensed Bold" panose="00000800000000000000" pitchFamily="2" charset="-34"/>
              </a:rPr>
              <a:t>มี </a:t>
            </a:r>
            <a:r>
              <a:rPr lang="en-US" altLang="en-US" sz="2100" dirty="0">
                <a:solidFill>
                  <a:schemeClr val="accent2"/>
                </a:solidFill>
                <a:latin typeface="BLS Condensed Bold" panose="00000800000000000000" pitchFamily="2" charset="-34"/>
                <a:ea typeface="Tahoma" pitchFamily="34" charset="0"/>
                <a:cs typeface="BLS Condensed Bold" panose="00000800000000000000" pitchFamily="2" charset="-34"/>
              </a:rPr>
              <a:t>catalyst </a:t>
            </a:r>
            <a:r>
              <a:rPr lang="th-TH" altLang="en-US" sz="2100" dirty="0">
                <a:solidFill>
                  <a:schemeClr val="accent2"/>
                </a:solidFill>
                <a:latin typeface="BLS Condensed Bold" panose="00000800000000000000" pitchFamily="2" charset="-34"/>
                <a:ea typeface="Tahoma" pitchFamily="34" charset="0"/>
                <a:cs typeface="BLS Condensed Bold" panose="00000800000000000000" pitchFamily="2" charset="-34"/>
              </a:rPr>
              <a:t>การฟื้นตัวหลังสงคราม</a:t>
            </a:r>
          </a:p>
        </p:txBody>
      </p:sp>
      <p:pic>
        <p:nvPicPr>
          <p:cNvPr id="4" name="Picture 3">
            <a:extLst>
              <a:ext uri="{FF2B5EF4-FFF2-40B4-BE49-F238E27FC236}">
                <a16:creationId xmlns:a16="http://schemas.microsoft.com/office/drawing/2014/main" id="{EAD8C317-B3FB-B41E-63EB-D1DF836B44A8}"/>
              </a:ext>
            </a:extLst>
          </p:cNvPr>
          <p:cNvPicPr>
            <a:picLocks noChangeAspect="1"/>
          </p:cNvPicPr>
          <p:nvPr/>
        </p:nvPicPr>
        <p:blipFill>
          <a:blip r:embed="rId7"/>
          <a:stretch>
            <a:fillRect/>
          </a:stretch>
        </p:blipFill>
        <p:spPr>
          <a:xfrm>
            <a:off x="159793" y="2558732"/>
            <a:ext cx="6507933" cy="3237404"/>
          </a:xfrm>
          <a:prstGeom prst="rect">
            <a:avLst/>
          </a:prstGeom>
        </p:spPr>
      </p:pic>
      <p:pic>
        <p:nvPicPr>
          <p:cNvPr id="11" name="Picture 10">
            <a:extLst>
              <a:ext uri="{FF2B5EF4-FFF2-40B4-BE49-F238E27FC236}">
                <a16:creationId xmlns:a16="http://schemas.microsoft.com/office/drawing/2014/main" id="{29D0FBA1-DF0D-73FD-43D7-E5F7E523FE67}"/>
              </a:ext>
            </a:extLst>
          </p:cNvPr>
          <p:cNvPicPr>
            <a:picLocks noChangeAspect="1"/>
          </p:cNvPicPr>
          <p:nvPr/>
        </p:nvPicPr>
        <p:blipFill>
          <a:blip r:embed="rId8"/>
          <a:stretch>
            <a:fillRect/>
          </a:stretch>
        </p:blipFill>
        <p:spPr>
          <a:xfrm>
            <a:off x="159793" y="6444106"/>
            <a:ext cx="6507933" cy="1872310"/>
          </a:xfrm>
          <a:prstGeom prst="rect">
            <a:avLst/>
          </a:prstGeom>
        </p:spPr>
      </p:pic>
    </p:spTree>
    <p:extLst>
      <p:ext uri="{BB962C8B-B14F-4D97-AF65-F5344CB8AC3E}">
        <p14:creationId xmlns:p14="http://schemas.microsoft.com/office/powerpoint/2010/main" val="13915913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97858" y="8699316"/>
            <a:ext cx="6235106" cy="45719"/>
          </a:xfrm>
          <a:prstGeom prst="rect">
            <a:avLst/>
          </a:prstGeom>
          <a:gradFill>
            <a:gsLst>
              <a:gs pos="0">
                <a:schemeClr val="accent1">
                  <a:lumMod val="60000"/>
                  <a:lumOff val="40000"/>
                </a:schemeClr>
              </a:gs>
              <a:gs pos="50000">
                <a:schemeClr val="accent1">
                  <a:lumMod val="75000"/>
                </a:schemeClr>
              </a:gs>
              <a:gs pos="100000">
                <a:schemeClr val="accent1">
                  <a:lumMod val="5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lide Number Placeholder 2"/>
          <p:cNvSpPr>
            <a:spLocks noGrp="1"/>
          </p:cNvSpPr>
          <p:nvPr>
            <p:ph type="sldNum" sz="quarter" idx="12"/>
          </p:nvPr>
        </p:nvSpPr>
        <p:spPr>
          <a:xfrm>
            <a:off x="4914900" y="8659771"/>
            <a:ext cx="1600200" cy="486833"/>
          </a:xfrm>
        </p:spPr>
        <p:txBody>
          <a:bodyPr/>
          <a:lstStyle/>
          <a:p>
            <a:fld id="{10452F14-DDA8-46AC-9FFA-A749C5B763D3}" type="slidenum">
              <a:rPr lang="en-US" smtClean="0">
                <a:latin typeface="BLS" panose="00000500000000000000" pitchFamily="2" charset="-34"/>
                <a:cs typeface="BLS" panose="00000500000000000000" pitchFamily="2" charset="-34"/>
              </a:rPr>
              <a:t>5</a:t>
            </a:fld>
            <a:endParaRPr lang="en-US">
              <a:latin typeface="BLS" panose="00000500000000000000" pitchFamily="2" charset="-34"/>
              <a:cs typeface="BLS" panose="00000500000000000000" pitchFamily="2" charset="-34"/>
            </a:endParaRPr>
          </a:p>
        </p:txBody>
      </p:sp>
      <p:grpSp>
        <p:nvGrpSpPr>
          <p:cNvPr id="11" name="Group 156"/>
          <p:cNvGrpSpPr>
            <a:grpSpLocks/>
          </p:cNvGrpSpPr>
          <p:nvPr/>
        </p:nvGrpSpPr>
        <p:grpSpPr bwMode="auto">
          <a:xfrm>
            <a:off x="3374529" y="6536080"/>
            <a:ext cx="708025" cy="781050"/>
            <a:chOff x="1800" y="1440"/>
            <a:chExt cx="1539" cy="1800"/>
          </a:xfrm>
        </p:grpSpPr>
        <p:pic>
          <p:nvPicPr>
            <p:cNvPr id="17" name="Picture 15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00" y="144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5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04" y="144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5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03" y="144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6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07" y="144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16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16" y="144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16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50" y="180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16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54" y="180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16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53" y="180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16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57" y="180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16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04" y="216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16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03" y="216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16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07" y="216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16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56" y="252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17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60" y="252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17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96" y="2880"/>
              <a:ext cx="323" cy="360"/>
            </a:xfrm>
            <a:prstGeom prst="rect">
              <a:avLst/>
            </a:prstGeom>
            <a:noFill/>
            <a:extLst>
              <a:ext uri="{909E8E84-426E-40DD-AFC4-6F175D3DCCD1}">
                <a14:hiddenFill xmlns:a14="http://schemas.microsoft.com/office/drawing/2010/main">
                  <a:solidFill>
                    <a:srgbClr val="FFFFFF"/>
                  </a:solidFill>
                </a14:hiddenFill>
              </a:ext>
            </a:extLst>
          </p:spPr>
        </p:pic>
      </p:grpSp>
      <p:sp>
        <p:nvSpPr>
          <p:cNvPr id="32" name="TextBox 31"/>
          <p:cNvSpPr txBox="1"/>
          <p:nvPr/>
        </p:nvSpPr>
        <p:spPr>
          <a:xfrm>
            <a:off x="297858" y="611560"/>
            <a:ext cx="6235106" cy="338554"/>
          </a:xfrm>
          <a:prstGeom prst="rect">
            <a:avLst/>
          </a:prstGeom>
          <a:noFill/>
        </p:spPr>
        <p:txBody>
          <a:bodyPr wrap="square" rtlCol="0">
            <a:spAutoFit/>
          </a:bodyPr>
          <a:lstStyle/>
          <a:p>
            <a:r>
              <a:rPr lang="en-US" sz="1600" b="1" err="1">
                <a:solidFill>
                  <a:srgbClr val="404040"/>
                </a:solidFill>
                <a:latin typeface="BLS Condensed Bold" pitchFamily="2" charset="-34"/>
                <a:cs typeface="BLS Condensed Bold" pitchFamily="2" charset="-34"/>
              </a:rPr>
              <a:t>Bualuang</a:t>
            </a:r>
            <a:r>
              <a:rPr lang="en-US" sz="1600" b="1">
                <a:solidFill>
                  <a:srgbClr val="404040"/>
                </a:solidFill>
                <a:latin typeface="BLS Condensed Bold" pitchFamily="2" charset="-34"/>
                <a:cs typeface="BLS Condensed Bold" pitchFamily="2" charset="-34"/>
              </a:rPr>
              <a:t> Securities Public Company Limited</a:t>
            </a:r>
            <a:endParaRPr lang="en-US" sz="1600">
              <a:solidFill>
                <a:srgbClr val="404040"/>
              </a:solidFill>
              <a:latin typeface="BLS Condensed Bold" pitchFamily="2" charset="-34"/>
              <a:ea typeface="Tahoma" pitchFamily="34" charset="0"/>
              <a:cs typeface="BLS Condensed Bold" pitchFamily="2" charset="-34"/>
            </a:endParaRPr>
          </a:p>
        </p:txBody>
      </p:sp>
      <p:sp>
        <p:nvSpPr>
          <p:cNvPr id="12" name="Text Box 155"/>
          <p:cNvSpPr txBox="1">
            <a:spLocks noChangeArrowheads="1"/>
          </p:cNvSpPr>
          <p:nvPr/>
        </p:nvSpPr>
        <p:spPr bwMode="auto">
          <a:xfrm>
            <a:off x="4737844" y="624260"/>
            <a:ext cx="1644650" cy="319087"/>
          </a:xfrm>
          <a:prstGeom prst="rect">
            <a:avLst/>
          </a:prstGeom>
          <a:solidFill>
            <a:srgbClr val="002060"/>
          </a:solidFill>
          <a:ln w="9525">
            <a:solidFill>
              <a:srgbClr val="00206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600" b="1" i="0" u="none" strike="noStrike" cap="none" normalizeH="0" baseline="0">
                <a:ln>
                  <a:noFill/>
                </a:ln>
                <a:solidFill>
                  <a:srgbClr val="FFFFFF"/>
                </a:solidFill>
                <a:effectLst/>
                <a:latin typeface="BLS Condensed Bold" pitchFamily="2" charset="-34"/>
                <a:ea typeface="Arial" pitchFamily="34" charset="0"/>
                <a:cs typeface="BLS Condensed Bold" pitchFamily="2" charset="-34"/>
              </a:rPr>
              <a:t>DISCLAIMER</a:t>
            </a:r>
            <a:endParaRPr kumimoji="0" lang="en-US" sz="1800" b="0" i="0" u="none" strike="noStrike" cap="none" normalizeH="0" baseline="0">
              <a:ln>
                <a:noFill/>
              </a:ln>
              <a:solidFill>
                <a:schemeClr val="tx1"/>
              </a:solidFill>
              <a:effectLst/>
              <a:latin typeface="BLS Condensed Bold" pitchFamily="2" charset="-34"/>
              <a:cs typeface="BLS Condensed Bold" pitchFamily="2" charset="-34"/>
            </a:endParaRPr>
          </a:p>
        </p:txBody>
      </p:sp>
      <p:sp>
        <p:nvSpPr>
          <p:cNvPr id="35" name="Rectangle 34"/>
          <p:cNvSpPr/>
          <p:nvPr/>
        </p:nvSpPr>
        <p:spPr>
          <a:xfrm>
            <a:off x="294066" y="1043608"/>
            <a:ext cx="6235106" cy="36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p:cNvSpPr txBox="1"/>
          <p:nvPr/>
        </p:nvSpPr>
        <p:spPr>
          <a:xfrm>
            <a:off x="297858" y="1187624"/>
            <a:ext cx="6231314" cy="3539430"/>
          </a:xfrm>
          <a:prstGeom prst="rect">
            <a:avLst/>
          </a:prstGeom>
          <a:noFill/>
        </p:spPr>
        <p:txBody>
          <a:bodyPr wrap="square" rtlCol="0">
            <a:spAutoFit/>
          </a:bodyPr>
          <a:lstStyle/>
          <a:p>
            <a:pPr algn="just"/>
            <a:r>
              <a:rPr lang="en-GB" sz="800" dirty="0">
                <a:solidFill>
                  <a:srgbClr val="404040"/>
                </a:solidFill>
                <a:latin typeface="BLS" pitchFamily="2" charset="-34"/>
                <a:cs typeface="BLS" pitchFamily="2" charset="-34"/>
              </a:rPr>
              <a:t>BUALUANG SECURITIES PUBLIC COMPANY LIMITED (BLS) is a subsidiary of BANGKOK BANK PUBLIC COMPANY LIMITED (BBL). This document is produced based upon sources believed to be reliable but their accuracy, completeness or correctness is not guaranteed. The statements or expressions of opinion herein were arrived at after due and careful consideration to use as information for investment. Expressions of opinion contained herein are subject to change without notice. This document is not, and should not be construed as, an offer or the solicitation of an offer to buy or sell any securities. The use of any information shall be at the sole discretion and risk of the user.</a:t>
            </a:r>
          </a:p>
          <a:p>
            <a:pPr algn="just"/>
            <a:endParaRPr lang="en-US" sz="800" dirty="0">
              <a:solidFill>
                <a:srgbClr val="404040"/>
              </a:solidFill>
              <a:latin typeface="BLS" pitchFamily="2" charset="-34"/>
              <a:cs typeface="BLS" pitchFamily="2" charset="-34"/>
            </a:endParaRPr>
          </a:p>
          <a:p>
            <a:pPr algn="just"/>
            <a:r>
              <a:rPr lang="en-GB" sz="800" dirty="0">
                <a:solidFill>
                  <a:srgbClr val="404040"/>
                </a:solidFill>
                <a:latin typeface="BLS" pitchFamily="2" charset="-34"/>
                <a:cs typeface="BLS" pitchFamily="2" charset="-34"/>
              </a:rPr>
              <a:t>BUALUANG SECURITIES PUBLIC COMPANY LIMITED MAY BE IN RELATIONSHIPS WITH THE SECURITIES IN THIS REPORT. “Opinions, projections and other information contained in this report are based upon sources believed to be accurate including the draft prospectus, but no responsibility is accepted for any loss occasioned by reliance placed upon the contents hereof. </a:t>
            </a:r>
            <a:r>
              <a:rPr lang="en-GB" sz="800" dirty="0" err="1">
                <a:solidFill>
                  <a:srgbClr val="404040"/>
                </a:solidFill>
                <a:latin typeface="BLS" pitchFamily="2" charset="-34"/>
                <a:cs typeface="BLS" pitchFamily="2" charset="-34"/>
              </a:rPr>
              <a:t>Bualuang</a:t>
            </a:r>
            <a:r>
              <a:rPr lang="en-GB" sz="800" dirty="0">
                <a:solidFill>
                  <a:srgbClr val="404040"/>
                </a:solidFill>
                <a:latin typeface="BLS" pitchFamily="2" charset="-34"/>
                <a:cs typeface="BLS" pitchFamily="2" charset="-34"/>
              </a:rPr>
              <a:t> Securities Public Company Limited may from time to time perform investment, advisory or other services for companies mentioned in this report, as well as dealing (as principal or otherwise) in, or otherwise being interested in, any securities mentioned herein, This report does not constitute a solicitation to buy or sell any securities”. Investors should carefully read details in the prospectus before making investment decision.</a:t>
            </a:r>
          </a:p>
          <a:p>
            <a:pPr algn="just"/>
            <a:endParaRPr lang="en-US" sz="800" dirty="0">
              <a:solidFill>
                <a:srgbClr val="404040"/>
              </a:solidFill>
              <a:latin typeface="BLS" pitchFamily="2" charset="-34"/>
              <a:cs typeface="BLS" pitchFamily="2" charset="-34"/>
            </a:endParaRPr>
          </a:p>
          <a:p>
            <a:pPr algn="just"/>
            <a:r>
              <a:rPr lang="en-GB" sz="800" dirty="0">
                <a:solidFill>
                  <a:srgbClr val="404040"/>
                </a:solidFill>
                <a:latin typeface="BLS" pitchFamily="2" charset="-34"/>
                <a:cs typeface="BLS" pitchFamily="2" charset="-34"/>
              </a:rPr>
              <a:t>BUALUANG SECURITIES PUBLIC COMPANY LIMITED MAY ACT AS MARKET MAKER AND ISSUER OF DWs, AND ISSUER OF STRUCTURED NOTES ON THESE SECURITIES. The company may prepare the research reports on those underlying securities. Investors should carefully read the details of the derivative warrants and structured notes in the prospectus before making investment decisions.</a:t>
            </a:r>
          </a:p>
          <a:p>
            <a:pPr algn="just"/>
            <a:endParaRPr lang="en-GB" sz="800" dirty="0">
              <a:solidFill>
                <a:srgbClr val="404040"/>
              </a:solidFill>
              <a:latin typeface="BLS" pitchFamily="2" charset="-34"/>
              <a:cs typeface="BLS" pitchFamily="2" charset="-34"/>
            </a:endParaRPr>
          </a:p>
          <a:p>
            <a:pPr algn="just"/>
            <a:endParaRPr lang="en-GB" sz="800" dirty="0">
              <a:solidFill>
                <a:srgbClr val="404040"/>
              </a:solidFill>
              <a:latin typeface="BLS" pitchFamily="2" charset="-34"/>
              <a:cs typeface="BLS" pitchFamily="2" charset="-34"/>
            </a:endParaRPr>
          </a:p>
          <a:p>
            <a:pPr algn="just"/>
            <a:endParaRPr lang="en-GB" sz="800" dirty="0">
              <a:solidFill>
                <a:srgbClr val="404040"/>
              </a:solidFill>
              <a:latin typeface="BLS" pitchFamily="2" charset="-34"/>
              <a:cs typeface="BLS" pitchFamily="2" charset="-34"/>
            </a:endParaRPr>
          </a:p>
          <a:p>
            <a:pPr algn="just"/>
            <a:endParaRPr lang="en-GB" sz="800" dirty="0">
              <a:solidFill>
                <a:srgbClr val="404040"/>
              </a:solidFill>
              <a:latin typeface="BLS" pitchFamily="2" charset="-34"/>
              <a:cs typeface="BLS" pitchFamily="2" charset="-34"/>
            </a:endParaRPr>
          </a:p>
          <a:p>
            <a:pPr algn="just"/>
            <a:endParaRPr lang="en-GB" sz="800" dirty="0">
              <a:solidFill>
                <a:srgbClr val="404040"/>
              </a:solidFill>
              <a:latin typeface="BLS" pitchFamily="2" charset="-34"/>
              <a:cs typeface="BLS" pitchFamily="2" charset="-34"/>
            </a:endParaRPr>
          </a:p>
          <a:p>
            <a:pPr algn="just"/>
            <a:endParaRPr lang="en-US" sz="800" dirty="0">
              <a:solidFill>
                <a:srgbClr val="404040"/>
              </a:solidFill>
              <a:latin typeface="BLS" pitchFamily="2" charset="-34"/>
              <a:cs typeface="BLS" pitchFamily="2" charset="-34"/>
            </a:endParaRPr>
          </a:p>
          <a:p>
            <a:pPr algn="just"/>
            <a:endParaRPr lang="en-US" sz="800" dirty="0">
              <a:solidFill>
                <a:srgbClr val="404040"/>
              </a:solidFill>
              <a:latin typeface="BLS" pitchFamily="2" charset="-34"/>
              <a:cs typeface="BLS" pitchFamily="2" charset="-34"/>
            </a:endParaRPr>
          </a:p>
          <a:p>
            <a:pPr algn="just"/>
            <a:r>
              <a:rPr lang="en-US" sz="800" dirty="0">
                <a:solidFill>
                  <a:srgbClr val="404040"/>
                </a:solidFill>
                <a:latin typeface="BLS" pitchFamily="2" charset="-34"/>
                <a:cs typeface="BLS" pitchFamily="2" charset="-34"/>
              </a:rPr>
              <a:t>BUALUANG SECURITIES PUBLIC COMPANY LIMITED IS OR MAY BE AN UNDERWRITER/CO-UNDERWRITER/JOINT LEAD IN RESPECT OF THE INITIAL PUBLIC OFFERING (IPO) OF SECURITIES.</a:t>
            </a:r>
          </a:p>
        </p:txBody>
      </p:sp>
      <p:graphicFrame>
        <p:nvGraphicFramePr>
          <p:cNvPr id="36" name="Table 35"/>
          <p:cNvGraphicFramePr>
            <a:graphicFrameLocks noGrp="1"/>
          </p:cNvGraphicFramePr>
          <p:nvPr/>
        </p:nvGraphicFramePr>
        <p:xfrm>
          <a:off x="388937" y="4923329"/>
          <a:ext cx="5993557" cy="920750"/>
        </p:xfrm>
        <a:graphic>
          <a:graphicData uri="http://schemas.openxmlformats.org/drawingml/2006/table">
            <a:tbl>
              <a:tblPr firstRow="1" firstCol="1" bandRow="1">
                <a:tableStyleId>{5C22544A-7EE6-4342-B048-85BDC9FD1C3A}</a:tableStyleId>
              </a:tblPr>
              <a:tblGrid>
                <a:gridCol w="2541183">
                  <a:extLst>
                    <a:ext uri="{9D8B030D-6E8A-4147-A177-3AD203B41FA5}">
                      <a16:colId xmlns:a16="http://schemas.microsoft.com/office/drawing/2014/main" val="20000"/>
                    </a:ext>
                  </a:extLst>
                </a:gridCol>
                <a:gridCol w="3452374">
                  <a:extLst>
                    <a:ext uri="{9D8B030D-6E8A-4147-A177-3AD203B41FA5}">
                      <a16:colId xmlns:a16="http://schemas.microsoft.com/office/drawing/2014/main" val="20001"/>
                    </a:ext>
                  </a:extLst>
                </a:gridCol>
              </a:tblGrid>
              <a:tr h="411537">
                <a:tc>
                  <a:txBody>
                    <a:bodyPr/>
                    <a:lstStyle/>
                    <a:p>
                      <a:pPr algn="ctr">
                        <a:spcAft>
                          <a:spcPts val="0"/>
                        </a:spcAft>
                        <a:tabLst>
                          <a:tab pos="2743200" algn="ctr"/>
                          <a:tab pos="5486400" algn="r"/>
                          <a:tab pos="5486400" algn="r"/>
                        </a:tabLst>
                      </a:pPr>
                      <a:r>
                        <a:rPr lang="en-US" sz="800" dirty="0">
                          <a:solidFill>
                            <a:srgbClr val="404040"/>
                          </a:solidFill>
                          <a:effectLst/>
                          <a:latin typeface="BLS" pitchFamily="2" charset="-34"/>
                          <a:cs typeface="BLS" pitchFamily="2" charset="-34"/>
                        </a:rPr>
                        <a:t>Financial Advisor</a:t>
                      </a:r>
                      <a:endParaRPr lang="en-US" sz="800" dirty="0">
                        <a:solidFill>
                          <a:srgbClr val="404040"/>
                        </a:solidFill>
                        <a:effectLst/>
                        <a:latin typeface="BLS" pitchFamily="2" charset="-34"/>
                        <a:ea typeface="Times New Roman"/>
                        <a:cs typeface="BLS" pitchFamily="2" charset="-34"/>
                      </a:endParaRPr>
                    </a:p>
                  </a:txBody>
                  <a:tcPr marL="68577" marR="6857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tabLst>
                          <a:tab pos="2743200" algn="ctr"/>
                          <a:tab pos="5486400" algn="r"/>
                        </a:tabLst>
                      </a:pPr>
                      <a:r>
                        <a:rPr lang="en-US" sz="800" dirty="0">
                          <a:solidFill>
                            <a:srgbClr val="404040"/>
                          </a:solidFill>
                          <a:effectLst/>
                          <a:latin typeface="BLS" pitchFamily="2" charset="-34"/>
                          <a:cs typeface="BLS" pitchFamily="2" charset="-34"/>
                        </a:rPr>
                        <a:t>Lead underwriter/</a:t>
                      </a:r>
                    </a:p>
                    <a:p>
                      <a:pPr algn="ctr">
                        <a:spcAft>
                          <a:spcPts val="0"/>
                        </a:spcAft>
                        <a:tabLst>
                          <a:tab pos="2743200" algn="ctr"/>
                          <a:tab pos="5486400" algn="r"/>
                          <a:tab pos="5486400" algn="r"/>
                        </a:tabLst>
                      </a:pPr>
                      <a:r>
                        <a:rPr lang="en-US" sz="800" dirty="0">
                          <a:solidFill>
                            <a:srgbClr val="404040"/>
                          </a:solidFill>
                          <a:effectLst/>
                          <a:latin typeface="BLS" pitchFamily="2" charset="-34"/>
                          <a:cs typeface="BLS" pitchFamily="2" charset="-34"/>
                        </a:rPr>
                        <a:t>Underwriter/</a:t>
                      </a:r>
                    </a:p>
                    <a:p>
                      <a:pPr algn="ctr">
                        <a:spcAft>
                          <a:spcPts val="0"/>
                        </a:spcAft>
                        <a:tabLst>
                          <a:tab pos="2743200" algn="ctr"/>
                          <a:tab pos="5486400" algn="r"/>
                          <a:tab pos="5486400" algn="r"/>
                        </a:tabLst>
                      </a:pPr>
                      <a:r>
                        <a:rPr lang="en-US" sz="800" dirty="0">
                          <a:solidFill>
                            <a:srgbClr val="404040"/>
                          </a:solidFill>
                          <a:effectLst/>
                          <a:latin typeface="BLS" pitchFamily="2" charset="-34"/>
                          <a:cs typeface="BLS" pitchFamily="2" charset="-34"/>
                        </a:rPr>
                        <a:t>Co-underwriter</a:t>
                      </a:r>
                      <a:endParaRPr lang="en-US" sz="800" dirty="0">
                        <a:solidFill>
                          <a:srgbClr val="404040"/>
                        </a:solidFill>
                        <a:effectLst/>
                        <a:latin typeface="BLS" pitchFamily="2" charset="-34"/>
                        <a:ea typeface="Times New Roman"/>
                        <a:cs typeface="BLS" pitchFamily="2" charset="-34"/>
                      </a:endParaRPr>
                    </a:p>
                  </a:txBody>
                  <a:tcPr marL="68577" marR="6857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509213">
                <a:tc>
                  <a:txBody>
                    <a:bodyPr/>
                    <a:lstStyle/>
                    <a:p>
                      <a:pPr algn="l">
                        <a:lnSpc>
                          <a:spcPts val="1320"/>
                        </a:lnSpc>
                        <a:spcBef>
                          <a:spcPts val="0"/>
                        </a:spcBef>
                        <a:spcAft>
                          <a:spcPts val="0"/>
                        </a:spcAft>
                      </a:pPr>
                      <a:endParaRPr lang="en-US" sz="800" b="0" dirty="0">
                        <a:solidFill>
                          <a:srgbClr val="404040"/>
                        </a:solidFill>
                        <a:effectLst/>
                        <a:latin typeface="BLS" pitchFamily="2" charset="-34"/>
                        <a:ea typeface="Times New Roman"/>
                        <a:cs typeface="BLS" pitchFamily="2" charset="-3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ts val="500"/>
                        </a:lnSpc>
                        <a:spcBef>
                          <a:spcPts val="0"/>
                        </a:spcBef>
                        <a:spcAft>
                          <a:spcPts val="0"/>
                        </a:spcAft>
                        <a:tabLst>
                          <a:tab pos="1266825" algn="l"/>
                        </a:tabLst>
                      </a:pPr>
                      <a:endParaRPr lang="en-US" sz="700" b="0" dirty="0">
                        <a:solidFill>
                          <a:srgbClr val="404040"/>
                        </a:solidFill>
                        <a:effectLst/>
                        <a:latin typeface="BLS" pitchFamily="2" charset="-34"/>
                        <a:ea typeface="Times New Roman"/>
                        <a:cs typeface="BLS" pitchFamily="2" charset="-34"/>
                      </a:endParaRPr>
                    </a:p>
                    <a:p>
                      <a:pPr algn="just">
                        <a:lnSpc>
                          <a:spcPts val="500"/>
                        </a:lnSpc>
                        <a:spcBef>
                          <a:spcPts val="0"/>
                        </a:spcBef>
                        <a:spcAft>
                          <a:spcPts val="0"/>
                        </a:spcAft>
                        <a:tabLst>
                          <a:tab pos="1266825" algn="l"/>
                        </a:tabLst>
                      </a:pPr>
                      <a:endParaRPr lang="en-US" sz="200" dirty="0">
                        <a:solidFill>
                          <a:srgbClr val="404040"/>
                        </a:solidFill>
                        <a:effectLst/>
                        <a:latin typeface="BLS" pitchFamily="2" charset="-34"/>
                        <a:ea typeface="Times New Roman"/>
                        <a:cs typeface="BLS" pitchFamily="2" charset="-3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graphicFrame>
        <p:nvGraphicFramePr>
          <p:cNvPr id="37" name="Table 36"/>
          <p:cNvGraphicFramePr>
            <a:graphicFrameLocks noGrp="1"/>
          </p:cNvGraphicFramePr>
          <p:nvPr/>
        </p:nvGraphicFramePr>
        <p:xfrm>
          <a:off x="404664" y="6291481"/>
          <a:ext cx="6353174" cy="1219200"/>
        </p:xfrm>
        <a:graphic>
          <a:graphicData uri="http://schemas.openxmlformats.org/drawingml/2006/table">
            <a:tbl>
              <a:tblPr firstRow="1" firstCol="1" bandRow="1">
                <a:tableStyleId>{5C22544A-7EE6-4342-B048-85BDC9FD1C3A}</a:tableStyleId>
              </a:tblPr>
              <a:tblGrid>
                <a:gridCol w="2278152">
                  <a:extLst>
                    <a:ext uri="{9D8B030D-6E8A-4147-A177-3AD203B41FA5}">
                      <a16:colId xmlns:a16="http://schemas.microsoft.com/office/drawing/2014/main" val="20000"/>
                    </a:ext>
                  </a:extLst>
                </a:gridCol>
                <a:gridCol w="2037511">
                  <a:extLst>
                    <a:ext uri="{9D8B030D-6E8A-4147-A177-3AD203B41FA5}">
                      <a16:colId xmlns:a16="http://schemas.microsoft.com/office/drawing/2014/main" val="20001"/>
                    </a:ext>
                  </a:extLst>
                </a:gridCol>
                <a:gridCol w="2037511">
                  <a:extLst>
                    <a:ext uri="{9D8B030D-6E8A-4147-A177-3AD203B41FA5}">
                      <a16:colId xmlns:a16="http://schemas.microsoft.com/office/drawing/2014/main" val="20002"/>
                    </a:ext>
                  </a:extLst>
                </a:gridCol>
              </a:tblGrid>
              <a:tr h="215900">
                <a:tc>
                  <a:txBody>
                    <a:bodyPr/>
                    <a:lstStyle/>
                    <a:p>
                      <a:pPr algn="ctr">
                        <a:spcBef>
                          <a:spcPts val="300"/>
                        </a:spcBef>
                        <a:spcAft>
                          <a:spcPts val="0"/>
                        </a:spcAft>
                      </a:pPr>
                      <a:r>
                        <a:rPr lang="en-US" sz="800">
                          <a:solidFill>
                            <a:srgbClr val="404040"/>
                          </a:solidFill>
                          <a:effectLst/>
                          <a:latin typeface="BLS" pitchFamily="2" charset="-34"/>
                          <a:cs typeface="BLS" pitchFamily="2" charset="-34"/>
                        </a:rPr>
                        <a:t>Score Range</a:t>
                      </a:r>
                      <a:endParaRPr lang="en-US" sz="800">
                        <a:solidFill>
                          <a:srgbClr val="404040"/>
                        </a:solidFill>
                        <a:effectLst/>
                        <a:latin typeface="BLS" pitchFamily="2" charset="-34"/>
                        <a:ea typeface="Times New Roman"/>
                        <a:cs typeface="BLS" pitchFamily="2" charset="-34"/>
                      </a:endParaRPr>
                    </a:p>
                  </a:txBody>
                  <a:tcPr marL="68573" marR="68573" marT="0" marB="0" anchor="ctr">
                    <a:noFill/>
                  </a:tcPr>
                </a:tc>
                <a:tc>
                  <a:txBody>
                    <a:bodyPr/>
                    <a:lstStyle/>
                    <a:p>
                      <a:pPr algn="ctr">
                        <a:spcBef>
                          <a:spcPts val="300"/>
                        </a:spcBef>
                        <a:spcAft>
                          <a:spcPts val="0"/>
                        </a:spcAft>
                      </a:pPr>
                      <a:r>
                        <a:rPr lang="en-US" sz="800">
                          <a:solidFill>
                            <a:srgbClr val="404040"/>
                          </a:solidFill>
                          <a:effectLst/>
                          <a:latin typeface="BLS" pitchFamily="2" charset="-34"/>
                          <a:cs typeface="BLS" pitchFamily="2" charset="-34"/>
                        </a:rPr>
                        <a:t> Score Range</a:t>
                      </a:r>
                      <a:endParaRPr lang="en-US" sz="800">
                        <a:solidFill>
                          <a:srgbClr val="404040"/>
                        </a:solidFill>
                        <a:effectLst/>
                        <a:latin typeface="BLS" pitchFamily="2" charset="-34"/>
                        <a:ea typeface="Times New Roman"/>
                        <a:cs typeface="BLS" pitchFamily="2" charset="-34"/>
                      </a:endParaRPr>
                    </a:p>
                  </a:txBody>
                  <a:tcPr marL="68573" marR="68573" marT="0" marB="0" anchor="ctr">
                    <a:noFill/>
                  </a:tcPr>
                </a:tc>
                <a:tc>
                  <a:txBody>
                    <a:bodyPr/>
                    <a:lstStyle/>
                    <a:p>
                      <a:pPr algn="ctr">
                        <a:spcBef>
                          <a:spcPts val="300"/>
                        </a:spcBef>
                        <a:spcAft>
                          <a:spcPts val="0"/>
                        </a:spcAft>
                      </a:pPr>
                      <a:r>
                        <a:rPr lang="en-US" sz="800">
                          <a:solidFill>
                            <a:srgbClr val="404040"/>
                          </a:solidFill>
                          <a:effectLst/>
                          <a:latin typeface="BLS" pitchFamily="2" charset="-34"/>
                          <a:cs typeface="BLS" pitchFamily="2" charset="-34"/>
                        </a:rPr>
                        <a:t>Description</a:t>
                      </a:r>
                      <a:endParaRPr lang="en-US" sz="800">
                        <a:solidFill>
                          <a:srgbClr val="404040"/>
                        </a:solidFill>
                        <a:effectLst/>
                        <a:latin typeface="BLS" pitchFamily="2" charset="-34"/>
                        <a:ea typeface="Times New Roman"/>
                        <a:cs typeface="BLS" pitchFamily="2" charset="-34"/>
                      </a:endParaRPr>
                    </a:p>
                  </a:txBody>
                  <a:tcPr marL="68573" marR="68573" marT="0" marB="0" anchor="ctr">
                    <a:noFill/>
                  </a:tcPr>
                </a:tc>
                <a:extLst>
                  <a:ext uri="{0D108BD9-81ED-4DB2-BD59-A6C34878D82A}">
                    <a16:rowId xmlns:a16="http://schemas.microsoft.com/office/drawing/2014/main" val="10000"/>
                  </a:ext>
                </a:extLst>
              </a:tr>
              <a:tr h="161925">
                <a:tc>
                  <a:txBody>
                    <a:bodyPr/>
                    <a:lstStyle/>
                    <a:p>
                      <a:pPr algn="ctr">
                        <a:spcAft>
                          <a:spcPts val="0"/>
                        </a:spcAft>
                      </a:pPr>
                      <a:r>
                        <a:rPr lang="en-US" sz="800">
                          <a:solidFill>
                            <a:srgbClr val="404040"/>
                          </a:solidFill>
                          <a:effectLst/>
                          <a:latin typeface="BLS" pitchFamily="2" charset="-34"/>
                          <a:cs typeface="BLS" pitchFamily="2" charset="-34"/>
                        </a:rPr>
                        <a:t>90 – 100</a:t>
                      </a:r>
                      <a:endParaRPr lang="en-US" sz="800">
                        <a:solidFill>
                          <a:srgbClr val="404040"/>
                        </a:solidFill>
                        <a:effectLst/>
                        <a:latin typeface="BLS" pitchFamily="2" charset="-34"/>
                        <a:ea typeface="Times New Roman"/>
                        <a:cs typeface="BLS" pitchFamily="2" charset="-34"/>
                      </a:endParaRPr>
                    </a:p>
                  </a:txBody>
                  <a:tcPr marL="68573" marR="68573" marT="0" marB="0" anchor="b">
                    <a:noFill/>
                  </a:tcPr>
                </a:tc>
                <a:tc>
                  <a:txBody>
                    <a:bodyPr/>
                    <a:lstStyle/>
                    <a:p>
                      <a:pPr algn="ctr">
                        <a:spcAft>
                          <a:spcPts val="0"/>
                        </a:spcAft>
                      </a:pPr>
                      <a:endParaRPr lang="en-US" sz="800">
                        <a:solidFill>
                          <a:srgbClr val="404040"/>
                        </a:solidFill>
                        <a:effectLst/>
                        <a:latin typeface="BLS" pitchFamily="2" charset="-34"/>
                        <a:ea typeface="Times New Roman"/>
                        <a:cs typeface="BLS" pitchFamily="2" charset="-34"/>
                      </a:endParaRPr>
                    </a:p>
                  </a:txBody>
                  <a:tcPr marL="68573" marR="68573" marT="0" marB="0" anchor="ctr">
                    <a:noFill/>
                  </a:tcPr>
                </a:tc>
                <a:tc>
                  <a:txBody>
                    <a:bodyPr/>
                    <a:lstStyle/>
                    <a:p>
                      <a:pPr algn="ctr">
                        <a:spcAft>
                          <a:spcPts val="0"/>
                        </a:spcAft>
                      </a:pPr>
                      <a:r>
                        <a:rPr lang="en-US" sz="800">
                          <a:solidFill>
                            <a:srgbClr val="404040"/>
                          </a:solidFill>
                          <a:effectLst/>
                          <a:latin typeface="BLS" pitchFamily="2" charset="-34"/>
                          <a:cs typeface="BLS" pitchFamily="2" charset="-34"/>
                        </a:rPr>
                        <a:t>Excellent</a:t>
                      </a:r>
                      <a:endParaRPr lang="en-US" sz="800">
                        <a:solidFill>
                          <a:srgbClr val="404040"/>
                        </a:solidFill>
                        <a:effectLst/>
                        <a:latin typeface="BLS" pitchFamily="2" charset="-34"/>
                        <a:ea typeface="Times New Roman"/>
                        <a:cs typeface="BLS" pitchFamily="2" charset="-34"/>
                      </a:endParaRPr>
                    </a:p>
                  </a:txBody>
                  <a:tcPr marL="68573" marR="68573" marT="0" marB="0" anchor="b">
                    <a:noFill/>
                  </a:tcPr>
                </a:tc>
                <a:extLst>
                  <a:ext uri="{0D108BD9-81ED-4DB2-BD59-A6C34878D82A}">
                    <a16:rowId xmlns:a16="http://schemas.microsoft.com/office/drawing/2014/main" val="10001"/>
                  </a:ext>
                </a:extLst>
              </a:tr>
              <a:tr h="161925">
                <a:tc>
                  <a:txBody>
                    <a:bodyPr/>
                    <a:lstStyle/>
                    <a:p>
                      <a:pPr algn="ctr">
                        <a:spcAft>
                          <a:spcPts val="0"/>
                        </a:spcAft>
                      </a:pPr>
                      <a:r>
                        <a:rPr lang="en-US" sz="800">
                          <a:solidFill>
                            <a:srgbClr val="404040"/>
                          </a:solidFill>
                          <a:effectLst/>
                          <a:latin typeface="BLS" pitchFamily="2" charset="-34"/>
                          <a:cs typeface="BLS" pitchFamily="2" charset="-34"/>
                        </a:rPr>
                        <a:t>80 – 89</a:t>
                      </a:r>
                      <a:endParaRPr lang="en-US" sz="800">
                        <a:solidFill>
                          <a:srgbClr val="404040"/>
                        </a:solidFill>
                        <a:effectLst/>
                        <a:latin typeface="BLS" pitchFamily="2" charset="-34"/>
                        <a:ea typeface="Times New Roman"/>
                        <a:cs typeface="BLS" pitchFamily="2" charset="-34"/>
                      </a:endParaRPr>
                    </a:p>
                  </a:txBody>
                  <a:tcPr marL="68573" marR="68573" marT="0" marB="0" anchor="b">
                    <a:noFill/>
                  </a:tcPr>
                </a:tc>
                <a:tc>
                  <a:txBody>
                    <a:bodyPr/>
                    <a:lstStyle/>
                    <a:p>
                      <a:pPr algn="ctr">
                        <a:spcAft>
                          <a:spcPts val="0"/>
                        </a:spcAft>
                      </a:pPr>
                      <a:r>
                        <a:rPr lang="en-US" sz="800">
                          <a:solidFill>
                            <a:srgbClr val="404040"/>
                          </a:solidFill>
                          <a:effectLst/>
                          <a:latin typeface="BLS" pitchFamily="2" charset="-34"/>
                          <a:cs typeface="BLS" pitchFamily="2" charset="-34"/>
                        </a:rPr>
                        <a:t> </a:t>
                      </a:r>
                      <a:endParaRPr lang="en-US" sz="800">
                        <a:solidFill>
                          <a:srgbClr val="404040"/>
                        </a:solidFill>
                        <a:effectLst/>
                        <a:latin typeface="BLS" pitchFamily="2" charset="-34"/>
                        <a:ea typeface="Times New Roman"/>
                        <a:cs typeface="BLS" pitchFamily="2" charset="-34"/>
                      </a:endParaRPr>
                    </a:p>
                  </a:txBody>
                  <a:tcPr marL="68573" marR="68573" marT="0" marB="0" anchor="ctr">
                    <a:noFill/>
                  </a:tcPr>
                </a:tc>
                <a:tc>
                  <a:txBody>
                    <a:bodyPr/>
                    <a:lstStyle/>
                    <a:p>
                      <a:pPr algn="ctr">
                        <a:spcAft>
                          <a:spcPts val="0"/>
                        </a:spcAft>
                      </a:pPr>
                      <a:r>
                        <a:rPr lang="en-US" sz="800">
                          <a:solidFill>
                            <a:srgbClr val="404040"/>
                          </a:solidFill>
                          <a:effectLst/>
                          <a:latin typeface="BLS" pitchFamily="2" charset="-34"/>
                          <a:cs typeface="BLS" pitchFamily="2" charset="-34"/>
                        </a:rPr>
                        <a:t>Very Good</a:t>
                      </a:r>
                      <a:endParaRPr lang="en-US" sz="800">
                        <a:solidFill>
                          <a:srgbClr val="404040"/>
                        </a:solidFill>
                        <a:effectLst/>
                        <a:latin typeface="BLS" pitchFamily="2" charset="-34"/>
                        <a:ea typeface="Times New Roman"/>
                        <a:cs typeface="BLS" pitchFamily="2" charset="-34"/>
                      </a:endParaRPr>
                    </a:p>
                  </a:txBody>
                  <a:tcPr marL="68573" marR="68573" marT="0" marB="0" anchor="b">
                    <a:noFill/>
                  </a:tcPr>
                </a:tc>
                <a:extLst>
                  <a:ext uri="{0D108BD9-81ED-4DB2-BD59-A6C34878D82A}">
                    <a16:rowId xmlns:a16="http://schemas.microsoft.com/office/drawing/2014/main" val="10002"/>
                  </a:ext>
                </a:extLst>
              </a:tr>
              <a:tr h="161925">
                <a:tc>
                  <a:txBody>
                    <a:bodyPr/>
                    <a:lstStyle/>
                    <a:p>
                      <a:pPr algn="ctr">
                        <a:spcAft>
                          <a:spcPts val="0"/>
                        </a:spcAft>
                      </a:pPr>
                      <a:r>
                        <a:rPr lang="en-US" sz="800">
                          <a:solidFill>
                            <a:srgbClr val="404040"/>
                          </a:solidFill>
                          <a:effectLst/>
                          <a:latin typeface="BLS" pitchFamily="2" charset="-34"/>
                          <a:cs typeface="BLS" pitchFamily="2" charset="-34"/>
                        </a:rPr>
                        <a:t>70 – 79</a:t>
                      </a:r>
                      <a:endParaRPr lang="en-US" sz="800">
                        <a:solidFill>
                          <a:srgbClr val="404040"/>
                        </a:solidFill>
                        <a:effectLst/>
                        <a:latin typeface="BLS" pitchFamily="2" charset="-34"/>
                        <a:ea typeface="Times New Roman"/>
                        <a:cs typeface="BLS" pitchFamily="2" charset="-34"/>
                      </a:endParaRPr>
                    </a:p>
                  </a:txBody>
                  <a:tcPr marL="68573" marR="68573" marT="0" marB="0" anchor="b">
                    <a:noFill/>
                  </a:tcPr>
                </a:tc>
                <a:tc>
                  <a:txBody>
                    <a:bodyPr/>
                    <a:lstStyle/>
                    <a:p>
                      <a:pPr algn="ctr">
                        <a:spcAft>
                          <a:spcPts val="0"/>
                        </a:spcAft>
                      </a:pPr>
                      <a:r>
                        <a:rPr lang="en-US" sz="800">
                          <a:solidFill>
                            <a:srgbClr val="404040"/>
                          </a:solidFill>
                          <a:effectLst/>
                          <a:latin typeface="BLS" pitchFamily="2" charset="-34"/>
                          <a:cs typeface="BLS" pitchFamily="2" charset="-34"/>
                        </a:rPr>
                        <a:t> </a:t>
                      </a:r>
                      <a:endParaRPr lang="en-US" sz="800">
                        <a:solidFill>
                          <a:srgbClr val="404040"/>
                        </a:solidFill>
                        <a:effectLst/>
                        <a:latin typeface="BLS" pitchFamily="2" charset="-34"/>
                        <a:ea typeface="Times New Roman"/>
                        <a:cs typeface="BLS" pitchFamily="2" charset="-34"/>
                      </a:endParaRPr>
                    </a:p>
                  </a:txBody>
                  <a:tcPr marL="68573" marR="68573" marT="0" marB="0" anchor="ctr">
                    <a:noFill/>
                  </a:tcPr>
                </a:tc>
                <a:tc>
                  <a:txBody>
                    <a:bodyPr/>
                    <a:lstStyle/>
                    <a:p>
                      <a:pPr algn="ctr">
                        <a:spcAft>
                          <a:spcPts val="0"/>
                        </a:spcAft>
                      </a:pPr>
                      <a:r>
                        <a:rPr lang="en-US" sz="800">
                          <a:solidFill>
                            <a:srgbClr val="404040"/>
                          </a:solidFill>
                          <a:effectLst/>
                          <a:latin typeface="BLS" pitchFamily="2" charset="-34"/>
                          <a:cs typeface="BLS" pitchFamily="2" charset="-34"/>
                        </a:rPr>
                        <a:t>Good</a:t>
                      </a:r>
                      <a:endParaRPr lang="en-US" sz="800">
                        <a:solidFill>
                          <a:srgbClr val="404040"/>
                        </a:solidFill>
                        <a:effectLst/>
                        <a:latin typeface="BLS" pitchFamily="2" charset="-34"/>
                        <a:ea typeface="Times New Roman"/>
                        <a:cs typeface="BLS" pitchFamily="2" charset="-34"/>
                      </a:endParaRPr>
                    </a:p>
                  </a:txBody>
                  <a:tcPr marL="68573" marR="68573" marT="0" marB="0" anchor="b">
                    <a:noFill/>
                  </a:tcPr>
                </a:tc>
                <a:extLst>
                  <a:ext uri="{0D108BD9-81ED-4DB2-BD59-A6C34878D82A}">
                    <a16:rowId xmlns:a16="http://schemas.microsoft.com/office/drawing/2014/main" val="10003"/>
                  </a:ext>
                </a:extLst>
              </a:tr>
              <a:tr h="161925">
                <a:tc>
                  <a:txBody>
                    <a:bodyPr/>
                    <a:lstStyle/>
                    <a:p>
                      <a:pPr algn="ctr">
                        <a:spcAft>
                          <a:spcPts val="0"/>
                        </a:spcAft>
                      </a:pPr>
                      <a:r>
                        <a:rPr lang="en-US" sz="800">
                          <a:solidFill>
                            <a:srgbClr val="404040"/>
                          </a:solidFill>
                          <a:effectLst/>
                          <a:latin typeface="BLS" pitchFamily="2" charset="-34"/>
                          <a:cs typeface="BLS" pitchFamily="2" charset="-34"/>
                        </a:rPr>
                        <a:t>60 – 69</a:t>
                      </a:r>
                      <a:endParaRPr lang="en-US" sz="800">
                        <a:solidFill>
                          <a:srgbClr val="404040"/>
                        </a:solidFill>
                        <a:effectLst/>
                        <a:latin typeface="BLS" pitchFamily="2" charset="-34"/>
                        <a:ea typeface="Times New Roman"/>
                        <a:cs typeface="BLS" pitchFamily="2" charset="-34"/>
                      </a:endParaRPr>
                    </a:p>
                  </a:txBody>
                  <a:tcPr marL="68573" marR="68573" marT="0" marB="0" anchor="b">
                    <a:noFill/>
                  </a:tcPr>
                </a:tc>
                <a:tc>
                  <a:txBody>
                    <a:bodyPr/>
                    <a:lstStyle/>
                    <a:p>
                      <a:pPr algn="ctr">
                        <a:spcAft>
                          <a:spcPts val="0"/>
                        </a:spcAft>
                      </a:pPr>
                      <a:r>
                        <a:rPr lang="en-US" sz="800">
                          <a:solidFill>
                            <a:srgbClr val="404040"/>
                          </a:solidFill>
                          <a:effectLst/>
                          <a:latin typeface="BLS" pitchFamily="2" charset="-34"/>
                          <a:cs typeface="BLS" pitchFamily="2" charset="-34"/>
                        </a:rPr>
                        <a:t> </a:t>
                      </a:r>
                      <a:endParaRPr lang="en-US" sz="800">
                        <a:solidFill>
                          <a:srgbClr val="404040"/>
                        </a:solidFill>
                        <a:effectLst/>
                        <a:latin typeface="BLS" pitchFamily="2" charset="-34"/>
                        <a:ea typeface="Times New Roman"/>
                        <a:cs typeface="BLS" pitchFamily="2" charset="-34"/>
                      </a:endParaRPr>
                    </a:p>
                  </a:txBody>
                  <a:tcPr marL="68573" marR="68573" marT="0" marB="0" anchor="ctr">
                    <a:noFill/>
                  </a:tcPr>
                </a:tc>
                <a:tc>
                  <a:txBody>
                    <a:bodyPr/>
                    <a:lstStyle/>
                    <a:p>
                      <a:pPr algn="ctr">
                        <a:spcAft>
                          <a:spcPts val="0"/>
                        </a:spcAft>
                      </a:pPr>
                      <a:r>
                        <a:rPr lang="en-US" sz="800">
                          <a:solidFill>
                            <a:srgbClr val="404040"/>
                          </a:solidFill>
                          <a:effectLst/>
                          <a:latin typeface="BLS" pitchFamily="2" charset="-34"/>
                          <a:cs typeface="BLS" pitchFamily="2" charset="-34"/>
                        </a:rPr>
                        <a:t>Satisfactory</a:t>
                      </a:r>
                      <a:endParaRPr lang="en-US" sz="800">
                        <a:solidFill>
                          <a:srgbClr val="404040"/>
                        </a:solidFill>
                        <a:effectLst/>
                        <a:latin typeface="BLS" pitchFamily="2" charset="-34"/>
                        <a:ea typeface="Times New Roman"/>
                        <a:cs typeface="BLS" pitchFamily="2" charset="-34"/>
                      </a:endParaRPr>
                    </a:p>
                  </a:txBody>
                  <a:tcPr marL="68573" marR="68573" marT="0" marB="0" anchor="b">
                    <a:noFill/>
                  </a:tcPr>
                </a:tc>
                <a:extLst>
                  <a:ext uri="{0D108BD9-81ED-4DB2-BD59-A6C34878D82A}">
                    <a16:rowId xmlns:a16="http://schemas.microsoft.com/office/drawing/2014/main" val="10004"/>
                  </a:ext>
                </a:extLst>
              </a:tr>
              <a:tr h="161925">
                <a:tc>
                  <a:txBody>
                    <a:bodyPr/>
                    <a:lstStyle/>
                    <a:p>
                      <a:pPr algn="ctr">
                        <a:spcAft>
                          <a:spcPts val="0"/>
                        </a:spcAft>
                      </a:pPr>
                      <a:r>
                        <a:rPr lang="en-US" sz="800">
                          <a:solidFill>
                            <a:srgbClr val="404040"/>
                          </a:solidFill>
                          <a:effectLst/>
                          <a:latin typeface="BLS" pitchFamily="2" charset="-34"/>
                          <a:cs typeface="BLS" pitchFamily="2" charset="-34"/>
                        </a:rPr>
                        <a:t>50 – 59</a:t>
                      </a:r>
                      <a:endParaRPr lang="en-US" sz="800">
                        <a:solidFill>
                          <a:srgbClr val="404040"/>
                        </a:solidFill>
                        <a:effectLst/>
                        <a:latin typeface="BLS" pitchFamily="2" charset="-34"/>
                        <a:ea typeface="Times New Roman"/>
                        <a:cs typeface="BLS" pitchFamily="2" charset="-34"/>
                      </a:endParaRPr>
                    </a:p>
                  </a:txBody>
                  <a:tcPr marL="68573" marR="68573" marT="0" marB="0" anchor="b">
                    <a:noFill/>
                  </a:tcPr>
                </a:tc>
                <a:tc>
                  <a:txBody>
                    <a:bodyPr/>
                    <a:lstStyle/>
                    <a:p>
                      <a:pPr algn="ctr">
                        <a:spcAft>
                          <a:spcPts val="0"/>
                        </a:spcAft>
                      </a:pPr>
                      <a:r>
                        <a:rPr lang="en-US" sz="800">
                          <a:solidFill>
                            <a:srgbClr val="404040"/>
                          </a:solidFill>
                          <a:effectLst/>
                          <a:latin typeface="BLS" pitchFamily="2" charset="-34"/>
                          <a:cs typeface="BLS" pitchFamily="2" charset="-34"/>
                        </a:rPr>
                        <a:t> </a:t>
                      </a:r>
                      <a:endParaRPr lang="en-US" sz="800">
                        <a:solidFill>
                          <a:srgbClr val="404040"/>
                        </a:solidFill>
                        <a:effectLst/>
                        <a:latin typeface="BLS" pitchFamily="2" charset="-34"/>
                        <a:ea typeface="Times New Roman"/>
                        <a:cs typeface="BLS" pitchFamily="2" charset="-34"/>
                      </a:endParaRPr>
                    </a:p>
                  </a:txBody>
                  <a:tcPr marL="68573" marR="68573" marT="0" marB="0" anchor="ctr">
                    <a:noFill/>
                  </a:tcPr>
                </a:tc>
                <a:tc>
                  <a:txBody>
                    <a:bodyPr/>
                    <a:lstStyle/>
                    <a:p>
                      <a:pPr algn="ctr">
                        <a:spcAft>
                          <a:spcPts val="0"/>
                        </a:spcAft>
                      </a:pPr>
                      <a:r>
                        <a:rPr lang="en-US" sz="800">
                          <a:solidFill>
                            <a:srgbClr val="404040"/>
                          </a:solidFill>
                          <a:effectLst/>
                          <a:latin typeface="BLS" pitchFamily="2" charset="-34"/>
                          <a:cs typeface="BLS" pitchFamily="2" charset="-34"/>
                        </a:rPr>
                        <a:t>Pass</a:t>
                      </a:r>
                      <a:endParaRPr lang="en-US" sz="800">
                        <a:solidFill>
                          <a:srgbClr val="404040"/>
                        </a:solidFill>
                        <a:effectLst/>
                        <a:latin typeface="BLS" pitchFamily="2" charset="-34"/>
                        <a:ea typeface="Times New Roman"/>
                        <a:cs typeface="BLS" pitchFamily="2" charset="-34"/>
                      </a:endParaRPr>
                    </a:p>
                  </a:txBody>
                  <a:tcPr marL="68573" marR="68573" marT="0" marB="0" anchor="b">
                    <a:noFill/>
                  </a:tcPr>
                </a:tc>
                <a:extLst>
                  <a:ext uri="{0D108BD9-81ED-4DB2-BD59-A6C34878D82A}">
                    <a16:rowId xmlns:a16="http://schemas.microsoft.com/office/drawing/2014/main" val="10005"/>
                  </a:ext>
                </a:extLst>
              </a:tr>
              <a:tr h="193675">
                <a:tc>
                  <a:txBody>
                    <a:bodyPr/>
                    <a:lstStyle/>
                    <a:p>
                      <a:pPr algn="ctr">
                        <a:spcBef>
                          <a:spcPts val="300"/>
                        </a:spcBef>
                        <a:spcAft>
                          <a:spcPts val="0"/>
                        </a:spcAft>
                      </a:pPr>
                      <a:r>
                        <a:rPr lang="en-US" sz="800">
                          <a:solidFill>
                            <a:srgbClr val="404040"/>
                          </a:solidFill>
                          <a:effectLst/>
                          <a:latin typeface="BLS" pitchFamily="2" charset="-34"/>
                          <a:cs typeface="BLS" pitchFamily="2" charset="-34"/>
                        </a:rPr>
                        <a:t>Below 50</a:t>
                      </a:r>
                      <a:endParaRPr lang="en-US" sz="800">
                        <a:solidFill>
                          <a:srgbClr val="404040"/>
                        </a:solidFill>
                        <a:effectLst/>
                        <a:latin typeface="BLS" pitchFamily="2" charset="-34"/>
                        <a:ea typeface="Times New Roman"/>
                        <a:cs typeface="BLS" pitchFamily="2" charset="-34"/>
                      </a:endParaRPr>
                    </a:p>
                  </a:txBody>
                  <a:tcPr marL="68573" marR="68573" marT="0" marB="0" anchor="ctr">
                    <a:noFill/>
                  </a:tcPr>
                </a:tc>
                <a:tc>
                  <a:txBody>
                    <a:bodyPr/>
                    <a:lstStyle/>
                    <a:p>
                      <a:pPr algn="ctr">
                        <a:spcBef>
                          <a:spcPts val="300"/>
                        </a:spcBef>
                        <a:spcAft>
                          <a:spcPts val="0"/>
                        </a:spcAft>
                      </a:pPr>
                      <a:r>
                        <a:rPr lang="en-US" sz="800">
                          <a:solidFill>
                            <a:srgbClr val="404040"/>
                          </a:solidFill>
                          <a:effectLst/>
                          <a:latin typeface="BLS" pitchFamily="2" charset="-34"/>
                          <a:cs typeface="BLS" pitchFamily="2" charset="-34"/>
                        </a:rPr>
                        <a:t> No logo given</a:t>
                      </a:r>
                      <a:endParaRPr lang="en-US" sz="800">
                        <a:solidFill>
                          <a:srgbClr val="404040"/>
                        </a:solidFill>
                        <a:effectLst/>
                        <a:latin typeface="BLS" pitchFamily="2" charset="-34"/>
                        <a:ea typeface="Times New Roman"/>
                        <a:cs typeface="BLS" pitchFamily="2" charset="-34"/>
                      </a:endParaRPr>
                    </a:p>
                  </a:txBody>
                  <a:tcPr marL="68573" marR="68573" marT="0" marB="0" anchor="ctr">
                    <a:noFill/>
                  </a:tcPr>
                </a:tc>
                <a:tc>
                  <a:txBody>
                    <a:bodyPr/>
                    <a:lstStyle/>
                    <a:p>
                      <a:pPr algn="ctr">
                        <a:spcBef>
                          <a:spcPts val="300"/>
                        </a:spcBef>
                        <a:spcAft>
                          <a:spcPts val="0"/>
                        </a:spcAft>
                      </a:pPr>
                      <a:r>
                        <a:rPr lang="en-US" sz="800">
                          <a:solidFill>
                            <a:srgbClr val="404040"/>
                          </a:solidFill>
                          <a:effectLst/>
                          <a:latin typeface="BLS" pitchFamily="2" charset="-34"/>
                          <a:cs typeface="BLS" pitchFamily="2" charset="-34"/>
                        </a:rPr>
                        <a:t>N/A</a:t>
                      </a:r>
                      <a:endParaRPr lang="en-US" sz="800">
                        <a:solidFill>
                          <a:srgbClr val="404040"/>
                        </a:solidFill>
                        <a:effectLst/>
                        <a:latin typeface="BLS" pitchFamily="2" charset="-34"/>
                        <a:ea typeface="Times New Roman"/>
                        <a:cs typeface="BLS" pitchFamily="2" charset="-34"/>
                      </a:endParaRPr>
                    </a:p>
                  </a:txBody>
                  <a:tcPr marL="68573" marR="68573" marT="0" marB="0" anchor="ctr">
                    <a:noFill/>
                  </a:tcPr>
                </a:tc>
                <a:extLst>
                  <a:ext uri="{0D108BD9-81ED-4DB2-BD59-A6C34878D82A}">
                    <a16:rowId xmlns:a16="http://schemas.microsoft.com/office/drawing/2014/main" val="10006"/>
                  </a:ext>
                </a:extLst>
              </a:tr>
            </a:tbl>
          </a:graphicData>
        </a:graphic>
      </p:graphicFrame>
      <p:sp>
        <p:nvSpPr>
          <p:cNvPr id="38" name="TextBox 37"/>
          <p:cNvSpPr txBox="1"/>
          <p:nvPr/>
        </p:nvSpPr>
        <p:spPr>
          <a:xfrm>
            <a:off x="404664" y="6001157"/>
            <a:ext cx="5977830" cy="215444"/>
          </a:xfrm>
          <a:prstGeom prst="rect">
            <a:avLst/>
          </a:prstGeom>
          <a:noFill/>
        </p:spPr>
        <p:txBody>
          <a:bodyPr wrap="square" rtlCol="0">
            <a:spAutoFit/>
          </a:bodyPr>
          <a:lstStyle/>
          <a:p>
            <a:pPr algn="just"/>
            <a:r>
              <a:rPr lang="en-US" sz="800" b="1">
                <a:solidFill>
                  <a:srgbClr val="404040"/>
                </a:solidFill>
                <a:latin typeface="BLS" pitchFamily="2" charset="-34"/>
                <a:cs typeface="BLS" pitchFamily="2" charset="-34"/>
              </a:rPr>
              <a:t>CG Rating</a:t>
            </a:r>
          </a:p>
        </p:txBody>
      </p:sp>
      <p:sp>
        <p:nvSpPr>
          <p:cNvPr id="39" name="TextBox 38"/>
          <p:cNvSpPr txBox="1"/>
          <p:nvPr/>
        </p:nvSpPr>
        <p:spPr>
          <a:xfrm>
            <a:off x="1052736" y="7875657"/>
            <a:ext cx="4752528" cy="584775"/>
          </a:xfrm>
          <a:prstGeom prst="rect">
            <a:avLst/>
          </a:prstGeom>
          <a:noFill/>
        </p:spPr>
        <p:txBody>
          <a:bodyPr wrap="square" rtlCol="0">
            <a:spAutoFit/>
          </a:bodyPr>
          <a:lstStyle/>
          <a:p>
            <a:pPr algn="ctr"/>
            <a:r>
              <a:rPr lang="en-US" sz="800" b="1">
                <a:latin typeface="BLS" pitchFamily="2" charset="-34"/>
                <a:cs typeface="BLS" pitchFamily="2" charset="-34"/>
              </a:rPr>
              <a:t>Thailand's Private Sector Collective Action Coalition Against Corruption </a:t>
            </a:r>
            <a:r>
              <a:rPr lang="en-US" sz="800" b="1" err="1">
                <a:latin typeface="BLS" pitchFamily="2" charset="-34"/>
                <a:cs typeface="BLS" pitchFamily="2" charset="-34"/>
              </a:rPr>
              <a:t>programme</a:t>
            </a:r>
            <a:r>
              <a:rPr lang="en-US" sz="800" b="1">
                <a:latin typeface="BLS" pitchFamily="2" charset="-34"/>
                <a:cs typeface="BLS" pitchFamily="2" charset="-34"/>
              </a:rPr>
              <a:t> (Thai CAC) under Thai Institute of Directors</a:t>
            </a:r>
          </a:p>
          <a:p>
            <a:pPr marL="171450" indent="-171450" algn="ctr">
              <a:buFont typeface="Arial" pitchFamily="34" charset="0"/>
              <a:buChar char="•"/>
            </a:pPr>
            <a:r>
              <a:rPr lang="en-US" sz="800">
                <a:latin typeface="BLS" pitchFamily="2" charset="-34"/>
                <a:cs typeface="BLS" pitchFamily="2" charset="-34"/>
              </a:rPr>
              <a:t>companies that have </a:t>
            </a:r>
            <a:r>
              <a:rPr lang="en-US" sz="800" b="1">
                <a:latin typeface="BLS" pitchFamily="2" charset="-34"/>
                <a:cs typeface="BLS" pitchFamily="2" charset="-34"/>
              </a:rPr>
              <a:t>declared</a:t>
            </a:r>
            <a:r>
              <a:rPr lang="en-US" sz="800">
                <a:latin typeface="BLS" pitchFamily="2" charset="-34"/>
                <a:cs typeface="BLS" pitchFamily="2" charset="-34"/>
              </a:rPr>
              <a:t> their intention to join CAC, and</a:t>
            </a:r>
          </a:p>
          <a:p>
            <a:pPr marL="171450" indent="-171450" algn="ctr">
              <a:buFont typeface="Arial" pitchFamily="34" charset="0"/>
              <a:buChar char="•"/>
            </a:pPr>
            <a:r>
              <a:rPr lang="en-US" sz="800">
                <a:latin typeface="BLS" pitchFamily="2" charset="-34"/>
                <a:cs typeface="BLS" pitchFamily="2" charset="-34"/>
              </a:rPr>
              <a:t>companies </a:t>
            </a:r>
            <a:r>
              <a:rPr lang="en-US" sz="800" b="1">
                <a:latin typeface="BLS" pitchFamily="2" charset="-34"/>
                <a:cs typeface="BLS" pitchFamily="2" charset="-34"/>
              </a:rPr>
              <a:t>certified</a:t>
            </a:r>
            <a:r>
              <a:rPr lang="en-US" sz="800">
                <a:latin typeface="BLS" pitchFamily="2" charset="-34"/>
                <a:cs typeface="BLS" pitchFamily="2" charset="-34"/>
              </a:rPr>
              <a:t> by CAC.</a:t>
            </a:r>
            <a:endParaRPr lang="en-US" sz="800">
              <a:solidFill>
                <a:srgbClr val="404040"/>
              </a:solidFill>
              <a:latin typeface="BLS" pitchFamily="2" charset="-34"/>
              <a:cs typeface="BLS" pitchFamily="2" charset="-34"/>
            </a:endParaRPr>
          </a:p>
        </p:txBody>
      </p:sp>
      <p:pic>
        <p:nvPicPr>
          <p:cNvPr id="1026" name="Picture 2">
            <a:extLst>
              <a:ext uri="{FF2B5EF4-FFF2-40B4-BE49-F238E27FC236}">
                <a16:creationId xmlns:a16="http://schemas.microsoft.com/office/drawing/2014/main" id="{0E5D63DB-D9DE-7124-6220-F449B2D45F0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8937" y="3631607"/>
            <a:ext cx="63246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2">
            <a:extLst>
              <a:ext uri="{FF2B5EF4-FFF2-40B4-BE49-F238E27FC236}">
                <a16:creationId xmlns:a16="http://schemas.microsoft.com/office/drawing/2014/main" id="{2FADF063-618E-2A0B-B0CC-F9AEA43EBADF}"/>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90823" y="107504"/>
            <a:ext cx="731838" cy="23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 name="Straight Connector 2">
            <a:extLst>
              <a:ext uri="{FF2B5EF4-FFF2-40B4-BE49-F238E27FC236}">
                <a16:creationId xmlns:a16="http://schemas.microsoft.com/office/drawing/2014/main" id="{9F434746-9B89-59A7-88CF-4D5439A09315}"/>
              </a:ext>
            </a:extLst>
          </p:cNvPr>
          <p:cNvCxnSpPr/>
          <p:nvPr/>
        </p:nvCxnSpPr>
        <p:spPr>
          <a:xfrm>
            <a:off x="1254791" y="190033"/>
            <a:ext cx="0" cy="108000"/>
          </a:xfrm>
          <a:prstGeom prst="line">
            <a:avLst/>
          </a:prstGeom>
          <a:ln w="1905">
            <a:solidFill>
              <a:srgbClr val="002060"/>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24CC043B-0591-672D-2174-7401EDDCA5CE}"/>
              </a:ext>
            </a:extLst>
          </p:cNvPr>
          <p:cNvSpPr txBox="1"/>
          <p:nvPr/>
        </p:nvSpPr>
        <p:spPr>
          <a:xfrm>
            <a:off x="332656" y="30656"/>
            <a:ext cx="970575" cy="184666"/>
          </a:xfrm>
          <a:prstGeom prst="rect">
            <a:avLst/>
          </a:prstGeom>
          <a:noFill/>
        </p:spPr>
        <p:txBody>
          <a:bodyPr wrap="square">
            <a:spAutoFit/>
          </a:bodyPr>
          <a:lstStyle/>
          <a:p>
            <a:pPr algn="r"/>
            <a:r>
              <a:rPr lang="en-US" sz="600" b="1" dirty="0">
                <a:solidFill>
                  <a:srgbClr val="CCAE8A"/>
                </a:solidFill>
                <a:latin typeface="Aharoni" panose="020F0502020204030204" pitchFamily="2" charset="-79"/>
                <a:ea typeface="Tahoma" pitchFamily="34" charset="0"/>
                <a:cs typeface="Aharoni" panose="020F0502020204030204" pitchFamily="2" charset="-79"/>
              </a:rPr>
              <a:t>BLS WEALTH</a:t>
            </a:r>
            <a:endParaRPr lang="th-TH" sz="500" b="1" dirty="0">
              <a:solidFill>
                <a:srgbClr val="CCAE8A"/>
              </a:solidFill>
              <a:latin typeface="Aharoni" panose="020F0502020204030204" pitchFamily="2" charset="-79"/>
              <a:ea typeface="Tahoma" pitchFamily="34" charset="0"/>
              <a:cs typeface="BLS Condensed Bold" panose="00000800000000000000" pitchFamily="2" charset="-34"/>
            </a:endParaRPr>
          </a:p>
        </p:txBody>
      </p:sp>
      <p:sp>
        <p:nvSpPr>
          <p:cNvPr id="10" name="TextBox 9">
            <a:extLst>
              <a:ext uri="{FF2B5EF4-FFF2-40B4-BE49-F238E27FC236}">
                <a16:creationId xmlns:a16="http://schemas.microsoft.com/office/drawing/2014/main" id="{2531F109-D890-A9D4-6394-29EC9D37B88A}"/>
              </a:ext>
            </a:extLst>
          </p:cNvPr>
          <p:cNvSpPr txBox="1"/>
          <p:nvPr/>
        </p:nvSpPr>
        <p:spPr>
          <a:xfrm>
            <a:off x="1207813" y="131801"/>
            <a:ext cx="1411131" cy="230832"/>
          </a:xfrm>
          <a:prstGeom prst="rect">
            <a:avLst/>
          </a:prstGeom>
          <a:noFill/>
        </p:spPr>
        <p:txBody>
          <a:bodyPr wrap="square" rtlCol="0">
            <a:spAutoFit/>
          </a:bodyPr>
          <a:lstStyle/>
          <a:p>
            <a:r>
              <a:rPr lang="en-US" sz="450" b="1" dirty="0">
                <a:solidFill>
                  <a:schemeClr val="accent3"/>
                </a:solidFill>
                <a:latin typeface="Arial" pitchFamily="34" charset="0"/>
                <a:cs typeface="Arial" pitchFamily="34" charset="0"/>
              </a:rPr>
              <a:t>Data-driven</a:t>
            </a:r>
            <a:endParaRPr lang="th-TH" sz="450" b="1" dirty="0">
              <a:solidFill>
                <a:schemeClr val="accent3"/>
              </a:solidFill>
              <a:latin typeface="Arial" pitchFamily="34" charset="0"/>
              <a:cs typeface="Arial" pitchFamily="34" charset="0"/>
            </a:endParaRPr>
          </a:p>
          <a:p>
            <a:r>
              <a:rPr lang="en-US" sz="450" b="1" dirty="0">
                <a:solidFill>
                  <a:schemeClr val="tx2"/>
                </a:solidFill>
                <a:latin typeface="Arial" pitchFamily="34" charset="0"/>
                <a:cs typeface="Arial" pitchFamily="34" charset="0"/>
              </a:rPr>
              <a:t>RESEARCH</a:t>
            </a:r>
          </a:p>
        </p:txBody>
      </p:sp>
    </p:spTree>
    <p:extLst>
      <p:ext uri="{BB962C8B-B14F-4D97-AF65-F5344CB8AC3E}">
        <p14:creationId xmlns:p14="http://schemas.microsoft.com/office/powerpoint/2010/main" val="3291491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97858" y="8699316"/>
            <a:ext cx="6235106" cy="45719"/>
          </a:xfrm>
          <a:prstGeom prst="rect">
            <a:avLst/>
          </a:prstGeom>
          <a:gradFill>
            <a:gsLst>
              <a:gs pos="0">
                <a:schemeClr val="accent1">
                  <a:lumMod val="60000"/>
                  <a:lumOff val="40000"/>
                </a:schemeClr>
              </a:gs>
              <a:gs pos="50000">
                <a:schemeClr val="accent1">
                  <a:lumMod val="75000"/>
                </a:schemeClr>
              </a:gs>
              <a:gs pos="100000">
                <a:schemeClr val="accent1">
                  <a:lumMod val="5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lide Number Placeholder 2"/>
          <p:cNvSpPr>
            <a:spLocks noGrp="1"/>
          </p:cNvSpPr>
          <p:nvPr>
            <p:ph type="sldNum" sz="quarter" idx="12"/>
          </p:nvPr>
        </p:nvSpPr>
        <p:spPr>
          <a:xfrm>
            <a:off x="4914900" y="8659771"/>
            <a:ext cx="1600200" cy="486833"/>
          </a:xfrm>
        </p:spPr>
        <p:txBody>
          <a:bodyPr/>
          <a:lstStyle/>
          <a:p>
            <a:fld id="{10452F14-DDA8-46AC-9FFA-A749C5B763D3}" type="slidenum">
              <a:rPr lang="en-US" smtClean="0">
                <a:latin typeface="BLS" panose="00000500000000000000" pitchFamily="2" charset="-34"/>
                <a:cs typeface="BLS" panose="00000500000000000000" pitchFamily="2" charset="-34"/>
              </a:rPr>
              <a:t>6</a:t>
            </a:fld>
            <a:endParaRPr lang="en-US" dirty="0">
              <a:latin typeface="BLS" panose="00000500000000000000" pitchFamily="2" charset="-34"/>
              <a:cs typeface="BLS" panose="00000500000000000000" pitchFamily="2" charset="-34"/>
            </a:endParaRPr>
          </a:p>
        </p:txBody>
      </p:sp>
      <p:sp>
        <p:nvSpPr>
          <p:cNvPr id="12" name="Text Box 155"/>
          <p:cNvSpPr txBox="1">
            <a:spLocks noChangeArrowheads="1"/>
          </p:cNvSpPr>
          <p:nvPr/>
        </p:nvSpPr>
        <p:spPr bwMode="auto">
          <a:xfrm>
            <a:off x="297858" y="624260"/>
            <a:ext cx="6231314" cy="319087"/>
          </a:xfrm>
          <a:prstGeom prst="rect">
            <a:avLst/>
          </a:prstGeom>
          <a:solidFill>
            <a:srgbClr val="002060"/>
          </a:solidFill>
          <a:ln w="9525">
            <a:solidFill>
              <a:srgbClr val="002060"/>
            </a:solidFill>
            <a:miter lim="800000"/>
            <a:headEnd/>
            <a:tailEnd/>
          </a:ln>
        </p:spPr>
        <p:txBody>
          <a:bodyPr vert="horz" wrap="square" lIns="91440" tIns="45720" rIns="91440" bIns="45720" numCol="1" anchor="ctr" anchorCtr="0" compatLnSpc="1">
            <a:prstTxWarp prst="textNoShape">
              <a:avLst/>
            </a:prstTxWarp>
          </a:bodyPr>
          <a:lstStyle/>
          <a:p>
            <a:pPr>
              <a:spcAft>
                <a:spcPts val="0"/>
              </a:spcAft>
              <a:tabLst>
                <a:tab pos="2743200" algn="ctr"/>
                <a:tab pos="5486400" algn="r"/>
              </a:tabLst>
            </a:pPr>
            <a:r>
              <a:rPr lang="en-US" sz="1000" b="1">
                <a:solidFill>
                  <a:srgbClr val="FFFFFF"/>
                </a:solidFill>
                <a:latin typeface="BLS Condensed Bold" pitchFamily="2" charset="-34"/>
                <a:ea typeface="Arial" pitchFamily="34" charset="0"/>
                <a:cs typeface="BLS Condensed Bold" pitchFamily="2" charset="-34"/>
              </a:rPr>
              <a:t>CORPORATE GOVERNANCE REPORT DISCLAIMER</a:t>
            </a:r>
          </a:p>
        </p:txBody>
      </p:sp>
      <p:sp>
        <p:nvSpPr>
          <p:cNvPr id="13" name="TextBox 12"/>
          <p:cNvSpPr txBox="1"/>
          <p:nvPr/>
        </p:nvSpPr>
        <p:spPr>
          <a:xfrm>
            <a:off x="297858" y="1043608"/>
            <a:ext cx="6231314" cy="3293209"/>
          </a:xfrm>
          <a:prstGeom prst="rect">
            <a:avLst/>
          </a:prstGeom>
          <a:noFill/>
        </p:spPr>
        <p:txBody>
          <a:bodyPr wrap="square" rtlCol="0">
            <a:spAutoFit/>
          </a:bodyPr>
          <a:lstStyle/>
          <a:p>
            <a:pPr algn="just"/>
            <a:r>
              <a:rPr lang="en-GB" sz="800">
                <a:solidFill>
                  <a:srgbClr val="404040"/>
                </a:solidFill>
                <a:latin typeface="BLS" pitchFamily="2" charset="-34"/>
                <a:cs typeface="BLS" pitchFamily="2" charset="-34"/>
              </a:rPr>
              <a:t>This research report was prepared by </a:t>
            </a:r>
            <a:r>
              <a:rPr lang="en-GB" sz="800" err="1">
                <a:solidFill>
                  <a:srgbClr val="404040"/>
                </a:solidFill>
                <a:latin typeface="BLS" pitchFamily="2" charset="-34"/>
                <a:cs typeface="BLS" pitchFamily="2" charset="-34"/>
              </a:rPr>
              <a:t>Bualuang</a:t>
            </a:r>
            <a:r>
              <a:rPr lang="en-GB" sz="800">
                <a:solidFill>
                  <a:srgbClr val="404040"/>
                </a:solidFill>
                <a:latin typeface="BLS" pitchFamily="2" charset="-34"/>
                <a:cs typeface="BLS" pitchFamily="2" charset="-34"/>
              </a:rPr>
              <a:t> Securities Public Company Limited and refers to research prepared by Morgan Stanley. Morgan Stanley does not warrant or guarantee the accuracy or completeness of its research reports. Morgan Stanley reserves copyright and other proprietary rights in the material reproduced in this report. Morgan Stanley is under no obligation to inform </a:t>
            </a:r>
            <a:r>
              <a:rPr lang="en-GB" sz="800" err="1">
                <a:solidFill>
                  <a:srgbClr val="404040"/>
                </a:solidFill>
                <a:latin typeface="BLS" pitchFamily="2" charset="-34"/>
                <a:cs typeface="BLS" pitchFamily="2" charset="-34"/>
              </a:rPr>
              <a:t>Bualuang</a:t>
            </a:r>
            <a:r>
              <a:rPr lang="en-GB" sz="800">
                <a:solidFill>
                  <a:srgbClr val="404040"/>
                </a:solidFill>
                <a:latin typeface="BLS" pitchFamily="2" charset="-34"/>
                <a:cs typeface="BLS" pitchFamily="2" charset="-34"/>
              </a:rPr>
              <a:t> Securities or you if the views or information referred to or reproduced in this research report change.</a:t>
            </a:r>
          </a:p>
          <a:p>
            <a:pPr algn="just"/>
            <a:endParaRPr lang="en-US" sz="800">
              <a:solidFill>
                <a:srgbClr val="404040"/>
              </a:solidFill>
              <a:latin typeface="BLS" pitchFamily="2" charset="-34"/>
              <a:cs typeface="BLS" pitchFamily="2" charset="-34"/>
            </a:endParaRPr>
          </a:p>
          <a:p>
            <a:pPr algn="just"/>
            <a:r>
              <a:rPr lang="en-GB" sz="800" b="1">
                <a:solidFill>
                  <a:srgbClr val="404040"/>
                </a:solidFill>
                <a:latin typeface="BLS" pitchFamily="2" charset="-34"/>
                <a:cs typeface="BLS" pitchFamily="2" charset="-34"/>
              </a:rPr>
              <a:t>Corporate Governance Report disclaimer</a:t>
            </a:r>
          </a:p>
          <a:p>
            <a:pPr algn="just"/>
            <a:endParaRPr lang="en-US" sz="400" b="1">
              <a:solidFill>
                <a:srgbClr val="404040"/>
              </a:solidFill>
              <a:latin typeface="BLS" pitchFamily="2" charset="-34"/>
              <a:cs typeface="BLS" pitchFamily="2" charset="-34"/>
            </a:endParaRPr>
          </a:p>
          <a:p>
            <a:pPr algn="just"/>
            <a:r>
              <a:rPr lang="en-US" sz="800">
                <a:solidFill>
                  <a:srgbClr val="404040"/>
                </a:solidFill>
                <a:latin typeface="BLS" pitchFamily="2" charset="-34"/>
                <a:cs typeface="BLS" pitchFamily="2" charset="-34"/>
              </a:rPr>
              <a:t>The disclosure of the survey result of the Thai Institute of Directors Association (IOD) regarding corporate governance is made pursuant to the policy of the Office of the Securities and Exchange Commission. The IOD survey is based on the information of a company listed on the Stock Exchange of Thailand and the Market for Alternative Investment disclosed to the public and able to be accessed by a general public investor. The result, therefore, is from the perspective of a third party. It is not an evaluation of operation and is not based on inside information.</a:t>
            </a:r>
          </a:p>
          <a:p>
            <a:pPr algn="just"/>
            <a:r>
              <a:rPr lang="en-US" sz="800">
                <a:solidFill>
                  <a:srgbClr val="404040"/>
                </a:solidFill>
                <a:latin typeface="BLS" pitchFamily="2" charset="-34"/>
                <a:cs typeface="BLS" pitchFamily="2" charset="-34"/>
              </a:rPr>
              <a:t>The survey result is as of the date appearing in the Corporate Governance Report of Thai Listed Companies. As a result, the survey result may be changed after that date. </a:t>
            </a:r>
            <a:r>
              <a:rPr lang="en-US" sz="800" err="1">
                <a:solidFill>
                  <a:srgbClr val="404040"/>
                </a:solidFill>
                <a:latin typeface="BLS" pitchFamily="2" charset="-34"/>
                <a:cs typeface="BLS" pitchFamily="2" charset="-34"/>
              </a:rPr>
              <a:t>Bualuang</a:t>
            </a:r>
            <a:r>
              <a:rPr lang="en-US" sz="800">
                <a:solidFill>
                  <a:srgbClr val="404040"/>
                </a:solidFill>
                <a:latin typeface="BLS" pitchFamily="2" charset="-34"/>
                <a:cs typeface="BLS" pitchFamily="2" charset="-34"/>
              </a:rPr>
              <a:t> Securities Public Company Limited neither confirms nor certifies the accuracy of such survey results.</a:t>
            </a:r>
          </a:p>
          <a:p>
            <a:pPr algn="just"/>
            <a:r>
              <a:rPr lang="en-US" sz="800">
                <a:solidFill>
                  <a:srgbClr val="404040"/>
                </a:solidFill>
                <a:latin typeface="BLS" pitchFamily="2" charset="-34"/>
                <a:cs typeface="BLS" pitchFamily="2" charset="-34"/>
              </a:rPr>
              <a:t> </a:t>
            </a:r>
          </a:p>
          <a:p>
            <a:pPr algn="just"/>
            <a:r>
              <a:rPr lang="en-US" sz="800">
                <a:solidFill>
                  <a:srgbClr val="404040"/>
                </a:solidFill>
                <a:latin typeface="BLS" pitchFamily="2" charset="-34"/>
                <a:cs typeface="BLS" pitchFamily="2" charset="-34"/>
              </a:rPr>
              <a:t>“Disclaimer: The disclosure of the Anti-Corruption Progress Indicators of a listed company on the Stock Exchange of Thailand, which is assessed by the relevant institution as disclosed by the Office of the Securities and Exchange Commission, is made in order to comply with the policy and sustainable development plan for the listed companies. The relevant institution made this assessment based on the information received from the listed company, as stipulated in the form for the assessment of Anti-corruption, which refers to the Annual Registration Statement (Form 56-1), Annual Report (Form 56-2), or other relevant documents or reports of such listed company. The assessment result is therefore made from the perspective of a third party. It is not an assessment of operation and is not based on any inside information. Since this assessment is only the assessment result as of the date appearing in the assessment result, it may be changed after that date or when there is any change to the relevant information. Nevertheless, </a:t>
            </a:r>
            <a:r>
              <a:rPr lang="en-US" sz="800" err="1">
                <a:solidFill>
                  <a:srgbClr val="404040"/>
                </a:solidFill>
                <a:latin typeface="BLS" pitchFamily="2" charset="-34"/>
                <a:cs typeface="BLS" pitchFamily="2" charset="-34"/>
              </a:rPr>
              <a:t>Bualuang</a:t>
            </a:r>
            <a:r>
              <a:rPr lang="en-US" sz="800">
                <a:solidFill>
                  <a:srgbClr val="404040"/>
                </a:solidFill>
                <a:latin typeface="BLS" pitchFamily="2" charset="-34"/>
                <a:cs typeface="BLS" pitchFamily="2" charset="-34"/>
              </a:rPr>
              <a:t> Securities Public Company Limited neither confirms, verifies, nor certifies the accuracy and completeness of the assessment result.”</a:t>
            </a:r>
          </a:p>
        </p:txBody>
      </p:sp>
      <p:sp>
        <p:nvSpPr>
          <p:cNvPr id="33" name="Text Box 155"/>
          <p:cNvSpPr txBox="1">
            <a:spLocks noChangeArrowheads="1"/>
          </p:cNvSpPr>
          <p:nvPr/>
        </p:nvSpPr>
        <p:spPr bwMode="auto">
          <a:xfrm>
            <a:off x="294066" y="4572000"/>
            <a:ext cx="6231314" cy="319087"/>
          </a:xfrm>
          <a:prstGeom prst="rect">
            <a:avLst/>
          </a:prstGeom>
          <a:solidFill>
            <a:srgbClr val="002060"/>
          </a:solidFill>
          <a:ln w="9525">
            <a:solidFill>
              <a:srgbClr val="002060"/>
            </a:solidFill>
            <a:miter lim="800000"/>
            <a:headEnd/>
            <a:tailEnd/>
          </a:ln>
        </p:spPr>
        <p:txBody>
          <a:bodyPr vert="horz" wrap="square" lIns="91440" tIns="45720" rIns="91440" bIns="45720" numCol="1" anchor="ctr" anchorCtr="0" compatLnSpc="1">
            <a:prstTxWarp prst="textNoShape">
              <a:avLst/>
            </a:prstTxWarp>
          </a:bodyPr>
          <a:lstStyle/>
          <a:p>
            <a:pPr>
              <a:spcAft>
                <a:spcPts val="0"/>
              </a:spcAft>
              <a:tabLst>
                <a:tab pos="2743200" algn="ctr"/>
                <a:tab pos="5486400" algn="r"/>
              </a:tabLst>
            </a:pPr>
            <a:r>
              <a:rPr lang="en-US" sz="1000" b="1">
                <a:solidFill>
                  <a:srgbClr val="FFFFFF"/>
                </a:solidFill>
                <a:latin typeface="BLS Condensed Bold" pitchFamily="2" charset="-34"/>
                <a:ea typeface="Arial" pitchFamily="34" charset="0"/>
                <a:cs typeface="BLS Condensed Bold" pitchFamily="2" charset="-34"/>
              </a:rPr>
              <a:t>BUALUANG RESEARCH – RECOMMENDATION FRAMEWORK</a:t>
            </a:r>
          </a:p>
        </p:txBody>
      </p:sp>
      <p:sp>
        <p:nvSpPr>
          <p:cNvPr id="34" name="TextBox 33"/>
          <p:cNvSpPr txBox="1"/>
          <p:nvPr/>
        </p:nvSpPr>
        <p:spPr>
          <a:xfrm>
            <a:off x="294066" y="5004048"/>
            <a:ext cx="3121345" cy="1323439"/>
          </a:xfrm>
          <a:prstGeom prst="rect">
            <a:avLst/>
          </a:prstGeom>
          <a:noFill/>
        </p:spPr>
        <p:txBody>
          <a:bodyPr wrap="square" rtlCol="0">
            <a:spAutoFit/>
          </a:bodyPr>
          <a:lstStyle/>
          <a:p>
            <a:r>
              <a:rPr lang="en-US" sz="800" b="1">
                <a:solidFill>
                  <a:srgbClr val="404040"/>
                </a:solidFill>
                <a:latin typeface="BLS" pitchFamily="2" charset="-34"/>
                <a:cs typeface="BLS" pitchFamily="2" charset="-34"/>
              </a:rPr>
              <a:t>STOCK RECOMMENDATIONS</a:t>
            </a:r>
            <a:endParaRPr lang="en-US" sz="800">
              <a:solidFill>
                <a:srgbClr val="404040"/>
              </a:solidFill>
              <a:latin typeface="BLS" pitchFamily="2" charset="-34"/>
              <a:cs typeface="BLS" pitchFamily="2" charset="-34"/>
            </a:endParaRPr>
          </a:p>
          <a:p>
            <a:r>
              <a:rPr lang="en-US" sz="800" b="1">
                <a:solidFill>
                  <a:srgbClr val="404040"/>
                </a:solidFill>
                <a:latin typeface="BLS" pitchFamily="2" charset="-34"/>
                <a:cs typeface="BLS" pitchFamily="2" charset="-34"/>
              </a:rPr>
              <a:t> </a:t>
            </a:r>
            <a:endParaRPr lang="en-US" sz="800">
              <a:solidFill>
                <a:srgbClr val="404040"/>
              </a:solidFill>
              <a:latin typeface="BLS" pitchFamily="2" charset="-34"/>
              <a:cs typeface="BLS" pitchFamily="2" charset="-34"/>
            </a:endParaRPr>
          </a:p>
          <a:p>
            <a:r>
              <a:rPr lang="en-US" sz="800" b="1">
                <a:solidFill>
                  <a:srgbClr val="404040"/>
                </a:solidFill>
                <a:latin typeface="BLS" pitchFamily="2" charset="-34"/>
                <a:cs typeface="BLS" pitchFamily="2" charset="-34"/>
              </a:rPr>
              <a:t>BUY:</a:t>
            </a:r>
            <a:r>
              <a:rPr lang="en-US" sz="800">
                <a:solidFill>
                  <a:srgbClr val="404040"/>
                </a:solidFill>
                <a:latin typeface="BLS" pitchFamily="2" charset="-34"/>
                <a:cs typeface="BLS" pitchFamily="2" charset="-34"/>
              </a:rPr>
              <a:t> Expected positive total returns of 15% or more over the next 12 months.</a:t>
            </a:r>
          </a:p>
          <a:p>
            <a:r>
              <a:rPr lang="en-US" sz="800" b="1">
                <a:solidFill>
                  <a:srgbClr val="404040"/>
                </a:solidFill>
                <a:latin typeface="BLS" pitchFamily="2" charset="-34"/>
                <a:cs typeface="BLS" pitchFamily="2" charset="-34"/>
              </a:rPr>
              <a:t>HOLD:</a:t>
            </a:r>
            <a:r>
              <a:rPr lang="en-US" sz="800">
                <a:solidFill>
                  <a:srgbClr val="404040"/>
                </a:solidFill>
                <a:latin typeface="BLS" pitchFamily="2" charset="-34"/>
                <a:cs typeface="BLS" pitchFamily="2" charset="-34"/>
              </a:rPr>
              <a:t> Expected total returns of between -15% and +15% over the next 12 months.</a:t>
            </a:r>
          </a:p>
          <a:p>
            <a:r>
              <a:rPr lang="en-US" sz="800" b="1">
                <a:solidFill>
                  <a:srgbClr val="404040"/>
                </a:solidFill>
                <a:latin typeface="BLS" pitchFamily="2" charset="-34"/>
                <a:cs typeface="BLS" pitchFamily="2" charset="-34"/>
              </a:rPr>
              <a:t>SELL:</a:t>
            </a:r>
            <a:r>
              <a:rPr lang="en-US" sz="800">
                <a:solidFill>
                  <a:srgbClr val="404040"/>
                </a:solidFill>
                <a:latin typeface="BLS" pitchFamily="2" charset="-34"/>
                <a:cs typeface="BLS" pitchFamily="2" charset="-34"/>
              </a:rPr>
              <a:t> Expected negative total returns of 15% or more over the next 12 months.</a:t>
            </a:r>
          </a:p>
          <a:p>
            <a:r>
              <a:rPr lang="en-US" sz="800" b="1">
                <a:solidFill>
                  <a:srgbClr val="404040"/>
                </a:solidFill>
                <a:latin typeface="BLS" pitchFamily="2" charset="-34"/>
                <a:cs typeface="BLS" pitchFamily="2" charset="-34"/>
              </a:rPr>
              <a:t>TRADING BUY:</a:t>
            </a:r>
            <a:r>
              <a:rPr lang="en-US" sz="800">
                <a:solidFill>
                  <a:srgbClr val="404040"/>
                </a:solidFill>
                <a:latin typeface="BLS" pitchFamily="2" charset="-34"/>
                <a:cs typeface="BLS" pitchFamily="2" charset="-34"/>
              </a:rPr>
              <a:t> Expected positive total returns of 15% or more over the next 3 months.</a:t>
            </a:r>
          </a:p>
        </p:txBody>
      </p:sp>
      <p:sp>
        <p:nvSpPr>
          <p:cNvPr id="40" name="TextBox 39"/>
          <p:cNvSpPr txBox="1"/>
          <p:nvPr/>
        </p:nvSpPr>
        <p:spPr>
          <a:xfrm>
            <a:off x="3403999" y="5006935"/>
            <a:ext cx="3121345" cy="1446550"/>
          </a:xfrm>
          <a:prstGeom prst="rect">
            <a:avLst/>
          </a:prstGeom>
          <a:noFill/>
        </p:spPr>
        <p:txBody>
          <a:bodyPr wrap="square" rtlCol="0">
            <a:spAutoFit/>
          </a:bodyPr>
          <a:lstStyle/>
          <a:p>
            <a:r>
              <a:rPr lang="en-US" sz="800" b="1">
                <a:solidFill>
                  <a:srgbClr val="404040"/>
                </a:solidFill>
                <a:latin typeface="BLS" pitchFamily="2" charset="-34"/>
                <a:cs typeface="BLS" pitchFamily="2" charset="-34"/>
              </a:rPr>
              <a:t>SECTOR RECOMMENDATIONS</a:t>
            </a:r>
            <a:endParaRPr lang="en-US" sz="800">
              <a:solidFill>
                <a:srgbClr val="404040"/>
              </a:solidFill>
              <a:latin typeface="BLS" pitchFamily="2" charset="-34"/>
              <a:cs typeface="BLS" pitchFamily="2" charset="-34"/>
            </a:endParaRPr>
          </a:p>
          <a:p>
            <a:r>
              <a:rPr lang="en-US" sz="800" b="1">
                <a:solidFill>
                  <a:srgbClr val="404040"/>
                </a:solidFill>
                <a:latin typeface="BLS" pitchFamily="2" charset="-34"/>
                <a:cs typeface="BLS" pitchFamily="2" charset="-34"/>
              </a:rPr>
              <a:t> </a:t>
            </a:r>
            <a:endParaRPr lang="en-US" sz="800">
              <a:solidFill>
                <a:srgbClr val="404040"/>
              </a:solidFill>
              <a:latin typeface="BLS" pitchFamily="2" charset="-34"/>
              <a:cs typeface="BLS" pitchFamily="2" charset="-34"/>
            </a:endParaRPr>
          </a:p>
          <a:p>
            <a:r>
              <a:rPr lang="en-US" sz="800" b="1">
                <a:solidFill>
                  <a:srgbClr val="404040"/>
                </a:solidFill>
                <a:latin typeface="BLS" pitchFamily="2" charset="-34"/>
                <a:cs typeface="BLS" pitchFamily="2" charset="-34"/>
              </a:rPr>
              <a:t>OVERWEIGHT:</a:t>
            </a:r>
            <a:r>
              <a:rPr lang="en-US" sz="800">
                <a:solidFill>
                  <a:srgbClr val="404040"/>
                </a:solidFill>
                <a:latin typeface="BLS" pitchFamily="2" charset="-34"/>
                <a:cs typeface="BLS" pitchFamily="2" charset="-34"/>
              </a:rPr>
              <a:t> The industry, as defined by the analyst's coverage universe, is expected to outperform the relevant primary market index over the next 12 months.</a:t>
            </a:r>
          </a:p>
          <a:p>
            <a:r>
              <a:rPr lang="en-US" sz="800" b="1">
                <a:solidFill>
                  <a:srgbClr val="404040"/>
                </a:solidFill>
                <a:latin typeface="BLS" pitchFamily="2" charset="-34"/>
                <a:cs typeface="BLS" pitchFamily="2" charset="-34"/>
              </a:rPr>
              <a:t>NEUTRAL:</a:t>
            </a:r>
            <a:r>
              <a:rPr lang="en-US" sz="800">
                <a:solidFill>
                  <a:srgbClr val="404040"/>
                </a:solidFill>
                <a:latin typeface="BLS" pitchFamily="2" charset="-34"/>
                <a:cs typeface="BLS" pitchFamily="2" charset="-34"/>
              </a:rPr>
              <a:t> The industry, as defined by the analyst's coverage universe, is expected to perform in line with the relevant primary market index over the next 12 months.</a:t>
            </a:r>
          </a:p>
          <a:p>
            <a:r>
              <a:rPr lang="en-US" sz="800" b="1">
                <a:solidFill>
                  <a:srgbClr val="404040"/>
                </a:solidFill>
                <a:latin typeface="BLS" pitchFamily="2" charset="-34"/>
                <a:cs typeface="BLS" pitchFamily="2" charset="-34"/>
              </a:rPr>
              <a:t>UNDERWEIGHT:</a:t>
            </a:r>
            <a:r>
              <a:rPr lang="en-US" sz="800">
                <a:solidFill>
                  <a:srgbClr val="404040"/>
                </a:solidFill>
                <a:latin typeface="BLS" pitchFamily="2" charset="-34"/>
                <a:cs typeface="BLS" pitchFamily="2" charset="-34"/>
              </a:rPr>
              <a:t> The industry, as defined by the analyst's coverage universe, is expected to underperform the relevant primary market index over the next 12 months.</a:t>
            </a:r>
          </a:p>
        </p:txBody>
      </p:sp>
      <p:pic>
        <p:nvPicPr>
          <p:cNvPr id="2" name="Picture 2">
            <a:extLst>
              <a:ext uri="{FF2B5EF4-FFF2-40B4-BE49-F238E27FC236}">
                <a16:creationId xmlns:a16="http://schemas.microsoft.com/office/drawing/2014/main" id="{68EBA98D-DAEB-71F6-F8D5-DDD9F3BDDDE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90823" y="107504"/>
            <a:ext cx="731838" cy="23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 name="Straight Connector 2">
            <a:extLst>
              <a:ext uri="{FF2B5EF4-FFF2-40B4-BE49-F238E27FC236}">
                <a16:creationId xmlns:a16="http://schemas.microsoft.com/office/drawing/2014/main" id="{7E2E67D1-A25A-2469-0444-85CC17E609CB}"/>
              </a:ext>
            </a:extLst>
          </p:cNvPr>
          <p:cNvCxnSpPr/>
          <p:nvPr/>
        </p:nvCxnSpPr>
        <p:spPr>
          <a:xfrm>
            <a:off x="1254791" y="190033"/>
            <a:ext cx="0" cy="108000"/>
          </a:xfrm>
          <a:prstGeom prst="line">
            <a:avLst/>
          </a:prstGeom>
          <a:ln w="1905">
            <a:solidFill>
              <a:srgbClr val="002060"/>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8FD7DE02-ED03-5EC3-18A3-C3FFFC2FDA4D}"/>
              </a:ext>
            </a:extLst>
          </p:cNvPr>
          <p:cNvSpPr txBox="1"/>
          <p:nvPr/>
        </p:nvSpPr>
        <p:spPr>
          <a:xfrm>
            <a:off x="332656" y="30656"/>
            <a:ext cx="970575" cy="184666"/>
          </a:xfrm>
          <a:prstGeom prst="rect">
            <a:avLst/>
          </a:prstGeom>
          <a:noFill/>
        </p:spPr>
        <p:txBody>
          <a:bodyPr wrap="square">
            <a:spAutoFit/>
          </a:bodyPr>
          <a:lstStyle/>
          <a:p>
            <a:pPr algn="r"/>
            <a:r>
              <a:rPr lang="en-US" sz="600" b="1" dirty="0">
                <a:solidFill>
                  <a:srgbClr val="CCAE8A"/>
                </a:solidFill>
                <a:latin typeface="Aharoni" panose="020F0502020204030204" pitchFamily="2" charset="-79"/>
                <a:ea typeface="Tahoma" pitchFamily="34" charset="0"/>
                <a:cs typeface="Aharoni" panose="020F0502020204030204" pitchFamily="2" charset="-79"/>
              </a:rPr>
              <a:t>BLS WEALTH</a:t>
            </a:r>
            <a:endParaRPr lang="th-TH" sz="500" b="1" dirty="0">
              <a:solidFill>
                <a:srgbClr val="CCAE8A"/>
              </a:solidFill>
              <a:latin typeface="Aharoni" panose="020F0502020204030204" pitchFamily="2" charset="-79"/>
              <a:ea typeface="Tahoma" pitchFamily="34" charset="0"/>
              <a:cs typeface="BLS Condensed Bold" panose="00000800000000000000" pitchFamily="2" charset="-34"/>
            </a:endParaRPr>
          </a:p>
        </p:txBody>
      </p:sp>
      <p:sp>
        <p:nvSpPr>
          <p:cNvPr id="10" name="TextBox 9">
            <a:extLst>
              <a:ext uri="{FF2B5EF4-FFF2-40B4-BE49-F238E27FC236}">
                <a16:creationId xmlns:a16="http://schemas.microsoft.com/office/drawing/2014/main" id="{13DF9989-335C-A019-5306-81DB174F4CC4}"/>
              </a:ext>
            </a:extLst>
          </p:cNvPr>
          <p:cNvSpPr txBox="1"/>
          <p:nvPr/>
        </p:nvSpPr>
        <p:spPr>
          <a:xfrm>
            <a:off x="1207813" y="131801"/>
            <a:ext cx="1411131" cy="230832"/>
          </a:xfrm>
          <a:prstGeom prst="rect">
            <a:avLst/>
          </a:prstGeom>
          <a:noFill/>
        </p:spPr>
        <p:txBody>
          <a:bodyPr wrap="square" rtlCol="0">
            <a:spAutoFit/>
          </a:bodyPr>
          <a:lstStyle/>
          <a:p>
            <a:r>
              <a:rPr lang="en-US" sz="450" b="1" dirty="0">
                <a:solidFill>
                  <a:schemeClr val="accent3"/>
                </a:solidFill>
                <a:latin typeface="Arial" pitchFamily="34" charset="0"/>
                <a:cs typeface="Arial" pitchFamily="34" charset="0"/>
              </a:rPr>
              <a:t>Data-driven</a:t>
            </a:r>
            <a:endParaRPr lang="th-TH" sz="450" b="1" dirty="0">
              <a:solidFill>
                <a:schemeClr val="accent3"/>
              </a:solidFill>
              <a:latin typeface="Arial" pitchFamily="34" charset="0"/>
              <a:cs typeface="Arial" pitchFamily="34" charset="0"/>
            </a:endParaRPr>
          </a:p>
          <a:p>
            <a:r>
              <a:rPr lang="en-US" sz="450" b="1" dirty="0">
                <a:solidFill>
                  <a:schemeClr val="tx2"/>
                </a:solidFill>
                <a:latin typeface="Arial" pitchFamily="34" charset="0"/>
                <a:cs typeface="Arial" pitchFamily="34" charset="0"/>
              </a:rPr>
              <a:t>RESEARCH</a:t>
            </a:r>
          </a:p>
        </p:txBody>
      </p:sp>
    </p:spTree>
    <p:extLst>
      <p:ext uri="{BB962C8B-B14F-4D97-AF65-F5344CB8AC3E}">
        <p14:creationId xmlns:p14="http://schemas.microsoft.com/office/powerpoint/2010/main" val="2177988180"/>
      </p:ext>
    </p:extLst>
  </p:cSld>
  <p:clrMapOvr>
    <a:masterClrMapping/>
  </p:clrMapOvr>
</p:sld>
</file>

<file path=ppt/theme/theme1.xml><?xml version="1.0" encoding="utf-8"?>
<a:theme xmlns:a="http://schemas.openxmlformats.org/drawingml/2006/main" name="Office Theme">
  <a:themeElements>
    <a:clrScheme name="BLS">
      <a:dk1>
        <a:sysClr val="windowText" lastClr="000000"/>
      </a:dk1>
      <a:lt1>
        <a:sysClr val="window" lastClr="FFFFFF"/>
      </a:lt1>
      <a:dk2>
        <a:srgbClr val="1F497D"/>
      </a:dk2>
      <a:lt2>
        <a:srgbClr val="EEECE1"/>
      </a:lt2>
      <a:accent1>
        <a:srgbClr val="215968"/>
      </a:accent1>
      <a:accent2>
        <a:srgbClr val="A17D3D"/>
      </a:accent2>
      <a:accent3>
        <a:srgbClr val="AC1D3F"/>
      </a:accent3>
      <a:accent4>
        <a:srgbClr val="162A4C"/>
      </a:accent4>
      <a:accent5>
        <a:srgbClr val="A6A6A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144130</TotalTime>
  <Words>3111</Words>
  <Application>Microsoft Office PowerPoint</Application>
  <PresentationFormat>On-screen Show (4:3)</PresentationFormat>
  <Paragraphs>187</Paragraphs>
  <Slides>6</Slides>
  <Notes>5</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6</vt:i4>
      </vt:variant>
    </vt:vector>
  </HeadingPairs>
  <TitlesOfParts>
    <vt:vector size="16" baseType="lpstr">
      <vt:lpstr>Aharoni</vt:lpstr>
      <vt:lpstr>Arial</vt:lpstr>
      <vt:lpstr>BLS</vt:lpstr>
      <vt:lpstr>BLS Bold</vt:lpstr>
      <vt:lpstr>BLS Condensed</vt:lpstr>
      <vt:lpstr>BLS Condensed </vt:lpstr>
      <vt:lpstr>BLS Condensed Bold</vt:lpstr>
      <vt:lpstr>BLS Text</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sfsdfds</dc:title>
  <dc:creator>Nuttimas Akarapanuvitaya</dc:creator>
  <cp:lastModifiedBy>Piriyapon Kongvanich</cp:lastModifiedBy>
  <cp:revision>4668</cp:revision>
  <cp:lastPrinted>2024-11-19T12:54:25Z</cp:lastPrinted>
  <dcterms:created xsi:type="dcterms:W3CDTF">2019-01-16T11:18:39Z</dcterms:created>
  <dcterms:modified xsi:type="dcterms:W3CDTF">2026-03-28T03:09:07Z</dcterms:modified>
</cp:coreProperties>
</file>