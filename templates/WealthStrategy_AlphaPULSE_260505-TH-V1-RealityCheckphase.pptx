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sldIdLst>
    <p:sldId id="410" r:id="rId2"/>
    <p:sldId id="573" r:id="rId3"/>
    <p:sldId id="575" r:id="rId4"/>
    <p:sldId id="537" r:id="rId5"/>
    <p:sldId id="576" r:id="rId6"/>
    <p:sldId id="353" r:id="rId7"/>
    <p:sldId id="354" r:id="rId8"/>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65"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a:srgbClr val="EDEDED"/>
    <a:srgbClr val="FFCCCC"/>
    <a:srgbClr val="A17D3D"/>
    <a:srgbClr val="F2F2F2"/>
    <a:srgbClr val="AC1D3F"/>
    <a:srgbClr val="1C3765"/>
    <a:srgbClr val="A6A6A6"/>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45" autoAdjust="0"/>
    <p:restoredTop sz="96357" autoAdjust="0"/>
  </p:normalViewPr>
  <p:slideViewPr>
    <p:cSldViewPr>
      <p:cViewPr varScale="1">
        <p:scale>
          <a:sx n="83" d="100"/>
          <a:sy n="83" d="100"/>
        </p:scale>
        <p:origin x="3036" y="144"/>
      </p:cViewPr>
      <p:guideLst>
        <p:guide orient="horz" pos="5465"/>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05-May-26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1298428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3</a:t>
            </a:fld>
            <a:endParaRPr lang="en-US"/>
          </a:p>
        </p:txBody>
      </p:sp>
    </p:spTree>
    <p:extLst>
      <p:ext uri="{BB962C8B-B14F-4D97-AF65-F5344CB8AC3E}">
        <p14:creationId xmlns:p14="http://schemas.microsoft.com/office/powerpoint/2010/main" val="3772930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06600" y="746125"/>
            <a:ext cx="2794000" cy="3725863"/>
          </a:xfrm>
        </p:spPr>
      </p:sp>
      <p:sp>
        <p:nvSpPr>
          <p:cNvPr id="3" name="Notes Placeholder 2"/>
          <p:cNvSpPr>
            <a:spLocks noGrp="1"/>
          </p:cNvSpPr>
          <p:nvPr>
            <p:ph type="body" idx="1"/>
          </p:nvPr>
        </p:nvSpPr>
        <p:spPr/>
        <p:txBody>
          <a:bodyPr/>
          <a:lstStyle/>
          <a:p>
            <a:r>
              <a:rPr lang="en-US" dirty="0"/>
              <a:t>6</a:t>
            </a:r>
            <a:endParaRPr lang="th-TH" dirty="0"/>
          </a:p>
        </p:txBody>
      </p:sp>
      <p:sp>
        <p:nvSpPr>
          <p:cNvPr id="4" name="Slide Number Placeholder 3"/>
          <p:cNvSpPr>
            <a:spLocks noGrp="1"/>
          </p:cNvSpPr>
          <p:nvPr>
            <p:ph type="sldNum" sz="quarter" idx="5"/>
          </p:nvPr>
        </p:nvSpPr>
        <p:spPr/>
        <p:txBody>
          <a:bodyPr/>
          <a:lstStyle/>
          <a:p>
            <a:fld id="{4D30BBFF-256F-004A-B466-D7A1C41ADAD5}" type="slidenum">
              <a:rPr lang="x-none" smtClean="0"/>
              <a:t>4</a:t>
            </a:fld>
            <a:endParaRPr lang="x-none"/>
          </a:p>
        </p:txBody>
      </p:sp>
    </p:spTree>
    <p:extLst>
      <p:ext uri="{BB962C8B-B14F-4D97-AF65-F5344CB8AC3E}">
        <p14:creationId xmlns:p14="http://schemas.microsoft.com/office/powerpoint/2010/main" val="4041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5</a:t>
            </a:fld>
            <a:endParaRPr lang="en-US"/>
          </a:p>
        </p:txBody>
      </p:sp>
    </p:spTree>
    <p:extLst>
      <p:ext uri="{BB962C8B-B14F-4D97-AF65-F5344CB8AC3E}">
        <p14:creationId xmlns:p14="http://schemas.microsoft.com/office/powerpoint/2010/main" val="881834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6</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05-May-26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05-May-26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05-May-26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05-May-26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05-May-26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05-May-26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05-May-26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05-May-26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05-May-26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05-May-26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05-May-26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05-May-26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png"/><Relationship Id="rId7"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 Id="rId9"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11287" b="3959"/>
          <a:stretch/>
        </p:blipFill>
        <p:spPr>
          <a:xfrm>
            <a:off x="0" y="0"/>
            <a:ext cx="7069677"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May </a:t>
            </a:r>
            <a:r>
              <a:rPr lang="th-TH" sz="1000" b="1" dirty="0">
                <a:solidFill>
                  <a:schemeClr val="tx2"/>
                </a:solidFill>
                <a:latin typeface="BLS Bold" panose="00000800000000000000" pitchFamily="50" charset="-34"/>
                <a:cs typeface="BLS Bold" panose="00000800000000000000" pitchFamily="50" charset="-34"/>
              </a:rPr>
              <a:t>5</a:t>
            </a:r>
            <a:r>
              <a:rPr lang="en-US" sz="1000" b="1" dirty="0">
                <a:solidFill>
                  <a:schemeClr val="tx2"/>
                </a:solidFill>
                <a:latin typeface="BLS Bold" panose="00000800000000000000" pitchFamily="50" charset="-34"/>
                <a:cs typeface="BLS Bold" panose="00000800000000000000" pitchFamily="50" charset="-34"/>
              </a:rPr>
              <a:t>,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44624" y="1450975"/>
            <a:ext cx="7069675" cy="338554"/>
          </a:xfrm>
          <a:prstGeom prst="rect">
            <a:avLst/>
          </a:prstGeom>
          <a:noFill/>
          <a:ln>
            <a:noFill/>
          </a:ln>
        </p:spPr>
        <p:txBody>
          <a:bodyPr wrap="square" rtlCol="0">
            <a:spAutoFit/>
          </a:bodyPr>
          <a:lstStyle/>
          <a:p>
            <a:r>
              <a:rPr lang="en-US" altLang="en-US" sz="1600" b="1" dirty="0">
                <a:solidFill>
                  <a:schemeClr val="tx2"/>
                </a:solidFill>
                <a:latin typeface="BLS Condensed" pitchFamily="2" charset="-34"/>
                <a:ea typeface="Tahoma" pitchFamily="34" charset="0"/>
                <a:cs typeface="BLS Condensed" pitchFamily="2" charset="-34"/>
              </a:rPr>
              <a:t>“Reality Check Phase” | </a:t>
            </a:r>
            <a:r>
              <a:rPr lang="th-TH" altLang="en-US" sz="1600" b="1" dirty="0">
                <a:solidFill>
                  <a:schemeClr val="tx2"/>
                </a:solidFill>
                <a:latin typeface="BLS Condensed" pitchFamily="2" charset="-34"/>
                <a:ea typeface="Tahoma" pitchFamily="34" charset="0"/>
                <a:cs typeface="BLS Condensed" pitchFamily="2" charset="-34"/>
              </a:rPr>
              <a:t>ส่อง 7 โอกาสลงทุนเดือนพ.ค. ใต้ภาวะ </a:t>
            </a:r>
            <a:r>
              <a:rPr lang="en-US" altLang="en-US" sz="1600" b="1" dirty="0">
                <a:solidFill>
                  <a:schemeClr val="tx2"/>
                </a:solidFill>
                <a:latin typeface="BLS Condensed" pitchFamily="2" charset="-34"/>
                <a:ea typeface="Tahoma" pitchFamily="34" charset="0"/>
                <a:cs typeface="BLS Condensed" pitchFamily="2" charset="-34"/>
              </a:rPr>
              <a:t>“</a:t>
            </a:r>
            <a:r>
              <a:rPr lang="th-TH" altLang="en-US" sz="1600" b="1" dirty="0">
                <a:solidFill>
                  <a:schemeClr val="tx2"/>
                </a:solidFill>
                <a:latin typeface="BLS Condensed" pitchFamily="2" charset="-34"/>
                <a:ea typeface="Tahoma" pitchFamily="34" charset="0"/>
                <a:cs typeface="BLS Condensed" pitchFamily="2" charset="-34"/>
              </a:rPr>
              <a:t>แรงซื้อจำกัดวง แรงกดดันขยายตัว”  </a:t>
            </a:r>
            <a:r>
              <a:rPr lang="en-US" altLang="en-US" sz="1600" b="1" dirty="0">
                <a:solidFill>
                  <a:schemeClr val="tx2"/>
                </a:solidFill>
                <a:latin typeface="BLS Condensed" pitchFamily="2" charset="-34"/>
                <a:ea typeface="Tahoma" pitchFamily="34" charset="0"/>
                <a:cs typeface="BLS Condensed" pitchFamily="2" charset="-34"/>
              </a:rPr>
              <a:t> </a:t>
            </a: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a:t>
            </a:r>
            <a:r>
              <a:rPr lang="th-TH" sz="1000" b="1" dirty="0">
                <a:solidFill>
                  <a:schemeClr val="tx2"/>
                </a:solidFill>
                <a:latin typeface="BLS Bold" panose="00000800000000000000" pitchFamily="2" charset="-34"/>
                <a:cs typeface="BLS Bold" panose="00000800000000000000" pitchFamily="2" charset="-34"/>
              </a:rPr>
              <a:t>5</a:t>
            </a:r>
            <a:r>
              <a:rPr lang="en-US" sz="1000" b="1" dirty="0">
                <a:solidFill>
                  <a:schemeClr val="tx2"/>
                </a:solidFill>
                <a:latin typeface="BLS Bold" panose="00000800000000000000" pitchFamily="2" charset="-34"/>
                <a:cs typeface="BLS Bold" panose="00000800000000000000" pitchFamily="2" charset="-34"/>
              </a:rPr>
              <a:t>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284174"/>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80" b="1" dirty="0">
                <a:solidFill>
                  <a:schemeClr val="tx1">
                    <a:lumMod val="65000"/>
                    <a:lumOff val="35000"/>
                  </a:schemeClr>
                </a:solidFill>
                <a:latin typeface="BLS Text" panose="00000500000000000000" pitchFamily="2" charset="-34"/>
                <a:cs typeface="BLS Text" pitchFamily="2" charset="-34"/>
              </a:rPr>
              <a:t>เข้าสู่ช่วงประเมินความจริงผลกระทบสงคราม (</a:t>
            </a:r>
            <a:r>
              <a:rPr lang="en-US" sz="880" b="1" dirty="0">
                <a:solidFill>
                  <a:schemeClr val="tx1">
                    <a:lumMod val="65000"/>
                    <a:lumOff val="35000"/>
                  </a:schemeClr>
                </a:solidFill>
                <a:latin typeface="BLS Text" panose="00000500000000000000" pitchFamily="2" charset="-34"/>
                <a:cs typeface="BLS Text" pitchFamily="2" charset="-34"/>
              </a:rPr>
              <a:t>Reality Check Mode):</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หลังช่วงปลายฤดูกาลประกาศงบ (</a:t>
            </a:r>
            <a:r>
              <a:rPr lang="en-US" sz="880" dirty="0">
                <a:solidFill>
                  <a:schemeClr val="tx1">
                    <a:lumMod val="65000"/>
                    <a:lumOff val="35000"/>
                  </a:schemeClr>
                </a:solidFill>
                <a:latin typeface="BLS Text" panose="00000500000000000000" pitchFamily="2" charset="-34"/>
                <a:cs typeface="BLS Text" pitchFamily="2" charset="-34"/>
              </a:rPr>
              <a:t>late earnings season) </a:t>
            </a:r>
            <a:r>
              <a:rPr lang="th-TH" sz="880" dirty="0">
                <a:solidFill>
                  <a:schemeClr val="tx1">
                    <a:lumMod val="65000"/>
                    <a:lumOff val="35000"/>
                  </a:schemeClr>
                </a:solidFill>
                <a:latin typeface="BLS Text" panose="00000500000000000000" pitchFamily="2" charset="-34"/>
                <a:cs typeface="BLS Text" pitchFamily="2" charset="-34"/>
              </a:rPr>
              <a:t>ตลาดจะเข้าสู่โหมดประเมินความจริง (</a:t>
            </a:r>
            <a:r>
              <a:rPr lang="en-US" sz="880" dirty="0">
                <a:solidFill>
                  <a:schemeClr val="tx1">
                    <a:lumMod val="65000"/>
                    <a:lumOff val="35000"/>
                  </a:schemeClr>
                </a:solidFill>
                <a:latin typeface="BLS Text" panose="00000500000000000000" pitchFamily="2" charset="-34"/>
                <a:cs typeface="BLS Text" pitchFamily="2" charset="-34"/>
              </a:rPr>
              <a:t>reality check mode) </a:t>
            </a:r>
            <a:r>
              <a:rPr lang="th-TH" sz="880" dirty="0">
                <a:solidFill>
                  <a:schemeClr val="tx1">
                    <a:lumMod val="65000"/>
                    <a:lumOff val="35000"/>
                  </a:schemeClr>
                </a:solidFill>
                <a:latin typeface="BLS Text" panose="00000500000000000000" pitchFamily="2" charset="-34"/>
                <a:cs typeface="BLS Text" pitchFamily="2" charset="-34"/>
              </a:rPr>
              <a:t>อย่างเต็มตัว โดยในเดือนพฤษภาคม นักลงทุนจะเริ่มให้น้ำหนักกับผลกระทบเชิงโครงสร้างจากสงครามและต้นทุนพลังงานต่อทิศทางกำไรไตรมาส 2 มากขึ้น หลังจากต้นทุนการผลิตและบรรจุภัณฑ์ (</a:t>
            </a:r>
            <a:r>
              <a:rPr lang="en-US" sz="880" dirty="0">
                <a:solidFill>
                  <a:schemeClr val="tx1">
                    <a:lumMod val="65000"/>
                    <a:lumOff val="35000"/>
                  </a:schemeClr>
                </a:solidFill>
                <a:latin typeface="BLS Text" panose="00000500000000000000" pitchFamily="2" charset="-34"/>
                <a:cs typeface="BLS Text" pitchFamily="2" charset="-34"/>
              </a:rPr>
              <a:t>production &amp; packaging cost) </a:t>
            </a:r>
            <a:r>
              <a:rPr lang="th-TH" sz="880" dirty="0">
                <a:solidFill>
                  <a:schemeClr val="tx1">
                    <a:lumMod val="65000"/>
                    <a:lumOff val="35000"/>
                  </a:schemeClr>
                </a:solidFill>
                <a:latin typeface="BLS Text" panose="00000500000000000000" pitchFamily="2" charset="-34"/>
                <a:cs typeface="BLS Text" pitchFamily="2" charset="-34"/>
              </a:rPr>
              <a:t>รวมถึงต้นทุนขนส่ง (</a:t>
            </a:r>
            <a:r>
              <a:rPr lang="en-US" sz="880" dirty="0">
                <a:solidFill>
                  <a:schemeClr val="tx1">
                    <a:lumMod val="65000"/>
                    <a:lumOff val="35000"/>
                  </a:schemeClr>
                </a:solidFill>
                <a:latin typeface="BLS Text" panose="00000500000000000000" pitchFamily="2" charset="-34"/>
                <a:cs typeface="BLS Text" pitchFamily="2" charset="-34"/>
              </a:rPr>
              <a:t>logistics cost) </a:t>
            </a:r>
            <a:r>
              <a:rPr lang="th-TH" sz="880" dirty="0">
                <a:solidFill>
                  <a:schemeClr val="tx1">
                    <a:lumMod val="65000"/>
                    <a:lumOff val="35000"/>
                  </a:schemeClr>
                </a:solidFill>
                <a:latin typeface="BLS Text" panose="00000500000000000000" pitchFamily="2" charset="-34"/>
                <a:cs typeface="BLS Text" pitchFamily="2" charset="-34"/>
              </a:rPr>
              <a:t>เริ่มถูกส่งผ่านเข้าสู่ระบบเศรษฐกิจจริง และมีแนวโน้มทวีความรุนแรงในไตรมาส 3</a:t>
            </a:r>
            <a:endParaRPr lang="th-TH" sz="88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en-US" sz="880" b="1" dirty="0">
                <a:solidFill>
                  <a:schemeClr val="tx1">
                    <a:lumMod val="65000"/>
                    <a:lumOff val="35000"/>
                  </a:schemeClr>
                </a:solidFill>
                <a:latin typeface="BLS Text" panose="00000500000000000000" pitchFamily="2" charset="-34"/>
                <a:cs typeface="BLS Text" pitchFamily="2" charset="-34"/>
              </a:rPr>
              <a:t>Market Breadth </a:t>
            </a:r>
            <a:r>
              <a:rPr lang="th-TH" sz="880" b="1" dirty="0">
                <a:solidFill>
                  <a:schemeClr val="tx1">
                    <a:lumMod val="65000"/>
                    <a:lumOff val="35000"/>
                  </a:schemeClr>
                </a:solidFill>
                <a:latin typeface="BLS Text" panose="00000500000000000000" pitchFamily="2" charset="-34"/>
                <a:cs typeface="BLS Text" pitchFamily="2" charset="-34"/>
              </a:rPr>
              <a:t>สะท้อนแรงขึ้นที่ไม่กระจายตัว </a:t>
            </a:r>
            <a:r>
              <a:rPr lang="en-US" sz="880" b="1" dirty="0">
                <a:solidFill>
                  <a:schemeClr val="tx1">
                    <a:lumMod val="65000"/>
                    <a:lumOff val="35000"/>
                  </a:schemeClr>
                </a:solidFill>
                <a:latin typeface="BLS Text" panose="00000500000000000000" pitchFamily="2" charset="-34"/>
                <a:cs typeface="BLS Text" pitchFamily="2" charset="-34"/>
              </a:rPr>
              <a:t>(Narrow Market Breadth):</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สัญญาณจากความกว้างของตลาด (</a:t>
            </a:r>
            <a:r>
              <a:rPr lang="en-US" sz="880" dirty="0">
                <a:solidFill>
                  <a:schemeClr val="tx1">
                    <a:lumMod val="65000"/>
                    <a:lumOff val="35000"/>
                  </a:schemeClr>
                </a:solidFill>
                <a:latin typeface="BLS Text" panose="00000500000000000000" pitchFamily="2" charset="-34"/>
                <a:cs typeface="BLS Text" pitchFamily="2" charset="-34"/>
              </a:rPr>
              <a:t>market breadth) </a:t>
            </a:r>
            <a:r>
              <a:rPr lang="th-TH" sz="880" dirty="0">
                <a:solidFill>
                  <a:schemeClr val="tx1">
                    <a:lumMod val="65000"/>
                    <a:lumOff val="35000"/>
                  </a:schemeClr>
                </a:solidFill>
                <a:latin typeface="BLS Text" panose="00000500000000000000" pitchFamily="2" charset="-34"/>
                <a:cs typeface="BLS Text" pitchFamily="2" charset="-34"/>
              </a:rPr>
              <a:t>เริ่มชี้ถึงภาวะ “การปรับขึ้นกระจุกตัว” ซึ่งมักเป็นสัญญาณของการอ่อนแรงของแนวโน้ม โดยสัดส่วนหุ้นที่ทำจุดต่ำสุดในรอบ 4 สัปดาห์ (% </a:t>
            </a:r>
            <a:r>
              <a:rPr lang="en-US" sz="880" dirty="0">
                <a:solidFill>
                  <a:schemeClr val="tx1">
                    <a:lumMod val="65000"/>
                    <a:lumOff val="35000"/>
                  </a:schemeClr>
                </a:solidFill>
                <a:latin typeface="BLS Text" panose="00000500000000000000" pitchFamily="2" charset="-34"/>
                <a:cs typeface="BLS Text" pitchFamily="2" charset="-34"/>
              </a:rPr>
              <a:t>New 4-Week Lows) </a:t>
            </a:r>
            <a:r>
              <a:rPr lang="th-TH" sz="880" dirty="0">
                <a:solidFill>
                  <a:schemeClr val="tx1">
                    <a:lumMod val="65000"/>
                    <a:lumOff val="35000"/>
                  </a:schemeClr>
                </a:solidFill>
                <a:latin typeface="BLS Text" panose="00000500000000000000" pitchFamily="2" charset="-34"/>
                <a:cs typeface="BLS Text" pitchFamily="2" charset="-34"/>
              </a:rPr>
              <a:t>ปรับเพิ่มขึ้นแตะ 25.9% ในช่วงปลายเดือนเมษายน ซึ่งเป็นระดับสูงสุดในรอบ 50 วัน และเริ่มสูงกว่าสัดส่วนหุ้นที่ทำจุดสูงสุด (% </a:t>
            </a:r>
            <a:r>
              <a:rPr lang="en-US" sz="880" dirty="0">
                <a:solidFill>
                  <a:schemeClr val="tx1">
                    <a:lumMod val="65000"/>
                    <a:lumOff val="35000"/>
                  </a:schemeClr>
                </a:solidFill>
                <a:latin typeface="BLS Text" panose="00000500000000000000" pitchFamily="2" charset="-34"/>
                <a:cs typeface="BLS Text" pitchFamily="2" charset="-34"/>
              </a:rPr>
              <a:t>New 4-Week Highs)</a:t>
            </a:r>
            <a:r>
              <a:rPr lang="th-TH" sz="880" dirty="0">
                <a:solidFill>
                  <a:schemeClr val="tx1">
                    <a:lumMod val="65000"/>
                    <a:lumOff val="35000"/>
                  </a:schemeClr>
                </a:solidFill>
                <a:latin typeface="BLS Text" panose="00000500000000000000" pitchFamily="2" charset="-34"/>
                <a:cs typeface="BLS Text" pitchFamily="2" charset="-34"/>
              </a:rPr>
              <a:t> ภาพดังกล่าวสะท้อนว่าการปรับขึ้นของดัชนีถูกขับเคลื่อนโดยหุ้นเพียงไม่กี่ตัว (</a:t>
            </a:r>
            <a:r>
              <a:rPr lang="en-US" sz="880" dirty="0">
                <a:solidFill>
                  <a:schemeClr val="tx1">
                    <a:lumMod val="65000"/>
                    <a:lumOff val="35000"/>
                  </a:schemeClr>
                </a:solidFill>
                <a:latin typeface="BLS Text" panose="00000500000000000000" pitchFamily="2" charset="-34"/>
                <a:cs typeface="BLS Text" pitchFamily="2" charset="-34"/>
              </a:rPr>
              <a:t>narrow leadership) </a:t>
            </a:r>
            <a:r>
              <a:rPr lang="th-TH" sz="880" dirty="0">
                <a:solidFill>
                  <a:schemeClr val="tx1">
                    <a:lumMod val="65000"/>
                    <a:lumOff val="35000"/>
                  </a:schemeClr>
                </a:solidFill>
                <a:latin typeface="BLS Text" panose="00000500000000000000" pitchFamily="2" charset="-34"/>
                <a:cs typeface="BLS Text" pitchFamily="2" charset="-34"/>
              </a:rPr>
              <a:t>ส่งผลให้ </a:t>
            </a:r>
            <a:r>
              <a:rPr lang="en-US" sz="880" dirty="0">
                <a:solidFill>
                  <a:schemeClr val="tx1">
                    <a:lumMod val="65000"/>
                    <a:lumOff val="35000"/>
                  </a:schemeClr>
                </a:solidFill>
                <a:latin typeface="BLS Text" panose="00000500000000000000" pitchFamily="2" charset="-34"/>
                <a:cs typeface="BLS Text" pitchFamily="2" charset="-34"/>
              </a:rPr>
              <a:t>upside </a:t>
            </a:r>
            <a:r>
              <a:rPr lang="th-TH" sz="880" dirty="0">
                <a:solidFill>
                  <a:schemeClr val="tx1">
                    <a:lumMod val="65000"/>
                    <a:lumOff val="35000"/>
                  </a:schemeClr>
                </a:solidFill>
                <a:latin typeface="BLS Text" panose="00000500000000000000" pitchFamily="2" charset="-34"/>
                <a:cs typeface="BLS Text" pitchFamily="2" charset="-34"/>
              </a:rPr>
              <a:t>ของตลาดเริ่มถูกจำกัด (</a:t>
            </a:r>
            <a:r>
              <a:rPr lang="en-US" sz="880" dirty="0">
                <a:solidFill>
                  <a:schemeClr val="tx1">
                    <a:lumMod val="65000"/>
                    <a:lumOff val="35000"/>
                  </a:schemeClr>
                </a:solidFill>
                <a:latin typeface="BLS Text" panose="00000500000000000000" pitchFamily="2" charset="-34"/>
                <a:cs typeface="BLS Text" pitchFamily="2" charset="-34"/>
              </a:rPr>
              <a:t>limited upside)</a:t>
            </a:r>
            <a:endParaRPr lang="th-TH" sz="88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en-US" sz="880" b="1" dirty="0">
                <a:solidFill>
                  <a:schemeClr val="tx1">
                    <a:lumMod val="65000"/>
                    <a:lumOff val="35000"/>
                  </a:schemeClr>
                </a:solidFill>
                <a:latin typeface="BLS Text" panose="00000500000000000000" pitchFamily="2" charset="-34"/>
                <a:cs typeface="BLS Text" pitchFamily="2" charset="-34"/>
              </a:rPr>
              <a:t>Earnings Revision </a:t>
            </a:r>
            <a:r>
              <a:rPr lang="th-TH" sz="880" b="1" dirty="0">
                <a:solidFill>
                  <a:schemeClr val="tx1">
                    <a:lumMod val="65000"/>
                    <a:lumOff val="35000"/>
                  </a:schemeClr>
                </a:solidFill>
                <a:latin typeface="BLS Text" panose="00000500000000000000" pitchFamily="2" charset="-34"/>
                <a:cs typeface="BLS Text" pitchFamily="2" charset="-34"/>
              </a:rPr>
              <a:t>ยืนยันภาพ “ขึ้นแบบกระจุก” (</a:t>
            </a:r>
            <a:r>
              <a:rPr lang="en-US" sz="880" b="1" dirty="0">
                <a:solidFill>
                  <a:schemeClr val="tx1">
                    <a:lumMod val="65000"/>
                    <a:lumOff val="35000"/>
                  </a:schemeClr>
                </a:solidFill>
                <a:latin typeface="BLS Text" panose="00000500000000000000" pitchFamily="2" charset="-34"/>
                <a:cs typeface="BLS Text" pitchFamily="2" charset="-34"/>
              </a:rPr>
              <a:t>Concentrated Earnings Upgrade):</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การปรับประมาณการกำไร (</a:t>
            </a:r>
            <a:r>
              <a:rPr lang="en-US" sz="880" dirty="0">
                <a:solidFill>
                  <a:schemeClr val="tx1">
                    <a:lumMod val="65000"/>
                    <a:lumOff val="35000"/>
                  </a:schemeClr>
                </a:solidFill>
                <a:latin typeface="BLS Text" panose="00000500000000000000" pitchFamily="2" charset="-34"/>
                <a:cs typeface="BLS Text" pitchFamily="2" charset="-34"/>
              </a:rPr>
              <a:t>earnings revisions) </a:t>
            </a:r>
            <a:r>
              <a:rPr lang="th-TH" sz="880" dirty="0">
                <a:solidFill>
                  <a:schemeClr val="tx1">
                    <a:lumMod val="65000"/>
                    <a:lumOff val="35000"/>
                  </a:schemeClr>
                </a:solidFill>
                <a:latin typeface="BLS Text" panose="00000500000000000000" pitchFamily="2" charset="-34"/>
                <a:cs typeface="BLS Text" pitchFamily="2" charset="-34"/>
              </a:rPr>
              <a:t>ให้ภาพสอดคล้องกัน โดยกำไรตลาด (</a:t>
            </a:r>
            <a:r>
              <a:rPr lang="en-US" sz="880" dirty="0">
                <a:solidFill>
                  <a:schemeClr val="tx1">
                    <a:lumMod val="65000"/>
                    <a:lumOff val="35000"/>
                  </a:schemeClr>
                </a:solidFill>
                <a:latin typeface="BLS Text" panose="00000500000000000000" pitchFamily="2" charset="-34"/>
                <a:cs typeface="BLS Text" pitchFamily="2" charset="-34"/>
              </a:rPr>
              <a:t>SET earnings) </a:t>
            </a:r>
            <a:r>
              <a:rPr lang="th-TH" sz="880" dirty="0">
                <a:solidFill>
                  <a:schemeClr val="tx1">
                    <a:lumMod val="65000"/>
                    <a:lumOff val="35000"/>
                  </a:schemeClr>
                </a:solidFill>
                <a:latin typeface="BLS Text" panose="00000500000000000000" pitchFamily="2" charset="-34"/>
                <a:cs typeface="BLS Text" pitchFamily="2" charset="-34"/>
              </a:rPr>
              <a:t>ในเดือนเมษายนปรับเพิ่มขึ้น +1.</a:t>
            </a:r>
            <a:r>
              <a:rPr lang="en-US" sz="880" dirty="0">
                <a:solidFill>
                  <a:schemeClr val="tx1">
                    <a:lumMod val="65000"/>
                    <a:lumOff val="35000"/>
                  </a:schemeClr>
                </a:solidFill>
                <a:latin typeface="BLS Text" panose="00000500000000000000" pitchFamily="2" charset="-34"/>
                <a:cs typeface="BLS Text" pitchFamily="2" charset="-34"/>
              </a:rPr>
              <a:t>4</a:t>
            </a:r>
            <a:r>
              <a:rPr lang="th-TH" sz="880" dirty="0">
                <a:solidFill>
                  <a:schemeClr val="tx1">
                    <a:lumMod val="65000"/>
                    <a:lumOff val="35000"/>
                  </a:schemeClr>
                </a:solidFill>
                <a:latin typeface="BLS Text" panose="00000500000000000000" pitchFamily="2" charset="-34"/>
                <a:cs typeface="BLS Text" pitchFamily="2" charset="-34"/>
              </a:rPr>
              <a:t>% (จาก +0.</a:t>
            </a:r>
            <a:r>
              <a:rPr lang="en-US" sz="880" dirty="0">
                <a:solidFill>
                  <a:schemeClr val="tx1">
                    <a:lumMod val="65000"/>
                    <a:lumOff val="35000"/>
                  </a:schemeClr>
                </a:solidFill>
                <a:latin typeface="BLS Text" panose="00000500000000000000" pitchFamily="2" charset="-34"/>
                <a:cs typeface="BLS Text" pitchFamily="2" charset="-34"/>
              </a:rPr>
              <a:t>9</a:t>
            </a:r>
            <a:r>
              <a:rPr lang="th-TH" sz="880" dirty="0">
                <a:solidFill>
                  <a:schemeClr val="tx1">
                    <a:lumMod val="65000"/>
                    <a:lumOff val="35000"/>
                  </a:schemeClr>
                </a:solidFill>
                <a:latin typeface="BLS Text" panose="00000500000000000000" pitchFamily="2" charset="-34"/>
                <a:cs typeface="BLS Text" pitchFamily="2" charset="-34"/>
              </a:rPr>
              <a:t>% ตั้งแต่ต้นปี) แต่แรงหนุนมาจากเพียงไม่กี่กลุ่ม ได้แก่ กลุ่มวัฏจักร (</a:t>
            </a:r>
            <a:r>
              <a:rPr lang="en-US" sz="880" dirty="0">
                <a:solidFill>
                  <a:schemeClr val="tx1">
                    <a:lumMod val="65000"/>
                    <a:lumOff val="35000"/>
                  </a:schemeClr>
                </a:solidFill>
                <a:latin typeface="BLS Text" panose="00000500000000000000" pitchFamily="2" charset="-34"/>
                <a:cs typeface="BLS Text" pitchFamily="2" charset="-34"/>
              </a:rPr>
              <a:t>cyclical stocks) </a:t>
            </a:r>
            <a:r>
              <a:rPr lang="th-TH" sz="880" dirty="0">
                <a:solidFill>
                  <a:schemeClr val="tx1">
                    <a:lumMod val="65000"/>
                    <a:lumOff val="35000"/>
                  </a:schemeClr>
                </a:solidFill>
                <a:latin typeface="BLS Text" panose="00000500000000000000" pitchFamily="2" charset="-34"/>
                <a:cs typeface="BLS Text" pitchFamily="2" charset="-34"/>
              </a:rPr>
              <a:t>ได้แก่ พลังงานและปิโตรเคมี ซึ่งได้ประโยชน์จากราคาสินค้าโภคภัณฑ์ที่ปรับตัวสูงขึ้น (</a:t>
            </a:r>
            <a:r>
              <a:rPr lang="en-US" sz="880" dirty="0">
                <a:solidFill>
                  <a:schemeClr val="tx1">
                    <a:lumMod val="65000"/>
                    <a:lumOff val="35000"/>
                  </a:schemeClr>
                </a:solidFill>
                <a:latin typeface="BLS Text" panose="00000500000000000000" pitchFamily="2" charset="-34"/>
                <a:cs typeface="BLS Text" pitchFamily="2" charset="-34"/>
              </a:rPr>
              <a:t>commodity upcycle) </a:t>
            </a:r>
            <a:r>
              <a:rPr lang="th-TH" sz="880" dirty="0">
                <a:solidFill>
                  <a:schemeClr val="tx1">
                    <a:lumMod val="65000"/>
                    <a:lumOff val="35000"/>
                  </a:schemeClr>
                </a:solidFill>
                <a:latin typeface="BLS Text" panose="00000500000000000000" pitchFamily="2" charset="-34"/>
                <a:cs typeface="BLS Text" pitchFamily="2" charset="-34"/>
              </a:rPr>
              <a:t>ทั้งค่าการกลั่น (</a:t>
            </a:r>
            <a:r>
              <a:rPr lang="en-US" sz="880" dirty="0">
                <a:solidFill>
                  <a:schemeClr val="tx1">
                    <a:lumMod val="65000"/>
                    <a:lumOff val="35000"/>
                  </a:schemeClr>
                </a:solidFill>
                <a:latin typeface="BLS Text" panose="00000500000000000000" pitchFamily="2" charset="-34"/>
                <a:cs typeface="BLS Text" pitchFamily="2" charset="-34"/>
              </a:rPr>
              <a:t>GRM) </a:t>
            </a:r>
            <a:r>
              <a:rPr lang="th-TH" sz="880" dirty="0">
                <a:solidFill>
                  <a:schemeClr val="tx1">
                    <a:lumMod val="65000"/>
                    <a:lumOff val="35000"/>
                  </a:schemeClr>
                </a:solidFill>
                <a:latin typeface="BLS Text" panose="00000500000000000000" pitchFamily="2" charset="-34"/>
                <a:cs typeface="BLS Text" pitchFamily="2" charset="-34"/>
              </a:rPr>
              <a:t>และส่วนต่างปิโตรเคมี (</a:t>
            </a:r>
            <a:r>
              <a:rPr lang="en-US" sz="880" dirty="0">
                <a:solidFill>
                  <a:schemeClr val="tx1">
                    <a:lumMod val="65000"/>
                    <a:lumOff val="35000"/>
                  </a:schemeClr>
                </a:solidFill>
                <a:latin typeface="BLS Text" panose="00000500000000000000" pitchFamily="2" charset="-34"/>
                <a:cs typeface="BLS Text" pitchFamily="2" charset="-34"/>
              </a:rPr>
              <a:t>chemical spreads)</a:t>
            </a:r>
            <a:r>
              <a:rPr lang="th-TH" sz="880" dirty="0">
                <a:solidFill>
                  <a:schemeClr val="tx1">
                    <a:lumMod val="65000"/>
                    <a:lumOff val="35000"/>
                  </a:schemeClr>
                </a:solidFill>
                <a:latin typeface="BLS Text" panose="00000500000000000000" pitchFamily="2" charset="-34"/>
                <a:cs typeface="BLS Text" pitchFamily="2" charset="-34"/>
              </a:rPr>
              <a:t> ขณะเดียวกัน กลุ่มอิเล็กทรอนิกส์ยังได้รับแรงหนุนจากอุปสงค์ด้าน </a:t>
            </a:r>
            <a:r>
              <a:rPr lang="en-US" sz="880" dirty="0">
                <a:solidFill>
                  <a:schemeClr val="tx1">
                    <a:lumMod val="65000"/>
                    <a:lumOff val="35000"/>
                  </a:schemeClr>
                </a:solidFill>
                <a:latin typeface="BLS Text" panose="00000500000000000000" pitchFamily="2" charset="-34"/>
                <a:cs typeface="BLS Text" pitchFamily="2" charset="-34"/>
              </a:rPr>
              <a:t>AI </a:t>
            </a:r>
            <a:r>
              <a:rPr lang="th-TH" sz="880" dirty="0">
                <a:solidFill>
                  <a:schemeClr val="tx1">
                    <a:lumMod val="65000"/>
                    <a:lumOff val="35000"/>
                  </a:schemeClr>
                </a:solidFill>
                <a:latin typeface="BLS Text" panose="00000500000000000000" pitchFamily="2" charset="-34"/>
                <a:cs typeface="BLS Text" pitchFamily="2" charset="-34"/>
              </a:rPr>
              <a:t>และ </a:t>
            </a:r>
            <a:r>
              <a:rPr lang="en-US" sz="880" dirty="0">
                <a:solidFill>
                  <a:schemeClr val="tx1">
                    <a:lumMod val="65000"/>
                    <a:lumOff val="35000"/>
                  </a:schemeClr>
                </a:solidFill>
                <a:latin typeface="BLS Text" panose="00000500000000000000" pitchFamily="2" charset="-34"/>
                <a:cs typeface="BLS Text" pitchFamily="2" charset="-34"/>
              </a:rPr>
              <a:t>data center </a:t>
            </a:r>
            <a:r>
              <a:rPr lang="th-TH" sz="880" dirty="0">
                <a:solidFill>
                  <a:schemeClr val="tx1">
                    <a:lumMod val="65000"/>
                    <a:lumOff val="35000"/>
                  </a:schemeClr>
                </a:solidFill>
                <a:latin typeface="BLS Text" panose="00000500000000000000" pitchFamily="2" charset="-34"/>
                <a:cs typeface="BLS Text" pitchFamily="2" charset="-34"/>
              </a:rPr>
              <a:t>ที่แข็งแกร่ง (</a:t>
            </a:r>
            <a:r>
              <a:rPr lang="en-US" sz="880" dirty="0">
                <a:solidFill>
                  <a:schemeClr val="tx1">
                    <a:lumMod val="65000"/>
                    <a:lumOff val="35000"/>
                  </a:schemeClr>
                </a:solidFill>
                <a:latin typeface="BLS Text" panose="00000500000000000000" pitchFamily="2" charset="-34"/>
                <a:cs typeface="BLS Text" pitchFamily="2" charset="-34"/>
              </a:rPr>
              <a:t>AI-driven demand)</a:t>
            </a:r>
            <a:r>
              <a:rPr lang="th-TH" sz="880" dirty="0">
                <a:solidFill>
                  <a:schemeClr val="tx1">
                    <a:lumMod val="65000"/>
                    <a:lumOff val="35000"/>
                  </a:schemeClr>
                </a:solidFill>
                <a:latin typeface="BLS Text" panose="00000500000000000000" pitchFamily="2" charset="-34"/>
                <a:cs typeface="BLS Text" pitchFamily="2" charset="-34"/>
              </a:rPr>
              <a:t> ในทางตรงกันข้าม กลุ่มที่มีความอ่อนไหวต่อต้นทุนพลังงาน (</a:t>
            </a:r>
            <a:r>
              <a:rPr lang="en-US" sz="880" dirty="0">
                <a:solidFill>
                  <a:schemeClr val="tx1">
                    <a:lumMod val="65000"/>
                    <a:lumOff val="35000"/>
                  </a:schemeClr>
                </a:solidFill>
                <a:latin typeface="BLS Text" panose="00000500000000000000" pitchFamily="2" charset="-34"/>
                <a:cs typeface="BLS Text" pitchFamily="2" charset="-34"/>
              </a:rPr>
              <a:t>energy-sensitive sectors) </a:t>
            </a:r>
            <a:r>
              <a:rPr lang="th-TH" sz="880" dirty="0">
                <a:solidFill>
                  <a:schemeClr val="tx1">
                    <a:lumMod val="65000"/>
                    <a:lumOff val="35000"/>
                  </a:schemeClr>
                </a:solidFill>
                <a:latin typeface="BLS Text" panose="00000500000000000000" pitchFamily="2" charset="-34"/>
                <a:cs typeface="BLS Text" pitchFamily="2" charset="-34"/>
              </a:rPr>
              <a:t>เริ่มเผชิญการปรับลดประมาณการกำไร (</a:t>
            </a:r>
            <a:r>
              <a:rPr lang="en-US" sz="880" dirty="0">
                <a:solidFill>
                  <a:schemeClr val="tx1">
                    <a:lumMod val="65000"/>
                    <a:lumOff val="35000"/>
                  </a:schemeClr>
                </a:solidFill>
                <a:latin typeface="BLS Text" panose="00000500000000000000" pitchFamily="2" charset="-34"/>
                <a:cs typeface="BLS Text" pitchFamily="2" charset="-34"/>
              </a:rPr>
              <a:t>earnings downgrade) </a:t>
            </a:r>
            <a:r>
              <a:rPr lang="th-TH" sz="880" dirty="0">
                <a:solidFill>
                  <a:schemeClr val="tx1">
                    <a:lumMod val="65000"/>
                    <a:lumOff val="35000"/>
                  </a:schemeClr>
                </a:solidFill>
                <a:latin typeface="BLS Text" panose="00000500000000000000" pitchFamily="2" charset="-34"/>
                <a:cs typeface="BLS Text" pitchFamily="2" charset="-34"/>
              </a:rPr>
              <a:t>อาทิ กลุ่มสายการบิน (</a:t>
            </a:r>
            <a:r>
              <a:rPr lang="en-US" sz="880" dirty="0">
                <a:solidFill>
                  <a:schemeClr val="tx1">
                    <a:lumMod val="65000"/>
                    <a:lumOff val="35000"/>
                  </a:schemeClr>
                </a:solidFill>
                <a:latin typeface="BLS Text" panose="00000500000000000000" pitchFamily="2" charset="-34"/>
                <a:cs typeface="BLS Text" pitchFamily="2" charset="-34"/>
              </a:rPr>
              <a:t>airlines) </a:t>
            </a:r>
            <a:r>
              <a:rPr lang="th-TH" sz="880" dirty="0">
                <a:solidFill>
                  <a:schemeClr val="tx1">
                    <a:lumMod val="65000"/>
                    <a:lumOff val="35000"/>
                  </a:schemeClr>
                </a:solidFill>
                <a:latin typeface="BLS Text" panose="00000500000000000000" pitchFamily="2" charset="-34"/>
                <a:cs typeface="BLS Text" pitchFamily="2" charset="-34"/>
              </a:rPr>
              <a:t>รวมถึงกลุ่มที่เชื่อมโยงการบริโภคในประเทศ เช่น ค้าปลีก อสังหาริมทรัพย์ และการเงิน ซึ่งสะท้อนแรงกดดันจากต้นทุนพลังงานและค่าครองชีพที่เพิ่มขึ้น </a:t>
            </a:r>
          </a:p>
          <a:p>
            <a:pPr algn="thaiDist">
              <a:lnSpc>
                <a:spcPct val="120000"/>
              </a:lnSpc>
              <a:spcBef>
                <a:spcPts val="400"/>
              </a:spcBef>
              <a:buSzPct val="120000"/>
            </a:pPr>
            <a:r>
              <a:rPr lang="th-TH" sz="880" b="1" dirty="0">
                <a:solidFill>
                  <a:schemeClr val="tx1">
                    <a:lumMod val="65000"/>
                    <a:lumOff val="35000"/>
                  </a:schemeClr>
                </a:solidFill>
                <a:latin typeface="BLS Text" panose="00000500000000000000" pitchFamily="2" charset="-34"/>
                <a:cs typeface="BLS Text" pitchFamily="2" charset="-34"/>
              </a:rPr>
              <a:t>แต่ </a:t>
            </a:r>
            <a:r>
              <a:rPr lang="en-US" sz="880" b="1" dirty="0">
                <a:solidFill>
                  <a:schemeClr val="tx1">
                    <a:lumMod val="65000"/>
                    <a:lumOff val="35000"/>
                  </a:schemeClr>
                </a:solidFill>
                <a:latin typeface="BLS Text" panose="00000500000000000000" pitchFamily="2" charset="-34"/>
                <a:cs typeface="BLS Text" pitchFamily="2" charset="-34"/>
              </a:rPr>
              <a:t>Downside</a:t>
            </a:r>
            <a:r>
              <a:rPr lang="th-TH" sz="880" b="1" dirty="0">
                <a:solidFill>
                  <a:schemeClr val="tx1">
                    <a:lumMod val="65000"/>
                    <a:lumOff val="35000"/>
                  </a:schemeClr>
                </a:solidFill>
                <a:latin typeface="BLS Text" panose="00000500000000000000" pitchFamily="2" charset="-34"/>
                <a:cs typeface="BLS Text" pitchFamily="2" charset="-34"/>
              </a:rPr>
              <a:t> จำกัดหลังทิศทางกำไรหุ้นขนาดใหญ่ยังแข็งแกร่ง</a:t>
            </a:r>
            <a:r>
              <a:rPr lang="en-US" sz="880" b="1" dirty="0">
                <a:solidFill>
                  <a:schemeClr val="tx1">
                    <a:lumMod val="65000"/>
                    <a:lumOff val="35000"/>
                  </a:schemeClr>
                </a:solidFill>
                <a:latin typeface="BLS Text" panose="00000500000000000000" pitchFamily="2" charset="-34"/>
                <a:cs typeface="BLS Text" pitchFamily="2" charset="-34"/>
              </a:rPr>
              <a:t>:</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แม้สัญญาณเชิง </a:t>
            </a:r>
            <a:r>
              <a:rPr lang="en-US" sz="880" dirty="0">
                <a:solidFill>
                  <a:schemeClr val="tx1">
                    <a:lumMod val="65000"/>
                    <a:lumOff val="35000"/>
                  </a:schemeClr>
                </a:solidFill>
                <a:latin typeface="BLS Text" panose="00000500000000000000" pitchFamily="2" charset="-34"/>
                <a:cs typeface="BLS Text" pitchFamily="2" charset="-34"/>
              </a:rPr>
              <a:t>breadth </a:t>
            </a:r>
            <a:r>
              <a:rPr lang="th-TH" sz="880" dirty="0">
                <a:solidFill>
                  <a:schemeClr val="tx1">
                    <a:lumMod val="65000"/>
                    <a:lumOff val="35000"/>
                  </a:schemeClr>
                </a:solidFill>
                <a:latin typeface="BLS Text" panose="00000500000000000000" pitchFamily="2" charset="-34"/>
                <a:cs typeface="BLS Text" pitchFamily="2" charset="-34"/>
              </a:rPr>
              <a:t>จะเริ่มอ่อนแรง แต่ </a:t>
            </a:r>
            <a:r>
              <a:rPr lang="en-US" sz="880" dirty="0">
                <a:solidFill>
                  <a:schemeClr val="tx1">
                    <a:lumMod val="65000"/>
                    <a:lumOff val="35000"/>
                  </a:schemeClr>
                </a:solidFill>
                <a:latin typeface="BLS Text" panose="00000500000000000000" pitchFamily="2" charset="-34"/>
                <a:cs typeface="BLS Text" pitchFamily="2" charset="-34"/>
              </a:rPr>
              <a:t>downside </a:t>
            </a:r>
            <a:r>
              <a:rPr lang="th-TH" sz="880" dirty="0">
                <a:solidFill>
                  <a:schemeClr val="tx1">
                    <a:lumMod val="65000"/>
                    <a:lumOff val="35000"/>
                  </a:schemeClr>
                </a:solidFill>
                <a:latin typeface="BLS Text" panose="00000500000000000000" pitchFamily="2" charset="-34"/>
                <a:cs typeface="BLS Text" pitchFamily="2" charset="-34"/>
              </a:rPr>
              <a:t>ของตลาดยังค่อนข้างจำกัด เนื่องจากหุ้นที่มีการปรับประมาณการกำไรขึ้นในช่วง 1 เดือนที่ผ่านมา คิดเป็นสัดส่วนสูงถึง 55.3% ของมูลค่าตลาด (</a:t>
            </a:r>
            <a:r>
              <a:rPr lang="en-US" sz="880" dirty="0">
                <a:solidFill>
                  <a:schemeClr val="tx1">
                    <a:lumMod val="65000"/>
                    <a:lumOff val="35000"/>
                  </a:schemeClr>
                </a:solidFill>
                <a:latin typeface="BLS Text" panose="00000500000000000000" pitchFamily="2" charset="-34"/>
                <a:cs typeface="BLS Text" pitchFamily="2" charset="-34"/>
              </a:rPr>
              <a:t>market cap) </a:t>
            </a:r>
            <a:r>
              <a:rPr lang="th-TH" sz="880" dirty="0">
                <a:solidFill>
                  <a:schemeClr val="tx1">
                    <a:lumMod val="65000"/>
                    <a:lumOff val="35000"/>
                  </a:schemeClr>
                </a:solidFill>
                <a:latin typeface="BLS Text" panose="00000500000000000000" pitchFamily="2" charset="-34"/>
                <a:cs typeface="BLS Text" pitchFamily="2" charset="-34"/>
              </a:rPr>
              <a:t>ของ </a:t>
            </a:r>
            <a:r>
              <a:rPr lang="en-US" sz="880" dirty="0">
                <a:solidFill>
                  <a:schemeClr val="tx1">
                    <a:lumMod val="65000"/>
                    <a:lumOff val="35000"/>
                  </a:schemeClr>
                </a:solidFill>
                <a:latin typeface="BLS Text" panose="00000500000000000000" pitchFamily="2" charset="-34"/>
                <a:cs typeface="BLS Text" pitchFamily="2" charset="-34"/>
              </a:rPr>
              <a:t>SET </a:t>
            </a:r>
            <a:r>
              <a:rPr lang="th-TH" sz="880" dirty="0">
                <a:solidFill>
                  <a:schemeClr val="tx1">
                    <a:lumMod val="65000"/>
                    <a:lumOff val="35000"/>
                  </a:schemeClr>
                </a:solidFill>
                <a:latin typeface="BLS Text" panose="00000500000000000000" pitchFamily="2" charset="-34"/>
                <a:cs typeface="BLS Text" pitchFamily="2" charset="-34"/>
              </a:rPr>
              <a:t>และหากพิจารณาหุ้นที่มีแนวโน้มกำไรไตรมาส 2 เติบโต </a:t>
            </a:r>
            <a:r>
              <a:rPr lang="en-US" sz="880" dirty="0">
                <a:solidFill>
                  <a:schemeClr val="tx1">
                    <a:lumMod val="65000"/>
                    <a:lumOff val="35000"/>
                  </a:schemeClr>
                </a:solidFill>
                <a:latin typeface="BLS Text" panose="00000500000000000000" pitchFamily="2" charset="-34"/>
                <a:cs typeface="BLS Text" pitchFamily="2" charset="-34"/>
              </a:rPr>
              <a:t>YoY </a:t>
            </a:r>
            <a:r>
              <a:rPr lang="th-TH" sz="880" dirty="0">
                <a:solidFill>
                  <a:schemeClr val="tx1">
                    <a:lumMod val="65000"/>
                    <a:lumOff val="35000"/>
                  </a:schemeClr>
                </a:solidFill>
                <a:latin typeface="BLS Text" panose="00000500000000000000" pitchFamily="2" charset="-34"/>
                <a:cs typeface="BLS Text" pitchFamily="2" charset="-34"/>
              </a:rPr>
              <a:t>จะครอบคลุมราว 48.8% ของ </a:t>
            </a:r>
            <a:r>
              <a:rPr lang="en-US" sz="880" dirty="0">
                <a:solidFill>
                  <a:schemeClr val="tx1">
                    <a:lumMod val="65000"/>
                    <a:lumOff val="35000"/>
                  </a:schemeClr>
                </a:solidFill>
                <a:latin typeface="BLS Text" panose="00000500000000000000" pitchFamily="2" charset="-34"/>
                <a:cs typeface="BLS Text" pitchFamily="2" charset="-34"/>
              </a:rPr>
              <a:t>market cap</a:t>
            </a:r>
            <a:r>
              <a:rPr lang="th-TH" sz="880" dirty="0">
                <a:solidFill>
                  <a:schemeClr val="tx1">
                    <a:lumMod val="65000"/>
                    <a:lumOff val="35000"/>
                  </a:schemeClr>
                </a:solidFill>
                <a:latin typeface="BLS Text" panose="00000500000000000000" pitchFamily="2" charset="-34"/>
                <a:cs typeface="BLS Text" pitchFamily="2" charset="-34"/>
              </a:rPr>
              <a:t>นำโดยหุ้นขนาดใหญ่ เช่น </a:t>
            </a:r>
            <a:r>
              <a:rPr lang="en-US" sz="880" dirty="0">
                <a:solidFill>
                  <a:schemeClr val="tx1">
                    <a:lumMod val="65000"/>
                    <a:lumOff val="35000"/>
                  </a:schemeClr>
                </a:solidFill>
                <a:latin typeface="BLS Text" panose="00000500000000000000" pitchFamily="2" charset="-34"/>
                <a:cs typeface="BLS Text" pitchFamily="2" charset="-34"/>
              </a:rPr>
              <a:t>PTTGC ( </a:t>
            </a:r>
            <a:r>
              <a:rPr lang="th-TH" sz="880" dirty="0">
                <a:solidFill>
                  <a:schemeClr val="tx1">
                    <a:lumMod val="65000"/>
                    <a:lumOff val="35000"/>
                  </a:schemeClr>
                </a:solidFill>
                <a:latin typeface="BLS Text" panose="00000500000000000000" pitchFamily="2" charset="-34"/>
                <a:cs typeface="BLS Text" pitchFamily="2" charset="-34"/>
              </a:rPr>
              <a:t>ปรับประมาณการกำไรขึ้น </a:t>
            </a:r>
            <a:r>
              <a:rPr lang="en-US" sz="880" dirty="0">
                <a:solidFill>
                  <a:schemeClr val="tx1">
                    <a:lumMod val="65000"/>
                    <a:lumOff val="35000"/>
                  </a:schemeClr>
                </a:solidFill>
                <a:latin typeface="BLS Text" panose="00000500000000000000" pitchFamily="2" charset="-34"/>
                <a:cs typeface="BLS Text" pitchFamily="2" charset="-34"/>
              </a:rPr>
              <a:t>+77.3%</a:t>
            </a:r>
            <a:r>
              <a:rPr lang="th-TH" sz="880" dirty="0">
                <a:solidFill>
                  <a:schemeClr val="tx1">
                    <a:lumMod val="65000"/>
                    <a:lumOff val="35000"/>
                  </a:schemeClr>
                </a:solidFill>
                <a:latin typeface="BLS Text" panose="00000500000000000000" pitchFamily="2" charset="-34"/>
                <a:cs typeface="BLS Text" pitchFamily="2" charset="-34"/>
              </a:rPr>
              <a:t> ใน 1 เดือนที่ผ่านมา</a:t>
            </a:r>
            <a:r>
              <a:rPr lang="en-US" sz="880" dirty="0">
                <a:solidFill>
                  <a:schemeClr val="tx1">
                    <a:lumMod val="65000"/>
                    <a:lumOff val="35000"/>
                  </a:schemeClr>
                </a:solidFill>
                <a:latin typeface="BLS Text" panose="00000500000000000000" pitchFamily="2" charset="-34"/>
                <a:cs typeface="BLS Text" pitchFamily="2" charset="-34"/>
              </a:rPr>
              <a:t>), TOP (+15.8%), PTTEP (+13.2%), SCC (+6.5%), DELTA (+3.9%), PTT (+2.4%), TRUE (+1.3%), GULF (+1.3%)</a:t>
            </a:r>
          </a:p>
          <a:p>
            <a:pPr algn="thaiDist">
              <a:lnSpc>
                <a:spcPct val="120000"/>
              </a:lnSpc>
              <a:spcBef>
                <a:spcPts val="400"/>
              </a:spcBef>
              <a:buSzPct val="120000"/>
            </a:pPr>
            <a:r>
              <a:rPr lang="en-US" sz="880" b="1" dirty="0">
                <a:solidFill>
                  <a:schemeClr val="tx1">
                    <a:lumMod val="65000"/>
                    <a:lumOff val="35000"/>
                  </a:schemeClr>
                </a:solidFill>
                <a:latin typeface="BLS Text" panose="00000500000000000000" pitchFamily="2" charset="-34"/>
                <a:cs typeface="BLS Text" pitchFamily="2" charset="-34"/>
              </a:rPr>
              <a:t>Strategy: Selective Buy </a:t>
            </a:r>
            <a:r>
              <a:rPr lang="th-TH" sz="880" b="1" dirty="0">
                <a:solidFill>
                  <a:schemeClr val="tx1">
                    <a:lumMod val="65000"/>
                    <a:lumOff val="35000"/>
                  </a:schemeClr>
                </a:solidFill>
                <a:latin typeface="BLS Text" panose="00000500000000000000" pitchFamily="2" charset="-34"/>
                <a:cs typeface="BLS Text" pitchFamily="2" charset="-34"/>
              </a:rPr>
              <a:t>ภายใต้กรอบดัชนี 14</a:t>
            </a:r>
            <a:r>
              <a:rPr lang="en-US" sz="880" b="1" dirty="0">
                <a:solidFill>
                  <a:schemeClr val="tx1">
                    <a:lumMod val="65000"/>
                    <a:lumOff val="35000"/>
                  </a:schemeClr>
                </a:solidFill>
                <a:latin typeface="BLS Text" panose="00000500000000000000" pitchFamily="2" charset="-34"/>
                <a:cs typeface="BLS Text" pitchFamily="2" charset="-34"/>
              </a:rPr>
              <a:t>4</a:t>
            </a:r>
            <a:r>
              <a:rPr lang="th-TH" sz="880" b="1" dirty="0">
                <a:solidFill>
                  <a:schemeClr val="tx1">
                    <a:lumMod val="65000"/>
                    <a:lumOff val="35000"/>
                  </a:schemeClr>
                </a:solidFill>
                <a:latin typeface="BLS Text" panose="00000500000000000000" pitchFamily="2" charset="-34"/>
                <a:cs typeface="BLS Text" pitchFamily="2" charset="-34"/>
              </a:rPr>
              <a:t>0–1530 จุด</a:t>
            </a:r>
            <a:r>
              <a:rPr lang="en-US" sz="880" b="1" dirty="0">
                <a:solidFill>
                  <a:schemeClr val="tx1">
                    <a:lumMod val="65000"/>
                    <a:lumOff val="35000"/>
                  </a:schemeClr>
                </a:solidFill>
                <a:latin typeface="BLS Text" panose="00000500000000000000" pitchFamily="2" charset="-34"/>
                <a:cs typeface="BLS Text" pitchFamily="2" charset="-34"/>
              </a:rPr>
              <a:t>:</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ภายใต้ภาวะ “</a:t>
            </a:r>
            <a:r>
              <a:rPr lang="en-US" sz="880" dirty="0">
                <a:solidFill>
                  <a:schemeClr val="tx1">
                    <a:lumMod val="65000"/>
                    <a:lumOff val="35000"/>
                  </a:schemeClr>
                </a:solidFill>
                <a:latin typeface="BLS Text" panose="00000500000000000000" pitchFamily="2" charset="-34"/>
                <a:cs typeface="BLS Text" pitchFamily="2" charset="-34"/>
              </a:rPr>
              <a:t>downside </a:t>
            </a:r>
            <a:r>
              <a:rPr lang="th-TH" sz="880" dirty="0">
                <a:solidFill>
                  <a:schemeClr val="tx1">
                    <a:lumMod val="65000"/>
                    <a:lumOff val="35000"/>
                  </a:schemeClr>
                </a:solidFill>
                <a:latin typeface="BLS Text" panose="00000500000000000000" pitchFamily="2" charset="-34"/>
                <a:cs typeface="BLS Text" pitchFamily="2" charset="-34"/>
              </a:rPr>
              <a:t>จำกัด แต่ </a:t>
            </a:r>
            <a:r>
              <a:rPr lang="en-US" sz="880" dirty="0">
                <a:solidFill>
                  <a:schemeClr val="tx1">
                    <a:lumMod val="65000"/>
                    <a:lumOff val="35000"/>
                  </a:schemeClr>
                </a:solidFill>
                <a:latin typeface="BLS Text" panose="00000500000000000000" pitchFamily="2" charset="-34"/>
                <a:cs typeface="BLS Text" pitchFamily="2" charset="-34"/>
              </a:rPr>
              <a:t>upside </a:t>
            </a:r>
            <a:r>
              <a:rPr lang="th-TH" sz="880" dirty="0">
                <a:solidFill>
                  <a:schemeClr val="tx1">
                    <a:lumMod val="65000"/>
                    <a:lumOff val="35000"/>
                  </a:schemeClr>
                </a:solidFill>
                <a:latin typeface="BLS Text" panose="00000500000000000000" pitchFamily="2" charset="-34"/>
                <a:cs typeface="BLS Text" pitchFamily="2" charset="-34"/>
              </a:rPr>
              <a:t>ยังไม่เปิด” โดย นโยบายภาครัฐ (</a:t>
            </a:r>
            <a:r>
              <a:rPr lang="en-US" sz="880" dirty="0">
                <a:solidFill>
                  <a:schemeClr val="tx1">
                    <a:lumMod val="65000"/>
                    <a:lumOff val="35000"/>
                  </a:schemeClr>
                </a:solidFill>
                <a:latin typeface="BLS Text" panose="00000500000000000000" pitchFamily="2" charset="-34"/>
                <a:cs typeface="BLS Text" pitchFamily="2" charset="-34"/>
              </a:rPr>
              <a:t>policy support) </a:t>
            </a:r>
            <a:r>
              <a:rPr lang="th-TH" sz="880" dirty="0">
                <a:solidFill>
                  <a:schemeClr val="tx1">
                    <a:lumMod val="65000"/>
                    <a:lumOff val="35000"/>
                  </a:schemeClr>
                </a:solidFill>
                <a:latin typeface="BLS Text" panose="00000500000000000000" pitchFamily="2" charset="-34"/>
                <a:cs typeface="BLS Text" pitchFamily="2" charset="-34"/>
              </a:rPr>
              <a:t>และ ทิศทางเศรษฐกิจมหภาค (</a:t>
            </a:r>
            <a:r>
              <a:rPr lang="en-US" sz="880" dirty="0">
                <a:solidFill>
                  <a:schemeClr val="tx1">
                    <a:lumMod val="65000"/>
                    <a:lumOff val="35000"/>
                  </a:schemeClr>
                </a:solidFill>
                <a:latin typeface="BLS Text" panose="00000500000000000000" pitchFamily="2" charset="-34"/>
                <a:cs typeface="BLS Text" pitchFamily="2" charset="-34"/>
              </a:rPr>
              <a:t>macro trajectory) </a:t>
            </a:r>
            <a:r>
              <a:rPr lang="th-TH" sz="880" dirty="0">
                <a:solidFill>
                  <a:schemeClr val="tx1">
                    <a:lumMod val="65000"/>
                    <a:lumOff val="35000"/>
                  </a:schemeClr>
                </a:solidFill>
                <a:latin typeface="BLS Text" panose="00000500000000000000" pitchFamily="2" charset="-34"/>
                <a:cs typeface="BLS Text" pitchFamily="2" charset="-34"/>
              </a:rPr>
              <a:t>จะเป็นตัวแปรหลักในการพยุงตลาด ท่ามกลางแรงกดดันจากต้นทุนพลังงานและการชะลอของกำไรในบางอุตสาหกรรม</a:t>
            </a:r>
            <a:endParaRPr lang="th-TH" sz="880" b="1" dirty="0">
              <a:solidFill>
                <a:schemeClr val="tx1">
                  <a:lumMod val="65000"/>
                  <a:lumOff val="35000"/>
                </a:schemeClr>
              </a:solidFill>
              <a:latin typeface="BLS Text" panose="00000500000000000000" pitchFamily="2" charset="-34"/>
              <a:cs typeface="BLS Text" pitchFamily="2" charset="-34"/>
            </a:endParaRP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486141"/>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2502E5-C5C0-5A6F-CB5B-DCB193609D62}"/>
              </a:ext>
            </a:extLst>
          </p:cNvPr>
          <p:cNvSpPr txBox="1"/>
          <p:nvPr/>
        </p:nvSpPr>
        <p:spPr>
          <a:xfrm>
            <a:off x="5733256" y="8272983"/>
            <a:ext cx="1336421" cy="221599"/>
          </a:xfrm>
          <a:prstGeom prst="rect">
            <a:avLst/>
          </a:prstGeom>
          <a:noFill/>
        </p:spPr>
        <p:txBody>
          <a:bodyPr wrap="square">
            <a:spAutoFit/>
          </a:bodyPr>
          <a:lstStyle/>
          <a:p>
            <a:pPr algn="thaiDist">
              <a:lnSpc>
                <a:spcPct val="120000"/>
              </a:lnSpc>
              <a:spcBef>
                <a:spcPts val="400"/>
              </a:spcBef>
              <a:buSzPct val="120000"/>
            </a:pPr>
            <a:r>
              <a:rPr lang="en-US" sz="700" dirty="0">
                <a:solidFill>
                  <a:schemeClr val="tx2"/>
                </a:solidFill>
                <a:latin typeface="BLS Text" panose="00000500000000000000" pitchFamily="2" charset="-34"/>
                <a:cs typeface="BLS Text" pitchFamily="2" charset="-34"/>
              </a:rPr>
              <a:t>(</a:t>
            </a:r>
            <a:r>
              <a:rPr lang="th-TH" sz="700" dirty="0">
                <a:solidFill>
                  <a:schemeClr val="tx2"/>
                </a:solidFill>
                <a:latin typeface="BLS Text" panose="00000500000000000000" pitchFamily="2" charset="-34"/>
                <a:cs typeface="BLS Text" pitchFamily="2" charset="-34"/>
              </a:rPr>
              <a:t>รายละเอียดในหน้า 2-3</a:t>
            </a:r>
            <a:r>
              <a:rPr lang="en-US" sz="700" dirty="0">
                <a:solidFill>
                  <a:schemeClr val="tx2"/>
                </a:solidFill>
                <a:latin typeface="BLS Text" panose="00000500000000000000" pitchFamily="2" charset="-34"/>
                <a:cs typeface="BLS Text" pitchFamily="2" charset="-34"/>
              </a:rPr>
              <a:t>)</a:t>
            </a:r>
          </a:p>
        </p:txBody>
      </p:sp>
      <p:graphicFrame>
        <p:nvGraphicFramePr>
          <p:cNvPr id="7" name="Table 6">
            <a:extLst>
              <a:ext uri="{FF2B5EF4-FFF2-40B4-BE49-F238E27FC236}">
                <a16:creationId xmlns:a16="http://schemas.microsoft.com/office/drawing/2014/main" id="{6BFF4FD1-1DD5-CE8F-8315-80520AC2682E}"/>
              </a:ext>
            </a:extLst>
          </p:cNvPr>
          <p:cNvGraphicFramePr>
            <a:graphicFrameLocks noGrp="1"/>
          </p:cNvGraphicFramePr>
          <p:nvPr>
            <p:extLst>
              <p:ext uri="{D42A27DB-BD31-4B8C-83A1-F6EECF244321}">
                <p14:modId xmlns:p14="http://schemas.microsoft.com/office/powerpoint/2010/main" val="1482130251"/>
              </p:ext>
            </p:extLst>
          </p:nvPr>
        </p:nvGraphicFramePr>
        <p:xfrm>
          <a:off x="3992636" y="5148064"/>
          <a:ext cx="2758776" cy="3154851"/>
        </p:xfrm>
        <a:graphic>
          <a:graphicData uri="http://schemas.openxmlformats.org/drawingml/2006/table">
            <a:tbl>
              <a:tblPr bandRow="1">
                <a:tableStyleId>{3B4B98B0-60AC-42C2-AFA5-B58CD77FA1E5}</a:tableStyleId>
              </a:tblPr>
              <a:tblGrid>
                <a:gridCol w="2123996">
                  <a:extLst>
                    <a:ext uri="{9D8B030D-6E8A-4147-A177-3AD203B41FA5}">
                      <a16:colId xmlns:a16="http://schemas.microsoft.com/office/drawing/2014/main" val="1245123072"/>
                    </a:ext>
                  </a:extLst>
                </a:gridCol>
                <a:gridCol w="634780">
                  <a:extLst>
                    <a:ext uri="{9D8B030D-6E8A-4147-A177-3AD203B41FA5}">
                      <a16:colId xmlns:a16="http://schemas.microsoft.com/office/drawing/2014/main" val="2306194084"/>
                    </a:ext>
                  </a:extLst>
                </a:gridCol>
              </a:tblGrid>
              <a:tr h="135425">
                <a:tc>
                  <a:txBody>
                    <a:bodyPr/>
                    <a:lstStyle/>
                    <a:p>
                      <a:pPr algn="ctr"/>
                      <a:r>
                        <a:rPr lang="th-TH" sz="800" b="1" dirty="0">
                          <a:solidFill>
                            <a:schemeClr val="bg1"/>
                          </a:solidFill>
                          <a:latin typeface="BLS Text" panose="00000500000000000000" pitchFamily="2" charset="-34"/>
                          <a:cs typeface="BLS Text" panose="00000500000000000000" pitchFamily="2" charset="-34"/>
                        </a:rPr>
                        <a:t>โอกาส</a:t>
                      </a:r>
                    </a:p>
                  </a:txBody>
                  <a:tcPr marL="7982" marR="7982" marT="3991" marB="3991" anchor="ctr">
                    <a:solidFill>
                      <a:srgbClr val="215968"/>
                    </a:solidFill>
                  </a:tcPr>
                </a:tc>
                <a:tc>
                  <a:txBody>
                    <a:bodyPr/>
                    <a:lstStyle/>
                    <a:p>
                      <a:pPr algn="ctr"/>
                      <a:r>
                        <a:rPr lang="th-TH" sz="800" b="1" dirty="0">
                          <a:solidFill>
                            <a:schemeClr val="bg1"/>
                          </a:solidFill>
                          <a:latin typeface="BLS Text" panose="00000500000000000000" pitchFamily="2" charset="-34"/>
                          <a:cs typeface="BLS Text" panose="00000500000000000000" pitchFamily="2" charset="-34"/>
                        </a:rPr>
                        <a:t>หุ้นได้ประโยชน์</a:t>
                      </a:r>
                    </a:p>
                  </a:txBody>
                  <a:tcPr marL="7982" marR="7982" marT="3991" marB="3991" anchor="ctr">
                    <a:solidFill>
                      <a:srgbClr val="215968"/>
                    </a:solidFill>
                  </a:tcPr>
                </a:tc>
                <a:extLst>
                  <a:ext uri="{0D108BD9-81ED-4DB2-BD59-A6C34878D82A}">
                    <a16:rowId xmlns:a16="http://schemas.microsoft.com/office/drawing/2014/main" val="4035294127"/>
                  </a:ext>
                </a:extLst>
              </a:tr>
              <a:tr h="389634">
                <a:tc>
                  <a:txBody>
                    <a:bodyPr/>
                    <a:lstStyle/>
                    <a:p>
                      <a:pPr algn="ctr"/>
                      <a:r>
                        <a:rPr lang="th-TH" sz="900" b="1" dirty="0">
                          <a:solidFill>
                            <a:schemeClr val="accent1"/>
                          </a:solidFill>
                          <a:latin typeface="BLS Text" panose="00000500000000000000" pitchFamily="2" charset="-34"/>
                          <a:cs typeface="BLS Text" panose="00000500000000000000" pitchFamily="2" charset="-34"/>
                        </a:rPr>
                        <a:t>วัฏจักรการลงทุนรอบใหม่ของไทย </a:t>
                      </a:r>
                      <a:r>
                        <a:rPr lang="en-US" sz="900" b="1" dirty="0">
                          <a:solidFill>
                            <a:schemeClr val="accent1"/>
                          </a:solidFill>
                          <a:latin typeface="BLS Text" panose="00000500000000000000" pitchFamily="2" charset="-34"/>
                          <a:cs typeface="BLS Text" panose="00000500000000000000" pitchFamily="2" charset="-34"/>
                        </a:rPr>
                        <a:t>-</a:t>
                      </a:r>
                      <a:r>
                        <a:rPr lang="th-TH" sz="900" b="1" dirty="0">
                          <a:solidFill>
                            <a:schemeClr val="accent1"/>
                          </a:solidFill>
                          <a:latin typeface="BLS Text" panose="00000500000000000000" pitchFamily="2" charset="-34"/>
                          <a:cs typeface="BLS Text" panose="00000500000000000000" pitchFamily="2" charset="-34"/>
                        </a:rPr>
                        <a:t>      มาตรการรัฐฯ หนุนธุรกิจโซลาร์รูฟ</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Investment Cycle – FDI-driven Flow)</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GULF, WHA, GUNKUL,</a:t>
                      </a:r>
                      <a:r>
                        <a:rPr lang="th-TH" sz="800" b="1" dirty="0">
                          <a:latin typeface="BLS Text" panose="00000500000000000000" pitchFamily="2" charset="-34"/>
                          <a:cs typeface="BLS Text" panose="00000500000000000000" pitchFamily="2" charset="-34"/>
                        </a:rPr>
                        <a:t> </a:t>
                      </a:r>
                      <a:r>
                        <a:rPr lang="en-US" sz="800" b="1" dirty="0">
                          <a:latin typeface="BLS Text" panose="00000500000000000000" pitchFamily="2" charset="-34"/>
                          <a:cs typeface="BLS Text" panose="00000500000000000000" pitchFamily="2" charset="-34"/>
                        </a:rPr>
                        <a:t>WHAUP</a:t>
                      </a:r>
                    </a:p>
                  </a:txBody>
                  <a:tcPr marL="7982" marR="7982" marT="3991" marB="3991" anchor="ctr"/>
                </a:tc>
                <a:extLst>
                  <a:ext uri="{0D108BD9-81ED-4DB2-BD59-A6C34878D82A}">
                    <a16:rowId xmlns:a16="http://schemas.microsoft.com/office/drawing/2014/main" val="1984291075"/>
                  </a:ext>
                </a:extLst>
              </a:tr>
              <a:tr h="346108">
                <a:tc>
                  <a:txBody>
                    <a:bodyPr/>
                    <a:lstStyle/>
                    <a:p>
                      <a:pPr algn="ctr"/>
                      <a:r>
                        <a:rPr lang="th-TH" sz="900" b="1" dirty="0">
                          <a:solidFill>
                            <a:schemeClr val="accent1"/>
                          </a:solidFill>
                          <a:latin typeface="BLS Text" panose="00000500000000000000" pitchFamily="2" charset="-34"/>
                          <a:cs typeface="BLS Text" panose="00000500000000000000" pitchFamily="2" charset="-34"/>
                        </a:rPr>
                        <a:t>อิเล็กทรอนิกส์โลกขาขึ้น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Global Electronics Upcycle)</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KCE</a:t>
                      </a:r>
                    </a:p>
                    <a:p>
                      <a:pPr algn="ctr"/>
                      <a:r>
                        <a:rPr lang="en-US" sz="700" b="0" dirty="0">
                          <a:solidFill>
                            <a:schemeClr val="tx2"/>
                          </a:solidFill>
                          <a:latin typeface="BLS Text" panose="00000500000000000000" pitchFamily="2" charset="-34"/>
                          <a:cs typeface="BLS Text" panose="00000500000000000000" pitchFamily="2" charset="-34"/>
                        </a:rPr>
                        <a:t>(trading)</a:t>
                      </a:r>
                    </a:p>
                  </a:txBody>
                  <a:tcPr marL="7982" marR="7982" marT="3991" marB="3991" anchor="ctr"/>
                </a:tc>
                <a:extLst>
                  <a:ext uri="{0D108BD9-81ED-4DB2-BD59-A6C34878D82A}">
                    <a16:rowId xmlns:a16="http://schemas.microsoft.com/office/drawing/2014/main" val="2978584856"/>
                  </a:ext>
                </a:extLst>
              </a:tr>
              <a:tr h="389634">
                <a:tc>
                  <a:txBody>
                    <a:bodyPr/>
                    <a:lstStyle/>
                    <a:p>
                      <a:pPr algn="ctr"/>
                      <a:r>
                        <a:rPr lang="th-TH" sz="900" b="1" dirty="0">
                          <a:solidFill>
                            <a:schemeClr val="accent1"/>
                          </a:solidFill>
                          <a:latin typeface="BLS Text" panose="00000500000000000000" pitchFamily="2" charset="-34"/>
                          <a:cs typeface="BLS Text" panose="00000500000000000000" pitchFamily="2" charset="-34"/>
                        </a:rPr>
                        <a:t>ภาวะอุปทานตึงตัวหลังสงคราม-จุดเปลี่ยนของวัฏจักรปิโตรเคมี: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Supply Disruption Beneficiaries)</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PTTGC, IVL</a:t>
                      </a:r>
                    </a:p>
                  </a:txBody>
                  <a:tcPr marL="7982" marR="7982" marT="3991" marB="3991" anchor="ctr"/>
                </a:tc>
                <a:extLst>
                  <a:ext uri="{0D108BD9-81ED-4DB2-BD59-A6C34878D82A}">
                    <a16:rowId xmlns:a16="http://schemas.microsoft.com/office/drawing/2014/main" val="2139658935"/>
                  </a:ext>
                </a:extLst>
              </a:tr>
              <a:tr h="389634">
                <a:tc>
                  <a:txBody>
                    <a:bodyPr/>
                    <a:lstStyle/>
                    <a:p>
                      <a:pPr algn="ctr"/>
                      <a:r>
                        <a:rPr lang="th-TH" sz="900" b="1" dirty="0">
                          <a:solidFill>
                            <a:schemeClr val="accent1"/>
                          </a:solidFill>
                          <a:latin typeface="BLS Text" panose="00000500000000000000" pitchFamily="2" charset="-34"/>
                          <a:cs typeface="BLS Text" panose="00000500000000000000" pitchFamily="2" charset="-34"/>
                        </a:rPr>
                        <a:t>ธนาคารและธุรกิจบริหารความมั่งคั่ง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Wealth Management as New Profit Engine)</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KTB</a:t>
                      </a:r>
                    </a:p>
                  </a:txBody>
                  <a:tcPr marL="7982" marR="7982" marT="3991" marB="3991" anchor="ctr"/>
                </a:tc>
                <a:extLst>
                  <a:ext uri="{0D108BD9-81ED-4DB2-BD59-A6C34878D82A}">
                    <a16:rowId xmlns:a16="http://schemas.microsoft.com/office/drawing/2014/main" val="1571594391"/>
                  </a:ext>
                </a:extLst>
              </a:tr>
              <a:tr h="389634">
                <a:tc>
                  <a:txBody>
                    <a:bodyPr/>
                    <a:lstStyle/>
                    <a:p>
                      <a:pPr algn="ctr"/>
                      <a:r>
                        <a:rPr lang="th-TH" sz="900" b="1" dirty="0">
                          <a:solidFill>
                            <a:schemeClr val="accent1"/>
                          </a:solidFill>
                          <a:latin typeface="BLS Text" panose="00000500000000000000" pitchFamily="2" charset="-34"/>
                          <a:cs typeface="BLS Text" panose="00000500000000000000" pitchFamily="2" charset="-34"/>
                        </a:rPr>
                        <a:t>การกลับมาของผู้ป่วยต่างชาติ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Medical Tourism Recovery – High-Value Demand Return)</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BH</a:t>
                      </a:r>
                    </a:p>
                  </a:txBody>
                  <a:tcPr marL="7982" marR="7982" marT="3991" marB="3991" anchor="ctr"/>
                </a:tc>
                <a:extLst>
                  <a:ext uri="{0D108BD9-81ED-4DB2-BD59-A6C34878D82A}">
                    <a16:rowId xmlns:a16="http://schemas.microsoft.com/office/drawing/2014/main" val="1435720439"/>
                  </a:ext>
                </a:extLst>
              </a:tr>
              <a:tr h="438848">
                <a:tc>
                  <a:txBody>
                    <a:bodyPr/>
                    <a:lstStyle/>
                    <a:p>
                      <a:pPr algn="ctr"/>
                      <a:r>
                        <a:rPr lang="th-TH" sz="900" b="1" dirty="0">
                          <a:solidFill>
                            <a:schemeClr val="accent1"/>
                          </a:solidFill>
                          <a:latin typeface="BLS Text" panose="00000500000000000000" pitchFamily="2" charset="-34"/>
                          <a:cs typeface="BLS Text" panose="00000500000000000000" pitchFamily="2" charset="-34"/>
                        </a:rPr>
                        <a:t>อุปสงค์สินค้าอาหารสัตว์เลี้ยงยังแข็งแกร่ง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Pet Food Export Demand – Structural Growth with Pricing Power)</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ITC</a:t>
                      </a:r>
                    </a:p>
                  </a:txBody>
                  <a:tcPr marL="7982" marR="7982" marT="3991" marB="3991" anchor="ctr"/>
                </a:tc>
                <a:extLst>
                  <a:ext uri="{0D108BD9-81ED-4DB2-BD59-A6C34878D82A}">
                    <a16:rowId xmlns:a16="http://schemas.microsoft.com/office/drawing/2014/main" val="3255174300"/>
                  </a:ext>
                </a:extLst>
              </a:tr>
              <a:tr h="531191">
                <a:tc>
                  <a:txBody>
                    <a:bodyPr/>
                    <a:lstStyle/>
                    <a:p>
                      <a:pPr algn="ctr"/>
                      <a:r>
                        <a:rPr lang="th-TH" sz="900" b="1" dirty="0">
                          <a:solidFill>
                            <a:schemeClr val="accent1"/>
                          </a:solidFill>
                          <a:latin typeface="BLS Text" panose="00000500000000000000" pitchFamily="2" charset="-34"/>
                          <a:cs typeface="BLS Text" panose="00000500000000000000" pitchFamily="2" charset="-34"/>
                        </a:rPr>
                        <a:t>สินเชื่อจำนำทะเบียนยังอยู่ในระดับควบคุมได้-นโยบายรัฐฯ จะช่วยลดความเสี่ยงเครดิต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Asset Quality Remains Manageable with Policy Backstop) </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800" b="1" dirty="0">
                          <a:latin typeface="BLS Text" panose="00000500000000000000" pitchFamily="2" charset="-34"/>
                          <a:cs typeface="BLS Text" panose="00000500000000000000" pitchFamily="2" charset="-34"/>
                        </a:rPr>
                        <a:t>TIDLOR</a:t>
                      </a:r>
                    </a:p>
                  </a:txBody>
                  <a:tcPr marL="7982" marR="7982" marT="3991" marB="3991" anchor="ctr"/>
                </a:tc>
                <a:extLst>
                  <a:ext uri="{0D108BD9-81ED-4DB2-BD59-A6C34878D82A}">
                    <a16:rowId xmlns:a16="http://schemas.microsoft.com/office/drawing/2014/main" val="36367751"/>
                  </a:ext>
                </a:extLst>
              </a:tr>
            </a:tbl>
          </a:graphicData>
        </a:graphic>
      </p:graphicFrame>
      <p:pic>
        <p:nvPicPr>
          <p:cNvPr id="8" name="Picture 7" descr="A screenshot of a table&#10;&#10;Description automatically generated">
            <a:extLst>
              <a:ext uri="{FF2B5EF4-FFF2-40B4-BE49-F238E27FC236}">
                <a16:creationId xmlns:a16="http://schemas.microsoft.com/office/drawing/2014/main" id="{0BC4167C-2CF9-FB0F-C0E2-2DB9EE4C52D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2397" y="2278790"/>
            <a:ext cx="2802162" cy="2653250"/>
          </a:xfrm>
          <a:prstGeom prst="rect">
            <a:avLst/>
          </a:prstGeom>
        </p:spPr>
      </p:pic>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4932040"/>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4943087"/>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Fundamental picks</a:t>
            </a:r>
          </a:p>
        </p:txBody>
      </p:sp>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74177"/>
          <a:stretch/>
        </p:blipFill>
        <p:spPr>
          <a:xfrm>
            <a:off x="0" y="-1"/>
            <a:ext cx="6858000" cy="8748461"/>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3055351"/>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3047177"/>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305535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305535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3047177"/>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3043282"/>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3072923"/>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3063926"/>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683568"/>
            <a:ext cx="6439240" cy="1269578"/>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เปิด 7 โอกาสลงทุนในเดือนพ.ค. </a:t>
            </a:r>
            <a:endPar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r>
              <a:rPr lang="th-TH"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            </a:t>
            </a:r>
            <a:r>
              <a:rPr lang="th-TH" altLang="en-US" sz="2500" dirty="0">
                <a:solidFill>
                  <a:schemeClr val="tx2"/>
                </a:solidFill>
                <a:latin typeface="BLS Condensed Bold" panose="00000800000000000000" pitchFamily="2" charset="-34"/>
                <a:ea typeface="Tahoma" pitchFamily="34" charset="0"/>
                <a:cs typeface="BLS Condensed Bold" panose="00000800000000000000" pitchFamily="2" charset="-34"/>
              </a:rPr>
              <a:t>ภายใต้ภาวะ “แรงซื้อจำกัดวง แรงกดดันขยายตัว”</a:t>
            </a:r>
          </a:p>
          <a:p>
            <a:pPr algn="ctr"/>
            <a:r>
              <a:rPr lang="en-US" altLang="en-US" sz="1000" dirty="0">
                <a:solidFill>
                  <a:schemeClr val="tx1">
                    <a:lumMod val="65000"/>
                    <a:lumOff val="35000"/>
                  </a:schemeClr>
                </a:solidFill>
                <a:latin typeface="BLS Condensed Bold" panose="00000800000000000000" pitchFamily="2" charset="-34"/>
                <a:ea typeface="Tahoma" pitchFamily="34" charset="0"/>
                <a:cs typeface="BLS Condensed Bold" panose="00000800000000000000" pitchFamily="2" charset="-34"/>
              </a:rPr>
              <a:t>Selective </a:t>
            </a:r>
            <a:r>
              <a:rPr lang="th-TH" altLang="en-US" sz="1000" dirty="0">
                <a:solidFill>
                  <a:schemeClr val="tx1">
                    <a:lumMod val="65000"/>
                    <a:lumOff val="35000"/>
                  </a:schemeClr>
                </a:solidFill>
                <a:latin typeface="BLS Condensed Bold" panose="00000800000000000000" pitchFamily="2" charset="-34"/>
                <a:ea typeface="Tahoma" pitchFamily="34" charset="0"/>
                <a:cs typeface="BLS Condensed Bold" panose="00000800000000000000" pitchFamily="2" charset="-34"/>
              </a:rPr>
              <a:t>ในกลุ่มกำไรไตรมาส 2 ยังคาดโตได้</a:t>
            </a:r>
            <a:r>
              <a:rPr lang="en-US" altLang="en-US" sz="1000" dirty="0">
                <a:solidFill>
                  <a:schemeClr val="tx1">
                    <a:lumMod val="65000"/>
                    <a:lumOff val="35000"/>
                  </a:schemeClr>
                </a:solidFill>
                <a:latin typeface="BLS Condensed Bold" panose="00000800000000000000" pitchFamily="2" charset="-34"/>
                <a:ea typeface="Tahoma" pitchFamily="34" charset="0"/>
                <a:cs typeface="BLS Condensed Bold" panose="00000800000000000000" pitchFamily="2" charset="-34"/>
              </a:rPr>
              <a:t>-</a:t>
            </a:r>
            <a:r>
              <a:rPr lang="th-TH" altLang="en-US" sz="1000" dirty="0">
                <a:solidFill>
                  <a:schemeClr val="tx1">
                    <a:lumMod val="65000"/>
                    <a:lumOff val="35000"/>
                  </a:schemeClr>
                </a:solidFill>
                <a:latin typeface="BLS Condensed Bold" panose="00000800000000000000" pitchFamily="2" charset="-34"/>
                <a:ea typeface="Tahoma" pitchFamily="34" charset="0"/>
                <a:cs typeface="BLS Condensed Bold" panose="00000800000000000000" pitchFamily="2" charset="-34"/>
              </a:rPr>
              <a:t>ฟื้นตัว / ทิศทางกำไรดีกว่าตลาดคาด / มีแรงหนุนจากทั้งทิศทางเศรษฐกิจมหภาค-นโยบายรัฐฯ</a:t>
            </a:r>
          </a:p>
          <a:p>
            <a:r>
              <a:rPr lang="th-TH" altLang="en-US" sz="1050" dirty="0">
                <a:solidFill>
                  <a:schemeClr val="bg1">
                    <a:lumMod val="65000"/>
                  </a:schemeClr>
                </a:solidFill>
                <a:latin typeface="BLS Condensed Bold" panose="00000800000000000000" pitchFamily="2" charset="-34"/>
                <a:ea typeface="Tahoma" pitchFamily="34" charset="0"/>
                <a:cs typeface="BLS Condensed Bold" panose="00000800000000000000" pitchFamily="2" charset="-34"/>
              </a:rPr>
              <a:t> </a:t>
            </a:r>
            <a:endParaRPr lang="en-US" altLang="en-US" sz="1050" dirty="0">
              <a:solidFill>
                <a:schemeClr val="bg1">
                  <a:lumMod val="65000"/>
                </a:schemeClr>
              </a:solidFill>
              <a:latin typeface="BLS Condensed Bold" panose="00000800000000000000" pitchFamily="2" charset="-34"/>
              <a:ea typeface="Tahoma" pitchFamily="34" charset="0"/>
              <a:cs typeface="BLS Condensed Bold" panose="00000800000000000000" pitchFamily="2" charset="-34"/>
            </a:endParaRPr>
          </a:p>
        </p:txBody>
      </p:sp>
      <p:graphicFrame>
        <p:nvGraphicFramePr>
          <p:cNvPr id="12" name="Table 11">
            <a:extLst>
              <a:ext uri="{FF2B5EF4-FFF2-40B4-BE49-F238E27FC236}">
                <a16:creationId xmlns:a16="http://schemas.microsoft.com/office/drawing/2014/main" id="{3AC423D4-E526-4F44-AC89-8CAB2C448AF4}"/>
              </a:ext>
            </a:extLst>
          </p:cNvPr>
          <p:cNvGraphicFramePr>
            <a:graphicFrameLocks noGrp="1"/>
          </p:cNvGraphicFramePr>
          <p:nvPr>
            <p:extLst>
              <p:ext uri="{D42A27DB-BD31-4B8C-83A1-F6EECF244321}">
                <p14:modId xmlns:p14="http://schemas.microsoft.com/office/powerpoint/2010/main" val="3118115606"/>
              </p:ext>
            </p:extLst>
          </p:nvPr>
        </p:nvGraphicFramePr>
        <p:xfrm>
          <a:off x="159792" y="1881412"/>
          <a:ext cx="6581577" cy="6795044"/>
        </p:xfrm>
        <a:graphic>
          <a:graphicData uri="http://schemas.openxmlformats.org/drawingml/2006/table">
            <a:tbl>
              <a:tblPr bandRow="1">
                <a:tableStyleId>{3B4B98B0-60AC-42C2-AFA5-B58CD77FA1E5}</a:tableStyleId>
              </a:tblPr>
              <a:tblGrid>
                <a:gridCol w="1405056">
                  <a:extLst>
                    <a:ext uri="{9D8B030D-6E8A-4147-A177-3AD203B41FA5}">
                      <a16:colId xmlns:a16="http://schemas.microsoft.com/office/drawing/2014/main" val="1245123072"/>
                    </a:ext>
                  </a:extLst>
                </a:gridCol>
                <a:gridCol w="887404">
                  <a:extLst>
                    <a:ext uri="{9D8B030D-6E8A-4147-A177-3AD203B41FA5}">
                      <a16:colId xmlns:a16="http://schemas.microsoft.com/office/drawing/2014/main" val="2306194084"/>
                    </a:ext>
                  </a:extLst>
                </a:gridCol>
                <a:gridCol w="4289117">
                  <a:extLst>
                    <a:ext uri="{9D8B030D-6E8A-4147-A177-3AD203B41FA5}">
                      <a16:colId xmlns:a16="http://schemas.microsoft.com/office/drawing/2014/main" val="4020263589"/>
                    </a:ext>
                  </a:extLst>
                </a:gridCol>
              </a:tblGrid>
              <a:tr h="248764">
                <a:tc>
                  <a:txBody>
                    <a:bodyPr/>
                    <a:lstStyle/>
                    <a:p>
                      <a:pPr algn="ctr"/>
                      <a:r>
                        <a:rPr lang="th-TH" sz="1000" b="1" dirty="0">
                          <a:solidFill>
                            <a:schemeClr val="bg1"/>
                          </a:solidFill>
                          <a:latin typeface="BLS Text" panose="00000500000000000000" pitchFamily="2" charset="-34"/>
                          <a:cs typeface="BLS Text" panose="00000500000000000000" pitchFamily="2" charset="-34"/>
                        </a:rPr>
                        <a:t>โอกาส</a:t>
                      </a:r>
                    </a:p>
                  </a:txBody>
                  <a:tcPr marL="7982" marR="7982" marT="3991" marB="3991" anchor="ctr">
                    <a:solidFill>
                      <a:srgbClr val="215968"/>
                    </a:solidFill>
                  </a:tcPr>
                </a:tc>
                <a:tc>
                  <a:txBody>
                    <a:bodyPr/>
                    <a:lstStyle/>
                    <a:p>
                      <a:pPr algn="ctr"/>
                      <a:r>
                        <a:rPr lang="th-TH" sz="1000" b="1" dirty="0">
                          <a:solidFill>
                            <a:schemeClr val="bg1"/>
                          </a:solidFill>
                          <a:latin typeface="BLS Text" panose="00000500000000000000" pitchFamily="2" charset="-34"/>
                          <a:cs typeface="BLS Text" panose="00000500000000000000" pitchFamily="2" charset="-34"/>
                        </a:rPr>
                        <a:t>หุ้นได้ประโยชน์</a:t>
                      </a:r>
                    </a:p>
                  </a:txBody>
                  <a:tcPr marL="7982" marR="7982" marT="3991" marB="3991" anchor="ctr">
                    <a:solidFill>
                      <a:srgbClr val="215968"/>
                    </a:solidFill>
                  </a:tcPr>
                </a:tc>
                <a:tc>
                  <a:txBody>
                    <a:bodyPr/>
                    <a:lstStyle/>
                    <a:p>
                      <a:pPr algn="ctr"/>
                      <a:r>
                        <a:rPr lang="th-TH" sz="1000" b="1" dirty="0">
                          <a:solidFill>
                            <a:schemeClr val="bg1"/>
                          </a:solidFill>
                          <a:latin typeface="BLS Text" panose="00000500000000000000" pitchFamily="2" charset="-34"/>
                          <a:cs typeface="BLS Text" panose="00000500000000000000" pitchFamily="2" charset="-34"/>
                        </a:rPr>
                        <a:t>รายละเอียด</a:t>
                      </a:r>
                    </a:p>
                  </a:txBody>
                  <a:tcPr marL="7982" marR="7982" marT="3991" marB="3991" anchor="ctr">
                    <a:solidFill>
                      <a:srgbClr val="215968"/>
                    </a:solidFill>
                  </a:tcPr>
                </a:tc>
                <a:extLst>
                  <a:ext uri="{0D108BD9-81ED-4DB2-BD59-A6C34878D82A}">
                    <a16:rowId xmlns:a16="http://schemas.microsoft.com/office/drawing/2014/main" val="4035294127"/>
                  </a:ext>
                </a:extLst>
              </a:tr>
              <a:tr h="875539">
                <a:tc>
                  <a:txBody>
                    <a:bodyPr/>
                    <a:lstStyle/>
                    <a:p>
                      <a:pPr algn="ctr"/>
                      <a:r>
                        <a:rPr lang="th-TH" sz="1000" b="1" dirty="0">
                          <a:solidFill>
                            <a:schemeClr val="accent1"/>
                          </a:solidFill>
                          <a:latin typeface="BLS Text" panose="00000500000000000000" pitchFamily="2" charset="-34"/>
                          <a:cs typeface="BLS Text" panose="00000500000000000000" pitchFamily="2" charset="-34"/>
                        </a:rPr>
                        <a:t>วัฏจักรการลงทุนรอบใหม่ของไทย - มาตรการรัฐฯ หนุนธุรกิจโซลาร์รูฟ</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Investment Cycle – FDI-driven Flow)</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GULF, WHA, GUNKUL,</a:t>
                      </a:r>
                      <a:r>
                        <a:rPr lang="th-TH" sz="1000" b="1" dirty="0">
                          <a:latin typeface="BLS Text" panose="00000500000000000000" pitchFamily="2" charset="-34"/>
                          <a:cs typeface="BLS Text" panose="00000500000000000000" pitchFamily="2" charset="-34"/>
                        </a:rPr>
                        <a:t> </a:t>
                      </a:r>
                      <a:r>
                        <a:rPr lang="en-US" sz="1000" b="1" dirty="0">
                          <a:latin typeface="BLS Text" panose="00000500000000000000" pitchFamily="2" charset="-34"/>
                          <a:cs typeface="BLS Text" panose="00000500000000000000" pitchFamily="2" charset="-34"/>
                        </a:rPr>
                        <a:t>WHAUP</a:t>
                      </a:r>
                    </a:p>
                  </a:txBody>
                  <a:tcPr marL="7982" marR="7982" marT="3991" marB="3991" anchor="ctr"/>
                </a:tc>
                <a:tc>
                  <a:txBody>
                    <a:bodyPr/>
                    <a:lstStyle/>
                    <a:p>
                      <a:pPr marL="91440" algn="just"/>
                      <a:r>
                        <a:rPr lang="th-TH" sz="900" dirty="0">
                          <a:latin typeface="BLS Text" panose="00000500000000000000" pitchFamily="2" charset="-34"/>
                          <a:cs typeface="BLS Text" panose="00000500000000000000" pitchFamily="2" charset="-34"/>
                        </a:rPr>
                        <a:t>การเร่งตัวของการลงทุนโดยตรงจากต่างประเทศ (</a:t>
                      </a:r>
                      <a:r>
                        <a:rPr lang="en-US" sz="900" dirty="0">
                          <a:latin typeface="BLS Text" panose="00000500000000000000" pitchFamily="2" charset="-34"/>
                          <a:cs typeface="BLS Text" panose="00000500000000000000" pitchFamily="2" charset="-34"/>
                        </a:rPr>
                        <a:t>FDI) </a:t>
                      </a:r>
                      <a:r>
                        <a:rPr lang="th-TH" sz="900" dirty="0">
                          <a:latin typeface="BLS Text" panose="00000500000000000000" pitchFamily="2" charset="-34"/>
                          <a:cs typeface="BLS Text" panose="00000500000000000000" pitchFamily="2" charset="-34"/>
                        </a:rPr>
                        <a:t>สะท้อนผ่านยอดคำขอส่งเสริมการลงทุนของ </a:t>
                      </a:r>
                      <a:r>
                        <a:rPr lang="en-US" sz="900" dirty="0">
                          <a:latin typeface="BLS Text" panose="00000500000000000000" pitchFamily="2" charset="-34"/>
                          <a:cs typeface="BLS Text" panose="00000500000000000000" pitchFamily="2" charset="-34"/>
                        </a:rPr>
                        <a:t>BOI </a:t>
                      </a:r>
                      <a:r>
                        <a:rPr lang="th-TH" sz="900" dirty="0">
                          <a:latin typeface="BLS Text" panose="00000500000000000000" pitchFamily="2" charset="-34"/>
                          <a:cs typeface="BLS Text" panose="00000500000000000000" pitchFamily="2" charset="-34"/>
                        </a:rPr>
                        <a:t>ในไตรมาส 1</a:t>
                      </a:r>
                      <a:r>
                        <a:rPr lang="en-US" sz="900" dirty="0">
                          <a:latin typeface="BLS Text" panose="00000500000000000000" pitchFamily="2" charset="-34"/>
                          <a:cs typeface="BLS Text" panose="00000500000000000000" pitchFamily="2" charset="-34"/>
                        </a:rPr>
                        <a:t>Q</a:t>
                      </a:r>
                      <a:r>
                        <a:rPr lang="th-TH" sz="900" dirty="0">
                          <a:latin typeface="BLS Text" panose="00000500000000000000" pitchFamily="2" charset="-34"/>
                          <a:cs typeface="BLS Text" panose="00000500000000000000" pitchFamily="2" charset="-34"/>
                        </a:rPr>
                        <a:t>26 ที่ทะลุ 1 ล้านล้านบาท เพิ่มขึ้น 2.4 เท่า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โดยกระจุกตัวในอุตสาหกรรมดิจิทัล/ </a:t>
                      </a:r>
                      <a:r>
                        <a:rPr lang="en-US" sz="900" dirty="0">
                          <a:latin typeface="BLS Text" panose="00000500000000000000" pitchFamily="2" charset="-34"/>
                          <a:cs typeface="BLS Text" panose="00000500000000000000" pitchFamily="2" charset="-34"/>
                        </a:rPr>
                        <a:t>data center </a:t>
                      </a:r>
                      <a:r>
                        <a:rPr lang="th-TH" sz="900" dirty="0">
                          <a:latin typeface="BLS Text" panose="00000500000000000000" pitchFamily="2" charset="-34"/>
                          <a:cs typeface="BLS Text" panose="00000500000000000000" pitchFamily="2" charset="-34"/>
                        </a:rPr>
                        <a:t>อิเล็กทรอนิกส์ ซึ่งเป็น </a:t>
                      </a:r>
                      <a:r>
                        <a:rPr lang="en-US" sz="900" dirty="0">
                          <a:latin typeface="BLS Text" panose="00000500000000000000" pitchFamily="2" charset="-34"/>
                          <a:cs typeface="BLS Text" panose="00000500000000000000" pitchFamily="2" charset="-34"/>
                        </a:rPr>
                        <a:t>new S-curve </a:t>
                      </a:r>
                      <a:r>
                        <a:rPr lang="th-TH" sz="900" dirty="0">
                          <a:latin typeface="BLS Text" panose="00000500000000000000" pitchFamily="2" charset="-34"/>
                          <a:cs typeface="BLS Text" panose="00000500000000000000" pitchFamily="2" charset="-34"/>
                        </a:rPr>
                        <a:t>ของเศรษฐกิจไทย คาดจะแปลงเม็ดเงินลงทุน (</a:t>
                      </a:r>
                      <a:r>
                        <a:rPr lang="en-US" sz="900" dirty="0">
                          <a:latin typeface="BLS Text" panose="00000500000000000000" pitchFamily="2" charset="-34"/>
                          <a:cs typeface="BLS Text" panose="00000500000000000000" pitchFamily="2" charset="-34"/>
                        </a:rPr>
                        <a:t>approved investment) </a:t>
                      </a:r>
                      <a:r>
                        <a:rPr lang="th-TH" sz="900" dirty="0">
                          <a:latin typeface="BLS Text" panose="00000500000000000000" pitchFamily="2" charset="-34"/>
                          <a:cs typeface="BLS Text" panose="00000500000000000000" pitchFamily="2" charset="-34"/>
                        </a:rPr>
                        <a:t>ไปสู่การลงทุนจริง (</a:t>
                      </a:r>
                      <a:r>
                        <a:rPr lang="en-US" sz="900" dirty="0">
                          <a:latin typeface="BLS Text" panose="00000500000000000000" pitchFamily="2" charset="-34"/>
                          <a:cs typeface="BLS Text" panose="00000500000000000000" pitchFamily="2" charset="-34"/>
                        </a:rPr>
                        <a:t>real capex deployment) </a:t>
                      </a:r>
                      <a:r>
                        <a:rPr lang="th-TH" sz="900" dirty="0">
                          <a:latin typeface="BLS Text" panose="00000500000000000000" pitchFamily="2" charset="-34"/>
                          <a:cs typeface="BLS Text" panose="00000500000000000000" pitchFamily="2" charset="-34"/>
                        </a:rPr>
                        <a:t>ในช่วง 1–2 ปีข้างหน้า ส่งผลให้ความต้องการใช้ไฟฟ้า พื้นที่นิคม และสาธารณูปโภคเพิ่มขึ้นอย่างมีนัยสำคัญ ขณะที่ มาตรการรัฐฯ หนุนธุรกิจโซลาร์รูฟ</a:t>
                      </a:r>
                    </a:p>
                  </a:txBody>
                  <a:tcPr marL="7982" marR="7982" marT="3991" marB="3991" anchor="ctr"/>
                </a:tc>
                <a:extLst>
                  <a:ext uri="{0D108BD9-81ED-4DB2-BD59-A6C34878D82A}">
                    <a16:rowId xmlns:a16="http://schemas.microsoft.com/office/drawing/2014/main" val="1984291075"/>
                  </a:ext>
                </a:extLst>
              </a:tr>
              <a:tr h="875539">
                <a:tc>
                  <a:txBody>
                    <a:bodyPr/>
                    <a:lstStyle/>
                    <a:p>
                      <a:pPr algn="ctr"/>
                      <a:r>
                        <a:rPr lang="th-TH" sz="1000" b="1" dirty="0">
                          <a:solidFill>
                            <a:schemeClr val="accent1"/>
                          </a:solidFill>
                          <a:latin typeface="BLS Text" panose="00000500000000000000" pitchFamily="2" charset="-34"/>
                          <a:cs typeface="BLS Text" panose="00000500000000000000" pitchFamily="2" charset="-34"/>
                        </a:rPr>
                        <a:t>อิเล็กทรอนิกส์โลกขาขึ้น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Global Electronics Upcycle)</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KCE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chemeClr val="tx2"/>
                          </a:solidFill>
                          <a:latin typeface="BLS Text" panose="00000500000000000000" pitchFamily="2" charset="-34"/>
                          <a:cs typeface="BLS Text" panose="00000500000000000000" pitchFamily="2" charset="-34"/>
                        </a:rPr>
                        <a:t>(trading)</a:t>
                      </a:r>
                    </a:p>
                  </a:txBody>
                  <a:tcPr marL="7982" marR="7982" marT="3991" marB="3991" anchor="ctr"/>
                </a:tc>
                <a:tc>
                  <a:txBody>
                    <a:bodyPr/>
                    <a:lstStyle/>
                    <a:p>
                      <a:pPr marL="91440" algn="just"/>
                      <a:r>
                        <a:rPr lang="th-TH" sz="900" dirty="0">
                          <a:latin typeface="BLS Text" panose="00000500000000000000" pitchFamily="2" charset="-34"/>
                          <a:cs typeface="BLS Text" panose="00000500000000000000" pitchFamily="2" charset="-34"/>
                        </a:rPr>
                        <a:t>ตัวเลขการส่งออกสินค้าอิเล็กทรอนิกส์ของไทยเติบโตสูงถึง +43.8%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เดือนมี.ค. สะท้อนอุปสงค์จาก </a:t>
                      </a:r>
                      <a:r>
                        <a:rPr lang="en-US" sz="900" dirty="0">
                          <a:latin typeface="BLS Text" panose="00000500000000000000" pitchFamily="2" charset="-34"/>
                          <a:cs typeface="BLS Text" panose="00000500000000000000" pitchFamily="2" charset="-34"/>
                        </a:rPr>
                        <a:t>AI </a:t>
                      </a:r>
                      <a:r>
                        <a:rPr lang="th-TH" sz="900" dirty="0">
                          <a:latin typeface="BLS Text" panose="00000500000000000000" pitchFamily="2" charset="-34"/>
                          <a:cs typeface="BLS Text" panose="00000500000000000000" pitchFamily="2" charset="-34"/>
                        </a:rPr>
                        <a:t>และ </a:t>
                      </a:r>
                      <a:r>
                        <a:rPr lang="en-US" sz="900" dirty="0">
                          <a:latin typeface="BLS Text" panose="00000500000000000000" pitchFamily="2" charset="-34"/>
                          <a:cs typeface="BLS Text" panose="00000500000000000000" pitchFamily="2" charset="-34"/>
                        </a:rPr>
                        <a:t>data center </a:t>
                      </a:r>
                      <a:r>
                        <a:rPr lang="th-TH" sz="900" dirty="0">
                          <a:latin typeface="BLS Text" panose="00000500000000000000" pitchFamily="2" charset="-34"/>
                          <a:cs typeface="BLS Text" panose="00000500000000000000" pitchFamily="2" charset="-34"/>
                        </a:rPr>
                        <a:t>ในตลาดโลก นำโดยเครื่องคอมพิวเตอร์และอุปกรณ์ (ขยายตัว 29.3%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หรือขยายตัว 37.4% </a:t>
                      </a:r>
                      <a:r>
                        <a:rPr lang="en-US" sz="900" dirty="0">
                          <a:latin typeface="BLS Text" panose="00000500000000000000" pitchFamily="2" charset="-34"/>
                          <a:cs typeface="BLS Text" panose="00000500000000000000" pitchFamily="2" charset="-34"/>
                        </a:rPr>
                        <a:t>MoM) </a:t>
                      </a:r>
                      <a:r>
                        <a:rPr lang="th-TH" sz="900" dirty="0">
                          <a:latin typeface="BLS Text" panose="00000500000000000000" pitchFamily="2" charset="-34"/>
                          <a:cs typeface="BLS Text" panose="00000500000000000000" pitchFamily="2" charset="-34"/>
                        </a:rPr>
                        <a:t>ส่วนประกอบคอมพิวเตอร์ (ขยายตัว 189.7%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หรือขยายตัว 44.4% </a:t>
                      </a:r>
                      <a:r>
                        <a:rPr lang="en-US" sz="900" dirty="0">
                          <a:latin typeface="BLS Text" panose="00000500000000000000" pitchFamily="2" charset="-34"/>
                          <a:cs typeface="BLS Text" panose="00000500000000000000" pitchFamily="2" charset="-34"/>
                        </a:rPr>
                        <a:t>MoM) </a:t>
                      </a:r>
                      <a:r>
                        <a:rPr lang="th-TH" sz="900" dirty="0">
                          <a:latin typeface="BLS Text" panose="00000500000000000000" pitchFamily="2" charset="-34"/>
                          <a:cs typeface="BLS Text" panose="00000500000000000000" pitchFamily="2" charset="-34"/>
                        </a:rPr>
                        <a:t>เครื่องโทรศัพท์และอุปกรณ์ (ขยายตัว 179.7%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หรือขยายตัว 30.2% </a:t>
                      </a:r>
                      <a:r>
                        <a:rPr lang="en-US" sz="900" dirty="0">
                          <a:latin typeface="BLS Text" panose="00000500000000000000" pitchFamily="2" charset="-34"/>
                          <a:cs typeface="BLS Text" panose="00000500000000000000" pitchFamily="2" charset="-34"/>
                        </a:rPr>
                        <a:t>MoM) </a:t>
                      </a:r>
                      <a:r>
                        <a:rPr lang="th-TH" sz="900" dirty="0">
                          <a:latin typeface="BLS Text" panose="00000500000000000000" pitchFamily="2" charset="-34"/>
                          <a:cs typeface="BLS Text" panose="00000500000000000000" pitchFamily="2" charset="-34"/>
                        </a:rPr>
                        <a:t>รวมถึงเซมิคอนดักเตอร์ (ขยายตัว 14%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หรือขยายตัว 18.1% </a:t>
                      </a:r>
                      <a:r>
                        <a:rPr lang="en-US" sz="900" dirty="0">
                          <a:latin typeface="BLS Text" panose="00000500000000000000" pitchFamily="2" charset="-34"/>
                          <a:cs typeface="BLS Text" panose="00000500000000000000" pitchFamily="2" charset="-34"/>
                        </a:rPr>
                        <a:t>MoM)</a:t>
                      </a:r>
                      <a:endParaRPr lang="th-TH" sz="900" dirty="0">
                        <a:latin typeface="BLS Text" panose="00000500000000000000" pitchFamily="2" charset="-34"/>
                        <a:cs typeface="BLS Text" panose="00000500000000000000" pitchFamily="2" charset="-34"/>
                      </a:endParaRPr>
                    </a:p>
                  </a:txBody>
                  <a:tcPr marL="7982" marR="7982" marT="3991" marB="3991" anchor="ctr"/>
                </a:tc>
                <a:extLst>
                  <a:ext uri="{0D108BD9-81ED-4DB2-BD59-A6C34878D82A}">
                    <a16:rowId xmlns:a16="http://schemas.microsoft.com/office/drawing/2014/main" val="2978584856"/>
                  </a:ext>
                </a:extLst>
              </a:tr>
              <a:tr h="811307">
                <a:tc>
                  <a:txBody>
                    <a:bodyPr/>
                    <a:lstStyle/>
                    <a:p>
                      <a:pPr algn="ctr"/>
                      <a:r>
                        <a:rPr lang="th-TH" sz="1000" b="1" dirty="0">
                          <a:solidFill>
                            <a:schemeClr val="accent1"/>
                          </a:solidFill>
                          <a:latin typeface="BLS Text" panose="00000500000000000000" pitchFamily="2" charset="-34"/>
                          <a:cs typeface="BLS Text" panose="00000500000000000000" pitchFamily="2" charset="-34"/>
                        </a:rPr>
                        <a:t>ภาวะอุปทานตึงตัวหลังสงคราม-จุดเปลี่ยนของวัฏจักรปิโตรเคมี: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Supply Disruption Beneficiaries)</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PTTGC, IVL</a:t>
                      </a:r>
                    </a:p>
                  </a:txBody>
                  <a:tcPr marL="7982" marR="7982" marT="3991" marB="3991" anchor="ctr"/>
                </a:tc>
                <a:tc>
                  <a:txBody>
                    <a:bodyPr/>
                    <a:lstStyle/>
                    <a:p>
                      <a:pPr marL="91440" algn="just"/>
                      <a:r>
                        <a:rPr lang="th-TH" sz="900" dirty="0">
                          <a:latin typeface="BLS Text" panose="00000500000000000000" pitchFamily="2" charset="-34"/>
                          <a:cs typeface="BLS Text" panose="00000500000000000000" pitchFamily="2" charset="-34"/>
                        </a:rPr>
                        <a:t>ความตึงเครียดด้านภูมิรัฐศาสตร์ส่งผลให้กำลังการผลิตปิโตรเคมีทั่วโลกราว 20% ได้รับผลกระทบจากการหยุดซ่อมฉุกเฉิน (</a:t>
                      </a:r>
                      <a:r>
                        <a:rPr lang="en-US" sz="900" dirty="0">
                          <a:latin typeface="BLS Text" panose="00000500000000000000" pitchFamily="2" charset="-34"/>
                          <a:cs typeface="BLS Text" panose="00000500000000000000" pitchFamily="2" charset="-34"/>
                        </a:rPr>
                        <a:t>force majeure) </a:t>
                      </a:r>
                      <a:r>
                        <a:rPr lang="th-TH" sz="900" dirty="0">
                          <a:latin typeface="BLS Text" panose="00000500000000000000" pitchFamily="2" charset="-34"/>
                          <a:cs typeface="BLS Text" panose="00000500000000000000" pitchFamily="2" charset="-34"/>
                        </a:rPr>
                        <a:t>และข้อจำกัดด้านวัตถุดิบ (</a:t>
                      </a:r>
                      <a:r>
                        <a:rPr lang="en-US" sz="900" dirty="0">
                          <a:latin typeface="BLS Text" panose="00000500000000000000" pitchFamily="2" charset="-34"/>
                          <a:cs typeface="BLS Text" panose="00000500000000000000" pitchFamily="2" charset="-34"/>
                        </a:rPr>
                        <a:t>feedstock shortage) </a:t>
                      </a:r>
                      <a:r>
                        <a:rPr lang="th-TH" sz="900" dirty="0">
                          <a:latin typeface="BLS Text" panose="00000500000000000000" pitchFamily="2" charset="-34"/>
                          <a:cs typeface="BLS Text" panose="00000500000000000000" pitchFamily="2" charset="-34"/>
                        </a:rPr>
                        <a:t>ทำให้ฝั่งอุปทานต้องใช้เวลาในฟื้นฟู ส่งผลให้ส่วนต่างราคาปิโตรเคมี (</a:t>
                      </a:r>
                      <a:r>
                        <a:rPr lang="en-US" sz="900" dirty="0">
                          <a:latin typeface="BLS Text" panose="00000500000000000000" pitchFamily="2" charset="-34"/>
                          <a:cs typeface="BLS Text" panose="00000500000000000000" pitchFamily="2" charset="-34"/>
                        </a:rPr>
                        <a:t>chemical spreads) </a:t>
                      </a:r>
                      <a:r>
                        <a:rPr lang="th-TH" sz="900" dirty="0">
                          <a:latin typeface="BLS Text" panose="00000500000000000000" pitchFamily="2" charset="-34"/>
                          <a:cs typeface="BLS Text" panose="00000500000000000000" pitchFamily="2" charset="-34"/>
                        </a:rPr>
                        <a:t>ยังคงยืนในระดับสูงต่อเนื่องในปี 2026 </a:t>
                      </a:r>
                      <a:endParaRPr lang="en-US" sz="900" dirty="0">
                        <a:latin typeface="BLS Text" panose="00000500000000000000" pitchFamily="2" charset="-34"/>
                        <a:cs typeface="BLS Text" panose="00000500000000000000" pitchFamily="2" charset="-34"/>
                      </a:endParaRPr>
                    </a:p>
                  </a:txBody>
                  <a:tcPr marL="7982" marR="7982" marT="3991" marB="3991" anchor="ctr"/>
                </a:tc>
                <a:extLst>
                  <a:ext uri="{0D108BD9-81ED-4DB2-BD59-A6C34878D82A}">
                    <a16:rowId xmlns:a16="http://schemas.microsoft.com/office/drawing/2014/main" val="2139658935"/>
                  </a:ext>
                </a:extLst>
              </a:tr>
              <a:tr h="875539">
                <a:tc>
                  <a:txBody>
                    <a:bodyPr/>
                    <a:lstStyle/>
                    <a:p>
                      <a:pPr algn="ctr"/>
                      <a:r>
                        <a:rPr lang="th-TH" sz="1000" b="1" dirty="0">
                          <a:solidFill>
                            <a:schemeClr val="accent1"/>
                          </a:solidFill>
                          <a:latin typeface="BLS Text" panose="00000500000000000000" pitchFamily="2" charset="-34"/>
                          <a:cs typeface="BLS Text" panose="00000500000000000000" pitchFamily="2" charset="-34"/>
                        </a:rPr>
                        <a:t>ธนาคารและธุรกิจบริหารความมั่งคั่ง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Wealth Management as New Profit Engine)</a:t>
                      </a:r>
                      <a:endParaRPr lang="th-TH" sz="10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KTB</a:t>
                      </a:r>
                    </a:p>
                  </a:txBody>
                  <a:tcPr marL="7982" marR="7982" marT="3991" marB="3991" anchor="ctr"/>
                </a:tc>
                <a:tc>
                  <a:txBody>
                    <a:bodyPr/>
                    <a:lstStyle/>
                    <a:p>
                      <a:pPr marL="91440" algn="just"/>
                      <a:r>
                        <a:rPr lang="th-TH" sz="900" dirty="0">
                          <a:latin typeface="BLS Text" panose="00000500000000000000" pitchFamily="2" charset="-34"/>
                          <a:cs typeface="BLS Text" panose="00000500000000000000" pitchFamily="2" charset="-34"/>
                        </a:rPr>
                        <a:t>ผลประกอบการกลุ่มธนาคารในไตรมาส 1 สูงกว่าตลาดคาดราว 12% จาก </a:t>
                      </a:r>
                      <a:r>
                        <a:rPr lang="en-US" sz="900" dirty="0">
                          <a:latin typeface="BLS Text" panose="00000500000000000000" pitchFamily="2" charset="-34"/>
                          <a:cs typeface="BLS Text" panose="00000500000000000000" pitchFamily="2" charset="-34"/>
                        </a:rPr>
                        <a:t>cost/income ratio </a:t>
                      </a:r>
                      <a:r>
                        <a:rPr lang="th-TH" sz="900" dirty="0">
                          <a:latin typeface="BLS Text" panose="00000500000000000000" pitchFamily="2" charset="-34"/>
                          <a:cs typeface="BLS Text" panose="00000500000000000000" pitchFamily="2" charset="-34"/>
                        </a:rPr>
                        <a:t>และรายได้ไม่ใช่ดอกเบี้ย </a:t>
                      </a:r>
                      <a:r>
                        <a:rPr lang="en-US" sz="900" dirty="0">
                          <a:latin typeface="BLS Text" panose="00000500000000000000" pitchFamily="2" charset="-34"/>
                          <a:cs typeface="BLS Text" panose="00000500000000000000" pitchFamily="2" charset="-34"/>
                        </a:rPr>
                        <a:t>non-NII </a:t>
                      </a:r>
                      <a:r>
                        <a:rPr lang="th-TH" sz="900" dirty="0">
                          <a:latin typeface="BLS Text" panose="00000500000000000000" pitchFamily="2" charset="-34"/>
                          <a:cs typeface="BLS Text" panose="00000500000000000000" pitchFamily="2" charset="-34"/>
                        </a:rPr>
                        <a:t>ที่ดีกว่าคาด ทั้งในด้านของรายได้ค่าธรรมเนียมและกำไรจากเงินลงทุน สะท้อนโครงสร้างรายได้ของธนาคารมีแนวโน้มเปลี่ยนผ่านไปสู่ธุรกิจบริหารความมั่งคั่ง (</a:t>
                      </a:r>
                      <a:r>
                        <a:rPr lang="en-US" sz="900" dirty="0">
                          <a:latin typeface="BLS Text" panose="00000500000000000000" pitchFamily="2" charset="-34"/>
                          <a:cs typeface="BLS Text" panose="00000500000000000000" pitchFamily="2" charset="-34"/>
                        </a:rPr>
                        <a:t>wealth management) </a:t>
                      </a:r>
                      <a:r>
                        <a:rPr lang="th-TH" sz="900" dirty="0">
                          <a:latin typeface="BLS Text" panose="00000500000000000000" pitchFamily="2" charset="-34"/>
                          <a:cs typeface="BLS Text" panose="00000500000000000000" pitchFamily="2" charset="-34"/>
                        </a:rPr>
                        <a:t>มากขึ้น และแสดงถึงความสำคัญของรายได้ที่ไม่ใช่ดอกเบี้ย ซึ่งจะช่วยหนุนความยืดหยุ่นของกำไรภายใต้ภาวะเศรษฐกิจที่ยังไม่ฟื้นเต็มที่</a:t>
                      </a:r>
                      <a:endParaRPr lang="en-US" sz="900" dirty="0">
                        <a:latin typeface="BLS Text" panose="00000500000000000000" pitchFamily="2" charset="-34"/>
                        <a:cs typeface="BLS Text" panose="00000500000000000000" pitchFamily="2" charset="-34"/>
                      </a:endParaRPr>
                    </a:p>
                  </a:txBody>
                  <a:tcPr marL="7982" marR="7982" marT="3991" marB="3991" anchor="ctr"/>
                </a:tc>
                <a:extLst>
                  <a:ext uri="{0D108BD9-81ED-4DB2-BD59-A6C34878D82A}">
                    <a16:rowId xmlns:a16="http://schemas.microsoft.com/office/drawing/2014/main" val="1571594391"/>
                  </a:ext>
                </a:extLst>
              </a:tr>
              <a:tr h="971887">
                <a:tc>
                  <a:txBody>
                    <a:bodyPr/>
                    <a:lstStyle/>
                    <a:p>
                      <a:pPr algn="ctr"/>
                      <a:r>
                        <a:rPr lang="th-TH" sz="1000" b="1" dirty="0">
                          <a:solidFill>
                            <a:schemeClr val="accent1"/>
                          </a:solidFill>
                          <a:latin typeface="BLS Text" panose="00000500000000000000" pitchFamily="2" charset="-34"/>
                          <a:cs typeface="BLS Text" panose="00000500000000000000" pitchFamily="2" charset="-34"/>
                        </a:rPr>
                        <a:t>การกลับมาของผู้ป่วยต่างชาติ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Medical Tourism Recovery – High-Value Demand Return)</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BH</a:t>
                      </a:r>
                    </a:p>
                  </a:txBody>
                  <a:tcPr marL="7982" marR="7982" marT="3991" marB="3991" anchor="ctr"/>
                </a:tc>
                <a:tc>
                  <a:txBody>
                    <a:bodyPr/>
                    <a:lstStyle/>
                    <a:p>
                      <a:pPr marL="91440" algn="just"/>
                      <a:r>
                        <a:rPr lang="th-TH" sz="900" dirty="0">
                          <a:latin typeface="BLS Text" panose="00000500000000000000" pitchFamily="2" charset="-34"/>
                          <a:cs typeface="BLS Text" panose="00000500000000000000" pitchFamily="2" charset="-34"/>
                        </a:rPr>
                        <a:t>การฟื้นตัวของผู้ป่วยต่างชาติ โดยเฉพาะกลุ่มตะวันออกกลาง (</a:t>
                      </a:r>
                      <a:r>
                        <a:rPr lang="en-US" sz="900" dirty="0">
                          <a:latin typeface="BLS Text" panose="00000500000000000000" pitchFamily="2" charset="-34"/>
                          <a:cs typeface="BLS Text" panose="00000500000000000000" pitchFamily="2" charset="-34"/>
                        </a:rPr>
                        <a:t>Middle East recovery) </a:t>
                      </a:r>
                      <a:r>
                        <a:rPr lang="th-TH" sz="900" dirty="0">
                          <a:latin typeface="BLS Text" panose="00000500000000000000" pitchFamily="2" charset="-34"/>
                          <a:cs typeface="BLS Text" panose="00000500000000000000" pitchFamily="2" charset="-34"/>
                        </a:rPr>
                        <a:t>กลับมาเป็นแรงขับเคลื่อนสำคัญของรายได้โรงพยาบาลอีกครั้ง หลังความไม่แน่นอนด้านภูมิรัฐศาสตร์เริ่มคลี่คลาย</a:t>
                      </a:r>
                    </a:p>
                  </a:txBody>
                  <a:tcPr marL="7982" marR="7982" marT="3991" marB="3991" anchor="ctr"/>
                </a:tc>
                <a:extLst>
                  <a:ext uri="{0D108BD9-81ED-4DB2-BD59-A6C34878D82A}">
                    <a16:rowId xmlns:a16="http://schemas.microsoft.com/office/drawing/2014/main" val="1435720439"/>
                  </a:ext>
                </a:extLst>
              </a:tr>
              <a:tr h="971887">
                <a:tc>
                  <a:txBody>
                    <a:bodyPr/>
                    <a:lstStyle/>
                    <a:p>
                      <a:pPr algn="ctr"/>
                      <a:r>
                        <a:rPr lang="th-TH" sz="1000" b="1" dirty="0">
                          <a:solidFill>
                            <a:schemeClr val="accent1"/>
                          </a:solidFill>
                          <a:latin typeface="BLS Text" panose="00000500000000000000" pitchFamily="2" charset="-34"/>
                          <a:cs typeface="BLS Text" panose="00000500000000000000" pitchFamily="2" charset="-34"/>
                        </a:rPr>
                        <a:t>อุปสงค์สินค้าอาหารสัตว์เลี้ยงยังแข็งแกร่ง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Pet Food Export Demand – Structural Growth with Pricing Power)</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ITC</a:t>
                      </a:r>
                    </a:p>
                  </a:txBody>
                  <a:tcPr marL="7982" marR="7982" marT="3991" marB="3991" anchor="ctr"/>
                </a:tc>
                <a:tc>
                  <a:txBody>
                    <a:bodyPr/>
                    <a:lstStyle/>
                    <a:p>
                      <a:pPr marL="91440" algn="just"/>
                      <a:r>
                        <a:rPr lang="th-TH" sz="900" dirty="0">
                          <a:latin typeface="BLS Text" panose="00000500000000000000" pitchFamily="2" charset="-34"/>
                          <a:cs typeface="BLS Text" panose="00000500000000000000" pitchFamily="2" charset="-34"/>
                        </a:rPr>
                        <a:t>ตัวเลขส่งออกอาหารสัตว์เลี้ยงของไทย เดือนมี.ค. เติบโต 4% </a:t>
                      </a:r>
                      <a:r>
                        <a:rPr lang="en-US" sz="900" dirty="0">
                          <a:latin typeface="BLS Text" panose="00000500000000000000" pitchFamily="2" charset="-34"/>
                          <a:cs typeface="BLS Text" panose="00000500000000000000" pitchFamily="2" charset="-34"/>
                        </a:rPr>
                        <a:t>YoY, + 9.7% MoM </a:t>
                      </a:r>
                      <a:r>
                        <a:rPr lang="th-TH" sz="900" dirty="0">
                          <a:latin typeface="BLS Text" panose="00000500000000000000" pitchFamily="2" charset="-34"/>
                          <a:cs typeface="BLS Text" panose="00000500000000000000" pitchFamily="2" charset="-34"/>
                        </a:rPr>
                        <a:t>ขณะที่ ตัวเลขปริมาณขายของ </a:t>
                      </a:r>
                      <a:r>
                        <a:rPr lang="en-US" sz="900" dirty="0">
                          <a:latin typeface="BLS Text" panose="00000500000000000000" pitchFamily="2" charset="-34"/>
                          <a:cs typeface="BLS Text" panose="00000500000000000000" pitchFamily="2" charset="-34"/>
                        </a:rPr>
                        <a:t>ITC </a:t>
                      </a:r>
                      <a:r>
                        <a:rPr lang="th-TH" sz="900" dirty="0">
                          <a:latin typeface="BLS Text" panose="00000500000000000000" pitchFamily="2" charset="-34"/>
                          <a:cs typeface="BLS Text" panose="00000500000000000000" pitchFamily="2" charset="-34"/>
                        </a:rPr>
                        <a:t>ในไตรมาส 1 ที่เติบโต +11%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ควบคู่กับราคาขายที่ปรับเพิ่ม +9% </a:t>
                      </a:r>
                      <a:r>
                        <a:rPr lang="en-US" sz="900" dirty="0">
                          <a:latin typeface="BLS Text" panose="00000500000000000000" pitchFamily="2" charset="-34"/>
                          <a:cs typeface="BLS Text" panose="00000500000000000000" pitchFamily="2" charset="-34"/>
                        </a:rPr>
                        <a:t>YoY </a:t>
                      </a:r>
                      <a:r>
                        <a:rPr lang="th-TH" sz="900" dirty="0">
                          <a:latin typeface="BLS Text" panose="00000500000000000000" pitchFamily="2" charset="-34"/>
                          <a:cs typeface="BLS Text" panose="00000500000000000000" pitchFamily="2" charset="-34"/>
                        </a:rPr>
                        <a:t>หนุนให้อัตรากำไรขั้นต้น (</a:t>
                      </a:r>
                      <a:r>
                        <a:rPr lang="en-US" sz="900" dirty="0">
                          <a:latin typeface="BLS Text" panose="00000500000000000000" pitchFamily="2" charset="-34"/>
                          <a:cs typeface="BLS Text" panose="00000500000000000000" pitchFamily="2" charset="-34"/>
                        </a:rPr>
                        <a:t>gross margin) </a:t>
                      </a:r>
                      <a:r>
                        <a:rPr lang="th-TH" sz="900" dirty="0">
                          <a:latin typeface="BLS Text" panose="00000500000000000000" pitchFamily="2" charset="-34"/>
                          <a:cs typeface="BLS Text" panose="00000500000000000000" pitchFamily="2" charset="-34"/>
                        </a:rPr>
                        <a:t>ขยายตัวสู่ระดับ 24.3% แสดงถึงความสามารถในการส่งผ่านต้นทุน (</a:t>
                      </a:r>
                      <a:r>
                        <a:rPr lang="en-US" sz="900" dirty="0">
                          <a:latin typeface="BLS Text" panose="00000500000000000000" pitchFamily="2" charset="-34"/>
                          <a:cs typeface="BLS Text" panose="00000500000000000000" pitchFamily="2" charset="-34"/>
                        </a:rPr>
                        <a:t>pricing power) </a:t>
                      </a:r>
                      <a:r>
                        <a:rPr lang="th-TH" sz="900" dirty="0">
                          <a:latin typeface="BLS Text" panose="00000500000000000000" pitchFamily="2" charset="-34"/>
                          <a:cs typeface="BLS Text" panose="00000500000000000000" pitchFamily="2" charset="-34"/>
                        </a:rPr>
                        <a:t>ได้อย่างมีประสิทธิภาพ ผ่านทั้งสินค้า </a:t>
                      </a:r>
                      <a:r>
                        <a:rPr lang="en-US" sz="900" dirty="0">
                          <a:latin typeface="BLS Text" panose="00000500000000000000" pitchFamily="2" charset="-34"/>
                          <a:cs typeface="BLS Text" panose="00000500000000000000" pitchFamily="2" charset="-34"/>
                        </a:rPr>
                        <a:t>premium </a:t>
                      </a:r>
                      <a:r>
                        <a:rPr lang="th-TH" sz="900" dirty="0">
                          <a:latin typeface="BLS Text" panose="00000500000000000000" pitchFamily="2" charset="-34"/>
                          <a:cs typeface="BLS Text" panose="00000500000000000000" pitchFamily="2" charset="-34"/>
                        </a:rPr>
                        <a:t>และ </a:t>
                      </a:r>
                      <a:r>
                        <a:rPr lang="en-US" sz="900" dirty="0">
                          <a:latin typeface="BLS Text" panose="00000500000000000000" pitchFamily="2" charset="-34"/>
                          <a:cs typeface="BLS Text" panose="00000500000000000000" pitchFamily="2" charset="-34"/>
                        </a:rPr>
                        <a:t>private label </a:t>
                      </a:r>
                      <a:r>
                        <a:rPr lang="th-TH" sz="900" dirty="0">
                          <a:latin typeface="BLS Text" panose="00000500000000000000" pitchFamily="2" charset="-34"/>
                          <a:cs typeface="BLS Text" panose="00000500000000000000" pitchFamily="2" charset="-34"/>
                        </a:rPr>
                        <a:t>ส่งผลให้ </a:t>
                      </a:r>
                      <a:r>
                        <a:rPr lang="en-US" sz="900" dirty="0">
                          <a:latin typeface="BLS Text" panose="00000500000000000000" pitchFamily="2" charset="-34"/>
                          <a:cs typeface="BLS Text" panose="00000500000000000000" pitchFamily="2" charset="-34"/>
                        </a:rPr>
                        <a:t>earnings visibility </a:t>
                      </a:r>
                      <a:r>
                        <a:rPr lang="th-TH" sz="900" dirty="0">
                          <a:latin typeface="BLS Text" panose="00000500000000000000" pitchFamily="2" charset="-34"/>
                          <a:cs typeface="BLS Text" panose="00000500000000000000" pitchFamily="2" charset="-34"/>
                        </a:rPr>
                        <a:t>อยู่ในระดับสูงแม้ในภาวะต้นทุนผันผวน</a:t>
                      </a:r>
                    </a:p>
                  </a:txBody>
                  <a:tcPr marL="7982" marR="7982" marT="3991" marB="3991" anchor="ctr"/>
                </a:tc>
                <a:extLst>
                  <a:ext uri="{0D108BD9-81ED-4DB2-BD59-A6C34878D82A}">
                    <a16:rowId xmlns:a16="http://schemas.microsoft.com/office/drawing/2014/main" val="3255174300"/>
                  </a:ext>
                </a:extLst>
              </a:tr>
              <a:tr h="1164582">
                <a:tc>
                  <a:txBody>
                    <a:bodyPr/>
                    <a:lstStyle/>
                    <a:p>
                      <a:pPr algn="ctr"/>
                      <a:r>
                        <a:rPr lang="th-TH" sz="1000" b="1" dirty="0">
                          <a:solidFill>
                            <a:schemeClr val="accent1"/>
                          </a:solidFill>
                          <a:latin typeface="BLS Text" panose="00000500000000000000" pitchFamily="2" charset="-34"/>
                          <a:cs typeface="BLS Text" panose="00000500000000000000" pitchFamily="2" charset="-34"/>
                        </a:rPr>
                        <a:t>สินเชื่อจำนำทะเบียนยังอยู่ในระดับควบคุมได้-นโยบายรัฐฯ จะช่วยลดความเสี่ยงเครดิต </a:t>
                      </a:r>
                    </a:p>
                    <a:p>
                      <a:pPr algn="ctr"/>
                      <a:r>
                        <a:rPr lang="th-TH" sz="900" b="0" dirty="0">
                          <a:latin typeface="BLS Text" panose="00000500000000000000" pitchFamily="2" charset="-34"/>
                          <a:cs typeface="BLS Text" panose="00000500000000000000" pitchFamily="2" charset="-34"/>
                        </a:rPr>
                        <a:t>(</a:t>
                      </a:r>
                      <a:r>
                        <a:rPr lang="en-US" sz="900" b="0" dirty="0">
                          <a:latin typeface="BLS Text" panose="00000500000000000000" pitchFamily="2" charset="-34"/>
                          <a:cs typeface="BLS Text" panose="00000500000000000000" pitchFamily="2" charset="-34"/>
                        </a:rPr>
                        <a:t>Asset Quality Remains Manageable with Policy Backstop) </a:t>
                      </a:r>
                      <a:endParaRPr lang="th-TH" sz="900" b="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00" b="1" dirty="0">
                          <a:latin typeface="BLS Text" panose="00000500000000000000" pitchFamily="2" charset="-34"/>
                          <a:cs typeface="BLS Text" panose="00000500000000000000" pitchFamily="2" charset="-34"/>
                        </a:rPr>
                        <a:t>TIDLOR</a:t>
                      </a:r>
                    </a:p>
                  </a:txBody>
                  <a:tcPr marL="7982" marR="7982" marT="3991" marB="3991" anchor="ctr"/>
                </a:tc>
                <a:tc>
                  <a:txBody>
                    <a:bodyPr/>
                    <a:lstStyle/>
                    <a:p>
                      <a:pPr marL="91440" algn="just">
                        <a:spcAft>
                          <a:spcPts val="200"/>
                        </a:spcAft>
                      </a:pPr>
                      <a:r>
                        <a:rPr lang="th-TH" sz="900" dirty="0">
                          <a:latin typeface="BLS Text" panose="00000500000000000000" pitchFamily="2" charset="-34"/>
                          <a:cs typeface="BLS Text" panose="00000500000000000000" pitchFamily="2" charset="-34"/>
                        </a:rPr>
                        <a:t>คุณภาพสินทรัพย์ของ </a:t>
                      </a:r>
                      <a:r>
                        <a:rPr lang="en-US" sz="900" dirty="0">
                          <a:latin typeface="BLS Text" panose="00000500000000000000" pitchFamily="2" charset="-34"/>
                          <a:cs typeface="BLS Text" panose="00000500000000000000" pitchFamily="2" charset="-34"/>
                        </a:rPr>
                        <a:t>TIDLOR </a:t>
                      </a:r>
                      <a:r>
                        <a:rPr lang="th-TH" sz="900" dirty="0">
                          <a:latin typeface="BLS Text" panose="00000500000000000000" pitchFamily="2" charset="-34"/>
                          <a:cs typeface="BLS Text" panose="00000500000000000000" pitchFamily="2" charset="-34"/>
                        </a:rPr>
                        <a:t>คาดจะยังอยู่ในระดับควบคุมได้ในปี 2026 หลังตัวเลข </a:t>
                      </a:r>
                      <a:r>
                        <a:rPr lang="en-US" sz="900" dirty="0">
                          <a:latin typeface="BLS Text" panose="00000500000000000000" pitchFamily="2" charset="-34"/>
                          <a:cs typeface="BLS Text" panose="00000500000000000000" pitchFamily="2" charset="-34"/>
                        </a:rPr>
                        <a:t>NPL </a:t>
                      </a:r>
                      <a:r>
                        <a:rPr lang="th-TH" sz="900" dirty="0">
                          <a:latin typeface="BLS Text" panose="00000500000000000000" pitchFamily="2" charset="-34"/>
                          <a:cs typeface="BLS Text" panose="00000500000000000000" pitchFamily="2" charset="-34"/>
                        </a:rPr>
                        <a:t>สินเชื่อจำนำทะเบียนของ</a:t>
                      </a:r>
                      <a:r>
                        <a:rPr lang="en-US" sz="900" dirty="0">
                          <a:latin typeface="BLS Text" panose="00000500000000000000" pitchFamily="2" charset="-34"/>
                          <a:cs typeface="BLS Text" panose="00000500000000000000" pitchFamily="2" charset="-34"/>
                        </a:rPr>
                        <a:t> TISCO </a:t>
                      </a:r>
                      <a:r>
                        <a:rPr lang="th-TH" sz="900" dirty="0">
                          <a:latin typeface="BLS Text" panose="00000500000000000000" pitchFamily="2" charset="-34"/>
                          <a:cs typeface="BLS Text" panose="00000500000000000000" pitchFamily="2" charset="-34"/>
                        </a:rPr>
                        <a:t>ที่ออกมาแล้วลดลงจาก 5.00% ณ สิ้นปี 2025 เหลือ 4.73% ณ มี.ค. 2026 บ่งชี้ธุรกิจสินเชื่อจำนำทะเบียนภาพรวมยังอยู่ในเกณฑ์ดี</a:t>
                      </a:r>
                    </a:p>
                    <a:p>
                      <a:pPr marL="91440" algn="just"/>
                      <a:r>
                        <a:rPr lang="th-TH" sz="900" dirty="0">
                          <a:latin typeface="BLS Text" panose="00000500000000000000" pitchFamily="2" charset="-34"/>
                          <a:cs typeface="BLS Text" panose="00000500000000000000" pitchFamily="2" charset="-34"/>
                        </a:rPr>
                        <a:t>ขณะที่มาตรการ “ไทยช่วยไทยพลัส” จะช่วยจำกัด </a:t>
                      </a:r>
                      <a:r>
                        <a:rPr lang="en-US" sz="900" dirty="0">
                          <a:latin typeface="BLS Text" panose="00000500000000000000" pitchFamily="2" charset="-34"/>
                          <a:cs typeface="BLS Text" panose="00000500000000000000" pitchFamily="2" charset="-34"/>
                        </a:rPr>
                        <a:t>downside </a:t>
                      </a:r>
                      <a:r>
                        <a:rPr lang="th-TH" sz="900" dirty="0">
                          <a:latin typeface="BLS Text" panose="00000500000000000000" pitchFamily="2" charset="-34"/>
                          <a:cs typeface="BLS Text" panose="00000500000000000000" pitchFamily="2" charset="-34"/>
                        </a:rPr>
                        <a:t>โดยเปิดลงทะเบียน พ.ค. 2026 และเริ่มใช้ มิ.ย. 2026 รัฐสนับสนุน 60% วงเงิน 4,000 บาท/คน (เดือนละ 1,000 บาท นาน 4 เดือน) มาตรการนี้จะช่วยเพิ่มสภาพคล่องฐานราก กระตุ้นกำลังซื้อระยะสั้น และลดแรงกดดันภาระหนี้ ส่งผลเชิงบวกต่อคุณภาพสินทรัพย์ของกลุ่มสินเชื่อรายย่อยในช่วงเศรษฐกิจยังเปราะบาง</a:t>
                      </a:r>
                    </a:p>
                  </a:txBody>
                  <a:tcPr marL="7982" marR="7982" marT="3991" marB="3991" anchor="ctr"/>
                </a:tc>
                <a:extLst>
                  <a:ext uri="{0D108BD9-81ED-4DB2-BD59-A6C34878D82A}">
                    <a16:rowId xmlns:a16="http://schemas.microsoft.com/office/drawing/2014/main" val="36367751"/>
                  </a:ext>
                </a:extLst>
              </a:tr>
            </a:tbl>
          </a:graphicData>
        </a:graphic>
      </p:graphicFrame>
      <p:sp>
        <p:nvSpPr>
          <p:cNvPr id="14" name="TextBox 13">
            <a:extLst>
              <a:ext uri="{FF2B5EF4-FFF2-40B4-BE49-F238E27FC236}">
                <a16:creationId xmlns:a16="http://schemas.microsoft.com/office/drawing/2014/main" id="{1BAF3CAE-3639-0C0D-F423-AFDF57B744B8}"/>
              </a:ext>
            </a:extLst>
          </p:cNvPr>
          <p:cNvSpPr txBox="1">
            <a:spLocks noChangeArrowheads="1"/>
          </p:cNvSpPr>
          <p:nvPr/>
        </p:nvSpPr>
        <p:spPr bwMode="auto">
          <a:xfrm>
            <a:off x="228179" y="8836441"/>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spTree>
    <p:extLst>
      <p:ext uri="{BB962C8B-B14F-4D97-AF65-F5344CB8AC3E}">
        <p14:creationId xmlns:p14="http://schemas.microsoft.com/office/powerpoint/2010/main" val="2842899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74177"/>
          <a:stretch/>
        </p:blipFill>
        <p:spPr>
          <a:xfrm>
            <a:off x="0" y="-1"/>
            <a:ext cx="6858000" cy="8748461"/>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3055351"/>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305535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305535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3047177"/>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3043282"/>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3072923"/>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3063926"/>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18436"/>
            <a:ext cx="6439240" cy="1231106"/>
          </a:xfrm>
          <a:prstGeom prst="rect">
            <a:avLst/>
          </a:prstGeom>
          <a:noFill/>
        </p:spPr>
        <p:txBody>
          <a:bodyPr wrap="square">
            <a:spAutoFit/>
          </a:bodyPr>
          <a:lstStyle/>
          <a:p>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หุ้นที่มีการปรับประมาณการกำไรขึ้นในช่วง 1 เดือนที่ผ่านมา คิดเป็นสัดส่วนสูงถึง 55.3% ของมูลค่าตลาด</a:t>
            </a:r>
            <a:r>
              <a:rPr lang="en-US"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จำกัด</a:t>
            </a:r>
            <a:r>
              <a:rPr lang="en-US"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 downside</a:t>
            </a:r>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 ของ </a:t>
            </a:r>
            <a:r>
              <a:rPr lang="en-US"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SET</a:t>
            </a:r>
            <a:endPar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spcBef>
                <a:spcPts val="300"/>
              </a:spcBef>
            </a:pPr>
            <a:r>
              <a:rPr lang="th-TH"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และหากพิจารณาหุ้นที่มีแนวโน้มกำไรไตรมาส 2 เติบโต </a:t>
            </a:r>
            <a:r>
              <a:rPr lang="en-US"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YoY </a:t>
            </a:r>
            <a:r>
              <a:rPr lang="th-TH"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จะครอบคลุมราว 48.8% ของ </a:t>
            </a:r>
            <a:r>
              <a:rPr lang="en-US"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market cap</a:t>
            </a:r>
            <a:r>
              <a:rPr lang="th-TH"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นำโดยหุ้นขนาดใหญ่ เช่น </a:t>
            </a:r>
          </a:p>
          <a:p>
            <a:r>
              <a:rPr lang="en-US"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PTTGC ( </a:t>
            </a:r>
            <a:r>
              <a:rPr lang="th-TH"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ปรับประมาณการกำไรขึ้น +77.3% ใน 1 เดือนที่ผ่านมา), </a:t>
            </a:r>
            <a:r>
              <a:rPr lang="en-US" altLang="en-US" sz="1050" dirty="0">
                <a:solidFill>
                  <a:schemeClr val="bg1">
                    <a:lumMod val="50000"/>
                  </a:schemeClr>
                </a:solidFill>
                <a:latin typeface="BLS Condensed Bold" panose="00000800000000000000" pitchFamily="2" charset="-34"/>
                <a:ea typeface="Tahoma" pitchFamily="34" charset="0"/>
                <a:cs typeface="BLS Condensed Bold" panose="00000800000000000000" pitchFamily="2" charset="-34"/>
              </a:rPr>
              <a:t>TOP (+15.8%), PTTEP (+13.2%), SCC (+6.5%), DELTA (+3.9%), PTT (+2.4%), TRUE (+1.3%), GULF (+1.3%)</a:t>
            </a:r>
            <a:endParaRPr lang="en-US" altLang="en-US" sz="1050" dirty="0">
              <a:solidFill>
                <a:schemeClr val="bg1">
                  <a:lumMod val="6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14" name="TextBox 13">
            <a:extLst>
              <a:ext uri="{FF2B5EF4-FFF2-40B4-BE49-F238E27FC236}">
                <a16:creationId xmlns:a16="http://schemas.microsoft.com/office/drawing/2014/main" id="{1BAF3CAE-3639-0C0D-F423-AFDF57B744B8}"/>
              </a:ext>
            </a:extLst>
          </p:cNvPr>
          <p:cNvSpPr txBox="1">
            <a:spLocks noChangeArrowheads="1"/>
          </p:cNvSpPr>
          <p:nvPr/>
        </p:nvSpPr>
        <p:spPr bwMode="auto">
          <a:xfrm>
            <a:off x="228179" y="8836441"/>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pic>
        <p:nvPicPr>
          <p:cNvPr id="4" name="Picture 3">
            <a:extLst>
              <a:ext uri="{FF2B5EF4-FFF2-40B4-BE49-F238E27FC236}">
                <a16:creationId xmlns:a16="http://schemas.microsoft.com/office/drawing/2014/main" id="{58299B8D-4CA1-2E6C-A507-DFCE36B9AE93}"/>
              </a:ext>
            </a:extLst>
          </p:cNvPr>
          <p:cNvPicPr>
            <a:picLocks noChangeAspect="1"/>
          </p:cNvPicPr>
          <p:nvPr/>
        </p:nvPicPr>
        <p:blipFill>
          <a:blip r:embed="rId7"/>
          <a:stretch>
            <a:fillRect/>
          </a:stretch>
        </p:blipFill>
        <p:spPr>
          <a:xfrm>
            <a:off x="116632" y="2280165"/>
            <a:ext cx="3151637" cy="2219827"/>
          </a:xfrm>
          <a:prstGeom prst="rect">
            <a:avLst/>
          </a:prstGeom>
        </p:spPr>
      </p:pic>
      <p:pic>
        <p:nvPicPr>
          <p:cNvPr id="6" name="Picture 5">
            <a:extLst>
              <a:ext uri="{FF2B5EF4-FFF2-40B4-BE49-F238E27FC236}">
                <a16:creationId xmlns:a16="http://schemas.microsoft.com/office/drawing/2014/main" id="{62A39BA5-434E-F1CD-94F6-E13B0DCDFEB2}"/>
              </a:ext>
            </a:extLst>
          </p:cNvPr>
          <p:cNvPicPr>
            <a:picLocks noChangeAspect="1"/>
          </p:cNvPicPr>
          <p:nvPr/>
        </p:nvPicPr>
        <p:blipFill>
          <a:blip r:embed="rId8"/>
          <a:stretch>
            <a:fillRect/>
          </a:stretch>
        </p:blipFill>
        <p:spPr>
          <a:xfrm>
            <a:off x="3573016" y="2280164"/>
            <a:ext cx="3151637" cy="2219827"/>
          </a:xfrm>
          <a:prstGeom prst="rect">
            <a:avLst/>
          </a:prstGeom>
        </p:spPr>
      </p:pic>
      <p:sp>
        <p:nvSpPr>
          <p:cNvPr id="11" name="TextBox 10">
            <a:extLst>
              <a:ext uri="{FF2B5EF4-FFF2-40B4-BE49-F238E27FC236}">
                <a16:creationId xmlns:a16="http://schemas.microsoft.com/office/drawing/2014/main" id="{1026DB76-38D0-DC83-3307-31B908C2DB26}"/>
              </a:ext>
            </a:extLst>
          </p:cNvPr>
          <p:cNvSpPr txBox="1"/>
          <p:nvPr/>
        </p:nvSpPr>
        <p:spPr>
          <a:xfrm>
            <a:off x="171692" y="2137523"/>
            <a:ext cx="2537228" cy="215444"/>
          </a:xfrm>
          <a:prstGeom prst="rect">
            <a:avLst/>
          </a:prstGeom>
          <a:noFill/>
        </p:spPr>
        <p:txBody>
          <a:bodyPr wrap="square" rtlCol="0">
            <a:spAutoFit/>
          </a:bodyPr>
          <a:lstStyle/>
          <a:p>
            <a:r>
              <a:rPr lang="en-US" sz="800" b="1" dirty="0">
                <a:solidFill>
                  <a:schemeClr val="tx1">
                    <a:lumMod val="95000"/>
                    <a:lumOff val="5000"/>
                  </a:schemeClr>
                </a:solidFill>
                <a:latin typeface="BLS Condensed" pitchFamily="2" charset="-34"/>
                <a:ea typeface="Tahoma" pitchFamily="34" charset="0"/>
                <a:cs typeface="BLS Condensed" pitchFamily="2" charset="-34"/>
              </a:rPr>
              <a:t>% of SET Market Cap with Positive Earnings Revisions (Apr)</a:t>
            </a:r>
          </a:p>
        </p:txBody>
      </p:sp>
      <p:sp>
        <p:nvSpPr>
          <p:cNvPr id="13" name="TextBox 12">
            <a:extLst>
              <a:ext uri="{FF2B5EF4-FFF2-40B4-BE49-F238E27FC236}">
                <a16:creationId xmlns:a16="http://schemas.microsoft.com/office/drawing/2014/main" id="{D44E6968-C40A-BCEA-8D75-C4E3A9C9CACD}"/>
              </a:ext>
            </a:extLst>
          </p:cNvPr>
          <p:cNvSpPr txBox="1"/>
          <p:nvPr/>
        </p:nvSpPr>
        <p:spPr>
          <a:xfrm>
            <a:off x="3467345" y="2073206"/>
            <a:ext cx="3151636" cy="338554"/>
          </a:xfrm>
          <a:prstGeom prst="rect">
            <a:avLst/>
          </a:prstGeom>
          <a:noFill/>
        </p:spPr>
        <p:txBody>
          <a:bodyPr wrap="square" rtlCol="0">
            <a:spAutoFit/>
          </a:bodyPr>
          <a:lstStyle/>
          <a:p>
            <a:r>
              <a:rPr lang="en-US" sz="800" b="1" dirty="0">
                <a:solidFill>
                  <a:schemeClr val="tx1">
                    <a:lumMod val="95000"/>
                    <a:lumOff val="5000"/>
                  </a:schemeClr>
                </a:solidFill>
                <a:latin typeface="BLS Condensed" pitchFamily="2" charset="-34"/>
                <a:ea typeface="Tahoma" pitchFamily="34" charset="0"/>
                <a:cs typeface="BLS Condensed" pitchFamily="2" charset="-34"/>
              </a:rPr>
              <a:t>% of SET Market Cap with Positive Earnings Revisions (Apr) and 2Q26E YoY Earnings Growth/Turnaround</a:t>
            </a:r>
          </a:p>
        </p:txBody>
      </p:sp>
      <p:pic>
        <p:nvPicPr>
          <p:cNvPr id="16" name="Picture 15">
            <a:extLst>
              <a:ext uri="{FF2B5EF4-FFF2-40B4-BE49-F238E27FC236}">
                <a16:creationId xmlns:a16="http://schemas.microsoft.com/office/drawing/2014/main" id="{3086ACCC-53D4-AD25-993E-F9FF56FFC26C}"/>
              </a:ext>
            </a:extLst>
          </p:cNvPr>
          <p:cNvPicPr>
            <a:picLocks noChangeAspect="1"/>
          </p:cNvPicPr>
          <p:nvPr/>
        </p:nvPicPr>
        <p:blipFill>
          <a:blip r:embed="rId9"/>
          <a:stretch>
            <a:fillRect/>
          </a:stretch>
        </p:blipFill>
        <p:spPr>
          <a:xfrm>
            <a:off x="179741" y="4545709"/>
            <a:ext cx="6544912" cy="4130747"/>
          </a:xfrm>
          <a:prstGeom prst="rect">
            <a:avLst/>
          </a:prstGeom>
        </p:spPr>
      </p:pic>
    </p:spTree>
    <p:extLst>
      <p:ext uri="{BB962C8B-B14F-4D97-AF65-F5344CB8AC3E}">
        <p14:creationId xmlns:p14="http://schemas.microsoft.com/office/powerpoint/2010/main" val="3736200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8730610-1C9D-4B76-AA1D-243E2AA95217}"/>
              </a:ext>
            </a:extLst>
          </p:cNvPr>
          <p:cNvSpPr/>
          <p:nvPr/>
        </p:nvSpPr>
        <p:spPr>
          <a:xfrm>
            <a:off x="297857" y="8699318"/>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30A7874-9884-6F40-7A7B-C3695B4B44CA}"/>
              </a:ext>
            </a:extLst>
          </p:cNvPr>
          <p:cNvSpPr txBox="1"/>
          <p:nvPr/>
        </p:nvSpPr>
        <p:spPr>
          <a:xfrm>
            <a:off x="294483" y="2382103"/>
            <a:ext cx="5362488" cy="215444"/>
          </a:xfrm>
          <a:prstGeom prst="rect">
            <a:avLst/>
          </a:prstGeom>
          <a:noFill/>
        </p:spPr>
        <p:txBody>
          <a:bodyPr wrap="square" rtlCol="0">
            <a:spAutoFit/>
          </a:bodyPr>
          <a:lstStyle/>
          <a:p>
            <a:r>
              <a:rPr lang="en-US" sz="800" b="1" dirty="0">
                <a:solidFill>
                  <a:schemeClr val="tx1">
                    <a:lumMod val="95000"/>
                    <a:lumOff val="5000"/>
                  </a:schemeClr>
                </a:solidFill>
                <a:latin typeface="BLS Condensed" pitchFamily="2" charset="-34"/>
                <a:ea typeface="Tahoma" pitchFamily="34" charset="0"/>
                <a:cs typeface="BLS Condensed" pitchFamily="2" charset="-34"/>
              </a:rPr>
              <a:t>Earnings</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en-US" sz="800" b="1" dirty="0">
                <a:solidFill>
                  <a:schemeClr val="tx1">
                    <a:lumMod val="95000"/>
                    <a:lumOff val="5000"/>
                  </a:schemeClr>
                </a:solidFill>
                <a:latin typeface="BLS Condensed" pitchFamily="2" charset="-34"/>
                <a:ea typeface="Tahoma" pitchFamily="34" charset="0"/>
                <a:cs typeface="BLS Condensed" pitchFamily="2" charset="-34"/>
              </a:rPr>
              <a:t>forecast revisioning and revision breadth for 202</a:t>
            </a:r>
            <a:r>
              <a:rPr lang="th-TH" sz="800" b="1" dirty="0">
                <a:solidFill>
                  <a:schemeClr val="tx1">
                    <a:lumMod val="95000"/>
                    <a:lumOff val="5000"/>
                  </a:schemeClr>
                </a:solidFill>
                <a:latin typeface="BLS Condensed" pitchFamily="2" charset="-34"/>
                <a:ea typeface="Tahoma" pitchFamily="34" charset="0"/>
                <a:cs typeface="BLS Condensed" pitchFamily="2" charset="-34"/>
              </a:rPr>
              <a:t>6</a:t>
            </a:r>
            <a:r>
              <a:rPr lang="en-US" sz="800" b="1" dirty="0">
                <a:solidFill>
                  <a:schemeClr val="tx1">
                    <a:lumMod val="95000"/>
                    <a:lumOff val="5000"/>
                  </a:schemeClr>
                </a:solidFill>
                <a:latin typeface="BLS Condensed" pitchFamily="2" charset="-34"/>
                <a:ea typeface="Tahoma" pitchFamily="34" charset="0"/>
                <a:cs typeface="BLS Condensed" pitchFamily="2" charset="-34"/>
              </a:rPr>
              <a:t>E (consensus number)</a:t>
            </a:r>
          </a:p>
        </p:txBody>
      </p:sp>
      <p:cxnSp>
        <p:nvCxnSpPr>
          <p:cNvPr id="8" name="Straight Connector 7">
            <a:extLst>
              <a:ext uri="{FF2B5EF4-FFF2-40B4-BE49-F238E27FC236}">
                <a16:creationId xmlns:a16="http://schemas.microsoft.com/office/drawing/2014/main" id="{431CD9AF-DE2B-9DBA-95CF-FA1BD90A70CD}"/>
              </a:ext>
            </a:extLst>
          </p:cNvPr>
          <p:cNvCxnSpPr/>
          <p:nvPr/>
        </p:nvCxnSpPr>
        <p:spPr>
          <a:xfrm>
            <a:off x="314671" y="2382103"/>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E5D6FE-F75B-0F5F-BC34-2D8FC6E988D2}"/>
              </a:ext>
            </a:extLst>
          </p:cNvPr>
          <p:cNvSpPr txBox="1">
            <a:spLocks/>
          </p:cNvSpPr>
          <p:nvPr/>
        </p:nvSpPr>
        <p:spPr>
          <a:xfrm>
            <a:off x="234620" y="637415"/>
            <a:ext cx="3177416" cy="127028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thaiDist">
              <a:lnSpc>
                <a:spcPts val="1600"/>
              </a:lnSpc>
              <a:spcBef>
                <a:spcPts val="300"/>
              </a:spcBef>
              <a:buSzPct val="120000"/>
              <a:buNone/>
            </a:pPr>
            <a:r>
              <a:rPr lang="th-TH" sz="1000" b="1" dirty="0">
                <a:solidFill>
                  <a:schemeClr val="tx1">
                    <a:lumMod val="75000"/>
                    <a:lumOff val="25000"/>
                  </a:schemeClr>
                </a:solidFill>
                <a:latin typeface="BLS Text" pitchFamily="2" charset="-34"/>
                <a:cs typeface="BLS Text" pitchFamily="2" charset="-34"/>
              </a:rPr>
              <a:t>กำไรตลาด (</a:t>
            </a:r>
            <a:r>
              <a:rPr lang="en-US" sz="1000" b="1" dirty="0">
                <a:solidFill>
                  <a:schemeClr val="tx1">
                    <a:lumMod val="75000"/>
                    <a:lumOff val="25000"/>
                  </a:schemeClr>
                </a:solidFill>
                <a:latin typeface="BLS Text" pitchFamily="2" charset="-34"/>
                <a:cs typeface="BLS Text" pitchFamily="2" charset="-34"/>
              </a:rPr>
              <a:t>SET earnings) </a:t>
            </a:r>
            <a:r>
              <a:rPr lang="th-TH" sz="1000" b="1" dirty="0">
                <a:solidFill>
                  <a:schemeClr val="tx1">
                    <a:lumMod val="75000"/>
                    <a:lumOff val="25000"/>
                  </a:schemeClr>
                </a:solidFill>
                <a:latin typeface="BLS Text" pitchFamily="2" charset="-34"/>
                <a:cs typeface="BLS Text" pitchFamily="2" charset="-34"/>
              </a:rPr>
              <a:t>ในเดือนเมษายนปรับเพิ่มขึ้น +1.4% (จาก +0.9% ตั้งแต่ต้นปี) </a:t>
            </a:r>
            <a:r>
              <a:rPr lang="th-TH" sz="1000" dirty="0">
                <a:solidFill>
                  <a:schemeClr val="tx1">
                    <a:lumMod val="75000"/>
                    <a:lumOff val="25000"/>
                  </a:schemeClr>
                </a:solidFill>
                <a:latin typeface="BLS Text" pitchFamily="2" charset="-34"/>
                <a:cs typeface="BLS Text" pitchFamily="2" charset="-34"/>
              </a:rPr>
              <a:t>แต่แรงหนุนมาจากเพียงไม่กี่กลุ่ม ได้แก่ กลุ่มวัฏจักร (</a:t>
            </a:r>
            <a:r>
              <a:rPr lang="en-US" sz="1000" dirty="0">
                <a:solidFill>
                  <a:schemeClr val="tx1">
                    <a:lumMod val="75000"/>
                    <a:lumOff val="25000"/>
                  </a:schemeClr>
                </a:solidFill>
                <a:latin typeface="BLS Text" pitchFamily="2" charset="-34"/>
                <a:cs typeface="BLS Text" pitchFamily="2" charset="-34"/>
              </a:rPr>
              <a:t>cyclical stocks) </a:t>
            </a:r>
            <a:r>
              <a:rPr lang="th-TH" sz="1000" dirty="0">
                <a:solidFill>
                  <a:schemeClr val="tx1">
                    <a:lumMod val="75000"/>
                    <a:lumOff val="25000"/>
                  </a:schemeClr>
                </a:solidFill>
                <a:latin typeface="BLS Text" pitchFamily="2" charset="-34"/>
                <a:cs typeface="BLS Text" pitchFamily="2" charset="-34"/>
              </a:rPr>
              <a:t>ได้แก่</a:t>
            </a:r>
            <a:r>
              <a:rPr lang="en-US" sz="1000" dirty="0">
                <a:solidFill>
                  <a:schemeClr val="tx1">
                    <a:lumMod val="75000"/>
                    <a:lumOff val="25000"/>
                  </a:schemeClr>
                </a:solidFill>
                <a:latin typeface="BLS Text" pitchFamily="2" charset="-34"/>
                <a:cs typeface="BLS Text" pitchFamily="2" charset="-34"/>
              </a:rPr>
              <a:t> </a:t>
            </a:r>
            <a:r>
              <a:rPr lang="th-TH" sz="1000" dirty="0">
                <a:solidFill>
                  <a:schemeClr val="tx1">
                    <a:lumMod val="75000"/>
                    <a:lumOff val="25000"/>
                  </a:schemeClr>
                </a:solidFill>
                <a:latin typeface="BLS Text" pitchFamily="2" charset="-34"/>
                <a:cs typeface="BLS Text" pitchFamily="2" charset="-34"/>
              </a:rPr>
              <a:t> พลังงานและปิโตรเคมี ซึ่งได้ประโยชน์จากราคาสินค้าโภคภัณฑ์ที่ปรับตัวสูงขึ้น (</a:t>
            </a:r>
            <a:r>
              <a:rPr lang="en-US" sz="1000" dirty="0">
                <a:solidFill>
                  <a:schemeClr val="tx1">
                    <a:lumMod val="75000"/>
                    <a:lumOff val="25000"/>
                  </a:schemeClr>
                </a:solidFill>
                <a:latin typeface="BLS Text" pitchFamily="2" charset="-34"/>
                <a:cs typeface="BLS Text" pitchFamily="2" charset="-34"/>
              </a:rPr>
              <a:t>commodity upcycle) </a:t>
            </a:r>
            <a:r>
              <a:rPr lang="th-TH" sz="1000" dirty="0">
                <a:solidFill>
                  <a:schemeClr val="tx1">
                    <a:lumMod val="75000"/>
                    <a:lumOff val="25000"/>
                  </a:schemeClr>
                </a:solidFill>
                <a:latin typeface="BLS Text" pitchFamily="2" charset="-34"/>
                <a:cs typeface="BLS Text" pitchFamily="2" charset="-34"/>
              </a:rPr>
              <a:t>ทั้งค่าการกลั่น (</a:t>
            </a:r>
            <a:r>
              <a:rPr lang="en-US" sz="1000" dirty="0">
                <a:solidFill>
                  <a:schemeClr val="tx1">
                    <a:lumMod val="75000"/>
                    <a:lumOff val="25000"/>
                  </a:schemeClr>
                </a:solidFill>
                <a:latin typeface="BLS Text" pitchFamily="2" charset="-34"/>
                <a:cs typeface="BLS Text" pitchFamily="2" charset="-34"/>
              </a:rPr>
              <a:t>GRM) </a:t>
            </a:r>
            <a:r>
              <a:rPr lang="th-TH" sz="1000" dirty="0">
                <a:solidFill>
                  <a:schemeClr val="tx1">
                    <a:lumMod val="75000"/>
                    <a:lumOff val="25000"/>
                  </a:schemeClr>
                </a:solidFill>
                <a:latin typeface="BLS Text" pitchFamily="2" charset="-34"/>
                <a:cs typeface="BLS Text" pitchFamily="2" charset="-34"/>
              </a:rPr>
              <a:t>และส่วนต่างปิโตรเคมี (</a:t>
            </a:r>
            <a:r>
              <a:rPr lang="en-US" sz="1000" dirty="0">
                <a:solidFill>
                  <a:schemeClr val="tx1">
                    <a:lumMod val="75000"/>
                    <a:lumOff val="25000"/>
                  </a:schemeClr>
                </a:solidFill>
                <a:latin typeface="BLS Text" pitchFamily="2" charset="-34"/>
                <a:cs typeface="BLS Text" pitchFamily="2" charset="-34"/>
              </a:rPr>
              <a:t>chemical spreads) </a:t>
            </a:r>
            <a:r>
              <a:rPr lang="th-TH" sz="1000" dirty="0">
                <a:solidFill>
                  <a:schemeClr val="tx1">
                    <a:lumMod val="75000"/>
                    <a:lumOff val="25000"/>
                  </a:schemeClr>
                </a:solidFill>
                <a:latin typeface="BLS Text" pitchFamily="2" charset="-34"/>
                <a:cs typeface="BLS Text" pitchFamily="2" charset="-34"/>
              </a:rPr>
              <a:t>ขณะเดียวกัน กลุ่มอิเล็กทรอนิกส์ยังได้รับแรง</a:t>
            </a:r>
            <a:r>
              <a:rPr lang="en-US" sz="1000" dirty="0">
                <a:solidFill>
                  <a:schemeClr val="tx1">
                    <a:lumMod val="75000"/>
                    <a:lumOff val="25000"/>
                  </a:schemeClr>
                </a:solidFill>
                <a:latin typeface="BLS Text" pitchFamily="2" charset="-34"/>
                <a:cs typeface="BLS Text" pitchFamily="2" charset="-34"/>
              </a:rPr>
              <a:t> </a:t>
            </a:r>
            <a:r>
              <a:rPr lang="th-TH" sz="1000" dirty="0">
                <a:solidFill>
                  <a:schemeClr val="tx1">
                    <a:lumMod val="75000"/>
                    <a:lumOff val="25000"/>
                  </a:schemeClr>
                </a:solidFill>
                <a:latin typeface="BLS Text" pitchFamily="2" charset="-34"/>
                <a:cs typeface="BLS Text" pitchFamily="2" charset="-34"/>
              </a:rPr>
              <a:t>หนุนจากอุปสงค์ด้าน </a:t>
            </a:r>
            <a:r>
              <a:rPr lang="en-US" sz="1000" dirty="0">
                <a:solidFill>
                  <a:schemeClr val="tx1">
                    <a:lumMod val="75000"/>
                    <a:lumOff val="25000"/>
                  </a:schemeClr>
                </a:solidFill>
                <a:latin typeface="BLS Text" pitchFamily="2" charset="-34"/>
                <a:cs typeface="BLS Text" pitchFamily="2" charset="-34"/>
              </a:rPr>
              <a:t>AI </a:t>
            </a:r>
            <a:endParaRPr lang="th-TH" sz="1000" b="1" dirty="0">
              <a:solidFill>
                <a:schemeClr val="accent1"/>
              </a:solidFill>
              <a:latin typeface="BLS Text" pitchFamily="2" charset="-34"/>
              <a:cs typeface="BLS Text" pitchFamily="2" charset="-34"/>
            </a:endParaRPr>
          </a:p>
        </p:txBody>
      </p:sp>
      <p:sp>
        <p:nvSpPr>
          <p:cNvPr id="4" name="Content Placeholder 2">
            <a:extLst>
              <a:ext uri="{FF2B5EF4-FFF2-40B4-BE49-F238E27FC236}">
                <a16:creationId xmlns:a16="http://schemas.microsoft.com/office/drawing/2014/main" id="{840D0975-A1C2-3868-F88D-83A04C9B6685}"/>
              </a:ext>
            </a:extLst>
          </p:cNvPr>
          <p:cNvSpPr txBox="1">
            <a:spLocks/>
          </p:cNvSpPr>
          <p:nvPr/>
        </p:nvSpPr>
        <p:spPr>
          <a:xfrm>
            <a:off x="3475930" y="651769"/>
            <a:ext cx="3123083" cy="10399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thaiDist">
              <a:lnSpc>
                <a:spcPts val="1600"/>
              </a:lnSpc>
              <a:spcBef>
                <a:spcPts val="300"/>
              </a:spcBef>
              <a:buSzPct val="120000"/>
              <a:buNone/>
            </a:pPr>
            <a:r>
              <a:rPr lang="th-TH" sz="1000" dirty="0">
                <a:solidFill>
                  <a:schemeClr val="tx1">
                    <a:lumMod val="75000"/>
                    <a:lumOff val="25000"/>
                  </a:schemeClr>
                </a:solidFill>
                <a:latin typeface="BLS Text" pitchFamily="2" charset="-34"/>
                <a:cs typeface="BLS Text" pitchFamily="2" charset="-34"/>
              </a:rPr>
              <a:t>และ </a:t>
            </a:r>
            <a:r>
              <a:rPr lang="en-US" sz="1000" dirty="0">
                <a:solidFill>
                  <a:schemeClr val="tx1">
                    <a:lumMod val="75000"/>
                    <a:lumOff val="25000"/>
                  </a:schemeClr>
                </a:solidFill>
                <a:latin typeface="BLS Text" pitchFamily="2" charset="-34"/>
                <a:cs typeface="BLS Text" pitchFamily="2" charset="-34"/>
              </a:rPr>
              <a:t>data center </a:t>
            </a:r>
            <a:r>
              <a:rPr lang="th-TH" sz="1000" dirty="0">
                <a:solidFill>
                  <a:schemeClr val="tx1">
                    <a:lumMod val="75000"/>
                    <a:lumOff val="25000"/>
                  </a:schemeClr>
                </a:solidFill>
                <a:latin typeface="BLS Text" pitchFamily="2" charset="-34"/>
                <a:cs typeface="BLS Text" pitchFamily="2" charset="-34"/>
              </a:rPr>
              <a:t>ที่แข็งแกร่ง (</a:t>
            </a:r>
            <a:r>
              <a:rPr lang="en-US" sz="1000" dirty="0">
                <a:solidFill>
                  <a:schemeClr val="tx1">
                    <a:lumMod val="75000"/>
                    <a:lumOff val="25000"/>
                  </a:schemeClr>
                </a:solidFill>
                <a:latin typeface="BLS Text" pitchFamily="2" charset="-34"/>
                <a:cs typeface="BLS Text" pitchFamily="2" charset="-34"/>
              </a:rPr>
              <a:t>AI-driven demand) </a:t>
            </a:r>
            <a:r>
              <a:rPr lang="th-TH" sz="1000" dirty="0">
                <a:solidFill>
                  <a:schemeClr val="tx1">
                    <a:lumMod val="75000"/>
                    <a:lumOff val="25000"/>
                  </a:schemeClr>
                </a:solidFill>
                <a:latin typeface="BLS Text" pitchFamily="2" charset="-34"/>
                <a:cs typeface="BLS Text" pitchFamily="2" charset="-34"/>
              </a:rPr>
              <a:t>ในทางตรงกันข้าม กลุ่มที่มีความอ่อนไหวต่อต้นทุนพลังงาน (</a:t>
            </a:r>
            <a:r>
              <a:rPr lang="en-US" sz="1000" dirty="0">
                <a:solidFill>
                  <a:schemeClr val="tx1">
                    <a:lumMod val="75000"/>
                    <a:lumOff val="25000"/>
                  </a:schemeClr>
                </a:solidFill>
                <a:latin typeface="BLS Text" pitchFamily="2" charset="-34"/>
                <a:cs typeface="BLS Text" pitchFamily="2" charset="-34"/>
              </a:rPr>
              <a:t>energy-sensitive sectors) </a:t>
            </a:r>
            <a:r>
              <a:rPr lang="th-TH" sz="1000" dirty="0">
                <a:solidFill>
                  <a:schemeClr val="tx1">
                    <a:lumMod val="75000"/>
                    <a:lumOff val="25000"/>
                  </a:schemeClr>
                </a:solidFill>
                <a:latin typeface="BLS Text" pitchFamily="2" charset="-34"/>
                <a:cs typeface="BLS Text" pitchFamily="2" charset="-34"/>
              </a:rPr>
              <a:t>เริ่มเผชิญการปรับลดประมาณการกำไร (</a:t>
            </a:r>
            <a:r>
              <a:rPr lang="en-US" sz="1000" dirty="0">
                <a:solidFill>
                  <a:schemeClr val="tx1">
                    <a:lumMod val="75000"/>
                    <a:lumOff val="25000"/>
                  </a:schemeClr>
                </a:solidFill>
                <a:latin typeface="BLS Text" pitchFamily="2" charset="-34"/>
                <a:cs typeface="BLS Text" pitchFamily="2" charset="-34"/>
              </a:rPr>
              <a:t>earnings downgrade) </a:t>
            </a:r>
            <a:r>
              <a:rPr lang="th-TH" sz="1000" dirty="0">
                <a:solidFill>
                  <a:schemeClr val="tx1">
                    <a:lumMod val="75000"/>
                    <a:lumOff val="25000"/>
                  </a:schemeClr>
                </a:solidFill>
                <a:latin typeface="BLS Text" pitchFamily="2" charset="-34"/>
                <a:cs typeface="BLS Text" pitchFamily="2" charset="-34"/>
              </a:rPr>
              <a:t>อาทิ กลุ่มสายการบิน (</a:t>
            </a:r>
            <a:r>
              <a:rPr lang="en-US" sz="1000" dirty="0">
                <a:solidFill>
                  <a:schemeClr val="tx1">
                    <a:lumMod val="75000"/>
                    <a:lumOff val="25000"/>
                  </a:schemeClr>
                </a:solidFill>
                <a:latin typeface="BLS Text" pitchFamily="2" charset="-34"/>
                <a:cs typeface="BLS Text" pitchFamily="2" charset="-34"/>
              </a:rPr>
              <a:t>airlines) </a:t>
            </a:r>
            <a:r>
              <a:rPr lang="th-TH" sz="1000" dirty="0">
                <a:solidFill>
                  <a:schemeClr val="tx1">
                    <a:lumMod val="75000"/>
                    <a:lumOff val="25000"/>
                  </a:schemeClr>
                </a:solidFill>
                <a:latin typeface="BLS Text" pitchFamily="2" charset="-34"/>
                <a:cs typeface="BLS Text" pitchFamily="2" charset="-34"/>
              </a:rPr>
              <a:t>รวมถึงกลุ่มที่เชื่อมโยงการบริโภคในประเทศ เช่น ค้าปลีก อสังหาริมทรัพย์ และการเงิน ซึ่งสะท้อนแรงกดดันจากต้นทุนพลังงานและค่าครองชีพที่เพิ่มขึ้น </a:t>
            </a:r>
          </a:p>
          <a:p>
            <a:pPr marL="0" indent="0" algn="thaiDist">
              <a:lnSpc>
                <a:spcPts val="1600"/>
              </a:lnSpc>
              <a:spcBef>
                <a:spcPts val="300"/>
              </a:spcBef>
              <a:buSzPct val="120000"/>
              <a:buNone/>
            </a:pPr>
            <a:endParaRPr lang="th-TH" sz="1000" dirty="0">
              <a:solidFill>
                <a:schemeClr val="tx1">
                  <a:lumMod val="75000"/>
                  <a:lumOff val="25000"/>
                </a:schemeClr>
              </a:solidFill>
              <a:latin typeface="BLS Text" pitchFamily="2" charset="-34"/>
              <a:cs typeface="BLS Text" pitchFamily="2" charset="-34"/>
            </a:endParaRPr>
          </a:p>
        </p:txBody>
      </p:sp>
      <p:sp>
        <p:nvSpPr>
          <p:cNvPr id="29" name="TextBox 28">
            <a:extLst>
              <a:ext uri="{FF2B5EF4-FFF2-40B4-BE49-F238E27FC236}">
                <a16:creationId xmlns:a16="http://schemas.microsoft.com/office/drawing/2014/main" id="{B373B673-1405-7D5B-AE8A-321BB7AB0067}"/>
              </a:ext>
            </a:extLst>
          </p:cNvPr>
          <p:cNvSpPr txBox="1">
            <a:spLocks noChangeArrowheads="1"/>
          </p:cNvSpPr>
          <p:nvPr/>
        </p:nvSpPr>
        <p:spPr bwMode="auto">
          <a:xfrm>
            <a:off x="374681" y="8851830"/>
            <a:ext cx="310904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600" dirty="0">
                <a:solidFill>
                  <a:srgbClr val="404040"/>
                </a:solidFill>
                <a:latin typeface="BLS Condensed" pitchFamily="2" charset="-34"/>
                <a:cs typeface="BLS Condensed" pitchFamily="2" charset="-34"/>
              </a:rPr>
              <a:t>Sources:</a:t>
            </a:r>
            <a:r>
              <a:rPr lang="en-GB" sz="600" dirty="0">
                <a:solidFill>
                  <a:srgbClr val="404040"/>
                </a:solidFill>
                <a:latin typeface="BLS Condensed" pitchFamily="2" charset="-34"/>
                <a:cs typeface="BLS Condensed" pitchFamily="2" charset="-34"/>
              </a:rPr>
              <a:t> </a:t>
            </a:r>
            <a:r>
              <a:rPr lang="en-US" sz="600" dirty="0">
                <a:solidFill>
                  <a:srgbClr val="404040"/>
                </a:solidFill>
                <a:latin typeface="BLS Condensed" pitchFamily="2" charset="-34"/>
                <a:cs typeface="BLS Condensed" pitchFamily="2" charset="-34"/>
              </a:rPr>
              <a:t>Bloomberg, </a:t>
            </a:r>
            <a:r>
              <a:rPr lang="en-US" sz="600" dirty="0" err="1">
                <a:solidFill>
                  <a:srgbClr val="404040"/>
                </a:solidFill>
                <a:latin typeface="BLS Condensed" pitchFamily="2" charset="-34"/>
                <a:cs typeface="BLS Condensed" pitchFamily="2" charset="-34"/>
              </a:rPr>
              <a:t>Bualuang</a:t>
            </a:r>
            <a:r>
              <a:rPr lang="en-US" sz="600" dirty="0">
                <a:solidFill>
                  <a:srgbClr val="404040"/>
                </a:solidFill>
                <a:latin typeface="BLS Condensed" pitchFamily="2" charset="-34"/>
                <a:cs typeface="BLS Condensed" pitchFamily="2" charset="-34"/>
              </a:rPr>
              <a:t> Research</a:t>
            </a:r>
          </a:p>
        </p:txBody>
      </p:sp>
      <p:cxnSp>
        <p:nvCxnSpPr>
          <p:cNvPr id="30" name="Straight Connector 29">
            <a:extLst>
              <a:ext uri="{FF2B5EF4-FFF2-40B4-BE49-F238E27FC236}">
                <a16:creationId xmlns:a16="http://schemas.microsoft.com/office/drawing/2014/main" id="{C361254A-CBE9-19A8-5A93-B8DB21E4CEEC}"/>
              </a:ext>
            </a:extLst>
          </p:cNvPr>
          <p:cNvCxnSpPr/>
          <p:nvPr/>
        </p:nvCxnSpPr>
        <p:spPr>
          <a:xfrm>
            <a:off x="357891" y="8491790"/>
            <a:ext cx="621792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4BFCD07-A9ED-92FF-FFFC-4E029F1544D7}"/>
              </a:ext>
            </a:extLst>
          </p:cNvPr>
          <p:cNvSpPr txBox="1"/>
          <p:nvPr/>
        </p:nvSpPr>
        <p:spPr>
          <a:xfrm>
            <a:off x="603520" y="2556356"/>
            <a:ext cx="5362488" cy="215444"/>
          </a:xfrm>
          <a:prstGeom prst="rect">
            <a:avLst/>
          </a:prstGeom>
          <a:noFill/>
        </p:spPr>
        <p:txBody>
          <a:bodyPr wrap="square" rtlCol="0">
            <a:spAutoFit/>
          </a:bodyPr>
          <a:lstStyle/>
          <a:p>
            <a:r>
              <a:rPr lang="en-US" sz="800" b="1" dirty="0">
                <a:solidFill>
                  <a:schemeClr val="tx1">
                    <a:lumMod val="95000"/>
                    <a:lumOff val="5000"/>
                  </a:schemeClr>
                </a:solidFill>
                <a:latin typeface="BLS Condensed" pitchFamily="2" charset="-34"/>
                <a:ea typeface="Tahoma" pitchFamily="34" charset="0"/>
                <a:cs typeface="BLS Condensed" pitchFamily="2" charset="-34"/>
              </a:rPr>
              <a:t>Earnings</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en-US" sz="800" b="1" dirty="0">
                <a:solidFill>
                  <a:schemeClr val="tx1">
                    <a:lumMod val="95000"/>
                    <a:lumOff val="5000"/>
                  </a:schemeClr>
                </a:solidFill>
                <a:latin typeface="BLS Condensed" pitchFamily="2" charset="-34"/>
                <a:ea typeface="Tahoma" pitchFamily="34" charset="0"/>
                <a:cs typeface="BLS Condensed" pitchFamily="2" charset="-34"/>
              </a:rPr>
              <a:t>forecast revisions</a:t>
            </a:r>
          </a:p>
        </p:txBody>
      </p:sp>
      <p:pic>
        <p:nvPicPr>
          <p:cNvPr id="27" name="Picture 2">
            <a:extLst>
              <a:ext uri="{FF2B5EF4-FFF2-40B4-BE49-F238E27FC236}">
                <a16:creationId xmlns:a16="http://schemas.microsoft.com/office/drawing/2014/main" id="{D48D4700-08F8-4CAB-4566-51E38F35BFF5}"/>
              </a:ext>
            </a:extLst>
          </p:cNvPr>
          <p:cNvPicPr>
            <a:picLocks noChangeAspect="1" noChangeArrowheads="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a:extLst>
              <a:ext uri="{FF2B5EF4-FFF2-40B4-BE49-F238E27FC236}">
                <a16:creationId xmlns:a16="http://schemas.microsoft.com/office/drawing/2014/main" id="{FC16A5A8-0039-235E-1B99-F92BC9A5255F}"/>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2" name="TextBox 1">
            <a:extLst>
              <a:ext uri="{FF2B5EF4-FFF2-40B4-BE49-F238E27FC236}">
                <a16:creationId xmlns:a16="http://schemas.microsoft.com/office/drawing/2014/main" id="{4D865E4C-2403-8169-D2B9-5E43A0E3A904}"/>
              </a:ext>
            </a:extLst>
          </p:cNvPr>
          <p:cNvSpPr txBox="1"/>
          <p:nvPr/>
        </p:nvSpPr>
        <p:spPr>
          <a:xfrm>
            <a:off x="980727" y="35496"/>
            <a:ext cx="5832649" cy="646331"/>
          </a:xfrm>
          <a:prstGeom prst="rect">
            <a:avLst/>
          </a:prstGeom>
          <a:noFill/>
        </p:spPr>
        <p:txBody>
          <a:bodyPr wrap="square" rtlCol="0">
            <a:spAutoFit/>
          </a:bodyPr>
          <a:lstStyle/>
          <a:p>
            <a:pPr algn="r"/>
            <a:r>
              <a:rPr lang="en-US" sz="3600" dirty="0">
                <a:solidFill>
                  <a:schemeClr val="tx1">
                    <a:lumMod val="95000"/>
                    <a:lumOff val="5000"/>
                  </a:schemeClr>
                </a:solidFill>
                <a:latin typeface="BLS Condensed Bold" pitchFamily="2" charset="-34"/>
                <a:ea typeface="Tahoma" pitchFamily="34" charset="0"/>
                <a:cs typeface="BLS Condensed Bold" pitchFamily="2" charset="-34"/>
              </a:rPr>
              <a:t>Forecast revision breadth</a:t>
            </a:r>
          </a:p>
        </p:txBody>
      </p:sp>
      <p:pic>
        <p:nvPicPr>
          <p:cNvPr id="9" name="Picture 8" descr="A table of numbers with different colored squares&#10;&#10;Description automatically generated with medium confidence">
            <a:extLst>
              <a:ext uri="{FF2B5EF4-FFF2-40B4-BE49-F238E27FC236}">
                <a16:creationId xmlns:a16="http://schemas.microsoft.com/office/drawing/2014/main" id="{179F9C9C-930A-AE54-BE70-1FB3653E43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793" y="2728102"/>
            <a:ext cx="6439220" cy="2913596"/>
          </a:xfrm>
          <a:prstGeom prst="rect">
            <a:avLst/>
          </a:prstGeom>
        </p:spPr>
      </p:pic>
      <p:pic>
        <p:nvPicPr>
          <p:cNvPr id="11" name="Picture 10" descr="A table of numbers and symbols&#10;&#10;Description automatically generated with medium confidence">
            <a:extLst>
              <a:ext uri="{FF2B5EF4-FFF2-40B4-BE49-F238E27FC236}">
                <a16:creationId xmlns:a16="http://schemas.microsoft.com/office/drawing/2014/main" id="{3E4DE1EF-79D6-84F2-DF1A-701DB798BA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793" y="5772254"/>
            <a:ext cx="6439220" cy="2904202"/>
          </a:xfrm>
          <a:prstGeom prst="rect">
            <a:avLst/>
          </a:prstGeom>
        </p:spPr>
      </p:pic>
      <p:sp>
        <p:nvSpPr>
          <p:cNvPr id="21" name="Rectangle 20">
            <a:extLst>
              <a:ext uri="{FF2B5EF4-FFF2-40B4-BE49-F238E27FC236}">
                <a16:creationId xmlns:a16="http://schemas.microsoft.com/office/drawing/2014/main" id="{34376D89-133D-B437-6A91-1D7CEC0BBC8E}"/>
              </a:ext>
            </a:extLst>
          </p:cNvPr>
          <p:cNvSpPr/>
          <p:nvPr/>
        </p:nvSpPr>
        <p:spPr>
          <a:xfrm>
            <a:off x="4687675" y="2728102"/>
            <a:ext cx="349796" cy="5971214"/>
          </a:xfrm>
          <a:prstGeom prst="rect">
            <a:avLst/>
          </a:prstGeom>
          <a:noFill/>
          <a:ln w="19050">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9C24C19-41C2-DFAE-C8B3-F2A49F496F09}"/>
              </a:ext>
            </a:extLst>
          </p:cNvPr>
          <p:cNvSpPr txBox="1"/>
          <p:nvPr/>
        </p:nvSpPr>
        <p:spPr>
          <a:xfrm>
            <a:off x="603520" y="5606402"/>
            <a:ext cx="5362488" cy="215444"/>
          </a:xfrm>
          <a:prstGeom prst="rect">
            <a:avLst/>
          </a:prstGeom>
          <a:noFill/>
        </p:spPr>
        <p:txBody>
          <a:bodyPr wrap="square" rtlCol="0">
            <a:spAutoFit/>
          </a:bodyPr>
          <a:lstStyle/>
          <a:p>
            <a:r>
              <a:rPr lang="en-US" sz="800" b="1" dirty="0">
                <a:solidFill>
                  <a:schemeClr val="tx1">
                    <a:lumMod val="95000"/>
                    <a:lumOff val="5000"/>
                  </a:schemeClr>
                </a:solidFill>
                <a:latin typeface="BLS Condensed" pitchFamily="2" charset="-34"/>
                <a:ea typeface="Tahoma" pitchFamily="34" charset="0"/>
                <a:cs typeface="BLS Condensed" pitchFamily="2" charset="-34"/>
              </a:rPr>
              <a:t>Earnings</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en-US" sz="800" b="1" dirty="0">
                <a:solidFill>
                  <a:schemeClr val="tx1">
                    <a:lumMod val="95000"/>
                    <a:lumOff val="5000"/>
                  </a:schemeClr>
                </a:solidFill>
                <a:latin typeface="BLS Condensed" pitchFamily="2" charset="-34"/>
                <a:ea typeface="Tahoma" pitchFamily="34" charset="0"/>
                <a:cs typeface="BLS Condensed" pitchFamily="2" charset="-34"/>
              </a:rPr>
              <a:t>forecast revision breadth</a:t>
            </a:r>
          </a:p>
        </p:txBody>
      </p:sp>
    </p:spTree>
    <p:extLst>
      <p:ext uri="{BB962C8B-B14F-4D97-AF65-F5344CB8AC3E}">
        <p14:creationId xmlns:p14="http://schemas.microsoft.com/office/powerpoint/2010/main" val="2648295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74177"/>
          <a:stretch/>
        </p:blipFill>
        <p:spPr>
          <a:xfrm>
            <a:off x="0" y="-1"/>
            <a:ext cx="6858000" cy="8748461"/>
          </a:xfrm>
          <a:prstGeom prst="rect">
            <a:avLst/>
          </a:prstGeom>
        </p:spPr>
      </p:pic>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995407"/>
            <a:ext cx="6439240" cy="1200329"/>
          </a:xfrm>
          <a:prstGeom prst="rect">
            <a:avLst/>
          </a:prstGeom>
          <a:noFill/>
        </p:spPr>
        <p:txBody>
          <a:bodyPr wrap="square">
            <a:spAutoFit/>
          </a:bodyPr>
          <a:lstStyle/>
          <a:p>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สัญญาณจาก </a:t>
            </a:r>
            <a:r>
              <a:rPr lang="en-US"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Market breadth </a:t>
            </a:r>
          </a:p>
          <a:p>
            <a:r>
              <a:rPr lang="en-US"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เริ่มชี้ถึงภาวะ “การปรับขึ้นกระจุกตัว” </a:t>
            </a:r>
            <a:endParaRPr lang="en-US" altLang="en-US" sz="24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r>
              <a:rPr lang="en-US"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ซึ่งมักเป็นสัญญาณของการอ่อนแรง</a:t>
            </a:r>
            <a:endParaRPr lang="en-US" altLang="en-US" sz="24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sp>
        <p:nvSpPr>
          <p:cNvPr id="3" name="Content Placeholder 2">
            <a:extLst>
              <a:ext uri="{FF2B5EF4-FFF2-40B4-BE49-F238E27FC236}">
                <a16:creationId xmlns:a16="http://schemas.microsoft.com/office/drawing/2014/main" id="{1870C101-CFAF-882B-8A16-0E11A44BFBE4}"/>
              </a:ext>
            </a:extLst>
          </p:cNvPr>
          <p:cNvSpPr txBox="1">
            <a:spLocks/>
          </p:cNvSpPr>
          <p:nvPr/>
        </p:nvSpPr>
        <p:spPr>
          <a:xfrm>
            <a:off x="234620" y="2365607"/>
            <a:ext cx="3177416" cy="127028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thaiDist">
              <a:lnSpc>
                <a:spcPts val="1600"/>
              </a:lnSpc>
              <a:spcBef>
                <a:spcPts val="300"/>
              </a:spcBef>
              <a:buSzPct val="120000"/>
              <a:buNone/>
            </a:pPr>
            <a:r>
              <a:rPr lang="en-US" sz="1000" dirty="0">
                <a:solidFill>
                  <a:schemeClr val="tx1">
                    <a:lumMod val="75000"/>
                    <a:lumOff val="25000"/>
                  </a:schemeClr>
                </a:solidFill>
                <a:latin typeface="BLS Text" pitchFamily="2" charset="-34"/>
                <a:cs typeface="BLS Text" pitchFamily="2" charset="-34"/>
              </a:rPr>
              <a:t>Market Breadth </a:t>
            </a:r>
            <a:r>
              <a:rPr lang="th-TH" sz="1000" dirty="0">
                <a:solidFill>
                  <a:schemeClr val="tx1">
                    <a:lumMod val="75000"/>
                    <a:lumOff val="25000"/>
                  </a:schemeClr>
                </a:solidFill>
                <a:latin typeface="BLS Text" pitchFamily="2" charset="-34"/>
                <a:cs typeface="BLS Text" pitchFamily="2" charset="-34"/>
              </a:rPr>
              <a:t>สะท้อนแรงขึ้นที่ไม่กระจายตัว (</a:t>
            </a:r>
            <a:r>
              <a:rPr lang="en-US" sz="1000" dirty="0">
                <a:solidFill>
                  <a:schemeClr val="tx1">
                    <a:lumMod val="75000"/>
                    <a:lumOff val="25000"/>
                  </a:schemeClr>
                </a:solidFill>
                <a:latin typeface="BLS Text" pitchFamily="2" charset="-34"/>
                <a:cs typeface="BLS Text" pitchFamily="2" charset="-34"/>
              </a:rPr>
              <a:t>Narrow Market Breadth): </a:t>
            </a:r>
            <a:r>
              <a:rPr lang="th-TH" sz="1000" dirty="0">
                <a:solidFill>
                  <a:schemeClr val="tx1">
                    <a:lumMod val="75000"/>
                    <a:lumOff val="25000"/>
                  </a:schemeClr>
                </a:solidFill>
                <a:latin typeface="BLS Text" pitchFamily="2" charset="-34"/>
                <a:cs typeface="BLS Text" pitchFamily="2" charset="-34"/>
              </a:rPr>
              <a:t>สัญญาณจากความกว้างของตลาด (</a:t>
            </a:r>
            <a:r>
              <a:rPr lang="en-US" sz="1000" dirty="0">
                <a:solidFill>
                  <a:schemeClr val="tx1">
                    <a:lumMod val="75000"/>
                    <a:lumOff val="25000"/>
                  </a:schemeClr>
                </a:solidFill>
                <a:latin typeface="BLS Text" pitchFamily="2" charset="-34"/>
                <a:cs typeface="BLS Text" pitchFamily="2" charset="-34"/>
              </a:rPr>
              <a:t>market breadth) </a:t>
            </a:r>
            <a:r>
              <a:rPr lang="th-TH" sz="1000" dirty="0">
                <a:solidFill>
                  <a:schemeClr val="tx1">
                    <a:lumMod val="75000"/>
                    <a:lumOff val="25000"/>
                  </a:schemeClr>
                </a:solidFill>
                <a:latin typeface="BLS Text" pitchFamily="2" charset="-34"/>
                <a:cs typeface="BLS Text" pitchFamily="2" charset="-34"/>
              </a:rPr>
              <a:t>เริ่มชี้ถึงภาวะ “การปรับขึ้นกระจุกตัว” ซึ่งมักเป็นสัญญาณของการอ่อนแรงของแนวโน้ม โดยสัดส่วนหุ้นที่ทำจุดต่ำสุดในรอบ 4 สัปดาห์ (% </a:t>
            </a:r>
            <a:r>
              <a:rPr lang="en-US" sz="1000" dirty="0">
                <a:solidFill>
                  <a:schemeClr val="tx1">
                    <a:lumMod val="75000"/>
                    <a:lumOff val="25000"/>
                  </a:schemeClr>
                </a:solidFill>
                <a:latin typeface="BLS Text" pitchFamily="2" charset="-34"/>
                <a:cs typeface="BLS Text" pitchFamily="2" charset="-34"/>
              </a:rPr>
              <a:t>New </a:t>
            </a:r>
            <a:r>
              <a:rPr lang="th-TH" sz="1000" dirty="0">
                <a:solidFill>
                  <a:schemeClr val="tx1">
                    <a:lumMod val="75000"/>
                    <a:lumOff val="25000"/>
                  </a:schemeClr>
                </a:solidFill>
                <a:latin typeface="BLS Text" pitchFamily="2" charset="-34"/>
                <a:cs typeface="BLS Text" pitchFamily="2" charset="-34"/>
              </a:rPr>
              <a:t>          </a:t>
            </a:r>
            <a:r>
              <a:rPr lang="en-US" sz="1000" dirty="0">
                <a:solidFill>
                  <a:schemeClr val="tx1">
                    <a:lumMod val="75000"/>
                    <a:lumOff val="25000"/>
                  </a:schemeClr>
                </a:solidFill>
                <a:latin typeface="BLS Text" pitchFamily="2" charset="-34"/>
                <a:cs typeface="BLS Text" pitchFamily="2" charset="-34"/>
              </a:rPr>
              <a:t>4-Week Lows) </a:t>
            </a:r>
            <a:r>
              <a:rPr lang="th-TH" sz="1000" dirty="0">
                <a:solidFill>
                  <a:schemeClr val="tx1">
                    <a:lumMod val="75000"/>
                    <a:lumOff val="25000"/>
                  </a:schemeClr>
                </a:solidFill>
                <a:latin typeface="BLS Text" pitchFamily="2" charset="-34"/>
                <a:cs typeface="BLS Text" pitchFamily="2" charset="-34"/>
              </a:rPr>
              <a:t>ปรับเพิ่มขึ้นแตะ 25.9%</a:t>
            </a:r>
            <a:endParaRPr lang="en-US" sz="1000" dirty="0">
              <a:solidFill>
                <a:schemeClr val="tx1">
                  <a:lumMod val="75000"/>
                  <a:lumOff val="25000"/>
                </a:schemeClr>
              </a:solidFill>
              <a:latin typeface="BLS Text" pitchFamily="2" charset="-34"/>
              <a:cs typeface="BLS Text" pitchFamily="2" charset="-34"/>
            </a:endParaRPr>
          </a:p>
        </p:txBody>
      </p:sp>
      <p:sp>
        <p:nvSpPr>
          <p:cNvPr id="12" name="Content Placeholder 2">
            <a:extLst>
              <a:ext uri="{FF2B5EF4-FFF2-40B4-BE49-F238E27FC236}">
                <a16:creationId xmlns:a16="http://schemas.microsoft.com/office/drawing/2014/main" id="{9BD8773F-77ED-9E83-C768-E6496BFA9E86}"/>
              </a:ext>
            </a:extLst>
          </p:cNvPr>
          <p:cNvSpPr txBox="1">
            <a:spLocks/>
          </p:cNvSpPr>
          <p:nvPr/>
        </p:nvSpPr>
        <p:spPr>
          <a:xfrm>
            <a:off x="3475930" y="2379961"/>
            <a:ext cx="3123083" cy="10399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thaiDist">
              <a:lnSpc>
                <a:spcPts val="1600"/>
              </a:lnSpc>
              <a:spcBef>
                <a:spcPts val="300"/>
              </a:spcBef>
              <a:buSzPct val="120000"/>
              <a:buNone/>
            </a:pPr>
            <a:r>
              <a:rPr lang="th-TH" sz="1000" dirty="0">
                <a:solidFill>
                  <a:schemeClr val="tx1">
                    <a:lumMod val="75000"/>
                    <a:lumOff val="25000"/>
                  </a:schemeClr>
                </a:solidFill>
                <a:latin typeface="BLS Text" pitchFamily="2" charset="-34"/>
                <a:cs typeface="BLS Text" pitchFamily="2" charset="-34"/>
              </a:rPr>
              <a:t>ในช่วงปลายเดือนเมษายน ซึ่งเป็นระดับสูงสุดในรอบ 50 วัน และเริ่มสูงกว่าสัดส่วนหุ้นที่ทำจุดสูงสุด (% </a:t>
            </a:r>
            <a:r>
              <a:rPr lang="en-US" sz="1000" dirty="0">
                <a:solidFill>
                  <a:schemeClr val="tx1">
                    <a:lumMod val="75000"/>
                    <a:lumOff val="25000"/>
                  </a:schemeClr>
                </a:solidFill>
                <a:latin typeface="BLS Text" pitchFamily="2" charset="-34"/>
                <a:cs typeface="BLS Text" pitchFamily="2" charset="-34"/>
              </a:rPr>
              <a:t>New 4-Week Highs) </a:t>
            </a:r>
            <a:r>
              <a:rPr lang="th-TH" sz="1000" dirty="0">
                <a:solidFill>
                  <a:schemeClr val="tx1">
                    <a:lumMod val="75000"/>
                    <a:lumOff val="25000"/>
                  </a:schemeClr>
                </a:solidFill>
                <a:latin typeface="BLS Text" pitchFamily="2" charset="-34"/>
                <a:cs typeface="BLS Text" pitchFamily="2" charset="-34"/>
              </a:rPr>
              <a:t>ภาพดังกล่าวสะท้อนว่าการปรับขึ้นของดัชนีถูกขับเคลื่อนโดยหุ้นเพียงไม่กี่ตัว (</a:t>
            </a:r>
            <a:r>
              <a:rPr lang="en-US" sz="1000" dirty="0">
                <a:solidFill>
                  <a:schemeClr val="tx1">
                    <a:lumMod val="75000"/>
                    <a:lumOff val="25000"/>
                  </a:schemeClr>
                </a:solidFill>
                <a:latin typeface="BLS Text" pitchFamily="2" charset="-34"/>
                <a:cs typeface="BLS Text" pitchFamily="2" charset="-34"/>
              </a:rPr>
              <a:t>narrow leadership) </a:t>
            </a:r>
            <a:r>
              <a:rPr lang="th-TH" sz="1000" dirty="0">
                <a:solidFill>
                  <a:schemeClr val="tx1">
                    <a:lumMod val="75000"/>
                    <a:lumOff val="25000"/>
                  </a:schemeClr>
                </a:solidFill>
                <a:latin typeface="BLS Text" pitchFamily="2" charset="-34"/>
                <a:cs typeface="BLS Text" pitchFamily="2" charset="-34"/>
              </a:rPr>
              <a:t>ส่งผลให้ </a:t>
            </a:r>
            <a:r>
              <a:rPr lang="en-US" sz="1000" dirty="0">
                <a:solidFill>
                  <a:schemeClr val="tx1">
                    <a:lumMod val="75000"/>
                    <a:lumOff val="25000"/>
                  </a:schemeClr>
                </a:solidFill>
                <a:latin typeface="BLS Text" pitchFamily="2" charset="-34"/>
                <a:cs typeface="BLS Text" pitchFamily="2" charset="-34"/>
              </a:rPr>
              <a:t>upside </a:t>
            </a:r>
            <a:r>
              <a:rPr lang="th-TH" sz="1000" dirty="0">
                <a:solidFill>
                  <a:schemeClr val="tx1">
                    <a:lumMod val="75000"/>
                    <a:lumOff val="25000"/>
                  </a:schemeClr>
                </a:solidFill>
                <a:latin typeface="BLS Text" pitchFamily="2" charset="-34"/>
                <a:cs typeface="BLS Text" pitchFamily="2" charset="-34"/>
              </a:rPr>
              <a:t>ของตลาดเริ่มถูกจำกัด (</a:t>
            </a:r>
            <a:r>
              <a:rPr lang="en-US" sz="1000" dirty="0">
                <a:solidFill>
                  <a:schemeClr val="tx1">
                    <a:lumMod val="75000"/>
                    <a:lumOff val="25000"/>
                  </a:schemeClr>
                </a:solidFill>
                <a:latin typeface="BLS Text" pitchFamily="2" charset="-34"/>
                <a:cs typeface="BLS Text" pitchFamily="2" charset="-34"/>
              </a:rPr>
              <a:t>limited upside)</a:t>
            </a:r>
          </a:p>
          <a:p>
            <a:pPr marL="0" indent="0" algn="thaiDist">
              <a:lnSpc>
                <a:spcPts val="1600"/>
              </a:lnSpc>
              <a:spcBef>
                <a:spcPts val="300"/>
              </a:spcBef>
              <a:buSzPct val="120000"/>
              <a:buNone/>
            </a:pPr>
            <a:endParaRPr lang="th-TH" sz="1000" dirty="0">
              <a:solidFill>
                <a:schemeClr val="tx1">
                  <a:lumMod val="75000"/>
                  <a:lumOff val="25000"/>
                </a:schemeClr>
              </a:solidFill>
              <a:latin typeface="BLS Text" pitchFamily="2" charset="-34"/>
              <a:cs typeface="BLS Text" pitchFamily="2" charset="-34"/>
            </a:endParaRPr>
          </a:p>
        </p:txBody>
      </p:sp>
      <p:sp>
        <p:nvSpPr>
          <p:cNvPr id="20" name="Rectangle: Rounded Corners 19">
            <a:extLst>
              <a:ext uri="{FF2B5EF4-FFF2-40B4-BE49-F238E27FC236}">
                <a16:creationId xmlns:a16="http://schemas.microsoft.com/office/drawing/2014/main" id="{8197B7BA-DFE8-C396-55C2-5B2A25B46EA4}"/>
              </a:ext>
            </a:extLst>
          </p:cNvPr>
          <p:cNvSpPr/>
          <p:nvPr/>
        </p:nvSpPr>
        <p:spPr>
          <a:xfrm>
            <a:off x="159792" y="3923928"/>
            <a:ext cx="6581576" cy="4392488"/>
          </a:xfrm>
          <a:prstGeom prst="roundRect">
            <a:avLst>
              <a:gd name="adj" fmla="val 5312"/>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BAF3CAE-3639-0C0D-F423-AFDF57B744B8}"/>
              </a:ext>
            </a:extLst>
          </p:cNvPr>
          <p:cNvSpPr txBox="1">
            <a:spLocks noChangeArrowheads="1"/>
          </p:cNvSpPr>
          <p:nvPr/>
        </p:nvSpPr>
        <p:spPr bwMode="auto">
          <a:xfrm>
            <a:off x="438941" y="8044353"/>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sp>
        <p:nvSpPr>
          <p:cNvPr id="11" name="TextBox 10">
            <a:extLst>
              <a:ext uri="{FF2B5EF4-FFF2-40B4-BE49-F238E27FC236}">
                <a16:creationId xmlns:a16="http://schemas.microsoft.com/office/drawing/2014/main" id="{1026DB76-38D0-DC83-3307-31B908C2DB26}"/>
              </a:ext>
            </a:extLst>
          </p:cNvPr>
          <p:cNvSpPr txBox="1"/>
          <p:nvPr/>
        </p:nvSpPr>
        <p:spPr>
          <a:xfrm>
            <a:off x="459724" y="4098532"/>
            <a:ext cx="3689356" cy="230832"/>
          </a:xfrm>
          <a:prstGeom prst="rect">
            <a:avLst/>
          </a:prstGeom>
          <a:noFill/>
        </p:spPr>
        <p:txBody>
          <a:bodyPr wrap="square" rtlCol="0">
            <a:spAutoFit/>
          </a:bodyPr>
          <a:lstStyle/>
          <a:p>
            <a:r>
              <a:rPr lang="en-US" sz="900" b="1" dirty="0">
                <a:solidFill>
                  <a:schemeClr val="tx1">
                    <a:lumMod val="95000"/>
                    <a:lumOff val="5000"/>
                  </a:schemeClr>
                </a:solidFill>
                <a:latin typeface="BLS Condensed" pitchFamily="2" charset="-34"/>
                <a:ea typeface="Tahoma" pitchFamily="34" charset="0"/>
                <a:cs typeface="BLS Condensed" pitchFamily="2" charset="-34"/>
              </a:rPr>
              <a:t>SET Index - Percentage of Members with New 4 Week Highs/Lows</a:t>
            </a:r>
          </a:p>
        </p:txBody>
      </p:sp>
      <p:cxnSp>
        <p:nvCxnSpPr>
          <p:cNvPr id="15" name="Straight Connector 14">
            <a:extLst>
              <a:ext uri="{FF2B5EF4-FFF2-40B4-BE49-F238E27FC236}">
                <a16:creationId xmlns:a16="http://schemas.microsoft.com/office/drawing/2014/main" id="{679F25C1-090D-9D76-3E85-48B8FAE9D6D4}"/>
              </a:ext>
            </a:extLst>
          </p:cNvPr>
          <p:cNvCxnSpPr>
            <a:cxnSpLocks/>
          </p:cNvCxnSpPr>
          <p:nvPr/>
        </p:nvCxnSpPr>
        <p:spPr>
          <a:xfrm>
            <a:off x="314671" y="406794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BA6BD9F-C0C6-E250-487B-466C9C7B523A}"/>
              </a:ext>
            </a:extLst>
          </p:cNvPr>
          <p:cNvCxnSpPr>
            <a:cxnSpLocks/>
          </p:cNvCxnSpPr>
          <p:nvPr/>
        </p:nvCxnSpPr>
        <p:spPr>
          <a:xfrm>
            <a:off x="314671" y="802838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4F627C2-1F25-A330-5237-53BC0222C779}"/>
              </a:ext>
            </a:extLst>
          </p:cNvPr>
          <p:cNvPicPr>
            <a:picLocks noChangeAspect="1"/>
          </p:cNvPicPr>
          <p:nvPr/>
        </p:nvPicPr>
        <p:blipFill>
          <a:blip r:embed="rId7"/>
          <a:stretch>
            <a:fillRect/>
          </a:stretch>
        </p:blipFill>
        <p:spPr>
          <a:xfrm>
            <a:off x="314670" y="4331168"/>
            <a:ext cx="6218294" cy="3553190"/>
          </a:xfrm>
          <a:prstGeom prst="rect">
            <a:avLst/>
          </a:prstGeom>
        </p:spPr>
      </p:pic>
      <p:sp>
        <p:nvSpPr>
          <p:cNvPr id="6" name="Oval 5">
            <a:extLst>
              <a:ext uri="{FF2B5EF4-FFF2-40B4-BE49-F238E27FC236}">
                <a16:creationId xmlns:a16="http://schemas.microsoft.com/office/drawing/2014/main" id="{4C9DB925-E900-732D-5F98-355D0F90579F}"/>
              </a:ext>
            </a:extLst>
          </p:cNvPr>
          <p:cNvSpPr/>
          <p:nvPr/>
        </p:nvSpPr>
        <p:spPr>
          <a:xfrm rot="1181919">
            <a:off x="5992273" y="6160667"/>
            <a:ext cx="362444" cy="648075"/>
          </a:xfrm>
          <a:prstGeom prst="ellipse">
            <a:avLst/>
          </a:prstGeom>
          <a:noFill/>
          <a:ln w="19050">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4044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6</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7</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149514</TotalTime>
  <Words>3509</Words>
  <Application>Microsoft Office PowerPoint</Application>
  <PresentationFormat>On-screen Show (4:3)</PresentationFormat>
  <Paragraphs>232</Paragraphs>
  <Slides>7</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5011</cp:revision>
  <cp:lastPrinted>2024-11-19T12:54:25Z</cp:lastPrinted>
  <dcterms:created xsi:type="dcterms:W3CDTF">2019-01-16T11:18:39Z</dcterms:created>
  <dcterms:modified xsi:type="dcterms:W3CDTF">2026-05-05T02:19:35Z</dcterms:modified>
</cp:coreProperties>
</file>