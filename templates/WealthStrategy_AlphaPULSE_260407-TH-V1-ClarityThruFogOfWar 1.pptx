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2"/>
  </p:notesMasterIdLst>
  <p:sldIdLst>
    <p:sldId id="410" r:id="rId2"/>
    <p:sldId id="561" r:id="rId3"/>
    <p:sldId id="567" r:id="rId4"/>
    <p:sldId id="563" r:id="rId5"/>
    <p:sldId id="566" r:id="rId6"/>
    <p:sldId id="564" r:id="rId7"/>
    <p:sldId id="565" r:id="rId8"/>
    <p:sldId id="562" r:id="rId9"/>
    <p:sldId id="353" r:id="rId10"/>
    <p:sldId id="354" r:id="rId11"/>
  </p:sldIdLst>
  <p:sldSz cx="6858000" cy="9144000" type="screen4x3"/>
  <p:notesSz cx="6807200" cy="9939338"/>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5420" userDrawn="1">
          <p15:clr>
            <a:srgbClr val="A4A3A4"/>
          </p15:clr>
        </p15:guide>
        <p15:guide id="2" pos="2160">
          <p15:clr>
            <a:srgbClr val="A4A3A4"/>
          </p15:clr>
        </p15:guide>
      </p15:sldGuideLst>
    </p:ext>
    <p:ext uri="{2D200454-40CA-4A62-9FC3-DE9A4176ACB9}">
      <p15:notesGuideLst xmlns:p15="http://schemas.microsoft.com/office/powerpoint/2012/main">
        <p15:guide id="1" orient="horz" pos="3130" userDrawn="1">
          <p15:clr>
            <a:srgbClr val="A4A3A4"/>
          </p15:clr>
        </p15:guide>
        <p15:guide id="2" pos="2144" userDrawn="1">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DEDED"/>
    <a:srgbClr val="FFCCCC"/>
    <a:srgbClr val="A17D3D"/>
    <a:srgbClr val="F2F2F2"/>
    <a:srgbClr val="AC1D3F"/>
    <a:srgbClr val="1C3765"/>
    <a:srgbClr val="A6A6A6"/>
    <a:srgbClr val="215968"/>
    <a:srgbClr val="162A4C"/>
    <a:srgbClr val="2D7A8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814" autoAdjust="0"/>
    <p:restoredTop sz="96349" autoAdjust="0"/>
  </p:normalViewPr>
  <p:slideViewPr>
    <p:cSldViewPr>
      <p:cViewPr>
        <p:scale>
          <a:sx n="100" d="100"/>
          <a:sy n="100" d="100"/>
        </p:scale>
        <p:origin x="1038" y="-936"/>
      </p:cViewPr>
      <p:guideLst>
        <p:guide orient="horz" pos="5420"/>
        <p:guide pos="2160"/>
      </p:guideLst>
    </p:cSldViewPr>
  </p:slideViewPr>
  <p:notesTextViewPr>
    <p:cViewPr>
      <p:scale>
        <a:sx n="150" d="100"/>
        <a:sy n="150" d="100"/>
      </p:scale>
      <p:origin x="0" y="0"/>
    </p:cViewPr>
  </p:notesTextViewPr>
  <p:notesViewPr>
    <p:cSldViewPr>
      <p:cViewPr varScale="1">
        <p:scale>
          <a:sx n="75" d="100"/>
          <a:sy n="75" d="100"/>
        </p:scale>
        <p:origin x="-4020" y="-84"/>
      </p:cViewPr>
      <p:guideLst>
        <p:guide orient="horz" pos="3130"/>
        <p:guide pos="2144"/>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6" y="6"/>
            <a:ext cx="2949533" cy="496427"/>
          </a:xfrm>
          <a:prstGeom prst="rect">
            <a:avLst/>
          </a:prstGeom>
        </p:spPr>
        <p:txBody>
          <a:bodyPr vert="horz" lIns="88249" tIns="44125" rIns="88249" bIns="44125" rtlCol="0"/>
          <a:lstStyle>
            <a:lvl1pPr algn="l">
              <a:defRPr sz="1200"/>
            </a:lvl1pPr>
          </a:lstStyle>
          <a:p>
            <a:endParaRPr lang="en-US"/>
          </a:p>
        </p:txBody>
      </p:sp>
      <p:sp>
        <p:nvSpPr>
          <p:cNvPr id="3" name="Date Placeholder 2"/>
          <p:cNvSpPr>
            <a:spLocks noGrp="1"/>
          </p:cNvSpPr>
          <p:nvPr>
            <p:ph type="dt" idx="1"/>
          </p:nvPr>
        </p:nvSpPr>
        <p:spPr>
          <a:xfrm>
            <a:off x="3856146" y="6"/>
            <a:ext cx="2949532" cy="496427"/>
          </a:xfrm>
          <a:prstGeom prst="rect">
            <a:avLst/>
          </a:prstGeom>
        </p:spPr>
        <p:txBody>
          <a:bodyPr vert="horz" lIns="88249" tIns="44125" rIns="88249" bIns="44125" rtlCol="0"/>
          <a:lstStyle>
            <a:lvl1pPr algn="r">
              <a:defRPr sz="1200"/>
            </a:lvl1pPr>
          </a:lstStyle>
          <a:p>
            <a:fld id="{E0B721B7-C9AF-4FEC-A17C-5AA640F24497}" type="datetimeFigureOut">
              <a:rPr lang="en-US" smtClean="0"/>
              <a:t>06-Apr-26</a:t>
            </a:fld>
            <a:endParaRPr lang="en-US"/>
          </a:p>
        </p:txBody>
      </p:sp>
      <p:sp>
        <p:nvSpPr>
          <p:cNvPr id="4" name="Slide Image Placeholder 3"/>
          <p:cNvSpPr>
            <a:spLocks noGrp="1" noRot="1" noChangeAspect="1"/>
          </p:cNvSpPr>
          <p:nvPr>
            <p:ph type="sldImg" idx="2"/>
          </p:nvPr>
        </p:nvSpPr>
        <p:spPr>
          <a:xfrm>
            <a:off x="2006600" y="746125"/>
            <a:ext cx="2794000" cy="3725863"/>
          </a:xfrm>
          <a:prstGeom prst="rect">
            <a:avLst/>
          </a:prstGeom>
          <a:noFill/>
          <a:ln w="12700">
            <a:solidFill>
              <a:prstClr val="black"/>
            </a:solidFill>
          </a:ln>
        </p:spPr>
        <p:txBody>
          <a:bodyPr vert="horz" lIns="88249" tIns="44125" rIns="88249" bIns="44125" rtlCol="0" anchor="ctr"/>
          <a:lstStyle/>
          <a:p>
            <a:endParaRPr lang="en-US"/>
          </a:p>
        </p:txBody>
      </p:sp>
      <p:sp>
        <p:nvSpPr>
          <p:cNvPr id="5" name="Notes Placeholder 4"/>
          <p:cNvSpPr>
            <a:spLocks noGrp="1"/>
          </p:cNvSpPr>
          <p:nvPr>
            <p:ph type="body" sz="quarter" idx="3"/>
          </p:nvPr>
        </p:nvSpPr>
        <p:spPr>
          <a:xfrm>
            <a:off x="681480" y="4720684"/>
            <a:ext cx="5445760" cy="4472471"/>
          </a:xfrm>
          <a:prstGeom prst="rect">
            <a:avLst/>
          </a:prstGeom>
        </p:spPr>
        <p:txBody>
          <a:bodyPr vert="horz" lIns="88249" tIns="44125" rIns="88249" bIns="44125"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6" y="9441374"/>
            <a:ext cx="2949533" cy="496427"/>
          </a:xfrm>
          <a:prstGeom prst="rect">
            <a:avLst/>
          </a:prstGeom>
        </p:spPr>
        <p:txBody>
          <a:bodyPr vert="horz" lIns="88249" tIns="44125" rIns="88249" bIns="44125" rtlCol="0" anchor="b"/>
          <a:lstStyle>
            <a:lvl1pPr algn="l">
              <a:defRPr sz="1200"/>
            </a:lvl1pPr>
          </a:lstStyle>
          <a:p>
            <a:endParaRPr lang="en-US"/>
          </a:p>
        </p:txBody>
      </p:sp>
      <p:sp>
        <p:nvSpPr>
          <p:cNvPr id="7" name="Slide Number Placeholder 6"/>
          <p:cNvSpPr>
            <a:spLocks noGrp="1"/>
          </p:cNvSpPr>
          <p:nvPr>
            <p:ph type="sldNum" sz="quarter" idx="5"/>
          </p:nvPr>
        </p:nvSpPr>
        <p:spPr>
          <a:xfrm>
            <a:off x="3856146" y="9441374"/>
            <a:ext cx="2949532" cy="496427"/>
          </a:xfrm>
          <a:prstGeom prst="rect">
            <a:avLst/>
          </a:prstGeom>
        </p:spPr>
        <p:txBody>
          <a:bodyPr vert="horz" lIns="88249" tIns="44125" rIns="88249" bIns="44125" rtlCol="0" anchor="b"/>
          <a:lstStyle>
            <a:lvl1pPr algn="r">
              <a:defRPr sz="1200"/>
            </a:lvl1pPr>
          </a:lstStyle>
          <a:p>
            <a:fld id="{2CD61325-C3CE-4DCC-9429-B8D45AC53B9F}" type="slidenum">
              <a:rPr lang="en-US" smtClean="0"/>
              <a:t>‹#›</a:t>
            </a:fld>
            <a:endParaRPr lang="en-US"/>
          </a:p>
        </p:txBody>
      </p:sp>
    </p:spTree>
    <p:extLst>
      <p:ext uri="{BB962C8B-B14F-4D97-AF65-F5344CB8AC3E}">
        <p14:creationId xmlns:p14="http://schemas.microsoft.com/office/powerpoint/2010/main" val="100085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1</a:t>
            </a:fld>
            <a:endParaRPr lang="en-US"/>
          </a:p>
        </p:txBody>
      </p:sp>
    </p:spTree>
    <p:extLst>
      <p:ext uri="{BB962C8B-B14F-4D97-AF65-F5344CB8AC3E}">
        <p14:creationId xmlns:p14="http://schemas.microsoft.com/office/powerpoint/2010/main" val="3015434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2</a:t>
            </a:fld>
            <a:endParaRPr lang="en-US"/>
          </a:p>
        </p:txBody>
      </p:sp>
    </p:spTree>
    <p:extLst>
      <p:ext uri="{BB962C8B-B14F-4D97-AF65-F5344CB8AC3E}">
        <p14:creationId xmlns:p14="http://schemas.microsoft.com/office/powerpoint/2010/main" val="287519485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3</a:t>
            </a:fld>
            <a:endParaRPr lang="en-US"/>
          </a:p>
        </p:txBody>
      </p:sp>
    </p:spTree>
    <p:extLst>
      <p:ext uri="{BB962C8B-B14F-4D97-AF65-F5344CB8AC3E}">
        <p14:creationId xmlns:p14="http://schemas.microsoft.com/office/powerpoint/2010/main" val="31786807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4</a:t>
            </a:fld>
            <a:endParaRPr lang="en-US"/>
          </a:p>
        </p:txBody>
      </p:sp>
    </p:spTree>
    <p:extLst>
      <p:ext uri="{BB962C8B-B14F-4D97-AF65-F5344CB8AC3E}">
        <p14:creationId xmlns:p14="http://schemas.microsoft.com/office/powerpoint/2010/main" val="23984495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5</a:t>
            </a:fld>
            <a:endParaRPr lang="en-US"/>
          </a:p>
        </p:txBody>
      </p:sp>
    </p:spTree>
    <p:extLst>
      <p:ext uri="{BB962C8B-B14F-4D97-AF65-F5344CB8AC3E}">
        <p14:creationId xmlns:p14="http://schemas.microsoft.com/office/powerpoint/2010/main" val="169810555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6</a:t>
            </a:fld>
            <a:endParaRPr lang="en-US"/>
          </a:p>
        </p:txBody>
      </p:sp>
    </p:spTree>
    <p:extLst>
      <p:ext uri="{BB962C8B-B14F-4D97-AF65-F5344CB8AC3E}">
        <p14:creationId xmlns:p14="http://schemas.microsoft.com/office/powerpoint/2010/main" val="99079760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7</a:t>
            </a:fld>
            <a:endParaRPr lang="en-US"/>
          </a:p>
        </p:txBody>
      </p:sp>
    </p:spTree>
    <p:extLst>
      <p:ext uri="{BB962C8B-B14F-4D97-AF65-F5344CB8AC3E}">
        <p14:creationId xmlns:p14="http://schemas.microsoft.com/office/powerpoint/2010/main" val="4294834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7BEC07-B796-FBF0-EC48-E64CC63144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781B8B-4C9C-0128-3F2A-081F2D1B0D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841D090-7278-53B1-530D-6B9EFC847460}"/>
              </a:ext>
            </a:extLst>
          </p:cNvPr>
          <p:cNvSpPr>
            <a:spLocks noGrp="1"/>
          </p:cNvSpPr>
          <p:nvPr>
            <p:ph type="body" idx="1"/>
          </p:nvPr>
        </p:nvSpPr>
        <p:spPr/>
        <p:txBody>
          <a:bodyPr/>
          <a:lstStyle/>
          <a:p>
            <a:r>
              <a:rPr lang="th-TH" sz="950" dirty="0"/>
              <a:t>10 ตัวหลักแรก แต่ละช่วง มีตัวไหนบ้าง แต่ละรอบ </a:t>
            </a:r>
            <a:r>
              <a:rPr lang="en-US" sz="950" dirty="0"/>
              <a:t>list</a:t>
            </a:r>
            <a:r>
              <a:rPr lang="th-TH" sz="950" dirty="0"/>
              <a:t> มา ---</a:t>
            </a:r>
            <a:r>
              <a:rPr lang="en-US" sz="950" dirty="0"/>
              <a:t> </a:t>
            </a:r>
            <a:r>
              <a:rPr lang="th-TH" sz="950" dirty="0"/>
              <a:t>ค่อยเติม ตัวใหม่เข้ามา </a:t>
            </a:r>
            <a:r>
              <a:rPr lang="en-US" sz="950" dirty="0"/>
              <a:t>&gt;&gt;&gt;</a:t>
            </a:r>
            <a:r>
              <a:rPr lang="th-TH" sz="950" dirty="0"/>
              <a:t> </a:t>
            </a:r>
            <a:r>
              <a:rPr lang="en-US" sz="950" dirty="0"/>
              <a:t>infra + financial  &gt;&gt;&gt; </a:t>
            </a:r>
            <a:r>
              <a:rPr lang="th-TH" sz="950" dirty="0"/>
              <a:t>เข้าหุ้น </a:t>
            </a:r>
            <a:r>
              <a:rPr lang="en-US" sz="950" dirty="0"/>
              <a:t>top 10, + essential sector / infra . </a:t>
            </a:r>
            <a:r>
              <a:rPr lang="en-US" sz="950" dirty="0" err="1"/>
              <a:t>ict</a:t>
            </a:r>
            <a:r>
              <a:rPr lang="en-US" sz="950" dirty="0"/>
              <a:t> bank  / </a:t>
            </a:r>
            <a:endParaRPr lang="th-TH" sz="950" dirty="0"/>
          </a:p>
          <a:p>
            <a:r>
              <a:rPr lang="en-US" sz="950" dirty="0"/>
              <a:t>Manufact + earnings </a:t>
            </a:r>
            <a:r>
              <a:rPr lang="th-TH" sz="950" dirty="0"/>
              <a:t>ฟื้น</a:t>
            </a:r>
            <a:r>
              <a:rPr lang="en-US" sz="950" dirty="0"/>
              <a:t> &gt;&gt;&gt;&gt;</a:t>
            </a:r>
            <a:r>
              <a:rPr lang="th-TH" sz="950" dirty="0"/>
              <a:t> เทียบ 3 วงจร </a:t>
            </a:r>
          </a:p>
        </p:txBody>
      </p:sp>
      <p:sp>
        <p:nvSpPr>
          <p:cNvPr id="4" name="Slide Number Placeholder 3">
            <a:extLst>
              <a:ext uri="{FF2B5EF4-FFF2-40B4-BE49-F238E27FC236}">
                <a16:creationId xmlns:a16="http://schemas.microsoft.com/office/drawing/2014/main" id="{3DED5535-8828-2418-BED8-8BE95BEEAE40}"/>
              </a:ext>
            </a:extLst>
          </p:cNvPr>
          <p:cNvSpPr>
            <a:spLocks noGrp="1"/>
          </p:cNvSpPr>
          <p:nvPr>
            <p:ph type="sldNum" sz="quarter" idx="10"/>
          </p:nvPr>
        </p:nvSpPr>
        <p:spPr/>
        <p:txBody>
          <a:bodyPr/>
          <a:lstStyle/>
          <a:p>
            <a:fld id="{2CD61325-C3CE-4DCC-9429-B8D45AC53B9F}" type="slidenum">
              <a:rPr lang="en-US" smtClean="0"/>
              <a:t>8</a:t>
            </a:fld>
            <a:endParaRPr lang="en-US"/>
          </a:p>
        </p:txBody>
      </p:sp>
    </p:spTree>
    <p:extLst>
      <p:ext uri="{BB962C8B-B14F-4D97-AF65-F5344CB8AC3E}">
        <p14:creationId xmlns:p14="http://schemas.microsoft.com/office/powerpoint/2010/main" val="43179228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2CD61325-C3CE-4DCC-9429-B8D45AC53B9F}" type="slidenum">
              <a:rPr lang="en-US" smtClean="0"/>
              <a:t>9</a:t>
            </a:fld>
            <a:endParaRPr lang="en-US"/>
          </a:p>
        </p:txBody>
      </p:sp>
    </p:spTree>
    <p:extLst>
      <p:ext uri="{BB962C8B-B14F-4D97-AF65-F5344CB8AC3E}">
        <p14:creationId xmlns:p14="http://schemas.microsoft.com/office/powerpoint/2010/main" val="83720040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2840568"/>
            <a:ext cx="5829300" cy="1960033"/>
          </a:xfrm>
        </p:spPr>
        <p:txBody>
          <a:bodyPr/>
          <a:lstStyle/>
          <a:p>
            <a:r>
              <a:rPr lang="en-US"/>
              <a:t>Click to edit Master title style</a:t>
            </a:r>
          </a:p>
        </p:txBody>
      </p:sp>
      <p:sp>
        <p:nvSpPr>
          <p:cNvPr id="3" name="Subtitle 2"/>
          <p:cNvSpPr>
            <a:spLocks noGrp="1"/>
          </p:cNvSpPr>
          <p:nvPr>
            <p:ph type="subTitle" idx="1"/>
          </p:nvPr>
        </p:nvSpPr>
        <p:spPr>
          <a:xfrm>
            <a:off x="1028700" y="5181600"/>
            <a:ext cx="4800600" cy="23368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8047A014-A296-4BC7-B627-8AC2C71DC79A}" type="datetime1">
              <a:rPr lang="en-US" smtClean="0"/>
              <a:t>06-Apr-26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95813307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7CDB215-8979-4C4B-8BFF-594D56AA267D}" type="datetime1">
              <a:rPr lang="en-US" smtClean="0"/>
              <a:t>06-Apr-26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2975940730"/>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41735" y="5875867"/>
            <a:ext cx="5829300" cy="1816100"/>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541735" y="3875618"/>
            <a:ext cx="5829300" cy="2000249"/>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BCDC7C3-8DAC-42B5-992E-67718E4C44E5}" type="datetime1">
              <a:rPr lang="en-US" smtClean="0"/>
              <a:t>06-Apr-26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4183853049"/>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257175"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2628900" y="2844800"/>
            <a:ext cx="2257425" cy="8045451"/>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9922C08-459E-4CD8-B5EB-31D4A04C5811}" type="datetime1">
              <a:rPr lang="en-US" smtClean="0"/>
              <a:t>06-Apr-26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3487619625"/>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6184"/>
            <a:ext cx="6172200" cy="1524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342900" y="2046817"/>
            <a:ext cx="303014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342900" y="2899833"/>
            <a:ext cx="303014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3483769" y="2046817"/>
            <a:ext cx="3031331" cy="85301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3483769" y="2899833"/>
            <a:ext cx="3031331" cy="5268384"/>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52B8B4D-A61B-4297-B86B-E166B5F5EE8D}" type="datetime1">
              <a:rPr lang="en-US" smtClean="0"/>
              <a:t>06-Apr-26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633737455"/>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F01687B9-2387-4B48-9744-8FAC5A1118EE}" type="datetime1">
              <a:rPr lang="en-US" smtClean="0"/>
              <a:t>06-Apr-26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1819670914"/>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B5B9114-7087-471F-AF84-A0410930461A}" type="datetime1">
              <a:rPr lang="en-US" smtClean="0"/>
              <a:t>06-Apr-26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98396679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364067"/>
            <a:ext cx="2256235" cy="154940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2681287" y="364067"/>
            <a:ext cx="3833813" cy="7804151"/>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342900" y="1913467"/>
            <a:ext cx="2256235" cy="625475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25F0D1AB-4ECA-4B83-BD72-A342722AC28A}" type="datetime1">
              <a:rPr lang="en-US" smtClean="0"/>
              <a:t>06-Apr-26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544862049"/>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344216" y="6400800"/>
            <a:ext cx="4114800" cy="755651"/>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344216" y="817033"/>
            <a:ext cx="41148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344216" y="7156451"/>
            <a:ext cx="4114800" cy="107314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AE8CDB0-7FCC-4FCC-8459-EB9C4EEE4A94}" type="datetime1">
              <a:rPr lang="en-US" smtClean="0"/>
              <a:t>06-Apr-26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4174542708"/>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0A88985-0A44-49F4-87FE-C728C8ADB646}" type="datetime1">
              <a:rPr lang="en-US" smtClean="0"/>
              <a:t>06-Apr-26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237131110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3729037" y="488951"/>
            <a:ext cx="1157288" cy="10401300"/>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257175" y="488951"/>
            <a:ext cx="3357563" cy="104013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C6D9C90-B8D6-4F33-9BC1-9F057637A2EC}" type="datetime1">
              <a:rPr lang="en-US" smtClean="0"/>
              <a:t>06-Apr-26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0452F14-DDA8-46AC-9FFA-A749C5B763D3}" type="slidenum">
              <a:rPr lang="en-US" smtClean="0"/>
              <a:t>‹#›</a:t>
            </a:fld>
            <a:endParaRPr lang="en-US"/>
          </a:p>
        </p:txBody>
      </p:sp>
    </p:spTree>
    <p:extLst>
      <p:ext uri="{BB962C8B-B14F-4D97-AF65-F5344CB8AC3E}">
        <p14:creationId xmlns:p14="http://schemas.microsoft.com/office/powerpoint/2010/main" val="18977486"/>
      </p:ext>
    </p:extLst>
  </p:cSld>
  <p:clrMapOvr>
    <a:masterClrMapping/>
  </p:clrMapOvr>
  <p:extLst>
    <p:ext uri="{DCECCB84-F9BA-43D5-87BE-67443E8EF086}">
      <p15:sldGuideLst xmlns:p15="http://schemas.microsoft.com/office/powerpoint/2012/main">
        <p15:guide id="1" orient="horz" pos="2880" userDrawn="1">
          <p15:clr>
            <a:srgbClr val="FBAE40"/>
          </p15:clr>
        </p15:guide>
        <p15:guide id="2" pos="2160" userDrawn="1">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42900" y="366184"/>
            <a:ext cx="6172200" cy="1524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342900" y="2133601"/>
            <a:ext cx="6172200" cy="603461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342900" y="8475134"/>
            <a:ext cx="1600200" cy="486833"/>
          </a:xfrm>
          <a:prstGeom prst="rect">
            <a:avLst/>
          </a:prstGeom>
        </p:spPr>
        <p:txBody>
          <a:bodyPr vert="horz" lIns="91440" tIns="45720" rIns="91440" bIns="45720" rtlCol="0" anchor="ctr"/>
          <a:lstStyle>
            <a:lvl1pPr algn="l">
              <a:defRPr sz="1200">
                <a:solidFill>
                  <a:schemeClr val="tx1">
                    <a:tint val="75000"/>
                  </a:schemeClr>
                </a:solidFill>
              </a:defRPr>
            </a:lvl1pPr>
          </a:lstStyle>
          <a:p>
            <a:fld id="{0A8762D2-009C-48A5-857B-14D015A0005E}" type="datetime1">
              <a:rPr lang="en-US" smtClean="0"/>
              <a:t>06-Apr-26</a:t>
            </a:fld>
            <a:endParaRPr lang="en-US"/>
          </a:p>
        </p:txBody>
      </p:sp>
      <p:sp>
        <p:nvSpPr>
          <p:cNvPr id="5" name="Footer Placeholder 4"/>
          <p:cNvSpPr>
            <a:spLocks noGrp="1"/>
          </p:cNvSpPr>
          <p:nvPr>
            <p:ph type="ftr" sz="quarter" idx="3"/>
          </p:nvPr>
        </p:nvSpPr>
        <p:spPr>
          <a:xfrm>
            <a:off x="2343150" y="8475134"/>
            <a:ext cx="2171700" cy="486833"/>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4914900" y="8475134"/>
            <a:ext cx="1600200" cy="486833"/>
          </a:xfrm>
          <a:prstGeom prst="rect">
            <a:avLst/>
          </a:prstGeom>
        </p:spPr>
        <p:txBody>
          <a:bodyPr vert="horz" lIns="91440" tIns="45720" rIns="91440" bIns="45720" rtlCol="0" anchor="ctr"/>
          <a:lstStyle>
            <a:lvl1pPr algn="r">
              <a:defRPr sz="1200">
                <a:solidFill>
                  <a:schemeClr val="tx1">
                    <a:tint val="75000"/>
                  </a:schemeClr>
                </a:solidFill>
              </a:defRPr>
            </a:lvl1pPr>
          </a:lstStyle>
          <a:p>
            <a:fld id="{10452F14-DDA8-46AC-9FFA-A749C5B763D3}" type="slidenum">
              <a:rPr lang="en-US" smtClean="0"/>
              <a:t>‹#›</a:t>
            </a:fld>
            <a:endParaRPr lang="en-US"/>
          </a:p>
        </p:txBody>
      </p:sp>
      <p:sp>
        <p:nvSpPr>
          <p:cNvPr id="7" name="TextBox 6">
            <a:extLst>
              <a:ext uri="{FF2B5EF4-FFF2-40B4-BE49-F238E27FC236}">
                <a16:creationId xmlns:a16="http://schemas.microsoft.com/office/drawing/2014/main" id="{5A981C10-AEFA-B2EB-219B-8A42B27A49D4}"/>
              </a:ext>
            </a:extLst>
          </p:cNvPr>
          <p:cNvSpPr txBox="1"/>
          <p:nvPr userDrawn="1"/>
        </p:nvSpPr>
        <p:spPr>
          <a:xfrm>
            <a:off x="5373216" y="8821052"/>
            <a:ext cx="1440160" cy="215444"/>
          </a:xfrm>
          <a:prstGeom prst="rect">
            <a:avLst/>
          </a:prstGeom>
          <a:noFill/>
        </p:spPr>
        <p:txBody>
          <a:bodyPr wrap="square">
            <a:spAutoFit/>
          </a:bodyPr>
          <a:lstStyle/>
          <a:p>
            <a:r>
              <a:rPr lang="en-US" sz="800" b="0" dirty="0">
                <a:solidFill>
                  <a:schemeClr val="bg1">
                    <a:lumMod val="50000"/>
                  </a:schemeClr>
                </a:solidFill>
                <a:effectLst/>
                <a:latin typeface="Arial" panose="020B0604020202020204" pitchFamily="34" charset="0"/>
                <a:ea typeface="Times New Roman" panose="02020603050405020304" pitchFamily="18" charset="0"/>
                <a:cs typeface="Arial" panose="020B0604020202020204" pitchFamily="34" charset="0"/>
              </a:rPr>
              <a:t>      Wealth Strategy </a:t>
            </a:r>
            <a:fld id="{10452F14-DDA8-46AC-9FFA-A749C5B763D3}" type="slidenum">
              <a:rPr lang="en-US" sz="800" b="0" smtClean="0">
                <a:solidFill>
                  <a:schemeClr val="bg1">
                    <a:lumMod val="50000"/>
                  </a:schemeClr>
                </a:solidFill>
                <a:latin typeface="Arial" panose="020B0604020202020204" pitchFamily="34" charset="0"/>
                <a:cs typeface="Arial" panose="020B0604020202020204" pitchFamily="34" charset="0"/>
              </a:rPr>
              <a:pPr/>
              <a:t>‹#›</a:t>
            </a:fld>
            <a:r>
              <a:rPr lang="en-US" sz="800" b="0" dirty="0">
                <a:solidFill>
                  <a:schemeClr val="bg1">
                    <a:lumMod val="50000"/>
                  </a:schemeClr>
                </a:solidFill>
                <a:effectLst/>
                <a:latin typeface="Arial" panose="020B0604020202020204" pitchFamily="34" charset="0"/>
                <a:ea typeface="Times New Roman" panose="02020603050405020304" pitchFamily="18" charset="0"/>
                <a:cs typeface="Arial" panose="020B0604020202020204" pitchFamily="34" charset="0"/>
              </a:rPr>
              <a:t> </a:t>
            </a:r>
            <a:endParaRPr lang="en-US" sz="800" b="0" dirty="0">
              <a:solidFill>
                <a:schemeClr val="bg1">
                  <a:lumMod val="50000"/>
                </a:schemeClr>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5821983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880" userDrawn="1">
          <p15:clr>
            <a:srgbClr val="F26B43"/>
          </p15:clr>
        </p15:guide>
        <p15:guide id="2" pos="2160" userDrawn="1">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s>
</file>

<file path=ppt/slides/_rels/slide3.xml.rels><?xml version="1.0" encoding="UTF-8" standalone="yes"?>
<Relationships xmlns="http://schemas.openxmlformats.org/package/2006/relationships"><Relationship Id="rId8" Type="http://schemas.openxmlformats.org/officeDocument/2006/relationships/image" Target="../media/image6.emf"/><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 Id="rId9" Type="http://schemas.openxmlformats.org/officeDocument/2006/relationships/image" Target="../media/image7.emf"/></Relationships>
</file>

<file path=ppt/slides/_rels/slide4.xml.rels><?xml version="1.0" encoding="UTF-8" standalone="yes"?>
<Relationships xmlns="http://schemas.openxmlformats.org/package/2006/relationships"><Relationship Id="rId8" Type="http://schemas.openxmlformats.org/officeDocument/2006/relationships/image" Target="../media/image9.emf"/><Relationship Id="rId3" Type="http://schemas.openxmlformats.org/officeDocument/2006/relationships/image" Target="../media/image1.png"/><Relationship Id="rId7" Type="http://schemas.openxmlformats.org/officeDocument/2006/relationships/image" Target="../media/image8.emf"/><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0.jpe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1.emf"/><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2.emf"/><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microsoft.com/office/2007/relationships/hdphoto" Target="../media/hdphoto2.wdp"/><Relationship Id="rId5" Type="http://schemas.openxmlformats.org/officeDocument/2006/relationships/image" Target="../media/image4.png"/><Relationship Id="rId4" Type="http://schemas.microsoft.com/office/2007/relationships/hdphoto" Target="../media/hdphoto1.wdp"/></Relationships>
</file>

<file path=ppt/slides/_rels/slide9.xml.rels><?xml version="1.0" encoding="UTF-8" standalone="yes"?>
<Relationships xmlns="http://schemas.openxmlformats.org/package/2006/relationships"><Relationship Id="rId3" Type="http://schemas.openxmlformats.org/officeDocument/2006/relationships/image" Target="../media/image13.wmf"/><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5.png"/><Relationship Id="rId4" Type="http://schemas.openxmlformats.org/officeDocument/2006/relationships/image" Target="../media/image14.emf"/></Relationships>
</file>

<file path=ppt/slides/_rels/slide10.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3959"/>
          <a:stretch/>
        </p:blipFill>
        <p:spPr>
          <a:xfrm>
            <a:off x="0" y="0"/>
            <a:ext cx="6858000" cy="9144000"/>
          </a:xfrm>
          <a:prstGeom prst="rect">
            <a:avLst/>
          </a:prstGeom>
        </p:spPr>
      </p:pic>
      <p:sp>
        <p:nvSpPr>
          <p:cNvPr id="19" name="TextBox 18">
            <a:extLst>
              <a:ext uri="{FF2B5EF4-FFF2-40B4-BE49-F238E27FC236}">
                <a16:creationId xmlns:a16="http://schemas.microsoft.com/office/drawing/2014/main" id="{01D3EDA3-679C-BA8B-9EDE-9A31378F2861}"/>
              </a:ext>
            </a:extLst>
          </p:cNvPr>
          <p:cNvSpPr txBox="1"/>
          <p:nvPr/>
        </p:nvSpPr>
        <p:spPr>
          <a:xfrm>
            <a:off x="658256" y="2649508"/>
            <a:ext cx="72008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12 ธ.ค. </a:t>
            </a:r>
          </a:p>
        </p:txBody>
      </p:sp>
      <p:sp>
        <p:nvSpPr>
          <p:cNvPr id="20" name="TextBox 19">
            <a:extLst>
              <a:ext uri="{FF2B5EF4-FFF2-40B4-BE49-F238E27FC236}">
                <a16:creationId xmlns:a16="http://schemas.microsoft.com/office/drawing/2014/main" id="{FC28B75D-C3AA-F0C5-6200-83DB873637CB}"/>
              </a:ext>
            </a:extLst>
          </p:cNvPr>
          <p:cNvSpPr txBox="1"/>
          <p:nvPr/>
        </p:nvSpPr>
        <p:spPr>
          <a:xfrm>
            <a:off x="531946" y="2641334"/>
            <a:ext cx="904643"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ราชกิจจาประกาศยุบสภา</a:t>
            </a:r>
          </a:p>
        </p:txBody>
      </p:sp>
      <p:sp>
        <p:nvSpPr>
          <p:cNvPr id="21" name="TextBox 20">
            <a:extLst>
              <a:ext uri="{FF2B5EF4-FFF2-40B4-BE49-F238E27FC236}">
                <a16:creationId xmlns:a16="http://schemas.microsoft.com/office/drawing/2014/main" id="{C1FE4F51-5E04-9485-3236-75E85E050C64}"/>
              </a:ext>
            </a:extLst>
          </p:cNvPr>
          <p:cNvSpPr txBox="1"/>
          <p:nvPr/>
        </p:nvSpPr>
        <p:spPr>
          <a:xfrm>
            <a:off x="1497212"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13-17 ธ.ค.</a:t>
            </a:r>
          </a:p>
        </p:txBody>
      </p:sp>
      <p:sp>
        <p:nvSpPr>
          <p:cNvPr id="25" name="TextBox 24">
            <a:extLst>
              <a:ext uri="{FF2B5EF4-FFF2-40B4-BE49-F238E27FC236}">
                <a16:creationId xmlns:a16="http://schemas.microsoft.com/office/drawing/2014/main" id="{D3C2255B-69C2-3386-D320-629A8A4034DA}"/>
              </a:ext>
            </a:extLst>
          </p:cNvPr>
          <p:cNvSpPr txBox="1"/>
          <p:nvPr/>
        </p:nvSpPr>
        <p:spPr>
          <a:xfrm>
            <a:off x="2319090"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20-28 ธ.ค.</a:t>
            </a:r>
          </a:p>
        </p:txBody>
      </p:sp>
      <p:sp>
        <p:nvSpPr>
          <p:cNvPr id="26" name="TextBox 25">
            <a:extLst>
              <a:ext uri="{FF2B5EF4-FFF2-40B4-BE49-F238E27FC236}">
                <a16:creationId xmlns:a16="http://schemas.microsoft.com/office/drawing/2014/main" id="{5999F6F0-82E9-12DE-4CF8-661B374D7BDF}"/>
              </a:ext>
            </a:extLst>
          </p:cNvPr>
          <p:cNvSpPr txBox="1"/>
          <p:nvPr/>
        </p:nvSpPr>
        <p:spPr>
          <a:xfrm>
            <a:off x="3212976" y="2649508"/>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8 ก.พ.</a:t>
            </a:r>
          </a:p>
        </p:txBody>
      </p:sp>
      <p:sp>
        <p:nvSpPr>
          <p:cNvPr id="27" name="TextBox 26">
            <a:extLst>
              <a:ext uri="{FF2B5EF4-FFF2-40B4-BE49-F238E27FC236}">
                <a16:creationId xmlns:a16="http://schemas.microsoft.com/office/drawing/2014/main" id="{F8D73585-35FB-F0D5-2763-F6BB3312E8F0}"/>
              </a:ext>
            </a:extLst>
          </p:cNvPr>
          <p:cNvSpPr txBox="1"/>
          <p:nvPr/>
        </p:nvSpPr>
        <p:spPr>
          <a:xfrm>
            <a:off x="3872662" y="2653338"/>
            <a:ext cx="878577"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มี.ค.- ต้น เม.ย.</a:t>
            </a:r>
          </a:p>
        </p:txBody>
      </p:sp>
      <p:sp>
        <p:nvSpPr>
          <p:cNvPr id="28" name="TextBox 27">
            <a:extLst>
              <a:ext uri="{FF2B5EF4-FFF2-40B4-BE49-F238E27FC236}">
                <a16:creationId xmlns:a16="http://schemas.microsoft.com/office/drawing/2014/main" id="{4CEC07A3-D6A0-E1B2-370E-DB8B4F43D9B9}"/>
              </a:ext>
            </a:extLst>
          </p:cNvPr>
          <p:cNvSpPr txBox="1"/>
          <p:nvPr/>
        </p:nvSpPr>
        <p:spPr>
          <a:xfrm>
            <a:off x="4731749" y="2655699"/>
            <a:ext cx="779660"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เม.ย.</a:t>
            </a:r>
          </a:p>
        </p:txBody>
      </p:sp>
      <p:sp>
        <p:nvSpPr>
          <p:cNvPr id="29" name="TextBox 28">
            <a:extLst>
              <a:ext uri="{FF2B5EF4-FFF2-40B4-BE49-F238E27FC236}">
                <a16:creationId xmlns:a16="http://schemas.microsoft.com/office/drawing/2014/main" id="{3010FF72-72AB-A1E4-8365-3636CBE05B6A}"/>
              </a:ext>
            </a:extLst>
          </p:cNvPr>
          <p:cNvSpPr txBox="1"/>
          <p:nvPr/>
        </p:nvSpPr>
        <p:spPr>
          <a:xfrm>
            <a:off x="5511409" y="2649965"/>
            <a:ext cx="779660"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พ.ค.</a:t>
            </a:r>
          </a:p>
        </p:txBody>
      </p:sp>
      <p:sp>
        <p:nvSpPr>
          <p:cNvPr id="30" name="TextBox 29">
            <a:extLst>
              <a:ext uri="{FF2B5EF4-FFF2-40B4-BE49-F238E27FC236}">
                <a16:creationId xmlns:a16="http://schemas.microsoft.com/office/drawing/2014/main" id="{5E822032-D7A4-8CF4-B820-3F60B01D58F8}"/>
              </a:ext>
            </a:extLst>
          </p:cNvPr>
          <p:cNvSpPr txBox="1"/>
          <p:nvPr/>
        </p:nvSpPr>
        <p:spPr>
          <a:xfrm>
            <a:off x="1484784" y="2641334"/>
            <a:ext cx="72008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ประกาศวันเลือกตั้ง</a:t>
            </a:r>
          </a:p>
        </p:txBody>
      </p:sp>
      <p:sp>
        <p:nvSpPr>
          <p:cNvPr id="32" name="TextBox 31">
            <a:extLst>
              <a:ext uri="{FF2B5EF4-FFF2-40B4-BE49-F238E27FC236}">
                <a16:creationId xmlns:a16="http://schemas.microsoft.com/office/drawing/2014/main" id="{745AAF70-D983-7504-39C7-037FE66D73A6}"/>
              </a:ext>
            </a:extLst>
          </p:cNvPr>
          <p:cNvSpPr txBox="1"/>
          <p:nvPr/>
        </p:nvSpPr>
        <p:spPr>
          <a:xfrm>
            <a:off x="2276872" y="2637439"/>
            <a:ext cx="77966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พรรคส่งผู้สมัคร ส.ส.</a:t>
            </a:r>
          </a:p>
        </p:txBody>
      </p:sp>
      <p:sp>
        <p:nvSpPr>
          <p:cNvPr id="34" name="TextBox 33">
            <a:extLst>
              <a:ext uri="{FF2B5EF4-FFF2-40B4-BE49-F238E27FC236}">
                <a16:creationId xmlns:a16="http://schemas.microsoft.com/office/drawing/2014/main" id="{7E062017-FAEE-96BF-D26F-89DCC0880C8E}"/>
              </a:ext>
            </a:extLst>
          </p:cNvPr>
          <p:cNvSpPr txBox="1"/>
          <p:nvPr/>
        </p:nvSpPr>
        <p:spPr>
          <a:xfrm>
            <a:off x="3072457" y="2661863"/>
            <a:ext cx="779660"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เลือกตั้ง</a:t>
            </a:r>
          </a:p>
        </p:txBody>
      </p:sp>
      <p:sp>
        <p:nvSpPr>
          <p:cNvPr id="35" name="TextBox 34">
            <a:extLst>
              <a:ext uri="{FF2B5EF4-FFF2-40B4-BE49-F238E27FC236}">
                <a16:creationId xmlns:a16="http://schemas.microsoft.com/office/drawing/2014/main" id="{3B782CAF-F939-A52B-3801-9742737BB1B9}"/>
              </a:ext>
            </a:extLst>
          </p:cNvPr>
          <p:cNvSpPr txBox="1"/>
          <p:nvPr/>
        </p:nvSpPr>
        <p:spPr>
          <a:xfrm>
            <a:off x="3810726" y="2667080"/>
            <a:ext cx="878577"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 ส.ส. อย่างทางการ</a:t>
            </a:r>
          </a:p>
        </p:txBody>
      </p:sp>
      <p:sp>
        <p:nvSpPr>
          <p:cNvPr id="36" name="TextBox 35">
            <a:extLst>
              <a:ext uri="{FF2B5EF4-FFF2-40B4-BE49-F238E27FC236}">
                <a16:creationId xmlns:a16="http://schemas.microsoft.com/office/drawing/2014/main" id="{1A9E9AAC-6A37-023B-CB7D-D641133919A7}"/>
              </a:ext>
            </a:extLst>
          </p:cNvPr>
          <p:cNvSpPr txBox="1"/>
          <p:nvPr/>
        </p:nvSpPr>
        <p:spPr>
          <a:xfrm>
            <a:off x="4590386" y="2658083"/>
            <a:ext cx="1125089"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เลือกนายก/แต่งตั้งคณะรัฐมนตรี</a:t>
            </a:r>
          </a:p>
        </p:txBody>
      </p:sp>
      <p:sp>
        <p:nvSpPr>
          <p:cNvPr id="38" name="TextBox 37">
            <a:extLst>
              <a:ext uri="{FF2B5EF4-FFF2-40B4-BE49-F238E27FC236}">
                <a16:creationId xmlns:a16="http://schemas.microsoft.com/office/drawing/2014/main" id="{BFC4648D-0610-3B7B-438F-BDB5A8586805}"/>
              </a:ext>
            </a:extLst>
          </p:cNvPr>
          <p:cNvSpPr txBox="1"/>
          <p:nvPr/>
        </p:nvSpPr>
        <p:spPr>
          <a:xfrm>
            <a:off x="5509560" y="2658083"/>
            <a:ext cx="1125089" cy="2308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รัฐบาลใหม่</a:t>
            </a:r>
          </a:p>
        </p:txBody>
      </p:sp>
      <p:sp>
        <p:nvSpPr>
          <p:cNvPr id="24" name="TextBox 23">
            <a:extLst>
              <a:ext uri="{FF2B5EF4-FFF2-40B4-BE49-F238E27FC236}">
                <a16:creationId xmlns:a16="http://schemas.microsoft.com/office/drawing/2014/main" id="{8C8CCC20-1C5E-6125-6A36-E7FC910AC4BE}"/>
              </a:ext>
            </a:extLst>
          </p:cNvPr>
          <p:cNvSpPr txBox="1"/>
          <p:nvPr/>
        </p:nvSpPr>
        <p:spPr>
          <a:xfrm>
            <a:off x="5517232" y="454697"/>
            <a:ext cx="1196244" cy="246221"/>
          </a:xfrm>
          <a:prstGeom prst="rect">
            <a:avLst/>
          </a:prstGeom>
          <a:noFill/>
        </p:spPr>
        <p:txBody>
          <a:bodyPr wrap="square" rtlCol="0">
            <a:spAutoFit/>
          </a:bodyPr>
          <a:lstStyle/>
          <a:p>
            <a:r>
              <a:rPr lang="en-US" sz="1000" b="1" dirty="0">
                <a:solidFill>
                  <a:schemeClr val="tx2"/>
                </a:solidFill>
                <a:latin typeface="BLS Bold" panose="00000800000000000000" pitchFamily="50" charset="-34"/>
                <a:cs typeface="BLS Bold" panose="00000800000000000000" pitchFamily="50" charset="-34"/>
              </a:rPr>
              <a:t>April 7, 2026</a:t>
            </a:r>
          </a:p>
        </p:txBody>
      </p:sp>
      <p:pic>
        <p:nvPicPr>
          <p:cNvPr id="40" name="Picture 2">
            <a:extLst>
              <a:ext uri="{FF2B5EF4-FFF2-40B4-BE49-F238E27FC236}">
                <a16:creationId xmlns:a16="http://schemas.microsoft.com/office/drawing/2014/main" id="{D40CF1FE-6670-0F86-7CBF-4A474C22E170}"/>
              </a:ext>
            </a:extLst>
          </p:cNvPr>
          <p:cNvPicPr>
            <a:picLocks noChangeAspect="1" noChangeArrowheads="1"/>
          </p:cNvPicPr>
          <p:nvPr/>
        </p:nvPicPr>
        <p:blipFill>
          <a:blip r:embed="rId5">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3218" y="194588"/>
            <a:ext cx="1725613" cy="5699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2" name="TextBox 41">
            <a:extLst>
              <a:ext uri="{FF2B5EF4-FFF2-40B4-BE49-F238E27FC236}">
                <a16:creationId xmlns:a16="http://schemas.microsoft.com/office/drawing/2014/main" id="{E1F831D5-46CB-EB78-341D-EACF1E4B4898}"/>
              </a:ext>
            </a:extLst>
          </p:cNvPr>
          <p:cNvSpPr txBox="1"/>
          <p:nvPr/>
        </p:nvSpPr>
        <p:spPr>
          <a:xfrm>
            <a:off x="1162281" y="138550"/>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44" name="TextBox 43">
            <a:extLst>
              <a:ext uri="{FF2B5EF4-FFF2-40B4-BE49-F238E27FC236}">
                <a16:creationId xmlns:a16="http://schemas.microsoft.com/office/drawing/2014/main" id="{7D94CCD9-3CD7-7EBD-08D1-4EDC6069CD8F}"/>
              </a:ext>
            </a:extLst>
          </p:cNvPr>
          <p:cNvSpPr txBox="1"/>
          <p:nvPr/>
        </p:nvSpPr>
        <p:spPr>
          <a:xfrm>
            <a:off x="259758" y="539552"/>
            <a:ext cx="4825426" cy="1015663"/>
          </a:xfrm>
          <a:prstGeom prst="rect">
            <a:avLst/>
          </a:prstGeom>
          <a:noFill/>
        </p:spPr>
        <p:txBody>
          <a:bodyPr wrap="square" rtlCol="0">
            <a:spAutoFit/>
          </a:bodyPr>
          <a:lstStyle/>
          <a:p>
            <a:r>
              <a:rPr lang="el-GR" sz="6000" dirty="0">
                <a:solidFill>
                  <a:schemeClr val="accent3">
                    <a:lumMod val="75000"/>
                  </a:schemeClr>
                </a:solidFill>
                <a:latin typeface="BLS Condensed Bold" pitchFamily="2" charset="-34"/>
                <a:ea typeface="Tahoma" pitchFamily="34" charset="0"/>
                <a:cs typeface="BLS Condensed Bold" pitchFamily="2" charset="-34"/>
              </a:rPr>
              <a:t>α</a:t>
            </a:r>
            <a:r>
              <a:rPr lang="en-US" sz="3600" dirty="0" err="1">
                <a:latin typeface="BLS Condensed Bold" pitchFamily="2" charset="-34"/>
                <a:ea typeface="Tahoma" pitchFamily="34" charset="0"/>
                <a:cs typeface="BLS Condensed Bold" pitchFamily="2" charset="-34"/>
              </a:rPr>
              <a:t>lpha</a:t>
            </a:r>
            <a:r>
              <a:rPr lang="en-US" sz="3600" dirty="0">
                <a:latin typeface="BLS Condensed Bold" pitchFamily="2" charset="-34"/>
                <a:ea typeface="Tahoma" pitchFamily="34" charset="0"/>
                <a:cs typeface="BLS Condensed Bold" pitchFamily="2" charset="-34"/>
              </a:rPr>
              <a:t> </a:t>
            </a:r>
            <a:r>
              <a:rPr lang="en-US" sz="3200" dirty="0">
                <a:latin typeface="BLS Condensed Bold" pitchFamily="2" charset="-34"/>
                <a:ea typeface="Tahoma" pitchFamily="34" charset="0"/>
                <a:cs typeface="BLS Condensed Bold" pitchFamily="2" charset="-34"/>
              </a:rPr>
              <a:t>PULSE </a:t>
            </a:r>
            <a:r>
              <a:rPr lang="en-US" sz="2800" b="1" dirty="0">
                <a:solidFill>
                  <a:schemeClr val="tx1">
                    <a:lumMod val="65000"/>
                    <a:lumOff val="35000"/>
                  </a:schemeClr>
                </a:solidFill>
                <a:latin typeface="BLS Condensed "/>
                <a:ea typeface="Tahoma" pitchFamily="34" charset="0"/>
                <a:cs typeface="BLS Condensed Bold" pitchFamily="2" charset="-34"/>
              </a:rPr>
              <a:t>|</a:t>
            </a:r>
            <a:r>
              <a:rPr lang="en-GB" sz="3000" dirty="0">
                <a:solidFill>
                  <a:srgbClr val="DB002A"/>
                </a:solidFill>
                <a:latin typeface="BLS Condensed Bold" pitchFamily="2" charset="-34"/>
                <a:ea typeface="Tahoma" pitchFamily="34" charset="0"/>
                <a:cs typeface="BLS Condensed Bold" pitchFamily="2" charset="-34"/>
              </a:rPr>
              <a:t> </a:t>
            </a:r>
            <a:r>
              <a:rPr lang="en-US" sz="2400" dirty="0">
                <a:solidFill>
                  <a:schemeClr val="bg1">
                    <a:lumMod val="50000"/>
                  </a:schemeClr>
                </a:solidFill>
                <a:latin typeface="BLS Condensed Bold" pitchFamily="2" charset="-34"/>
                <a:ea typeface="Tahoma" pitchFamily="34" charset="0"/>
                <a:cs typeface="BLS Condensed Bold" pitchFamily="2" charset="-34"/>
              </a:rPr>
              <a:t>W</a:t>
            </a:r>
            <a:r>
              <a:rPr lang="en-GB" sz="2400" dirty="0" err="1">
                <a:solidFill>
                  <a:schemeClr val="bg1">
                    <a:lumMod val="50000"/>
                  </a:schemeClr>
                </a:solidFill>
                <a:latin typeface="BLS Condensed Bold" pitchFamily="2" charset="-34"/>
                <a:ea typeface="Tahoma" pitchFamily="34" charset="0"/>
                <a:cs typeface="BLS Condensed Bold" pitchFamily="2" charset="-34"/>
              </a:rPr>
              <a:t>eekly</a:t>
            </a:r>
            <a:r>
              <a:rPr lang="en-GB" sz="2400" dirty="0">
                <a:solidFill>
                  <a:schemeClr val="bg1">
                    <a:lumMod val="50000"/>
                  </a:schemeClr>
                </a:solidFill>
                <a:latin typeface="BLS Condensed Bold" pitchFamily="2" charset="-34"/>
                <a:ea typeface="Tahoma" pitchFamily="34" charset="0"/>
                <a:cs typeface="BLS Condensed Bold" pitchFamily="2" charset="-34"/>
              </a:rPr>
              <a:t> strategy</a:t>
            </a:r>
            <a:endParaRPr lang="en-GB" sz="2000" dirty="0">
              <a:solidFill>
                <a:schemeClr val="bg1">
                  <a:lumMod val="50000"/>
                </a:schemeClr>
              </a:solidFill>
              <a:latin typeface="BLS Condensed Bold" pitchFamily="2" charset="-34"/>
              <a:ea typeface="Tahoma" pitchFamily="34" charset="0"/>
              <a:cs typeface="BLS Condensed Bold" pitchFamily="2" charset="-34"/>
            </a:endParaRPr>
          </a:p>
        </p:txBody>
      </p:sp>
      <p:sp>
        <p:nvSpPr>
          <p:cNvPr id="45" name="TextBox 44">
            <a:extLst>
              <a:ext uri="{FF2B5EF4-FFF2-40B4-BE49-F238E27FC236}">
                <a16:creationId xmlns:a16="http://schemas.microsoft.com/office/drawing/2014/main" id="{EDDE772F-3591-A6B2-8675-AD72CCBF567B}"/>
              </a:ext>
            </a:extLst>
          </p:cNvPr>
          <p:cNvSpPr txBox="1"/>
          <p:nvPr/>
        </p:nvSpPr>
        <p:spPr>
          <a:xfrm>
            <a:off x="106586" y="1450975"/>
            <a:ext cx="7066829" cy="353943"/>
          </a:xfrm>
          <a:prstGeom prst="rect">
            <a:avLst/>
          </a:prstGeom>
          <a:noFill/>
          <a:ln>
            <a:noFill/>
          </a:ln>
        </p:spPr>
        <p:txBody>
          <a:bodyPr wrap="square" rtlCol="0">
            <a:spAutoFit/>
          </a:bodyPr>
          <a:lstStyle/>
          <a:p>
            <a:r>
              <a:rPr lang="en-US" altLang="en-US" sz="1700" b="1" dirty="0">
                <a:solidFill>
                  <a:schemeClr val="tx2"/>
                </a:solidFill>
                <a:latin typeface="BLS Condensed" pitchFamily="2" charset="-34"/>
                <a:ea typeface="Tahoma" pitchFamily="34" charset="0"/>
                <a:cs typeface="BLS Condensed" pitchFamily="2" charset="-34"/>
              </a:rPr>
              <a:t>Finding clarity through the fog of war</a:t>
            </a:r>
            <a:r>
              <a:rPr lang="th-TH" altLang="en-US" sz="1700" b="1" dirty="0">
                <a:solidFill>
                  <a:schemeClr val="tx2"/>
                </a:solidFill>
                <a:latin typeface="BLS Condensed" pitchFamily="2" charset="-34"/>
                <a:ea typeface="Tahoma" pitchFamily="34" charset="0"/>
                <a:cs typeface="BLS Condensed" pitchFamily="2" charset="-34"/>
              </a:rPr>
              <a:t> </a:t>
            </a:r>
            <a:r>
              <a:rPr lang="en-US" altLang="en-US" sz="1700" b="1" dirty="0">
                <a:solidFill>
                  <a:schemeClr val="tx2"/>
                </a:solidFill>
                <a:latin typeface="BLS Condensed" pitchFamily="2" charset="-34"/>
                <a:ea typeface="Tahoma" pitchFamily="34" charset="0"/>
                <a:cs typeface="BLS Condensed" pitchFamily="2" charset="-34"/>
              </a:rPr>
              <a:t>|</a:t>
            </a:r>
            <a:r>
              <a:rPr lang="th-TH" altLang="en-US" sz="1700" b="1" dirty="0">
                <a:solidFill>
                  <a:schemeClr val="tx2"/>
                </a:solidFill>
                <a:latin typeface="BLS Condensed" pitchFamily="2" charset="-34"/>
                <a:ea typeface="Tahoma" pitchFamily="34" charset="0"/>
                <a:cs typeface="BLS Condensed" pitchFamily="2" charset="-34"/>
              </a:rPr>
              <a:t> กลยุทธ์ลงทุนฝ่าความผันผวนในหมอกสงคราม</a:t>
            </a:r>
            <a:endParaRPr lang="en-US" altLang="en-US" sz="1700" b="1" dirty="0">
              <a:solidFill>
                <a:schemeClr val="tx2"/>
              </a:solidFill>
              <a:latin typeface="BLS Condensed" pitchFamily="2" charset="-34"/>
              <a:ea typeface="Tahoma" pitchFamily="34" charset="0"/>
              <a:cs typeface="BLS Condensed" pitchFamily="2" charset="-34"/>
            </a:endParaRPr>
          </a:p>
        </p:txBody>
      </p:sp>
      <p:sp>
        <p:nvSpPr>
          <p:cNvPr id="49" name="TextBox 48">
            <a:extLst>
              <a:ext uri="{FF2B5EF4-FFF2-40B4-BE49-F238E27FC236}">
                <a16:creationId xmlns:a16="http://schemas.microsoft.com/office/drawing/2014/main" id="{5CFB5291-3F9E-F04A-57ED-EC8540FF0A70}"/>
              </a:ext>
            </a:extLst>
          </p:cNvPr>
          <p:cNvSpPr txBox="1"/>
          <p:nvPr/>
        </p:nvSpPr>
        <p:spPr>
          <a:xfrm>
            <a:off x="4039911" y="1838921"/>
            <a:ext cx="2848745" cy="246221"/>
          </a:xfrm>
          <a:prstGeom prst="rect">
            <a:avLst/>
          </a:prstGeom>
          <a:noFill/>
        </p:spPr>
        <p:txBody>
          <a:bodyPr wrap="square" rtlCol="0">
            <a:spAutoFit/>
          </a:bodyPr>
          <a:lstStyle/>
          <a:p>
            <a:r>
              <a:rPr lang="en-US" sz="1000" b="1" dirty="0">
                <a:solidFill>
                  <a:schemeClr val="tx2"/>
                </a:solidFill>
                <a:latin typeface="BLS Bold" panose="00000800000000000000" pitchFamily="2" charset="-34"/>
                <a:cs typeface="BLS Bold" panose="00000800000000000000" pitchFamily="2" charset="-34"/>
              </a:rPr>
              <a:t>SET target: 15</a:t>
            </a:r>
            <a:r>
              <a:rPr lang="th-TH" sz="1000" b="1" dirty="0">
                <a:solidFill>
                  <a:schemeClr val="tx2"/>
                </a:solidFill>
                <a:latin typeface="BLS Bold" panose="00000800000000000000" pitchFamily="2" charset="-34"/>
                <a:cs typeface="BLS Bold" panose="00000800000000000000" pitchFamily="2" charset="-34"/>
              </a:rPr>
              <a:t>5</a:t>
            </a:r>
            <a:r>
              <a:rPr lang="en-US" sz="1000" b="1" dirty="0">
                <a:solidFill>
                  <a:schemeClr val="tx2"/>
                </a:solidFill>
                <a:latin typeface="BLS Bold" panose="00000800000000000000" pitchFamily="2" charset="-34"/>
                <a:cs typeface="BLS Bold" panose="00000800000000000000" pitchFamily="2" charset="-34"/>
              </a:rPr>
              <a:t>0</a:t>
            </a:r>
          </a:p>
        </p:txBody>
      </p:sp>
      <p:cxnSp>
        <p:nvCxnSpPr>
          <p:cNvPr id="51" name="Straight Connector 50">
            <a:extLst>
              <a:ext uri="{FF2B5EF4-FFF2-40B4-BE49-F238E27FC236}">
                <a16:creationId xmlns:a16="http://schemas.microsoft.com/office/drawing/2014/main" id="{AA859AB4-FEB7-E719-3157-D4109949119E}"/>
              </a:ext>
            </a:extLst>
          </p:cNvPr>
          <p:cNvCxnSpPr>
            <a:cxnSpLocks/>
          </p:cNvCxnSpPr>
          <p:nvPr/>
        </p:nvCxnSpPr>
        <p:spPr>
          <a:xfrm>
            <a:off x="4008212" y="2092837"/>
            <a:ext cx="27432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FCD14692-5E72-A147-72A0-450B7B453809}"/>
              </a:ext>
            </a:extLst>
          </p:cNvPr>
          <p:cNvSpPr txBox="1"/>
          <p:nvPr/>
        </p:nvSpPr>
        <p:spPr>
          <a:xfrm>
            <a:off x="4018706" y="2073840"/>
            <a:ext cx="2290634" cy="230832"/>
          </a:xfrm>
          <a:prstGeom prst="rect">
            <a:avLst/>
          </a:prstGeom>
          <a:noFill/>
        </p:spPr>
        <p:txBody>
          <a:bodyPr wrap="square" lIns="0" rIns="0" rtlCol="0">
            <a:spAutoFit/>
          </a:bodyPr>
          <a:lstStyle/>
          <a:p>
            <a:r>
              <a:rPr lang="en-US" sz="900" dirty="0">
                <a:solidFill>
                  <a:srgbClr val="A17D3D"/>
                </a:solidFill>
                <a:latin typeface="BLS Condensed" pitchFamily="2" charset="-34"/>
                <a:ea typeface="Tahoma" pitchFamily="34" charset="0"/>
                <a:cs typeface="BLS Condensed" pitchFamily="2" charset="-34"/>
              </a:rPr>
              <a:t>Weekly PULSE:</a:t>
            </a:r>
          </a:p>
        </p:txBody>
      </p:sp>
      <p:sp>
        <p:nvSpPr>
          <p:cNvPr id="2" name="TextBox 1">
            <a:extLst>
              <a:ext uri="{FF2B5EF4-FFF2-40B4-BE49-F238E27FC236}">
                <a16:creationId xmlns:a16="http://schemas.microsoft.com/office/drawing/2014/main" id="{9E85ABDE-7CE6-F0E6-1824-B9305003B1AB}"/>
              </a:ext>
            </a:extLst>
          </p:cNvPr>
          <p:cNvSpPr txBox="1"/>
          <p:nvPr/>
        </p:nvSpPr>
        <p:spPr>
          <a:xfrm>
            <a:off x="188640" y="1859779"/>
            <a:ext cx="3711820" cy="7087068"/>
          </a:xfrm>
          <a:prstGeom prst="rect">
            <a:avLst/>
          </a:prstGeom>
          <a:solidFill>
            <a:schemeClr val="accent5">
              <a:lumMod val="20000"/>
              <a:lumOff val="80000"/>
            </a:schemeClr>
          </a:solidFill>
          <a:ln>
            <a:noFill/>
          </a:ln>
        </p:spPr>
        <p:txBody>
          <a:bodyPr wrap="square" rtlCol="0">
            <a:spAutoFit/>
          </a:bodyPr>
          <a:lstStyle/>
          <a:p>
            <a:pPr algn="thaiDist">
              <a:lnSpc>
                <a:spcPct val="120000"/>
              </a:lnSpc>
              <a:spcBef>
                <a:spcPts val="400"/>
              </a:spcBef>
              <a:buSzPct val="120000"/>
            </a:pPr>
            <a:r>
              <a:rPr lang="th-TH" sz="900" b="1" dirty="0">
                <a:solidFill>
                  <a:schemeClr val="tx1">
                    <a:lumMod val="65000"/>
                    <a:lumOff val="35000"/>
                  </a:schemeClr>
                </a:solidFill>
                <a:latin typeface="BLS Text" panose="00000500000000000000" pitchFamily="2" charset="-34"/>
                <a:cs typeface="BLS Text" pitchFamily="2" charset="-34"/>
              </a:rPr>
              <a:t>คง ”มุมมองเชิงบวกอย่างระมัดระวัง” (</a:t>
            </a:r>
            <a:r>
              <a:rPr lang="en-US" sz="900" b="1" dirty="0">
                <a:solidFill>
                  <a:schemeClr val="tx1">
                    <a:lumMod val="65000"/>
                    <a:lumOff val="35000"/>
                  </a:schemeClr>
                </a:solidFill>
                <a:latin typeface="BLS Text" panose="00000500000000000000" pitchFamily="2" charset="-34"/>
                <a:cs typeface="BLS Text" pitchFamily="2" charset="-34"/>
              </a:rPr>
              <a:t>cautiously optimistic) </a:t>
            </a:r>
            <a:r>
              <a:rPr lang="th-TH" sz="900" b="1" dirty="0">
                <a:solidFill>
                  <a:schemeClr val="tx1">
                    <a:lumMod val="65000"/>
                    <a:lumOff val="35000"/>
                  </a:schemeClr>
                </a:solidFill>
                <a:latin typeface="BLS Text" panose="00000500000000000000" pitchFamily="2" charset="-34"/>
                <a:cs typeface="BLS Text" pitchFamily="2" charset="-34"/>
              </a:rPr>
              <a:t>ต่อตลาดหุ้นไทย ประเมินกรอบตลาดหุ้น 1400-1500 ในเดือนเม.ย.</a:t>
            </a:r>
            <a:r>
              <a:rPr lang="en-US" sz="900" b="1" dirty="0">
                <a:solidFill>
                  <a:schemeClr val="tx1">
                    <a:lumMod val="65000"/>
                    <a:lumOff val="35000"/>
                  </a:schemeClr>
                </a:solidFill>
                <a:latin typeface="BLS Text" panose="00000500000000000000" pitchFamily="2" charset="-34"/>
                <a:cs typeface="BLS Text" pitchFamily="2" charset="-34"/>
              </a:rPr>
              <a:t>:</a:t>
            </a:r>
            <a:r>
              <a:rPr lang="th-TH" sz="900" b="1" dirty="0">
                <a:solidFill>
                  <a:schemeClr val="tx1">
                    <a:lumMod val="65000"/>
                    <a:lumOff val="35000"/>
                  </a:schemeClr>
                </a:solidFill>
                <a:latin typeface="BLS Text" panose="00000500000000000000" pitchFamily="2" charset="-34"/>
                <a:cs typeface="BLS Text" pitchFamily="2" charset="-34"/>
              </a:rPr>
              <a:t> </a:t>
            </a:r>
            <a:r>
              <a:rPr lang="th-TH" sz="900" dirty="0">
                <a:solidFill>
                  <a:schemeClr val="tx1">
                    <a:lumMod val="65000"/>
                    <a:lumOff val="35000"/>
                  </a:schemeClr>
                </a:solidFill>
                <a:latin typeface="BLS Text" panose="00000500000000000000" pitchFamily="2" charset="-34"/>
                <a:cs typeface="BLS Text" pitchFamily="2" charset="-34"/>
              </a:rPr>
              <a:t>แม้ความตึงเครียดสหรัฐฯ-อิหร่าน ยังคงเป็นความเสี่ยงหลัก แต่เราคาดผ่านจุดสูงสุดความขัดแย้ง (</a:t>
            </a:r>
            <a:r>
              <a:rPr lang="en-US" sz="900" dirty="0">
                <a:solidFill>
                  <a:schemeClr val="tx1">
                    <a:lumMod val="65000"/>
                    <a:lumOff val="35000"/>
                  </a:schemeClr>
                </a:solidFill>
                <a:latin typeface="BLS Text" panose="00000500000000000000" pitchFamily="2" charset="-34"/>
                <a:cs typeface="BLS Text" pitchFamily="2" charset="-34"/>
              </a:rPr>
              <a:t>Peak tension) </a:t>
            </a:r>
            <a:r>
              <a:rPr lang="th-TH" sz="900" dirty="0">
                <a:solidFill>
                  <a:schemeClr val="tx1">
                    <a:lumMod val="65000"/>
                    <a:lumOff val="35000"/>
                  </a:schemeClr>
                </a:solidFill>
                <a:latin typeface="BLS Text" panose="00000500000000000000" pitchFamily="2" charset="-34"/>
                <a:cs typeface="BLS Text" pitchFamily="2" charset="-34"/>
              </a:rPr>
              <a:t>และเข้าสู่ช่วงลดความรุนแรงลง (</a:t>
            </a:r>
            <a:r>
              <a:rPr lang="en-US" sz="900" dirty="0">
                <a:solidFill>
                  <a:schemeClr val="tx1">
                    <a:lumMod val="65000"/>
                    <a:lumOff val="35000"/>
                  </a:schemeClr>
                </a:solidFill>
                <a:latin typeface="BLS Text" panose="00000500000000000000" pitchFamily="2" charset="-34"/>
                <a:cs typeface="BLS Text" pitchFamily="2" charset="-34"/>
              </a:rPr>
              <a:t>De-escalation phase)</a:t>
            </a:r>
            <a:r>
              <a:rPr lang="th-TH" sz="900" dirty="0">
                <a:solidFill>
                  <a:schemeClr val="tx1">
                    <a:lumMod val="65000"/>
                    <a:lumOff val="35000"/>
                  </a:schemeClr>
                </a:solidFill>
                <a:latin typeface="BLS Text" panose="00000500000000000000" pitchFamily="2" charset="-34"/>
                <a:cs typeface="BLS Text" pitchFamily="2" charset="-34"/>
              </a:rPr>
              <a:t> ในเดือนเม.ย. หลังจากประธานาธิบดีโดนัลด์ ทรัมป์ผู้นำของสหรัฐฯ เตรียมถอนกำลังทหารออกจากอิหร่านภายใน 2-3 สัปดาห์ ขณะที่ อิหร่านและโอมานอยู่ระหว่างการจัดทำร่างเกณฑ์ความร่วมมือ เพื่อกำกับดูแลการเดินเรือผ่านช่องแคบฮอร์มุซ สะท้อนโอกาสผ่อนคลายความตึงเครียดลง </a:t>
            </a:r>
            <a:endParaRPr lang="th-TH" sz="900" b="1" dirty="0">
              <a:solidFill>
                <a:schemeClr val="tx1">
                  <a:lumMod val="65000"/>
                  <a:lumOff val="35000"/>
                </a:schemeClr>
              </a:solidFill>
              <a:latin typeface="BLS Text" panose="00000500000000000000" pitchFamily="2" charset="-34"/>
              <a:cs typeface="BLS Text" pitchFamily="2" charset="-34"/>
            </a:endParaRPr>
          </a:p>
          <a:p>
            <a:pPr algn="thaiDist">
              <a:lnSpc>
                <a:spcPct val="120000"/>
              </a:lnSpc>
              <a:spcBef>
                <a:spcPts val="400"/>
              </a:spcBef>
              <a:buSzPct val="120000"/>
            </a:pPr>
            <a:r>
              <a:rPr lang="th-TH" sz="900" b="1" dirty="0">
                <a:solidFill>
                  <a:schemeClr val="tx1">
                    <a:lumMod val="65000"/>
                    <a:lumOff val="35000"/>
                  </a:schemeClr>
                </a:solidFill>
                <a:latin typeface="BLS Text" panose="00000500000000000000" pitchFamily="2" charset="-34"/>
                <a:cs typeface="BLS Text" pitchFamily="2" charset="-34"/>
              </a:rPr>
              <a:t>ตลาดจะเริ่มหันกลับมาให้น้ำหนักนโยบายกระตุ้นในประเทศ เน้น </a:t>
            </a:r>
            <a:r>
              <a:rPr lang="en-US" sz="900" b="1" dirty="0">
                <a:solidFill>
                  <a:schemeClr val="tx1">
                    <a:lumMod val="65000"/>
                    <a:lumOff val="35000"/>
                  </a:schemeClr>
                </a:solidFill>
                <a:latin typeface="BLS Text" panose="00000500000000000000" pitchFamily="2" charset="-34"/>
                <a:cs typeface="BLS Text" pitchFamily="2" charset="-34"/>
              </a:rPr>
              <a:t>“</a:t>
            </a:r>
            <a:r>
              <a:rPr lang="th-TH" sz="900" b="1" dirty="0">
                <a:solidFill>
                  <a:schemeClr val="tx1">
                    <a:lumMod val="65000"/>
                    <a:lumOff val="35000"/>
                  </a:schemeClr>
                </a:solidFill>
                <a:latin typeface="BLS Text" panose="00000500000000000000" pitchFamily="2" charset="-34"/>
                <a:cs typeface="BLS Text" pitchFamily="2" charset="-34"/>
              </a:rPr>
              <a:t>ไทยช่วยไทย พลัส</a:t>
            </a:r>
            <a:r>
              <a:rPr lang="en-US" sz="900" b="1" dirty="0">
                <a:solidFill>
                  <a:schemeClr val="tx1">
                    <a:lumMod val="65000"/>
                    <a:lumOff val="35000"/>
                  </a:schemeClr>
                </a:solidFill>
                <a:latin typeface="BLS Text" panose="00000500000000000000" pitchFamily="2" charset="-34"/>
                <a:cs typeface="BLS Text" pitchFamily="2" charset="-34"/>
              </a:rPr>
              <a:t>”</a:t>
            </a:r>
            <a:r>
              <a:rPr lang="th-TH" sz="900" b="1" dirty="0">
                <a:solidFill>
                  <a:schemeClr val="tx1">
                    <a:lumMod val="65000"/>
                    <a:lumOff val="35000"/>
                  </a:schemeClr>
                </a:solidFill>
                <a:latin typeface="BLS Text" panose="00000500000000000000" pitchFamily="2" charset="-34"/>
                <a:cs typeface="BLS Text" pitchFamily="2" charset="-34"/>
              </a:rPr>
              <a:t> และ </a:t>
            </a:r>
            <a:r>
              <a:rPr lang="en-US" sz="900" b="1" dirty="0">
                <a:solidFill>
                  <a:schemeClr val="tx1">
                    <a:lumMod val="65000"/>
                    <a:lumOff val="35000"/>
                  </a:schemeClr>
                </a:solidFill>
                <a:latin typeface="BLS Text" panose="00000500000000000000" pitchFamily="2" charset="-34"/>
                <a:cs typeface="BLS Text" pitchFamily="2" charset="-34"/>
              </a:rPr>
              <a:t>“BOI fast pass”:</a:t>
            </a:r>
            <a:r>
              <a:rPr lang="th-TH" sz="900" b="1" dirty="0">
                <a:solidFill>
                  <a:schemeClr val="tx1">
                    <a:lumMod val="65000"/>
                    <a:lumOff val="35000"/>
                  </a:schemeClr>
                </a:solidFill>
                <a:latin typeface="BLS Text" panose="00000500000000000000" pitchFamily="2" charset="-34"/>
                <a:cs typeface="BLS Text" pitchFamily="2" charset="-34"/>
              </a:rPr>
              <a:t> </a:t>
            </a:r>
            <a:r>
              <a:rPr lang="th-TH" sz="900" dirty="0">
                <a:solidFill>
                  <a:schemeClr val="tx1">
                    <a:lumMod val="65000"/>
                    <a:lumOff val="35000"/>
                  </a:schemeClr>
                </a:solidFill>
                <a:latin typeface="BLS Text" panose="00000500000000000000" pitchFamily="2" charset="-34"/>
                <a:cs typeface="BLS Text" pitchFamily="2" charset="-34"/>
              </a:rPr>
              <a:t>นายกรัฐมนตรีแถลงนโยบายต่อรัฐสภาในวันที่ 9-10 เม.ย. ประเมินครอบคลุมนโยบายทั้งมาตรการช่วยเหลือค่าครองชีพของประชาชน, การดูแลราคาพลังงาน และการเร่งรัดการลงทุนทั้งจากภาครัฐและภาคเอกชน</a:t>
            </a:r>
            <a:endParaRPr lang="th-TH" sz="900" b="1" dirty="0">
              <a:solidFill>
                <a:schemeClr val="tx1">
                  <a:lumMod val="65000"/>
                  <a:lumOff val="35000"/>
                </a:schemeClr>
              </a:solidFill>
              <a:latin typeface="BLS Text" panose="00000500000000000000" pitchFamily="2" charset="-34"/>
              <a:cs typeface="BLS Text" pitchFamily="2" charset="-34"/>
            </a:endParaRPr>
          </a:p>
          <a:p>
            <a:pPr algn="thaiDist">
              <a:lnSpc>
                <a:spcPct val="120000"/>
              </a:lnSpc>
              <a:spcBef>
                <a:spcPts val="400"/>
              </a:spcBef>
              <a:buSzPct val="120000"/>
            </a:pPr>
            <a:r>
              <a:rPr lang="th-TH" sz="900" b="1" dirty="0">
                <a:solidFill>
                  <a:schemeClr val="tx1">
                    <a:lumMod val="65000"/>
                    <a:lumOff val="35000"/>
                  </a:schemeClr>
                </a:solidFill>
                <a:latin typeface="BLS Text" panose="00000500000000000000" pitchFamily="2" charset="-34"/>
                <a:cs typeface="BLS Text" pitchFamily="2" charset="-34"/>
              </a:rPr>
              <a:t>แต่ต้นทุนค่าครองชีพที่สูงขึ้น จะเพิ่มความเสี่ยงระยะสั้น</a:t>
            </a:r>
            <a:r>
              <a:rPr lang="en-US" sz="900" b="1" dirty="0">
                <a:solidFill>
                  <a:schemeClr val="tx1">
                    <a:lumMod val="65000"/>
                    <a:lumOff val="35000"/>
                  </a:schemeClr>
                </a:solidFill>
                <a:latin typeface="BLS Text" panose="00000500000000000000" pitchFamily="2" charset="-34"/>
                <a:cs typeface="BLS Text" pitchFamily="2" charset="-34"/>
              </a:rPr>
              <a:t>:</a:t>
            </a:r>
            <a:r>
              <a:rPr lang="th-TH" sz="900" b="1" dirty="0">
                <a:solidFill>
                  <a:schemeClr val="tx1">
                    <a:lumMod val="65000"/>
                    <a:lumOff val="35000"/>
                  </a:schemeClr>
                </a:solidFill>
                <a:latin typeface="BLS Text" panose="00000500000000000000" pitchFamily="2" charset="-34"/>
                <a:cs typeface="BLS Text" pitchFamily="2" charset="-34"/>
              </a:rPr>
              <a:t> </a:t>
            </a:r>
            <a:r>
              <a:rPr lang="th-TH" sz="900" dirty="0">
                <a:solidFill>
                  <a:schemeClr val="tx1">
                    <a:lumMod val="65000"/>
                    <a:lumOff val="35000"/>
                  </a:schemeClr>
                </a:solidFill>
                <a:latin typeface="BLS Text" panose="00000500000000000000" pitchFamily="2" charset="-34"/>
                <a:cs typeface="BLS Text" pitchFamily="2" charset="-34"/>
              </a:rPr>
              <a:t>ราคาน้ำมันดิบ </a:t>
            </a:r>
            <a:r>
              <a:rPr lang="en-US" sz="900" dirty="0">
                <a:solidFill>
                  <a:schemeClr val="tx1">
                    <a:lumMod val="65000"/>
                    <a:lumOff val="35000"/>
                  </a:schemeClr>
                </a:solidFill>
                <a:latin typeface="BLS Text" panose="00000500000000000000" pitchFamily="2" charset="-34"/>
                <a:cs typeface="BLS Text" pitchFamily="2" charset="-34"/>
              </a:rPr>
              <a:t>Brent </a:t>
            </a:r>
            <a:r>
              <a:rPr lang="th-TH" sz="900" dirty="0">
                <a:solidFill>
                  <a:schemeClr val="tx1">
                    <a:lumMod val="65000"/>
                    <a:lumOff val="35000"/>
                  </a:schemeClr>
                </a:solidFill>
                <a:latin typeface="BLS Text" panose="00000500000000000000" pitchFamily="2" charset="-34"/>
                <a:cs typeface="BLS Text" pitchFamily="2" charset="-34"/>
              </a:rPr>
              <a:t>เพิ่มขึ้นราว +</a:t>
            </a:r>
            <a:r>
              <a:rPr lang="en-US" sz="900" dirty="0">
                <a:solidFill>
                  <a:schemeClr val="tx1">
                    <a:lumMod val="65000"/>
                    <a:lumOff val="35000"/>
                  </a:schemeClr>
                </a:solidFill>
                <a:latin typeface="BLS Text" panose="00000500000000000000" pitchFamily="2" charset="-34"/>
                <a:cs typeface="BLS Text" pitchFamily="2" charset="-34"/>
              </a:rPr>
              <a:t>34</a:t>
            </a:r>
            <a:r>
              <a:rPr lang="th-TH" sz="900" dirty="0">
                <a:solidFill>
                  <a:schemeClr val="tx1">
                    <a:lumMod val="65000"/>
                    <a:lumOff val="35000"/>
                  </a:schemeClr>
                </a:solidFill>
                <a:latin typeface="BLS Text" panose="00000500000000000000" pitchFamily="2" charset="-34"/>
                <a:cs typeface="BLS Text" pitchFamily="2" charset="-34"/>
              </a:rPr>
              <a:t>% </a:t>
            </a:r>
            <a:r>
              <a:rPr lang="en-US" sz="900" dirty="0">
                <a:solidFill>
                  <a:schemeClr val="tx1">
                    <a:lumMod val="65000"/>
                    <a:lumOff val="35000"/>
                  </a:schemeClr>
                </a:solidFill>
                <a:latin typeface="BLS Text" panose="00000500000000000000" pitchFamily="2" charset="-34"/>
                <a:cs typeface="BLS Text" pitchFamily="2" charset="-34"/>
              </a:rPr>
              <a:t>MTD </a:t>
            </a:r>
            <a:r>
              <a:rPr lang="th-TH" sz="900" dirty="0">
                <a:solidFill>
                  <a:schemeClr val="tx1">
                    <a:lumMod val="65000"/>
                    <a:lumOff val="35000"/>
                  </a:schemeClr>
                </a:solidFill>
                <a:latin typeface="BLS Text" panose="00000500000000000000" pitchFamily="2" charset="-34"/>
                <a:cs typeface="BLS Text" pitchFamily="2" charset="-34"/>
              </a:rPr>
              <a:t>สู่ระดับประมาณ </a:t>
            </a:r>
            <a:r>
              <a:rPr lang="en-US" sz="900" dirty="0">
                <a:solidFill>
                  <a:schemeClr val="tx1">
                    <a:lumMod val="65000"/>
                    <a:lumOff val="35000"/>
                  </a:schemeClr>
                </a:solidFill>
                <a:latin typeface="BLS Text" panose="00000500000000000000" pitchFamily="2" charset="-34"/>
                <a:cs typeface="BLS Text" pitchFamily="2" charset="-34"/>
              </a:rPr>
              <a:t>$109/</a:t>
            </a:r>
            <a:r>
              <a:rPr lang="en-US" sz="900" dirty="0" err="1">
                <a:solidFill>
                  <a:schemeClr val="tx1">
                    <a:lumMod val="65000"/>
                    <a:lumOff val="35000"/>
                  </a:schemeClr>
                </a:solidFill>
                <a:latin typeface="BLS Text" panose="00000500000000000000" pitchFamily="2" charset="-34"/>
                <a:cs typeface="BLS Text" pitchFamily="2" charset="-34"/>
              </a:rPr>
              <a:t>bbl</a:t>
            </a:r>
            <a:r>
              <a:rPr lang="en-US" sz="900" dirty="0">
                <a:solidFill>
                  <a:schemeClr val="tx1">
                    <a:lumMod val="65000"/>
                    <a:lumOff val="35000"/>
                  </a:schemeClr>
                </a:solidFill>
                <a:latin typeface="BLS Text" panose="00000500000000000000" pitchFamily="2" charset="-34"/>
                <a:cs typeface="BLS Text" pitchFamily="2" charset="-34"/>
              </a:rPr>
              <a:t> </a:t>
            </a:r>
            <a:r>
              <a:rPr lang="th-TH" sz="900" dirty="0">
                <a:solidFill>
                  <a:schemeClr val="tx1">
                    <a:lumMod val="65000"/>
                    <a:lumOff val="35000"/>
                  </a:schemeClr>
                </a:solidFill>
                <a:latin typeface="BLS Text" panose="00000500000000000000" pitchFamily="2" charset="-34"/>
                <a:cs typeface="BLS Text" pitchFamily="2" charset="-34"/>
              </a:rPr>
              <a:t>ขณะที่ราคาน้ำมันดีเซลในประเทศปรับขึ้นราว +69% </a:t>
            </a:r>
            <a:r>
              <a:rPr lang="en-US" sz="900" dirty="0">
                <a:solidFill>
                  <a:schemeClr val="tx1">
                    <a:lumMod val="65000"/>
                    <a:lumOff val="35000"/>
                  </a:schemeClr>
                </a:solidFill>
                <a:latin typeface="BLS Text" panose="00000500000000000000" pitchFamily="2" charset="-34"/>
                <a:cs typeface="BLS Text" pitchFamily="2" charset="-34"/>
              </a:rPr>
              <a:t>MTD </a:t>
            </a:r>
            <a:r>
              <a:rPr lang="th-TH" sz="900" dirty="0">
                <a:solidFill>
                  <a:schemeClr val="tx1">
                    <a:lumMod val="65000"/>
                    <a:lumOff val="35000"/>
                  </a:schemeClr>
                </a:solidFill>
                <a:latin typeface="BLS Text" panose="00000500000000000000" pitchFamily="2" charset="-34"/>
                <a:cs typeface="BLS Text" pitchFamily="2" charset="-34"/>
              </a:rPr>
              <a:t>แตะระดับประมาณ 50.54 บาท/ลิตร สะท้อนแรงกดดันด้านต้นทุนที่อาจเริ่มส่งผ่านสู่เศรษฐกิจจริง </a:t>
            </a:r>
          </a:p>
          <a:p>
            <a:pPr algn="thaiDist">
              <a:lnSpc>
                <a:spcPct val="120000"/>
              </a:lnSpc>
              <a:spcBef>
                <a:spcPts val="400"/>
              </a:spcBef>
              <a:buSzPct val="120000"/>
            </a:pPr>
            <a:r>
              <a:rPr lang="th-TH" sz="900" b="1" dirty="0">
                <a:solidFill>
                  <a:schemeClr val="tx1">
                    <a:lumMod val="65000"/>
                    <a:lumOff val="35000"/>
                  </a:schemeClr>
                </a:solidFill>
                <a:latin typeface="BLS Text" panose="00000500000000000000" pitchFamily="2" charset="-34"/>
                <a:cs typeface="BLS Text" pitchFamily="2" charset="-34"/>
              </a:rPr>
              <a:t>กรณีฐาน</a:t>
            </a:r>
            <a:r>
              <a:rPr lang="en-US" sz="900" b="1" dirty="0">
                <a:solidFill>
                  <a:schemeClr val="tx1">
                    <a:lumMod val="65000"/>
                    <a:lumOff val="35000"/>
                  </a:schemeClr>
                </a:solidFill>
                <a:latin typeface="BLS Text" panose="00000500000000000000" pitchFamily="2" charset="-34"/>
                <a:cs typeface="BLS Text" pitchFamily="2" charset="-34"/>
              </a:rPr>
              <a:t>:</a:t>
            </a:r>
            <a:r>
              <a:rPr lang="th-TH" sz="900" b="1" dirty="0">
                <a:solidFill>
                  <a:schemeClr val="tx1">
                    <a:lumMod val="65000"/>
                    <a:lumOff val="35000"/>
                  </a:schemeClr>
                </a:solidFill>
                <a:latin typeface="BLS Text" panose="00000500000000000000" pitchFamily="2" charset="-34"/>
                <a:cs typeface="BLS Text" pitchFamily="2" charset="-34"/>
              </a:rPr>
              <a:t> </a:t>
            </a:r>
            <a:r>
              <a:rPr lang="th-TH" sz="900" dirty="0">
                <a:solidFill>
                  <a:schemeClr val="tx1">
                    <a:lumMod val="65000"/>
                    <a:lumOff val="35000"/>
                  </a:schemeClr>
                </a:solidFill>
                <a:latin typeface="BLS Text" panose="00000500000000000000" pitchFamily="2" charset="-34"/>
                <a:cs typeface="BLS Text" pitchFamily="2" charset="-34"/>
              </a:rPr>
              <a:t>หากราคาน้ำมันดีเซลยืนสูง 50-55 บาท/ลิตร 1 เดือน นักเศรษฐศาสตร์ ประเมินอาจกดดัน </a:t>
            </a:r>
            <a:r>
              <a:rPr lang="en-US" sz="900" dirty="0">
                <a:solidFill>
                  <a:schemeClr val="tx1">
                    <a:lumMod val="65000"/>
                    <a:lumOff val="35000"/>
                  </a:schemeClr>
                </a:solidFill>
                <a:latin typeface="BLS Text" panose="00000500000000000000" pitchFamily="2" charset="-34"/>
                <a:cs typeface="BLS Text" pitchFamily="2" charset="-34"/>
              </a:rPr>
              <a:t>GDP</a:t>
            </a:r>
            <a:r>
              <a:rPr lang="th-TH" sz="900" dirty="0">
                <a:solidFill>
                  <a:schemeClr val="tx1">
                    <a:lumMod val="65000"/>
                    <a:lumOff val="35000"/>
                  </a:schemeClr>
                </a:solidFill>
                <a:latin typeface="BLS Text" panose="00000500000000000000" pitchFamily="2" charset="-34"/>
                <a:cs typeface="BLS Text" pitchFamily="2" charset="-34"/>
              </a:rPr>
              <a:t> ปี 2026 ราว 0.4-0.5% (เหลือเติบโต 1.3-1.4%) และกระทบกำไรต่อหุ้น </a:t>
            </a:r>
            <a:r>
              <a:rPr lang="en-US" sz="900" dirty="0">
                <a:solidFill>
                  <a:schemeClr val="tx1">
                    <a:lumMod val="65000"/>
                    <a:lumOff val="35000"/>
                  </a:schemeClr>
                </a:solidFill>
                <a:latin typeface="BLS Text" panose="00000500000000000000" pitchFamily="2" charset="-34"/>
                <a:cs typeface="BLS Text" pitchFamily="2" charset="-34"/>
              </a:rPr>
              <a:t>SET </a:t>
            </a:r>
            <a:r>
              <a:rPr lang="th-TH" sz="900" dirty="0">
                <a:solidFill>
                  <a:schemeClr val="tx1">
                    <a:lumMod val="65000"/>
                    <a:lumOff val="35000"/>
                  </a:schemeClr>
                </a:solidFill>
                <a:latin typeface="BLS Text" panose="00000500000000000000" pitchFamily="2" charset="-34"/>
                <a:cs typeface="BLS Text" pitchFamily="2" charset="-34"/>
              </a:rPr>
              <a:t>ราว 1.2-1.5% (</a:t>
            </a:r>
            <a:r>
              <a:rPr lang="en-US" sz="900" dirty="0">
                <a:solidFill>
                  <a:schemeClr val="tx1">
                    <a:lumMod val="65000"/>
                    <a:lumOff val="35000"/>
                  </a:schemeClr>
                </a:solidFill>
                <a:latin typeface="BLS Text" panose="00000500000000000000" pitchFamily="2" charset="-34"/>
                <a:cs typeface="BLS Text" pitchFamily="2" charset="-34"/>
              </a:rPr>
              <a:t>EPS </a:t>
            </a:r>
            <a:r>
              <a:rPr lang="th-TH" sz="900" dirty="0">
                <a:solidFill>
                  <a:schemeClr val="tx1">
                    <a:lumMod val="65000"/>
                    <a:lumOff val="35000"/>
                  </a:schemeClr>
                </a:solidFill>
                <a:latin typeface="BLS Text" panose="00000500000000000000" pitchFamily="2" charset="-34"/>
                <a:cs typeface="BLS Text" pitchFamily="2" charset="-34"/>
              </a:rPr>
              <a:t>อยู่ที่ 92-92.5 บาท/หุ้น, เติบโต 0.5-1.0%) มอง </a:t>
            </a:r>
            <a:r>
              <a:rPr lang="en-US" sz="900" dirty="0">
                <a:solidFill>
                  <a:schemeClr val="tx1">
                    <a:lumMod val="65000"/>
                    <a:lumOff val="35000"/>
                  </a:schemeClr>
                </a:solidFill>
                <a:latin typeface="BLS Text" panose="00000500000000000000" pitchFamily="2" charset="-34"/>
                <a:cs typeface="BLS Text" pitchFamily="2" charset="-34"/>
              </a:rPr>
              <a:t>SET target </a:t>
            </a:r>
            <a:r>
              <a:rPr lang="th-TH" sz="900" dirty="0">
                <a:solidFill>
                  <a:schemeClr val="tx1">
                    <a:lumMod val="65000"/>
                    <a:lumOff val="35000"/>
                  </a:schemeClr>
                </a:solidFill>
                <a:latin typeface="BLS Text" panose="00000500000000000000" pitchFamily="2" charset="-34"/>
                <a:cs typeface="BLS Text" pitchFamily="2" charset="-34"/>
              </a:rPr>
              <a:t>อยู่ที่ 1550 </a:t>
            </a:r>
          </a:p>
          <a:p>
            <a:pPr algn="thaiDist">
              <a:lnSpc>
                <a:spcPct val="120000"/>
              </a:lnSpc>
              <a:spcBef>
                <a:spcPts val="400"/>
              </a:spcBef>
              <a:buSzPct val="120000"/>
            </a:pPr>
            <a:r>
              <a:rPr lang="th-TH" sz="900" b="1" dirty="0">
                <a:solidFill>
                  <a:schemeClr val="tx1">
                    <a:lumMod val="65000"/>
                    <a:lumOff val="35000"/>
                  </a:schemeClr>
                </a:solidFill>
                <a:latin typeface="BLS Text" panose="00000500000000000000" pitchFamily="2" charset="-34"/>
                <a:cs typeface="BLS Text" pitchFamily="2" charset="-34"/>
              </a:rPr>
              <a:t>กรณีเลวร้าย</a:t>
            </a:r>
            <a:r>
              <a:rPr lang="en-US" sz="900" b="1" dirty="0">
                <a:solidFill>
                  <a:schemeClr val="tx1">
                    <a:lumMod val="65000"/>
                    <a:lumOff val="35000"/>
                  </a:schemeClr>
                </a:solidFill>
                <a:latin typeface="BLS Text" panose="00000500000000000000" pitchFamily="2" charset="-34"/>
                <a:cs typeface="BLS Text" pitchFamily="2" charset="-34"/>
              </a:rPr>
              <a:t>:</a:t>
            </a:r>
            <a:r>
              <a:rPr lang="th-TH" sz="900" b="1" dirty="0">
                <a:solidFill>
                  <a:schemeClr val="tx1">
                    <a:lumMod val="65000"/>
                    <a:lumOff val="35000"/>
                  </a:schemeClr>
                </a:solidFill>
                <a:latin typeface="BLS Text" panose="00000500000000000000" pitchFamily="2" charset="-34"/>
                <a:cs typeface="BLS Text" pitchFamily="2" charset="-34"/>
              </a:rPr>
              <a:t> </a:t>
            </a:r>
            <a:r>
              <a:rPr lang="th-TH" sz="900" dirty="0">
                <a:solidFill>
                  <a:schemeClr val="tx1">
                    <a:lumMod val="65000"/>
                    <a:lumOff val="35000"/>
                  </a:schemeClr>
                </a:solidFill>
                <a:latin typeface="BLS Text" panose="00000500000000000000" pitchFamily="2" charset="-34"/>
                <a:cs typeface="BLS Text" pitchFamily="2" charset="-34"/>
              </a:rPr>
              <a:t>หากราคาน้ำมันดีเซลยืนสูงนาน 2 เดือน ประเมิน </a:t>
            </a:r>
            <a:r>
              <a:rPr lang="en-US" sz="900" dirty="0">
                <a:solidFill>
                  <a:schemeClr val="tx1">
                    <a:lumMod val="65000"/>
                    <a:lumOff val="35000"/>
                  </a:schemeClr>
                </a:solidFill>
                <a:latin typeface="BLS Text" panose="00000500000000000000" pitchFamily="2" charset="-34"/>
                <a:cs typeface="BLS Text" pitchFamily="2" charset="-34"/>
              </a:rPr>
              <a:t>downside </a:t>
            </a:r>
            <a:r>
              <a:rPr lang="th-TH" sz="900" dirty="0">
                <a:solidFill>
                  <a:schemeClr val="tx1">
                    <a:lumMod val="65000"/>
                    <a:lumOff val="35000"/>
                  </a:schemeClr>
                </a:solidFill>
                <a:latin typeface="BLS Text" panose="00000500000000000000" pitchFamily="2" charset="-34"/>
                <a:cs typeface="BLS Text" pitchFamily="2" charset="-34"/>
              </a:rPr>
              <a:t>ของ </a:t>
            </a:r>
            <a:r>
              <a:rPr lang="en-US" sz="900" dirty="0">
                <a:solidFill>
                  <a:schemeClr val="tx1">
                    <a:lumMod val="65000"/>
                    <a:lumOff val="35000"/>
                  </a:schemeClr>
                </a:solidFill>
                <a:latin typeface="BLS Text" panose="00000500000000000000" pitchFamily="2" charset="-34"/>
                <a:cs typeface="BLS Text" pitchFamily="2" charset="-34"/>
              </a:rPr>
              <a:t>SET </a:t>
            </a:r>
            <a:r>
              <a:rPr lang="th-TH" sz="900" dirty="0">
                <a:solidFill>
                  <a:schemeClr val="tx1">
                    <a:lumMod val="65000"/>
                    <a:lumOff val="35000"/>
                  </a:schemeClr>
                </a:solidFill>
                <a:latin typeface="BLS Text" panose="00000500000000000000" pitchFamily="2" charset="-34"/>
                <a:cs typeface="BLS Text" pitchFamily="2" charset="-34"/>
              </a:rPr>
              <a:t>ราว 1340 ทั้งนี้ ราคาดีเซลเพิ่มทุกๆ 10% จาก 50 บาท ประเมิน กดดัน </a:t>
            </a:r>
            <a:r>
              <a:rPr lang="en-US" sz="900" dirty="0">
                <a:solidFill>
                  <a:schemeClr val="tx1">
                    <a:lumMod val="65000"/>
                    <a:lumOff val="35000"/>
                  </a:schemeClr>
                </a:solidFill>
                <a:latin typeface="BLS Text" panose="00000500000000000000" pitchFamily="2" charset="-34"/>
                <a:cs typeface="BLS Text" pitchFamily="2" charset="-34"/>
              </a:rPr>
              <a:t>GDP </a:t>
            </a:r>
            <a:r>
              <a:rPr lang="th-TH" sz="900" dirty="0">
                <a:solidFill>
                  <a:schemeClr val="tx1">
                    <a:lumMod val="65000"/>
                    <a:lumOff val="35000"/>
                  </a:schemeClr>
                </a:solidFill>
                <a:latin typeface="BLS Text" panose="00000500000000000000" pitchFamily="2" charset="-34"/>
                <a:cs typeface="BLS Text" pitchFamily="2" charset="-34"/>
              </a:rPr>
              <a:t>ลดลง 0.1% และกำไรต่อหุ้น </a:t>
            </a:r>
            <a:r>
              <a:rPr lang="en-US" sz="900" dirty="0">
                <a:solidFill>
                  <a:schemeClr val="tx1">
                    <a:lumMod val="65000"/>
                    <a:lumOff val="35000"/>
                  </a:schemeClr>
                </a:solidFill>
                <a:latin typeface="BLS Text" panose="00000500000000000000" pitchFamily="2" charset="-34"/>
                <a:cs typeface="BLS Text" pitchFamily="2" charset="-34"/>
              </a:rPr>
              <a:t>SET </a:t>
            </a:r>
            <a:r>
              <a:rPr lang="th-TH" sz="900" dirty="0">
                <a:solidFill>
                  <a:schemeClr val="tx1">
                    <a:lumMod val="65000"/>
                    <a:lumOff val="35000"/>
                  </a:schemeClr>
                </a:solidFill>
                <a:latin typeface="BLS Text" panose="00000500000000000000" pitchFamily="2" charset="-34"/>
                <a:cs typeface="BLS Text" pitchFamily="2" charset="-34"/>
              </a:rPr>
              <a:t>ลดลงราว 0.3-0.4% </a:t>
            </a:r>
          </a:p>
          <a:p>
            <a:pPr algn="thaiDist">
              <a:lnSpc>
                <a:spcPct val="120000"/>
              </a:lnSpc>
              <a:spcBef>
                <a:spcPts val="400"/>
              </a:spcBef>
              <a:buSzPct val="120000"/>
            </a:pPr>
            <a:r>
              <a:rPr lang="th-TH" sz="900" b="1" dirty="0">
                <a:solidFill>
                  <a:schemeClr val="tx1">
                    <a:lumMod val="65000"/>
                    <a:lumOff val="35000"/>
                  </a:schemeClr>
                </a:solidFill>
                <a:latin typeface="BLS Text" panose="00000500000000000000" pitchFamily="2" charset="-34"/>
                <a:cs typeface="BLS Text" pitchFamily="2" charset="-34"/>
              </a:rPr>
              <a:t>โอกาสลงทุนในช่วงความผันผวน</a:t>
            </a:r>
            <a:r>
              <a:rPr lang="en-US" sz="900" b="1" dirty="0">
                <a:solidFill>
                  <a:schemeClr val="tx1">
                    <a:lumMod val="65000"/>
                    <a:lumOff val="35000"/>
                  </a:schemeClr>
                </a:solidFill>
                <a:latin typeface="BLS Text" panose="00000500000000000000" pitchFamily="2" charset="-34"/>
                <a:cs typeface="BLS Text" pitchFamily="2" charset="-34"/>
              </a:rPr>
              <a:t>:</a:t>
            </a:r>
            <a:r>
              <a:rPr lang="th-TH" sz="900" b="1" dirty="0">
                <a:solidFill>
                  <a:schemeClr val="tx1">
                    <a:lumMod val="65000"/>
                    <a:lumOff val="35000"/>
                  </a:schemeClr>
                </a:solidFill>
                <a:latin typeface="BLS Text" panose="00000500000000000000" pitchFamily="2" charset="-34"/>
                <a:cs typeface="BLS Text" pitchFamily="2" charset="-34"/>
              </a:rPr>
              <a:t> </a:t>
            </a:r>
            <a:r>
              <a:rPr lang="th-TH" sz="900" dirty="0">
                <a:solidFill>
                  <a:schemeClr val="tx1">
                    <a:lumMod val="65000"/>
                    <a:lumOff val="35000"/>
                  </a:schemeClr>
                </a:solidFill>
                <a:latin typeface="BLS Text" panose="00000500000000000000" pitchFamily="2" charset="-34"/>
                <a:cs typeface="BLS Text" pitchFamily="2" charset="-34"/>
              </a:rPr>
              <a:t>เน้น 4 ธีมการลงทุนหลัก </a:t>
            </a:r>
          </a:p>
          <a:p>
            <a:pPr algn="thaiDist">
              <a:lnSpc>
                <a:spcPct val="120000"/>
              </a:lnSpc>
              <a:spcBef>
                <a:spcPts val="400"/>
              </a:spcBef>
              <a:buSzPct val="120000"/>
            </a:pPr>
            <a:r>
              <a:rPr lang="th-TH" sz="900" b="1" dirty="0">
                <a:solidFill>
                  <a:schemeClr val="tx1">
                    <a:lumMod val="65000"/>
                    <a:lumOff val="35000"/>
                  </a:schemeClr>
                </a:solidFill>
                <a:latin typeface="BLS Text" panose="00000500000000000000" pitchFamily="2" charset="-34"/>
                <a:cs typeface="BLS Text" pitchFamily="2" charset="-34"/>
              </a:rPr>
              <a:t>1) วัฏจักรลงทุนโครงสร้างพื้นฐาน–</a:t>
            </a:r>
            <a:r>
              <a:rPr lang="en-US" sz="900" b="1" dirty="0">
                <a:solidFill>
                  <a:schemeClr val="tx1">
                    <a:lumMod val="65000"/>
                    <a:lumOff val="35000"/>
                  </a:schemeClr>
                </a:solidFill>
                <a:latin typeface="BLS Text" panose="00000500000000000000" pitchFamily="2" charset="-34"/>
                <a:cs typeface="BLS Text" pitchFamily="2" charset="-34"/>
              </a:rPr>
              <a:t>Data Center </a:t>
            </a:r>
            <a:r>
              <a:rPr lang="th-TH" sz="900" b="1" dirty="0">
                <a:solidFill>
                  <a:schemeClr val="tx1">
                    <a:lumMod val="65000"/>
                    <a:lumOff val="35000"/>
                  </a:schemeClr>
                </a:solidFill>
                <a:latin typeface="BLS Text" panose="00000500000000000000" pitchFamily="2" charset="-34"/>
                <a:cs typeface="BLS Text" pitchFamily="2" charset="-34"/>
              </a:rPr>
              <a:t>และเศรษฐกิจดิจิทัล </a:t>
            </a:r>
            <a:r>
              <a:rPr lang="th-TH" sz="900" dirty="0">
                <a:solidFill>
                  <a:schemeClr val="tx1">
                    <a:lumMod val="65000"/>
                    <a:lumOff val="35000"/>
                  </a:schemeClr>
                </a:solidFill>
                <a:latin typeface="BLS Text" panose="00000500000000000000" pitchFamily="2" charset="-34"/>
                <a:cs typeface="BLS Text" pitchFamily="2" charset="-34"/>
              </a:rPr>
              <a:t>(</a:t>
            </a:r>
            <a:r>
              <a:rPr lang="en-US" sz="900" dirty="0">
                <a:solidFill>
                  <a:schemeClr val="tx1">
                    <a:lumMod val="65000"/>
                    <a:lumOff val="35000"/>
                  </a:schemeClr>
                </a:solidFill>
                <a:latin typeface="BLS Text" panose="00000500000000000000" pitchFamily="2" charset="-34"/>
                <a:cs typeface="BLS Text" pitchFamily="2" charset="-34"/>
              </a:rPr>
              <a:t>National infrastructure </a:t>
            </a:r>
            <a:r>
              <a:rPr lang="en-US" sz="900" dirty="0" err="1">
                <a:solidFill>
                  <a:schemeClr val="tx1">
                    <a:lumMod val="65000"/>
                    <a:lumOff val="35000"/>
                  </a:schemeClr>
                </a:solidFill>
                <a:latin typeface="BLS Text" panose="00000500000000000000" pitchFamily="2" charset="-34"/>
                <a:cs typeface="BLS Text" pitchFamily="2" charset="-34"/>
              </a:rPr>
              <a:t>supercycle</a:t>
            </a:r>
            <a:r>
              <a:rPr lang="en-US" sz="900" dirty="0">
                <a:solidFill>
                  <a:schemeClr val="tx1">
                    <a:lumMod val="65000"/>
                    <a:lumOff val="35000"/>
                  </a:schemeClr>
                </a:solidFill>
                <a:latin typeface="BLS Text" panose="00000500000000000000" pitchFamily="2" charset="-34"/>
                <a:cs typeface="BLS Text" pitchFamily="2" charset="-34"/>
              </a:rPr>
              <a:t>) </a:t>
            </a:r>
            <a:r>
              <a:rPr lang="th-TH" sz="900" dirty="0">
                <a:solidFill>
                  <a:schemeClr val="tx1">
                    <a:lumMod val="65000"/>
                    <a:lumOff val="35000"/>
                  </a:schemeClr>
                </a:solidFill>
                <a:latin typeface="BLS Text" panose="00000500000000000000" pitchFamily="2" charset="-34"/>
                <a:cs typeface="BLS Text" pitchFamily="2" charset="-34"/>
              </a:rPr>
              <a:t>ผ่าน </a:t>
            </a:r>
            <a:r>
              <a:rPr lang="en-US" sz="900" dirty="0">
                <a:solidFill>
                  <a:schemeClr val="tx1">
                    <a:lumMod val="65000"/>
                    <a:lumOff val="35000"/>
                  </a:schemeClr>
                </a:solidFill>
                <a:latin typeface="BLS Text" panose="00000500000000000000" pitchFamily="2" charset="-34"/>
                <a:cs typeface="BLS Text" pitchFamily="2" charset="-34"/>
              </a:rPr>
              <a:t>BOI fast pass </a:t>
            </a:r>
            <a:r>
              <a:rPr lang="th-TH" sz="900" dirty="0">
                <a:solidFill>
                  <a:schemeClr val="tx1">
                    <a:lumMod val="65000"/>
                    <a:lumOff val="35000"/>
                  </a:schemeClr>
                </a:solidFill>
                <a:latin typeface="BLS Text" panose="00000500000000000000" pitchFamily="2" charset="-34"/>
                <a:cs typeface="BLS Text" pitchFamily="2" charset="-34"/>
              </a:rPr>
              <a:t>และ </a:t>
            </a:r>
            <a:r>
              <a:rPr lang="en-US" sz="900" dirty="0">
                <a:solidFill>
                  <a:schemeClr val="tx1">
                    <a:lumMod val="65000"/>
                    <a:lumOff val="35000"/>
                  </a:schemeClr>
                </a:solidFill>
                <a:latin typeface="BLS Text" panose="00000500000000000000" pitchFamily="2" charset="-34"/>
                <a:cs typeface="BLS Text" pitchFamily="2" charset="-34"/>
              </a:rPr>
              <a:t>FDI </a:t>
            </a:r>
            <a:r>
              <a:rPr lang="th-TH" sz="900" dirty="0">
                <a:solidFill>
                  <a:schemeClr val="tx1">
                    <a:lumMod val="65000"/>
                    <a:lumOff val="35000"/>
                  </a:schemeClr>
                </a:solidFill>
                <a:latin typeface="BLS Text" panose="00000500000000000000" pitchFamily="2" charset="-34"/>
                <a:cs typeface="BLS Text" pitchFamily="2" charset="-34"/>
              </a:rPr>
              <a:t>ที่เร่งตัว โดยเฉพาะ </a:t>
            </a:r>
            <a:r>
              <a:rPr lang="en-US" sz="900" dirty="0">
                <a:solidFill>
                  <a:schemeClr val="tx1">
                    <a:lumMod val="65000"/>
                    <a:lumOff val="35000"/>
                  </a:schemeClr>
                </a:solidFill>
                <a:latin typeface="BLS Text" panose="00000500000000000000" pitchFamily="2" charset="-34"/>
                <a:cs typeface="BLS Text" pitchFamily="2" charset="-34"/>
              </a:rPr>
              <a:t>data center value chain </a:t>
            </a:r>
            <a:r>
              <a:rPr lang="th-TH" sz="900" dirty="0">
                <a:solidFill>
                  <a:schemeClr val="tx1">
                    <a:lumMod val="65000"/>
                    <a:lumOff val="35000"/>
                  </a:schemeClr>
                </a:solidFill>
                <a:latin typeface="BLS Text" panose="00000500000000000000" pitchFamily="2" charset="-34"/>
                <a:cs typeface="BLS Text" pitchFamily="2" charset="-34"/>
              </a:rPr>
              <a:t>หนุนการเติบโตระยะกลาง–ยาว </a:t>
            </a:r>
            <a:r>
              <a:rPr lang="en-US" sz="900" b="1" dirty="0">
                <a:solidFill>
                  <a:schemeClr val="tx1">
                    <a:lumMod val="65000"/>
                    <a:lumOff val="35000"/>
                  </a:schemeClr>
                </a:solidFill>
                <a:latin typeface="BLS Text" panose="00000500000000000000" pitchFamily="2" charset="-34"/>
                <a:cs typeface="BLS Text" pitchFamily="2" charset="-34"/>
              </a:rPr>
              <a:t>GULF</a:t>
            </a:r>
            <a:r>
              <a:rPr lang="en-US" sz="900" dirty="0">
                <a:solidFill>
                  <a:schemeClr val="tx1">
                    <a:lumMod val="65000"/>
                    <a:lumOff val="35000"/>
                  </a:schemeClr>
                </a:solidFill>
                <a:latin typeface="BLS Text" panose="00000500000000000000" pitchFamily="2" charset="-34"/>
                <a:cs typeface="BLS Text" pitchFamily="2" charset="-34"/>
              </a:rPr>
              <a:t>, </a:t>
            </a:r>
            <a:r>
              <a:rPr lang="en-US" sz="900" b="1" dirty="0">
                <a:solidFill>
                  <a:schemeClr val="tx1">
                    <a:lumMod val="65000"/>
                    <a:lumOff val="35000"/>
                  </a:schemeClr>
                </a:solidFill>
                <a:latin typeface="BLS Text" panose="00000500000000000000" pitchFamily="2" charset="-34"/>
                <a:cs typeface="BLS Text" pitchFamily="2" charset="-34"/>
              </a:rPr>
              <a:t>GUNKUL</a:t>
            </a:r>
            <a:r>
              <a:rPr lang="en-US" sz="900" dirty="0">
                <a:solidFill>
                  <a:schemeClr val="tx1">
                    <a:lumMod val="65000"/>
                    <a:lumOff val="35000"/>
                  </a:schemeClr>
                </a:solidFill>
                <a:latin typeface="BLS Text" panose="00000500000000000000" pitchFamily="2" charset="-34"/>
                <a:cs typeface="BLS Text" pitchFamily="2" charset="-34"/>
              </a:rPr>
              <a:t>, </a:t>
            </a:r>
            <a:r>
              <a:rPr lang="en-US" sz="900" b="1" dirty="0">
                <a:solidFill>
                  <a:schemeClr val="tx1">
                    <a:lumMod val="65000"/>
                    <a:lumOff val="35000"/>
                  </a:schemeClr>
                </a:solidFill>
                <a:latin typeface="BLS Text" panose="00000500000000000000" pitchFamily="2" charset="-34"/>
                <a:cs typeface="BLS Text" pitchFamily="2" charset="-34"/>
              </a:rPr>
              <a:t>TRUE</a:t>
            </a:r>
            <a:r>
              <a:rPr lang="en-US" sz="900" dirty="0">
                <a:solidFill>
                  <a:schemeClr val="tx1">
                    <a:lumMod val="65000"/>
                    <a:lumOff val="35000"/>
                  </a:schemeClr>
                </a:solidFill>
                <a:latin typeface="BLS Text" panose="00000500000000000000" pitchFamily="2" charset="-34"/>
                <a:cs typeface="BLS Text" pitchFamily="2" charset="-34"/>
              </a:rPr>
              <a:t>, </a:t>
            </a:r>
            <a:r>
              <a:rPr lang="en-US" sz="900" b="1" dirty="0">
                <a:solidFill>
                  <a:schemeClr val="tx1">
                    <a:lumMod val="65000"/>
                    <a:lumOff val="35000"/>
                  </a:schemeClr>
                </a:solidFill>
                <a:latin typeface="BLS Text" panose="00000500000000000000" pitchFamily="2" charset="-34"/>
                <a:cs typeface="BLS Text" pitchFamily="2" charset="-34"/>
              </a:rPr>
              <a:t>WHA, WHAUP</a:t>
            </a:r>
            <a:endParaRPr lang="th-TH" sz="900" dirty="0">
              <a:solidFill>
                <a:schemeClr val="tx1">
                  <a:lumMod val="65000"/>
                  <a:lumOff val="35000"/>
                </a:schemeClr>
              </a:solidFill>
              <a:latin typeface="BLS Text" panose="00000500000000000000" pitchFamily="2" charset="-34"/>
              <a:cs typeface="BLS Text" pitchFamily="2" charset="-34"/>
            </a:endParaRPr>
          </a:p>
          <a:p>
            <a:pPr algn="thaiDist">
              <a:lnSpc>
                <a:spcPct val="120000"/>
              </a:lnSpc>
              <a:spcBef>
                <a:spcPts val="400"/>
              </a:spcBef>
              <a:buSzPct val="120000"/>
            </a:pPr>
            <a:r>
              <a:rPr lang="th-TH" sz="900" b="1" dirty="0">
                <a:solidFill>
                  <a:schemeClr val="tx1">
                    <a:lumMod val="65000"/>
                    <a:lumOff val="35000"/>
                  </a:schemeClr>
                </a:solidFill>
                <a:latin typeface="BLS Text" panose="00000500000000000000" pitchFamily="2" charset="-34"/>
                <a:cs typeface="BLS Text" pitchFamily="2" charset="-34"/>
              </a:rPr>
              <a:t>2</a:t>
            </a:r>
            <a:r>
              <a:rPr lang="en-US" sz="900" b="1" dirty="0">
                <a:solidFill>
                  <a:schemeClr val="tx1">
                    <a:lumMod val="65000"/>
                    <a:lumOff val="35000"/>
                  </a:schemeClr>
                </a:solidFill>
                <a:latin typeface="BLS Text" panose="00000500000000000000" pitchFamily="2" charset="-34"/>
                <a:cs typeface="BLS Text" pitchFamily="2" charset="-34"/>
              </a:rPr>
              <a:t>)</a:t>
            </a:r>
            <a:r>
              <a:rPr lang="th-TH" sz="900" b="1" dirty="0">
                <a:solidFill>
                  <a:schemeClr val="tx1">
                    <a:lumMod val="65000"/>
                    <a:lumOff val="35000"/>
                  </a:schemeClr>
                </a:solidFill>
                <a:latin typeface="BLS Text" panose="00000500000000000000" pitchFamily="2" charset="-34"/>
                <a:cs typeface="BLS Text" pitchFamily="2" charset="-34"/>
              </a:rPr>
              <a:t> กลุ่มกำไร/กระแสเงินสดแกร่ง-พึ่งพาเศรษฐกิจในประเทศผลกระทบสงครามต่ำ-สัดส่วนต้นทุนพลังงานต่ำ/ส่งผ่านต้นทุนได้ (</a:t>
            </a:r>
            <a:r>
              <a:rPr lang="en-US" sz="900" b="1" dirty="0">
                <a:solidFill>
                  <a:schemeClr val="tx1">
                    <a:lumMod val="65000"/>
                    <a:lumOff val="35000"/>
                  </a:schemeClr>
                </a:solidFill>
                <a:latin typeface="BLS Text" panose="00000500000000000000" pitchFamily="2" charset="-34"/>
                <a:cs typeface="BLS Text" pitchFamily="2" charset="-34"/>
              </a:rPr>
              <a:t>pricing power)</a:t>
            </a:r>
            <a:r>
              <a:rPr lang="th-TH" sz="900" b="1" dirty="0">
                <a:solidFill>
                  <a:schemeClr val="tx1">
                    <a:lumMod val="65000"/>
                    <a:lumOff val="35000"/>
                  </a:schemeClr>
                </a:solidFill>
                <a:latin typeface="BLS Text" panose="00000500000000000000" pitchFamily="2" charset="-34"/>
                <a:cs typeface="BLS Text" pitchFamily="2" charset="-34"/>
              </a:rPr>
              <a:t>-มาตรการรัฐฯ หนุนการฟื้นตัว </a:t>
            </a:r>
            <a:r>
              <a:rPr lang="th-TH" sz="900" dirty="0">
                <a:solidFill>
                  <a:schemeClr val="tx1">
                    <a:lumMod val="65000"/>
                    <a:lumOff val="35000"/>
                  </a:schemeClr>
                </a:solidFill>
                <a:latin typeface="BLS Text" panose="00000500000000000000" pitchFamily="2" charset="-34"/>
                <a:cs typeface="BLS Text" pitchFamily="2" charset="-34"/>
              </a:rPr>
              <a:t>(</a:t>
            </a:r>
            <a:r>
              <a:rPr lang="en-US" sz="900" dirty="0">
                <a:solidFill>
                  <a:schemeClr val="tx1">
                    <a:lumMod val="65000"/>
                    <a:lumOff val="35000"/>
                  </a:schemeClr>
                </a:solidFill>
                <a:latin typeface="BLS Text" panose="00000500000000000000" pitchFamily="2" charset="-34"/>
                <a:cs typeface="BLS Text" pitchFamily="2" charset="-34"/>
              </a:rPr>
              <a:t>War-resilient domestic earnings with stimulus-driven upside) </a:t>
            </a:r>
            <a:r>
              <a:rPr lang="en-US" sz="900" b="1" dirty="0">
                <a:solidFill>
                  <a:schemeClr val="tx1">
                    <a:lumMod val="65000"/>
                    <a:lumOff val="35000"/>
                  </a:schemeClr>
                </a:solidFill>
                <a:latin typeface="BLS Text" panose="00000500000000000000" pitchFamily="2" charset="-34"/>
                <a:cs typeface="BLS Text" pitchFamily="2" charset="-34"/>
              </a:rPr>
              <a:t>CPN</a:t>
            </a:r>
            <a:r>
              <a:rPr lang="en-US" sz="900" dirty="0">
                <a:solidFill>
                  <a:schemeClr val="tx1">
                    <a:lumMod val="65000"/>
                    <a:lumOff val="35000"/>
                  </a:schemeClr>
                </a:solidFill>
                <a:latin typeface="BLS Text" panose="00000500000000000000" pitchFamily="2" charset="-34"/>
                <a:cs typeface="BLS Text" pitchFamily="2" charset="-34"/>
              </a:rPr>
              <a:t>, </a:t>
            </a:r>
            <a:r>
              <a:rPr lang="en-US" sz="900" b="1" dirty="0">
                <a:solidFill>
                  <a:schemeClr val="tx1">
                    <a:lumMod val="65000"/>
                    <a:lumOff val="35000"/>
                  </a:schemeClr>
                </a:solidFill>
                <a:latin typeface="BLS Text" panose="00000500000000000000" pitchFamily="2" charset="-34"/>
                <a:cs typeface="BLS Text" pitchFamily="2" charset="-34"/>
              </a:rPr>
              <a:t>CPALL</a:t>
            </a:r>
            <a:endParaRPr lang="en-US" sz="900" dirty="0">
              <a:solidFill>
                <a:schemeClr val="tx1">
                  <a:lumMod val="65000"/>
                  <a:lumOff val="35000"/>
                </a:schemeClr>
              </a:solidFill>
              <a:latin typeface="BLS Text" panose="00000500000000000000" pitchFamily="2" charset="-34"/>
              <a:cs typeface="BLS Text" pitchFamily="2" charset="-34"/>
            </a:endParaRPr>
          </a:p>
          <a:p>
            <a:pPr algn="thaiDist">
              <a:lnSpc>
                <a:spcPct val="120000"/>
              </a:lnSpc>
              <a:spcBef>
                <a:spcPts val="400"/>
              </a:spcBef>
              <a:buSzPct val="120000"/>
            </a:pPr>
            <a:r>
              <a:rPr lang="th-TH" sz="900" b="1" dirty="0">
                <a:solidFill>
                  <a:schemeClr val="tx1">
                    <a:lumMod val="65000"/>
                    <a:lumOff val="35000"/>
                  </a:schemeClr>
                </a:solidFill>
                <a:latin typeface="BLS Text" panose="00000500000000000000" pitchFamily="2" charset="-34"/>
                <a:cs typeface="BLS Text" pitchFamily="2" charset="-34"/>
              </a:rPr>
              <a:t>ขณะที่ เป็นโอกาสทยอยสะสมหุ้นราคาต่ำพื้นฐาน-ปันผลสูงช่วงปรับฐาน</a:t>
            </a:r>
            <a:endParaRPr lang="en-US" sz="900" b="1" dirty="0">
              <a:solidFill>
                <a:schemeClr val="tx1">
                  <a:lumMod val="65000"/>
                  <a:lumOff val="35000"/>
                </a:schemeClr>
              </a:solidFill>
              <a:latin typeface="BLS Text" panose="00000500000000000000" pitchFamily="2" charset="-34"/>
              <a:cs typeface="BLS Text" pitchFamily="2" charset="-34"/>
            </a:endParaRPr>
          </a:p>
          <a:p>
            <a:pPr algn="thaiDist">
              <a:lnSpc>
                <a:spcPct val="120000"/>
              </a:lnSpc>
              <a:spcBef>
                <a:spcPts val="400"/>
              </a:spcBef>
              <a:buSzPct val="120000"/>
            </a:pPr>
            <a:r>
              <a:rPr lang="th-TH" sz="900" b="1" dirty="0">
                <a:solidFill>
                  <a:schemeClr val="tx1">
                    <a:lumMod val="65000"/>
                    <a:lumOff val="35000"/>
                  </a:schemeClr>
                </a:solidFill>
                <a:latin typeface="BLS Text" panose="00000500000000000000" pitchFamily="2" charset="-34"/>
                <a:cs typeface="BLS Text" pitchFamily="2" charset="-34"/>
              </a:rPr>
              <a:t>3</a:t>
            </a:r>
            <a:r>
              <a:rPr lang="en-US" sz="900" b="1" dirty="0">
                <a:solidFill>
                  <a:schemeClr val="tx1">
                    <a:lumMod val="65000"/>
                    <a:lumOff val="35000"/>
                  </a:schemeClr>
                </a:solidFill>
                <a:latin typeface="BLS Text" panose="00000500000000000000" pitchFamily="2" charset="-34"/>
                <a:cs typeface="BLS Text" pitchFamily="2" charset="-34"/>
              </a:rPr>
              <a:t>)</a:t>
            </a:r>
            <a:r>
              <a:rPr lang="th-TH" sz="900" b="1" dirty="0">
                <a:solidFill>
                  <a:schemeClr val="tx1">
                    <a:lumMod val="65000"/>
                    <a:lumOff val="35000"/>
                  </a:schemeClr>
                </a:solidFill>
                <a:latin typeface="BLS Text" panose="00000500000000000000" pitchFamily="2" charset="-34"/>
                <a:cs typeface="BLS Text" pitchFamily="2" charset="-34"/>
              </a:rPr>
              <a:t> ผู้นำปันผลสูง–รับอานิสงส์ </a:t>
            </a:r>
            <a:r>
              <a:rPr lang="en-US" sz="900" b="1" dirty="0">
                <a:solidFill>
                  <a:schemeClr val="tx1">
                    <a:lumMod val="65000"/>
                    <a:lumOff val="35000"/>
                  </a:schemeClr>
                </a:solidFill>
                <a:latin typeface="BLS Text" panose="00000500000000000000" pitchFamily="2" charset="-34"/>
                <a:cs typeface="BLS Text" pitchFamily="2" charset="-34"/>
              </a:rPr>
              <a:t>TISA</a:t>
            </a:r>
            <a:r>
              <a:rPr lang="th-TH" sz="900" b="1" dirty="0">
                <a:solidFill>
                  <a:schemeClr val="tx1">
                    <a:lumMod val="65000"/>
                    <a:lumOff val="35000"/>
                  </a:schemeClr>
                </a:solidFill>
                <a:latin typeface="BLS Text" panose="00000500000000000000" pitchFamily="2" charset="-34"/>
                <a:cs typeface="BLS Text" pitchFamily="2" charset="-34"/>
              </a:rPr>
              <a:t> หนุนเงินทุนไหลเข้า </a:t>
            </a:r>
            <a:r>
              <a:rPr lang="th-TH" sz="900" dirty="0">
                <a:solidFill>
                  <a:schemeClr val="tx1">
                    <a:lumMod val="65000"/>
                    <a:lumOff val="35000"/>
                  </a:schemeClr>
                </a:solidFill>
                <a:latin typeface="BLS Text" panose="00000500000000000000" pitchFamily="2" charset="-34"/>
                <a:cs typeface="BLS Text" pitchFamily="2" charset="-34"/>
              </a:rPr>
              <a:t>(</a:t>
            </a:r>
            <a:r>
              <a:rPr lang="en-US" sz="900" dirty="0">
                <a:solidFill>
                  <a:schemeClr val="tx1">
                    <a:lumMod val="65000"/>
                    <a:lumOff val="35000"/>
                  </a:schemeClr>
                </a:solidFill>
                <a:latin typeface="BLS Text" panose="00000500000000000000" pitchFamily="2" charset="-34"/>
                <a:cs typeface="BLS Text" pitchFamily="2" charset="-34"/>
              </a:rPr>
              <a:t>Dividend leaders with TISA-driven inflows)</a:t>
            </a:r>
            <a:r>
              <a:rPr lang="th-TH" sz="900" dirty="0">
                <a:solidFill>
                  <a:schemeClr val="tx1">
                    <a:lumMod val="65000"/>
                    <a:lumOff val="35000"/>
                  </a:schemeClr>
                </a:solidFill>
                <a:latin typeface="BLS Text" panose="00000500000000000000" pitchFamily="2" charset="-34"/>
                <a:cs typeface="BLS Text" pitchFamily="2" charset="-34"/>
              </a:rPr>
              <a:t> เช่น</a:t>
            </a:r>
            <a:r>
              <a:rPr lang="en-US" sz="900" dirty="0">
                <a:solidFill>
                  <a:schemeClr val="tx1">
                    <a:lumMod val="65000"/>
                    <a:lumOff val="35000"/>
                  </a:schemeClr>
                </a:solidFill>
                <a:latin typeface="BLS Text" panose="00000500000000000000" pitchFamily="2" charset="-34"/>
                <a:cs typeface="BLS Text" pitchFamily="2" charset="-34"/>
              </a:rPr>
              <a:t> </a:t>
            </a:r>
            <a:r>
              <a:rPr lang="en-US" sz="900" b="1" dirty="0">
                <a:solidFill>
                  <a:schemeClr val="tx1">
                    <a:lumMod val="65000"/>
                    <a:lumOff val="35000"/>
                  </a:schemeClr>
                </a:solidFill>
                <a:latin typeface="BLS Text" panose="00000500000000000000" pitchFamily="2" charset="-34"/>
                <a:cs typeface="BLS Text" pitchFamily="2" charset="-34"/>
              </a:rPr>
              <a:t>KTB, BBL</a:t>
            </a:r>
            <a:endParaRPr lang="th-TH" sz="900" b="1" dirty="0">
              <a:solidFill>
                <a:schemeClr val="tx1">
                  <a:lumMod val="65000"/>
                  <a:lumOff val="35000"/>
                </a:schemeClr>
              </a:solidFill>
              <a:latin typeface="BLS Text" panose="00000500000000000000" pitchFamily="2" charset="-34"/>
              <a:cs typeface="BLS Text" pitchFamily="2" charset="-34"/>
            </a:endParaRPr>
          </a:p>
          <a:p>
            <a:pPr algn="thaiDist">
              <a:lnSpc>
                <a:spcPct val="120000"/>
              </a:lnSpc>
              <a:spcBef>
                <a:spcPts val="400"/>
              </a:spcBef>
              <a:buSzPct val="120000"/>
            </a:pPr>
            <a:r>
              <a:rPr lang="th-TH" sz="900" b="1" dirty="0">
                <a:solidFill>
                  <a:schemeClr val="tx1">
                    <a:lumMod val="65000"/>
                    <a:lumOff val="35000"/>
                  </a:schemeClr>
                </a:solidFill>
                <a:latin typeface="BLS Text" panose="00000500000000000000" pitchFamily="2" charset="-34"/>
                <a:cs typeface="BLS Text" pitchFamily="2" charset="-34"/>
              </a:rPr>
              <a:t>4</a:t>
            </a:r>
            <a:r>
              <a:rPr lang="en-US" sz="900" b="1" dirty="0">
                <a:solidFill>
                  <a:schemeClr val="tx1">
                    <a:lumMod val="65000"/>
                    <a:lumOff val="35000"/>
                  </a:schemeClr>
                </a:solidFill>
                <a:latin typeface="BLS Text" panose="00000500000000000000" pitchFamily="2" charset="-34"/>
                <a:cs typeface="BLS Text" pitchFamily="2" charset="-34"/>
              </a:rPr>
              <a:t>)</a:t>
            </a:r>
            <a:r>
              <a:rPr lang="th-TH" sz="900" b="1" dirty="0">
                <a:solidFill>
                  <a:schemeClr val="tx1">
                    <a:lumMod val="65000"/>
                    <a:lumOff val="35000"/>
                  </a:schemeClr>
                </a:solidFill>
                <a:latin typeface="BLS Text" panose="00000500000000000000" pitchFamily="2" charset="-34"/>
                <a:cs typeface="BLS Text" pitchFamily="2" charset="-34"/>
              </a:rPr>
              <a:t> หุ้นที่ราคาปรับตัวลงแรงกว่าปัจจัยพื้นฐาน/มี </a:t>
            </a:r>
            <a:r>
              <a:rPr lang="en-US" sz="900" b="1" dirty="0">
                <a:solidFill>
                  <a:schemeClr val="tx1">
                    <a:lumMod val="65000"/>
                    <a:lumOff val="35000"/>
                  </a:schemeClr>
                </a:solidFill>
                <a:latin typeface="BLS Text" panose="00000500000000000000" pitchFamily="2" charset="-34"/>
                <a:cs typeface="BLS Text" pitchFamily="2" charset="-34"/>
              </a:rPr>
              <a:t>catalyst</a:t>
            </a:r>
            <a:r>
              <a:rPr lang="th-TH" sz="900" b="1" dirty="0">
                <a:solidFill>
                  <a:schemeClr val="tx1">
                    <a:lumMod val="65000"/>
                    <a:lumOff val="35000"/>
                  </a:schemeClr>
                </a:solidFill>
                <a:latin typeface="BLS Text" panose="00000500000000000000" pitchFamily="2" charset="-34"/>
                <a:cs typeface="BLS Text" pitchFamily="2" charset="-34"/>
              </a:rPr>
              <a:t> หนุนการฟื้นตัวหลังสงคราม </a:t>
            </a:r>
            <a:r>
              <a:rPr lang="th-TH" sz="900" dirty="0">
                <a:solidFill>
                  <a:schemeClr val="tx1">
                    <a:lumMod val="65000"/>
                    <a:lumOff val="35000"/>
                  </a:schemeClr>
                </a:solidFill>
                <a:latin typeface="BLS Text" panose="00000500000000000000" pitchFamily="2" charset="-34"/>
                <a:cs typeface="BLS Text" pitchFamily="2" charset="-34"/>
              </a:rPr>
              <a:t>(</a:t>
            </a:r>
            <a:r>
              <a:rPr lang="en-US" sz="900" dirty="0">
                <a:solidFill>
                  <a:schemeClr val="tx1">
                    <a:lumMod val="65000"/>
                    <a:lumOff val="35000"/>
                  </a:schemeClr>
                </a:solidFill>
                <a:latin typeface="BLS Text" panose="00000500000000000000" pitchFamily="2" charset="-34"/>
                <a:cs typeface="BLS Text" pitchFamily="2" charset="-34"/>
              </a:rPr>
              <a:t>Over-penalized valuation &amp; post-war re-rating) </a:t>
            </a:r>
            <a:r>
              <a:rPr lang="en-US" sz="900" b="1" dirty="0">
                <a:solidFill>
                  <a:schemeClr val="tx1">
                    <a:lumMod val="65000"/>
                    <a:lumOff val="35000"/>
                  </a:schemeClr>
                </a:solidFill>
                <a:latin typeface="BLS Text" panose="00000500000000000000" pitchFamily="2" charset="-34"/>
                <a:cs typeface="BLS Text" pitchFamily="2" charset="-34"/>
              </a:rPr>
              <a:t>BH</a:t>
            </a:r>
            <a:r>
              <a:rPr lang="en-US" sz="900" dirty="0">
                <a:solidFill>
                  <a:schemeClr val="tx1">
                    <a:lumMod val="65000"/>
                    <a:lumOff val="35000"/>
                  </a:schemeClr>
                </a:solidFill>
                <a:latin typeface="BLS Text" panose="00000500000000000000" pitchFamily="2" charset="-34"/>
                <a:cs typeface="BLS Text" pitchFamily="2" charset="-34"/>
              </a:rPr>
              <a:t>, </a:t>
            </a:r>
            <a:r>
              <a:rPr lang="en-US" sz="900" b="1" dirty="0">
                <a:solidFill>
                  <a:schemeClr val="tx1">
                    <a:lumMod val="65000"/>
                    <a:lumOff val="35000"/>
                  </a:schemeClr>
                </a:solidFill>
                <a:latin typeface="BLS Text" panose="00000500000000000000" pitchFamily="2" charset="-34"/>
                <a:cs typeface="BLS Text" pitchFamily="2" charset="-34"/>
              </a:rPr>
              <a:t>MINT, ITC</a:t>
            </a:r>
            <a:endParaRPr lang="th-TH" sz="900" b="1" dirty="0">
              <a:solidFill>
                <a:schemeClr val="tx1">
                  <a:lumMod val="65000"/>
                  <a:lumOff val="35000"/>
                </a:schemeClr>
              </a:solidFill>
              <a:latin typeface="BLS Text" panose="00000500000000000000" pitchFamily="2" charset="-34"/>
              <a:cs typeface="BLS Text" pitchFamily="2" charset="-34"/>
            </a:endParaRPr>
          </a:p>
        </p:txBody>
      </p:sp>
      <p:cxnSp>
        <p:nvCxnSpPr>
          <p:cNvPr id="3" name="Straight Connector 2">
            <a:extLst>
              <a:ext uri="{FF2B5EF4-FFF2-40B4-BE49-F238E27FC236}">
                <a16:creationId xmlns:a16="http://schemas.microsoft.com/office/drawing/2014/main" id="{3FB7FD5E-C2F4-696F-9623-665905EA508D}"/>
              </a:ext>
            </a:extLst>
          </p:cNvPr>
          <p:cNvCxnSpPr/>
          <p:nvPr/>
        </p:nvCxnSpPr>
        <p:spPr>
          <a:xfrm>
            <a:off x="2161884" y="410050"/>
            <a:ext cx="0" cy="230832"/>
          </a:xfrm>
          <a:prstGeom prst="line">
            <a:avLst/>
          </a:prstGeom>
          <a:ln w="3175">
            <a:solidFill>
              <a:srgbClr val="002060"/>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F492222F-6A22-6060-8AE7-28693619881E}"/>
              </a:ext>
            </a:extLst>
          </p:cNvPr>
          <p:cNvSpPr txBox="1"/>
          <p:nvPr/>
        </p:nvSpPr>
        <p:spPr>
          <a:xfrm>
            <a:off x="2161884" y="337471"/>
            <a:ext cx="1411131" cy="369332"/>
          </a:xfrm>
          <a:prstGeom prst="rect">
            <a:avLst/>
          </a:prstGeom>
          <a:noFill/>
        </p:spPr>
        <p:txBody>
          <a:bodyPr wrap="square" rtlCol="0">
            <a:spAutoFit/>
          </a:bodyPr>
          <a:lstStyle/>
          <a:p>
            <a:r>
              <a:rPr lang="en-US" sz="900" b="1" dirty="0">
                <a:solidFill>
                  <a:schemeClr val="accent3">
                    <a:lumMod val="50000"/>
                  </a:schemeClr>
                </a:solidFill>
                <a:latin typeface="Arial" pitchFamily="34" charset="0"/>
                <a:cs typeface="Arial" pitchFamily="34" charset="0"/>
              </a:rPr>
              <a:t>Data-driven</a:t>
            </a:r>
            <a:endParaRPr lang="th-TH" sz="900" b="1" dirty="0">
              <a:solidFill>
                <a:schemeClr val="accent3">
                  <a:lumMod val="50000"/>
                </a:schemeClr>
              </a:solidFill>
              <a:latin typeface="Arial" pitchFamily="34" charset="0"/>
              <a:cs typeface="Arial" pitchFamily="34" charset="0"/>
            </a:endParaRPr>
          </a:p>
          <a:p>
            <a:r>
              <a:rPr lang="en-US" sz="900" b="1" dirty="0">
                <a:solidFill>
                  <a:schemeClr val="tx2">
                    <a:lumMod val="50000"/>
                  </a:schemeClr>
                </a:solidFill>
                <a:latin typeface="Arial" pitchFamily="34" charset="0"/>
                <a:cs typeface="Arial" pitchFamily="34" charset="0"/>
              </a:rPr>
              <a:t>RESEARCH</a:t>
            </a:r>
          </a:p>
        </p:txBody>
      </p:sp>
      <p:cxnSp>
        <p:nvCxnSpPr>
          <p:cNvPr id="59" name="Straight Connector 58">
            <a:extLst>
              <a:ext uri="{FF2B5EF4-FFF2-40B4-BE49-F238E27FC236}">
                <a16:creationId xmlns:a16="http://schemas.microsoft.com/office/drawing/2014/main" id="{11C7C5D5-EAE4-B3E6-9DF7-E15CEA3E4EEB}"/>
              </a:ext>
            </a:extLst>
          </p:cNvPr>
          <p:cNvCxnSpPr>
            <a:cxnSpLocks/>
          </p:cNvCxnSpPr>
          <p:nvPr/>
        </p:nvCxnSpPr>
        <p:spPr>
          <a:xfrm>
            <a:off x="4008212" y="4932040"/>
            <a:ext cx="27432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50" name="TextBox 49">
            <a:extLst>
              <a:ext uri="{FF2B5EF4-FFF2-40B4-BE49-F238E27FC236}">
                <a16:creationId xmlns:a16="http://schemas.microsoft.com/office/drawing/2014/main" id="{241A465B-AFF2-BD30-A3C3-2B78B03168F9}"/>
              </a:ext>
            </a:extLst>
          </p:cNvPr>
          <p:cNvSpPr txBox="1"/>
          <p:nvPr/>
        </p:nvSpPr>
        <p:spPr>
          <a:xfrm>
            <a:off x="4018706" y="4943087"/>
            <a:ext cx="2290634" cy="230832"/>
          </a:xfrm>
          <a:prstGeom prst="rect">
            <a:avLst/>
          </a:prstGeom>
          <a:noFill/>
        </p:spPr>
        <p:txBody>
          <a:bodyPr wrap="square" lIns="0" rIns="0" rtlCol="0">
            <a:spAutoFit/>
          </a:bodyPr>
          <a:lstStyle/>
          <a:p>
            <a:r>
              <a:rPr lang="en-US" sz="900" dirty="0">
                <a:solidFill>
                  <a:srgbClr val="A17D3D"/>
                </a:solidFill>
                <a:latin typeface="BLS Condensed" pitchFamily="2" charset="-34"/>
                <a:ea typeface="Tahoma" pitchFamily="34" charset="0"/>
                <a:cs typeface="BLS Condensed" pitchFamily="2" charset="-34"/>
              </a:rPr>
              <a:t>Fundamental picks</a:t>
            </a:r>
          </a:p>
        </p:txBody>
      </p:sp>
      <p:sp>
        <p:nvSpPr>
          <p:cNvPr id="47" name="TextBox 46">
            <a:extLst>
              <a:ext uri="{FF2B5EF4-FFF2-40B4-BE49-F238E27FC236}">
                <a16:creationId xmlns:a16="http://schemas.microsoft.com/office/drawing/2014/main" id="{C9066BA8-BE99-5985-B984-4F43D0AC32DB}"/>
              </a:ext>
            </a:extLst>
          </p:cNvPr>
          <p:cNvSpPr txBox="1"/>
          <p:nvPr/>
        </p:nvSpPr>
        <p:spPr>
          <a:xfrm>
            <a:off x="4293096" y="8486854"/>
            <a:ext cx="2471462" cy="261610"/>
          </a:xfrm>
          <a:prstGeom prst="rect">
            <a:avLst/>
          </a:prstGeom>
          <a:noFill/>
          <a:ln>
            <a:noFill/>
          </a:ln>
        </p:spPr>
        <p:txBody>
          <a:bodyPr wrap="square" rtlCol="0">
            <a:spAutoFit/>
          </a:bodyPr>
          <a:lstStyle/>
          <a:p>
            <a:pPr algn="r"/>
            <a:r>
              <a:rPr lang="en-US" sz="900" b="1" dirty="0">
                <a:solidFill>
                  <a:schemeClr val="accent5">
                    <a:lumMod val="75000"/>
                  </a:schemeClr>
                </a:solidFill>
                <a:latin typeface="BLS Condensed" pitchFamily="2" charset="-34"/>
                <a:ea typeface="Tahoma" pitchFamily="34" charset="0"/>
                <a:cs typeface="BLS Condensed" pitchFamily="2" charset="-34"/>
              </a:rPr>
              <a:t>Wealth Research</a:t>
            </a:r>
            <a:endParaRPr lang="en-US" sz="500" dirty="0">
              <a:solidFill>
                <a:schemeClr val="tx1">
                  <a:lumMod val="95000"/>
                  <a:lumOff val="5000"/>
                </a:schemeClr>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p:txBody>
      </p:sp>
      <p:cxnSp>
        <p:nvCxnSpPr>
          <p:cNvPr id="48" name="Straight Connector 47">
            <a:extLst>
              <a:ext uri="{FF2B5EF4-FFF2-40B4-BE49-F238E27FC236}">
                <a16:creationId xmlns:a16="http://schemas.microsoft.com/office/drawing/2014/main" id="{DB442B00-E779-9C8E-61D1-873917185A99}"/>
              </a:ext>
            </a:extLst>
          </p:cNvPr>
          <p:cNvCxnSpPr/>
          <p:nvPr/>
        </p:nvCxnSpPr>
        <p:spPr>
          <a:xfrm>
            <a:off x="4437360" y="8460432"/>
            <a:ext cx="223200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C7236C13-3759-8FB1-0CD1-5FC325CB7A9A}"/>
              </a:ext>
            </a:extLst>
          </p:cNvPr>
          <p:cNvSpPr txBox="1"/>
          <p:nvPr/>
        </p:nvSpPr>
        <p:spPr>
          <a:xfrm>
            <a:off x="3461403" y="8611125"/>
            <a:ext cx="2471462" cy="569387"/>
          </a:xfrm>
          <a:prstGeom prst="rect">
            <a:avLst/>
          </a:prstGeom>
          <a:noFill/>
          <a:ln>
            <a:noFill/>
          </a:ln>
        </p:spPr>
        <p:txBody>
          <a:bodyPr wrap="square" rtlCol="0">
            <a:spAutoFit/>
          </a:bodyPr>
          <a:lstStyle/>
          <a:p>
            <a:pPr algn="r"/>
            <a:r>
              <a:rPr lang="th-TH" sz="700" dirty="0">
                <a:solidFill>
                  <a:srgbClr val="404040"/>
                </a:solidFill>
                <a:latin typeface="BLS Condensed" pitchFamily="2" charset="-34"/>
                <a:ea typeface="Tahoma" pitchFamily="34" charset="0"/>
                <a:cs typeface="BLS Condensed" pitchFamily="2" charset="-34"/>
              </a:rPr>
              <a:t>พิริยพล  คงวาณิช</a:t>
            </a:r>
            <a:endParaRPr lang="en-US" sz="700" dirty="0">
              <a:solidFill>
                <a:srgbClr val="404040"/>
              </a:solidFill>
              <a:latin typeface="BLS Condensed" pitchFamily="2" charset="-34"/>
              <a:ea typeface="Tahoma" pitchFamily="34" charset="0"/>
              <a:cs typeface="BLS Condensed" pitchFamily="2" charset="-34"/>
            </a:endParaRPr>
          </a:p>
          <a:p>
            <a:pPr algn="r"/>
            <a:r>
              <a:rPr lang="th-TH" sz="500" dirty="0">
                <a:solidFill>
                  <a:srgbClr val="404040"/>
                </a:solidFill>
                <a:latin typeface="BLS Condensed" pitchFamily="2" charset="-34"/>
                <a:ea typeface="Tahoma" pitchFamily="34" charset="0"/>
                <a:cs typeface="BLS Condensed" pitchFamily="2" charset="-34"/>
              </a:rPr>
              <a:t>นักกลยุทธ์/ผู้จัดการกองทุน/</a:t>
            </a:r>
            <a:endParaRPr lang="en-US" sz="500" dirty="0">
              <a:solidFill>
                <a:srgbClr val="404040"/>
              </a:solidFill>
              <a:latin typeface="BLS Condensed" pitchFamily="2" charset="-34"/>
              <a:ea typeface="Tahoma" pitchFamily="34" charset="0"/>
              <a:cs typeface="BLS Condensed" pitchFamily="2" charset="-34"/>
            </a:endParaRPr>
          </a:p>
          <a:p>
            <a:pPr algn="r"/>
            <a:r>
              <a:rPr lang="th-TH" sz="500" dirty="0">
                <a:solidFill>
                  <a:srgbClr val="404040"/>
                </a:solidFill>
                <a:latin typeface="BLS Condensed" pitchFamily="2" charset="-34"/>
                <a:ea typeface="Tahoma" pitchFamily="34" charset="0"/>
                <a:cs typeface="BLS Condensed" pitchFamily="2" charset="-34"/>
              </a:rPr>
              <a:t>นักวิเคราะห์การลงทุนปัจจัยพื้นฐานด้านหลักทรัพย์</a:t>
            </a:r>
          </a:p>
          <a:p>
            <a:pPr algn="r"/>
            <a:r>
              <a:rPr lang="en-US" sz="500" dirty="0">
                <a:solidFill>
                  <a:srgbClr val="404040"/>
                </a:solidFill>
                <a:latin typeface="BLS Condensed" pitchFamily="2" charset="-34"/>
                <a:ea typeface="Tahoma" pitchFamily="34" charset="0"/>
                <a:cs typeface="BLS Condensed" pitchFamily="2" charset="-34"/>
              </a:rPr>
              <a:t>Piriyapon.kon@bualuang.co.th</a:t>
            </a:r>
          </a:p>
          <a:p>
            <a:pPr algn="r"/>
            <a:r>
              <a:rPr lang="en-US" sz="500" dirty="0">
                <a:solidFill>
                  <a:schemeClr val="accent5">
                    <a:lumMod val="75000"/>
                  </a:schemeClr>
                </a:solidFill>
                <a:latin typeface="BLS Condensed" pitchFamily="2" charset="-34"/>
                <a:ea typeface="Tahoma" pitchFamily="34" charset="0"/>
                <a:cs typeface="BLS Condensed" pitchFamily="2" charset="-34"/>
              </a:rPr>
              <a:t>+66 2 618 1333</a:t>
            </a:r>
            <a:endParaRPr lang="en-US" sz="700" dirty="0">
              <a:solidFill>
                <a:srgbClr val="404040"/>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p:txBody>
      </p:sp>
      <p:sp>
        <p:nvSpPr>
          <p:cNvPr id="13" name="TextBox 12">
            <a:extLst>
              <a:ext uri="{FF2B5EF4-FFF2-40B4-BE49-F238E27FC236}">
                <a16:creationId xmlns:a16="http://schemas.microsoft.com/office/drawing/2014/main" id="{6DCBF6DF-DDD7-732E-1011-21022104764B}"/>
              </a:ext>
            </a:extLst>
          </p:cNvPr>
          <p:cNvSpPr txBox="1"/>
          <p:nvPr/>
        </p:nvSpPr>
        <p:spPr>
          <a:xfrm>
            <a:off x="4317629" y="8676456"/>
            <a:ext cx="2471462" cy="338554"/>
          </a:xfrm>
          <a:prstGeom prst="rect">
            <a:avLst/>
          </a:prstGeom>
          <a:noFill/>
          <a:ln>
            <a:noFill/>
          </a:ln>
        </p:spPr>
        <p:txBody>
          <a:bodyPr wrap="square" rtlCol="0">
            <a:spAutoFit/>
          </a:bodyPr>
          <a:lstStyle/>
          <a:p>
            <a:pPr algn="r"/>
            <a:endParaRPr lang="en-US" sz="200" dirty="0">
              <a:solidFill>
                <a:srgbClr val="404040"/>
              </a:solidFill>
              <a:latin typeface="BLS Condensed" pitchFamily="2" charset="-34"/>
              <a:ea typeface="Tahoma" pitchFamily="34" charset="0"/>
              <a:cs typeface="BLS Condensed" pitchFamily="2" charset="-34"/>
            </a:endParaRPr>
          </a:p>
          <a:p>
            <a:pPr algn="r"/>
            <a:r>
              <a:rPr lang="th-TH" sz="700" dirty="0">
                <a:solidFill>
                  <a:srgbClr val="404040"/>
                </a:solidFill>
                <a:latin typeface="BLS Condensed" pitchFamily="2" charset="-34"/>
                <a:ea typeface="Tahoma" pitchFamily="34" charset="0"/>
                <a:cs typeface="BLS Condensed" pitchFamily="2" charset="-34"/>
              </a:rPr>
              <a:t>อิทธิ สุตัณฑวิบูลย์ </a:t>
            </a:r>
          </a:p>
          <a:p>
            <a:pPr algn="r"/>
            <a:r>
              <a:rPr lang="th-TH" sz="500" dirty="0">
                <a:solidFill>
                  <a:srgbClr val="404040"/>
                </a:solidFill>
                <a:latin typeface="BLS Condensed" pitchFamily="2" charset="-34"/>
                <a:ea typeface="Tahoma" pitchFamily="34" charset="0"/>
                <a:cs typeface="BLS Condensed" pitchFamily="2" charset="-34"/>
              </a:rPr>
              <a:t>ผู้ช่วยนักวิเคราะห์</a:t>
            </a:r>
            <a:endParaRPr lang="en-US" sz="500" dirty="0">
              <a:solidFill>
                <a:srgbClr val="404040"/>
              </a:solidFill>
              <a:latin typeface="BLS Condensed" pitchFamily="2" charset="-34"/>
              <a:ea typeface="Tahoma" pitchFamily="34" charset="0"/>
              <a:cs typeface="BLS Condensed" pitchFamily="2" charset="-34"/>
            </a:endParaRPr>
          </a:p>
          <a:p>
            <a:pPr algn="r"/>
            <a:endParaRPr lang="en-US" sz="200" dirty="0">
              <a:solidFill>
                <a:srgbClr val="404040"/>
              </a:solidFill>
              <a:latin typeface="BLS Condensed" pitchFamily="2" charset="-34"/>
              <a:ea typeface="Tahoma" pitchFamily="34" charset="0"/>
              <a:cs typeface="BLS Condensed" pitchFamily="2" charset="-34"/>
            </a:endParaRPr>
          </a:p>
        </p:txBody>
      </p:sp>
      <p:graphicFrame>
        <p:nvGraphicFramePr>
          <p:cNvPr id="6" name="Table 5">
            <a:extLst>
              <a:ext uri="{FF2B5EF4-FFF2-40B4-BE49-F238E27FC236}">
                <a16:creationId xmlns:a16="http://schemas.microsoft.com/office/drawing/2014/main" id="{C107352F-A110-E842-8A2B-9845C2B35218}"/>
              </a:ext>
            </a:extLst>
          </p:cNvPr>
          <p:cNvGraphicFramePr>
            <a:graphicFrameLocks noGrp="1"/>
          </p:cNvGraphicFramePr>
          <p:nvPr>
            <p:extLst>
              <p:ext uri="{D42A27DB-BD31-4B8C-83A1-F6EECF244321}">
                <p14:modId xmlns:p14="http://schemas.microsoft.com/office/powerpoint/2010/main" val="1314478512"/>
              </p:ext>
            </p:extLst>
          </p:nvPr>
        </p:nvGraphicFramePr>
        <p:xfrm>
          <a:off x="3992636" y="5148064"/>
          <a:ext cx="2743200" cy="3264744"/>
        </p:xfrm>
        <a:graphic>
          <a:graphicData uri="http://schemas.openxmlformats.org/drawingml/2006/table">
            <a:tbl>
              <a:tblPr/>
              <a:tblGrid>
                <a:gridCol w="1569275">
                  <a:extLst>
                    <a:ext uri="{9D8B030D-6E8A-4147-A177-3AD203B41FA5}">
                      <a16:colId xmlns:a16="http://schemas.microsoft.com/office/drawing/2014/main" val="308457972"/>
                    </a:ext>
                  </a:extLst>
                </a:gridCol>
                <a:gridCol w="1173925">
                  <a:extLst>
                    <a:ext uri="{9D8B030D-6E8A-4147-A177-3AD203B41FA5}">
                      <a16:colId xmlns:a16="http://schemas.microsoft.com/office/drawing/2014/main" val="1278303702"/>
                    </a:ext>
                  </a:extLst>
                </a:gridCol>
              </a:tblGrid>
              <a:tr h="149116">
                <a:tc>
                  <a:txBody>
                    <a:bodyPr/>
                    <a:lstStyle/>
                    <a:p>
                      <a:pPr algn="ctr"/>
                      <a:r>
                        <a:rPr lang="en-US" sz="880" b="1" dirty="0">
                          <a:solidFill>
                            <a:schemeClr val="bg1"/>
                          </a:solidFill>
                          <a:latin typeface="BLS Text" panose="00000500000000000000" pitchFamily="2" charset="-34"/>
                          <a:cs typeface="BLS Text" panose="00000500000000000000" pitchFamily="2" charset="-34"/>
                        </a:rPr>
                        <a:t>Theme</a:t>
                      </a:r>
                    </a:p>
                  </a:txBody>
                  <a:tcPr marL="62855" marR="62855" marT="31428" marB="31428" anchor="ctr">
                    <a:lnL>
                      <a:noFill/>
                    </a:lnL>
                    <a:lnR>
                      <a:noFill/>
                    </a:lnR>
                    <a:lnT>
                      <a:noFill/>
                    </a:lnT>
                    <a:lnB>
                      <a:noFill/>
                    </a:lnB>
                    <a:solidFill>
                      <a:schemeClr val="accent1"/>
                    </a:solidFill>
                  </a:tcPr>
                </a:tc>
                <a:tc>
                  <a:txBody>
                    <a:bodyPr/>
                    <a:lstStyle/>
                    <a:p>
                      <a:pPr algn="ctr"/>
                      <a:r>
                        <a:rPr lang="en-US" sz="880" b="1" dirty="0">
                          <a:solidFill>
                            <a:schemeClr val="bg1"/>
                          </a:solidFill>
                          <a:latin typeface="BLS Text" panose="00000500000000000000" pitchFamily="2" charset="-34"/>
                          <a:cs typeface="BLS Text" panose="00000500000000000000" pitchFamily="2" charset="-34"/>
                        </a:rPr>
                        <a:t>Stock Picks</a:t>
                      </a:r>
                      <a:endParaRPr lang="th-TH" sz="880" b="1" dirty="0">
                        <a:solidFill>
                          <a:schemeClr val="bg1"/>
                        </a:solidFill>
                        <a:latin typeface="BLS Text" panose="00000500000000000000" pitchFamily="2" charset="-34"/>
                        <a:cs typeface="BLS Text" panose="00000500000000000000" pitchFamily="2" charset="-34"/>
                      </a:endParaRPr>
                    </a:p>
                  </a:txBody>
                  <a:tcPr marL="62855" marR="62855" marT="31428" marB="31428" anchor="ctr">
                    <a:lnL>
                      <a:noFill/>
                    </a:lnL>
                    <a:lnR>
                      <a:noFill/>
                    </a:lnR>
                    <a:lnT>
                      <a:noFill/>
                    </a:lnT>
                    <a:lnB>
                      <a:noFill/>
                    </a:lnB>
                    <a:solidFill>
                      <a:schemeClr val="accent1"/>
                    </a:solidFill>
                  </a:tcPr>
                </a:tc>
                <a:extLst>
                  <a:ext uri="{0D108BD9-81ED-4DB2-BD59-A6C34878D82A}">
                    <a16:rowId xmlns:a16="http://schemas.microsoft.com/office/drawing/2014/main" val="4286155562"/>
                  </a:ext>
                </a:extLst>
              </a:tr>
              <a:tr h="455883">
                <a:tc>
                  <a:txBody>
                    <a:bodyPr/>
                    <a:lstStyle/>
                    <a:p>
                      <a:pPr algn="l"/>
                      <a:r>
                        <a:rPr lang="en-US" sz="880" b="0" dirty="0">
                          <a:latin typeface="BLS Text" panose="00000500000000000000" pitchFamily="2" charset="-34"/>
                          <a:cs typeface="BLS Text" panose="00000500000000000000" pitchFamily="2" charset="-34"/>
                        </a:rPr>
                        <a:t>1) </a:t>
                      </a:r>
                      <a:r>
                        <a:rPr lang="th-TH" sz="880" b="0" dirty="0">
                          <a:latin typeface="BLS Text" panose="00000500000000000000" pitchFamily="2" charset="-34"/>
                          <a:cs typeface="BLS Text" panose="00000500000000000000" pitchFamily="2" charset="-34"/>
                        </a:rPr>
                        <a:t>วัฏจักรลงทุนโครงสร้างพื้นฐาน–</a:t>
                      </a:r>
                      <a:r>
                        <a:rPr lang="en-US" sz="880" b="0" dirty="0">
                          <a:latin typeface="BLS Text" panose="00000500000000000000" pitchFamily="2" charset="-34"/>
                          <a:cs typeface="BLS Text" panose="00000500000000000000" pitchFamily="2" charset="-34"/>
                        </a:rPr>
                        <a:t>Data Center </a:t>
                      </a:r>
                      <a:r>
                        <a:rPr lang="th-TH" sz="880" b="0" dirty="0">
                          <a:latin typeface="BLS Text" panose="00000500000000000000" pitchFamily="2" charset="-34"/>
                          <a:cs typeface="BLS Text" panose="00000500000000000000" pitchFamily="2" charset="-34"/>
                        </a:rPr>
                        <a:t>และเศรษฐกิจดิจิทัล (</a:t>
                      </a:r>
                      <a:r>
                        <a:rPr lang="en-US" sz="880" b="0" dirty="0">
                          <a:latin typeface="BLS Text" panose="00000500000000000000" pitchFamily="2" charset="-34"/>
                          <a:cs typeface="BLS Text" panose="00000500000000000000" pitchFamily="2" charset="-34"/>
                        </a:rPr>
                        <a:t>National infrastructure </a:t>
                      </a:r>
                      <a:r>
                        <a:rPr lang="en-US" sz="880" b="0" dirty="0" err="1">
                          <a:latin typeface="BLS Text" panose="00000500000000000000" pitchFamily="2" charset="-34"/>
                          <a:cs typeface="BLS Text" panose="00000500000000000000" pitchFamily="2" charset="-34"/>
                        </a:rPr>
                        <a:t>supercycle</a:t>
                      </a:r>
                      <a:r>
                        <a:rPr lang="en-US" sz="880" b="0" dirty="0">
                          <a:latin typeface="BLS Text" panose="00000500000000000000" pitchFamily="2" charset="-34"/>
                          <a:cs typeface="BLS Text" panose="00000500000000000000" pitchFamily="2" charset="-34"/>
                        </a:rPr>
                        <a:t>) </a:t>
                      </a:r>
                      <a:endParaRPr lang="th-TH" sz="880" b="0" dirty="0">
                        <a:latin typeface="BLS Text" panose="00000500000000000000" pitchFamily="2" charset="-34"/>
                        <a:cs typeface="BLS Text" panose="00000500000000000000" pitchFamily="2" charset="-34"/>
                      </a:endParaRPr>
                    </a:p>
                  </a:txBody>
                  <a:tcPr marL="62855" marR="62855" marT="31428" marB="31428" anchor="ctr">
                    <a:lnL>
                      <a:noFill/>
                    </a:lnL>
                    <a:lnR>
                      <a:noFill/>
                    </a:lnR>
                    <a:lnT>
                      <a:noFill/>
                    </a:lnT>
                    <a:lnB>
                      <a:noFill/>
                    </a:lnB>
                    <a:solidFill>
                      <a:schemeClr val="accent5">
                        <a:lumMod val="20000"/>
                        <a:lumOff val="80000"/>
                      </a:schemeClr>
                    </a:solidFill>
                  </a:tcPr>
                </a:tc>
                <a:tc>
                  <a:txBody>
                    <a:bodyPr/>
                    <a:lstStyle/>
                    <a:p>
                      <a:pPr algn="ctr"/>
                      <a:r>
                        <a:rPr lang="en-US" sz="880" b="0" dirty="0">
                          <a:latin typeface="BLS Text" panose="00000500000000000000" pitchFamily="2" charset="-34"/>
                          <a:cs typeface="BLS Text" panose="00000500000000000000" pitchFamily="2" charset="-34"/>
                        </a:rPr>
                        <a:t>GULF, GUNKUL, TRUE, WHA, WHAUP</a:t>
                      </a:r>
                    </a:p>
                  </a:txBody>
                  <a:tcPr marL="62855" marR="62855" marT="31428" marB="31428" anchor="ctr">
                    <a:lnL>
                      <a:noFill/>
                    </a:lnL>
                    <a:lnR>
                      <a:noFill/>
                    </a:lnR>
                    <a:lnT>
                      <a:noFill/>
                    </a:lnT>
                    <a:lnB>
                      <a:noFill/>
                    </a:lnB>
                    <a:solidFill>
                      <a:schemeClr val="accent5">
                        <a:lumMod val="20000"/>
                        <a:lumOff val="80000"/>
                      </a:schemeClr>
                    </a:solidFill>
                  </a:tcPr>
                </a:tc>
                <a:extLst>
                  <a:ext uri="{0D108BD9-81ED-4DB2-BD59-A6C34878D82A}">
                    <a16:rowId xmlns:a16="http://schemas.microsoft.com/office/drawing/2014/main" val="2736747880"/>
                  </a:ext>
                </a:extLst>
              </a:tr>
              <a:tr h="864905">
                <a:tc>
                  <a:txBody>
                    <a:bodyPr/>
                    <a:lstStyle/>
                    <a:p>
                      <a:pPr algn="l"/>
                      <a:r>
                        <a:rPr lang="en-US" sz="880" b="0" dirty="0">
                          <a:latin typeface="BLS Text" panose="00000500000000000000" pitchFamily="2" charset="-34"/>
                          <a:cs typeface="BLS Text" panose="00000500000000000000" pitchFamily="2" charset="-34"/>
                        </a:rPr>
                        <a:t>2) </a:t>
                      </a:r>
                      <a:r>
                        <a:rPr lang="th-TH" sz="880" b="0" dirty="0">
                          <a:latin typeface="BLS Text" panose="00000500000000000000" pitchFamily="2" charset="-34"/>
                          <a:cs typeface="BLS Text" panose="00000500000000000000" pitchFamily="2" charset="-34"/>
                        </a:rPr>
                        <a:t>กลุ่มกำไร/กระแสเงินสดแกร่ง-ผลกระทบสงครามต่ำ-สัดส่วนต้นทุนพลังงานต่ำ/ส่งผ่านต้นทุนได้</a:t>
                      </a:r>
                      <a:r>
                        <a:rPr lang="en-US" sz="880" b="0" dirty="0">
                          <a:latin typeface="BLS Text" panose="00000500000000000000" pitchFamily="2" charset="-34"/>
                          <a:cs typeface="BLS Text" panose="00000500000000000000" pitchFamily="2" charset="-34"/>
                        </a:rPr>
                        <a:t>-</a:t>
                      </a:r>
                      <a:r>
                        <a:rPr lang="th-TH" sz="880" b="0" dirty="0">
                          <a:latin typeface="BLS Text" panose="00000500000000000000" pitchFamily="2" charset="-34"/>
                          <a:cs typeface="BLS Text" panose="00000500000000000000" pitchFamily="2" charset="-34"/>
                        </a:rPr>
                        <a:t>มาตรการรัฐฯ หนุนการฟื้นตัว </a:t>
                      </a:r>
                      <a:endParaRPr lang="en-US" sz="880" b="0" dirty="0">
                        <a:latin typeface="BLS Text" panose="00000500000000000000" pitchFamily="2" charset="-34"/>
                        <a:cs typeface="BLS Text" panose="00000500000000000000" pitchFamily="2" charset="-34"/>
                      </a:endParaRPr>
                    </a:p>
                    <a:p>
                      <a:pPr algn="l"/>
                      <a:r>
                        <a:rPr lang="th-TH" sz="880" b="0" dirty="0">
                          <a:latin typeface="BLS Text" panose="00000500000000000000" pitchFamily="2" charset="-34"/>
                          <a:cs typeface="BLS Text" panose="00000500000000000000" pitchFamily="2" charset="-34"/>
                        </a:rPr>
                        <a:t>(</a:t>
                      </a:r>
                      <a:r>
                        <a:rPr lang="en-US" sz="880" b="0" dirty="0">
                          <a:latin typeface="BLS Text" panose="00000500000000000000" pitchFamily="2" charset="-34"/>
                          <a:cs typeface="BLS Text" panose="00000500000000000000" pitchFamily="2" charset="-34"/>
                        </a:rPr>
                        <a:t>War-resilient domestic earnings with stimulus-driven upside) </a:t>
                      </a:r>
                    </a:p>
                  </a:txBody>
                  <a:tcPr marL="62855" marR="62855" marT="31428" marB="31428" anchor="ctr">
                    <a:lnL>
                      <a:noFill/>
                    </a:lnL>
                    <a:lnR>
                      <a:noFill/>
                    </a:lnR>
                    <a:lnT>
                      <a:noFill/>
                    </a:lnT>
                    <a:lnB>
                      <a:noFill/>
                    </a:lnB>
                  </a:tcPr>
                </a:tc>
                <a:tc>
                  <a:txBody>
                    <a:bodyPr/>
                    <a:lstStyle/>
                    <a:p>
                      <a:pPr algn="ctr"/>
                      <a:r>
                        <a:rPr lang="en-US" sz="880" b="0" dirty="0">
                          <a:latin typeface="BLS Text" panose="00000500000000000000" pitchFamily="2" charset="-34"/>
                          <a:cs typeface="BLS Text" panose="00000500000000000000" pitchFamily="2" charset="-34"/>
                        </a:rPr>
                        <a:t>CPN, CPALL </a:t>
                      </a:r>
                    </a:p>
                  </a:txBody>
                  <a:tcPr marL="62855" marR="62855" marT="31428" marB="31428" anchor="ctr">
                    <a:lnL>
                      <a:noFill/>
                    </a:lnL>
                    <a:lnR>
                      <a:noFill/>
                    </a:lnR>
                    <a:lnT>
                      <a:noFill/>
                    </a:lnT>
                    <a:lnB>
                      <a:noFill/>
                    </a:lnB>
                  </a:tcPr>
                </a:tc>
                <a:extLst>
                  <a:ext uri="{0D108BD9-81ED-4DB2-BD59-A6C34878D82A}">
                    <a16:rowId xmlns:a16="http://schemas.microsoft.com/office/drawing/2014/main" val="2286066090"/>
                  </a:ext>
                </a:extLst>
              </a:tr>
              <a:tr h="455883">
                <a:tc>
                  <a:txBody>
                    <a:bodyPr/>
                    <a:lstStyle/>
                    <a:p>
                      <a:pPr algn="l"/>
                      <a:r>
                        <a:rPr lang="en-US" sz="880" b="0" dirty="0">
                          <a:latin typeface="BLS Text" panose="00000500000000000000" pitchFamily="2" charset="-34"/>
                          <a:cs typeface="BLS Text" panose="00000500000000000000" pitchFamily="2" charset="-34"/>
                        </a:rPr>
                        <a:t>3) </a:t>
                      </a:r>
                      <a:r>
                        <a:rPr lang="th-TH" sz="880" b="0" dirty="0">
                          <a:latin typeface="BLS Text" panose="00000500000000000000" pitchFamily="2" charset="-34"/>
                          <a:cs typeface="BLS Text" panose="00000500000000000000" pitchFamily="2" charset="-34"/>
                        </a:rPr>
                        <a:t>ผู้นำปันผลสูง–รับอานิสงส์ </a:t>
                      </a:r>
                      <a:r>
                        <a:rPr lang="fr-FR" sz="880" b="0" dirty="0">
                          <a:latin typeface="BLS Text" panose="00000500000000000000" pitchFamily="2" charset="-34"/>
                          <a:cs typeface="BLS Text" panose="00000500000000000000" pitchFamily="2" charset="-34"/>
                        </a:rPr>
                        <a:t>TISA </a:t>
                      </a:r>
                      <a:r>
                        <a:rPr lang="th-TH" sz="880" b="0" dirty="0">
                          <a:latin typeface="BLS Text" panose="00000500000000000000" pitchFamily="2" charset="-34"/>
                          <a:cs typeface="BLS Text" panose="00000500000000000000" pitchFamily="2" charset="-34"/>
                        </a:rPr>
                        <a:t>หนุนเงินทุนไหลเข้า (</a:t>
                      </a:r>
                      <a:r>
                        <a:rPr lang="fr-FR" sz="880" b="0" dirty="0" err="1">
                          <a:latin typeface="BLS Text" panose="00000500000000000000" pitchFamily="2" charset="-34"/>
                          <a:cs typeface="BLS Text" panose="00000500000000000000" pitchFamily="2" charset="-34"/>
                        </a:rPr>
                        <a:t>Dividend</a:t>
                      </a:r>
                      <a:r>
                        <a:rPr lang="fr-FR" sz="880" b="0" dirty="0">
                          <a:latin typeface="BLS Text" panose="00000500000000000000" pitchFamily="2" charset="-34"/>
                          <a:cs typeface="BLS Text" panose="00000500000000000000" pitchFamily="2" charset="-34"/>
                        </a:rPr>
                        <a:t> leaders </a:t>
                      </a:r>
                      <a:r>
                        <a:rPr lang="fr-FR" sz="880" b="0" dirty="0" err="1">
                          <a:latin typeface="BLS Text" panose="00000500000000000000" pitchFamily="2" charset="-34"/>
                          <a:cs typeface="BLS Text" panose="00000500000000000000" pitchFamily="2" charset="-34"/>
                        </a:rPr>
                        <a:t>with</a:t>
                      </a:r>
                      <a:r>
                        <a:rPr lang="fr-FR" sz="880" b="0" dirty="0">
                          <a:latin typeface="BLS Text" panose="00000500000000000000" pitchFamily="2" charset="-34"/>
                          <a:cs typeface="BLS Text" panose="00000500000000000000" pitchFamily="2" charset="-34"/>
                        </a:rPr>
                        <a:t> TISA-</a:t>
                      </a:r>
                      <a:r>
                        <a:rPr lang="fr-FR" sz="880" b="0" dirty="0" err="1">
                          <a:latin typeface="BLS Text" panose="00000500000000000000" pitchFamily="2" charset="-34"/>
                          <a:cs typeface="BLS Text" panose="00000500000000000000" pitchFamily="2" charset="-34"/>
                        </a:rPr>
                        <a:t>driven</a:t>
                      </a:r>
                      <a:r>
                        <a:rPr lang="fr-FR" sz="880" b="0" dirty="0">
                          <a:latin typeface="BLS Text" panose="00000500000000000000" pitchFamily="2" charset="-34"/>
                          <a:cs typeface="BLS Text" panose="00000500000000000000" pitchFamily="2" charset="-34"/>
                        </a:rPr>
                        <a:t> </a:t>
                      </a:r>
                      <a:r>
                        <a:rPr lang="fr-FR" sz="880" b="0" dirty="0" err="1">
                          <a:latin typeface="BLS Text" panose="00000500000000000000" pitchFamily="2" charset="-34"/>
                          <a:cs typeface="BLS Text" panose="00000500000000000000" pitchFamily="2" charset="-34"/>
                        </a:rPr>
                        <a:t>inflows</a:t>
                      </a:r>
                      <a:r>
                        <a:rPr lang="fr-FR" sz="880" b="0" dirty="0">
                          <a:latin typeface="BLS Text" panose="00000500000000000000" pitchFamily="2" charset="-34"/>
                          <a:cs typeface="BLS Text" panose="00000500000000000000" pitchFamily="2" charset="-34"/>
                        </a:rPr>
                        <a:t>) </a:t>
                      </a:r>
                    </a:p>
                  </a:txBody>
                  <a:tcPr marL="62855" marR="62855" marT="31428" marB="31428" anchor="ctr">
                    <a:lnL>
                      <a:noFill/>
                    </a:lnL>
                    <a:lnR>
                      <a:noFill/>
                    </a:lnR>
                    <a:lnT>
                      <a:noFill/>
                    </a:lnT>
                    <a:lnB>
                      <a:noFill/>
                    </a:lnB>
                    <a:solidFill>
                      <a:schemeClr val="accent5">
                        <a:lumMod val="20000"/>
                        <a:lumOff val="80000"/>
                      </a:schemeClr>
                    </a:solidFill>
                  </a:tcPr>
                </a:tc>
                <a:tc>
                  <a:txBody>
                    <a:bodyPr/>
                    <a:lstStyle/>
                    <a:p>
                      <a:pPr algn="ctr"/>
                      <a:r>
                        <a:rPr lang="en-US" sz="880" b="0" dirty="0">
                          <a:latin typeface="BLS Text" panose="00000500000000000000" pitchFamily="2" charset="-34"/>
                          <a:cs typeface="BLS Text" panose="00000500000000000000" pitchFamily="2" charset="-34"/>
                        </a:rPr>
                        <a:t>KTB, BBL</a:t>
                      </a:r>
                    </a:p>
                  </a:txBody>
                  <a:tcPr marL="62855" marR="62855" marT="31428" marB="31428" anchor="ctr">
                    <a:lnL>
                      <a:noFill/>
                    </a:lnL>
                    <a:lnR>
                      <a:noFill/>
                    </a:lnR>
                    <a:lnT>
                      <a:noFill/>
                    </a:lnT>
                    <a:lnB>
                      <a:noFill/>
                    </a:lnB>
                    <a:solidFill>
                      <a:schemeClr val="accent5">
                        <a:lumMod val="20000"/>
                        <a:lumOff val="80000"/>
                      </a:schemeClr>
                    </a:solidFill>
                  </a:tcPr>
                </a:tc>
                <a:extLst>
                  <a:ext uri="{0D108BD9-81ED-4DB2-BD59-A6C34878D82A}">
                    <a16:rowId xmlns:a16="http://schemas.microsoft.com/office/drawing/2014/main" val="1409058032"/>
                  </a:ext>
                </a:extLst>
              </a:tr>
              <a:tr h="558138">
                <a:tc>
                  <a:txBody>
                    <a:bodyPr/>
                    <a:lstStyle/>
                    <a:p>
                      <a:pPr algn="l"/>
                      <a:r>
                        <a:rPr lang="en-US" sz="880" b="0" dirty="0">
                          <a:latin typeface="BLS Text" panose="00000500000000000000" pitchFamily="2" charset="-34"/>
                          <a:cs typeface="BLS Text" panose="00000500000000000000" pitchFamily="2" charset="-34"/>
                        </a:rPr>
                        <a:t>4) </a:t>
                      </a:r>
                      <a:r>
                        <a:rPr lang="th-TH" sz="880" b="0" dirty="0">
                          <a:latin typeface="BLS Text" panose="00000500000000000000" pitchFamily="2" charset="-34"/>
                          <a:cs typeface="BLS Text" panose="00000500000000000000" pitchFamily="2" charset="-34"/>
                        </a:rPr>
                        <a:t>หุ้นที่ราคาปรับตัวลงแรงกว่าปัจจัยพื้นฐาน/มี </a:t>
                      </a:r>
                      <a:r>
                        <a:rPr lang="en-US" sz="880" b="0" dirty="0">
                          <a:latin typeface="BLS Text" panose="00000500000000000000" pitchFamily="2" charset="-34"/>
                          <a:cs typeface="BLS Text" panose="00000500000000000000" pitchFamily="2" charset="-34"/>
                        </a:rPr>
                        <a:t>catalyst </a:t>
                      </a:r>
                      <a:r>
                        <a:rPr lang="th-TH" sz="880" b="0" dirty="0">
                          <a:latin typeface="BLS Text" panose="00000500000000000000" pitchFamily="2" charset="-34"/>
                          <a:cs typeface="BLS Text" panose="00000500000000000000" pitchFamily="2" charset="-34"/>
                        </a:rPr>
                        <a:t>หนุนการฟื้นตัวหลังสงคราม (</a:t>
                      </a:r>
                      <a:r>
                        <a:rPr lang="en-US" sz="880" b="0" dirty="0">
                          <a:latin typeface="BLS Text" panose="00000500000000000000" pitchFamily="2" charset="-34"/>
                          <a:cs typeface="BLS Text" panose="00000500000000000000" pitchFamily="2" charset="-34"/>
                        </a:rPr>
                        <a:t>Over-penalized valuation &amp; post-war re-rating) </a:t>
                      </a:r>
                    </a:p>
                  </a:txBody>
                  <a:tcPr marL="62855" marR="62855" marT="31428" marB="31428" anchor="ctr">
                    <a:lnL>
                      <a:noFill/>
                    </a:lnL>
                    <a:lnR>
                      <a:noFill/>
                    </a:lnR>
                    <a:lnT>
                      <a:noFill/>
                    </a:lnT>
                    <a:lnB>
                      <a:noFill/>
                    </a:lnB>
                  </a:tcPr>
                </a:tc>
                <a:tc>
                  <a:txBody>
                    <a:bodyPr/>
                    <a:lstStyle/>
                    <a:p>
                      <a:pPr algn="ctr"/>
                      <a:r>
                        <a:rPr lang="en-US" sz="880" b="0" dirty="0">
                          <a:latin typeface="BLS Text" panose="00000500000000000000" pitchFamily="2" charset="-34"/>
                          <a:cs typeface="BLS Text" panose="00000500000000000000" pitchFamily="2" charset="-34"/>
                        </a:rPr>
                        <a:t>BH, MINT, ITC</a:t>
                      </a:r>
                    </a:p>
                  </a:txBody>
                  <a:tcPr marL="62855" marR="62855" marT="31428" marB="31428" anchor="ctr">
                    <a:lnL>
                      <a:noFill/>
                    </a:lnL>
                    <a:lnR>
                      <a:noFill/>
                    </a:lnR>
                    <a:lnT>
                      <a:noFill/>
                    </a:lnT>
                    <a:lnB>
                      <a:noFill/>
                    </a:lnB>
                  </a:tcPr>
                </a:tc>
                <a:extLst>
                  <a:ext uri="{0D108BD9-81ED-4DB2-BD59-A6C34878D82A}">
                    <a16:rowId xmlns:a16="http://schemas.microsoft.com/office/drawing/2014/main" val="1241181908"/>
                  </a:ext>
                </a:extLst>
              </a:tr>
            </a:tbl>
          </a:graphicData>
        </a:graphic>
      </p:graphicFrame>
      <p:pic>
        <p:nvPicPr>
          <p:cNvPr id="8" name="Picture 7" descr="A table with numbers and letters&#10;&#10;Description automatically generated">
            <a:extLst>
              <a:ext uri="{FF2B5EF4-FFF2-40B4-BE49-F238E27FC236}">
                <a16:creationId xmlns:a16="http://schemas.microsoft.com/office/drawing/2014/main" id="{2BA9BFE2-7918-2869-45A7-BEA3E41DDC21}"/>
              </a:ext>
            </a:extLst>
          </p:cNvPr>
          <p:cNvPicPr>
            <a:picLocks noChangeAspect="1"/>
          </p:cNvPicPr>
          <p:nvPr/>
        </p:nvPicPr>
        <p:blipFill rotWithShape="1">
          <a:blip r:embed="rId6" cstate="print">
            <a:extLst>
              <a:ext uri="{28A0092B-C50C-407E-A947-70E740481C1C}">
                <a14:useLocalDpi xmlns:a14="http://schemas.microsoft.com/office/drawing/2010/main" val="0"/>
              </a:ext>
            </a:extLst>
          </a:blip>
          <a:srcRect t="1" b="9173"/>
          <a:stretch/>
        </p:blipFill>
        <p:spPr>
          <a:xfrm>
            <a:off x="3992637" y="2299387"/>
            <a:ext cx="2743200" cy="2501214"/>
          </a:xfrm>
          <a:prstGeom prst="rect">
            <a:avLst/>
          </a:prstGeom>
        </p:spPr>
      </p:pic>
    </p:spTree>
    <p:extLst>
      <p:ext uri="{BB962C8B-B14F-4D97-AF65-F5344CB8AC3E}">
        <p14:creationId xmlns:p14="http://schemas.microsoft.com/office/powerpoint/2010/main" val="508124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8602"/>
          <a:stretch/>
        </p:blipFill>
        <p:spPr>
          <a:xfrm>
            <a:off x="0" y="0"/>
            <a:ext cx="6858000" cy="8689302"/>
          </a:xfrm>
          <a:prstGeom prst="rect">
            <a:avLst/>
          </a:prstGeom>
        </p:spPr>
      </p:pic>
      <p:sp>
        <p:nvSpPr>
          <p:cNvPr id="19" name="TextBox 18">
            <a:extLst>
              <a:ext uri="{FF2B5EF4-FFF2-40B4-BE49-F238E27FC236}">
                <a16:creationId xmlns:a16="http://schemas.microsoft.com/office/drawing/2014/main" id="{01D3EDA3-679C-BA8B-9EDE-9A31378F2861}"/>
              </a:ext>
            </a:extLst>
          </p:cNvPr>
          <p:cNvSpPr txBox="1"/>
          <p:nvPr/>
        </p:nvSpPr>
        <p:spPr>
          <a:xfrm>
            <a:off x="658256" y="3623110"/>
            <a:ext cx="72008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12 ธ.ค. </a:t>
            </a:r>
          </a:p>
        </p:txBody>
      </p:sp>
      <p:sp>
        <p:nvSpPr>
          <p:cNvPr id="20" name="TextBox 19">
            <a:extLst>
              <a:ext uri="{FF2B5EF4-FFF2-40B4-BE49-F238E27FC236}">
                <a16:creationId xmlns:a16="http://schemas.microsoft.com/office/drawing/2014/main" id="{FC28B75D-C3AA-F0C5-6200-83DB873637CB}"/>
              </a:ext>
            </a:extLst>
          </p:cNvPr>
          <p:cNvSpPr txBox="1"/>
          <p:nvPr/>
        </p:nvSpPr>
        <p:spPr>
          <a:xfrm>
            <a:off x="531946" y="3614936"/>
            <a:ext cx="904643"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ราชกิจจาประกาศยุบสภา</a:t>
            </a:r>
          </a:p>
        </p:txBody>
      </p:sp>
      <p:sp>
        <p:nvSpPr>
          <p:cNvPr id="21" name="TextBox 20">
            <a:extLst>
              <a:ext uri="{FF2B5EF4-FFF2-40B4-BE49-F238E27FC236}">
                <a16:creationId xmlns:a16="http://schemas.microsoft.com/office/drawing/2014/main" id="{C1FE4F51-5E04-9485-3236-75E85E050C64}"/>
              </a:ext>
            </a:extLst>
          </p:cNvPr>
          <p:cNvSpPr txBox="1"/>
          <p:nvPr/>
        </p:nvSpPr>
        <p:spPr>
          <a:xfrm>
            <a:off x="1497212" y="3623110"/>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13-17 ธ.ค.</a:t>
            </a:r>
          </a:p>
        </p:txBody>
      </p:sp>
      <p:sp>
        <p:nvSpPr>
          <p:cNvPr id="25" name="TextBox 24">
            <a:extLst>
              <a:ext uri="{FF2B5EF4-FFF2-40B4-BE49-F238E27FC236}">
                <a16:creationId xmlns:a16="http://schemas.microsoft.com/office/drawing/2014/main" id="{D3C2255B-69C2-3386-D320-629A8A4034DA}"/>
              </a:ext>
            </a:extLst>
          </p:cNvPr>
          <p:cNvSpPr txBox="1"/>
          <p:nvPr/>
        </p:nvSpPr>
        <p:spPr>
          <a:xfrm>
            <a:off x="2319090" y="3623110"/>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20-28 ธ.ค.</a:t>
            </a:r>
          </a:p>
        </p:txBody>
      </p:sp>
      <p:sp>
        <p:nvSpPr>
          <p:cNvPr id="30" name="TextBox 29">
            <a:extLst>
              <a:ext uri="{FF2B5EF4-FFF2-40B4-BE49-F238E27FC236}">
                <a16:creationId xmlns:a16="http://schemas.microsoft.com/office/drawing/2014/main" id="{5E822032-D7A4-8CF4-B820-3F60B01D58F8}"/>
              </a:ext>
            </a:extLst>
          </p:cNvPr>
          <p:cNvSpPr txBox="1"/>
          <p:nvPr/>
        </p:nvSpPr>
        <p:spPr>
          <a:xfrm>
            <a:off x="1484784" y="3614936"/>
            <a:ext cx="72008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ประกาศวันเลือกตั้ง</a:t>
            </a:r>
          </a:p>
        </p:txBody>
      </p:sp>
      <p:sp>
        <p:nvSpPr>
          <p:cNvPr id="32" name="TextBox 31">
            <a:extLst>
              <a:ext uri="{FF2B5EF4-FFF2-40B4-BE49-F238E27FC236}">
                <a16:creationId xmlns:a16="http://schemas.microsoft.com/office/drawing/2014/main" id="{745AAF70-D983-7504-39C7-037FE66D73A6}"/>
              </a:ext>
            </a:extLst>
          </p:cNvPr>
          <p:cNvSpPr txBox="1"/>
          <p:nvPr/>
        </p:nvSpPr>
        <p:spPr>
          <a:xfrm>
            <a:off x="2276872" y="3611041"/>
            <a:ext cx="77966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พรรคส่งผู้สมัคร ส.ส.</a:t>
            </a:r>
          </a:p>
        </p:txBody>
      </p:sp>
      <p:sp>
        <p:nvSpPr>
          <p:cNvPr id="35" name="TextBox 34">
            <a:extLst>
              <a:ext uri="{FF2B5EF4-FFF2-40B4-BE49-F238E27FC236}">
                <a16:creationId xmlns:a16="http://schemas.microsoft.com/office/drawing/2014/main" id="{3B782CAF-F939-A52B-3801-9742737BB1B9}"/>
              </a:ext>
            </a:extLst>
          </p:cNvPr>
          <p:cNvSpPr txBox="1"/>
          <p:nvPr/>
        </p:nvSpPr>
        <p:spPr>
          <a:xfrm>
            <a:off x="3810726" y="3640682"/>
            <a:ext cx="878577"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 ส.ส. อย่างทางการ</a:t>
            </a:r>
          </a:p>
        </p:txBody>
      </p:sp>
      <p:sp>
        <p:nvSpPr>
          <p:cNvPr id="36" name="TextBox 35">
            <a:extLst>
              <a:ext uri="{FF2B5EF4-FFF2-40B4-BE49-F238E27FC236}">
                <a16:creationId xmlns:a16="http://schemas.microsoft.com/office/drawing/2014/main" id="{1A9E9AAC-6A37-023B-CB7D-D641133919A7}"/>
              </a:ext>
            </a:extLst>
          </p:cNvPr>
          <p:cNvSpPr txBox="1"/>
          <p:nvPr/>
        </p:nvSpPr>
        <p:spPr>
          <a:xfrm>
            <a:off x="4590386" y="3631685"/>
            <a:ext cx="1125089"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เลือกนายก/แต่งตั้งคณะรัฐมนตรี</a:t>
            </a:r>
          </a:p>
        </p:txBody>
      </p:sp>
      <p:sp>
        <p:nvSpPr>
          <p:cNvPr id="2" name="TextBox 1">
            <a:extLst>
              <a:ext uri="{FF2B5EF4-FFF2-40B4-BE49-F238E27FC236}">
                <a16:creationId xmlns:a16="http://schemas.microsoft.com/office/drawing/2014/main" id="{9E85ABDE-7CE6-F0E6-1824-B9305003B1AB}"/>
              </a:ext>
            </a:extLst>
          </p:cNvPr>
          <p:cNvSpPr txBox="1"/>
          <p:nvPr/>
        </p:nvSpPr>
        <p:spPr>
          <a:xfrm>
            <a:off x="188640" y="2195736"/>
            <a:ext cx="3164970" cy="1977464"/>
          </a:xfrm>
          <a:prstGeom prst="rect">
            <a:avLst/>
          </a:prstGeom>
          <a:solidFill>
            <a:srgbClr val="EDEDED">
              <a:alpha val="60000"/>
            </a:srgbClr>
          </a:solidFill>
          <a:ln>
            <a:noFill/>
          </a:ln>
        </p:spPr>
        <p:txBody>
          <a:bodyPr wrap="square" rtlCol="0">
            <a:spAutoFit/>
          </a:bodyPr>
          <a:lstStyle/>
          <a:p>
            <a:pPr algn="thaiDist">
              <a:lnSpc>
                <a:spcPct val="120000"/>
              </a:lnSpc>
              <a:spcBef>
                <a:spcPts val="300"/>
              </a:spcBef>
              <a:buSzPct val="120000"/>
            </a:pPr>
            <a:r>
              <a:rPr lang="th-TH" sz="1000" b="1" dirty="0">
                <a:solidFill>
                  <a:schemeClr val="tx1">
                    <a:lumMod val="65000"/>
                    <a:lumOff val="35000"/>
                  </a:schemeClr>
                </a:solidFill>
                <a:latin typeface="BLS Text" panose="00000500000000000000" pitchFamily="2" charset="-34"/>
                <a:cs typeface="BLS Text" pitchFamily="2" charset="-34"/>
              </a:rPr>
              <a:t>ต้นทุนค่าครองชีพที่สูงขึ้น จะเพิ่มความเสี่ยงระยะสั้น: </a:t>
            </a:r>
            <a:r>
              <a:rPr lang="th-TH" sz="1000" dirty="0">
                <a:solidFill>
                  <a:schemeClr val="tx1">
                    <a:lumMod val="65000"/>
                    <a:lumOff val="35000"/>
                  </a:schemeClr>
                </a:solidFill>
                <a:latin typeface="BLS Text" panose="00000500000000000000" pitchFamily="2" charset="-34"/>
                <a:cs typeface="BLS Text" pitchFamily="2" charset="-34"/>
              </a:rPr>
              <a:t>ราคาน้ำมันดิบ </a:t>
            </a:r>
            <a:r>
              <a:rPr lang="en-US" sz="1000" dirty="0">
                <a:solidFill>
                  <a:schemeClr val="tx1">
                    <a:lumMod val="65000"/>
                    <a:lumOff val="35000"/>
                  </a:schemeClr>
                </a:solidFill>
                <a:latin typeface="BLS Text" panose="00000500000000000000" pitchFamily="2" charset="-34"/>
                <a:cs typeface="BLS Text" pitchFamily="2" charset="-34"/>
              </a:rPr>
              <a:t>Brent </a:t>
            </a:r>
            <a:r>
              <a:rPr lang="th-TH" sz="1000" dirty="0">
                <a:solidFill>
                  <a:schemeClr val="tx1">
                    <a:lumMod val="65000"/>
                    <a:lumOff val="35000"/>
                  </a:schemeClr>
                </a:solidFill>
                <a:latin typeface="BLS Text" panose="00000500000000000000" pitchFamily="2" charset="-34"/>
                <a:cs typeface="BLS Text" pitchFamily="2" charset="-34"/>
              </a:rPr>
              <a:t>เพิ่มขึ้นราว +34% </a:t>
            </a:r>
            <a:r>
              <a:rPr lang="en-US" sz="1000" dirty="0">
                <a:solidFill>
                  <a:schemeClr val="tx1">
                    <a:lumMod val="65000"/>
                    <a:lumOff val="35000"/>
                  </a:schemeClr>
                </a:solidFill>
                <a:latin typeface="BLS Text" panose="00000500000000000000" pitchFamily="2" charset="-34"/>
                <a:cs typeface="BLS Text" pitchFamily="2" charset="-34"/>
              </a:rPr>
              <a:t>MTD </a:t>
            </a:r>
            <a:r>
              <a:rPr lang="th-TH" sz="1000" dirty="0">
                <a:solidFill>
                  <a:schemeClr val="tx1">
                    <a:lumMod val="65000"/>
                    <a:lumOff val="35000"/>
                  </a:schemeClr>
                </a:solidFill>
                <a:latin typeface="BLS Text" panose="00000500000000000000" pitchFamily="2" charset="-34"/>
                <a:cs typeface="BLS Text" pitchFamily="2" charset="-34"/>
              </a:rPr>
              <a:t>สู่ระดับประมาณ $109/</a:t>
            </a:r>
            <a:r>
              <a:rPr lang="en-US" sz="1000" dirty="0" err="1">
                <a:solidFill>
                  <a:schemeClr val="tx1">
                    <a:lumMod val="65000"/>
                    <a:lumOff val="35000"/>
                  </a:schemeClr>
                </a:solidFill>
                <a:latin typeface="BLS Text" panose="00000500000000000000" pitchFamily="2" charset="-34"/>
                <a:cs typeface="BLS Text" pitchFamily="2" charset="-34"/>
              </a:rPr>
              <a:t>bbl</a:t>
            </a:r>
            <a:r>
              <a:rPr lang="en-US" sz="1000" dirty="0">
                <a:solidFill>
                  <a:schemeClr val="tx1">
                    <a:lumMod val="65000"/>
                    <a:lumOff val="35000"/>
                  </a:schemeClr>
                </a:solidFill>
                <a:latin typeface="BLS Text" panose="00000500000000000000" pitchFamily="2" charset="-34"/>
                <a:cs typeface="BLS Text" pitchFamily="2" charset="-34"/>
              </a:rPr>
              <a:t> </a:t>
            </a:r>
            <a:r>
              <a:rPr lang="th-TH" sz="1000" dirty="0">
                <a:solidFill>
                  <a:schemeClr val="tx1">
                    <a:lumMod val="65000"/>
                    <a:lumOff val="35000"/>
                  </a:schemeClr>
                </a:solidFill>
                <a:latin typeface="BLS Text" panose="00000500000000000000" pitchFamily="2" charset="-34"/>
                <a:cs typeface="BLS Text" pitchFamily="2" charset="-34"/>
              </a:rPr>
              <a:t>ขณะที่ราคาน้ำมันดีเซลในประเทศปรับขึ้นราว +69% </a:t>
            </a:r>
            <a:r>
              <a:rPr lang="en-US" sz="1000" dirty="0">
                <a:solidFill>
                  <a:schemeClr val="tx1">
                    <a:lumMod val="65000"/>
                    <a:lumOff val="35000"/>
                  </a:schemeClr>
                </a:solidFill>
                <a:latin typeface="BLS Text" panose="00000500000000000000" pitchFamily="2" charset="-34"/>
                <a:cs typeface="BLS Text" pitchFamily="2" charset="-34"/>
              </a:rPr>
              <a:t>MTD </a:t>
            </a:r>
            <a:r>
              <a:rPr lang="th-TH" sz="1000" dirty="0">
                <a:solidFill>
                  <a:schemeClr val="tx1">
                    <a:lumMod val="65000"/>
                    <a:lumOff val="35000"/>
                  </a:schemeClr>
                </a:solidFill>
                <a:latin typeface="BLS Text" panose="00000500000000000000" pitchFamily="2" charset="-34"/>
                <a:cs typeface="BLS Text" pitchFamily="2" charset="-34"/>
              </a:rPr>
              <a:t>แตะระดับประมาณ 50.54 บาท/ลิตร สะท้อนแรงกดดันด้านต้นทุนที่อาจเริ่มส่งผ่านสู่ระบบเศรษฐกิจจริง</a:t>
            </a:r>
          </a:p>
          <a:p>
            <a:pPr algn="thaiDist">
              <a:lnSpc>
                <a:spcPct val="120000"/>
              </a:lnSpc>
              <a:spcBef>
                <a:spcPts val="300"/>
              </a:spcBef>
              <a:buSzPct val="120000"/>
            </a:pPr>
            <a:r>
              <a:rPr lang="th-TH" sz="1000" b="1" dirty="0">
                <a:solidFill>
                  <a:schemeClr val="tx1">
                    <a:lumMod val="65000"/>
                    <a:lumOff val="35000"/>
                  </a:schemeClr>
                </a:solidFill>
                <a:latin typeface="BLS Text" panose="00000500000000000000" pitchFamily="2" charset="-34"/>
                <a:cs typeface="BLS Text" pitchFamily="2" charset="-34"/>
              </a:rPr>
              <a:t>กรณีฐาน</a:t>
            </a:r>
            <a:r>
              <a:rPr lang="en-US" sz="1000" b="1" dirty="0">
                <a:solidFill>
                  <a:schemeClr val="tx1">
                    <a:lumMod val="65000"/>
                    <a:lumOff val="35000"/>
                  </a:schemeClr>
                </a:solidFill>
                <a:latin typeface="BLS Text" panose="00000500000000000000" pitchFamily="2" charset="-34"/>
                <a:cs typeface="BLS Text" pitchFamily="2" charset="-34"/>
              </a:rPr>
              <a:t>:</a:t>
            </a:r>
            <a:r>
              <a:rPr lang="th-TH" sz="1000" b="1" dirty="0">
                <a:solidFill>
                  <a:schemeClr val="tx1">
                    <a:lumMod val="65000"/>
                    <a:lumOff val="35000"/>
                  </a:schemeClr>
                </a:solidFill>
                <a:latin typeface="BLS Text" panose="00000500000000000000" pitchFamily="2" charset="-34"/>
                <a:cs typeface="BLS Text" pitchFamily="2" charset="-34"/>
              </a:rPr>
              <a:t> </a:t>
            </a:r>
            <a:r>
              <a:rPr lang="th-TH" sz="1000" dirty="0">
                <a:solidFill>
                  <a:schemeClr val="tx1">
                    <a:lumMod val="65000"/>
                    <a:lumOff val="35000"/>
                  </a:schemeClr>
                </a:solidFill>
                <a:latin typeface="BLS Text" panose="00000500000000000000" pitchFamily="2" charset="-34"/>
                <a:cs typeface="BLS Text" pitchFamily="2" charset="-34"/>
              </a:rPr>
              <a:t>หากราคาน้ำมันดีเซลยืนสูง 50-55 บาท/ลิตร 1 เดือน นักเศรษฐศาสตร์ ประเมินอาจกดดัน</a:t>
            </a:r>
            <a:r>
              <a:rPr lang="en-US" sz="1000" dirty="0">
                <a:solidFill>
                  <a:schemeClr val="tx1">
                    <a:lumMod val="65000"/>
                    <a:lumOff val="35000"/>
                  </a:schemeClr>
                </a:solidFill>
                <a:latin typeface="BLS Text" panose="00000500000000000000" pitchFamily="2" charset="-34"/>
                <a:cs typeface="BLS Text" pitchFamily="2" charset="-34"/>
              </a:rPr>
              <a:t> GDP </a:t>
            </a:r>
            <a:r>
              <a:rPr lang="th-TH" sz="1000" dirty="0">
                <a:solidFill>
                  <a:schemeClr val="tx1">
                    <a:lumMod val="65000"/>
                    <a:lumOff val="35000"/>
                  </a:schemeClr>
                </a:solidFill>
                <a:latin typeface="BLS Text" panose="00000500000000000000" pitchFamily="2" charset="-34"/>
                <a:cs typeface="BLS Text" pitchFamily="2" charset="-34"/>
              </a:rPr>
              <a:t>ปี 2026 ราว 0.4-0.5</a:t>
            </a:r>
            <a:r>
              <a:rPr lang="en-US" sz="1000" dirty="0">
                <a:solidFill>
                  <a:schemeClr val="tx1">
                    <a:lumMod val="65000"/>
                    <a:lumOff val="35000"/>
                  </a:schemeClr>
                </a:solidFill>
                <a:latin typeface="BLS Text" panose="00000500000000000000" pitchFamily="2" charset="-34"/>
                <a:cs typeface="BLS Text" pitchFamily="2" charset="-34"/>
              </a:rPr>
              <a:t>% (</a:t>
            </a:r>
            <a:r>
              <a:rPr lang="th-TH" sz="1000" dirty="0">
                <a:solidFill>
                  <a:schemeClr val="tx1">
                    <a:lumMod val="65000"/>
                    <a:lumOff val="35000"/>
                  </a:schemeClr>
                </a:solidFill>
                <a:latin typeface="BLS Text" panose="00000500000000000000" pitchFamily="2" charset="-34"/>
                <a:cs typeface="BLS Text" pitchFamily="2" charset="-34"/>
              </a:rPr>
              <a:t>เหลือเติบโต 1.3-1.4</a:t>
            </a:r>
            <a:r>
              <a:rPr lang="en-US" sz="1000" dirty="0">
                <a:solidFill>
                  <a:schemeClr val="tx1">
                    <a:lumMod val="65000"/>
                    <a:lumOff val="35000"/>
                  </a:schemeClr>
                </a:solidFill>
                <a:latin typeface="BLS Text" panose="00000500000000000000" pitchFamily="2" charset="-34"/>
                <a:cs typeface="BLS Text" pitchFamily="2" charset="-34"/>
              </a:rPr>
              <a:t>%) </a:t>
            </a:r>
            <a:r>
              <a:rPr lang="th-TH" sz="1000" dirty="0">
                <a:solidFill>
                  <a:schemeClr val="tx1">
                    <a:lumMod val="65000"/>
                    <a:lumOff val="35000"/>
                  </a:schemeClr>
                </a:solidFill>
                <a:latin typeface="BLS Text" panose="00000500000000000000" pitchFamily="2" charset="-34"/>
                <a:cs typeface="BLS Text" pitchFamily="2" charset="-34"/>
              </a:rPr>
              <a:t>และกระทบกำไรต่อหุ้น </a:t>
            </a:r>
            <a:r>
              <a:rPr lang="en-US" sz="1000" dirty="0">
                <a:solidFill>
                  <a:schemeClr val="tx1">
                    <a:lumMod val="65000"/>
                    <a:lumOff val="35000"/>
                  </a:schemeClr>
                </a:solidFill>
                <a:latin typeface="BLS Text" panose="00000500000000000000" pitchFamily="2" charset="-34"/>
                <a:cs typeface="BLS Text" pitchFamily="2" charset="-34"/>
              </a:rPr>
              <a:t>SET</a:t>
            </a:r>
            <a:r>
              <a:rPr lang="th-TH" sz="1000" dirty="0">
                <a:solidFill>
                  <a:schemeClr val="tx1">
                    <a:lumMod val="65000"/>
                    <a:lumOff val="35000"/>
                  </a:schemeClr>
                </a:solidFill>
                <a:latin typeface="BLS Text" panose="00000500000000000000" pitchFamily="2" charset="-34"/>
                <a:cs typeface="BLS Text" pitchFamily="2" charset="-34"/>
              </a:rPr>
              <a:t> ราว 1.2-1.5</a:t>
            </a:r>
            <a:r>
              <a:rPr lang="en-US" sz="1000" dirty="0">
                <a:solidFill>
                  <a:schemeClr val="tx1">
                    <a:lumMod val="65000"/>
                    <a:lumOff val="35000"/>
                  </a:schemeClr>
                </a:solidFill>
                <a:latin typeface="BLS Text" panose="00000500000000000000" pitchFamily="2" charset="-34"/>
                <a:cs typeface="BLS Text" pitchFamily="2" charset="-34"/>
              </a:rPr>
              <a:t>% (EPS </a:t>
            </a:r>
            <a:r>
              <a:rPr lang="th-TH" sz="1000" dirty="0">
                <a:solidFill>
                  <a:schemeClr val="tx1">
                    <a:lumMod val="65000"/>
                    <a:lumOff val="35000"/>
                  </a:schemeClr>
                </a:solidFill>
                <a:latin typeface="BLS Text" panose="00000500000000000000" pitchFamily="2" charset="-34"/>
                <a:cs typeface="BLS Text" pitchFamily="2" charset="-34"/>
              </a:rPr>
              <a:t>อยู่ที่ 92-92.5 บาท/หุ้น</a:t>
            </a:r>
            <a:r>
              <a:rPr lang="en-US" sz="1000" dirty="0">
                <a:solidFill>
                  <a:schemeClr val="tx1">
                    <a:lumMod val="65000"/>
                    <a:lumOff val="35000"/>
                  </a:schemeClr>
                </a:solidFill>
                <a:latin typeface="BLS Text" panose="00000500000000000000" pitchFamily="2" charset="-34"/>
                <a:cs typeface="BLS Text" pitchFamily="2" charset="-34"/>
              </a:rPr>
              <a:t>, </a:t>
            </a:r>
            <a:r>
              <a:rPr lang="th-TH" sz="1000" dirty="0">
                <a:solidFill>
                  <a:schemeClr val="tx1">
                    <a:lumMod val="65000"/>
                    <a:lumOff val="35000"/>
                  </a:schemeClr>
                </a:solidFill>
                <a:latin typeface="BLS Text" panose="00000500000000000000" pitchFamily="2" charset="-34"/>
                <a:cs typeface="BLS Text" pitchFamily="2" charset="-34"/>
              </a:rPr>
              <a:t>เติบโต </a:t>
            </a:r>
            <a:r>
              <a:rPr lang="en-US" sz="1000" dirty="0">
                <a:solidFill>
                  <a:schemeClr val="tx1">
                    <a:lumMod val="65000"/>
                    <a:lumOff val="35000"/>
                  </a:schemeClr>
                </a:solidFill>
                <a:latin typeface="BLS Text" panose="00000500000000000000" pitchFamily="2" charset="-34"/>
                <a:cs typeface="BLS Text" pitchFamily="2" charset="-34"/>
              </a:rPr>
              <a:t>0</a:t>
            </a:r>
            <a:r>
              <a:rPr lang="th-TH" sz="1000" dirty="0">
                <a:solidFill>
                  <a:schemeClr val="tx1">
                    <a:lumMod val="65000"/>
                    <a:lumOff val="35000"/>
                  </a:schemeClr>
                </a:solidFill>
                <a:latin typeface="BLS Text" panose="00000500000000000000" pitchFamily="2" charset="-34"/>
                <a:cs typeface="BLS Text" pitchFamily="2" charset="-34"/>
              </a:rPr>
              <a:t>.</a:t>
            </a:r>
            <a:r>
              <a:rPr lang="en-US" sz="1000" dirty="0">
                <a:solidFill>
                  <a:schemeClr val="tx1">
                    <a:lumMod val="65000"/>
                    <a:lumOff val="35000"/>
                  </a:schemeClr>
                </a:solidFill>
                <a:latin typeface="BLS Text" panose="00000500000000000000" pitchFamily="2" charset="-34"/>
                <a:cs typeface="BLS Text" pitchFamily="2" charset="-34"/>
              </a:rPr>
              <a:t>5</a:t>
            </a:r>
            <a:r>
              <a:rPr lang="th-TH" sz="1000" dirty="0">
                <a:solidFill>
                  <a:schemeClr val="tx1">
                    <a:lumMod val="65000"/>
                    <a:lumOff val="35000"/>
                  </a:schemeClr>
                </a:solidFill>
                <a:latin typeface="BLS Text" panose="00000500000000000000" pitchFamily="2" charset="-34"/>
                <a:cs typeface="BLS Text" pitchFamily="2" charset="-34"/>
              </a:rPr>
              <a:t>-1.</a:t>
            </a:r>
            <a:r>
              <a:rPr lang="en-US" sz="1000" dirty="0">
                <a:solidFill>
                  <a:schemeClr val="tx1">
                    <a:lumMod val="65000"/>
                    <a:lumOff val="35000"/>
                  </a:schemeClr>
                </a:solidFill>
                <a:latin typeface="BLS Text" panose="00000500000000000000" pitchFamily="2" charset="-34"/>
                <a:cs typeface="BLS Text" pitchFamily="2" charset="-34"/>
              </a:rPr>
              <a:t>0%)</a:t>
            </a:r>
            <a:r>
              <a:rPr lang="th-TH" sz="1000" dirty="0">
                <a:solidFill>
                  <a:schemeClr val="tx1">
                    <a:lumMod val="65000"/>
                    <a:lumOff val="35000"/>
                  </a:schemeClr>
                </a:solidFill>
                <a:latin typeface="BLS Text" panose="00000500000000000000" pitchFamily="2" charset="-34"/>
                <a:cs typeface="BLS Text" pitchFamily="2" charset="-34"/>
              </a:rPr>
              <a:t> มอง</a:t>
            </a:r>
            <a:r>
              <a:rPr lang="en-US" sz="1000" dirty="0">
                <a:solidFill>
                  <a:schemeClr val="tx1">
                    <a:lumMod val="65000"/>
                    <a:lumOff val="35000"/>
                  </a:schemeClr>
                </a:solidFill>
                <a:latin typeface="BLS Text" panose="00000500000000000000" pitchFamily="2" charset="-34"/>
                <a:cs typeface="BLS Text" pitchFamily="2" charset="-34"/>
              </a:rPr>
              <a:t> SET target </a:t>
            </a:r>
            <a:r>
              <a:rPr lang="th-TH" sz="1000" dirty="0">
                <a:solidFill>
                  <a:schemeClr val="tx1">
                    <a:lumMod val="65000"/>
                    <a:lumOff val="35000"/>
                  </a:schemeClr>
                </a:solidFill>
                <a:latin typeface="BLS Text" panose="00000500000000000000" pitchFamily="2" charset="-34"/>
                <a:cs typeface="BLS Text" pitchFamily="2" charset="-34"/>
              </a:rPr>
              <a:t>อยู่ที่ 1550 </a:t>
            </a:r>
          </a:p>
        </p:txBody>
      </p:sp>
      <p:sp>
        <p:nvSpPr>
          <p:cNvPr id="15" name="TextBox 14">
            <a:extLst>
              <a:ext uri="{FF2B5EF4-FFF2-40B4-BE49-F238E27FC236}">
                <a16:creationId xmlns:a16="http://schemas.microsoft.com/office/drawing/2014/main" id="{546F7F14-A377-C8CF-5D1E-8DDF1256B72B}"/>
              </a:ext>
            </a:extLst>
          </p:cNvPr>
          <p:cNvSpPr txBox="1"/>
          <p:nvPr/>
        </p:nvSpPr>
        <p:spPr>
          <a:xfrm>
            <a:off x="3462910" y="2195736"/>
            <a:ext cx="3164970" cy="1646605"/>
          </a:xfrm>
          <a:prstGeom prst="rect">
            <a:avLst/>
          </a:prstGeom>
          <a:solidFill>
            <a:srgbClr val="EDEDED">
              <a:alpha val="60000"/>
            </a:srgbClr>
          </a:solidFill>
          <a:ln>
            <a:noFill/>
          </a:ln>
        </p:spPr>
        <p:txBody>
          <a:bodyPr wrap="square" rtlCol="0">
            <a:spAutoFit/>
          </a:bodyPr>
          <a:lstStyle/>
          <a:p>
            <a:pPr algn="thaiDist">
              <a:lnSpc>
                <a:spcPct val="120000"/>
              </a:lnSpc>
              <a:spcBef>
                <a:spcPts val="300"/>
              </a:spcBef>
              <a:buSzPct val="120000"/>
            </a:pPr>
            <a:r>
              <a:rPr lang="th-TH" sz="1000" b="1" dirty="0">
                <a:solidFill>
                  <a:schemeClr val="tx1">
                    <a:lumMod val="65000"/>
                    <a:lumOff val="35000"/>
                  </a:schemeClr>
                </a:solidFill>
                <a:latin typeface="BLS Text" panose="00000500000000000000" pitchFamily="2" charset="-34"/>
                <a:cs typeface="BLS Text" pitchFamily="2" charset="-34"/>
              </a:rPr>
              <a:t>กรณีเลวร้าย</a:t>
            </a:r>
            <a:r>
              <a:rPr lang="en-US" sz="1000" b="1" dirty="0">
                <a:solidFill>
                  <a:schemeClr val="tx1">
                    <a:lumMod val="65000"/>
                    <a:lumOff val="35000"/>
                  </a:schemeClr>
                </a:solidFill>
                <a:latin typeface="BLS Text" panose="00000500000000000000" pitchFamily="2" charset="-34"/>
                <a:cs typeface="BLS Text" pitchFamily="2" charset="-34"/>
              </a:rPr>
              <a:t>:</a:t>
            </a:r>
            <a:r>
              <a:rPr lang="th-TH" sz="1000" b="1" dirty="0">
                <a:solidFill>
                  <a:schemeClr val="tx1">
                    <a:lumMod val="65000"/>
                    <a:lumOff val="35000"/>
                  </a:schemeClr>
                </a:solidFill>
                <a:latin typeface="BLS Text" panose="00000500000000000000" pitchFamily="2" charset="-34"/>
                <a:cs typeface="BLS Text" pitchFamily="2" charset="-34"/>
              </a:rPr>
              <a:t> </a:t>
            </a:r>
            <a:r>
              <a:rPr lang="th-TH" sz="1000" dirty="0">
                <a:solidFill>
                  <a:schemeClr val="tx1">
                    <a:lumMod val="65000"/>
                    <a:lumOff val="35000"/>
                  </a:schemeClr>
                </a:solidFill>
                <a:latin typeface="BLS Text" panose="00000500000000000000" pitchFamily="2" charset="-34"/>
                <a:cs typeface="BLS Text" pitchFamily="2" charset="-34"/>
              </a:rPr>
              <a:t>แต่หากราคาน้ำมันดีเซลยืนสูงนาน 2 เดือน อาจมีผลกระทบรุนแรงขึ้น อาจกดดัน</a:t>
            </a:r>
            <a:r>
              <a:rPr lang="en-US" sz="1000" dirty="0">
                <a:solidFill>
                  <a:schemeClr val="tx1">
                    <a:lumMod val="65000"/>
                    <a:lumOff val="35000"/>
                  </a:schemeClr>
                </a:solidFill>
                <a:latin typeface="BLS Text" panose="00000500000000000000" pitchFamily="2" charset="-34"/>
                <a:cs typeface="BLS Text" pitchFamily="2" charset="-34"/>
              </a:rPr>
              <a:t> GDP </a:t>
            </a:r>
            <a:r>
              <a:rPr lang="th-TH" sz="1000" dirty="0">
                <a:solidFill>
                  <a:schemeClr val="tx1">
                    <a:lumMod val="65000"/>
                    <a:lumOff val="35000"/>
                  </a:schemeClr>
                </a:solidFill>
                <a:latin typeface="BLS Text" panose="00000500000000000000" pitchFamily="2" charset="-34"/>
                <a:cs typeface="BLS Text" pitchFamily="2" charset="-34"/>
              </a:rPr>
              <a:t>ปี 2026 ราว 0.8-1</a:t>
            </a:r>
            <a:r>
              <a:rPr lang="en-US" sz="1000" dirty="0">
                <a:solidFill>
                  <a:schemeClr val="tx1">
                    <a:lumMod val="65000"/>
                    <a:lumOff val="35000"/>
                  </a:schemeClr>
                </a:solidFill>
                <a:latin typeface="BLS Text" panose="00000500000000000000" pitchFamily="2" charset="-34"/>
                <a:cs typeface="BLS Text" pitchFamily="2" charset="-34"/>
              </a:rPr>
              <a:t>% (</a:t>
            </a:r>
            <a:r>
              <a:rPr lang="th-TH" sz="1000" dirty="0">
                <a:solidFill>
                  <a:schemeClr val="tx1">
                    <a:lumMod val="65000"/>
                    <a:lumOff val="35000"/>
                  </a:schemeClr>
                </a:solidFill>
                <a:latin typeface="BLS Text" panose="00000500000000000000" pitchFamily="2" charset="-34"/>
                <a:cs typeface="BLS Text" pitchFamily="2" charset="-34"/>
              </a:rPr>
              <a:t>เหลือเติบโต </a:t>
            </a:r>
            <a:r>
              <a:rPr lang="en-US" sz="1000" dirty="0">
                <a:solidFill>
                  <a:schemeClr val="tx1">
                    <a:lumMod val="65000"/>
                    <a:lumOff val="35000"/>
                  </a:schemeClr>
                </a:solidFill>
                <a:latin typeface="BLS Text" panose="00000500000000000000" pitchFamily="2" charset="-34"/>
                <a:cs typeface="BLS Text" pitchFamily="2" charset="-34"/>
              </a:rPr>
              <a:t>0</a:t>
            </a:r>
            <a:r>
              <a:rPr lang="th-TH" sz="1000" dirty="0">
                <a:solidFill>
                  <a:schemeClr val="tx1">
                    <a:lumMod val="65000"/>
                    <a:lumOff val="35000"/>
                  </a:schemeClr>
                </a:solidFill>
                <a:latin typeface="BLS Text" panose="00000500000000000000" pitchFamily="2" charset="-34"/>
                <a:cs typeface="BLS Text" pitchFamily="2" charset="-34"/>
              </a:rPr>
              <a:t>.</a:t>
            </a:r>
            <a:r>
              <a:rPr lang="en-US" sz="1000" dirty="0">
                <a:solidFill>
                  <a:schemeClr val="tx1">
                    <a:lumMod val="65000"/>
                    <a:lumOff val="35000"/>
                  </a:schemeClr>
                </a:solidFill>
                <a:latin typeface="BLS Text" panose="00000500000000000000" pitchFamily="2" charset="-34"/>
                <a:cs typeface="BLS Text" pitchFamily="2" charset="-34"/>
              </a:rPr>
              <a:t>8</a:t>
            </a:r>
            <a:r>
              <a:rPr lang="th-TH" sz="1000" dirty="0">
                <a:solidFill>
                  <a:schemeClr val="tx1">
                    <a:lumMod val="65000"/>
                    <a:lumOff val="35000"/>
                  </a:schemeClr>
                </a:solidFill>
                <a:latin typeface="BLS Text" panose="00000500000000000000" pitchFamily="2" charset="-34"/>
                <a:cs typeface="BLS Text" pitchFamily="2" charset="-34"/>
              </a:rPr>
              <a:t>-1</a:t>
            </a:r>
            <a:r>
              <a:rPr lang="en-US" sz="1000" dirty="0">
                <a:solidFill>
                  <a:schemeClr val="tx1">
                    <a:lumMod val="65000"/>
                    <a:lumOff val="35000"/>
                  </a:schemeClr>
                </a:solidFill>
                <a:latin typeface="BLS Text" panose="00000500000000000000" pitchFamily="2" charset="-34"/>
                <a:cs typeface="BLS Text" pitchFamily="2" charset="-34"/>
              </a:rPr>
              <a:t>%) </a:t>
            </a:r>
            <a:r>
              <a:rPr lang="th-TH" sz="1000" dirty="0">
                <a:solidFill>
                  <a:schemeClr val="tx1">
                    <a:lumMod val="65000"/>
                    <a:lumOff val="35000"/>
                  </a:schemeClr>
                </a:solidFill>
                <a:latin typeface="BLS Text" panose="00000500000000000000" pitchFamily="2" charset="-34"/>
                <a:cs typeface="BLS Text" pitchFamily="2" charset="-34"/>
              </a:rPr>
              <a:t>และกระทบกำไรต่อหุ้น </a:t>
            </a:r>
            <a:r>
              <a:rPr lang="en-US" sz="1000" dirty="0">
                <a:solidFill>
                  <a:schemeClr val="tx1">
                    <a:lumMod val="65000"/>
                    <a:lumOff val="35000"/>
                  </a:schemeClr>
                </a:solidFill>
                <a:latin typeface="BLS Text" panose="00000500000000000000" pitchFamily="2" charset="-34"/>
                <a:cs typeface="BLS Text" pitchFamily="2" charset="-34"/>
              </a:rPr>
              <a:t>SET</a:t>
            </a:r>
            <a:r>
              <a:rPr lang="th-TH" sz="1000" dirty="0">
                <a:solidFill>
                  <a:schemeClr val="tx1">
                    <a:lumMod val="65000"/>
                    <a:lumOff val="35000"/>
                  </a:schemeClr>
                </a:solidFill>
                <a:latin typeface="BLS Text" panose="00000500000000000000" pitchFamily="2" charset="-34"/>
                <a:cs typeface="BLS Text" pitchFamily="2" charset="-34"/>
              </a:rPr>
              <a:t> ราว </a:t>
            </a:r>
            <a:r>
              <a:rPr lang="en-US" sz="1000" dirty="0">
                <a:solidFill>
                  <a:schemeClr val="tx1">
                    <a:lumMod val="65000"/>
                    <a:lumOff val="35000"/>
                  </a:schemeClr>
                </a:solidFill>
                <a:latin typeface="BLS Text" panose="00000500000000000000" pitchFamily="2" charset="-34"/>
                <a:cs typeface="BLS Text" pitchFamily="2" charset="-34"/>
              </a:rPr>
              <a:t>2</a:t>
            </a:r>
            <a:r>
              <a:rPr lang="th-TH" sz="1000" dirty="0">
                <a:solidFill>
                  <a:schemeClr val="tx1">
                    <a:lumMod val="65000"/>
                    <a:lumOff val="35000"/>
                  </a:schemeClr>
                </a:solidFill>
                <a:latin typeface="BLS Text" panose="00000500000000000000" pitchFamily="2" charset="-34"/>
                <a:cs typeface="BLS Text" pitchFamily="2" charset="-34"/>
              </a:rPr>
              <a:t>.</a:t>
            </a:r>
            <a:r>
              <a:rPr lang="en-US" sz="1000" dirty="0">
                <a:solidFill>
                  <a:schemeClr val="tx1">
                    <a:lumMod val="65000"/>
                    <a:lumOff val="35000"/>
                  </a:schemeClr>
                </a:solidFill>
                <a:latin typeface="BLS Text" panose="00000500000000000000" pitchFamily="2" charset="-34"/>
                <a:cs typeface="BLS Text" pitchFamily="2" charset="-34"/>
              </a:rPr>
              <a:t>4</a:t>
            </a:r>
            <a:r>
              <a:rPr lang="th-TH" sz="1000" dirty="0">
                <a:solidFill>
                  <a:schemeClr val="tx1">
                    <a:lumMod val="65000"/>
                    <a:lumOff val="35000"/>
                  </a:schemeClr>
                </a:solidFill>
                <a:latin typeface="BLS Text" panose="00000500000000000000" pitchFamily="2" charset="-34"/>
                <a:cs typeface="BLS Text" pitchFamily="2" charset="-34"/>
              </a:rPr>
              <a:t>-</a:t>
            </a:r>
            <a:r>
              <a:rPr lang="en-US" sz="1000" dirty="0">
                <a:solidFill>
                  <a:schemeClr val="tx1">
                    <a:lumMod val="65000"/>
                    <a:lumOff val="35000"/>
                  </a:schemeClr>
                </a:solidFill>
                <a:latin typeface="BLS Text" panose="00000500000000000000" pitchFamily="2" charset="-34"/>
                <a:cs typeface="BLS Text" pitchFamily="2" charset="-34"/>
              </a:rPr>
              <a:t>3% (EPS </a:t>
            </a:r>
            <a:r>
              <a:rPr lang="th-TH" sz="1000" dirty="0">
                <a:solidFill>
                  <a:schemeClr val="tx1">
                    <a:lumMod val="65000"/>
                    <a:lumOff val="35000"/>
                  </a:schemeClr>
                </a:solidFill>
                <a:latin typeface="BLS Text" panose="00000500000000000000" pitchFamily="2" charset="-34"/>
                <a:cs typeface="BLS Text" pitchFamily="2" charset="-34"/>
              </a:rPr>
              <a:t>อยู่ที่ 9</a:t>
            </a:r>
            <a:r>
              <a:rPr lang="en-US" sz="1000" dirty="0">
                <a:solidFill>
                  <a:schemeClr val="tx1">
                    <a:lumMod val="65000"/>
                    <a:lumOff val="35000"/>
                  </a:schemeClr>
                </a:solidFill>
                <a:latin typeface="BLS Text" panose="00000500000000000000" pitchFamily="2" charset="-34"/>
                <a:cs typeface="BLS Text" pitchFamily="2" charset="-34"/>
              </a:rPr>
              <a:t>0</a:t>
            </a:r>
            <a:r>
              <a:rPr lang="th-TH" sz="1000" dirty="0">
                <a:solidFill>
                  <a:schemeClr val="tx1">
                    <a:lumMod val="65000"/>
                    <a:lumOff val="35000"/>
                  </a:schemeClr>
                </a:solidFill>
                <a:latin typeface="BLS Text" panose="00000500000000000000" pitchFamily="2" charset="-34"/>
                <a:cs typeface="BLS Text" pitchFamily="2" charset="-34"/>
              </a:rPr>
              <a:t>-9</a:t>
            </a:r>
            <a:r>
              <a:rPr lang="en-US" sz="1000" dirty="0">
                <a:solidFill>
                  <a:schemeClr val="tx1">
                    <a:lumMod val="65000"/>
                    <a:lumOff val="35000"/>
                  </a:schemeClr>
                </a:solidFill>
                <a:latin typeface="BLS Text" panose="00000500000000000000" pitchFamily="2" charset="-34"/>
                <a:cs typeface="BLS Text" pitchFamily="2" charset="-34"/>
              </a:rPr>
              <a:t>0</a:t>
            </a:r>
            <a:r>
              <a:rPr lang="th-TH" sz="1000" dirty="0">
                <a:solidFill>
                  <a:schemeClr val="tx1">
                    <a:lumMod val="65000"/>
                    <a:lumOff val="35000"/>
                  </a:schemeClr>
                </a:solidFill>
                <a:latin typeface="BLS Text" panose="00000500000000000000" pitchFamily="2" charset="-34"/>
                <a:cs typeface="BLS Text" pitchFamily="2" charset="-34"/>
              </a:rPr>
              <a:t>.</a:t>
            </a:r>
            <a:r>
              <a:rPr lang="en-US" sz="1000" dirty="0">
                <a:solidFill>
                  <a:schemeClr val="tx1">
                    <a:lumMod val="65000"/>
                    <a:lumOff val="35000"/>
                  </a:schemeClr>
                </a:solidFill>
                <a:latin typeface="BLS Text" panose="00000500000000000000" pitchFamily="2" charset="-34"/>
                <a:cs typeface="BLS Text" pitchFamily="2" charset="-34"/>
              </a:rPr>
              <a:t>5</a:t>
            </a:r>
            <a:r>
              <a:rPr lang="th-TH" sz="1000" dirty="0">
                <a:solidFill>
                  <a:schemeClr val="tx1">
                    <a:lumMod val="65000"/>
                    <a:lumOff val="35000"/>
                  </a:schemeClr>
                </a:solidFill>
                <a:latin typeface="BLS Text" panose="00000500000000000000" pitchFamily="2" charset="-34"/>
                <a:cs typeface="BLS Text" pitchFamily="2" charset="-34"/>
              </a:rPr>
              <a:t> บาท/หุ้น</a:t>
            </a:r>
            <a:r>
              <a:rPr lang="en-US" sz="1000" dirty="0">
                <a:solidFill>
                  <a:schemeClr val="tx1">
                    <a:lumMod val="65000"/>
                    <a:lumOff val="35000"/>
                  </a:schemeClr>
                </a:solidFill>
                <a:latin typeface="BLS Text" panose="00000500000000000000" pitchFamily="2" charset="-34"/>
                <a:cs typeface="BLS Text" pitchFamily="2" charset="-34"/>
              </a:rPr>
              <a:t>,</a:t>
            </a:r>
            <a:r>
              <a:rPr lang="th-TH" sz="1000" dirty="0">
                <a:solidFill>
                  <a:schemeClr val="tx1">
                    <a:lumMod val="65000"/>
                    <a:lumOff val="35000"/>
                  </a:schemeClr>
                </a:solidFill>
                <a:latin typeface="BLS Text" panose="00000500000000000000" pitchFamily="2" charset="-34"/>
                <a:cs typeface="BLS Text" pitchFamily="2" charset="-34"/>
              </a:rPr>
              <a:t> หดตัว 0.5-1</a:t>
            </a:r>
            <a:r>
              <a:rPr lang="en-US" sz="1000" dirty="0">
                <a:solidFill>
                  <a:schemeClr val="tx1">
                    <a:lumMod val="65000"/>
                    <a:lumOff val="35000"/>
                  </a:schemeClr>
                </a:solidFill>
                <a:latin typeface="BLS Text" panose="00000500000000000000" pitchFamily="2" charset="-34"/>
                <a:cs typeface="BLS Text" pitchFamily="2" charset="-34"/>
              </a:rPr>
              <a:t>%)</a:t>
            </a:r>
            <a:r>
              <a:rPr lang="th-TH" sz="1000" dirty="0">
                <a:solidFill>
                  <a:schemeClr val="tx1">
                    <a:lumMod val="65000"/>
                    <a:lumOff val="35000"/>
                  </a:schemeClr>
                </a:solidFill>
                <a:latin typeface="BLS Text" panose="00000500000000000000" pitchFamily="2" charset="-34"/>
                <a:cs typeface="BLS Text" pitchFamily="2" charset="-34"/>
              </a:rPr>
              <a:t> ประเมิน </a:t>
            </a:r>
            <a:r>
              <a:rPr lang="en-US" sz="1000" dirty="0">
                <a:solidFill>
                  <a:schemeClr val="tx1">
                    <a:lumMod val="65000"/>
                    <a:lumOff val="35000"/>
                  </a:schemeClr>
                </a:solidFill>
                <a:latin typeface="BLS Text" panose="00000500000000000000" pitchFamily="2" charset="-34"/>
                <a:cs typeface="BLS Text" pitchFamily="2" charset="-34"/>
              </a:rPr>
              <a:t>downside</a:t>
            </a:r>
            <a:r>
              <a:rPr lang="th-TH" sz="1000" dirty="0">
                <a:solidFill>
                  <a:schemeClr val="tx1">
                    <a:lumMod val="65000"/>
                    <a:lumOff val="35000"/>
                  </a:schemeClr>
                </a:solidFill>
                <a:latin typeface="BLS Text" panose="00000500000000000000" pitchFamily="2" charset="-34"/>
                <a:cs typeface="BLS Text" pitchFamily="2" charset="-34"/>
              </a:rPr>
              <a:t> ของ</a:t>
            </a:r>
            <a:r>
              <a:rPr lang="en-US" sz="1000" dirty="0">
                <a:solidFill>
                  <a:schemeClr val="tx1">
                    <a:lumMod val="65000"/>
                    <a:lumOff val="35000"/>
                  </a:schemeClr>
                </a:solidFill>
                <a:latin typeface="BLS Text" panose="00000500000000000000" pitchFamily="2" charset="-34"/>
                <a:cs typeface="BLS Text" pitchFamily="2" charset="-34"/>
              </a:rPr>
              <a:t> SET</a:t>
            </a:r>
            <a:r>
              <a:rPr lang="th-TH" sz="1000" dirty="0">
                <a:solidFill>
                  <a:schemeClr val="tx1">
                    <a:lumMod val="65000"/>
                    <a:lumOff val="35000"/>
                  </a:schemeClr>
                </a:solidFill>
                <a:latin typeface="BLS Text" panose="00000500000000000000" pitchFamily="2" charset="-34"/>
                <a:cs typeface="BLS Text" pitchFamily="2" charset="-34"/>
              </a:rPr>
              <a:t> ราว 1340 </a:t>
            </a:r>
          </a:p>
          <a:p>
            <a:pPr algn="thaiDist">
              <a:lnSpc>
                <a:spcPct val="120000"/>
              </a:lnSpc>
              <a:spcBef>
                <a:spcPts val="300"/>
              </a:spcBef>
              <a:buSzPct val="120000"/>
            </a:pPr>
            <a:r>
              <a:rPr lang="th-TH" sz="1000" dirty="0">
                <a:solidFill>
                  <a:schemeClr val="tx1">
                    <a:lumMod val="65000"/>
                    <a:lumOff val="35000"/>
                  </a:schemeClr>
                </a:solidFill>
                <a:latin typeface="BLS Text" panose="00000500000000000000" pitchFamily="2" charset="-34"/>
                <a:cs typeface="BLS Text" pitchFamily="2" charset="-34"/>
              </a:rPr>
              <a:t>** </a:t>
            </a:r>
            <a:r>
              <a:rPr lang="en-US" sz="1000" dirty="0">
                <a:solidFill>
                  <a:schemeClr val="tx1">
                    <a:lumMod val="65000"/>
                    <a:lumOff val="35000"/>
                  </a:schemeClr>
                </a:solidFill>
                <a:latin typeface="BLS Text" panose="00000500000000000000" pitchFamily="2" charset="-34"/>
                <a:cs typeface="BLS Text" pitchFamily="2" charset="-34"/>
              </a:rPr>
              <a:t>Sensitivity analysis: </a:t>
            </a:r>
            <a:r>
              <a:rPr lang="th-TH" sz="1000" dirty="0">
                <a:solidFill>
                  <a:schemeClr val="tx1">
                    <a:lumMod val="65000"/>
                    <a:lumOff val="35000"/>
                  </a:schemeClr>
                </a:solidFill>
                <a:latin typeface="BLS Text" panose="00000500000000000000" pitchFamily="2" charset="-34"/>
                <a:cs typeface="BLS Text" pitchFamily="2" charset="-34"/>
              </a:rPr>
              <a:t>ราคาดีเซลเพิ่มทุกๆ 10% จาก 50 บาท ประเมิน กดดัน </a:t>
            </a:r>
            <a:r>
              <a:rPr lang="en-US" sz="1000" dirty="0">
                <a:solidFill>
                  <a:schemeClr val="tx1">
                    <a:lumMod val="65000"/>
                    <a:lumOff val="35000"/>
                  </a:schemeClr>
                </a:solidFill>
                <a:latin typeface="BLS Text" panose="00000500000000000000" pitchFamily="2" charset="-34"/>
                <a:cs typeface="BLS Text" pitchFamily="2" charset="-34"/>
              </a:rPr>
              <a:t>GDP </a:t>
            </a:r>
            <a:r>
              <a:rPr lang="th-TH" sz="1000" dirty="0">
                <a:solidFill>
                  <a:schemeClr val="tx1">
                    <a:lumMod val="65000"/>
                    <a:lumOff val="35000"/>
                  </a:schemeClr>
                </a:solidFill>
                <a:latin typeface="BLS Text" panose="00000500000000000000" pitchFamily="2" charset="-34"/>
                <a:cs typeface="BLS Text" pitchFamily="2" charset="-34"/>
              </a:rPr>
              <a:t>ลดลง 0.1% และกำไรต่อหุ้น </a:t>
            </a:r>
            <a:r>
              <a:rPr lang="en-US" sz="1000" dirty="0">
                <a:solidFill>
                  <a:schemeClr val="tx1">
                    <a:lumMod val="65000"/>
                    <a:lumOff val="35000"/>
                  </a:schemeClr>
                </a:solidFill>
                <a:latin typeface="BLS Text" panose="00000500000000000000" pitchFamily="2" charset="-34"/>
                <a:cs typeface="BLS Text" pitchFamily="2" charset="-34"/>
              </a:rPr>
              <a:t>SET </a:t>
            </a:r>
            <a:r>
              <a:rPr lang="th-TH" sz="1000" dirty="0">
                <a:solidFill>
                  <a:schemeClr val="tx1">
                    <a:lumMod val="65000"/>
                    <a:lumOff val="35000"/>
                  </a:schemeClr>
                </a:solidFill>
                <a:latin typeface="BLS Text" panose="00000500000000000000" pitchFamily="2" charset="-34"/>
                <a:cs typeface="BLS Text" pitchFamily="2" charset="-34"/>
              </a:rPr>
              <a:t>ลดลงราว 0.3-0.4</a:t>
            </a:r>
            <a:r>
              <a:rPr lang="en-US" sz="1000" dirty="0">
                <a:solidFill>
                  <a:schemeClr val="tx1">
                    <a:lumMod val="65000"/>
                    <a:lumOff val="35000"/>
                  </a:schemeClr>
                </a:solidFill>
                <a:latin typeface="BLS Text" panose="00000500000000000000" pitchFamily="2" charset="-34"/>
                <a:cs typeface="BLS Text" pitchFamily="2" charset="-34"/>
              </a:rPr>
              <a:t>%</a:t>
            </a:r>
            <a:r>
              <a:rPr lang="th-TH" sz="1000" dirty="0">
                <a:solidFill>
                  <a:schemeClr val="tx1">
                    <a:lumMod val="65000"/>
                    <a:lumOff val="35000"/>
                  </a:schemeClr>
                </a:solidFill>
                <a:latin typeface="BLS Text" panose="00000500000000000000" pitchFamily="2" charset="-34"/>
                <a:cs typeface="BLS Text" pitchFamily="2" charset="-34"/>
              </a:rPr>
              <a:t> </a:t>
            </a:r>
          </a:p>
        </p:txBody>
      </p:sp>
      <p:cxnSp>
        <p:nvCxnSpPr>
          <p:cNvPr id="18" name="Straight Connector 17">
            <a:extLst>
              <a:ext uri="{FF2B5EF4-FFF2-40B4-BE49-F238E27FC236}">
                <a16:creationId xmlns:a16="http://schemas.microsoft.com/office/drawing/2014/main" id="{811E1CC9-D26F-1122-558A-414813438452}"/>
              </a:ext>
            </a:extLst>
          </p:cNvPr>
          <p:cNvCxnSpPr>
            <a:cxnSpLocks/>
          </p:cNvCxnSpPr>
          <p:nvPr/>
        </p:nvCxnSpPr>
        <p:spPr>
          <a:xfrm>
            <a:off x="320593" y="8748464"/>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81748675-2985-66A0-18EB-8B4E8A4F54F6}"/>
              </a:ext>
            </a:extLst>
          </p:cNvPr>
          <p:cNvSpPr txBox="1"/>
          <p:nvPr/>
        </p:nvSpPr>
        <p:spPr>
          <a:xfrm>
            <a:off x="286492" y="4186816"/>
            <a:ext cx="6022828" cy="21544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1: SET target vs Diesel price</a:t>
            </a:r>
          </a:p>
        </p:txBody>
      </p:sp>
      <p:cxnSp>
        <p:nvCxnSpPr>
          <p:cNvPr id="31" name="Straight Connector 30">
            <a:extLst>
              <a:ext uri="{FF2B5EF4-FFF2-40B4-BE49-F238E27FC236}">
                <a16:creationId xmlns:a16="http://schemas.microsoft.com/office/drawing/2014/main" id="{ED544969-6829-5FFD-1765-676D76EE5F5B}"/>
              </a:ext>
            </a:extLst>
          </p:cNvPr>
          <p:cNvCxnSpPr/>
          <p:nvPr/>
        </p:nvCxnSpPr>
        <p:spPr>
          <a:xfrm>
            <a:off x="305146" y="4177931"/>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7AA2941-9659-DEF5-69DF-BE120C176F29}"/>
              </a:ext>
            </a:extLst>
          </p:cNvPr>
          <p:cNvSpPr/>
          <p:nvPr/>
        </p:nvSpPr>
        <p:spPr>
          <a:xfrm>
            <a:off x="297857" y="8748464"/>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a:extLst>
              <a:ext uri="{FF2B5EF4-FFF2-40B4-BE49-F238E27FC236}">
                <a16:creationId xmlns:a16="http://schemas.microsoft.com/office/drawing/2014/main" id="{974B464D-079C-66D5-267A-B0271C83992E}"/>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716ED43-E385-A160-9D3A-0264F1B0EE0B}"/>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9" name="TextBox 8">
            <a:extLst>
              <a:ext uri="{FF2B5EF4-FFF2-40B4-BE49-F238E27FC236}">
                <a16:creationId xmlns:a16="http://schemas.microsoft.com/office/drawing/2014/main" id="{C8FA6393-E3EE-E08E-89C6-D50BB8050980}"/>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10" name="TextBox 9">
            <a:extLst>
              <a:ext uri="{FF2B5EF4-FFF2-40B4-BE49-F238E27FC236}">
                <a16:creationId xmlns:a16="http://schemas.microsoft.com/office/drawing/2014/main" id="{C2139EFA-0963-F3E4-30F9-FE4954797181}"/>
              </a:ext>
            </a:extLst>
          </p:cNvPr>
          <p:cNvSpPr txBox="1"/>
          <p:nvPr/>
        </p:nvSpPr>
        <p:spPr>
          <a:xfrm>
            <a:off x="188640" y="1046510"/>
            <a:ext cx="6439240" cy="1077218"/>
          </a:xfrm>
          <a:prstGeom prst="rect">
            <a:avLst/>
          </a:prstGeom>
          <a:noFill/>
        </p:spPr>
        <p:txBody>
          <a:bodyPr wrap="square">
            <a:spAutoFit/>
          </a:bodyPr>
          <a:lstStyle/>
          <a:p>
            <a:r>
              <a:rPr lang="th-TH" altLang="en-US" sz="3200" dirty="0">
                <a:solidFill>
                  <a:schemeClr val="accent2"/>
                </a:solidFill>
                <a:latin typeface="BLS Condensed Bold" panose="00000800000000000000" pitchFamily="2" charset="-34"/>
                <a:ea typeface="Tahoma" pitchFamily="34" charset="0"/>
                <a:cs typeface="BLS Condensed Bold" panose="00000800000000000000" pitchFamily="2" charset="-34"/>
              </a:rPr>
              <a:t>   ประเมินผลกระทบต่อกำไร </a:t>
            </a:r>
            <a:r>
              <a:rPr lang="en-US" altLang="en-US" sz="3200" dirty="0">
                <a:solidFill>
                  <a:schemeClr val="accent2"/>
                </a:solidFill>
                <a:latin typeface="BLS Condensed Bold" panose="00000800000000000000" pitchFamily="2" charset="-34"/>
                <a:ea typeface="Tahoma" pitchFamily="34" charset="0"/>
                <a:cs typeface="BLS Condensed Bold" panose="00000800000000000000" pitchFamily="2" charset="-34"/>
              </a:rPr>
              <a:t>SET</a:t>
            </a:r>
            <a:r>
              <a:rPr lang="th-TH" altLang="en-US" sz="3200" dirty="0">
                <a:solidFill>
                  <a:schemeClr val="accent2"/>
                </a:solidFill>
                <a:latin typeface="BLS Condensed Bold" panose="00000800000000000000" pitchFamily="2" charset="-34"/>
                <a:ea typeface="Tahoma" pitchFamily="34" charset="0"/>
                <a:cs typeface="BLS Condensed Bold" panose="00000800000000000000" pitchFamily="2" charset="-34"/>
              </a:rPr>
              <a:t> </a:t>
            </a:r>
          </a:p>
          <a:p>
            <a:r>
              <a:rPr lang="th-TH" altLang="en-US" sz="3200" dirty="0">
                <a:solidFill>
                  <a:schemeClr val="accent2"/>
                </a:solidFill>
                <a:latin typeface="BLS Condensed Bold" panose="00000800000000000000" pitchFamily="2" charset="-34"/>
                <a:ea typeface="Tahoma" pitchFamily="34" charset="0"/>
                <a:cs typeface="BLS Condensed Bold" panose="00000800000000000000" pitchFamily="2" charset="-34"/>
              </a:rPr>
              <a:t>                                        หลังราคาดีเซลพุ่งสูง</a:t>
            </a:r>
            <a:endParaRPr lang="en-US" altLang="en-US" sz="3200" dirty="0">
              <a:solidFill>
                <a:schemeClr val="accent2"/>
              </a:solidFill>
              <a:latin typeface="BLS Condensed Bold" panose="00000800000000000000" pitchFamily="2" charset="-34"/>
              <a:ea typeface="Tahoma" pitchFamily="34" charset="0"/>
              <a:cs typeface="BLS Condensed Bold" panose="00000800000000000000" pitchFamily="2" charset="-34"/>
            </a:endParaRPr>
          </a:p>
        </p:txBody>
      </p:sp>
      <p:sp>
        <p:nvSpPr>
          <p:cNvPr id="24" name="TextBox 23">
            <a:extLst>
              <a:ext uri="{FF2B5EF4-FFF2-40B4-BE49-F238E27FC236}">
                <a16:creationId xmlns:a16="http://schemas.microsoft.com/office/drawing/2014/main" id="{97B8DEDE-0323-676D-8E1B-73A6C4102A9D}"/>
              </a:ext>
            </a:extLst>
          </p:cNvPr>
          <p:cNvSpPr txBox="1">
            <a:spLocks noChangeArrowheads="1"/>
          </p:cNvSpPr>
          <p:nvPr/>
        </p:nvSpPr>
        <p:spPr bwMode="auto">
          <a:xfrm>
            <a:off x="427161" y="8548409"/>
            <a:ext cx="2768773"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r>
              <a:rPr lang="en-US" sz="700" dirty="0">
                <a:solidFill>
                  <a:srgbClr val="404040"/>
                </a:solidFill>
                <a:latin typeface="BLS Condensed" pitchFamily="2" charset="-34"/>
                <a:cs typeface="BLS Condensed" pitchFamily="2" charset="-34"/>
              </a:rPr>
              <a:t>Source</a:t>
            </a:r>
            <a:r>
              <a:rPr lang="th-TH" sz="600" dirty="0">
                <a:solidFill>
                  <a:srgbClr val="404040"/>
                </a:solidFill>
                <a:latin typeface="BLS Condensed" pitchFamily="2" charset="-34"/>
                <a:cs typeface="BLS Condensed" pitchFamily="2" charset="-34"/>
              </a:rPr>
              <a:t>:</a:t>
            </a:r>
            <a:r>
              <a:rPr lang="en-US" sz="600" dirty="0">
                <a:solidFill>
                  <a:srgbClr val="404040"/>
                </a:solidFill>
                <a:latin typeface="BLS Condensed" pitchFamily="2" charset="-34"/>
                <a:cs typeface="BLS Condensed" pitchFamily="2" charset="-34"/>
              </a:rPr>
              <a:t> </a:t>
            </a:r>
            <a:r>
              <a:rPr lang="en-US" sz="700" dirty="0" err="1">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Bualuang</a:t>
            </a:r>
            <a:r>
              <a:rPr lang="en-US" sz="700" dirty="0">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 Research</a:t>
            </a:r>
            <a:endParaRPr lang="en-US" sz="600" dirty="0">
              <a:solidFill>
                <a:srgbClr val="404040"/>
              </a:solidFill>
              <a:latin typeface="BLS Condensed" pitchFamily="2" charset="-34"/>
              <a:cs typeface="BLS Condensed" pitchFamily="2" charset="-34"/>
            </a:endParaRPr>
          </a:p>
        </p:txBody>
      </p:sp>
      <p:cxnSp>
        <p:nvCxnSpPr>
          <p:cNvPr id="26" name="Straight Connector 25">
            <a:extLst>
              <a:ext uri="{FF2B5EF4-FFF2-40B4-BE49-F238E27FC236}">
                <a16:creationId xmlns:a16="http://schemas.microsoft.com/office/drawing/2014/main" id="{80EE2C16-6AB7-3E6F-18FC-8299BA999C4C}"/>
              </a:ext>
            </a:extLst>
          </p:cNvPr>
          <p:cNvCxnSpPr>
            <a:cxnSpLocks/>
          </p:cNvCxnSpPr>
          <p:nvPr/>
        </p:nvCxnSpPr>
        <p:spPr>
          <a:xfrm>
            <a:off x="362735" y="8532440"/>
            <a:ext cx="6220743"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aphicFrame>
        <p:nvGraphicFramePr>
          <p:cNvPr id="3" name="Table 3">
            <a:extLst>
              <a:ext uri="{FF2B5EF4-FFF2-40B4-BE49-F238E27FC236}">
                <a16:creationId xmlns:a16="http://schemas.microsoft.com/office/drawing/2014/main" id="{AB04236F-A193-7638-D9CE-800B5627143A}"/>
              </a:ext>
            </a:extLst>
          </p:cNvPr>
          <p:cNvGraphicFramePr>
            <a:graphicFrameLocks noGrp="1"/>
          </p:cNvGraphicFramePr>
          <p:nvPr>
            <p:extLst>
              <p:ext uri="{D42A27DB-BD31-4B8C-83A1-F6EECF244321}">
                <p14:modId xmlns:p14="http://schemas.microsoft.com/office/powerpoint/2010/main" val="3551110184"/>
              </p:ext>
            </p:extLst>
          </p:nvPr>
        </p:nvGraphicFramePr>
        <p:xfrm>
          <a:off x="188640" y="4402259"/>
          <a:ext cx="6439242" cy="3986165"/>
        </p:xfrm>
        <a:graphic>
          <a:graphicData uri="http://schemas.openxmlformats.org/drawingml/2006/table">
            <a:tbl>
              <a:tblPr firstRow="1" bandRow="1">
                <a:tableStyleId>{5C22544A-7EE6-4342-B048-85BDC9FD1C3A}</a:tableStyleId>
              </a:tblPr>
              <a:tblGrid>
                <a:gridCol w="1944216">
                  <a:extLst>
                    <a:ext uri="{9D8B030D-6E8A-4147-A177-3AD203B41FA5}">
                      <a16:colId xmlns:a16="http://schemas.microsoft.com/office/drawing/2014/main" val="4168112366"/>
                    </a:ext>
                  </a:extLst>
                </a:gridCol>
                <a:gridCol w="1498342">
                  <a:extLst>
                    <a:ext uri="{9D8B030D-6E8A-4147-A177-3AD203B41FA5}">
                      <a16:colId xmlns:a16="http://schemas.microsoft.com/office/drawing/2014/main" val="839880403"/>
                    </a:ext>
                  </a:extLst>
                </a:gridCol>
                <a:gridCol w="1498342">
                  <a:extLst>
                    <a:ext uri="{9D8B030D-6E8A-4147-A177-3AD203B41FA5}">
                      <a16:colId xmlns:a16="http://schemas.microsoft.com/office/drawing/2014/main" val="1449081297"/>
                    </a:ext>
                  </a:extLst>
                </a:gridCol>
                <a:gridCol w="1498342">
                  <a:extLst>
                    <a:ext uri="{9D8B030D-6E8A-4147-A177-3AD203B41FA5}">
                      <a16:colId xmlns:a16="http://schemas.microsoft.com/office/drawing/2014/main" val="1975451831"/>
                    </a:ext>
                  </a:extLst>
                </a:gridCol>
              </a:tblGrid>
              <a:tr h="322476">
                <a:tc>
                  <a:txBody>
                    <a:bodyPr/>
                    <a:lstStyle/>
                    <a:p>
                      <a:endParaRPr lang="en-US" sz="1200" dirty="0">
                        <a:latin typeface="BLS Text" panose="00000500000000000000" pitchFamily="2" charset="-34"/>
                        <a:cs typeface="BLS Text" panose="00000500000000000000" pitchFamily="2" charset="-34"/>
                      </a:endParaRPr>
                    </a:p>
                  </a:txBody>
                  <a:tcPr/>
                </a:tc>
                <a:tc>
                  <a:txBody>
                    <a:bodyPr/>
                    <a:lstStyle/>
                    <a:p>
                      <a:pPr algn="ctr"/>
                      <a:r>
                        <a:rPr lang="en-US" sz="1200" dirty="0">
                          <a:latin typeface="BLS Text" panose="00000500000000000000" pitchFamily="2" charset="-34"/>
                          <a:cs typeface="BLS Text" panose="00000500000000000000" pitchFamily="2" charset="-34"/>
                        </a:rPr>
                        <a:t>Base case</a:t>
                      </a:r>
                    </a:p>
                  </a:txBody>
                  <a:tcPr/>
                </a:tc>
                <a:tc>
                  <a:txBody>
                    <a:bodyPr/>
                    <a:lstStyle/>
                    <a:p>
                      <a:pPr algn="ctr"/>
                      <a:r>
                        <a:rPr lang="en-US" sz="1200" dirty="0">
                          <a:latin typeface="BLS Text" panose="00000500000000000000" pitchFamily="2" charset="-34"/>
                          <a:cs typeface="BLS Text" panose="00000500000000000000" pitchFamily="2" charset="-34"/>
                        </a:rPr>
                        <a:t>Worse case</a:t>
                      </a:r>
                    </a:p>
                  </a:txBody>
                  <a:tcPr/>
                </a:tc>
                <a:tc>
                  <a:txBody>
                    <a:bodyPr/>
                    <a:lstStyle/>
                    <a:p>
                      <a:pPr algn="ctr"/>
                      <a:r>
                        <a:rPr lang="en-US" sz="1200" dirty="0">
                          <a:latin typeface="BLS Text" panose="00000500000000000000" pitchFamily="2" charset="-34"/>
                          <a:cs typeface="BLS Text" panose="00000500000000000000" pitchFamily="2" charset="-34"/>
                        </a:rPr>
                        <a:t>Worst case </a:t>
                      </a:r>
                    </a:p>
                  </a:txBody>
                  <a:tcPr/>
                </a:tc>
                <a:extLst>
                  <a:ext uri="{0D108BD9-81ED-4DB2-BD59-A6C34878D82A}">
                    <a16:rowId xmlns:a16="http://schemas.microsoft.com/office/drawing/2014/main" val="3928320394"/>
                  </a:ext>
                </a:extLst>
              </a:tr>
              <a:tr h="29560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h-TH" sz="1050" dirty="0">
                          <a:latin typeface="BLS Text" panose="00000500000000000000" pitchFamily="2" charset="-34"/>
                          <a:cs typeface="BLS Text" panose="00000500000000000000" pitchFamily="2" charset="-34"/>
                        </a:rPr>
                        <a:t>ราคาน้ำมัน </a:t>
                      </a:r>
                      <a:r>
                        <a:rPr lang="en-US" sz="1050" dirty="0">
                          <a:latin typeface="BLS Text" panose="00000500000000000000" pitchFamily="2" charset="-34"/>
                          <a:cs typeface="BLS Text" panose="00000500000000000000" pitchFamily="2" charset="-34"/>
                        </a:rPr>
                        <a:t>Brent</a:t>
                      </a:r>
                      <a:r>
                        <a:rPr lang="th-TH" sz="1050" dirty="0">
                          <a:latin typeface="BLS Text" panose="00000500000000000000" pitchFamily="2" charset="-34"/>
                          <a:cs typeface="BLS Text" panose="00000500000000000000" pitchFamily="2" charset="-34"/>
                        </a:rPr>
                        <a:t> เฉลี่ยปี 2026</a:t>
                      </a:r>
                      <a:endParaRPr lang="en-US" sz="1050" dirty="0">
                        <a:latin typeface="BLS Text" panose="00000500000000000000" pitchFamily="2" charset="-34"/>
                        <a:cs typeface="BLS Text" panose="00000500000000000000" pitchFamily="2" charset="-34"/>
                      </a:endParaRPr>
                    </a:p>
                  </a:txBody>
                  <a:tcPr/>
                </a:tc>
                <a:tc>
                  <a:txBody>
                    <a:bodyPr/>
                    <a:lstStyle/>
                    <a:p>
                      <a:pPr algn="ctr"/>
                      <a:r>
                        <a:rPr lang="en-US" sz="1050" dirty="0">
                          <a:latin typeface="BLS Text" panose="00000500000000000000" pitchFamily="2" charset="-34"/>
                          <a:cs typeface="BLS Text" panose="00000500000000000000" pitchFamily="2" charset="-34"/>
                        </a:rPr>
                        <a:t>$81</a:t>
                      </a:r>
                    </a:p>
                  </a:txBody>
                  <a:tcPr anchor="ctr"/>
                </a:tc>
                <a:tc>
                  <a:txBody>
                    <a:bodyPr/>
                    <a:lstStyle/>
                    <a:p>
                      <a:pPr algn="ctr"/>
                      <a:r>
                        <a:rPr lang="en-US" sz="1050" dirty="0">
                          <a:latin typeface="BLS Text" panose="00000500000000000000" pitchFamily="2" charset="-34"/>
                          <a:cs typeface="BLS Text" panose="00000500000000000000" pitchFamily="2" charset="-34"/>
                        </a:rPr>
                        <a:t>$81</a:t>
                      </a:r>
                    </a:p>
                  </a:txBody>
                  <a:tcPr anchor="ctr"/>
                </a:tc>
                <a:tc>
                  <a:txBody>
                    <a:bodyPr/>
                    <a:lstStyle/>
                    <a:p>
                      <a:pPr algn="ctr"/>
                      <a:r>
                        <a:rPr lang="en-US" sz="1050" dirty="0">
                          <a:latin typeface="BLS Text" panose="00000500000000000000" pitchFamily="2" charset="-34"/>
                          <a:cs typeface="BLS Text" panose="00000500000000000000" pitchFamily="2" charset="-34"/>
                        </a:rPr>
                        <a:t>$100</a:t>
                      </a:r>
                    </a:p>
                  </a:txBody>
                  <a:tcPr anchor="ctr"/>
                </a:tc>
                <a:extLst>
                  <a:ext uri="{0D108BD9-81ED-4DB2-BD59-A6C34878D82A}">
                    <a16:rowId xmlns:a16="http://schemas.microsoft.com/office/drawing/2014/main" val="3692505021"/>
                  </a:ext>
                </a:extLst>
              </a:tr>
              <a:tr h="295603">
                <a:tc>
                  <a:txBody>
                    <a:bodyPr/>
                    <a:lstStyle/>
                    <a:p>
                      <a:pPr algn="ctr"/>
                      <a:r>
                        <a:rPr lang="th-TH" sz="1050" dirty="0">
                          <a:latin typeface="BLS Text" panose="00000500000000000000" pitchFamily="2" charset="-34"/>
                          <a:cs typeface="BLS Text" panose="00000500000000000000" pitchFamily="2" charset="-34"/>
                        </a:rPr>
                        <a:t>ราคาน้ำมันดีเซลในประเทศ</a:t>
                      </a:r>
                      <a:endParaRPr lang="en-US" sz="1050" dirty="0">
                        <a:latin typeface="BLS Text" panose="00000500000000000000" pitchFamily="2" charset="-34"/>
                        <a:cs typeface="BLS Text" panose="00000500000000000000" pitchFamily="2" charset="-34"/>
                      </a:endParaRPr>
                    </a:p>
                  </a:txBody>
                  <a:tcPr/>
                </a:tc>
                <a:tc>
                  <a:txBody>
                    <a:bodyPr/>
                    <a:lstStyle/>
                    <a:p>
                      <a:pPr algn="ctr"/>
                      <a:r>
                        <a:rPr lang="th-TH" sz="1050" dirty="0">
                          <a:latin typeface="BLS Text" panose="00000500000000000000" pitchFamily="2" charset="-34"/>
                          <a:cs typeface="BLS Text" panose="00000500000000000000" pitchFamily="2" charset="-34"/>
                        </a:rPr>
                        <a:t>50-55 บาท/ลิตร</a:t>
                      </a:r>
                      <a:endParaRPr lang="en-US" sz="1050" dirty="0">
                        <a:latin typeface="BLS Text" panose="00000500000000000000" pitchFamily="2" charset="-34"/>
                        <a:cs typeface="BLS Text" panose="00000500000000000000" pitchFamily="2" charset="-34"/>
                      </a:endParaRPr>
                    </a:p>
                  </a:txBody>
                  <a:tcPr anchor="ctr"/>
                </a:tc>
                <a:tc>
                  <a:txBody>
                    <a:bodyPr/>
                    <a:lstStyle/>
                    <a:p>
                      <a:pPr algn="ctr"/>
                      <a:r>
                        <a:rPr lang="th-TH" sz="1050" dirty="0">
                          <a:latin typeface="BLS Text" panose="00000500000000000000" pitchFamily="2" charset="-34"/>
                          <a:cs typeface="BLS Text" panose="00000500000000000000" pitchFamily="2" charset="-34"/>
                        </a:rPr>
                        <a:t>50-55 บาท/ลิตร</a:t>
                      </a:r>
                      <a:endParaRPr lang="en-US" sz="1050" dirty="0">
                        <a:latin typeface="BLS Text" panose="00000500000000000000" pitchFamily="2" charset="-34"/>
                        <a:cs typeface="BLS Text" panose="00000500000000000000" pitchFamily="2" charset="-34"/>
                      </a:endParaRPr>
                    </a:p>
                  </a:txBody>
                  <a:tcPr anchor="ctr"/>
                </a:tc>
                <a:tc>
                  <a:txBody>
                    <a:bodyPr/>
                    <a:lstStyle/>
                    <a:p>
                      <a:pPr algn="ctr"/>
                      <a:r>
                        <a:rPr lang="th-TH" sz="1050" dirty="0">
                          <a:latin typeface="BLS Text" panose="00000500000000000000" pitchFamily="2" charset="-34"/>
                          <a:cs typeface="BLS Text" panose="00000500000000000000" pitchFamily="2" charset="-34"/>
                        </a:rPr>
                        <a:t> </a:t>
                      </a:r>
                      <a:r>
                        <a:rPr lang="en-US" sz="1050" dirty="0">
                          <a:latin typeface="BLS Text" panose="00000500000000000000" pitchFamily="2" charset="-34"/>
                          <a:cs typeface="BLS Text" panose="00000500000000000000" pitchFamily="2" charset="-34"/>
                        </a:rPr>
                        <a:t>&gt; 60 </a:t>
                      </a:r>
                      <a:r>
                        <a:rPr lang="th-TH" sz="1050" dirty="0">
                          <a:latin typeface="BLS Text" panose="00000500000000000000" pitchFamily="2" charset="-34"/>
                          <a:cs typeface="BLS Text" panose="00000500000000000000" pitchFamily="2" charset="-34"/>
                        </a:rPr>
                        <a:t>บาท/ลิตร</a:t>
                      </a:r>
                      <a:endParaRPr lang="en-US" sz="1050" dirty="0">
                        <a:latin typeface="BLS Text" panose="00000500000000000000" pitchFamily="2" charset="-34"/>
                        <a:cs typeface="BLS Text" panose="00000500000000000000" pitchFamily="2" charset="-34"/>
                      </a:endParaRPr>
                    </a:p>
                  </a:txBody>
                  <a:tcPr anchor="ctr"/>
                </a:tc>
                <a:extLst>
                  <a:ext uri="{0D108BD9-81ED-4DB2-BD59-A6C34878D82A}">
                    <a16:rowId xmlns:a16="http://schemas.microsoft.com/office/drawing/2014/main" val="2771688878"/>
                  </a:ext>
                </a:extLst>
              </a:tr>
              <a:tr h="295603">
                <a:tc>
                  <a:txBody>
                    <a:bodyPr/>
                    <a:lstStyle/>
                    <a:p>
                      <a:pPr algn="ctr"/>
                      <a:r>
                        <a:rPr lang="th-TH" sz="1050" dirty="0">
                          <a:latin typeface="BLS Text" panose="00000500000000000000" pitchFamily="2" charset="-34"/>
                          <a:cs typeface="BLS Text" panose="00000500000000000000" pitchFamily="2" charset="-34"/>
                        </a:rPr>
                        <a:t>ระยะเวลา</a:t>
                      </a:r>
                      <a:endParaRPr lang="en-US" sz="1050" dirty="0">
                        <a:latin typeface="BLS Text" panose="00000500000000000000" pitchFamily="2" charset="-34"/>
                        <a:cs typeface="BLS Text" panose="00000500000000000000" pitchFamily="2" charset="-34"/>
                      </a:endParaRPr>
                    </a:p>
                  </a:txBody>
                  <a:tcPr/>
                </a:tc>
                <a:tc>
                  <a:txBody>
                    <a:bodyPr/>
                    <a:lstStyle/>
                    <a:p>
                      <a:pPr algn="ctr"/>
                      <a:r>
                        <a:rPr lang="en-US" sz="1050" dirty="0">
                          <a:latin typeface="BLS Text" panose="00000500000000000000" pitchFamily="2" charset="-34"/>
                          <a:cs typeface="BLS Text" panose="00000500000000000000" pitchFamily="2" charset="-34"/>
                        </a:rPr>
                        <a:t>1</a:t>
                      </a:r>
                      <a:r>
                        <a:rPr lang="th-TH" sz="1050" dirty="0">
                          <a:latin typeface="BLS Text" panose="00000500000000000000" pitchFamily="2" charset="-34"/>
                          <a:cs typeface="BLS Text" panose="00000500000000000000" pitchFamily="2" charset="-34"/>
                        </a:rPr>
                        <a:t> เดือน </a:t>
                      </a:r>
                      <a:endParaRPr lang="en-US" sz="1050" dirty="0">
                        <a:latin typeface="BLS Text" panose="00000500000000000000" pitchFamily="2" charset="-34"/>
                        <a:cs typeface="BLS Text" panose="00000500000000000000" pitchFamily="2" charset="-34"/>
                      </a:endParaRPr>
                    </a:p>
                  </a:txBody>
                  <a:tcPr anchor="ctr"/>
                </a:tc>
                <a:tc>
                  <a:txBody>
                    <a:bodyPr/>
                    <a:lstStyle/>
                    <a:p>
                      <a:pPr algn="ctr"/>
                      <a:r>
                        <a:rPr lang="th-TH" sz="1050" dirty="0">
                          <a:latin typeface="BLS Text" panose="00000500000000000000" pitchFamily="2" charset="-34"/>
                          <a:cs typeface="BLS Text" panose="00000500000000000000" pitchFamily="2" charset="-34"/>
                        </a:rPr>
                        <a:t>2 เดือน </a:t>
                      </a:r>
                      <a:endParaRPr lang="en-US" sz="1050" dirty="0">
                        <a:latin typeface="BLS Text" panose="00000500000000000000" pitchFamily="2" charset="-34"/>
                        <a:cs typeface="BLS Text" panose="00000500000000000000" pitchFamily="2" charset="-34"/>
                      </a:endParaRPr>
                    </a:p>
                  </a:txBody>
                  <a:tcPr anchor="ctr"/>
                </a:tc>
                <a:tc>
                  <a:txBody>
                    <a:bodyPr/>
                    <a:lstStyle/>
                    <a:p>
                      <a:pPr algn="ctr"/>
                      <a:r>
                        <a:rPr lang="th-TH" sz="1050" dirty="0">
                          <a:latin typeface="BLS Text" panose="00000500000000000000" pitchFamily="2" charset="-34"/>
                          <a:cs typeface="BLS Text" panose="00000500000000000000" pitchFamily="2" charset="-34"/>
                        </a:rPr>
                        <a:t>2 เดือน</a:t>
                      </a:r>
                      <a:endParaRPr lang="en-US" sz="1050" dirty="0">
                        <a:latin typeface="BLS Text" panose="00000500000000000000" pitchFamily="2" charset="-34"/>
                        <a:cs typeface="BLS Text" panose="00000500000000000000" pitchFamily="2" charset="-34"/>
                      </a:endParaRPr>
                    </a:p>
                  </a:txBody>
                  <a:tcPr anchor="ctr"/>
                </a:tc>
                <a:extLst>
                  <a:ext uri="{0D108BD9-81ED-4DB2-BD59-A6C34878D82A}">
                    <a16:rowId xmlns:a16="http://schemas.microsoft.com/office/drawing/2014/main" val="2345226312"/>
                  </a:ext>
                </a:extLst>
              </a:tr>
              <a:tr h="295603">
                <a:tc>
                  <a:txBody>
                    <a:bodyPr/>
                    <a:lstStyle/>
                    <a:p>
                      <a:pPr algn="ctr"/>
                      <a:r>
                        <a:rPr lang="th-TH" sz="1050" dirty="0">
                          <a:latin typeface="BLS Text" panose="00000500000000000000" pitchFamily="2" charset="-34"/>
                          <a:cs typeface="BLS Text" panose="00000500000000000000" pitchFamily="2" charset="-34"/>
                        </a:rPr>
                        <a:t>ผลกระทบต่อ</a:t>
                      </a:r>
                      <a:r>
                        <a:rPr lang="en-US" sz="1050" dirty="0">
                          <a:latin typeface="BLS Text" panose="00000500000000000000" pitchFamily="2" charset="-34"/>
                          <a:cs typeface="BLS Text" panose="00000500000000000000" pitchFamily="2" charset="-34"/>
                        </a:rPr>
                        <a:t> GDP </a:t>
                      </a:r>
                    </a:p>
                  </a:txBody>
                  <a:tcPr/>
                </a:tc>
                <a:tc>
                  <a:txBody>
                    <a:bodyPr/>
                    <a:lstStyle/>
                    <a:p>
                      <a:pPr algn="ctr"/>
                      <a:r>
                        <a:rPr lang="th-TH" sz="1050" dirty="0">
                          <a:latin typeface="BLS Text" panose="00000500000000000000" pitchFamily="2" charset="-34"/>
                          <a:cs typeface="BLS Text" panose="00000500000000000000" pitchFamily="2" charset="-34"/>
                        </a:rPr>
                        <a:t>ลดลง </a:t>
                      </a:r>
                      <a:r>
                        <a:rPr lang="en-US" sz="1050" dirty="0">
                          <a:latin typeface="BLS Text" panose="00000500000000000000" pitchFamily="2" charset="-34"/>
                          <a:cs typeface="BLS Text" panose="00000500000000000000" pitchFamily="2" charset="-34"/>
                        </a:rPr>
                        <a:t>0.4-0.5%</a:t>
                      </a:r>
                    </a:p>
                  </a:txBody>
                  <a:tcPr anchor="ctr"/>
                </a:tc>
                <a:tc>
                  <a:txBody>
                    <a:bodyPr/>
                    <a:lstStyle/>
                    <a:p>
                      <a:pPr algn="ctr"/>
                      <a:r>
                        <a:rPr lang="th-TH" sz="1050" dirty="0">
                          <a:latin typeface="BLS Text" panose="00000500000000000000" pitchFamily="2" charset="-34"/>
                          <a:cs typeface="BLS Text" panose="00000500000000000000" pitchFamily="2" charset="-34"/>
                        </a:rPr>
                        <a:t>ลดลง </a:t>
                      </a:r>
                      <a:r>
                        <a:rPr lang="en-US" sz="1050" dirty="0">
                          <a:latin typeface="BLS Text" panose="00000500000000000000" pitchFamily="2" charset="-34"/>
                          <a:cs typeface="BLS Text" panose="00000500000000000000" pitchFamily="2" charset="-34"/>
                        </a:rPr>
                        <a:t>0.8-1.0%</a:t>
                      </a:r>
                    </a:p>
                  </a:txBody>
                  <a:tcPr anchor="ctr"/>
                </a:tc>
                <a:tc>
                  <a:txBody>
                    <a:bodyPr/>
                    <a:lstStyle/>
                    <a:p>
                      <a:pPr algn="ctr"/>
                      <a:r>
                        <a:rPr lang="th-TH" sz="1050" dirty="0">
                          <a:latin typeface="BLS Text" panose="00000500000000000000" pitchFamily="2" charset="-34"/>
                          <a:cs typeface="BLS Text" panose="00000500000000000000" pitchFamily="2" charset="-34"/>
                        </a:rPr>
                        <a:t>ลดลง </a:t>
                      </a:r>
                      <a:r>
                        <a:rPr lang="en-US" sz="1050" dirty="0">
                          <a:latin typeface="BLS Text" panose="00000500000000000000" pitchFamily="2" charset="-34"/>
                          <a:cs typeface="BLS Text" panose="00000500000000000000" pitchFamily="2" charset="-34"/>
                        </a:rPr>
                        <a:t>&gt;</a:t>
                      </a:r>
                      <a:r>
                        <a:rPr lang="th-TH" sz="1050" dirty="0">
                          <a:latin typeface="BLS Text" panose="00000500000000000000" pitchFamily="2" charset="-34"/>
                          <a:cs typeface="BLS Text" panose="00000500000000000000" pitchFamily="2" charset="-34"/>
                        </a:rPr>
                        <a:t> 1.2</a:t>
                      </a:r>
                      <a:r>
                        <a:rPr lang="en-US" sz="1050" dirty="0">
                          <a:latin typeface="BLS Text" panose="00000500000000000000" pitchFamily="2" charset="-34"/>
                          <a:cs typeface="BLS Text" panose="00000500000000000000" pitchFamily="2" charset="-34"/>
                        </a:rPr>
                        <a:t>%</a:t>
                      </a:r>
                    </a:p>
                  </a:txBody>
                  <a:tcPr anchor="ctr"/>
                </a:tc>
                <a:extLst>
                  <a:ext uri="{0D108BD9-81ED-4DB2-BD59-A6C34878D82A}">
                    <a16:rowId xmlns:a16="http://schemas.microsoft.com/office/drawing/2014/main" val="2296530102"/>
                  </a:ext>
                </a:extLst>
              </a:tr>
              <a:tr h="483715">
                <a:tc>
                  <a:txBody>
                    <a:bodyPr/>
                    <a:lstStyle/>
                    <a:p>
                      <a:pPr algn="ctr"/>
                      <a:r>
                        <a:rPr lang="th-TH" sz="1050" dirty="0">
                          <a:latin typeface="BLS Text" panose="00000500000000000000" pitchFamily="2" charset="-34"/>
                          <a:cs typeface="BLS Text" panose="00000500000000000000" pitchFamily="2" charset="-34"/>
                        </a:rPr>
                        <a:t>คาดการณ์การเติบโต</a:t>
                      </a:r>
                      <a:r>
                        <a:rPr lang="en-US" sz="1050" dirty="0">
                          <a:latin typeface="BLS Text" panose="00000500000000000000" pitchFamily="2" charset="-34"/>
                          <a:cs typeface="BLS Text" panose="00000500000000000000" pitchFamily="2" charset="-34"/>
                        </a:rPr>
                        <a:t> GDP 2026</a:t>
                      </a:r>
                    </a:p>
                  </a:txBody>
                  <a:tcPr/>
                </a:tc>
                <a:tc>
                  <a:txBody>
                    <a:bodyPr/>
                    <a:lstStyle/>
                    <a:p>
                      <a:pPr algn="ctr"/>
                      <a:r>
                        <a:rPr lang="en-US" sz="1050" dirty="0">
                          <a:latin typeface="BLS Text" panose="00000500000000000000" pitchFamily="2" charset="-34"/>
                          <a:cs typeface="BLS Text" panose="00000500000000000000" pitchFamily="2" charset="-34"/>
                        </a:rPr>
                        <a:t>1</a:t>
                      </a:r>
                      <a:r>
                        <a:rPr lang="th-TH" sz="1050" dirty="0">
                          <a:latin typeface="BLS Text" panose="00000500000000000000" pitchFamily="2" charset="-34"/>
                          <a:cs typeface="BLS Text" panose="00000500000000000000" pitchFamily="2" charset="-34"/>
                        </a:rPr>
                        <a:t>.</a:t>
                      </a:r>
                      <a:r>
                        <a:rPr lang="en-US" sz="1050" dirty="0">
                          <a:latin typeface="BLS Text" panose="00000500000000000000" pitchFamily="2" charset="-34"/>
                          <a:cs typeface="BLS Text" panose="00000500000000000000" pitchFamily="2" charset="-34"/>
                        </a:rPr>
                        <a:t>3</a:t>
                      </a:r>
                      <a:r>
                        <a:rPr lang="th-TH" sz="1050" dirty="0">
                          <a:latin typeface="BLS Text" panose="00000500000000000000" pitchFamily="2" charset="-34"/>
                          <a:cs typeface="BLS Text" panose="00000500000000000000" pitchFamily="2" charset="-34"/>
                        </a:rPr>
                        <a:t>-1</a:t>
                      </a:r>
                      <a:r>
                        <a:rPr lang="en-US" sz="1050" dirty="0">
                          <a:latin typeface="BLS Text" panose="00000500000000000000" pitchFamily="2" charset="-34"/>
                          <a:cs typeface="BLS Text" panose="00000500000000000000" pitchFamily="2" charset="-34"/>
                        </a:rPr>
                        <a:t>.4%</a:t>
                      </a:r>
                    </a:p>
                  </a:txBody>
                  <a:tcPr anchor="ctr"/>
                </a:tc>
                <a:tc>
                  <a:txBody>
                    <a:bodyPr/>
                    <a:lstStyle/>
                    <a:p>
                      <a:pPr algn="ctr"/>
                      <a:r>
                        <a:rPr lang="th-TH" sz="1050" dirty="0">
                          <a:latin typeface="BLS Text" panose="00000500000000000000" pitchFamily="2" charset="-34"/>
                          <a:cs typeface="BLS Text" panose="00000500000000000000" pitchFamily="2" charset="-34"/>
                        </a:rPr>
                        <a:t>0.8-1</a:t>
                      </a:r>
                      <a:r>
                        <a:rPr lang="en-US" sz="1050" dirty="0">
                          <a:latin typeface="BLS Text" panose="00000500000000000000" pitchFamily="2" charset="-34"/>
                          <a:cs typeface="BLS Text" panose="00000500000000000000" pitchFamily="2" charset="-34"/>
                        </a:rPr>
                        <a:t>.0%</a:t>
                      </a:r>
                    </a:p>
                  </a:txBody>
                  <a:tcPr anchor="ctr"/>
                </a:tc>
                <a:tc>
                  <a:txBody>
                    <a:bodyPr/>
                    <a:lstStyle/>
                    <a:p>
                      <a:pPr algn="ctr"/>
                      <a:r>
                        <a:rPr lang="th-TH" sz="1050" dirty="0">
                          <a:latin typeface="BLS Text" panose="00000500000000000000" pitchFamily="2" charset="-34"/>
                          <a:cs typeface="BLS Text" panose="00000500000000000000" pitchFamily="2" charset="-34"/>
                        </a:rPr>
                        <a:t>ต่ำกว่า</a:t>
                      </a:r>
                      <a:r>
                        <a:rPr lang="en-US" sz="1050" dirty="0">
                          <a:latin typeface="BLS Text" panose="00000500000000000000" pitchFamily="2" charset="-34"/>
                          <a:cs typeface="BLS Text" panose="00000500000000000000" pitchFamily="2" charset="-34"/>
                        </a:rPr>
                        <a:t> 0.6%</a:t>
                      </a:r>
                    </a:p>
                  </a:txBody>
                  <a:tcPr anchor="ctr"/>
                </a:tc>
                <a:extLst>
                  <a:ext uri="{0D108BD9-81ED-4DB2-BD59-A6C34878D82A}">
                    <a16:rowId xmlns:a16="http://schemas.microsoft.com/office/drawing/2014/main" val="610097919"/>
                  </a:ext>
                </a:extLst>
              </a:tr>
              <a:tr h="295603">
                <a:tc>
                  <a:txBody>
                    <a:bodyPr/>
                    <a:lstStyle/>
                    <a:p>
                      <a:pPr algn="ctr"/>
                      <a:r>
                        <a:rPr lang="th-TH" sz="1050" dirty="0">
                          <a:latin typeface="BLS Text" panose="00000500000000000000" pitchFamily="2" charset="-34"/>
                          <a:cs typeface="BLS Text" panose="00000500000000000000" pitchFamily="2" charset="-34"/>
                        </a:rPr>
                        <a:t>ผลกระทบต่อเงินเฟ้อทั่วไป</a:t>
                      </a:r>
                      <a:endParaRPr lang="en-US" sz="1050" dirty="0">
                        <a:latin typeface="BLS Text" panose="00000500000000000000" pitchFamily="2" charset="-34"/>
                        <a:cs typeface="BLS Text" panose="00000500000000000000" pitchFamily="2" charset="-34"/>
                      </a:endParaRPr>
                    </a:p>
                  </a:txBody>
                  <a:tcPr/>
                </a:tc>
                <a:tc>
                  <a:txBody>
                    <a:bodyPr/>
                    <a:lstStyle/>
                    <a:p>
                      <a:pPr algn="ctr"/>
                      <a:r>
                        <a:rPr lang="en-US" sz="1050" dirty="0">
                          <a:latin typeface="BLS Text" panose="00000500000000000000" pitchFamily="2" charset="-34"/>
                          <a:cs typeface="BLS Text" panose="00000500000000000000" pitchFamily="2" charset="-34"/>
                        </a:rPr>
                        <a:t>1</a:t>
                      </a:r>
                      <a:r>
                        <a:rPr lang="th-TH" sz="1050" dirty="0">
                          <a:latin typeface="BLS Text" panose="00000500000000000000" pitchFamily="2" charset="-34"/>
                          <a:cs typeface="BLS Text" panose="00000500000000000000" pitchFamily="2" charset="-34"/>
                        </a:rPr>
                        <a:t>.</a:t>
                      </a:r>
                      <a:r>
                        <a:rPr lang="en-US" sz="1050" dirty="0">
                          <a:latin typeface="BLS Text" panose="00000500000000000000" pitchFamily="2" charset="-34"/>
                          <a:cs typeface="BLS Text" panose="00000500000000000000" pitchFamily="2" charset="-34"/>
                        </a:rPr>
                        <a:t>3</a:t>
                      </a:r>
                      <a:r>
                        <a:rPr lang="th-TH" sz="1050" dirty="0">
                          <a:latin typeface="BLS Text" panose="00000500000000000000" pitchFamily="2" charset="-34"/>
                          <a:cs typeface="BLS Text" panose="00000500000000000000" pitchFamily="2" charset="-34"/>
                        </a:rPr>
                        <a:t>-</a:t>
                      </a:r>
                      <a:r>
                        <a:rPr lang="en-US" sz="1050" dirty="0">
                          <a:latin typeface="BLS Text" panose="00000500000000000000" pitchFamily="2" charset="-34"/>
                          <a:cs typeface="BLS Text" panose="00000500000000000000" pitchFamily="2" charset="-34"/>
                        </a:rPr>
                        <a:t>1</a:t>
                      </a:r>
                      <a:r>
                        <a:rPr lang="th-TH" sz="1050" dirty="0">
                          <a:latin typeface="BLS Text" panose="00000500000000000000" pitchFamily="2" charset="-34"/>
                          <a:cs typeface="BLS Text" panose="00000500000000000000" pitchFamily="2" charset="-34"/>
                        </a:rPr>
                        <a:t>.</a:t>
                      </a:r>
                      <a:r>
                        <a:rPr lang="en-US" sz="1050" dirty="0">
                          <a:latin typeface="BLS Text" panose="00000500000000000000" pitchFamily="2" charset="-34"/>
                          <a:cs typeface="BLS Text" panose="00000500000000000000" pitchFamily="2" charset="-34"/>
                        </a:rPr>
                        <a:t>4%</a:t>
                      </a:r>
                    </a:p>
                  </a:txBody>
                  <a:tcPr anchor="ctr"/>
                </a:tc>
                <a:tc>
                  <a:txBody>
                    <a:bodyPr/>
                    <a:lstStyle/>
                    <a:p>
                      <a:pPr algn="ctr"/>
                      <a:r>
                        <a:rPr lang="th-TH" sz="1050" dirty="0">
                          <a:latin typeface="BLS Text" panose="00000500000000000000" pitchFamily="2" charset="-34"/>
                          <a:cs typeface="BLS Text" panose="00000500000000000000" pitchFamily="2" charset="-34"/>
                        </a:rPr>
                        <a:t>2.6-2.8</a:t>
                      </a:r>
                      <a:r>
                        <a:rPr lang="en-US" sz="1050" dirty="0">
                          <a:latin typeface="BLS Text" panose="00000500000000000000" pitchFamily="2" charset="-34"/>
                          <a:cs typeface="BLS Text" panose="00000500000000000000" pitchFamily="2" charset="-34"/>
                        </a:rPr>
                        <a:t>%</a:t>
                      </a:r>
                    </a:p>
                  </a:txBody>
                  <a:tcPr anchor="ctr"/>
                </a:tc>
                <a:tc>
                  <a:txBody>
                    <a:bodyPr/>
                    <a:lstStyle/>
                    <a:p>
                      <a:pPr algn="ctr"/>
                      <a:r>
                        <a:rPr lang="en-US" sz="1050" dirty="0">
                          <a:latin typeface="BLS Text" panose="00000500000000000000" pitchFamily="2" charset="-34"/>
                          <a:cs typeface="BLS Text" panose="00000500000000000000" pitchFamily="2" charset="-34"/>
                        </a:rPr>
                        <a:t>3.2%</a:t>
                      </a:r>
                    </a:p>
                  </a:txBody>
                  <a:tcPr anchor="ctr"/>
                </a:tc>
                <a:extLst>
                  <a:ext uri="{0D108BD9-81ED-4DB2-BD59-A6C34878D82A}">
                    <a16:rowId xmlns:a16="http://schemas.microsoft.com/office/drawing/2014/main" val="3784366332"/>
                  </a:ext>
                </a:extLst>
              </a:tr>
              <a:tr h="295603">
                <a:tc>
                  <a:txBody>
                    <a:bodyPr/>
                    <a:lstStyle/>
                    <a:p>
                      <a:pPr algn="ctr"/>
                      <a:r>
                        <a:rPr lang="th-TH" sz="1050" dirty="0">
                          <a:latin typeface="BLS Text" panose="00000500000000000000" pitchFamily="2" charset="-34"/>
                          <a:cs typeface="BLS Text" panose="00000500000000000000" pitchFamily="2" charset="-34"/>
                        </a:rPr>
                        <a:t>คาดการณ์เงินเฟ้อทั่วไป </a:t>
                      </a:r>
                      <a:r>
                        <a:rPr lang="en-US" sz="1050" dirty="0">
                          <a:latin typeface="BLS Text" panose="00000500000000000000" pitchFamily="2" charset="-34"/>
                          <a:cs typeface="BLS Text" panose="00000500000000000000" pitchFamily="2" charset="-34"/>
                        </a:rPr>
                        <a:t>2026</a:t>
                      </a:r>
                    </a:p>
                  </a:txBody>
                  <a:tcPr/>
                </a:tc>
                <a:tc>
                  <a:txBody>
                    <a:bodyPr/>
                    <a:lstStyle/>
                    <a:p>
                      <a:pPr algn="ctr"/>
                      <a:r>
                        <a:rPr lang="en-US" sz="1050" dirty="0">
                          <a:latin typeface="BLS Text" panose="00000500000000000000" pitchFamily="2" charset="-34"/>
                          <a:cs typeface="BLS Text" panose="00000500000000000000" pitchFamily="2" charset="-34"/>
                        </a:rPr>
                        <a:t>1</a:t>
                      </a:r>
                      <a:r>
                        <a:rPr lang="th-TH" sz="1050" dirty="0">
                          <a:latin typeface="BLS Text" panose="00000500000000000000" pitchFamily="2" charset="-34"/>
                          <a:cs typeface="BLS Text" panose="00000500000000000000" pitchFamily="2" charset="-34"/>
                        </a:rPr>
                        <a:t>.</a:t>
                      </a:r>
                      <a:r>
                        <a:rPr lang="en-US" sz="1050" dirty="0">
                          <a:latin typeface="BLS Text" panose="00000500000000000000" pitchFamily="2" charset="-34"/>
                          <a:cs typeface="BLS Text" panose="00000500000000000000" pitchFamily="2" charset="-34"/>
                        </a:rPr>
                        <a:t>4</a:t>
                      </a:r>
                      <a:r>
                        <a:rPr lang="th-TH" sz="1050" dirty="0">
                          <a:latin typeface="BLS Text" panose="00000500000000000000" pitchFamily="2" charset="-34"/>
                          <a:cs typeface="BLS Text" panose="00000500000000000000" pitchFamily="2" charset="-34"/>
                        </a:rPr>
                        <a:t>-</a:t>
                      </a:r>
                      <a:r>
                        <a:rPr lang="en-US" sz="1050" dirty="0">
                          <a:latin typeface="BLS Text" panose="00000500000000000000" pitchFamily="2" charset="-34"/>
                          <a:cs typeface="BLS Text" panose="00000500000000000000" pitchFamily="2" charset="-34"/>
                        </a:rPr>
                        <a:t>1.5%</a:t>
                      </a:r>
                    </a:p>
                  </a:txBody>
                  <a:tcPr anchor="ctr"/>
                </a:tc>
                <a:tc>
                  <a:txBody>
                    <a:bodyPr/>
                    <a:lstStyle/>
                    <a:p>
                      <a:pPr algn="ctr"/>
                      <a:r>
                        <a:rPr lang="en-US" sz="1050" dirty="0">
                          <a:latin typeface="BLS Text" panose="00000500000000000000" pitchFamily="2" charset="-34"/>
                          <a:cs typeface="BLS Text" panose="00000500000000000000" pitchFamily="2" charset="-34"/>
                        </a:rPr>
                        <a:t>2</a:t>
                      </a:r>
                      <a:r>
                        <a:rPr lang="th-TH" sz="1050" dirty="0">
                          <a:latin typeface="BLS Text" panose="00000500000000000000" pitchFamily="2" charset="-34"/>
                          <a:cs typeface="BLS Text" panose="00000500000000000000" pitchFamily="2" charset="-34"/>
                        </a:rPr>
                        <a:t>.</a:t>
                      </a:r>
                      <a:r>
                        <a:rPr lang="en-US" sz="1050" dirty="0">
                          <a:latin typeface="BLS Text" panose="00000500000000000000" pitchFamily="2" charset="-34"/>
                          <a:cs typeface="BLS Text" panose="00000500000000000000" pitchFamily="2" charset="-34"/>
                        </a:rPr>
                        <a:t>7</a:t>
                      </a:r>
                      <a:r>
                        <a:rPr lang="th-TH" sz="1050" dirty="0">
                          <a:latin typeface="BLS Text" panose="00000500000000000000" pitchFamily="2" charset="-34"/>
                          <a:cs typeface="BLS Text" panose="00000500000000000000" pitchFamily="2" charset="-34"/>
                        </a:rPr>
                        <a:t>-</a:t>
                      </a:r>
                      <a:r>
                        <a:rPr lang="en-US" sz="1050" dirty="0">
                          <a:latin typeface="BLS Text" panose="00000500000000000000" pitchFamily="2" charset="-34"/>
                          <a:cs typeface="BLS Text" panose="00000500000000000000" pitchFamily="2" charset="-34"/>
                        </a:rPr>
                        <a:t>2.9%</a:t>
                      </a:r>
                    </a:p>
                  </a:txBody>
                  <a:tcPr anchor="ctr"/>
                </a:tc>
                <a:tc>
                  <a:txBody>
                    <a:bodyPr/>
                    <a:lstStyle/>
                    <a:p>
                      <a:pPr algn="ctr"/>
                      <a:r>
                        <a:rPr lang="en-US" sz="1050" dirty="0">
                          <a:latin typeface="BLS Text" panose="00000500000000000000" pitchFamily="2" charset="-34"/>
                          <a:cs typeface="BLS Text" panose="00000500000000000000" pitchFamily="2" charset="-34"/>
                        </a:rPr>
                        <a:t>3.3%</a:t>
                      </a:r>
                    </a:p>
                  </a:txBody>
                  <a:tcPr anchor="ctr"/>
                </a:tc>
                <a:extLst>
                  <a:ext uri="{0D108BD9-81ED-4DB2-BD59-A6C34878D82A}">
                    <a16:rowId xmlns:a16="http://schemas.microsoft.com/office/drawing/2014/main" val="3038277652"/>
                  </a:ext>
                </a:extLst>
              </a:tr>
              <a:tr h="295603">
                <a:tc>
                  <a:txBody>
                    <a:bodyPr/>
                    <a:lstStyle/>
                    <a:p>
                      <a:pPr algn="ctr"/>
                      <a:r>
                        <a:rPr lang="th-TH" sz="1050" dirty="0">
                          <a:latin typeface="BLS Text" panose="00000500000000000000" pitchFamily="2" charset="-34"/>
                          <a:cs typeface="BLS Text" panose="00000500000000000000" pitchFamily="2" charset="-34"/>
                        </a:rPr>
                        <a:t>ผลกระทบต่อ</a:t>
                      </a:r>
                      <a:r>
                        <a:rPr lang="en-US" sz="1050" dirty="0">
                          <a:latin typeface="BLS Text" panose="00000500000000000000" pitchFamily="2" charset="-34"/>
                          <a:cs typeface="BLS Text" panose="00000500000000000000" pitchFamily="2" charset="-34"/>
                        </a:rPr>
                        <a:t> SET EPS </a:t>
                      </a:r>
                    </a:p>
                  </a:txBody>
                  <a:tcPr/>
                </a:tc>
                <a:tc>
                  <a:txBody>
                    <a:bodyPr/>
                    <a:lstStyle/>
                    <a:p>
                      <a:pPr algn="ctr"/>
                      <a:r>
                        <a:rPr lang="th-TH" sz="1050" dirty="0">
                          <a:latin typeface="BLS Text" panose="00000500000000000000" pitchFamily="2" charset="-34"/>
                          <a:cs typeface="BLS Text" panose="00000500000000000000" pitchFamily="2" charset="-34"/>
                        </a:rPr>
                        <a:t>ลดลง 1.2</a:t>
                      </a:r>
                      <a:r>
                        <a:rPr lang="en-US" sz="1050" dirty="0">
                          <a:latin typeface="BLS Text" panose="00000500000000000000" pitchFamily="2" charset="-34"/>
                          <a:cs typeface="BLS Text" panose="00000500000000000000" pitchFamily="2" charset="-34"/>
                        </a:rPr>
                        <a:t>-</a:t>
                      </a:r>
                      <a:r>
                        <a:rPr lang="th-TH" sz="1050" dirty="0">
                          <a:latin typeface="BLS Text" panose="00000500000000000000" pitchFamily="2" charset="-34"/>
                          <a:cs typeface="BLS Text" panose="00000500000000000000" pitchFamily="2" charset="-34"/>
                        </a:rPr>
                        <a:t>1</a:t>
                      </a:r>
                      <a:r>
                        <a:rPr lang="en-US" sz="1050" dirty="0">
                          <a:latin typeface="BLS Text" panose="00000500000000000000" pitchFamily="2" charset="-34"/>
                          <a:cs typeface="BLS Text" panose="00000500000000000000" pitchFamily="2" charset="-34"/>
                        </a:rPr>
                        <a:t>.</a:t>
                      </a:r>
                      <a:r>
                        <a:rPr lang="th-TH" sz="1050" dirty="0">
                          <a:latin typeface="BLS Text" panose="00000500000000000000" pitchFamily="2" charset="-34"/>
                          <a:cs typeface="BLS Text" panose="00000500000000000000" pitchFamily="2" charset="-34"/>
                        </a:rPr>
                        <a:t>5</a:t>
                      </a:r>
                      <a:r>
                        <a:rPr lang="en-US" sz="1050" dirty="0">
                          <a:latin typeface="BLS Text" panose="00000500000000000000" pitchFamily="2" charset="-34"/>
                          <a:cs typeface="BLS Text" panose="00000500000000000000" pitchFamily="2" charset="-34"/>
                        </a:rPr>
                        <a:t>%</a:t>
                      </a:r>
                    </a:p>
                  </a:txBody>
                  <a:tcPr anchor="ctr"/>
                </a:tc>
                <a:tc>
                  <a:txBody>
                    <a:bodyPr/>
                    <a:lstStyle/>
                    <a:p>
                      <a:pPr algn="ctr"/>
                      <a:r>
                        <a:rPr lang="th-TH" sz="1050" dirty="0">
                          <a:latin typeface="BLS Text" panose="00000500000000000000" pitchFamily="2" charset="-34"/>
                          <a:cs typeface="BLS Text" panose="00000500000000000000" pitchFamily="2" charset="-34"/>
                        </a:rPr>
                        <a:t>ลดลง 2.4</a:t>
                      </a:r>
                      <a:r>
                        <a:rPr lang="en-US" sz="1050" dirty="0">
                          <a:latin typeface="BLS Text" panose="00000500000000000000" pitchFamily="2" charset="-34"/>
                          <a:cs typeface="BLS Text" panose="00000500000000000000" pitchFamily="2" charset="-34"/>
                        </a:rPr>
                        <a:t>-</a:t>
                      </a:r>
                      <a:r>
                        <a:rPr lang="th-TH" sz="1050" dirty="0">
                          <a:latin typeface="BLS Text" panose="00000500000000000000" pitchFamily="2" charset="-34"/>
                          <a:cs typeface="BLS Text" panose="00000500000000000000" pitchFamily="2" charset="-34"/>
                        </a:rPr>
                        <a:t>3</a:t>
                      </a:r>
                      <a:r>
                        <a:rPr lang="en-US" sz="1050" dirty="0">
                          <a:latin typeface="BLS Text" panose="00000500000000000000" pitchFamily="2" charset="-34"/>
                          <a:cs typeface="BLS Text" panose="00000500000000000000" pitchFamily="2" charset="-34"/>
                        </a:rPr>
                        <a:t>%</a:t>
                      </a:r>
                    </a:p>
                  </a:txBody>
                  <a:tcPr anchor="ctr"/>
                </a:tc>
                <a:tc>
                  <a:txBody>
                    <a:bodyPr/>
                    <a:lstStyle/>
                    <a:p>
                      <a:pPr algn="ctr"/>
                      <a:r>
                        <a:rPr lang="th-TH" sz="1050" dirty="0">
                          <a:latin typeface="BLS Text" panose="00000500000000000000" pitchFamily="2" charset="-34"/>
                          <a:cs typeface="BLS Text" panose="00000500000000000000" pitchFamily="2" charset="-34"/>
                        </a:rPr>
                        <a:t>ลดลง </a:t>
                      </a:r>
                      <a:r>
                        <a:rPr lang="en-US" sz="1050" dirty="0">
                          <a:latin typeface="BLS Text" panose="00000500000000000000" pitchFamily="2" charset="-34"/>
                          <a:cs typeface="BLS Text" panose="00000500000000000000" pitchFamily="2" charset="-34"/>
                        </a:rPr>
                        <a:t>&gt;</a:t>
                      </a:r>
                      <a:r>
                        <a:rPr lang="th-TH" sz="1050" dirty="0">
                          <a:latin typeface="BLS Text" panose="00000500000000000000" pitchFamily="2" charset="-34"/>
                          <a:cs typeface="BLS Text" panose="00000500000000000000" pitchFamily="2" charset="-34"/>
                        </a:rPr>
                        <a:t> </a:t>
                      </a:r>
                      <a:r>
                        <a:rPr lang="en-US" sz="1050" dirty="0">
                          <a:latin typeface="BLS Text" panose="00000500000000000000" pitchFamily="2" charset="-34"/>
                          <a:cs typeface="BLS Text" panose="00000500000000000000" pitchFamily="2" charset="-34"/>
                        </a:rPr>
                        <a:t>4</a:t>
                      </a:r>
                      <a:r>
                        <a:rPr lang="th-TH" sz="1050" dirty="0">
                          <a:latin typeface="BLS Text" panose="00000500000000000000" pitchFamily="2" charset="-34"/>
                          <a:cs typeface="BLS Text" panose="00000500000000000000" pitchFamily="2" charset="-34"/>
                        </a:rPr>
                        <a:t>.</a:t>
                      </a:r>
                      <a:r>
                        <a:rPr lang="en-US" sz="1050" dirty="0">
                          <a:latin typeface="BLS Text" panose="00000500000000000000" pitchFamily="2" charset="-34"/>
                          <a:cs typeface="BLS Text" panose="00000500000000000000" pitchFamily="2" charset="-34"/>
                        </a:rPr>
                        <a:t>0%</a:t>
                      </a:r>
                    </a:p>
                  </a:txBody>
                  <a:tcPr anchor="ctr"/>
                </a:tc>
                <a:extLst>
                  <a:ext uri="{0D108BD9-81ED-4DB2-BD59-A6C34878D82A}">
                    <a16:rowId xmlns:a16="http://schemas.microsoft.com/office/drawing/2014/main" val="2505944984"/>
                  </a:ext>
                </a:extLst>
              </a:tr>
              <a:tr h="483715">
                <a:tc>
                  <a:txBody>
                    <a:bodyPr/>
                    <a:lstStyle/>
                    <a:p>
                      <a:pPr algn="ctr"/>
                      <a:r>
                        <a:rPr lang="en-US" sz="1050" dirty="0">
                          <a:solidFill>
                            <a:schemeClr val="tx1"/>
                          </a:solidFill>
                          <a:latin typeface="BLS Text" panose="00000500000000000000" pitchFamily="2" charset="-34"/>
                          <a:cs typeface="BLS Text" panose="00000500000000000000" pitchFamily="2" charset="-34"/>
                        </a:rPr>
                        <a:t>SET EPS 2026</a:t>
                      </a:r>
                    </a:p>
                    <a:p>
                      <a:pPr algn="ctr"/>
                      <a:r>
                        <a:rPr lang="en-US" sz="1050" dirty="0">
                          <a:solidFill>
                            <a:schemeClr val="tx1"/>
                          </a:solidFill>
                          <a:latin typeface="BLS Text" panose="00000500000000000000" pitchFamily="2" charset="-34"/>
                          <a:cs typeface="BLS Text" panose="00000500000000000000" pitchFamily="2" charset="-34"/>
                        </a:rPr>
                        <a:t>(growth)</a:t>
                      </a:r>
                    </a:p>
                  </a:txBody>
                  <a:tcPr anchor="ctr"/>
                </a:tc>
                <a:tc>
                  <a:txBody>
                    <a:bodyPr/>
                    <a:lstStyle/>
                    <a:p>
                      <a:pPr algn="ctr"/>
                      <a:r>
                        <a:rPr lang="en-US" sz="1050" dirty="0">
                          <a:solidFill>
                            <a:schemeClr val="tx1"/>
                          </a:solidFill>
                          <a:latin typeface="BLS Text" panose="00000500000000000000" pitchFamily="2" charset="-34"/>
                          <a:cs typeface="BLS Text" panose="00000500000000000000" pitchFamily="2" charset="-34"/>
                        </a:rPr>
                        <a:t>9</a:t>
                      </a:r>
                      <a:r>
                        <a:rPr lang="th-TH" sz="1050" dirty="0">
                          <a:solidFill>
                            <a:schemeClr val="tx1"/>
                          </a:solidFill>
                          <a:latin typeface="BLS Text" panose="00000500000000000000" pitchFamily="2" charset="-34"/>
                          <a:cs typeface="BLS Text" panose="00000500000000000000" pitchFamily="2" charset="-34"/>
                        </a:rPr>
                        <a:t>2.0</a:t>
                      </a:r>
                      <a:r>
                        <a:rPr lang="en-US" sz="1050" dirty="0">
                          <a:solidFill>
                            <a:schemeClr val="tx1"/>
                          </a:solidFill>
                          <a:latin typeface="BLS Text" panose="00000500000000000000" pitchFamily="2" charset="-34"/>
                          <a:cs typeface="BLS Text" panose="00000500000000000000" pitchFamily="2" charset="-34"/>
                        </a:rPr>
                        <a:t> – 9</a:t>
                      </a:r>
                      <a:r>
                        <a:rPr lang="th-TH" sz="1050" dirty="0">
                          <a:solidFill>
                            <a:schemeClr val="tx1"/>
                          </a:solidFill>
                          <a:latin typeface="BLS Text" panose="00000500000000000000" pitchFamily="2" charset="-34"/>
                          <a:cs typeface="BLS Text" panose="00000500000000000000" pitchFamily="2" charset="-34"/>
                        </a:rPr>
                        <a:t>2</a:t>
                      </a:r>
                      <a:r>
                        <a:rPr lang="en-US" sz="1050" dirty="0">
                          <a:solidFill>
                            <a:schemeClr val="tx1"/>
                          </a:solidFill>
                          <a:latin typeface="BLS Text" panose="00000500000000000000" pitchFamily="2" charset="-34"/>
                          <a:cs typeface="BLS Text" panose="00000500000000000000" pitchFamily="2" charset="-34"/>
                        </a:rPr>
                        <a:t>.</a:t>
                      </a:r>
                      <a:r>
                        <a:rPr lang="th-TH" sz="1050" dirty="0">
                          <a:solidFill>
                            <a:schemeClr val="tx1"/>
                          </a:solidFill>
                          <a:latin typeface="BLS Text" panose="00000500000000000000" pitchFamily="2" charset="-34"/>
                          <a:cs typeface="BLS Text" panose="00000500000000000000" pitchFamily="2" charset="-34"/>
                        </a:rPr>
                        <a:t>5</a:t>
                      </a:r>
                      <a:endParaRPr lang="en-US" sz="1050" dirty="0">
                        <a:solidFill>
                          <a:schemeClr val="tx1"/>
                        </a:solidFill>
                        <a:latin typeface="BLS Text" panose="00000500000000000000" pitchFamily="2" charset="-34"/>
                        <a:cs typeface="BLS Text" panose="00000500000000000000" pitchFamily="2" charset="-34"/>
                      </a:endParaRPr>
                    </a:p>
                    <a:p>
                      <a:pPr algn="ctr"/>
                      <a:r>
                        <a:rPr lang="en-US" sz="1000" dirty="0">
                          <a:solidFill>
                            <a:schemeClr val="tx1"/>
                          </a:solidFill>
                          <a:latin typeface="BLS Text" panose="00000500000000000000" pitchFamily="2" charset="-34"/>
                          <a:cs typeface="BLS Text" panose="00000500000000000000" pitchFamily="2" charset="-34"/>
                        </a:rPr>
                        <a:t>(+0</a:t>
                      </a:r>
                      <a:r>
                        <a:rPr lang="th-TH" sz="1000" dirty="0">
                          <a:solidFill>
                            <a:schemeClr val="tx1"/>
                          </a:solidFill>
                          <a:latin typeface="BLS Text" panose="00000500000000000000" pitchFamily="2" charset="-34"/>
                          <a:cs typeface="BLS Text" panose="00000500000000000000" pitchFamily="2" charset="-34"/>
                        </a:rPr>
                        <a:t>.</a:t>
                      </a:r>
                      <a:r>
                        <a:rPr lang="en-US" sz="1000" dirty="0">
                          <a:solidFill>
                            <a:schemeClr val="tx1"/>
                          </a:solidFill>
                          <a:latin typeface="BLS Text" panose="00000500000000000000" pitchFamily="2" charset="-34"/>
                          <a:cs typeface="BLS Text" panose="00000500000000000000" pitchFamily="2" charset="-34"/>
                        </a:rPr>
                        <a:t>5% </a:t>
                      </a:r>
                      <a:r>
                        <a:rPr lang="th-TH" sz="1000" dirty="0">
                          <a:solidFill>
                            <a:schemeClr val="tx1"/>
                          </a:solidFill>
                          <a:latin typeface="BLS Text" panose="00000500000000000000" pitchFamily="2" charset="-34"/>
                          <a:cs typeface="BLS Text" panose="00000500000000000000" pitchFamily="2" charset="-34"/>
                        </a:rPr>
                        <a:t>ถึง</a:t>
                      </a:r>
                      <a:r>
                        <a:rPr lang="en-US" sz="1000" dirty="0">
                          <a:solidFill>
                            <a:schemeClr val="tx1"/>
                          </a:solidFill>
                          <a:latin typeface="BLS Text" panose="00000500000000000000" pitchFamily="2" charset="-34"/>
                          <a:cs typeface="BLS Text" panose="00000500000000000000" pitchFamily="2" charset="-34"/>
                        </a:rPr>
                        <a:t> </a:t>
                      </a:r>
                      <a:r>
                        <a:rPr lang="th-TH" sz="1000" dirty="0">
                          <a:solidFill>
                            <a:schemeClr val="tx1"/>
                          </a:solidFill>
                          <a:latin typeface="BLS Text" panose="00000500000000000000" pitchFamily="2" charset="-34"/>
                          <a:cs typeface="BLS Text" panose="00000500000000000000" pitchFamily="2" charset="-34"/>
                        </a:rPr>
                        <a:t>+</a:t>
                      </a:r>
                      <a:r>
                        <a:rPr lang="en-US" sz="1000" dirty="0">
                          <a:solidFill>
                            <a:schemeClr val="tx1"/>
                          </a:solidFill>
                          <a:latin typeface="BLS Text" panose="00000500000000000000" pitchFamily="2" charset="-34"/>
                          <a:cs typeface="BLS Text" panose="00000500000000000000" pitchFamily="2" charset="-34"/>
                        </a:rPr>
                        <a:t>1.0%)</a:t>
                      </a:r>
                    </a:p>
                  </a:txBody>
                  <a:tcPr anchor="ctr"/>
                </a:tc>
                <a:tc>
                  <a:txBody>
                    <a:bodyPr/>
                    <a:lstStyle/>
                    <a:p>
                      <a:pPr algn="ctr"/>
                      <a:r>
                        <a:rPr lang="en-US" sz="1050" dirty="0">
                          <a:solidFill>
                            <a:schemeClr val="tx1"/>
                          </a:solidFill>
                          <a:latin typeface="BLS Text" panose="00000500000000000000" pitchFamily="2" charset="-34"/>
                          <a:cs typeface="BLS Text" panose="00000500000000000000" pitchFamily="2" charset="-34"/>
                        </a:rPr>
                        <a:t>90.0 – </a:t>
                      </a:r>
                      <a:r>
                        <a:rPr lang="th-TH" sz="1050" dirty="0">
                          <a:solidFill>
                            <a:schemeClr val="tx1"/>
                          </a:solidFill>
                          <a:latin typeface="BLS Text" panose="00000500000000000000" pitchFamily="2" charset="-34"/>
                          <a:cs typeface="BLS Text" panose="00000500000000000000" pitchFamily="2" charset="-34"/>
                        </a:rPr>
                        <a:t>9</a:t>
                      </a:r>
                      <a:r>
                        <a:rPr lang="en-US" sz="1050" dirty="0">
                          <a:solidFill>
                            <a:schemeClr val="tx1"/>
                          </a:solidFill>
                          <a:latin typeface="BLS Text" panose="00000500000000000000" pitchFamily="2" charset="-34"/>
                          <a:cs typeface="BLS Text" panose="00000500000000000000" pitchFamily="2" charset="-34"/>
                        </a:rPr>
                        <a:t>0.5 </a:t>
                      </a:r>
                    </a:p>
                    <a:p>
                      <a:pPr algn="ctr"/>
                      <a:r>
                        <a:rPr lang="en-US" sz="1000" dirty="0">
                          <a:solidFill>
                            <a:schemeClr val="tx1"/>
                          </a:solidFill>
                          <a:latin typeface="BLS Text" panose="00000500000000000000" pitchFamily="2" charset="-34"/>
                          <a:cs typeface="BLS Text" panose="00000500000000000000" pitchFamily="2" charset="-34"/>
                        </a:rPr>
                        <a:t>(</a:t>
                      </a:r>
                      <a:r>
                        <a:rPr lang="th-TH" sz="1000" dirty="0">
                          <a:solidFill>
                            <a:schemeClr val="tx1"/>
                          </a:solidFill>
                          <a:latin typeface="BLS Text" panose="00000500000000000000" pitchFamily="2" charset="-34"/>
                          <a:cs typeface="BLS Text" panose="00000500000000000000" pitchFamily="2" charset="-34"/>
                        </a:rPr>
                        <a:t>-</a:t>
                      </a:r>
                      <a:r>
                        <a:rPr lang="en-US" sz="1000" dirty="0">
                          <a:solidFill>
                            <a:schemeClr val="tx1"/>
                          </a:solidFill>
                          <a:latin typeface="BLS Text" panose="00000500000000000000" pitchFamily="2" charset="-34"/>
                          <a:cs typeface="BLS Text" panose="00000500000000000000" pitchFamily="2" charset="-34"/>
                        </a:rPr>
                        <a:t>1</a:t>
                      </a:r>
                      <a:r>
                        <a:rPr lang="th-TH" sz="1000" dirty="0">
                          <a:solidFill>
                            <a:schemeClr val="tx1"/>
                          </a:solidFill>
                          <a:latin typeface="BLS Text" panose="00000500000000000000" pitchFamily="2" charset="-34"/>
                          <a:cs typeface="BLS Text" panose="00000500000000000000" pitchFamily="2" charset="-34"/>
                        </a:rPr>
                        <a:t>.</a:t>
                      </a:r>
                      <a:r>
                        <a:rPr lang="en-US" sz="1000" dirty="0">
                          <a:solidFill>
                            <a:schemeClr val="tx1"/>
                          </a:solidFill>
                          <a:latin typeface="BLS Text" panose="00000500000000000000" pitchFamily="2" charset="-34"/>
                          <a:cs typeface="BLS Text" panose="00000500000000000000" pitchFamily="2" charset="-34"/>
                        </a:rPr>
                        <a:t>1% </a:t>
                      </a:r>
                      <a:r>
                        <a:rPr lang="th-TH" sz="1000" dirty="0">
                          <a:solidFill>
                            <a:schemeClr val="tx1"/>
                          </a:solidFill>
                          <a:latin typeface="BLS Text" panose="00000500000000000000" pitchFamily="2" charset="-34"/>
                          <a:cs typeface="BLS Text" panose="00000500000000000000" pitchFamily="2" charset="-34"/>
                        </a:rPr>
                        <a:t>ถึง</a:t>
                      </a:r>
                      <a:r>
                        <a:rPr lang="en-US" sz="1000" dirty="0">
                          <a:solidFill>
                            <a:schemeClr val="tx1"/>
                          </a:solidFill>
                          <a:latin typeface="BLS Text" panose="00000500000000000000" pitchFamily="2" charset="-34"/>
                          <a:cs typeface="BLS Text" panose="00000500000000000000" pitchFamily="2" charset="-34"/>
                        </a:rPr>
                        <a:t> -0.5%)</a:t>
                      </a:r>
                    </a:p>
                  </a:txBody>
                  <a:tcPr anchor="ctr"/>
                </a:tc>
                <a:tc>
                  <a:txBody>
                    <a:bodyPr/>
                    <a:lstStyle/>
                    <a:p>
                      <a:pPr algn="ctr"/>
                      <a:r>
                        <a:rPr lang="th-TH" sz="1050" dirty="0">
                          <a:solidFill>
                            <a:schemeClr val="tx1"/>
                          </a:solidFill>
                          <a:latin typeface="BLS Text" panose="00000500000000000000" pitchFamily="2" charset="-34"/>
                          <a:cs typeface="BLS Text" panose="00000500000000000000" pitchFamily="2" charset="-34"/>
                        </a:rPr>
                        <a:t>8</a:t>
                      </a:r>
                      <a:r>
                        <a:rPr lang="en-US" sz="1050" dirty="0">
                          <a:solidFill>
                            <a:schemeClr val="tx1"/>
                          </a:solidFill>
                          <a:latin typeface="BLS Text" panose="00000500000000000000" pitchFamily="2" charset="-34"/>
                          <a:cs typeface="BLS Text" panose="00000500000000000000" pitchFamily="2" charset="-34"/>
                        </a:rPr>
                        <a:t>9.5</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1000" dirty="0">
                          <a:solidFill>
                            <a:schemeClr val="tx1"/>
                          </a:solidFill>
                          <a:latin typeface="BLS Text" panose="00000500000000000000" pitchFamily="2" charset="-34"/>
                          <a:cs typeface="BLS Text" panose="00000500000000000000" pitchFamily="2" charset="-34"/>
                        </a:rPr>
                        <a:t>(</a:t>
                      </a:r>
                      <a:r>
                        <a:rPr lang="th-TH" sz="1000" dirty="0">
                          <a:solidFill>
                            <a:schemeClr val="tx1"/>
                          </a:solidFill>
                          <a:latin typeface="BLS Text" panose="00000500000000000000" pitchFamily="2" charset="-34"/>
                          <a:cs typeface="BLS Text" panose="00000500000000000000" pitchFamily="2" charset="-34"/>
                        </a:rPr>
                        <a:t>หดตัวมากกว่า </a:t>
                      </a:r>
                      <a:r>
                        <a:rPr lang="en-US" sz="1000" dirty="0">
                          <a:solidFill>
                            <a:schemeClr val="tx1"/>
                          </a:solidFill>
                          <a:latin typeface="BLS Text" panose="00000500000000000000" pitchFamily="2" charset="-34"/>
                          <a:cs typeface="BLS Text" panose="00000500000000000000" pitchFamily="2" charset="-34"/>
                        </a:rPr>
                        <a:t>-2.0%)</a:t>
                      </a:r>
                    </a:p>
                  </a:txBody>
                  <a:tcPr anchor="ctr"/>
                </a:tc>
                <a:extLst>
                  <a:ext uri="{0D108BD9-81ED-4DB2-BD59-A6C34878D82A}">
                    <a16:rowId xmlns:a16="http://schemas.microsoft.com/office/drawing/2014/main" val="1430803609"/>
                  </a:ext>
                </a:extLst>
              </a:tr>
              <a:tr h="627038">
                <a:tc>
                  <a:txBody>
                    <a:bodyPr/>
                    <a:lstStyle/>
                    <a:p>
                      <a:pPr algn="ctr"/>
                      <a:r>
                        <a:rPr lang="en-US" sz="1050" dirty="0">
                          <a:solidFill>
                            <a:schemeClr val="tx1"/>
                          </a:solidFill>
                          <a:latin typeface="BLS Text" panose="00000500000000000000" pitchFamily="2" charset="-34"/>
                          <a:cs typeface="BLS Text" panose="00000500000000000000" pitchFamily="2" charset="-34"/>
                        </a:rPr>
                        <a:t>SET target</a:t>
                      </a:r>
                      <a:r>
                        <a:rPr lang="th-TH" sz="1050" dirty="0">
                          <a:solidFill>
                            <a:schemeClr val="tx1"/>
                          </a:solidFill>
                          <a:latin typeface="BLS Text" panose="00000500000000000000" pitchFamily="2" charset="-34"/>
                          <a:cs typeface="BLS Text" panose="00000500000000000000" pitchFamily="2" charset="-34"/>
                        </a:rPr>
                        <a:t> </a:t>
                      </a:r>
                      <a:endParaRPr lang="en-US" sz="1050" dirty="0">
                        <a:solidFill>
                          <a:schemeClr val="tx1"/>
                        </a:solidFill>
                        <a:latin typeface="BLS Text" panose="00000500000000000000" pitchFamily="2" charset="-34"/>
                        <a:cs typeface="BLS Text" panose="00000500000000000000" pitchFamily="2" charset="-34"/>
                      </a:endParaRPr>
                    </a:p>
                  </a:txBody>
                  <a:tcPr anchor="ctr"/>
                </a:tc>
                <a:tc>
                  <a:txBody>
                    <a:bodyPr/>
                    <a:lstStyle/>
                    <a:p>
                      <a:pPr algn="ctr"/>
                      <a:r>
                        <a:rPr lang="en-US" sz="1050" b="1" dirty="0">
                          <a:solidFill>
                            <a:schemeClr val="tx1"/>
                          </a:solidFill>
                          <a:latin typeface="BLS Text" panose="00000500000000000000" pitchFamily="2" charset="-34"/>
                          <a:cs typeface="BLS Text" panose="00000500000000000000" pitchFamily="2" charset="-34"/>
                        </a:rPr>
                        <a:t>15</a:t>
                      </a:r>
                      <a:r>
                        <a:rPr lang="th-TH" sz="1050" b="1" dirty="0">
                          <a:solidFill>
                            <a:schemeClr val="tx1"/>
                          </a:solidFill>
                          <a:latin typeface="BLS Text" panose="00000500000000000000" pitchFamily="2" charset="-34"/>
                          <a:cs typeface="BLS Text" panose="00000500000000000000" pitchFamily="2" charset="-34"/>
                        </a:rPr>
                        <a:t>40</a:t>
                      </a:r>
                      <a:r>
                        <a:rPr lang="en-US" sz="1050" b="1" dirty="0">
                          <a:solidFill>
                            <a:schemeClr val="tx1"/>
                          </a:solidFill>
                          <a:latin typeface="BLS Text" panose="00000500000000000000" pitchFamily="2" charset="-34"/>
                          <a:cs typeface="BLS Text" panose="00000500000000000000" pitchFamily="2" charset="-34"/>
                        </a:rPr>
                        <a:t>-15</a:t>
                      </a:r>
                      <a:r>
                        <a:rPr lang="th-TH" sz="1050" b="1" dirty="0">
                          <a:solidFill>
                            <a:schemeClr val="tx1"/>
                          </a:solidFill>
                          <a:latin typeface="BLS Text" panose="00000500000000000000" pitchFamily="2" charset="-34"/>
                          <a:cs typeface="BLS Text" panose="00000500000000000000" pitchFamily="2" charset="-34"/>
                        </a:rPr>
                        <a:t>50</a:t>
                      </a:r>
                      <a:endParaRPr lang="en-US" sz="1050" b="1" dirty="0">
                        <a:solidFill>
                          <a:schemeClr val="tx1"/>
                        </a:solidFill>
                        <a:latin typeface="BLS Text" panose="00000500000000000000" pitchFamily="2" charset="-34"/>
                        <a:cs typeface="BLS Text" panose="00000500000000000000" pitchFamily="2" charset="-34"/>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latin typeface="BLS Text" panose="00000500000000000000" pitchFamily="2" charset="-34"/>
                          <a:cs typeface="BLS Text" panose="00000500000000000000" pitchFamily="2" charset="-34"/>
                        </a:rPr>
                        <a:t>(PER 16.7x, 10yr mean)</a:t>
                      </a:r>
                    </a:p>
                  </a:txBody>
                  <a:tcPr anchor="ctr"/>
                </a:tc>
                <a:tc>
                  <a:txBody>
                    <a:bodyPr/>
                    <a:lstStyle/>
                    <a:p>
                      <a:pPr algn="ctr"/>
                      <a:r>
                        <a:rPr lang="th-TH" sz="1050" b="1" dirty="0">
                          <a:solidFill>
                            <a:schemeClr val="accent3"/>
                          </a:solidFill>
                          <a:latin typeface="BLS Text" panose="00000500000000000000" pitchFamily="2" charset="-34"/>
                          <a:cs typeface="BLS Text" panose="00000500000000000000" pitchFamily="2" charset="-34"/>
                        </a:rPr>
                        <a:t>ประเมิน </a:t>
                      </a:r>
                      <a:r>
                        <a:rPr lang="en-US" sz="1050" b="1" dirty="0">
                          <a:solidFill>
                            <a:schemeClr val="accent3"/>
                          </a:solidFill>
                          <a:latin typeface="BLS Text" panose="00000500000000000000" pitchFamily="2" charset="-34"/>
                          <a:cs typeface="BLS Text" panose="00000500000000000000" pitchFamily="2" charset="-34"/>
                        </a:rPr>
                        <a:t>downside</a:t>
                      </a:r>
                    </a:p>
                    <a:p>
                      <a:pPr algn="ctr"/>
                      <a:r>
                        <a:rPr lang="en-US" sz="1050" b="1" dirty="0">
                          <a:solidFill>
                            <a:schemeClr val="accent3"/>
                          </a:solidFill>
                          <a:latin typeface="BLS Text" panose="00000500000000000000" pitchFamily="2" charset="-34"/>
                          <a:cs typeface="BLS Text" panose="00000500000000000000" pitchFamily="2" charset="-34"/>
                        </a:rPr>
                        <a:t>1</a:t>
                      </a:r>
                      <a:r>
                        <a:rPr lang="th-TH" sz="1050" b="1" dirty="0">
                          <a:solidFill>
                            <a:schemeClr val="accent3"/>
                          </a:solidFill>
                          <a:latin typeface="BLS Text" panose="00000500000000000000" pitchFamily="2" charset="-34"/>
                          <a:cs typeface="BLS Text" panose="00000500000000000000" pitchFamily="2" charset="-34"/>
                        </a:rPr>
                        <a:t>3</a:t>
                      </a:r>
                      <a:r>
                        <a:rPr lang="en-US" sz="1050" b="1" dirty="0">
                          <a:solidFill>
                            <a:schemeClr val="accent3"/>
                          </a:solidFill>
                          <a:latin typeface="BLS Text" panose="00000500000000000000" pitchFamily="2" charset="-34"/>
                          <a:cs typeface="BLS Text" panose="00000500000000000000" pitchFamily="2" charset="-34"/>
                        </a:rPr>
                        <a:t>30-1340</a:t>
                      </a: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latin typeface="BLS Text" panose="00000500000000000000" pitchFamily="2" charset="-34"/>
                          <a:cs typeface="BLS Text" panose="00000500000000000000" pitchFamily="2" charset="-34"/>
                        </a:rPr>
                        <a:t>(PER 14.8x, -0.75SD)</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h-TH" sz="1050" dirty="0">
                          <a:solidFill>
                            <a:schemeClr val="tx1"/>
                          </a:solidFill>
                          <a:latin typeface="BLS Text" panose="00000500000000000000" pitchFamily="2" charset="-34"/>
                          <a:cs typeface="BLS Text" panose="00000500000000000000" pitchFamily="2" charset="-34"/>
                        </a:rPr>
                        <a:t>ต่ำกว่า </a:t>
                      </a:r>
                      <a:r>
                        <a:rPr lang="en-US" sz="1050" dirty="0">
                          <a:solidFill>
                            <a:schemeClr val="tx1"/>
                          </a:solidFill>
                          <a:latin typeface="BLS Text" panose="00000500000000000000" pitchFamily="2" charset="-34"/>
                          <a:cs typeface="BLS Text" panose="00000500000000000000" pitchFamily="2" charset="-34"/>
                        </a:rPr>
                        <a:t>1</a:t>
                      </a:r>
                      <a:r>
                        <a:rPr lang="th-TH" sz="1050" dirty="0">
                          <a:solidFill>
                            <a:schemeClr val="tx1"/>
                          </a:solidFill>
                          <a:latin typeface="BLS Text" panose="00000500000000000000" pitchFamily="2" charset="-34"/>
                          <a:cs typeface="BLS Text" panose="00000500000000000000" pitchFamily="2" charset="-34"/>
                        </a:rPr>
                        <a:t>300</a:t>
                      </a:r>
                      <a:endParaRPr lang="en-US" sz="1050" dirty="0">
                        <a:solidFill>
                          <a:schemeClr val="tx1"/>
                        </a:solidFill>
                        <a:latin typeface="BLS Text" panose="00000500000000000000" pitchFamily="2" charset="-34"/>
                        <a:cs typeface="BLS Text" panose="00000500000000000000" pitchFamily="2" charset="-34"/>
                      </a:endParaRPr>
                    </a:p>
                    <a:p>
                      <a:pPr marL="0" marR="0" lvl="0" indent="0" algn="ctr" defTabSz="914400" rtl="0" eaLnBrk="1" fontAlgn="auto" latinLnBrk="0" hangingPunct="1">
                        <a:lnSpc>
                          <a:spcPct val="100000"/>
                        </a:lnSpc>
                        <a:spcBef>
                          <a:spcPts val="0"/>
                        </a:spcBef>
                        <a:spcAft>
                          <a:spcPts val="0"/>
                        </a:spcAft>
                        <a:buClrTx/>
                        <a:buSzTx/>
                        <a:buFontTx/>
                        <a:buNone/>
                        <a:tabLst/>
                        <a:defRPr/>
                      </a:pPr>
                      <a:r>
                        <a:rPr lang="en-US" sz="800" dirty="0">
                          <a:solidFill>
                            <a:schemeClr val="tx1"/>
                          </a:solidFill>
                          <a:latin typeface="BLS Text" panose="00000500000000000000" pitchFamily="2" charset="-34"/>
                          <a:cs typeface="BLS Text" panose="00000500000000000000" pitchFamily="2" charset="-34"/>
                        </a:rPr>
                        <a:t>(PER 14.8x, -0.75SD)</a:t>
                      </a:r>
                    </a:p>
                  </a:txBody>
                  <a:tcPr anchor="ctr"/>
                </a:tc>
                <a:extLst>
                  <a:ext uri="{0D108BD9-81ED-4DB2-BD59-A6C34878D82A}">
                    <a16:rowId xmlns:a16="http://schemas.microsoft.com/office/drawing/2014/main" val="3708081757"/>
                  </a:ext>
                </a:extLst>
              </a:tr>
            </a:tbl>
          </a:graphicData>
        </a:graphic>
      </p:graphicFrame>
    </p:spTree>
    <p:extLst>
      <p:ext uri="{BB962C8B-B14F-4D97-AF65-F5344CB8AC3E}">
        <p14:creationId xmlns:p14="http://schemas.microsoft.com/office/powerpoint/2010/main" val="33573898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8602"/>
          <a:stretch/>
        </p:blipFill>
        <p:spPr>
          <a:xfrm>
            <a:off x="0" y="0"/>
            <a:ext cx="6858000" cy="8689302"/>
          </a:xfrm>
          <a:prstGeom prst="rect">
            <a:avLst/>
          </a:prstGeom>
        </p:spPr>
      </p:pic>
      <p:sp>
        <p:nvSpPr>
          <p:cNvPr id="19" name="TextBox 18">
            <a:extLst>
              <a:ext uri="{FF2B5EF4-FFF2-40B4-BE49-F238E27FC236}">
                <a16:creationId xmlns:a16="http://schemas.microsoft.com/office/drawing/2014/main" id="{01D3EDA3-679C-BA8B-9EDE-9A31378F2861}"/>
              </a:ext>
            </a:extLst>
          </p:cNvPr>
          <p:cNvSpPr txBox="1"/>
          <p:nvPr/>
        </p:nvSpPr>
        <p:spPr>
          <a:xfrm>
            <a:off x="658256" y="2695311"/>
            <a:ext cx="72008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12 ธ.ค. </a:t>
            </a:r>
          </a:p>
        </p:txBody>
      </p:sp>
      <p:sp>
        <p:nvSpPr>
          <p:cNvPr id="20" name="TextBox 19">
            <a:extLst>
              <a:ext uri="{FF2B5EF4-FFF2-40B4-BE49-F238E27FC236}">
                <a16:creationId xmlns:a16="http://schemas.microsoft.com/office/drawing/2014/main" id="{FC28B75D-C3AA-F0C5-6200-83DB873637CB}"/>
              </a:ext>
            </a:extLst>
          </p:cNvPr>
          <p:cNvSpPr txBox="1"/>
          <p:nvPr/>
        </p:nvSpPr>
        <p:spPr>
          <a:xfrm>
            <a:off x="531946" y="2687137"/>
            <a:ext cx="904643"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ราชกิจจาประกาศยุบสภา</a:t>
            </a:r>
          </a:p>
        </p:txBody>
      </p:sp>
      <p:sp>
        <p:nvSpPr>
          <p:cNvPr id="21" name="TextBox 20">
            <a:extLst>
              <a:ext uri="{FF2B5EF4-FFF2-40B4-BE49-F238E27FC236}">
                <a16:creationId xmlns:a16="http://schemas.microsoft.com/office/drawing/2014/main" id="{C1FE4F51-5E04-9485-3236-75E85E050C64}"/>
              </a:ext>
            </a:extLst>
          </p:cNvPr>
          <p:cNvSpPr txBox="1"/>
          <p:nvPr/>
        </p:nvSpPr>
        <p:spPr>
          <a:xfrm>
            <a:off x="1497212" y="2695311"/>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13-17 ธ.ค.</a:t>
            </a:r>
          </a:p>
        </p:txBody>
      </p:sp>
      <p:sp>
        <p:nvSpPr>
          <p:cNvPr id="25" name="TextBox 24">
            <a:extLst>
              <a:ext uri="{FF2B5EF4-FFF2-40B4-BE49-F238E27FC236}">
                <a16:creationId xmlns:a16="http://schemas.microsoft.com/office/drawing/2014/main" id="{D3C2255B-69C2-3386-D320-629A8A4034DA}"/>
              </a:ext>
            </a:extLst>
          </p:cNvPr>
          <p:cNvSpPr txBox="1"/>
          <p:nvPr/>
        </p:nvSpPr>
        <p:spPr>
          <a:xfrm>
            <a:off x="2319090" y="2695311"/>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20-28 ธ.ค.</a:t>
            </a:r>
          </a:p>
        </p:txBody>
      </p:sp>
      <p:sp>
        <p:nvSpPr>
          <p:cNvPr id="30" name="TextBox 29">
            <a:extLst>
              <a:ext uri="{FF2B5EF4-FFF2-40B4-BE49-F238E27FC236}">
                <a16:creationId xmlns:a16="http://schemas.microsoft.com/office/drawing/2014/main" id="{5E822032-D7A4-8CF4-B820-3F60B01D58F8}"/>
              </a:ext>
            </a:extLst>
          </p:cNvPr>
          <p:cNvSpPr txBox="1"/>
          <p:nvPr/>
        </p:nvSpPr>
        <p:spPr>
          <a:xfrm>
            <a:off x="1484784" y="2687137"/>
            <a:ext cx="72008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ประกาศวันเลือกตั้ง</a:t>
            </a:r>
          </a:p>
        </p:txBody>
      </p:sp>
      <p:sp>
        <p:nvSpPr>
          <p:cNvPr id="32" name="TextBox 31">
            <a:extLst>
              <a:ext uri="{FF2B5EF4-FFF2-40B4-BE49-F238E27FC236}">
                <a16:creationId xmlns:a16="http://schemas.microsoft.com/office/drawing/2014/main" id="{745AAF70-D983-7504-39C7-037FE66D73A6}"/>
              </a:ext>
            </a:extLst>
          </p:cNvPr>
          <p:cNvSpPr txBox="1"/>
          <p:nvPr/>
        </p:nvSpPr>
        <p:spPr>
          <a:xfrm>
            <a:off x="2276872" y="2683242"/>
            <a:ext cx="77966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พรรคส่งผู้สมัคร ส.ส.</a:t>
            </a:r>
          </a:p>
        </p:txBody>
      </p:sp>
      <p:sp>
        <p:nvSpPr>
          <p:cNvPr id="35" name="TextBox 34">
            <a:extLst>
              <a:ext uri="{FF2B5EF4-FFF2-40B4-BE49-F238E27FC236}">
                <a16:creationId xmlns:a16="http://schemas.microsoft.com/office/drawing/2014/main" id="{3B782CAF-F939-A52B-3801-9742737BB1B9}"/>
              </a:ext>
            </a:extLst>
          </p:cNvPr>
          <p:cNvSpPr txBox="1"/>
          <p:nvPr/>
        </p:nvSpPr>
        <p:spPr>
          <a:xfrm>
            <a:off x="3810726" y="2712883"/>
            <a:ext cx="878577"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 ส.ส. อย่างทางการ</a:t>
            </a:r>
          </a:p>
        </p:txBody>
      </p:sp>
      <p:sp>
        <p:nvSpPr>
          <p:cNvPr id="36" name="TextBox 35">
            <a:extLst>
              <a:ext uri="{FF2B5EF4-FFF2-40B4-BE49-F238E27FC236}">
                <a16:creationId xmlns:a16="http://schemas.microsoft.com/office/drawing/2014/main" id="{1A9E9AAC-6A37-023B-CB7D-D641133919A7}"/>
              </a:ext>
            </a:extLst>
          </p:cNvPr>
          <p:cNvSpPr txBox="1"/>
          <p:nvPr/>
        </p:nvSpPr>
        <p:spPr>
          <a:xfrm>
            <a:off x="4590386" y="2703886"/>
            <a:ext cx="1125089"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เลือกนายก/แต่งตั้งคณะรัฐมนตรี</a:t>
            </a:r>
          </a:p>
        </p:txBody>
      </p:sp>
      <p:sp>
        <p:nvSpPr>
          <p:cNvPr id="2" name="TextBox 1">
            <a:extLst>
              <a:ext uri="{FF2B5EF4-FFF2-40B4-BE49-F238E27FC236}">
                <a16:creationId xmlns:a16="http://schemas.microsoft.com/office/drawing/2014/main" id="{9E85ABDE-7CE6-F0E6-1824-B9305003B1AB}"/>
              </a:ext>
            </a:extLst>
          </p:cNvPr>
          <p:cNvSpPr txBox="1"/>
          <p:nvPr/>
        </p:nvSpPr>
        <p:spPr>
          <a:xfrm>
            <a:off x="188640" y="1835696"/>
            <a:ext cx="3164970" cy="1200329"/>
          </a:xfrm>
          <a:prstGeom prst="rect">
            <a:avLst/>
          </a:prstGeom>
          <a:solidFill>
            <a:srgbClr val="EDEDED">
              <a:alpha val="60000"/>
            </a:srgbClr>
          </a:solidFill>
          <a:ln>
            <a:noFill/>
          </a:ln>
        </p:spPr>
        <p:txBody>
          <a:bodyPr wrap="square" rtlCol="0">
            <a:spAutoFit/>
          </a:bodyPr>
          <a:lstStyle/>
          <a:p>
            <a:pPr algn="thaiDist">
              <a:lnSpc>
                <a:spcPct val="120000"/>
              </a:lnSpc>
              <a:spcBef>
                <a:spcPts val="300"/>
              </a:spcBef>
              <a:buSzPct val="120000"/>
            </a:pPr>
            <a:r>
              <a:rPr lang="th-TH" sz="1000" dirty="0">
                <a:solidFill>
                  <a:schemeClr val="tx1">
                    <a:lumMod val="65000"/>
                    <a:lumOff val="35000"/>
                  </a:schemeClr>
                </a:solidFill>
                <a:latin typeface="BLS Text" panose="00000500000000000000" pitchFamily="2" charset="-34"/>
                <a:cs typeface="BLS Text" pitchFamily="2" charset="-34"/>
              </a:rPr>
              <a:t>วัฏจักรลงทุนโครงสร้างพื้นฐาน–</a:t>
            </a:r>
            <a:r>
              <a:rPr lang="en-US" sz="1000" dirty="0">
                <a:solidFill>
                  <a:schemeClr val="tx1">
                    <a:lumMod val="65000"/>
                    <a:lumOff val="35000"/>
                  </a:schemeClr>
                </a:solidFill>
                <a:latin typeface="BLS Text" panose="00000500000000000000" pitchFamily="2" charset="-34"/>
                <a:cs typeface="BLS Text" pitchFamily="2" charset="-34"/>
              </a:rPr>
              <a:t>Data Center </a:t>
            </a:r>
            <a:r>
              <a:rPr lang="th-TH" sz="1000" dirty="0">
                <a:solidFill>
                  <a:schemeClr val="tx1">
                    <a:lumMod val="65000"/>
                    <a:lumOff val="35000"/>
                  </a:schemeClr>
                </a:solidFill>
                <a:latin typeface="BLS Text" panose="00000500000000000000" pitchFamily="2" charset="-34"/>
                <a:cs typeface="BLS Text" pitchFamily="2" charset="-34"/>
              </a:rPr>
              <a:t>และเศรษฐกิจดิจิทัล (</a:t>
            </a:r>
            <a:r>
              <a:rPr lang="en-US" sz="1000" dirty="0">
                <a:solidFill>
                  <a:schemeClr val="tx1">
                    <a:lumMod val="65000"/>
                    <a:lumOff val="35000"/>
                  </a:schemeClr>
                </a:solidFill>
                <a:latin typeface="BLS Text" panose="00000500000000000000" pitchFamily="2" charset="-34"/>
                <a:cs typeface="BLS Text" pitchFamily="2" charset="-34"/>
              </a:rPr>
              <a:t>National infrastructure </a:t>
            </a:r>
            <a:r>
              <a:rPr lang="en-US" sz="1000" dirty="0" err="1">
                <a:solidFill>
                  <a:schemeClr val="tx1">
                    <a:lumMod val="65000"/>
                    <a:lumOff val="35000"/>
                  </a:schemeClr>
                </a:solidFill>
                <a:latin typeface="BLS Text" panose="00000500000000000000" pitchFamily="2" charset="-34"/>
                <a:cs typeface="BLS Text" pitchFamily="2" charset="-34"/>
              </a:rPr>
              <a:t>supercycle</a:t>
            </a:r>
            <a:r>
              <a:rPr lang="en-US" sz="1000" dirty="0">
                <a:solidFill>
                  <a:schemeClr val="tx1">
                    <a:lumMod val="65000"/>
                    <a:lumOff val="35000"/>
                  </a:schemeClr>
                </a:solidFill>
                <a:latin typeface="BLS Text" panose="00000500000000000000" pitchFamily="2" charset="-34"/>
                <a:cs typeface="BLS Text" pitchFamily="2" charset="-34"/>
              </a:rPr>
              <a:t>) </a:t>
            </a:r>
            <a:r>
              <a:rPr lang="th-TH" sz="1000" dirty="0">
                <a:solidFill>
                  <a:schemeClr val="tx1">
                    <a:lumMod val="65000"/>
                    <a:lumOff val="35000"/>
                  </a:schemeClr>
                </a:solidFill>
                <a:latin typeface="BLS Text" panose="00000500000000000000" pitchFamily="2" charset="-34"/>
                <a:cs typeface="BLS Text" pitchFamily="2" charset="-34"/>
              </a:rPr>
              <a:t>ที่ขับเคลื่อนโดย </a:t>
            </a:r>
            <a:r>
              <a:rPr lang="en-US" sz="1000" dirty="0">
                <a:solidFill>
                  <a:schemeClr val="tx1">
                    <a:lumMod val="65000"/>
                    <a:lumOff val="35000"/>
                  </a:schemeClr>
                </a:solidFill>
                <a:latin typeface="BLS Text" panose="00000500000000000000" pitchFamily="2" charset="-34"/>
                <a:cs typeface="BLS Text" pitchFamily="2" charset="-34"/>
              </a:rPr>
              <a:t>BOI </a:t>
            </a:r>
            <a:r>
              <a:rPr lang="th-TH" sz="1000" dirty="0">
                <a:solidFill>
                  <a:schemeClr val="tx1">
                    <a:lumMod val="65000"/>
                    <a:lumOff val="35000"/>
                  </a:schemeClr>
                </a:solidFill>
                <a:latin typeface="BLS Text" panose="00000500000000000000" pitchFamily="2" charset="-34"/>
                <a:cs typeface="BLS Text" pitchFamily="2" charset="-34"/>
              </a:rPr>
              <a:t>และการเร่งตัวของการลงทุนด้านโครงสร้างพื้นฐานดิจิทัล ซึ่งสะท้อนผ่านตัวเลข </a:t>
            </a:r>
            <a:r>
              <a:rPr lang="en-US" sz="1000" dirty="0">
                <a:solidFill>
                  <a:schemeClr val="tx1">
                    <a:lumMod val="65000"/>
                    <a:lumOff val="35000"/>
                  </a:schemeClr>
                </a:solidFill>
                <a:latin typeface="BLS Text" panose="00000500000000000000" pitchFamily="2" charset="-34"/>
                <a:cs typeface="BLS Text" pitchFamily="2" charset="-34"/>
              </a:rPr>
              <a:t>FDI </a:t>
            </a:r>
            <a:r>
              <a:rPr lang="th-TH" sz="1000" dirty="0">
                <a:solidFill>
                  <a:schemeClr val="tx1">
                    <a:lumMod val="65000"/>
                    <a:lumOff val="35000"/>
                  </a:schemeClr>
                </a:solidFill>
                <a:latin typeface="BLS Text" panose="00000500000000000000" pitchFamily="2" charset="-34"/>
                <a:cs typeface="BLS Text" pitchFamily="2" charset="-34"/>
              </a:rPr>
              <a:t>ของไทยในปี 2025 ที่เติบโตถึง 57% </a:t>
            </a:r>
            <a:r>
              <a:rPr lang="en-US" sz="1000" dirty="0">
                <a:solidFill>
                  <a:schemeClr val="tx1">
                    <a:lumMod val="65000"/>
                    <a:lumOff val="35000"/>
                  </a:schemeClr>
                </a:solidFill>
                <a:latin typeface="BLS Text" panose="00000500000000000000" pitchFamily="2" charset="-34"/>
                <a:cs typeface="BLS Text" pitchFamily="2" charset="-34"/>
              </a:rPr>
              <a:t>YoY </a:t>
            </a:r>
            <a:r>
              <a:rPr lang="th-TH" sz="1000" dirty="0">
                <a:solidFill>
                  <a:schemeClr val="tx1">
                    <a:lumMod val="65000"/>
                    <a:lumOff val="35000"/>
                  </a:schemeClr>
                </a:solidFill>
                <a:latin typeface="BLS Text" panose="00000500000000000000" pitchFamily="2" charset="-34"/>
                <a:cs typeface="BLS Text" pitchFamily="2" charset="-34"/>
              </a:rPr>
              <a:t>แตะระดับ 1.14 ล้านล้านบาท โดยเฉพาะในกลุ่ม </a:t>
            </a:r>
            <a:r>
              <a:rPr lang="en-US" sz="1000" dirty="0">
                <a:solidFill>
                  <a:schemeClr val="tx1">
                    <a:lumMod val="65000"/>
                    <a:lumOff val="35000"/>
                  </a:schemeClr>
                </a:solidFill>
                <a:latin typeface="BLS Text" panose="00000500000000000000" pitchFamily="2" charset="-34"/>
                <a:cs typeface="BLS Text" pitchFamily="2" charset="-34"/>
              </a:rPr>
              <a:t>data center</a:t>
            </a:r>
            <a:r>
              <a:rPr lang="th-TH" sz="1000" dirty="0">
                <a:solidFill>
                  <a:schemeClr val="tx1">
                    <a:lumMod val="65000"/>
                    <a:lumOff val="35000"/>
                  </a:schemeClr>
                </a:solidFill>
                <a:latin typeface="BLS Text" panose="00000500000000000000" pitchFamily="2" charset="-34"/>
                <a:cs typeface="BLS Text" pitchFamily="2" charset="-34"/>
              </a:rPr>
              <a:t> ที่มีมูลค่าการลงทุน</a:t>
            </a:r>
            <a:endParaRPr lang="en-US" sz="1000" dirty="0">
              <a:solidFill>
                <a:schemeClr val="tx1">
                  <a:lumMod val="65000"/>
                  <a:lumOff val="35000"/>
                </a:schemeClr>
              </a:solidFill>
              <a:latin typeface="BLS Text" panose="00000500000000000000" pitchFamily="2" charset="-34"/>
              <a:cs typeface="BLS Text" pitchFamily="2" charset="-34"/>
            </a:endParaRPr>
          </a:p>
        </p:txBody>
      </p:sp>
      <p:sp>
        <p:nvSpPr>
          <p:cNvPr id="15" name="TextBox 14">
            <a:extLst>
              <a:ext uri="{FF2B5EF4-FFF2-40B4-BE49-F238E27FC236}">
                <a16:creationId xmlns:a16="http://schemas.microsoft.com/office/drawing/2014/main" id="{546F7F14-A377-C8CF-5D1E-8DDF1256B72B}"/>
              </a:ext>
            </a:extLst>
          </p:cNvPr>
          <p:cNvSpPr txBox="1"/>
          <p:nvPr/>
        </p:nvSpPr>
        <p:spPr>
          <a:xfrm>
            <a:off x="3462910" y="1835696"/>
            <a:ext cx="3164970" cy="1200329"/>
          </a:xfrm>
          <a:prstGeom prst="rect">
            <a:avLst/>
          </a:prstGeom>
          <a:solidFill>
            <a:srgbClr val="EDEDED">
              <a:alpha val="60000"/>
            </a:srgbClr>
          </a:solidFill>
          <a:ln>
            <a:noFill/>
          </a:ln>
        </p:spPr>
        <p:txBody>
          <a:bodyPr wrap="square" rtlCol="0">
            <a:spAutoFit/>
          </a:bodyPr>
          <a:lstStyle/>
          <a:p>
            <a:pPr algn="thaiDist">
              <a:lnSpc>
                <a:spcPct val="120000"/>
              </a:lnSpc>
              <a:spcBef>
                <a:spcPts val="400"/>
              </a:spcBef>
              <a:buSzPct val="120000"/>
            </a:pPr>
            <a:r>
              <a:rPr lang="th-TH" sz="1000" dirty="0">
                <a:solidFill>
                  <a:schemeClr val="tx1">
                    <a:lumMod val="65000"/>
                    <a:lumOff val="35000"/>
                  </a:schemeClr>
                </a:solidFill>
                <a:latin typeface="BLS Text" panose="00000500000000000000" pitchFamily="2" charset="-34"/>
                <a:cs typeface="BLS Text" pitchFamily="2" charset="-34"/>
              </a:rPr>
              <a:t>สูงถึง 5.53 แสนล้านบาท หรือคิดเป็น 49% ของ </a:t>
            </a:r>
            <a:r>
              <a:rPr lang="en-US" sz="1000" dirty="0">
                <a:solidFill>
                  <a:schemeClr val="tx1">
                    <a:lumMod val="65000"/>
                    <a:lumOff val="35000"/>
                  </a:schemeClr>
                </a:solidFill>
                <a:latin typeface="BLS Text" panose="00000500000000000000" pitchFamily="2" charset="-34"/>
                <a:cs typeface="BLS Text" pitchFamily="2" charset="-34"/>
              </a:rPr>
              <a:t>FDI </a:t>
            </a:r>
            <a:r>
              <a:rPr lang="th-TH" sz="1000" dirty="0">
                <a:solidFill>
                  <a:schemeClr val="tx1">
                    <a:lumMod val="65000"/>
                    <a:lumOff val="35000"/>
                  </a:schemeClr>
                </a:solidFill>
                <a:latin typeface="BLS Text" panose="00000500000000000000" pitchFamily="2" charset="-34"/>
                <a:cs typeface="BLS Text" pitchFamily="2" charset="-34"/>
              </a:rPr>
              <a:t>ทั้งหมด และเร่งตัวอย่างมีนัยสำคัญในไตรมาส 4</a:t>
            </a:r>
            <a:r>
              <a:rPr lang="en-US" sz="1000" dirty="0">
                <a:solidFill>
                  <a:schemeClr val="tx1">
                    <a:lumMod val="65000"/>
                    <a:lumOff val="35000"/>
                  </a:schemeClr>
                </a:solidFill>
                <a:latin typeface="BLS Text" panose="00000500000000000000" pitchFamily="2" charset="-34"/>
                <a:cs typeface="BLS Text" pitchFamily="2" charset="-34"/>
              </a:rPr>
              <a:t>Q25 </a:t>
            </a:r>
            <a:r>
              <a:rPr lang="th-TH" sz="1000" dirty="0">
                <a:solidFill>
                  <a:schemeClr val="tx1">
                    <a:lumMod val="65000"/>
                    <a:lumOff val="35000"/>
                  </a:schemeClr>
                </a:solidFill>
                <a:latin typeface="BLS Text" panose="00000500000000000000" pitchFamily="2" charset="-34"/>
                <a:cs typeface="BLS Text" pitchFamily="2" charset="-34"/>
              </a:rPr>
              <a:t>ที่ 2.3 แสนล้านบาท (+277% </a:t>
            </a:r>
            <a:r>
              <a:rPr lang="en-US" sz="1000" dirty="0">
                <a:solidFill>
                  <a:schemeClr val="tx1">
                    <a:lumMod val="65000"/>
                    <a:lumOff val="35000"/>
                  </a:schemeClr>
                </a:solidFill>
                <a:latin typeface="BLS Text" panose="00000500000000000000" pitchFamily="2" charset="-34"/>
                <a:cs typeface="BLS Text" pitchFamily="2" charset="-34"/>
              </a:rPr>
              <a:t>YoY) </a:t>
            </a:r>
            <a:r>
              <a:rPr lang="th-TH" sz="1000" dirty="0">
                <a:solidFill>
                  <a:schemeClr val="tx1">
                    <a:lumMod val="65000"/>
                    <a:lumOff val="35000"/>
                  </a:schemeClr>
                </a:solidFill>
                <a:latin typeface="BLS Text" panose="00000500000000000000" pitchFamily="2" charset="-34"/>
                <a:cs typeface="BLS Text" pitchFamily="2" charset="-34"/>
              </a:rPr>
              <a:t>ทำให้เกิด </a:t>
            </a:r>
            <a:r>
              <a:rPr lang="en-US" sz="1000" dirty="0">
                <a:solidFill>
                  <a:schemeClr val="tx1">
                    <a:lumMod val="65000"/>
                    <a:lumOff val="35000"/>
                  </a:schemeClr>
                </a:solidFill>
                <a:latin typeface="BLS Text" panose="00000500000000000000" pitchFamily="2" charset="-34"/>
                <a:cs typeface="BLS Text" pitchFamily="2" charset="-34"/>
              </a:rPr>
              <a:t>earnings visibility </a:t>
            </a:r>
            <a:r>
              <a:rPr lang="th-TH" sz="1000" dirty="0">
                <a:solidFill>
                  <a:schemeClr val="tx1">
                    <a:lumMod val="65000"/>
                    <a:lumOff val="35000"/>
                  </a:schemeClr>
                </a:solidFill>
                <a:latin typeface="BLS Text" panose="00000500000000000000" pitchFamily="2" charset="-34"/>
                <a:cs typeface="BLS Text" pitchFamily="2" charset="-34"/>
              </a:rPr>
              <a:t>ที่ชัดเจนในกลุ่มนิคมอุตสาหกรรม โรงไฟฟ้า โครงสร้างพื้นฐานด้านพลังงาน และ </a:t>
            </a:r>
            <a:r>
              <a:rPr lang="en-US" sz="1000" dirty="0">
                <a:solidFill>
                  <a:schemeClr val="tx1">
                    <a:lumMod val="65000"/>
                    <a:lumOff val="35000"/>
                  </a:schemeClr>
                </a:solidFill>
                <a:latin typeface="BLS Text" panose="00000500000000000000" pitchFamily="2" charset="-34"/>
                <a:cs typeface="BLS Text" pitchFamily="2" charset="-34"/>
              </a:rPr>
              <a:t>digital enablers </a:t>
            </a:r>
            <a:r>
              <a:rPr lang="th-TH" sz="1000" dirty="0">
                <a:solidFill>
                  <a:schemeClr val="tx1">
                    <a:lumMod val="65000"/>
                    <a:lumOff val="35000"/>
                  </a:schemeClr>
                </a:solidFill>
                <a:latin typeface="BLS Text" panose="00000500000000000000" pitchFamily="2" charset="-34"/>
                <a:cs typeface="BLS Text" pitchFamily="2" charset="-34"/>
              </a:rPr>
              <a:t>ในระยะถัดไป หนุน </a:t>
            </a:r>
            <a:r>
              <a:rPr lang="en-US" sz="1000" b="1" dirty="0">
                <a:solidFill>
                  <a:schemeClr val="tx1">
                    <a:lumMod val="65000"/>
                    <a:lumOff val="35000"/>
                  </a:schemeClr>
                </a:solidFill>
                <a:latin typeface="BLS Text" panose="00000500000000000000" pitchFamily="2" charset="-34"/>
                <a:cs typeface="BLS Text" pitchFamily="2" charset="-34"/>
              </a:rPr>
              <a:t>GULF</a:t>
            </a:r>
            <a:r>
              <a:rPr lang="en-US" sz="1000" dirty="0">
                <a:solidFill>
                  <a:schemeClr val="tx1">
                    <a:lumMod val="65000"/>
                    <a:lumOff val="35000"/>
                  </a:schemeClr>
                </a:solidFill>
                <a:latin typeface="BLS Text" panose="00000500000000000000" pitchFamily="2" charset="-34"/>
                <a:cs typeface="BLS Text" pitchFamily="2" charset="-34"/>
              </a:rPr>
              <a:t>, </a:t>
            </a:r>
            <a:r>
              <a:rPr lang="en-US" sz="1000" b="1" dirty="0">
                <a:solidFill>
                  <a:schemeClr val="tx1">
                    <a:lumMod val="65000"/>
                    <a:lumOff val="35000"/>
                  </a:schemeClr>
                </a:solidFill>
                <a:latin typeface="BLS Text" panose="00000500000000000000" pitchFamily="2" charset="-34"/>
                <a:cs typeface="BLS Text" pitchFamily="2" charset="-34"/>
              </a:rPr>
              <a:t>GUNKUL</a:t>
            </a:r>
            <a:r>
              <a:rPr lang="en-US" sz="1000" dirty="0">
                <a:solidFill>
                  <a:schemeClr val="tx1">
                    <a:lumMod val="65000"/>
                    <a:lumOff val="35000"/>
                  </a:schemeClr>
                </a:solidFill>
                <a:latin typeface="BLS Text" panose="00000500000000000000" pitchFamily="2" charset="-34"/>
                <a:cs typeface="BLS Text" pitchFamily="2" charset="-34"/>
              </a:rPr>
              <a:t>, </a:t>
            </a:r>
            <a:r>
              <a:rPr lang="en-US" sz="1000" b="1" dirty="0">
                <a:solidFill>
                  <a:schemeClr val="tx1">
                    <a:lumMod val="65000"/>
                    <a:lumOff val="35000"/>
                  </a:schemeClr>
                </a:solidFill>
                <a:latin typeface="BLS Text" panose="00000500000000000000" pitchFamily="2" charset="-34"/>
                <a:cs typeface="BLS Text" pitchFamily="2" charset="-34"/>
              </a:rPr>
              <a:t>TRUE</a:t>
            </a:r>
            <a:r>
              <a:rPr lang="en-US" sz="1000" dirty="0">
                <a:solidFill>
                  <a:schemeClr val="tx1">
                    <a:lumMod val="65000"/>
                    <a:lumOff val="35000"/>
                  </a:schemeClr>
                </a:solidFill>
                <a:latin typeface="BLS Text" panose="00000500000000000000" pitchFamily="2" charset="-34"/>
                <a:cs typeface="BLS Text" pitchFamily="2" charset="-34"/>
              </a:rPr>
              <a:t>, </a:t>
            </a:r>
            <a:r>
              <a:rPr lang="en-US" sz="1000" b="1" dirty="0">
                <a:solidFill>
                  <a:schemeClr val="tx1">
                    <a:lumMod val="65000"/>
                    <a:lumOff val="35000"/>
                  </a:schemeClr>
                </a:solidFill>
                <a:latin typeface="BLS Text" panose="00000500000000000000" pitchFamily="2" charset="-34"/>
                <a:cs typeface="BLS Text" pitchFamily="2" charset="-34"/>
              </a:rPr>
              <a:t>WHA</a:t>
            </a:r>
            <a:endParaRPr lang="en-US" sz="1000" dirty="0">
              <a:solidFill>
                <a:schemeClr val="tx1">
                  <a:lumMod val="65000"/>
                  <a:lumOff val="35000"/>
                </a:schemeClr>
              </a:solidFill>
              <a:latin typeface="BLS Text" panose="00000500000000000000" pitchFamily="2" charset="-34"/>
              <a:cs typeface="BLS Text" pitchFamily="2" charset="-34"/>
            </a:endParaRPr>
          </a:p>
        </p:txBody>
      </p:sp>
      <p:cxnSp>
        <p:nvCxnSpPr>
          <p:cNvPr id="18" name="Straight Connector 17">
            <a:extLst>
              <a:ext uri="{FF2B5EF4-FFF2-40B4-BE49-F238E27FC236}">
                <a16:creationId xmlns:a16="http://schemas.microsoft.com/office/drawing/2014/main" id="{811E1CC9-D26F-1122-558A-414813438452}"/>
              </a:ext>
            </a:extLst>
          </p:cNvPr>
          <p:cNvCxnSpPr>
            <a:cxnSpLocks/>
          </p:cNvCxnSpPr>
          <p:nvPr/>
        </p:nvCxnSpPr>
        <p:spPr>
          <a:xfrm>
            <a:off x="320593" y="8748464"/>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81748675-2985-66A0-18EB-8B4E8A4F54F6}"/>
              </a:ext>
            </a:extLst>
          </p:cNvPr>
          <p:cNvSpPr txBox="1"/>
          <p:nvPr/>
        </p:nvSpPr>
        <p:spPr>
          <a:xfrm>
            <a:off x="286492" y="3068717"/>
            <a:ext cx="6022828" cy="33855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2: Value of BOI-approved FDI projects </a:t>
            </a:r>
            <a:r>
              <a:rPr lang="en-US" sz="800" dirty="0">
                <a:solidFill>
                  <a:schemeClr val="tx1">
                    <a:lumMod val="95000"/>
                    <a:lumOff val="5000"/>
                  </a:schemeClr>
                </a:solidFill>
                <a:latin typeface="BLS Condensed" pitchFamily="2" charset="-34"/>
                <a:ea typeface="Tahoma" pitchFamily="34" charset="0"/>
                <a:cs typeface="BLS Condensed" pitchFamily="2" charset="-34"/>
              </a:rPr>
              <a:t>- BOI fast-track </a:t>
            </a:r>
            <a:r>
              <a:rPr lang="th-TH" sz="800" dirty="0">
                <a:solidFill>
                  <a:schemeClr val="tx1">
                    <a:lumMod val="95000"/>
                    <a:lumOff val="5000"/>
                  </a:schemeClr>
                </a:solidFill>
                <a:latin typeface="BLS Condensed" pitchFamily="2" charset="-34"/>
                <a:ea typeface="Tahoma" pitchFamily="34" charset="0"/>
                <a:cs typeface="BLS Condensed" pitchFamily="2" charset="-34"/>
              </a:rPr>
              <a:t>ควบคู่กับโมเมนตัม </a:t>
            </a:r>
            <a:r>
              <a:rPr lang="en-US" sz="800" dirty="0">
                <a:solidFill>
                  <a:schemeClr val="tx1">
                    <a:lumMod val="95000"/>
                    <a:lumOff val="5000"/>
                  </a:schemeClr>
                </a:solidFill>
                <a:latin typeface="BLS Condensed" pitchFamily="2" charset="-34"/>
                <a:ea typeface="Tahoma" pitchFamily="34" charset="0"/>
                <a:cs typeface="BLS Condensed" pitchFamily="2" charset="-34"/>
              </a:rPr>
              <a:t>FDI </a:t>
            </a:r>
            <a:r>
              <a:rPr lang="th-TH" sz="800" dirty="0">
                <a:solidFill>
                  <a:schemeClr val="tx1">
                    <a:lumMod val="95000"/>
                    <a:lumOff val="5000"/>
                  </a:schemeClr>
                </a:solidFill>
                <a:latin typeface="BLS Condensed" pitchFamily="2" charset="-34"/>
                <a:ea typeface="Tahoma" pitchFamily="34" charset="0"/>
                <a:cs typeface="BLS Condensed" pitchFamily="2" charset="-34"/>
              </a:rPr>
              <a:t>ที่แข็งแกร่ง สะท้อนการเข้าสู่วัฏจักรขาขึ้นของการลงทุนโครงสร้างพื้นฐานด้าน </a:t>
            </a:r>
            <a:r>
              <a:rPr lang="en-US" sz="800" dirty="0">
                <a:solidFill>
                  <a:schemeClr val="tx1">
                    <a:lumMod val="95000"/>
                    <a:lumOff val="5000"/>
                  </a:schemeClr>
                </a:solidFill>
                <a:latin typeface="BLS Condensed" pitchFamily="2" charset="-34"/>
                <a:ea typeface="Tahoma" pitchFamily="34" charset="0"/>
                <a:cs typeface="BLS Condensed" pitchFamily="2" charset="-34"/>
              </a:rPr>
              <a:t>Data Center </a:t>
            </a:r>
            <a:r>
              <a:rPr lang="th-TH" sz="800" dirty="0">
                <a:solidFill>
                  <a:schemeClr val="tx1">
                    <a:lumMod val="95000"/>
                    <a:lumOff val="5000"/>
                  </a:schemeClr>
                </a:solidFill>
                <a:latin typeface="BLS Condensed" pitchFamily="2" charset="-34"/>
                <a:ea typeface="Tahoma" pitchFamily="34" charset="0"/>
                <a:cs typeface="BLS Condensed" pitchFamily="2" charset="-34"/>
              </a:rPr>
              <a:t>โดยคาดว่าเม็ดเงินลงทุนจะเริ่มเร่งตัวอย่างมีนัยสำคัญตั้งแต่ 1</a:t>
            </a:r>
            <a:r>
              <a:rPr lang="en-US" sz="800" dirty="0">
                <a:solidFill>
                  <a:schemeClr val="tx1">
                    <a:lumMod val="95000"/>
                    <a:lumOff val="5000"/>
                  </a:schemeClr>
                </a:solidFill>
                <a:latin typeface="BLS Condensed" pitchFamily="2" charset="-34"/>
                <a:ea typeface="Tahoma" pitchFamily="34" charset="0"/>
                <a:cs typeface="BLS Condensed" pitchFamily="2" charset="-34"/>
              </a:rPr>
              <a:t>Q26 </a:t>
            </a:r>
            <a:r>
              <a:rPr lang="th-TH" sz="800" dirty="0">
                <a:solidFill>
                  <a:schemeClr val="tx1">
                    <a:lumMod val="95000"/>
                    <a:lumOff val="5000"/>
                  </a:schemeClr>
                </a:solidFill>
                <a:latin typeface="BLS Condensed" pitchFamily="2" charset="-34"/>
                <a:ea typeface="Tahoma" pitchFamily="34" charset="0"/>
                <a:cs typeface="BLS Condensed" pitchFamily="2" charset="-34"/>
              </a:rPr>
              <a:t>เป็นต้นไป</a:t>
            </a:r>
            <a:endParaRPr lang="en-US" sz="800" b="1" dirty="0">
              <a:solidFill>
                <a:schemeClr val="tx1">
                  <a:lumMod val="95000"/>
                  <a:lumOff val="5000"/>
                </a:schemeClr>
              </a:solidFill>
              <a:latin typeface="BLS Condensed" pitchFamily="2" charset="-34"/>
              <a:ea typeface="Tahoma" pitchFamily="34" charset="0"/>
              <a:cs typeface="BLS Condensed" pitchFamily="2" charset="-34"/>
            </a:endParaRPr>
          </a:p>
        </p:txBody>
      </p:sp>
      <p:cxnSp>
        <p:nvCxnSpPr>
          <p:cNvPr id="31" name="Straight Connector 30">
            <a:extLst>
              <a:ext uri="{FF2B5EF4-FFF2-40B4-BE49-F238E27FC236}">
                <a16:creationId xmlns:a16="http://schemas.microsoft.com/office/drawing/2014/main" id="{ED544969-6829-5FFD-1765-676D76EE5F5B}"/>
              </a:ext>
            </a:extLst>
          </p:cNvPr>
          <p:cNvCxnSpPr/>
          <p:nvPr/>
        </p:nvCxnSpPr>
        <p:spPr>
          <a:xfrm>
            <a:off x="305146" y="3059832"/>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7AA2941-9659-DEF5-69DF-BE120C176F29}"/>
              </a:ext>
            </a:extLst>
          </p:cNvPr>
          <p:cNvSpPr/>
          <p:nvPr/>
        </p:nvSpPr>
        <p:spPr>
          <a:xfrm>
            <a:off x="297857" y="8748464"/>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a:extLst>
              <a:ext uri="{FF2B5EF4-FFF2-40B4-BE49-F238E27FC236}">
                <a16:creationId xmlns:a16="http://schemas.microsoft.com/office/drawing/2014/main" id="{974B464D-079C-66D5-267A-B0271C83992E}"/>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716ED43-E385-A160-9D3A-0264F1B0EE0B}"/>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9" name="TextBox 8">
            <a:extLst>
              <a:ext uri="{FF2B5EF4-FFF2-40B4-BE49-F238E27FC236}">
                <a16:creationId xmlns:a16="http://schemas.microsoft.com/office/drawing/2014/main" id="{C8FA6393-E3EE-E08E-89C6-D50BB8050980}"/>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10" name="TextBox 9">
            <a:extLst>
              <a:ext uri="{FF2B5EF4-FFF2-40B4-BE49-F238E27FC236}">
                <a16:creationId xmlns:a16="http://schemas.microsoft.com/office/drawing/2014/main" id="{C2139EFA-0963-F3E4-30F9-FE4954797181}"/>
              </a:ext>
            </a:extLst>
          </p:cNvPr>
          <p:cNvSpPr txBox="1"/>
          <p:nvPr/>
        </p:nvSpPr>
        <p:spPr>
          <a:xfrm>
            <a:off x="188640" y="827584"/>
            <a:ext cx="6439240" cy="954107"/>
          </a:xfrm>
          <a:prstGeom prst="rect">
            <a:avLst/>
          </a:prstGeom>
          <a:noFill/>
        </p:spPr>
        <p:txBody>
          <a:bodyPr wrap="square">
            <a:spAutoFit/>
          </a:bodyPr>
          <a:lstStyle/>
          <a:p>
            <a:r>
              <a:rPr lang="th-TH" altLang="en-US" sz="2800" dirty="0">
                <a:solidFill>
                  <a:schemeClr val="accent2"/>
                </a:solidFill>
                <a:latin typeface="BLS Condensed Bold" panose="00000800000000000000" pitchFamily="2" charset="-34"/>
                <a:ea typeface="Tahoma" pitchFamily="34" charset="0"/>
                <a:cs typeface="BLS Condensed Bold" panose="00000800000000000000" pitchFamily="2" charset="-34"/>
              </a:rPr>
              <a:t>โอกาส</a:t>
            </a:r>
            <a:r>
              <a:rPr lang="en-US" altLang="en-US" sz="2800" dirty="0">
                <a:solidFill>
                  <a:schemeClr val="accent2"/>
                </a:solidFill>
                <a:latin typeface="BLS Condensed Bold" panose="00000800000000000000" pitchFamily="2" charset="-34"/>
                <a:ea typeface="Tahoma" pitchFamily="34" charset="0"/>
                <a:cs typeface="BLS Condensed Bold" panose="00000800000000000000" pitchFamily="2" charset="-34"/>
              </a:rPr>
              <a:t> #</a:t>
            </a:r>
            <a:r>
              <a:rPr lang="th-TH" altLang="en-US" sz="2800" dirty="0">
                <a:solidFill>
                  <a:schemeClr val="accent2"/>
                </a:solidFill>
                <a:latin typeface="BLS Condensed Bold" panose="00000800000000000000" pitchFamily="2" charset="-34"/>
                <a:ea typeface="Tahoma" pitchFamily="34" charset="0"/>
                <a:cs typeface="BLS Condensed Bold" panose="00000800000000000000" pitchFamily="2" charset="-34"/>
              </a:rPr>
              <a:t> 1</a:t>
            </a:r>
            <a:r>
              <a:rPr lang="en-US" altLang="en-US" sz="2800" dirty="0">
                <a:solidFill>
                  <a:schemeClr val="accent2"/>
                </a:solidFill>
                <a:latin typeface="BLS Condensed Bold" panose="00000800000000000000" pitchFamily="2" charset="-34"/>
                <a:ea typeface="Tahoma" pitchFamily="34" charset="0"/>
                <a:cs typeface="BLS Condensed Bold" panose="00000800000000000000" pitchFamily="2" charset="-34"/>
              </a:rPr>
              <a:t> </a:t>
            </a:r>
            <a:r>
              <a:rPr lang="th-TH" altLang="en-US" sz="2800" dirty="0">
                <a:solidFill>
                  <a:schemeClr val="accent2"/>
                </a:solidFill>
                <a:latin typeface="BLS Condensed Bold" panose="00000800000000000000" pitchFamily="2" charset="-34"/>
                <a:ea typeface="Tahoma" pitchFamily="34" charset="0"/>
                <a:cs typeface="BLS Condensed Bold" panose="00000800000000000000" pitchFamily="2" charset="-34"/>
              </a:rPr>
              <a:t>วัฏจักรลงทุนโครงสร้างพื้นฐาน</a:t>
            </a:r>
            <a:endParaRPr lang="en-US" altLang="en-US" sz="2800" dirty="0">
              <a:solidFill>
                <a:schemeClr val="accent2"/>
              </a:solidFill>
              <a:latin typeface="BLS Condensed Bold" panose="00000800000000000000" pitchFamily="2" charset="-34"/>
              <a:ea typeface="Tahoma" pitchFamily="34" charset="0"/>
              <a:cs typeface="BLS Condensed Bold" panose="00000800000000000000" pitchFamily="2" charset="-34"/>
            </a:endParaRPr>
          </a:p>
          <a:p>
            <a:r>
              <a:rPr lang="en-US" altLang="en-US" sz="2800" dirty="0">
                <a:solidFill>
                  <a:schemeClr val="accent2"/>
                </a:solidFill>
                <a:latin typeface="BLS Condensed Bold" panose="00000800000000000000" pitchFamily="2" charset="-34"/>
                <a:ea typeface="Tahoma" pitchFamily="34" charset="0"/>
                <a:cs typeface="BLS Condensed Bold" panose="00000800000000000000" pitchFamily="2" charset="-34"/>
              </a:rPr>
              <a:t>                                </a:t>
            </a:r>
            <a:r>
              <a:rPr lang="th-TH" altLang="en-US" sz="2800" dirty="0">
                <a:solidFill>
                  <a:schemeClr val="accent2"/>
                </a:solidFill>
                <a:latin typeface="BLS Condensed Bold" panose="00000800000000000000" pitchFamily="2" charset="-34"/>
                <a:ea typeface="Tahoma" pitchFamily="34" charset="0"/>
                <a:cs typeface="BLS Condensed Bold" panose="00000800000000000000" pitchFamily="2" charset="-34"/>
              </a:rPr>
              <a:t>ดาต้าเซ็นเตอร์และเศรษฐกิจดิจิทัล </a:t>
            </a:r>
            <a:endParaRPr lang="en-US" altLang="en-US" sz="2800" dirty="0">
              <a:solidFill>
                <a:schemeClr val="accent2"/>
              </a:solidFill>
              <a:latin typeface="BLS Condensed Bold" panose="00000800000000000000" pitchFamily="2" charset="-34"/>
              <a:ea typeface="Tahoma" pitchFamily="34" charset="0"/>
              <a:cs typeface="BLS Condensed Bold" panose="00000800000000000000" pitchFamily="2" charset="-34"/>
            </a:endParaRPr>
          </a:p>
        </p:txBody>
      </p:sp>
      <p:pic>
        <p:nvPicPr>
          <p:cNvPr id="12" name="Picture 11">
            <a:extLst>
              <a:ext uri="{FF2B5EF4-FFF2-40B4-BE49-F238E27FC236}">
                <a16:creationId xmlns:a16="http://schemas.microsoft.com/office/drawing/2014/main" id="{533DD20E-3B9E-7F70-39D7-FD7669AF5E90}"/>
              </a:ext>
            </a:extLst>
          </p:cNvPr>
          <p:cNvPicPr>
            <a:picLocks noChangeAspect="1"/>
          </p:cNvPicPr>
          <p:nvPr/>
        </p:nvPicPr>
        <p:blipFill>
          <a:blip r:embed="rId7"/>
          <a:stretch>
            <a:fillRect/>
          </a:stretch>
        </p:blipFill>
        <p:spPr>
          <a:xfrm>
            <a:off x="88202" y="6365116"/>
            <a:ext cx="3124774" cy="2177190"/>
          </a:xfrm>
          <a:prstGeom prst="rect">
            <a:avLst/>
          </a:prstGeom>
        </p:spPr>
      </p:pic>
      <p:sp>
        <p:nvSpPr>
          <p:cNvPr id="13" name="TextBox 12">
            <a:extLst>
              <a:ext uri="{FF2B5EF4-FFF2-40B4-BE49-F238E27FC236}">
                <a16:creationId xmlns:a16="http://schemas.microsoft.com/office/drawing/2014/main" id="{69EF34AC-D53C-3A96-B3B4-4ADB26FC9D2C}"/>
              </a:ext>
            </a:extLst>
          </p:cNvPr>
          <p:cNvSpPr txBox="1"/>
          <p:nvPr/>
        </p:nvSpPr>
        <p:spPr>
          <a:xfrm>
            <a:off x="214840" y="6156176"/>
            <a:ext cx="2601704" cy="215444"/>
          </a:xfrm>
          <a:prstGeom prst="rect">
            <a:avLst/>
          </a:prstGeom>
          <a:noFill/>
        </p:spPr>
        <p:txBody>
          <a:bodyPr wrap="square" rtlCol="0">
            <a:spAutoFit/>
          </a:bodyPr>
          <a:lstStyle/>
          <a:p>
            <a:r>
              <a:rPr lang="en-US" sz="800" b="1" dirty="0">
                <a:solidFill>
                  <a:schemeClr val="tx1">
                    <a:lumMod val="95000"/>
                    <a:lumOff val="5000"/>
                  </a:schemeClr>
                </a:solidFill>
                <a:latin typeface="BLS Text" panose="00000500000000000000" pitchFamily="2" charset="-34"/>
                <a:ea typeface="Tahoma" pitchFamily="34" charset="0"/>
                <a:cs typeface="BLS Text" panose="00000500000000000000" pitchFamily="2" charset="-34"/>
              </a:rPr>
              <a:t>Breakdown of BOI FDI approvals in 2025</a:t>
            </a:r>
          </a:p>
        </p:txBody>
      </p:sp>
      <p:pic>
        <p:nvPicPr>
          <p:cNvPr id="14" name="Picture 13">
            <a:extLst>
              <a:ext uri="{FF2B5EF4-FFF2-40B4-BE49-F238E27FC236}">
                <a16:creationId xmlns:a16="http://schemas.microsoft.com/office/drawing/2014/main" id="{A0A1B121-85EF-887C-80CC-DE968EB8DD4C}"/>
              </a:ext>
            </a:extLst>
          </p:cNvPr>
          <p:cNvPicPr>
            <a:picLocks noChangeAspect="1"/>
          </p:cNvPicPr>
          <p:nvPr/>
        </p:nvPicPr>
        <p:blipFill>
          <a:blip r:embed="rId8"/>
          <a:stretch>
            <a:fillRect/>
          </a:stretch>
        </p:blipFill>
        <p:spPr>
          <a:xfrm>
            <a:off x="3319708" y="6526624"/>
            <a:ext cx="3467490" cy="1955629"/>
          </a:xfrm>
          <a:prstGeom prst="rect">
            <a:avLst/>
          </a:prstGeom>
        </p:spPr>
      </p:pic>
      <p:pic>
        <p:nvPicPr>
          <p:cNvPr id="17" name="Picture 16">
            <a:extLst>
              <a:ext uri="{FF2B5EF4-FFF2-40B4-BE49-F238E27FC236}">
                <a16:creationId xmlns:a16="http://schemas.microsoft.com/office/drawing/2014/main" id="{EBBDC79A-9C83-3373-E7D6-64FCCC5B4EC8}"/>
              </a:ext>
            </a:extLst>
          </p:cNvPr>
          <p:cNvPicPr>
            <a:picLocks noChangeAspect="1"/>
          </p:cNvPicPr>
          <p:nvPr/>
        </p:nvPicPr>
        <p:blipFill>
          <a:blip r:embed="rId9"/>
          <a:stretch>
            <a:fillRect/>
          </a:stretch>
        </p:blipFill>
        <p:spPr>
          <a:xfrm>
            <a:off x="365760" y="3548858"/>
            <a:ext cx="6126481" cy="2598422"/>
          </a:xfrm>
          <a:prstGeom prst="rect">
            <a:avLst/>
          </a:prstGeom>
        </p:spPr>
      </p:pic>
      <p:sp>
        <p:nvSpPr>
          <p:cNvPr id="22" name="TextBox 21">
            <a:extLst>
              <a:ext uri="{FF2B5EF4-FFF2-40B4-BE49-F238E27FC236}">
                <a16:creationId xmlns:a16="http://schemas.microsoft.com/office/drawing/2014/main" id="{12380384-D17D-B534-1278-E25E7E6D1E6E}"/>
              </a:ext>
            </a:extLst>
          </p:cNvPr>
          <p:cNvSpPr txBox="1"/>
          <p:nvPr/>
        </p:nvSpPr>
        <p:spPr>
          <a:xfrm>
            <a:off x="188640" y="3419872"/>
            <a:ext cx="3218842" cy="215444"/>
          </a:xfrm>
          <a:prstGeom prst="rect">
            <a:avLst/>
          </a:prstGeom>
          <a:noFill/>
        </p:spPr>
        <p:txBody>
          <a:bodyPr wrap="square" rtlCol="0">
            <a:spAutoFit/>
          </a:bodyPr>
          <a:lstStyle/>
          <a:p>
            <a:r>
              <a:rPr lang="en-US" sz="800" b="1" dirty="0">
                <a:solidFill>
                  <a:schemeClr val="tx1">
                    <a:lumMod val="95000"/>
                    <a:lumOff val="5000"/>
                  </a:schemeClr>
                </a:solidFill>
                <a:latin typeface="BLS Text" panose="00000500000000000000" pitchFamily="2" charset="-34"/>
                <a:ea typeface="Tahoma" pitchFamily="34" charset="0"/>
                <a:cs typeface="BLS Text" panose="00000500000000000000" pitchFamily="2" charset="-34"/>
              </a:rPr>
              <a:t>Value of BOI-approved FDI projects, by industry</a:t>
            </a:r>
          </a:p>
        </p:txBody>
      </p:sp>
      <p:sp>
        <p:nvSpPr>
          <p:cNvPr id="24" name="TextBox 23">
            <a:extLst>
              <a:ext uri="{FF2B5EF4-FFF2-40B4-BE49-F238E27FC236}">
                <a16:creationId xmlns:a16="http://schemas.microsoft.com/office/drawing/2014/main" id="{97B8DEDE-0323-676D-8E1B-73A6C4102A9D}"/>
              </a:ext>
            </a:extLst>
          </p:cNvPr>
          <p:cNvSpPr txBox="1">
            <a:spLocks noChangeArrowheads="1"/>
          </p:cNvSpPr>
          <p:nvPr/>
        </p:nvSpPr>
        <p:spPr bwMode="auto">
          <a:xfrm>
            <a:off x="427161" y="8548409"/>
            <a:ext cx="2768773"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r>
              <a:rPr lang="en-US" sz="700" dirty="0">
                <a:solidFill>
                  <a:srgbClr val="404040"/>
                </a:solidFill>
                <a:latin typeface="BLS Condensed" pitchFamily="2" charset="-34"/>
                <a:cs typeface="BLS Condensed" pitchFamily="2" charset="-34"/>
              </a:rPr>
              <a:t>Source</a:t>
            </a:r>
            <a:r>
              <a:rPr lang="th-TH" sz="600" dirty="0">
                <a:solidFill>
                  <a:srgbClr val="404040"/>
                </a:solidFill>
                <a:latin typeface="BLS Condensed" pitchFamily="2" charset="-34"/>
                <a:cs typeface="BLS Condensed" pitchFamily="2" charset="-34"/>
              </a:rPr>
              <a:t>:</a:t>
            </a:r>
            <a:r>
              <a:rPr lang="en-US" sz="600" dirty="0">
                <a:solidFill>
                  <a:srgbClr val="404040"/>
                </a:solidFill>
                <a:latin typeface="BLS Condensed" pitchFamily="2" charset="-34"/>
                <a:cs typeface="BLS Condensed" pitchFamily="2" charset="-34"/>
              </a:rPr>
              <a:t> </a:t>
            </a:r>
            <a:r>
              <a:rPr lang="en-US" sz="700" dirty="0" err="1">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Bualuang</a:t>
            </a:r>
            <a:r>
              <a:rPr lang="en-US" sz="700" dirty="0">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 Research</a:t>
            </a:r>
            <a:endParaRPr lang="en-US" sz="600" dirty="0">
              <a:solidFill>
                <a:srgbClr val="404040"/>
              </a:solidFill>
              <a:latin typeface="BLS Condensed" pitchFamily="2" charset="-34"/>
              <a:cs typeface="BLS Condensed" pitchFamily="2" charset="-34"/>
            </a:endParaRPr>
          </a:p>
        </p:txBody>
      </p:sp>
      <p:cxnSp>
        <p:nvCxnSpPr>
          <p:cNvPr id="26" name="Straight Connector 25">
            <a:extLst>
              <a:ext uri="{FF2B5EF4-FFF2-40B4-BE49-F238E27FC236}">
                <a16:creationId xmlns:a16="http://schemas.microsoft.com/office/drawing/2014/main" id="{80EE2C16-6AB7-3E6F-18FC-8299BA999C4C}"/>
              </a:ext>
            </a:extLst>
          </p:cNvPr>
          <p:cNvCxnSpPr>
            <a:cxnSpLocks/>
          </p:cNvCxnSpPr>
          <p:nvPr/>
        </p:nvCxnSpPr>
        <p:spPr>
          <a:xfrm>
            <a:off x="362735" y="8532440"/>
            <a:ext cx="6220743"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319588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8602"/>
          <a:stretch/>
        </p:blipFill>
        <p:spPr>
          <a:xfrm>
            <a:off x="0" y="0"/>
            <a:ext cx="6858000" cy="8689302"/>
          </a:xfrm>
          <a:prstGeom prst="rect">
            <a:avLst/>
          </a:prstGeom>
        </p:spPr>
      </p:pic>
      <p:sp>
        <p:nvSpPr>
          <p:cNvPr id="19" name="TextBox 18">
            <a:extLst>
              <a:ext uri="{FF2B5EF4-FFF2-40B4-BE49-F238E27FC236}">
                <a16:creationId xmlns:a16="http://schemas.microsoft.com/office/drawing/2014/main" id="{01D3EDA3-679C-BA8B-9EDE-9A31378F2861}"/>
              </a:ext>
            </a:extLst>
          </p:cNvPr>
          <p:cNvSpPr txBox="1"/>
          <p:nvPr/>
        </p:nvSpPr>
        <p:spPr>
          <a:xfrm>
            <a:off x="658256" y="2667247"/>
            <a:ext cx="72008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12 ธ.ค. </a:t>
            </a:r>
          </a:p>
        </p:txBody>
      </p:sp>
      <p:sp>
        <p:nvSpPr>
          <p:cNvPr id="20" name="TextBox 19">
            <a:extLst>
              <a:ext uri="{FF2B5EF4-FFF2-40B4-BE49-F238E27FC236}">
                <a16:creationId xmlns:a16="http://schemas.microsoft.com/office/drawing/2014/main" id="{FC28B75D-C3AA-F0C5-6200-83DB873637CB}"/>
              </a:ext>
            </a:extLst>
          </p:cNvPr>
          <p:cNvSpPr txBox="1"/>
          <p:nvPr/>
        </p:nvSpPr>
        <p:spPr>
          <a:xfrm>
            <a:off x="531946" y="2659073"/>
            <a:ext cx="904643"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ราชกิจจาประกาศยุบสภา</a:t>
            </a:r>
          </a:p>
        </p:txBody>
      </p:sp>
      <p:sp>
        <p:nvSpPr>
          <p:cNvPr id="21" name="TextBox 20">
            <a:extLst>
              <a:ext uri="{FF2B5EF4-FFF2-40B4-BE49-F238E27FC236}">
                <a16:creationId xmlns:a16="http://schemas.microsoft.com/office/drawing/2014/main" id="{C1FE4F51-5E04-9485-3236-75E85E050C64}"/>
              </a:ext>
            </a:extLst>
          </p:cNvPr>
          <p:cNvSpPr txBox="1"/>
          <p:nvPr/>
        </p:nvSpPr>
        <p:spPr>
          <a:xfrm>
            <a:off x="1497212" y="2667247"/>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13-17 ธ.ค.</a:t>
            </a:r>
          </a:p>
        </p:txBody>
      </p:sp>
      <p:sp>
        <p:nvSpPr>
          <p:cNvPr id="25" name="TextBox 24">
            <a:extLst>
              <a:ext uri="{FF2B5EF4-FFF2-40B4-BE49-F238E27FC236}">
                <a16:creationId xmlns:a16="http://schemas.microsoft.com/office/drawing/2014/main" id="{D3C2255B-69C2-3386-D320-629A8A4034DA}"/>
              </a:ext>
            </a:extLst>
          </p:cNvPr>
          <p:cNvSpPr txBox="1"/>
          <p:nvPr/>
        </p:nvSpPr>
        <p:spPr>
          <a:xfrm>
            <a:off x="2319090" y="2667247"/>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20-28 ธ.ค.</a:t>
            </a:r>
          </a:p>
        </p:txBody>
      </p:sp>
      <p:sp>
        <p:nvSpPr>
          <p:cNvPr id="30" name="TextBox 29">
            <a:extLst>
              <a:ext uri="{FF2B5EF4-FFF2-40B4-BE49-F238E27FC236}">
                <a16:creationId xmlns:a16="http://schemas.microsoft.com/office/drawing/2014/main" id="{5E822032-D7A4-8CF4-B820-3F60B01D58F8}"/>
              </a:ext>
            </a:extLst>
          </p:cNvPr>
          <p:cNvSpPr txBox="1"/>
          <p:nvPr/>
        </p:nvSpPr>
        <p:spPr>
          <a:xfrm>
            <a:off x="1484784" y="2659073"/>
            <a:ext cx="72008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ประกาศวันเลือกตั้ง</a:t>
            </a:r>
          </a:p>
        </p:txBody>
      </p:sp>
      <p:sp>
        <p:nvSpPr>
          <p:cNvPr id="32" name="TextBox 31">
            <a:extLst>
              <a:ext uri="{FF2B5EF4-FFF2-40B4-BE49-F238E27FC236}">
                <a16:creationId xmlns:a16="http://schemas.microsoft.com/office/drawing/2014/main" id="{745AAF70-D983-7504-39C7-037FE66D73A6}"/>
              </a:ext>
            </a:extLst>
          </p:cNvPr>
          <p:cNvSpPr txBox="1"/>
          <p:nvPr/>
        </p:nvSpPr>
        <p:spPr>
          <a:xfrm>
            <a:off x="2276872" y="2655178"/>
            <a:ext cx="77966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พรรคส่งผู้สมัคร ส.ส.</a:t>
            </a:r>
          </a:p>
        </p:txBody>
      </p:sp>
      <p:sp>
        <p:nvSpPr>
          <p:cNvPr id="35" name="TextBox 34">
            <a:extLst>
              <a:ext uri="{FF2B5EF4-FFF2-40B4-BE49-F238E27FC236}">
                <a16:creationId xmlns:a16="http://schemas.microsoft.com/office/drawing/2014/main" id="{3B782CAF-F939-A52B-3801-9742737BB1B9}"/>
              </a:ext>
            </a:extLst>
          </p:cNvPr>
          <p:cNvSpPr txBox="1"/>
          <p:nvPr/>
        </p:nvSpPr>
        <p:spPr>
          <a:xfrm>
            <a:off x="3810726" y="2684819"/>
            <a:ext cx="878577"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 ส.ส. อย่างทางการ</a:t>
            </a:r>
          </a:p>
        </p:txBody>
      </p:sp>
      <p:sp>
        <p:nvSpPr>
          <p:cNvPr id="36" name="TextBox 35">
            <a:extLst>
              <a:ext uri="{FF2B5EF4-FFF2-40B4-BE49-F238E27FC236}">
                <a16:creationId xmlns:a16="http://schemas.microsoft.com/office/drawing/2014/main" id="{1A9E9AAC-6A37-023B-CB7D-D641133919A7}"/>
              </a:ext>
            </a:extLst>
          </p:cNvPr>
          <p:cNvSpPr txBox="1"/>
          <p:nvPr/>
        </p:nvSpPr>
        <p:spPr>
          <a:xfrm>
            <a:off x="4590386" y="2675822"/>
            <a:ext cx="1125089"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เลือกนายก/แต่งตั้งคณะรัฐมนตรี</a:t>
            </a:r>
          </a:p>
        </p:txBody>
      </p:sp>
      <p:sp>
        <p:nvSpPr>
          <p:cNvPr id="2" name="TextBox 1">
            <a:extLst>
              <a:ext uri="{FF2B5EF4-FFF2-40B4-BE49-F238E27FC236}">
                <a16:creationId xmlns:a16="http://schemas.microsoft.com/office/drawing/2014/main" id="{9E85ABDE-7CE6-F0E6-1824-B9305003B1AB}"/>
              </a:ext>
            </a:extLst>
          </p:cNvPr>
          <p:cNvSpPr txBox="1"/>
          <p:nvPr/>
        </p:nvSpPr>
        <p:spPr>
          <a:xfrm>
            <a:off x="188640" y="2051720"/>
            <a:ext cx="3164970" cy="2754600"/>
          </a:xfrm>
          <a:prstGeom prst="rect">
            <a:avLst/>
          </a:prstGeom>
          <a:solidFill>
            <a:srgbClr val="EDEDED">
              <a:alpha val="60000"/>
            </a:srgbClr>
          </a:solidFill>
          <a:ln>
            <a:noFill/>
          </a:ln>
        </p:spPr>
        <p:txBody>
          <a:bodyPr wrap="square" rtlCol="0">
            <a:spAutoFit/>
          </a:bodyPr>
          <a:lstStyle/>
          <a:p>
            <a:pPr algn="thaiDist">
              <a:lnSpc>
                <a:spcPct val="120000"/>
              </a:lnSpc>
              <a:spcBef>
                <a:spcPts val="300"/>
              </a:spcBef>
              <a:buSzPct val="120000"/>
            </a:pPr>
            <a:r>
              <a:rPr lang="th-TH" sz="1000" dirty="0">
                <a:solidFill>
                  <a:schemeClr val="tx1">
                    <a:lumMod val="65000"/>
                    <a:lumOff val="35000"/>
                  </a:schemeClr>
                </a:solidFill>
                <a:latin typeface="BLS Text" panose="00000500000000000000" pitchFamily="2" charset="-34"/>
                <a:cs typeface="BLS Text" pitchFamily="2" charset="-34"/>
              </a:rPr>
              <a:t>ในอดีตช่วงสงครามรัสเซีย–ยูเครนปี 2022 ซึ่งราคาน้ำมันโลกปรับตัวขึ้นแรงและดีเซลในประเทศขยับขึ้นสู่ระดับสูงสุดราว 34.9 บาท/ลิตร หากเปรียบเทียบอัตรากำไรจากการดำเนินงาน (</a:t>
            </a:r>
            <a:r>
              <a:rPr lang="en-US" sz="1000" dirty="0">
                <a:solidFill>
                  <a:schemeClr val="tx1">
                    <a:lumMod val="65000"/>
                    <a:lumOff val="35000"/>
                  </a:schemeClr>
                </a:solidFill>
                <a:latin typeface="BLS Text" panose="00000500000000000000" pitchFamily="2" charset="-34"/>
                <a:cs typeface="BLS Text" pitchFamily="2" charset="-34"/>
              </a:rPr>
              <a:t>EBIT margins) </a:t>
            </a:r>
            <a:r>
              <a:rPr lang="th-TH" sz="1000" dirty="0">
                <a:solidFill>
                  <a:schemeClr val="tx1">
                    <a:lumMod val="65000"/>
                    <a:lumOff val="35000"/>
                  </a:schemeClr>
                </a:solidFill>
                <a:latin typeface="BLS Text" panose="00000500000000000000" pitchFamily="2" charset="-34"/>
                <a:cs typeface="BLS Text" pitchFamily="2" charset="-34"/>
              </a:rPr>
              <a:t>ในช่วงราคาดีเซลยืนสูงเฉลี่ย 34.6 บาท/ลิตร (</a:t>
            </a:r>
            <a:r>
              <a:rPr lang="en-US" sz="1000" dirty="0">
                <a:solidFill>
                  <a:schemeClr val="tx1">
                    <a:lumMod val="65000"/>
                    <a:lumOff val="35000"/>
                  </a:schemeClr>
                </a:solidFill>
                <a:latin typeface="BLS Text" panose="00000500000000000000" pitchFamily="2" charset="-34"/>
                <a:cs typeface="BLS Text" pitchFamily="2" charset="-34"/>
              </a:rPr>
              <a:t>Brent </a:t>
            </a:r>
            <a:r>
              <a:rPr lang="th-TH" sz="1000" dirty="0">
                <a:solidFill>
                  <a:schemeClr val="tx1">
                    <a:lumMod val="65000"/>
                    <a:lumOff val="35000"/>
                  </a:schemeClr>
                </a:solidFill>
                <a:latin typeface="BLS Text" panose="00000500000000000000" pitchFamily="2" charset="-34"/>
                <a:cs typeface="BLS Text" pitchFamily="2" charset="-34"/>
              </a:rPr>
              <a:t>เฉลี่ย $92.1/</a:t>
            </a:r>
            <a:r>
              <a:rPr lang="en-US" sz="1000" dirty="0" err="1">
                <a:solidFill>
                  <a:schemeClr val="tx1">
                    <a:lumMod val="65000"/>
                    <a:lumOff val="35000"/>
                  </a:schemeClr>
                </a:solidFill>
                <a:latin typeface="BLS Text" panose="00000500000000000000" pitchFamily="2" charset="-34"/>
                <a:cs typeface="BLS Text" pitchFamily="2" charset="-34"/>
              </a:rPr>
              <a:t>bbl</a:t>
            </a:r>
            <a:r>
              <a:rPr lang="en-US" sz="1000" dirty="0">
                <a:solidFill>
                  <a:schemeClr val="tx1">
                    <a:lumMod val="65000"/>
                    <a:lumOff val="35000"/>
                  </a:schemeClr>
                </a:solidFill>
                <a:latin typeface="BLS Text" panose="00000500000000000000" pitchFamily="2" charset="-34"/>
                <a:cs typeface="BLS Text" pitchFamily="2" charset="-34"/>
              </a:rPr>
              <a:t>) </a:t>
            </a:r>
            <a:r>
              <a:rPr lang="th-TH" sz="1000" dirty="0">
                <a:solidFill>
                  <a:schemeClr val="tx1">
                    <a:lumMod val="65000"/>
                    <a:lumOff val="35000"/>
                  </a:schemeClr>
                </a:solidFill>
                <a:latin typeface="BLS Text" panose="00000500000000000000" pitchFamily="2" charset="-34"/>
                <a:cs typeface="BLS Text" pitchFamily="2" charset="-34"/>
              </a:rPr>
              <a:t>ช่วง 2</a:t>
            </a:r>
            <a:r>
              <a:rPr lang="en-US" sz="1000" dirty="0">
                <a:solidFill>
                  <a:schemeClr val="tx1">
                    <a:lumMod val="65000"/>
                    <a:lumOff val="35000"/>
                  </a:schemeClr>
                </a:solidFill>
                <a:latin typeface="BLS Text" panose="00000500000000000000" pitchFamily="2" charset="-34"/>
                <a:cs typeface="BLS Text" pitchFamily="2" charset="-34"/>
              </a:rPr>
              <a:t>Q22-1Q23 </a:t>
            </a:r>
            <a:r>
              <a:rPr lang="th-TH" sz="1000" dirty="0">
                <a:solidFill>
                  <a:schemeClr val="tx1">
                    <a:lumMod val="65000"/>
                    <a:lumOff val="35000"/>
                  </a:schemeClr>
                </a:solidFill>
                <a:latin typeface="BLS Text" panose="00000500000000000000" pitchFamily="2" charset="-34"/>
                <a:cs typeface="BLS Text" pitchFamily="2" charset="-34"/>
              </a:rPr>
              <a:t>สะท้อนผลกระทบจากสงคราม เทียบกับช่วงก่อนหน้าสงครามที่ราคาดีเซลเฉลี่ยอยู่ที่ 29.7 บาท/ลิตร (</a:t>
            </a:r>
            <a:r>
              <a:rPr lang="en-US" sz="1000" dirty="0">
                <a:solidFill>
                  <a:schemeClr val="tx1">
                    <a:lumMod val="65000"/>
                    <a:lumOff val="35000"/>
                  </a:schemeClr>
                </a:solidFill>
                <a:latin typeface="BLS Text" panose="00000500000000000000" pitchFamily="2" charset="-34"/>
                <a:cs typeface="BLS Text" pitchFamily="2" charset="-34"/>
              </a:rPr>
              <a:t>Brent </a:t>
            </a:r>
            <a:r>
              <a:rPr lang="th-TH" sz="1000" dirty="0">
                <a:solidFill>
                  <a:schemeClr val="tx1">
                    <a:lumMod val="65000"/>
                    <a:lumOff val="35000"/>
                  </a:schemeClr>
                </a:solidFill>
                <a:latin typeface="BLS Text" panose="00000500000000000000" pitchFamily="2" charset="-34"/>
                <a:cs typeface="BLS Text" pitchFamily="2" charset="-34"/>
              </a:rPr>
              <a:t>เฉลี่ย $84.8/</a:t>
            </a:r>
            <a:r>
              <a:rPr lang="en-US" sz="1000" dirty="0" err="1">
                <a:solidFill>
                  <a:schemeClr val="tx1">
                    <a:lumMod val="65000"/>
                    <a:lumOff val="35000"/>
                  </a:schemeClr>
                </a:solidFill>
                <a:latin typeface="BLS Text" panose="00000500000000000000" pitchFamily="2" charset="-34"/>
                <a:cs typeface="BLS Text" pitchFamily="2" charset="-34"/>
              </a:rPr>
              <a:t>bbl</a:t>
            </a:r>
            <a:r>
              <a:rPr lang="en-US" sz="1000" dirty="0">
                <a:solidFill>
                  <a:schemeClr val="tx1">
                    <a:lumMod val="65000"/>
                    <a:lumOff val="35000"/>
                  </a:schemeClr>
                </a:solidFill>
                <a:latin typeface="BLS Text" panose="00000500000000000000" pitchFamily="2" charset="-34"/>
                <a:cs typeface="BLS Text" pitchFamily="2" charset="-34"/>
              </a:rPr>
              <a:t>) </a:t>
            </a:r>
            <a:r>
              <a:rPr lang="th-TH" sz="1000" dirty="0">
                <a:solidFill>
                  <a:schemeClr val="tx1">
                    <a:lumMod val="65000"/>
                    <a:lumOff val="35000"/>
                  </a:schemeClr>
                </a:solidFill>
                <a:latin typeface="BLS Text" panose="00000500000000000000" pitchFamily="2" charset="-34"/>
                <a:cs typeface="BLS Text" pitchFamily="2" charset="-34"/>
              </a:rPr>
              <a:t>ช่วง 2</a:t>
            </a:r>
            <a:r>
              <a:rPr lang="en-US" sz="1000" dirty="0">
                <a:solidFill>
                  <a:schemeClr val="tx1">
                    <a:lumMod val="65000"/>
                    <a:lumOff val="35000"/>
                  </a:schemeClr>
                </a:solidFill>
                <a:latin typeface="BLS Text" panose="00000500000000000000" pitchFamily="2" charset="-34"/>
                <a:cs typeface="BLS Text" pitchFamily="2" charset="-34"/>
              </a:rPr>
              <a:t>Q21-1Q22 </a:t>
            </a:r>
            <a:r>
              <a:rPr lang="th-TH" sz="1000" dirty="0">
                <a:solidFill>
                  <a:schemeClr val="tx1">
                    <a:lumMod val="65000"/>
                    <a:lumOff val="35000"/>
                  </a:schemeClr>
                </a:solidFill>
                <a:latin typeface="BLS Text" panose="00000500000000000000" pitchFamily="2" charset="-34"/>
                <a:cs typeface="BLS Text" pitchFamily="2" charset="-34"/>
              </a:rPr>
              <a:t>พบว่า </a:t>
            </a:r>
            <a:endParaRPr lang="en-US" sz="1000" dirty="0">
              <a:solidFill>
                <a:schemeClr val="tx1">
                  <a:lumMod val="65000"/>
                  <a:lumOff val="35000"/>
                </a:schemeClr>
              </a:solidFill>
              <a:latin typeface="BLS Text" panose="00000500000000000000" pitchFamily="2" charset="-34"/>
              <a:cs typeface="BLS Text" pitchFamily="2" charset="-34"/>
            </a:endParaRPr>
          </a:p>
          <a:p>
            <a:pPr marL="171450" indent="-171450" algn="thaiDist">
              <a:lnSpc>
                <a:spcPct val="120000"/>
              </a:lnSpc>
              <a:spcBef>
                <a:spcPts val="600"/>
              </a:spcBef>
              <a:buSzPct val="120000"/>
              <a:buFont typeface="Arial" panose="020B0604020202020204" pitchFamily="34" charset="0"/>
              <a:buChar char="•"/>
            </a:pPr>
            <a:r>
              <a:rPr lang="th-TH" sz="1000" b="1" dirty="0">
                <a:solidFill>
                  <a:schemeClr val="tx1">
                    <a:lumMod val="65000"/>
                    <a:lumOff val="35000"/>
                  </a:schemeClr>
                </a:solidFill>
                <a:latin typeface="BLS Text" panose="00000500000000000000" pitchFamily="2" charset="-34"/>
                <a:cs typeface="BLS Text" pitchFamily="2" charset="-34"/>
              </a:rPr>
              <a:t>กลุ่มอุตสาหกรรมที่ยังเห็นอัตรากำไรจากการดำเนินงาน (</a:t>
            </a:r>
            <a:r>
              <a:rPr lang="en-US" sz="1000" b="1" dirty="0">
                <a:solidFill>
                  <a:schemeClr val="tx1">
                    <a:lumMod val="65000"/>
                    <a:lumOff val="35000"/>
                  </a:schemeClr>
                </a:solidFill>
                <a:latin typeface="BLS Text" panose="00000500000000000000" pitchFamily="2" charset="-34"/>
                <a:cs typeface="BLS Text" pitchFamily="2" charset="-34"/>
              </a:rPr>
              <a:t>EBIT margins) </a:t>
            </a:r>
            <a:r>
              <a:rPr lang="th-TH" sz="1000" b="1" dirty="0">
                <a:solidFill>
                  <a:schemeClr val="tx1">
                    <a:lumMod val="65000"/>
                    <a:lumOff val="35000"/>
                  </a:schemeClr>
                </a:solidFill>
                <a:latin typeface="BLS Text" panose="00000500000000000000" pitchFamily="2" charset="-34"/>
                <a:cs typeface="BLS Text" pitchFamily="2" charset="-34"/>
              </a:rPr>
              <a:t>ยังขยายตัวได้ </a:t>
            </a:r>
            <a:r>
              <a:rPr lang="th-TH" sz="1000" dirty="0">
                <a:solidFill>
                  <a:schemeClr val="tx1">
                    <a:lumMod val="65000"/>
                    <a:lumOff val="35000"/>
                  </a:schemeClr>
                </a:solidFill>
                <a:latin typeface="BLS Text" panose="00000500000000000000" pitchFamily="2" charset="-34"/>
                <a:cs typeface="BLS Text" pitchFamily="2" charset="-34"/>
              </a:rPr>
              <a:t>ได้แก่ ธุรกิจรายได้เชื่อมโยงราคาพลังงาน (</a:t>
            </a:r>
            <a:r>
              <a:rPr lang="en-US" sz="1000" dirty="0">
                <a:solidFill>
                  <a:schemeClr val="tx1">
                    <a:lumMod val="65000"/>
                    <a:lumOff val="35000"/>
                  </a:schemeClr>
                </a:solidFill>
                <a:latin typeface="BLS Text" panose="00000500000000000000" pitchFamily="2" charset="-34"/>
                <a:cs typeface="BLS Text" pitchFamily="2" charset="-34"/>
              </a:rPr>
              <a:t>energy-linked earnings) </a:t>
            </a:r>
            <a:r>
              <a:rPr lang="th-TH" sz="1000" dirty="0">
                <a:solidFill>
                  <a:schemeClr val="tx1">
                    <a:lumMod val="65000"/>
                    <a:lumOff val="35000"/>
                  </a:schemeClr>
                </a:solidFill>
                <a:latin typeface="BLS Text" panose="00000500000000000000" pitchFamily="2" charset="-34"/>
                <a:cs typeface="BLS Text" pitchFamily="2" charset="-34"/>
              </a:rPr>
              <a:t>และ/หรือ มีความสามารถในการส่งผ่านต้นทุน (</a:t>
            </a:r>
            <a:r>
              <a:rPr lang="en-US" sz="1000" dirty="0">
                <a:solidFill>
                  <a:schemeClr val="tx1">
                    <a:lumMod val="65000"/>
                    <a:lumOff val="35000"/>
                  </a:schemeClr>
                </a:solidFill>
                <a:latin typeface="BLS Text" panose="00000500000000000000" pitchFamily="2" charset="-34"/>
                <a:cs typeface="BLS Text" pitchFamily="2" charset="-34"/>
              </a:rPr>
              <a:t>cost pass-through ability) </a:t>
            </a:r>
            <a:r>
              <a:rPr lang="th-TH" sz="1000" dirty="0">
                <a:solidFill>
                  <a:schemeClr val="tx1">
                    <a:lumMod val="65000"/>
                    <a:lumOff val="35000"/>
                  </a:schemeClr>
                </a:solidFill>
                <a:latin typeface="BLS Text" panose="00000500000000000000" pitchFamily="2" charset="-34"/>
                <a:cs typeface="BLS Text" pitchFamily="2" charset="-34"/>
              </a:rPr>
              <a:t>กลุ่มพลังงานต้นน้ำ </a:t>
            </a:r>
            <a:r>
              <a:rPr lang="en-US" sz="1000" dirty="0">
                <a:solidFill>
                  <a:schemeClr val="tx1">
                    <a:lumMod val="65000"/>
                    <a:lumOff val="35000"/>
                  </a:schemeClr>
                </a:solidFill>
                <a:latin typeface="BLS Text" panose="00000500000000000000" pitchFamily="2" charset="-34"/>
                <a:cs typeface="BLS Text" pitchFamily="2" charset="-34"/>
              </a:rPr>
              <a:t>PTTEP </a:t>
            </a:r>
            <a:r>
              <a:rPr lang="th-TH" sz="1000" dirty="0">
                <a:solidFill>
                  <a:schemeClr val="tx1">
                    <a:lumMod val="65000"/>
                    <a:lumOff val="35000"/>
                  </a:schemeClr>
                </a:solidFill>
                <a:latin typeface="BLS Text" panose="00000500000000000000" pitchFamily="2" charset="-34"/>
                <a:cs typeface="BLS Text" pitchFamily="2" charset="-34"/>
              </a:rPr>
              <a:t>และโรงกลั่น </a:t>
            </a:r>
            <a:r>
              <a:rPr lang="en-US" sz="1000" dirty="0">
                <a:solidFill>
                  <a:schemeClr val="tx1">
                    <a:lumMod val="65000"/>
                    <a:lumOff val="35000"/>
                  </a:schemeClr>
                </a:solidFill>
                <a:latin typeface="BLS Text" panose="00000500000000000000" pitchFamily="2" charset="-34"/>
                <a:cs typeface="BLS Text" pitchFamily="2" charset="-34"/>
              </a:rPr>
              <a:t>TOP, SPRC</a:t>
            </a:r>
          </a:p>
        </p:txBody>
      </p:sp>
      <p:sp>
        <p:nvSpPr>
          <p:cNvPr id="15" name="TextBox 14">
            <a:extLst>
              <a:ext uri="{FF2B5EF4-FFF2-40B4-BE49-F238E27FC236}">
                <a16:creationId xmlns:a16="http://schemas.microsoft.com/office/drawing/2014/main" id="{546F7F14-A377-C8CF-5D1E-8DDF1256B72B}"/>
              </a:ext>
            </a:extLst>
          </p:cNvPr>
          <p:cNvSpPr txBox="1"/>
          <p:nvPr/>
        </p:nvSpPr>
        <p:spPr>
          <a:xfrm>
            <a:off x="3462910" y="2051720"/>
            <a:ext cx="3164970" cy="2780248"/>
          </a:xfrm>
          <a:prstGeom prst="rect">
            <a:avLst/>
          </a:prstGeom>
          <a:solidFill>
            <a:srgbClr val="EDEDED">
              <a:alpha val="60000"/>
            </a:srgbClr>
          </a:solidFill>
          <a:ln>
            <a:noFill/>
          </a:ln>
        </p:spPr>
        <p:txBody>
          <a:bodyPr wrap="square" rtlCol="0">
            <a:spAutoFit/>
          </a:bodyPr>
          <a:lstStyle/>
          <a:p>
            <a:pPr marL="171450" algn="thaiDist">
              <a:lnSpc>
                <a:spcPct val="120000"/>
              </a:lnSpc>
              <a:spcBef>
                <a:spcPts val="400"/>
              </a:spcBef>
              <a:buSzPct val="120000"/>
            </a:pPr>
            <a:r>
              <a:rPr lang="th-TH" sz="1000" dirty="0">
                <a:solidFill>
                  <a:schemeClr val="tx1">
                    <a:lumMod val="65000"/>
                    <a:lumOff val="35000"/>
                  </a:schemeClr>
                </a:solidFill>
                <a:latin typeface="BLS Text" panose="00000500000000000000" pitchFamily="2" charset="-34"/>
                <a:cs typeface="BLS Text" pitchFamily="2" charset="-34"/>
              </a:rPr>
              <a:t>กลุ่มเกษตร/อาหาร </a:t>
            </a:r>
            <a:r>
              <a:rPr lang="en-US" sz="1000" dirty="0">
                <a:solidFill>
                  <a:schemeClr val="tx1">
                    <a:lumMod val="65000"/>
                    <a:lumOff val="35000"/>
                  </a:schemeClr>
                </a:solidFill>
                <a:latin typeface="BLS Text" panose="00000500000000000000" pitchFamily="2" charset="-34"/>
                <a:cs typeface="BLS Text" pitchFamily="2" charset="-34"/>
              </a:rPr>
              <a:t>CPF, BTG, TFG </a:t>
            </a:r>
            <a:r>
              <a:rPr lang="th-TH" sz="1000" dirty="0">
                <a:solidFill>
                  <a:schemeClr val="tx1">
                    <a:lumMod val="65000"/>
                    <a:lumOff val="35000"/>
                  </a:schemeClr>
                </a:solidFill>
                <a:latin typeface="BLS Text" panose="00000500000000000000" pitchFamily="2" charset="-34"/>
                <a:cs typeface="BLS Text" pitchFamily="2" charset="-34"/>
              </a:rPr>
              <a:t>กลุ่มห้างสรรพสินค้า </a:t>
            </a:r>
            <a:r>
              <a:rPr lang="en-US" sz="1000" dirty="0">
                <a:solidFill>
                  <a:schemeClr val="tx1">
                    <a:lumMod val="65000"/>
                    <a:lumOff val="35000"/>
                  </a:schemeClr>
                </a:solidFill>
                <a:latin typeface="BLS Text" panose="00000500000000000000" pitchFamily="2" charset="-34"/>
                <a:cs typeface="BLS Text" pitchFamily="2" charset="-34"/>
              </a:rPr>
              <a:t>CPN,</a:t>
            </a:r>
            <a:r>
              <a:rPr lang="th-TH" sz="1000" dirty="0">
                <a:solidFill>
                  <a:schemeClr val="tx1">
                    <a:lumMod val="65000"/>
                    <a:lumOff val="35000"/>
                  </a:schemeClr>
                </a:solidFill>
                <a:latin typeface="BLS Text" panose="00000500000000000000" pitchFamily="2" charset="-34"/>
                <a:cs typeface="BLS Text" pitchFamily="2" charset="-34"/>
              </a:rPr>
              <a:t> กลุ่มโรงพยาบาล </a:t>
            </a:r>
            <a:r>
              <a:rPr lang="en-US" sz="1000" dirty="0">
                <a:solidFill>
                  <a:schemeClr val="tx1">
                    <a:lumMod val="65000"/>
                    <a:lumOff val="35000"/>
                  </a:schemeClr>
                </a:solidFill>
                <a:latin typeface="BLS Text" panose="00000500000000000000" pitchFamily="2" charset="-34"/>
                <a:cs typeface="BLS Text" pitchFamily="2" charset="-34"/>
              </a:rPr>
              <a:t>BH, BDMS, </a:t>
            </a:r>
            <a:r>
              <a:rPr lang="th-TH" sz="1000" dirty="0">
                <a:solidFill>
                  <a:schemeClr val="tx1">
                    <a:lumMod val="65000"/>
                    <a:lumOff val="35000"/>
                  </a:schemeClr>
                </a:solidFill>
                <a:latin typeface="BLS Text" panose="00000500000000000000" pitchFamily="2" charset="-34"/>
                <a:cs typeface="BLS Text" pitchFamily="2" charset="-34"/>
              </a:rPr>
              <a:t>กลุ่มนิคมฯ </a:t>
            </a:r>
            <a:r>
              <a:rPr lang="en-US" sz="1000" dirty="0">
                <a:solidFill>
                  <a:schemeClr val="tx1">
                    <a:lumMod val="65000"/>
                    <a:lumOff val="35000"/>
                  </a:schemeClr>
                </a:solidFill>
                <a:latin typeface="BLS Text" panose="00000500000000000000" pitchFamily="2" charset="-34"/>
                <a:cs typeface="BLS Text" pitchFamily="2" charset="-34"/>
              </a:rPr>
              <a:t>WHA AMATA </a:t>
            </a:r>
          </a:p>
          <a:p>
            <a:pPr marL="171450" indent="-171450" algn="thaiDist">
              <a:lnSpc>
                <a:spcPct val="120000"/>
              </a:lnSpc>
              <a:spcBef>
                <a:spcPts val="400"/>
              </a:spcBef>
              <a:buSzPct val="120000"/>
              <a:buFont typeface="Arial" panose="020B0604020202020204" pitchFamily="34" charset="0"/>
              <a:buChar char="•"/>
            </a:pPr>
            <a:r>
              <a:rPr lang="th-TH" sz="1000" b="1" dirty="0">
                <a:solidFill>
                  <a:schemeClr val="tx1">
                    <a:lumMod val="65000"/>
                    <a:lumOff val="35000"/>
                  </a:schemeClr>
                </a:solidFill>
                <a:latin typeface="BLS Text" panose="00000500000000000000" pitchFamily="2" charset="-34"/>
                <a:cs typeface="BLS Text" pitchFamily="2" charset="-34"/>
              </a:rPr>
              <a:t>กลุ่มที่กระทบจำกัด อัตรากำไรทรงตัว มีความสามารถในการส่งผ่านต้นทุน </a:t>
            </a:r>
            <a:r>
              <a:rPr lang="th-TH" sz="1000" dirty="0">
                <a:solidFill>
                  <a:schemeClr val="tx1">
                    <a:lumMod val="65000"/>
                    <a:lumOff val="35000"/>
                  </a:schemeClr>
                </a:solidFill>
                <a:latin typeface="BLS Text" panose="00000500000000000000" pitchFamily="2" charset="-34"/>
                <a:cs typeface="BLS Text" pitchFamily="2" charset="-34"/>
              </a:rPr>
              <a:t>ได้แก่ กลุ่มค้าปลีกของใช้จำเป็น </a:t>
            </a:r>
            <a:r>
              <a:rPr lang="en-US" sz="1000" dirty="0">
                <a:solidFill>
                  <a:schemeClr val="tx1">
                    <a:lumMod val="65000"/>
                    <a:lumOff val="35000"/>
                  </a:schemeClr>
                </a:solidFill>
                <a:latin typeface="BLS Text" panose="00000500000000000000" pitchFamily="2" charset="-34"/>
                <a:cs typeface="BLS Text" pitchFamily="2" charset="-34"/>
              </a:rPr>
              <a:t>CPALL </a:t>
            </a:r>
            <a:r>
              <a:rPr lang="th-TH" sz="1000" dirty="0">
                <a:solidFill>
                  <a:schemeClr val="tx1">
                    <a:lumMod val="65000"/>
                    <a:lumOff val="35000"/>
                  </a:schemeClr>
                </a:solidFill>
                <a:latin typeface="BLS Text" panose="00000500000000000000" pitchFamily="2" charset="-34"/>
                <a:cs typeface="BLS Text" pitchFamily="2" charset="-34"/>
              </a:rPr>
              <a:t>กลุ่มสื่อสาร </a:t>
            </a:r>
            <a:r>
              <a:rPr lang="en-US" sz="1000" dirty="0">
                <a:solidFill>
                  <a:schemeClr val="tx1">
                    <a:lumMod val="65000"/>
                    <a:lumOff val="35000"/>
                  </a:schemeClr>
                </a:solidFill>
                <a:latin typeface="BLS Text" panose="00000500000000000000" pitchFamily="2" charset="-34"/>
                <a:cs typeface="BLS Text" pitchFamily="2" charset="-34"/>
              </a:rPr>
              <a:t>ADVANC </a:t>
            </a:r>
            <a:r>
              <a:rPr lang="th-TH" sz="1000" dirty="0">
                <a:solidFill>
                  <a:schemeClr val="tx1">
                    <a:lumMod val="65000"/>
                    <a:lumOff val="35000"/>
                  </a:schemeClr>
                </a:solidFill>
                <a:latin typeface="BLS Text" panose="00000500000000000000" pitchFamily="2" charset="-34"/>
                <a:cs typeface="BLS Text" pitchFamily="2" charset="-34"/>
              </a:rPr>
              <a:t>กลุ่มธนาคาร </a:t>
            </a:r>
            <a:r>
              <a:rPr lang="en-US" sz="1000" dirty="0">
                <a:solidFill>
                  <a:schemeClr val="tx1">
                    <a:lumMod val="65000"/>
                    <a:lumOff val="35000"/>
                  </a:schemeClr>
                </a:solidFill>
                <a:latin typeface="BLS Text" panose="00000500000000000000" pitchFamily="2" charset="-34"/>
                <a:cs typeface="BLS Text" pitchFamily="2" charset="-34"/>
              </a:rPr>
              <a:t>KTB KBANK SCB BBL </a:t>
            </a:r>
            <a:r>
              <a:rPr lang="th-TH" sz="1000" dirty="0">
                <a:solidFill>
                  <a:schemeClr val="tx1">
                    <a:lumMod val="65000"/>
                    <a:lumOff val="35000"/>
                  </a:schemeClr>
                </a:solidFill>
                <a:latin typeface="BLS Text" panose="00000500000000000000" pitchFamily="2" charset="-34"/>
                <a:cs typeface="BLS Text" pitchFamily="2" charset="-34"/>
              </a:rPr>
              <a:t>กลุ่มส่งออกอาหารสัตว์เลี้ยง </a:t>
            </a:r>
            <a:r>
              <a:rPr lang="en-US" sz="1000" dirty="0">
                <a:solidFill>
                  <a:schemeClr val="tx1">
                    <a:lumMod val="65000"/>
                    <a:lumOff val="35000"/>
                  </a:schemeClr>
                </a:solidFill>
                <a:latin typeface="BLS Text" panose="00000500000000000000" pitchFamily="2" charset="-34"/>
                <a:cs typeface="BLS Text" pitchFamily="2" charset="-34"/>
              </a:rPr>
              <a:t>ITC </a:t>
            </a:r>
          </a:p>
          <a:p>
            <a:pPr marL="171450" indent="-171450" algn="thaiDist">
              <a:lnSpc>
                <a:spcPct val="120000"/>
              </a:lnSpc>
              <a:spcBef>
                <a:spcPts val="400"/>
              </a:spcBef>
              <a:buSzPct val="120000"/>
              <a:buFont typeface="Arial" panose="020B0604020202020204" pitchFamily="34" charset="0"/>
              <a:buChar char="•"/>
            </a:pPr>
            <a:r>
              <a:rPr lang="th-TH" sz="1000" b="1" dirty="0">
                <a:solidFill>
                  <a:schemeClr val="tx1">
                    <a:lumMod val="65000"/>
                    <a:lumOff val="35000"/>
                  </a:schemeClr>
                </a:solidFill>
                <a:latin typeface="BLS Text" panose="00000500000000000000" pitchFamily="2" charset="-34"/>
                <a:cs typeface="BLS Text" pitchFamily="2" charset="-34"/>
              </a:rPr>
              <a:t>กลุ่มที่โดนกระทบแรง อัตรากำไรหดตัว </a:t>
            </a:r>
            <a:r>
              <a:rPr lang="th-TH" sz="1000" dirty="0">
                <a:solidFill>
                  <a:schemeClr val="tx1">
                    <a:lumMod val="65000"/>
                    <a:lumOff val="35000"/>
                  </a:schemeClr>
                </a:solidFill>
                <a:latin typeface="BLS Text" panose="00000500000000000000" pitchFamily="2" charset="-34"/>
                <a:cs typeface="BLS Text" pitchFamily="2" charset="-34"/>
              </a:rPr>
              <a:t>ได้แก่ กลุ่มต้นทุนพลังงานสูง (</a:t>
            </a:r>
            <a:r>
              <a:rPr lang="en-US" sz="1000" dirty="0">
                <a:solidFill>
                  <a:schemeClr val="tx1">
                    <a:lumMod val="65000"/>
                    <a:lumOff val="35000"/>
                  </a:schemeClr>
                </a:solidFill>
                <a:latin typeface="BLS Text" panose="00000500000000000000" pitchFamily="2" charset="-34"/>
                <a:cs typeface="BLS Text" pitchFamily="2" charset="-34"/>
              </a:rPr>
              <a:t>energy cost-exposed) </a:t>
            </a:r>
            <a:r>
              <a:rPr lang="th-TH" sz="1000" dirty="0">
                <a:solidFill>
                  <a:schemeClr val="tx1">
                    <a:lumMod val="65000"/>
                    <a:lumOff val="35000"/>
                  </a:schemeClr>
                </a:solidFill>
                <a:latin typeface="BLS Text" panose="00000500000000000000" pitchFamily="2" charset="-34"/>
                <a:cs typeface="BLS Text" pitchFamily="2" charset="-34"/>
              </a:rPr>
              <a:t>กลุ่มวัสดุก่อสร้าง </a:t>
            </a:r>
            <a:r>
              <a:rPr lang="en-US" sz="1000" dirty="0">
                <a:solidFill>
                  <a:schemeClr val="tx1">
                    <a:lumMod val="65000"/>
                    <a:lumOff val="35000"/>
                  </a:schemeClr>
                </a:solidFill>
                <a:latin typeface="BLS Text" panose="00000500000000000000" pitchFamily="2" charset="-34"/>
                <a:cs typeface="BLS Text" pitchFamily="2" charset="-34"/>
              </a:rPr>
              <a:t>SCC </a:t>
            </a:r>
            <a:r>
              <a:rPr lang="th-TH" sz="1000" dirty="0">
                <a:solidFill>
                  <a:schemeClr val="tx1">
                    <a:lumMod val="65000"/>
                    <a:lumOff val="35000"/>
                  </a:schemeClr>
                </a:solidFill>
                <a:latin typeface="BLS Text" panose="00000500000000000000" pitchFamily="2" charset="-34"/>
                <a:cs typeface="BLS Text" pitchFamily="2" charset="-34"/>
              </a:rPr>
              <a:t>กลุ่มโรงไฟฟ้าขนาดเล็ก </a:t>
            </a:r>
            <a:r>
              <a:rPr lang="en-US" sz="1000" dirty="0">
                <a:solidFill>
                  <a:schemeClr val="tx1">
                    <a:lumMod val="65000"/>
                    <a:lumOff val="35000"/>
                  </a:schemeClr>
                </a:solidFill>
                <a:latin typeface="BLS Text" panose="00000500000000000000" pitchFamily="2" charset="-34"/>
                <a:cs typeface="BLS Text" pitchFamily="2" charset="-34"/>
              </a:rPr>
              <a:t>SPP BGRIM GPSC </a:t>
            </a:r>
            <a:r>
              <a:rPr lang="th-TH" sz="1000" dirty="0">
                <a:solidFill>
                  <a:schemeClr val="tx1">
                    <a:lumMod val="65000"/>
                    <a:lumOff val="35000"/>
                  </a:schemeClr>
                </a:solidFill>
                <a:latin typeface="BLS Text" panose="00000500000000000000" pitchFamily="2" charset="-34"/>
                <a:cs typeface="BLS Text" pitchFamily="2" charset="-34"/>
              </a:rPr>
              <a:t>รวมถึงกลุ่มอ่อนไหวต่อกำลังซื้อในประเทศ (</a:t>
            </a:r>
            <a:r>
              <a:rPr lang="en-US" sz="1000" dirty="0">
                <a:solidFill>
                  <a:schemeClr val="tx1">
                    <a:lumMod val="65000"/>
                    <a:lumOff val="35000"/>
                  </a:schemeClr>
                </a:solidFill>
                <a:latin typeface="BLS Text" panose="00000500000000000000" pitchFamily="2" charset="-34"/>
                <a:cs typeface="BLS Text" pitchFamily="2" charset="-34"/>
              </a:rPr>
              <a:t>domestic demand-sensitive) </a:t>
            </a:r>
            <a:r>
              <a:rPr lang="th-TH" sz="1000" dirty="0">
                <a:solidFill>
                  <a:schemeClr val="tx1">
                    <a:lumMod val="65000"/>
                    <a:lumOff val="35000"/>
                  </a:schemeClr>
                </a:solidFill>
                <a:latin typeface="BLS Text" panose="00000500000000000000" pitchFamily="2" charset="-34"/>
                <a:cs typeface="BLS Text" pitchFamily="2" charset="-34"/>
              </a:rPr>
              <a:t>อย่างกลุ่มค้าปลีกของฟุ่มเฟือย โดยเฉพาะค้าปลีกวัสดุก่อสร้าง </a:t>
            </a:r>
            <a:r>
              <a:rPr lang="en-US" sz="1000" dirty="0">
                <a:solidFill>
                  <a:schemeClr val="tx1">
                    <a:lumMod val="65000"/>
                    <a:lumOff val="35000"/>
                  </a:schemeClr>
                </a:solidFill>
                <a:latin typeface="BLS Text" panose="00000500000000000000" pitchFamily="2" charset="-34"/>
                <a:cs typeface="BLS Text" pitchFamily="2" charset="-34"/>
              </a:rPr>
              <a:t>DOHOME </a:t>
            </a:r>
          </a:p>
        </p:txBody>
      </p:sp>
      <p:cxnSp>
        <p:nvCxnSpPr>
          <p:cNvPr id="18" name="Straight Connector 17">
            <a:extLst>
              <a:ext uri="{FF2B5EF4-FFF2-40B4-BE49-F238E27FC236}">
                <a16:creationId xmlns:a16="http://schemas.microsoft.com/office/drawing/2014/main" id="{811E1CC9-D26F-1122-558A-414813438452}"/>
              </a:ext>
            </a:extLst>
          </p:cNvPr>
          <p:cNvCxnSpPr>
            <a:cxnSpLocks/>
          </p:cNvCxnSpPr>
          <p:nvPr/>
        </p:nvCxnSpPr>
        <p:spPr>
          <a:xfrm>
            <a:off x="320593" y="8748464"/>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81748675-2985-66A0-18EB-8B4E8A4F54F6}"/>
              </a:ext>
            </a:extLst>
          </p:cNvPr>
          <p:cNvSpPr txBox="1"/>
          <p:nvPr/>
        </p:nvSpPr>
        <p:spPr>
          <a:xfrm>
            <a:off x="286492" y="4895122"/>
            <a:ext cx="6022828" cy="21544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3: Change in EBIT Margin (bps): Low vs High Oil Price Environment - Post vs Pre Russia-Ukraine War (2Q22–1Q23 vs 2Q21–1Q22)</a:t>
            </a:r>
          </a:p>
        </p:txBody>
      </p:sp>
      <p:cxnSp>
        <p:nvCxnSpPr>
          <p:cNvPr id="31" name="Straight Connector 30">
            <a:extLst>
              <a:ext uri="{FF2B5EF4-FFF2-40B4-BE49-F238E27FC236}">
                <a16:creationId xmlns:a16="http://schemas.microsoft.com/office/drawing/2014/main" id="{ED544969-6829-5FFD-1765-676D76EE5F5B}"/>
              </a:ext>
            </a:extLst>
          </p:cNvPr>
          <p:cNvCxnSpPr/>
          <p:nvPr/>
        </p:nvCxnSpPr>
        <p:spPr>
          <a:xfrm>
            <a:off x="305146" y="4858173"/>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7AA2941-9659-DEF5-69DF-BE120C176F29}"/>
              </a:ext>
            </a:extLst>
          </p:cNvPr>
          <p:cNvSpPr/>
          <p:nvPr/>
        </p:nvSpPr>
        <p:spPr>
          <a:xfrm>
            <a:off x="297857" y="8748464"/>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a:extLst>
              <a:ext uri="{FF2B5EF4-FFF2-40B4-BE49-F238E27FC236}">
                <a16:creationId xmlns:a16="http://schemas.microsoft.com/office/drawing/2014/main" id="{974B464D-079C-66D5-267A-B0271C83992E}"/>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716ED43-E385-A160-9D3A-0264F1B0EE0B}"/>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9" name="TextBox 8">
            <a:extLst>
              <a:ext uri="{FF2B5EF4-FFF2-40B4-BE49-F238E27FC236}">
                <a16:creationId xmlns:a16="http://schemas.microsoft.com/office/drawing/2014/main" id="{C8FA6393-E3EE-E08E-89C6-D50BB8050980}"/>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pic>
        <p:nvPicPr>
          <p:cNvPr id="6" name="Picture 5">
            <a:extLst>
              <a:ext uri="{FF2B5EF4-FFF2-40B4-BE49-F238E27FC236}">
                <a16:creationId xmlns:a16="http://schemas.microsoft.com/office/drawing/2014/main" id="{520119B2-2FB3-B8C1-577D-8DA2A1475302}"/>
              </a:ext>
            </a:extLst>
          </p:cNvPr>
          <p:cNvPicPr>
            <a:picLocks noChangeAspect="1"/>
          </p:cNvPicPr>
          <p:nvPr/>
        </p:nvPicPr>
        <p:blipFill>
          <a:blip r:embed="rId7"/>
          <a:stretch>
            <a:fillRect/>
          </a:stretch>
        </p:blipFill>
        <p:spPr>
          <a:xfrm>
            <a:off x="156509" y="5159147"/>
            <a:ext cx="2900310" cy="3373293"/>
          </a:xfrm>
          <a:prstGeom prst="rect">
            <a:avLst/>
          </a:prstGeom>
        </p:spPr>
      </p:pic>
      <p:pic>
        <p:nvPicPr>
          <p:cNvPr id="16" name="Picture 15">
            <a:extLst>
              <a:ext uri="{FF2B5EF4-FFF2-40B4-BE49-F238E27FC236}">
                <a16:creationId xmlns:a16="http://schemas.microsoft.com/office/drawing/2014/main" id="{0066052B-56A2-7936-8B6C-E03CA17DB43B}"/>
              </a:ext>
            </a:extLst>
          </p:cNvPr>
          <p:cNvPicPr>
            <a:picLocks noChangeAspect="1"/>
          </p:cNvPicPr>
          <p:nvPr/>
        </p:nvPicPr>
        <p:blipFill>
          <a:blip r:embed="rId8"/>
          <a:stretch>
            <a:fillRect/>
          </a:stretch>
        </p:blipFill>
        <p:spPr>
          <a:xfrm>
            <a:off x="3253205" y="5159147"/>
            <a:ext cx="3488163" cy="3517309"/>
          </a:xfrm>
          <a:prstGeom prst="rect">
            <a:avLst/>
          </a:prstGeom>
        </p:spPr>
      </p:pic>
      <p:sp>
        <p:nvSpPr>
          <p:cNvPr id="3" name="TextBox 2">
            <a:extLst>
              <a:ext uri="{FF2B5EF4-FFF2-40B4-BE49-F238E27FC236}">
                <a16:creationId xmlns:a16="http://schemas.microsoft.com/office/drawing/2014/main" id="{DC2F00C9-29A4-5F86-1286-F34BEDBDA952}"/>
              </a:ext>
            </a:extLst>
          </p:cNvPr>
          <p:cNvSpPr txBox="1"/>
          <p:nvPr/>
        </p:nvSpPr>
        <p:spPr>
          <a:xfrm>
            <a:off x="188640" y="683568"/>
            <a:ext cx="6439240" cy="1261884"/>
          </a:xfrm>
          <a:prstGeom prst="rect">
            <a:avLst/>
          </a:prstGeom>
          <a:noFill/>
        </p:spPr>
        <p:txBody>
          <a:bodyPr wrap="square">
            <a:spAutoFit/>
          </a:bodyPr>
          <a:lstStyle/>
          <a:p>
            <a:r>
              <a:rPr lang="th-TH" altLang="en-US" sz="2800" dirty="0">
                <a:solidFill>
                  <a:schemeClr val="accent2"/>
                </a:solidFill>
                <a:latin typeface="BLS Condensed Bold" panose="00000800000000000000" pitchFamily="2" charset="-34"/>
                <a:ea typeface="Tahoma" pitchFamily="34" charset="0"/>
                <a:cs typeface="BLS Condensed Bold" panose="00000800000000000000" pitchFamily="2" charset="-34"/>
              </a:rPr>
              <a:t>กรณีศึกษา</a:t>
            </a:r>
            <a:r>
              <a:rPr lang="th-TH" altLang="en-US" sz="2400" dirty="0">
                <a:solidFill>
                  <a:schemeClr val="accent2"/>
                </a:solidFill>
                <a:latin typeface="BLS Condensed Bold" panose="00000800000000000000" pitchFamily="2" charset="-34"/>
                <a:ea typeface="Tahoma" pitchFamily="34" charset="0"/>
                <a:cs typeface="BLS Condensed Bold" panose="00000800000000000000" pitchFamily="2" charset="-34"/>
              </a:rPr>
              <a:t> </a:t>
            </a:r>
          </a:p>
          <a:p>
            <a:r>
              <a:rPr lang="th-TH" altLang="en-US" sz="2400" dirty="0">
                <a:solidFill>
                  <a:schemeClr val="accent2"/>
                </a:solidFill>
                <a:latin typeface="BLS Condensed Bold" panose="00000800000000000000" pitchFamily="2" charset="-34"/>
                <a:ea typeface="Tahoma" pitchFamily="34" charset="0"/>
                <a:cs typeface="BLS Condensed Bold" panose="00000800000000000000" pitchFamily="2" charset="-34"/>
              </a:rPr>
              <a:t>      </a:t>
            </a:r>
            <a:r>
              <a:rPr lang="th-TH" altLang="en-US" sz="2400" dirty="0">
                <a:solidFill>
                  <a:schemeClr val="tx2"/>
                </a:solidFill>
                <a:latin typeface="BLS Condensed Bold" panose="00000800000000000000" pitchFamily="2" charset="-34"/>
                <a:ea typeface="Tahoma" pitchFamily="34" charset="0"/>
                <a:cs typeface="BLS Condensed Bold" panose="00000800000000000000" pitchFamily="2" charset="-34"/>
              </a:rPr>
              <a:t>ผลกระทบต้นทุนพลังงานขึ้นรอบก่อน กระทบกลุ่มไหน</a:t>
            </a:r>
            <a:r>
              <a:rPr lang="en-US" altLang="en-US" sz="2400" dirty="0">
                <a:solidFill>
                  <a:schemeClr val="tx2"/>
                </a:solidFill>
                <a:latin typeface="BLS Condensed Bold" panose="00000800000000000000" pitchFamily="2" charset="-34"/>
                <a:ea typeface="Tahoma" pitchFamily="34" charset="0"/>
                <a:cs typeface="BLS Condensed Bold" panose="00000800000000000000" pitchFamily="2" charset="-34"/>
              </a:rPr>
              <a:t>? </a:t>
            </a:r>
            <a:endParaRPr lang="th-TH" altLang="en-US" sz="2400" dirty="0">
              <a:solidFill>
                <a:schemeClr val="tx2"/>
              </a:solidFill>
              <a:latin typeface="BLS Condensed Bold" panose="00000800000000000000" pitchFamily="2" charset="-34"/>
              <a:ea typeface="Tahoma" pitchFamily="34" charset="0"/>
              <a:cs typeface="BLS Condensed Bold" panose="00000800000000000000" pitchFamily="2" charset="-34"/>
            </a:endParaRPr>
          </a:p>
          <a:p>
            <a:r>
              <a:rPr lang="th-TH" altLang="en-US" sz="2400" dirty="0">
                <a:solidFill>
                  <a:schemeClr val="tx2"/>
                </a:solidFill>
                <a:latin typeface="BLS Condensed Bold" panose="00000800000000000000" pitchFamily="2" charset="-34"/>
                <a:ea typeface="Tahoma" pitchFamily="34" charset="0"/>
                <a:cs typeface="BLS Condensed Bold" panose="00000800000000000000" pitchFamily="2" charset="-34"/>
              </a:rPr>
              <a:t>                                    ใครส่งผ่านต้นทุนได้ (</a:t>
            </a:r>
            <a:r>
              <a:rPr lang="en-US" altLang="en-US" sz="2400" dirty="0">
                <a:solidFill>
                  <a:schemeClr val="tx2"/>
                </a:solidFill>
                <a:latin typeface="BLS Condensed Bold" panose="00000800000000000000" pitchFamily="2" charset="-34"/>
                <a:ea typeface="Tahoma" pitchFamily="34" charset="0"/>
                <a:cs typeface="BLS Condensed Bold" panose="00000800000000000000" pitchFamily="2" charset="-34"/>
              </a:rPr>
              <a:t>pricing power)</a:t>
            </a:r>
            <a:endParaRPr lang="th-TH" altLang="en-US" sz="2400" dirty="0">
              <a:solidFill>
                <a:schemeClr val="tx2"/>
              </a:solidFill>
              <a:latin typeface="BLS Condensed Bold" panose="00000800000000000000" pitchFamily="2" charset="-34"/>
              <a:ea typeface="Tahoma" pitchFamily="34" charset="0"/>
              <a:cs typeface="BLS Condensed Bold" panose="00000800000000000000" pitchFamily="2" charset="-34"/>
            </a:endParaRPr>
          </a:p>
        </p:txBody>
      </p:sp>
    </p:spTree>
    <p:extLst>
      <p:ext uri="{BB962C8B-B14F-4D97-AF65-F5344CB8AC3E}">
        <p14:creationId xmlns:p14="http://schemas.microsoft.com/office/powerpoint/2010/main" val="414384430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8602"/>
          <a:stretch/>
        </p:blipFill>
        <p:spPr>
          <a:xfrm>
            <a:off x="0" y="0"/>
            <a:ext cx="6858000" cy="8689302"/>
          </a:xfrm>
          <a:prstGeom prst="rect">
            <a:avLst/>
          </a:prstGeom>
        </p:spPr>
      </p:pic>
      <p:sp>
        <p:nvSpPr>
          <p:cNvPr id="19" name="TextBox 18">
            <a:extLst>
              <a:ext uri="{FF2B5EF4-FFF2-40B4-BE49-F238E27FC236}">
                <a16:creationId xmlns:a16="http://schemas.microsoft.com/office/drawing/2014/main" id="{01D3EDA3-679C-BA8B-9EDE-9A31378F2861}"/>
              </a:ext>
            </a:extLst>
          </p:cNvPr>
          <p:cNvSpPr txBox="1"/>
          <p:nvPr/>
        </p:nvSpPr>
        <p:spPr>
          <a:xfrm>
            <a:off x="658256" y="2379215"/>
            <a:ext cx="72008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12 ธ.ค. </a:t>
            </a:r>
          </a:p>
        </p:txBody>
      </p:sp>
      <p:sp>
        <p:nvSpPr>
          <p:cNvPr id="20" name="TextBox 19">
            <a:extLst>
              <a:ext uri="{FF2B5EF4-FFF2-40B4-BE49-F238E27FC236}">
                <a16:creationId xmlns:a16="http://schemas.microsoft.com/office/drawing/2014/main" id="{FC28B75D-C3AA-F0C5-6200-83DB873637CB}"/>
              </a:ext>
            </a:extLst>
          </p:cNvPr>
          <p:cNvSpPr txBox="1"/>
          <p:nvPr/>
        </p:nvSpPr>
        <p:spPr>
          <a:xfrm>
            <a:off x="531946" y="2371041"/>
            <a:ext cx="904643"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ราชกิจจาประกาศยุบสภา</a:t>
            </a:r>
          </a:p>
        </p:txBody>
      </p:sp>
      <p:sp>
        <p:nvSpPr>
          <p:cNvPr id="21" name="TextBox 20">
            <a:extLst>
              <a:ext uri="{FF2B5EF4-FFF2-40B4-BE49-F238E27FC236}">
                <a16:creationId xmlns:a16="http://schemas.microsoft.com/office/drawing/2014/main" id="{C1FE4F51-5E04-9485-3236-75E85E050C64}"/>
              </a:ext>
            </a:extLst>
          </p:cNvPr>
          <p:cNvSpPr txBox="1"/>
          <p:nvPr/>
        </p:nvSpPr>
        <p:spPr>
          <a:xfrm>
            <a:off x="1497212" y="2379215"/>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13-17 ธ.ค.</a:t>
            </a:r>
          </a:p>
        </p:txBody>
      </p:sp>
      <p:sp>
        <p:nvSpPr>
          <p:cNvPr id="25" name="TextBox 24">
            <a:extLst>
              <a:ext uri="{FF2B5EF4-FFF2-40B4-BE49-F238E27FC236}">
                <a16:creationId xmlns:a16="http://schemas.microsoft.com/office/drawing/2014/main" id="{D3C2255B-69C2-3386-D320-629A8A4034DA}"/>
              </a:ext>
            </a:extLst>
          </p:cNvPr>
          <p:cNvSpPr txBox="1"/>
          <p:nvPr/>
        </p:nvSpPr>
        <p:spPr>
          <a:xfrm>
            <a:off x="2319090" y="2379215"/>
            <a:ext cx="779660" cy="230832"/>
          </a:xfrm>
          <a:prstGeom prst="rect">
            <a:avLst/>
          </a:prstGeom>
          <a:noFill/>
        </p:spPr>
        <p:txBody>
          <a:bodyPr wrap="square" rtlCol="0">
            <a:spAutoFit/>
          </a:bodyPr>
          <a:lstStyle/>
          <a:p>
            <a:r>
              <a:rPr lang="th-TH" sz="900" dirty="0">
                <a:solidFill>
                  <a:schemeClr val="bg1"/>
                </a:solidFill>
                <a:latin typeface="BLS Text" panose="00000500000000000000" pitchFamily="2" charset="-34"/>
                <a:cs typeface="BLS Text" panose="00000500000000000000" pitchFamily="2" charset="-34"/>
              </a:rPr>
              <a:t>20-28 ธ.ค.</a:t>
            </a:r>
          </a:p>
        </p:txBody>
      </p:sp>
      <p:sp>
        <p:nvSpPr>
          <p:cNvPr id="30" name="TextBox 29">
            <a:extLst>
              <a:ext uri="{FF2B5EF4-FFF2-40B4-BE49-F238E27FC236}">
                <a16:creationId xmlns:a16="http://schemas.microsoft.com/office/drawing/2014/main" id="{5E822032-D7A4-8CF4-B820-3F60B01D58F8}"/>
              </a:ext>
            </a:extLst>
          </p:cNvPr>
          <p:cNvSpPr txBox="1"/>
          <p:nvPr/>
        </p:nvSpPr>
        <p:spPr>
          <a:xfrm>
            <a:off x="1484784" y="2371041"/>
            <a:ext cx="72008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ประกาศวันเลือกตั้ง</a:t>
            </a:r>
          </a:p>
        </p:txBody>
      </p:sp>
      <p:sp>
        <p:nvSpPr>
          <p:cNvPr id="32" name="TextBox 31">
            <a:extLst>
              <a:ext uri="{FF2B5EF4-FFF2-40B4-BE49-F238E27FC236}">
                <a16:creationId xmlns:a16="http://schemas.microsoft.com/office/drawing/2014/main" id="{745AAF70-D983-7504-39C7-037FE66D73A6}"/>
              </a:ext>
            </a:extLst>
          </p:cNvPr>
          <p:cNvSpPr txBox="1"/>
          <p:nvPr/>
        </p:nvSpPr>
        <p:spPr>
          <a:xfrm>
            <a:off x="2276872" y="2367146"/>
            <a:ext cx="779660"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พรรคส่งผู้สมัคร ส.ส.</a:t>
            </a:r>
          </a:p>
        </p:txBody>
      </p:sp>
      <p:sp>
        <p:nvSpPr>
          <p:cNvPr id="35" name="TextBox 34">
            <a:extLst>
              <a:ext uri="{FF2B5EF4-FFF2-40B4-BE49-F238E27FC236}">
                <a16:creationId xmlns:a16="http://schemas.microsoft.com/office/drawing/2014/main" id="{3B782CAF-F939-A52B-3801-9742737BB1B9}"/>
              </a:ext>
            </a:extLst>
          </p:cNvPr>
          <p:cNvSpPr txBox="1"/>
          <p:nvPr/>
        </p:nvSpPr>
        <p:spPr>
          <a:xfrm>
            <a:off x="3810726" y="2396787"/>
            <a:ext cx="878577"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ประกาศ ส.ส. อย่างทางการ</a:t>
            </a:r>
          </a:p>
        </p:txBody>
      </p:sp>
      <p:sp>
        <p:nvSpPr>
          <p:cNvPr id="36" name="TextBox 35">
            <a:extLst>
              <a:ext uri="{FF2B5EF4-FFF2-40B4-BE49-F238E27FC236}">
                <a16:creationId xmlns:a16="http://schemas.microsoft.com/office/drawing/2014/main" id="{1A9E9AAC-6A37-023B-CB7D-D641133919A7}"/>
              </a:ext>
            </a:extLst>
          </p:cNvPr>
          <p:cNvSpPr txBox="1"/>
          <p:nvPr/>
        </p:nvSpPr>
        <p:spPr>
          <a:xfrm>
            <a:off x="4590386" y="2387790"/>
            <a:ext cx="1125089"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เลือกนายก/แต่งตั้งคณะรัฐมนตรี</a:t>
            </a:r>
          </a:p>
        </p:txBody>
      </p:sp>
      <p:cxnSp>
        <p:nvCxnSpPr>
          <p:cNvPr id="18" name="Straight Connector 17">
            <a:extLst>
              <a:ext uri="{FF2B5EF4-FFF2-40B4-BE49-F238E27FC236}">
                <a16:creationId xmlns:a16="http://schemas.microsoft.com/office/drawing/2014/main" id="{811E1CC9-D26F-1122-558A-414813438452}"/>
              </a:ext>
            </a:extLst>
          </p:cNvPr>
          <p:cNvCxnSpPr>
            <a:cxnSpLocks/>
          </p:cNvCxnSpPr>
          <p:nvPr/>
        </p:nvCxnSpPr>
        <p:spPr>
          <a:xfrm>
            <a:off x="320593" y="8748464"/>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23" name="TextBox 22">
            <a:extLst>
              <a:ext uri="{FF2B5EF4-FFF2-40B4-BE49-F238E27FC236}">
                <a16:creationId xmlns:a16="http://schemas.microsoft.com/office/drawing/2014/main" id="{81748675-2985-66A0-18EB-8B4E8A4F54F6}"/>
              </a:ext>
            </a:extLst>
          </p:cNvPr>
          <p:cNvSpPr txBox="1"/>
          <p:nvPr/>
        </p:nvSpPr>
        <p:spPr>
          <a:xfrm>
            <a:off x="286492" y="2232685"/>
            <a:ext cx="6022828" cy="21544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4: </a:t>
            </a:r>
            <a:r>
              <a:rPr lang="th-TH" sz="800" b="1" dirty="0">
                <a:solidFill>
                  <a:schemeClr val="tx1">
                    <a:lumMod val="95000"/>
                    <a:lumOff val="5000"/>
                  </a:schemeClr>
                </a:solidFill>
                <a:latin typeface="BLS Condensed" pitchFamily="2" charset="-34"/>
                <a:ea typeface="Tahoma" pitchFamily="34" charset="0"/>
                <a:cs typeface="BLS Condensed" pitchFamily="2" charset="-34"/>
              </a:rPr>
              <a:t>นโยบายเด่นของรัฐบาลภูมิใจไทย </a:t>
            </a:r>
            <a:endParaRPr lang="en-US" sz="800" b="1" dirty="0">
              <a:solidFill>
                <a:schemeClr val="tx1">
                  <a:lumMod val="95000"/>
                  <a:lumOff val="5000"/>
                </a:schemeClr>
              </a:solidFill>
              <a:latin typeface="BLS Condensed" pitchFamily="2" charset="-34"/>
              <a:ea typeface="Tahoma" pitchFamily="34" charset="0"/>
              <a:cs typeface="BLS Condensed" pitchFamily="2" charset="-34"/>
            </a:endParaRPr>
          </a:p>
        </p:txBody>
      </p:sp>
      <p:cxnSp>
        <p:nvCxnSpPr>
          <p:cNvPr id="31" name="Straight Connector 30">
            <a:extLst>
              <a:ext uri="{FF2B5EF4-FFF2-40B4-BE49-F238E27FC236}">
                <a16:creationId xmlns:a16="http://schemas.microsoft.com/office/drawing/2014/main" id="{ED544969-6829-5FFD-1765-676D76EE5F5B}"/>
              </a:ext>
            </a:extLst>
          </p:cNvPr>
          <p:cNvCxnSpPr/>
          <p:nvPr/>
        </p:nvCxnSpPr>
        <p:spPr>
          <a:xfrm>
            <a:off x="305146" y="2195736"/>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7AA2941-9659-DEF5-69DF-BE120C176F29}"/>
              </a:ext>
            </a:extLst>
          </p:cNvPr>
          <p:cNvSpPr/>
          <p:nvPr/>
        </p:nvSpPr>
        <p:spPr>
          <a:xfrm>
            <a:off x="297857" y="8748464"/>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a:extLst>
              <a:ext uri="{FF2B5EF4-FFF2-40B4-BE49-F238E27FC236}">
                <a16:creationId xmlns:a16="http://schemas.microsoft.com/office/drawing/2014/main" id="{974B464D-079C-66D5-267A-B0271C83992E}"/>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716ED43-E385-A160-9D3A-0264F1B0EE0B}"/>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9" name="TextBox 8">
            <a:extLst>
              <a:ext uri="{FF2B5EF4-FFF2-40B4-BE49-F238E27FC236}">
                <a16:creationId xmlns:a16="http://schemas.microsoft.com/office/drawing/2014/main" id="{C8FA6393-E3EE-E08E-89C6-D50BB8050980}"/>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3" name="TextBox 2">
            <a:extLst>
              <a:ext uri="{FF2B5EF4-FFF2-40B4-BE49-F238E27FC236}">
                <a16:creationId xmlns:a16="http://schemas.microsoft.com/office/drawing/2014/main" id="{DC2F00C9-29A4-5F86-1286-F34BEDBDA952}"/>
              </a:ext>
            </a:extLst>
          </p:cNvPr>
          <p:cNvSpPr txBox="1"/>
          <p:nvPr/>
        </p:nvSpPr>
        <p:spPr>
          <a:xfrm>
            <a:off x="188640" y="827584"/>
            <a:ext cx="6439240" cy="1384995"/>
          </a:xfrm>
          <a:prstGeom prst="rect">
            <a:avLst/>
          </a:prstGeom>
          <a:noFill/>
        </p:spPr>
        <p:txBody>
          <a:bodyPr wrap="square">
            <a:spAutoFit/>
          </a:bodyPr>
          <a:lstStyle/>
          <a:p>
            <a:r>
              <a:rPr lang="th-TH" altLang="en-US" sz="2800" dirty="0">
                <a:solidFill>
                  <a:schemeClr val="accent2"/>
                </a:solidFill>
                <a:latin typeface="BLS Condensed Bold" panose="00000800000000000000" pitchFamily="2" charset="-34"/>
                <a:ea typeface="Tahoma" pitchFamily="34" charset="0"/>
                <a:cs typeface="BLS Condensed Bold" panose="00000800000000000000" pitchFamily="2" charset="-34"/>
              </a:rPr>
              <a:t>ประเมินมาตรการกระตุ้นภาครัฐฯ ที่น่าจะทำได้ก่อน</a:t>
            </a:r>
            <a:r>
              <a:rPr lang="en-US" altLang="en-US" sz="2800" dirty="0">
                <a:solidFill>
                  <a:schemeClr val="accent2"/>
                </a:solidFill>
                <a:latin typeface="BLS Condensed Bold" panose="00000800000000000000" pitchFamily="2" charset="-34"/>
                <a:ea typeface="Tahoma" pitchFamily="34" charset="0"/>
                <a:cs typeface="BLS Condensed Bold" panose="00000800000000000000" pitchFamily="2" charset="-34"/>
              </a:rPr>
              <a:t> </a:t>
            </a:r>
            <a:endParaRPr lang="th-TH" altLang="en-US" sz="2800" dirty="0">
              <a:solidFill>
                <a:schemeClr val="accent2"/>
              </a:solidFill>
              <a:latin typeface="BLS Condensed Bold" panose="00000800000000000000" pitchFamily="2" charset="-34"/>
              <a:ea typeface="Tahoma" pitchFamily="34" charset="0"/>
              <a:cs typeface="BLS Condensed Bold" panose="00000800000000000000" pitchFamily="2" charset="-34"/>
            </a:endParaRPr>
          </a:p>
          <a:p>
            <a:pPr algn="r"/>
            <a:r>
              <a:rPr lang="th-TH" altLang="en-US" sz="2800" dirty="0">
                <a:solidFill>
                  <a:schemeClr val="accent2"/>
                </a:solidFill>
                <a:latin typeface="BLS Condensed Bold" panose="00000800000000000000" pitchFamily="2" charset="-34"/>
                <a:ea typeface="Tahoma" pitchFamily="34" charset="0"/>
                <a:cs typeface="BLS Condensed Bold" panose="00000800000000000000" pitchFamily="2" charset="-34"/>
              </a:rPr>
              <a:t>โดยนักเศรษฐศาสตร์</a:t>
            </a:r>
            <a:r>
              <a:rPr lang="th-TH" altLang="en-US" sz="700" dirty="0">
                <a:solidFill>
                  <a:schemeClr val="accent2"/>
                </a:solidFill>
                <a:latin typeface="BLS Condensed Bold" panose="00000800000000000000" pitchFamily="2" charset="-34"/>
                <a:ea typeface="Tahoma" pitchFamily="34" charset="0"/>
                <a:cs typeface="BLS Condensed Bold" panose="00000800000000000000" pitchFamily="2" charset="-34"/>
              </a:rPr>
              <a:t> </a:t>
            </a:r>
          </a:p>
          <a:p>
            <a:pPr algn="ctr"/>
            <a:r>
              <a:rPr lang="th-TH" altLang="en-US" sz="2800" dirty="0">
                <a:solidFill>
                  <a:schemeClr val="tx2"/>
                </a:solidFill>
                <a:latin typeface="BLS Condensed Bold" panose="00000800000000000000" pitchFamily="2" charset="-34"/>
                <a:ea typeface="Tahoma" pitchFamily="34" charset="0"/>
                <a:cs typeface="BLS Condensed Bold" panose="00000800000000000000" pitchFamily="2" charset="-34"/>
              </a:rPr>
              <a:t>คนละครึ่งพลัส และ </a:t>
            </a:r>
            <a:r>
              <a:rPr lang="en-US" altLang="en-US" sz="2800" dirty="0">
                <a:solidFill>
                  <a:schemeClr val="tx2"/>
                </a:solidFill>
                <a:latin typeface="BLS Condensed Bold" panose="00000800000000000000" pitchFamily="2" charset="-34"/>
                <a:ea typeface="Tahoma" pitchFamily="34" charset="0"/>
                <a:cs typeface="BLS Condensed Bold" panose="00000800000000000000" pitchFamily="2" charset="-34"/>
              </a:rPr>
              <a:t>BOI fast pass</a:t>
            </a:r>
            <a:r>
              <a:rPr lang="th-TH" altLang="en-US" sz="2800" dirty="0">
                <a:solidFill>
                  <a:schemeClr val="tx2"/>
                </a:solidFill>
                <a:latin typeface="BLS Condensed Bold" panose="00000800000000000000" pitchFamily="2" charset="-34"/>
                <a:ea typeface="Tahoma" pitchFamily="34" charset="0"/>
                <a:cs typeface="BLS Condensed Bold" panose="00000800000000000000" pitchFamily="2" charset="-34"/>
              </a:rPr>
              <a:t> เด่น</a:t>
            </a:r>
          </a:p>
        </p:txBody>
      </p:sp>
      <p:graphicFrame>
        <p:nvGraphicFramePr>
          <p:cNvPr id="4" name="Table 3">
            <a:extLst>
              <a:ext uri="{FF2B5EF4-FFF2-40B4-BE49-F238E27FC236}">
                <a16:creationId xmlns:a16="http://schemas.microsoft.com/office/drawing/2014/main" id="{8C647D0E-DE42-A983-B2BB-1AF2A3356433}"/>
              </a:ext>
            </a:extLst>
          </p:cNvPr>
          <p:cNvGraphicFramePr>
            <a:graphicFrameLocks noGrp="1"/>
          </p:cNvGraphicFramePr>
          <p:nvPr>
            <p:extLst>
              <p:ext uri="{D42A27DB-BD31-4B8C-83A1-F6EECF244321}">
                <p14:modId xmlns:p14="http://schemas.microsoft.com/office/powerpoint/2010/main" val="3688719702"/>
              </p:ext>
            </p:extLst>
          </p:nvPr>
        </p:nvGraphicFramePr>
        <p:xfrm>
          <a:off x="188640" y="2411760"/>
          <a:ext cx="6552728" cy="6061522"/>
        </p:xfrm>
        <a:graphic>
          <a:graphicData uri="http://schemas.openxmlformats.org/drawingml/2006/table">
            <a:tbl>
              <a:tblPr firstRow="1" bandRow="1">
                <a:tableStyleId>{5C22544A-7EE6-4342-B048-85BDC9FD1C3A}</a:tableStyleId>
              </a:tblPr>
              <a:tblGrid>
                <a:gridCol w="738843">
                  <a:extLst>
                    <a:ext uri="{9D8B030D-6E8A-4147-A177-3AD203B41FA5}">
                      <a16:colId xmlns:a16="http://schemas.microsoft.com/office/drawing/2014/main" val="1724207293"/>
                    </a:ext>
                  </a:extLst>
                </a:gridCol>
                <a:gridCol w="3149589">
                  <a:extLst>
                    <a:ext uri="{9D8B030D-6E8A-4147-A177-3AD203B41FA5}">
                      <a16:colId xmlns:a16="http://schemas.microsoft.com/office/drawing/2014/main" val="3441561960"/>
                    </a:ext>
                  </a:extLst>
                </a:gridCol>
                <a:gridCol w="1332148">
                  <a:extLst>
                    <a:ext uri="{9D8B030D-6E8A-4147-A177-3AD203B41FA5}">
                      <a16:colId xmlns:a16="http://schemas.microsoft.com/office/drawing/2014/main" val="1620292100"/>
                    </a:ext>
                  </a:extLst>
                </a:gridCol>
                <a:gridCol w="1332148">
                  <a:extLst>
                    <a:ext uri="{9D8B030D-6E8A-4147-A177-3AD203B41FA5}">
                      <a16:colId xmlns:a16="http://schemas.microsoft.com/office/drawing/2014/main" val="4160789395"/>
                    </a:ext>
                  </a:extLst>
                </a:gridCol>
              </a:tblGrid>
              <a:tr h="373296">
                <a:tc>
                  <a:txBody>
                    <a:bodyPr/>
                    <a:lstStyle/>
                    <a:p>
                      <a:pPr algn="ctr"/>
                      <a:r>
                        <a:rPr lang="th-TH" sz="900" dirty="0">
                          <a:latin typeface="BLS Text" panose="00000500000000000000" pitchFamily="2" charset="-34"/>
                          <a:cs typeface="BLS Text" panose="00000500000000000000" pitchFamily="2" charset="-34"/>
                        </a:rPr>
                        <a:t>กรอบระยะเวลา</a:t>
                      </a:r>
                    </a:p>
                  </a:txBody>
                  <a:tcPr anchor="ctr"/>
                </a:tc>
                <a:tc>
                  <a:txBody>
                    <a:bodyPr/>
                    <a:lstStyle/>
                    <a:p>
                      <a:pPr algn="ctr"/>
                      <a:r>
                        <a:rPr lang="th-TH" sz="900" dirty="0">
                          <a:latin typeface="BLS Text" panose="00000500000000000000" pitchFamily="2" charset="-34"/>
                          <a:cs typeface="BLS Text" panose="00000500000000000000" pitchFamily="2" charset="-34"/>
                        </a:rPr>
                        <a:t>รายละเอียดนโยบายหลัก</a:t>
                      </a:r>
                    </a:p>
                  </a:txBody>
                  <a:tcPr anchor="ctr"/>
                </a:tc>
                <a:tc>
                  <a:txBody>
                    <a:bodyPr/>
                    <a:lstStyle/>
                    <a:p>
                      <a:pPr algn="ctr"/>
                      <a:r>
                        <a:rPr lang="th-TH" sz="900" dirty="0">
                          <a:latin typeface="BLS Text" panose="00000500000000000000" pitchFamily="2" charset="-34"/>
                          <a:cs typeface="BLS Text" panose="00000500000000000000" pitchFamily="2" charset="-34"/>
                        </a:rPr>
                        <a:t>นัยต่อเศรษฐกิจ</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th-TH" sz="900" dirty="0">
                          <a:latin typeface="BLS Text" panose="00000500000000000000" pitchFamily="2" charset="-34"/>
                          <a:cs typeface="BLS Text" panose="00000500000000000000" pitchFamily="2" charset="-34"/>
                        </a:rPr>
                        <a:t>อุตสาหกรรมที่ได้ประโยชน์</a:t>
                      </a:r>
                    </a:p>
                  </a:txBody>
                  <a:tcPr anchor="ctr"/>
                </a:tc>
                <a:extLst>
                  <a:ext uri="{0D108BD9-81ED-4DB2-BD59-A6C34878D82A}">
                    <a16:rowId xmlns:a16="http://schemas.microsoft.com/office/drawing/2014/main" val="3267572854"/>
                  </a:ext>
                </a:extLst>
              </a:tr>
              <a:tr h="1171734">
                <a:tc rowSpan="7">
                  <a:txBody>
                    <a:bodyPr/>
                    <a:lstStyle/>
                    <a:p>
                      <a:r>
                        <a:rPr lang="th-TH" sz="900" b="1" dirty="0">
                          <a:solidFill>
                            <a:schemeClr val="tx1">
                              <a:lumMod val="75000"/>
                              <a:lumOff val="25000"/>
                            </a:schemeClr>
                          </a:solidFill>
                          <a:latin typeface="BLS Text" panose="00000500000000000000" pitchFamily="2" charset="-34"/>
                          <a:cs typeface="BLS Text" panose="00000500000000000000" pitchFamily="2" charset="-34"/>
                        </a:rPr>
                        <a:t>ระยะสั้น</a:t>
                      </a:r>
                      <a:r>
                        <a:rPr lang="en-US" sz="900" b="1" dirty="0">
                          <a:solidFill>
                            <a:schemeClr val="tx1">
                              <a:lumMod val="75000"/>
                              <a:lumOff val="25000"/>
                            </a:schemeClr>
                          </a:solidFill>
                          <a:latin typeface="BLS Text" panose="00000500000000000000" pitchFamily="2" charset="-34"/>
                          <a:cs typeface="BLS Text" panose="00000500000000000000" pitchFamily="2" charset="-34"/>
                        </a:rPr>
                        <a:t> (</a:t>
                      </a:r>
                      <a:r>
                        <a:rPr lang="th-TH" sz="900" b="1" dirty="0">
                          <a:solidFill>
                            <a:schemeClr val="tx1">
                              <a:lumMod val="75000"/>
                              <a:lumOff val="25000"/>
                            </a:schemeClr>
                          </a:solidFill>
                          <a:latin typeface="BLS Text" panose="00000500000000000000" pitchFamily="2" charset="-34"/>
                          <a:cs typeface="BLS Text" panose="00000500000000000000" pitchFamily="2" charset="-34"/>
                        </a:rPr>
                        <a:t>ภายใน 1 ปี)</a:t>
                      </a:r>
                      <a:endParaRPr lang="th-TH" sz="900" dirty="0">
                        <a:solidFill>
                          <a:schemeClr val="tx1">
                            <a:lumMod val="75000"/>
                            <a:lumOff val="25000"/>
                          </a:schemeClr>
                        </a:solidFill>
                        <a:latin typeface="BLS Text" panose="00000500000000000000" pitchFamily="2" charset="-34"/>
                        <a:cs typeface="BLS Text" panose="00000500000000000000" pitchFamily="2" charset="-34"/>
                      </a:endParaRPr>
                    </a:p>
                  </a:txBody>
                  <a:tcPr anchor="ctr">
                    <a:noFill/>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th-TH" sz="850" dirty="0">
                          <a:solidFill>
                            <a:schemeClr val="tx1">
                              <a:lumMod val="75000"/>
                              <a:lumOff val="25000"/>
                            </a:schemeClr>
                          </a:solidFill>
                          <a:latin typeface="BLS Text" panose="00000500000000000000" pitchFamily="2" charset="-34"/>
                          <a:cs typeface="BLS Text" panose="00000500000000000000" pitchFamily="2" charset="-34"/>
                        </a:rPr>
                        <a:t>มาตรการ </a:t>
                      </a:r>
                      <a:r>
                        <a:rPr lang="en-US" sz="850" dirty="0">
                          <a:solidFill>
                            <a:schemeClr val="tx1">
                              <a:lumMod val="75000"/>
                              <a:lumOff val="25000"/>
                            </a:schemeClr>
                          </a:solidFill>
                          <a:latin typeface="BLS Text" panose="00000500000000000000" pitchFamily="2" charset="-34"/>
                          <a:cs typeface="BLS Text" panose="00000500000000000000" pitchFamily="2" charset="-34"/>
                        </a:rPr>
                        <a:t>BOI Fast Pass </a:t>
                      </a:r>
                      <a:r>
                        <a:rPr lang="th-TH" sz="850" dirty="0">
                          <a:solidFill>
                            <a:schemeClr val="tx1">
                              <a:lumMod val="75000"/>
                              <a:lumOff val="25000"/>
                            </a:schemeClr>
                          </a:solidFill>
                          <a:latin typeface="BLS Text" panose="00000500000000000000" pitchFamily="2" charset="-34"/>
                          <a:cs typeface="BLS Text" panose="00000500000000000000" pitchFamily="2" charset="-34"/>
                        </a:rPr>
                        <a:t>เพื่อเร่งกระบวนการอนุมัติคำขอส่งเสริมการลงทุน</a:t>
                      </a:r>
                    </a:p>
                  </a:txBody>
                  <a:tcPr>
                    <a:noFill/>
                  </a:tcPr>
                </a:tc>
                <a:tc>
                  <a:txBody>
                    <a:bodyPr/>
                    <a:lstStyle/>
                    <a:p>
                      <a:pPr marL="0" indent="0">
                        <a:lnSpc>
                          <a:spcPts val="1400"/>
                        </a:lnSpc>
                        <a:buFont typeface="Wingdings" panose="05000000000000000000" pitchFamily="2" charset="2"/>
                        <a:buNone/>
                      </a:pPr>
                      <a:r>
                        <a:rPr lang="th-TH" sz="850" dirty="0">
                          <a:solidFill>
                            <a:schemeClr val="tx1">
                              <a:lumMod val="75000"/>
                              <a:lumOff val="25000"/>
                            </a:schemeClr>
                          </a:solidFill>
                          <a:latin typeface="BLS Text" panose="00000500000000000000" pitchFamily="2" charset="-34"/>
                          <a:cs typeface="BLS Text" panose="00000500000000000000" pitchFamily="2" charset="-34"/>
                        </a:rPr>
                        <a:t>เร่งการลงทุนจริงและนำเม็ดเงินไหลเข้าสู่ระบบเศรษฐกิจ</a:t>
                      </a:r>
                    </a:p>
                  </a:txBody>
                  <a:tcPr>
                    <a:noFill/>
                  </a:tcPr>
                </a:tc>
                <a:tc>
                  <a:txBody>
                    <a:bodyPr/>
                    <a:lstStyle/>
                    <a:p>
                      <a:pPr marL="0" indent="0" algn="ctr">
                        <a:lnSpc>
                          <a:spcPts val="1400"/>
                        </a:lnSpc>
                        <a:buFont typeface="Wingdings" panose="05000000000000000000" pitchFamily="2" charset="2"/>
                        <a:buNone/>
                      </a:pPr>
                      <a:r>
                        <a:rPr lang="th-TH" sz="900" dirty="0">
                          <a:solidFill>
                            <a:schemeClr val="tx1">
                              <a:lumMod val="75000"/>
                              <a:lumOff val="25000"/>
                            </a:schemeClr>
                          </a:solidFill>
                          <a:latin typeface="BLS Text" panose="00000500000000000000" pitchFamily="2" charset="-34"/>
                          <a:cs typeface="BLS Text" panose="00000500000000000000" pitchFamily="2" charset="-34"/>
                        </a:rPr>
                        <a:t>กลุ่มโรงไฟฟ้า-น้ำ รวมถึงรับเหมาก่อสร้าง-ระบบไฟฟ้า/สื่อสาร/ นิคมฯ </a:t>
                      </a:r>
                      <a:r>
                        <a:rPr lang="en-US" sz="900" dirty="0">
                          <a:solidFill>
                            <a:schemeClr val="tx1">
                              <a:lumMod val="75000"/>
                              <a:lumOff val="25000"/>
                            </a:schemeClr>
                          </a:solidFill>
                          <a:latin typeface="BLS Text" panose="00000500000000000000" pitchFamily="2" charset="-34"/>
                          <a:cs typeface="BLS Text" panose="00000500000000000000" pitchFamily="2" charset="-34"/>
                        </a:rPr>
                        <a:t>GULF, GUNKUL, TRUE, WHA, WHAUP</a:t>
                      </a:r>
                      <a:endParaRPr lang="th-TH" sz="900" dirty="0">
                        <a:solidFill>
                          <a:schemeClr val="tx1">
                            <a:lumMod val="75000"/>
                            <a:lumOff val="25000"/>
                          </a:schemeClr>
                        </a:solidFill>
                        <a:latin typeface="BLS Text" panose="00000500000000000000" pitchFamily="2" charset="-34"/>
                        <a:cs typeface="BLS Text" panose="00000500000000000000" pitchFamily="2" charset="-34"/>
                      </a:endParaRPr>
                    </a:p>
                    <a:p>
                      <a:pPr marL="0" indent="0" algn="ctr">
                        <a:lnSpc>
                          <a:spcPts val="1400"/>
                        </a:lnSpc>
                        <a:buFont typeface="Wingdings" panose="05000000000000000000" pitchFamily="2" charset="2"/>
                        <a:buNone/>
                      </a:pPr>
                      <a:endParaRPr lang="th-TH" sz="900" dirty="0">
                        <a:solidFill>
                          <a:schemeClr val="tx1">
                            <a:lumMod val="75000"/>
                            <a:lumOff val="25000"/>
                          </a:schemeClr>
                        </a:solidFill>
                        <a:latin typeface="BLS Text" panose="00000500000000000000" pitchFamily="2" charset="-34"/>
                        <a:cs typeface="BLS Text" panose="00000500000000000000" pitchFamily="2" charset="-34"/>
                      </a:endParaRPr>
                    </a:p>
                  </a:txBody>
                  <a:tcPr>
                    <a:noFill/>
                  </a:tcPr>
                </a:tc>
                <a:extLst>
                  <a:ext uri="{0D108BD9-81ED-4DB2-BD59-A6C34878D82A}">
                    <a16:rowId xmlns:a16="http://schemas.microsoft.com/office/drawing/2014/main" val="2233384893"/>
                  </a:ext>
                </a:extLst>
              </a:tr>
              <a:tr h="225533">
                <a:tc vMerge="1">
                  <a:txBody>
                    <a:bodyPr/>
                    <a:lstStyle/>
                    <a:p>
                      <a:endParaRPr lang="th-TH" sz="1100" dirty="0">
                        <a:latin typeface="BLS Text" panose="00000500000000000000" pitchFamily="2" charset="-34"/>
                        <a:cs typeface="BLS Text" panose="00000500000000000000" pitchFamily="2" charset="-34"/>
                      </a:endParaRPr>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th-TH" sz="850" dirty="0">
                          <a:solidFill>
                            <a:schemeClr val="tx1">
                              <a:lumMod val="75000"/>
                              <a:lumOff val="25000"/>
                            </a:schemeClr>
                          </a:solidFill>
                          <a:latin typeface="BLS Text" panose="00000500000000000000" pitchFamily="2" charset="-34"/>
                          <a:cs typeface="BLS Text" panose="00000500000000000000" pitchFamily="2" charset="-34"/>
                        </a:rPr>
                        <a:t>มาตรการกระตุ้นเศรษฐกิจ (เช่น คนละครึ่งพลัส)</a:t>
                      </a:r>
                    </a:p>
                  </a:txBody>
                  <a:tcPr>
                    <a:noFill/>
                  </a:tcPr>
                </a:tc>
                <a:tc rowSpan="4">
                  <a:txBody>
                    <a:bodyPr/>
                    <a:lstStyle/>
                    <a:p>
                      <a:pPr marL="0" indent="0">
                        <a:lnSpc>
                          <a:spcPts val="1400"/>
                        </a:lnSpc>
                        <a:buFont typeface="Wingdings" panose="05000000000000000000" pitchFamily="2" charset="2"/>
                        <a:buNone/>
                      </a:pPr>
                      <a:r>
                        <a:rPr lang="th-TH" sz="850" dirty="0">
                          <a:solidFill>
                            <a:schemeClr val="tx1">
                              <a:lumMod val="75000"/>
                              <a:lumOff val="25000"/>
                            </a:schemeClr>
                          </a:solidFill>
                          <a:latin typeface="BLS Text" panose="00000500000000000000" pitchFamily="2" charset="-34"/>
                          <a:cs typeface="BLS Text" panose="00000500000000000000" pitchFamily="2" charset="-34"/>
                        </a:rPr>
                        <a:t>สนับสนุนการฟื้นตัวของการบริโภคภายในประเทศ ผ่านการเสริมกำลังซื้อของครัวเรือน การลดภาระหนี้</a:t>
                      </a:r>
                    </a:p>
                  </a:txBody>
                  <a:tcPr anchor="ctr">
                    <a:noFill/>
                  </a:tcPr>
                </a:tc>
                <a:tc rowSpan="6">
                  <a:txBody>
                    <a:bodyPr/>
                    <a:lstStyle/>
                    <a:p>
                      <a:pPr marL="0" indent="0" algn="ctr">
                        <a:lnSpc>
                          <a:spcPts val="1400"/>
                        </a:lnSpc>
                        <a:buFont typeface="Wingdings" panose="05000000000000000000" pitchFamily="2" charset="2"/>
                        <a:buNone/>
                      </a:pPr>
                      <a:r>
                        <a:rPr lang="th-TH" sz="900" dirty="0">
                          <a:solidFill>
                            <a:schemeClr val="tx1">
                              <a:lumMod val="75000"/>
                              <a:lumOff val="25000"/>
                            </a:schemeClr>
                          </a:solidFill>
                          <a:latin typeface="BLS Text" panose="00000500000000000000" pitchFamily="2" charset="-34"/>
                          <a:cs typeface="BLS Text" panose="00000500000000000000" pitchFamily="2" charset="-34"/>
                        </a:rPr>
                        <a:t>กลุ่มค้าปลีก-ห้างสรรพสินค้า </a:t>
                      </a:r>
                    </a:p>
                    <a:p>
                      <a:pPr marL="0" indent="0" algn="ctr">
                        <a:lnSpc>
                          <a:spcPts val="1400"/>
                        </a:lnSpc>
                        <a:buFont typeface="Wingdings" panose="05000000000000000000" pitchFamily="2" charset="2"/>
                        <a:buNone/>
                      </a:pPr>
                      <a:r>
                        <a:rPr lang="en-US" sz="900" dirty="0">
                          <a:solidFill>
                            <a:schemeClr val="tx1">
                              <a:lumMod val="75000"/>
                              <a:lumOff val="25000"/>
                            </a:schemeClr>
                          </a:solidFill>
                          <a:latin typeface="BLS Text" panose="00000500000000000000" pitchFamily="2" charset="-34"/>
                          <a:cs typeface="BLS Text" panose="00000500000000000000" pitchFamily="2" charset="-34"/>
                        </a:rPr>
                        <a:t>CPALL, CPN</a:t>
                      </a:r>
                      <a:endParaRPr lang="th-TH" sz="900" dirty="0">
                        <a:solidFill>
                          <a:schemeClr val="tx1">
                            <a:lumMod val="75000"/>
                            <a:lumOff val="25000"/>
                          </a:schemeClr>
                        </a:solidFill>
                        <a:latin typeface="BLS Text" panose="00000500000000000000" pitchFamily="2" charset="-34"/>
                        <a:cs typeface="BLS Text" panose="00000500000000000000" pitchFamily="2" charset="-34"/>
                      </a:endParaRPr>
                    </a:p>
                    <a:p>
                      <a:pPr marL="0" indent="0" algn="ctr">
                        <a:lnSpc>
                          <a:spcPts val="1400"/>
                        </a:lnSpc>
                        <a:buFont typeface="Wingdings" panose="05000000000000000000" pitchFamily="2" charset="2"/>
                        <a:buNone/>
                      </a:pPr>
                      <a:endParaRPr lang="th-TH" sz="900" dirty="0">
                        <a:solidFill>
                          <a:schemeClr val="tx1">
                            <a:lumMod val="75000"/>
                            <a:lumOff val="25000"/>
                          </a:schemeClr>
                        </a:solidFill>
                        <a:latin typeface="BLS Text" panose="00000500000000000000" pitchFamily="2" charset="-34"/>
                        <a:cs typeface="BLS Text" panose="00000500000000000000" pitchFamily="2" charset="-34"/>
                      </a:endParaRPr>
                    </a:p>
                  </a:txBody>
                  <a:tcPr anchor="ctr">
                    <a:noFill/>
                  </a:tcPr>
                </a:tc>
                <a:extLst>
                  <a:ext uri="{0D108BD9-81ED-4DB2-BD59-A6C34878D82A}">
                    <a16:rowId xmlns:a16="http://schemas.microsoft.com/office/drawing/2014/main" val="3340663785"/>
                  </a:ext>
                </a:extLst>
              </a:tr>
              <a:tr h="225533">
                <a:tc vMerge="1">
                  <a:txBody>
                    <a:bodyPr/>
                    <a:lstStyle/>
                    <a:p>
                      <a:endParaRPr lang="th-TH"/>
                    </a:p>
                  </a:txBody>
                  <a:tcPr/>
                </a:tc>
                <a:tc>
                  <a:txBody>
                    <a:bodyPr/>
                    <a:lstStyle/>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th-TH" sz="850" dirty="0">
                          <a:solidFill>
                            <a:schemeClr val="tx1">
                              <a:lumMod val="75000"/>
                              <a:lumOff val="25000"/>
                            </a:schemeClr>
                          </a:solidFill>
                          <a:latin typeface="BLS Text" panose="00000500000000000000" pitchFamily="2" charset="-34"/>
                          <a:cs typeface="BLS Text" panose="00000500000000000000" pitchFamily="2" charset="-34"/>
                        </a:rPr>
                        <a:t>ขยายสิทธิบัตรสวัสดิการของรัฐ</a:t>
                      </a:r>
                    </a:p>
                  </a:txBody>
                  <a:tcPr>
                    <a:noFill/>
                  </a:tcPr>
                </a:tc>
                <a:tc vMerge="1">
                  <a:txBody>
                    <a:bodyPr/>
                    <a:lstStyle/>
                    <a:p>
                      <a:pPr marL="171450" indent="-171450">
                        <a:buFont typeface="Wingdings" panose="05000000000000000000" pitchFamily="2" charset="2"/>
                        <a:buChar char="§"/>
                      </a:pPr>
                      <a:endParaRPr lang="th-TH" sz="1000" dirty="0">
                        <a:solidFill>
                          <a:schemeClr val="tx1">
                            <a:lumMod val="75000"/>
                            <a:lumOff val="25000"/>
                          </a:schemeClr>
                        </a:solidFill>
                        <a:latin typeface="BLS Text" panose="00000500000000000000" pitchFamily="2" charset="-34"/>
                        <a:cs typeface="BLS Text" panose="00000500000000000000" pitchFamily="2" charset="-34"/>
                      </a:endParaRPr>
                    </a:p>
                  </a:txBody>
                  <a:tcPr>
                    <a:noFill/>
                  </a:tcPr>
                </a:tc>
                <a:tc vMerge="1">
                  <a:txBody>
                    <a:bodyPr/>
                    <a:lstStyle/>
                    <a:p>
                      <a:endParaRPr lang="en-US"/>
                    </a:p>
                  </a:txBody>
                  <a:tcPr/>
                </a:tc>
                <a:extLst>
                  <a:ext uri="{0D108BD9-81ED-4DB2-BD59-A6C34878D82A}">
                    <a16:rowId xmlns:a16="http://schemas.microsoft.com/office/drawing/2014/main" val="2342518070"/>
                  </a:ext>
                </a:extLst>
              </a:tr>
              <a:tr h="357742">
                <a:tc vMerge="1">
                  <a:txBody>
                    <a:bodyPr/>
                    <a:lstStyle/>
                    <a:p>
                      <a:endParaRPr lang="th-TH" sz="1100" dirty="0">
                        <a:latin typeface="BLS Text" panose="00000500000000000000" pitchFamily="2" charset="-34"/>
                        <a:cs typeface="BLS Text" panose="00000500000000000000" pitchFamily="2" charset="-34"/>
                      </a:endParaRPr>
                    </a:p>
                  </a:txBody>
                  <a:tcPr/>
                </a:tc>
                <a:tc>
                  <a:txBody>
                    <a:bodyPr/>
                    <a:lstStyle/>
                    <a:p>
                      <a:pPr marL="171450" indent="-171450">
                        <a:buFont typeface="Wingdings" panose="05000000000000000000" pitchFamily="2" charset="2"/>
                        <a:buChar char="§"/>
                      </a:pPr>
                      <a:r>
                        <a:rPr lang="th-TH" sz="850" dirty="0">
                          <a:solidFill>
                            <a:schemeClr val="tx1">
                              <a:lumMod val="75000"/>
                              <a:lumOff val="25000"/>
                            </a:schemeClr>
                          </a:solidFill>
                          <a:latin typeface="BLS Text" panose="00000500000000000000" pitchFamily="2" charset="-34"/>
                          <a:cs typeface="BLS Text" panose="00000500000000000000" pitchFamily="2" charset="-34"/>
                        </a:rPr>
                        <a:t>ปิดหนี้ไวไปต่อได้ สำหรับลูกหนี้ที่มียอดหนี้ไม่เกิน 100,000 บาท ผ่านกลไก </a:t>
                      </a:r>
                      <a:r>
                        <a:rPr lang="en-US" sz="850" dirty="0">
                          <a:solidFill>
                            <a:schemeClr val="tx1">
                              <a:lumMod val="75000"/>
                              <a:lumOff val="25000"/>
                            </a:schemeClr>
                          </a:solidFill>
                          <a:latin typeface="BLS Text" panose="00000500000000000000" pitchFamily="2" charset="-34"/>
                          <a:cs typeface="BLS Text" panose="00000500000000000000" pitchFamily="2" charset="-34"/>
                        </a:rPr>
                        <a:t>AMC</a:t>
                      </a:r>
                      <a:endParaRPr lang="th-TH" sz="850" dirty="0">
                        <a:solidFill>
                          <a:schemeClr val="tx1">
                            <a:lumMod val="75000"/>
                            <a:lumOff val="25000"/>
                          </a:schemeClr>
                        </a:solidFill>
                        <a:latin typeface="BLS Text" panose="00000500000000000000" pitchFamily="2" charset="-34"/>
                        <a:cs typeface="BLS Text" panose="00000500000000000000" pitchFamily="2" charset="-34"/>
                      </a:endParaRPr>
                    </a:p>
                  </a:txBody>
                  <a:tcPr>
                    <a:noFill/>
                  </a:tcPr>
                </a:tc>
                <a:tc vMerge="1">
                  <a:txBody>
                    <a:bodyPr/>
                    <a:lstStyle/>
                    <a:p>
                      <a:pPr marL="171450" indent="-171450">
                        <a:buFont typeface="Wingdings" panose="05000000000000000000" pitchFamily="2" charset="2"/>
                        <a:buChar char="§"/>
                      </a:pPr>
                      <a:endParaRPr lang="th-TH" sz="1000" dirty="0">
                        <a:solidFill>
                          <a:schemeClr val="tx1">
                            <a:lumMod val="75000"/>
                            <a:lumOff val="25000"/>
                          </a:schemeClr>
                        </a:solidFill>
                        <a:latin typeface="BLS Text" panose="00000500000000000000" pitchFamily="2" charset="-34"/>
                        <a:cs typeface="BLS Text" panose="00000500000000000000" pitchFamily="2" charset="-34"/>
                      </a:endParaRPr>
                    </a:p>
                  </a:txBody>
                  <a:tcPr>
                    <a:noFill/>
                  </a:tcPr>
                </a:tc>
                <a:tc vMerge="1">
                  <a:txBody>
                    <a:bodyPr/>
                    <a:lstStyle/>
                    <a:p>
                      <a:endParaRPr lang="en-US"/>
                    </a:p>
                  </a:txBody>
                  <a:tcPr/>
                </a:tc>
                <a:extLst>
                  <a:ext uri="{0D108BD9-81ED-4DB2-BD59-A6C34878D82A}">
                    <a16:rowId xmlns:a16="http://schemas.microsoft.com/office/drawing/2014/main" val="674813225"/>
                  </a:ext>
                </a:extLst>
              </a:tr>
              <a:tr h="357742">
                <a:tc vMerge="1">
                  <a:txBody>
                    <a:bodyPr/>
                    <a:lstStyle/>
                    <a:p>
                      <a:endParaRPr lang="th-TH" sz="1100" dirty="0">
                        <a:latin typeface="BLS Text" panose="00000500000000000000" pitchFamily="2" charset="-34"/>
                        <a:cs typeface="BLS Text" panose="00000500000000000000" pitchFamily="2" charset="-34"/>
                      </a:endParaRPr>
                    </a:p>
                  </a:txBody>
                  <a:tcPr/>
                </a:tc>
                <a:tc>
                  <a:txBody>
                    <a:bodyPr/>
                    <a:lstStyle/>
                    <a:p>
                      <a:pPr marL="171450" indent="-171450">
                        <a:buFont typeface="Wingdings" panose="05000000000000000000" pitchFamily="2" charset="2"/>
                        <a:buChar char="§"/>
                      </a:pPr>
                      <a:r>
                        <a:rPr lang="th-TH" sz="850" dirty="0">
                          <a:solidFill>
                            <a:schemeClr val="tx1">
                              <a:lumMod val="75000"/>
                              <a:lumOff val="25000"/>
                            </a:schemeClr>
                          </a:solidFill>
                          <a:latin typeface="BLS Text" panose="00000500000000000000" pitchFamily="2" charset="-34"/>
                          <a:cs typeface="BLS Text" panose="00000500000000000000" pitchFamily="2" charset="-34"/>
                        </a:rPr>
                        <a:t>ลดค่าไฟ โดยตั้งเป้าค่าไฟไม่เกิน 3 บาทต่อหน่วย สำหรับ 200 หน่วยแรก/โครงการโซลาร์ฟาร์มชุมชนเพื่อช่วยลดภาระครัวเรือน</a:t>
                      </a:r>
                    </a:p>
                  </a:txBody>
                  <a:tcPr>
                    <a:noFill/>
                  </a:tcPr>
                </a:tc>
                <a:tc vMerge="1">
                  <a:txBody>
                    <a:bodyPr/>
                    <a:lstStyle/>
                    <a:p>
                      <a:pPr marL="171450" indent="-171450">
                        <a:buFont typeface="Wingdings" panose="05000000000000000000" pitchFamily="2" charset="2"/>
                        <a:buChar char="§"/>
                      </a:pPr>
                      <a:endParaRPr lang="th-TH" sz="1000" dirty="0">
                        <a:solidFill>
                          <a:schemeClr val="tx1">
                            <a:lumMod val="75000"/>
                            <a:lumOff val="25000"/>
                          </a:schemeClr>
                        </a:solidFill>
                        <a:latin typeface="BLS Text" panose="00000500000000000000" pitchFamily="2" charset="-34"/>
                        <a:cs typeface="BLS Text" panose="00000500000000000000" pitchFamily="2" charset="-34"/>
                      </a:endParaRPr>
                    </a:p>
                  </a:txBody>
                  <a:tcPr>
                    <a:noFill/>
                  </a:tcPr>
                </a:tc>
                <a:tc vMerge="1">
                  <a:txBody>
                    <a:bodyPr/>
                    <a:lstStyle/>
                    <a:p>
                      <a:endParaRPr lang="en-US"/>
                    </a:p>
                  </a:txBody>
                  <a:tcPr/>
                </a:tc>
                <a:extLst>
                  <a:ext uri="{0D108BD9-81ED-4DB2-BD59-A6C34878D82A}">
                    <a16:rowId xmlns:a16="http://schemas.microsoft.com/office/drawing/2014/main" val="140711691"/>
                  </a:ext>
                </a:extLst>
              </a:tr>
              <a:tr h="225533">
                <a:tc vMerge="1">
                  <a:txBody>
                    <a:bodyPr/>
                    <a:lstStyle/>
                    <a:p>
                      <a:endParaRPr lang="th-TH" sz="1100" dirty="0">
                        <a:latin typeface="BLS Text" panose="00000500000000000000" pitchFamily="2" charset="-34"/>
                        <a:cs typeface="BLS Text" panose="00000500000000000000" pitchFamily="2" charset="-34"/>
                      </a:endParaRPr>
                    </a:p>
                  </a:txBody>
                  <a:tcPr/>
                </a:tc>
                <a:tc>
                  <a:txBody>
                    <a:bodyPr/>
                    <a:lstStyle/>
                    <a:p>
                      <a:pPr marL="171450" indent="-171450">
                        <a:buFont typeface="Wingdings" panose="05000000000000000000" pitchFamily="2" charset="2"/>
                        <a:buChar char="§"/>
                      </a:pPr>
                      <a:r>
                        <a:rPr lang="th-TH" sz="850" dirty="0">
                          <a:solidFill>
                            <a:schemeClr val="tx1">
                              <a:lumMod val="75000"/>
                              <a:lumOff val="25000"/>
                            </a:schemeClr>
                          </a:solidFill>
                          <a:latin typeface="BLS Text" panose="00000500000000000000" pitchFamily="2" charset="-34"/>
                          <a:cs typeface="BLS Text" panose="00000500000000000000" pitchFamily="2" charset="-34"/>
                        </a:rPr>
                        <a:t>ค้ำประกันสินเชื่อ </a:t>
                      </a:r>
                      <a:r>
                        <a:rPr lang="en-US" sz="850" dirty="0">
                          <a:solidFill>
                            <a:schemeClr val="tx1">
                              <a:lumMod val="75000"/>
                              <a:lumOff val="25000"/>
                            </a:schemeClr>
                          </a:solidFill>
                          <a:latin typeface="BLS Text" panose="00000500000000000000" pitchFamily="2" charset="-34"/>
                          <a:cs typeface="BLS Text" panose="00000500000000000000" pitchFamily="2" charset="-34"/>
                        </a:rPr>
                        <a:t>SMEs </a:t>
                      </a:r>
                      <a:r>
                        <a:rPr lang="th-TH" sz="850" dirty="0">
                          <a:solidFill>
                            <a:schemeClr val="tx1">
                              <a:lumMod val="75000"/>
                              <a:lumOff val="25000"/>
                            </a:schemeClr>
                          </a:solidFill>
                          <a:latin typeface="BLS Text" panose="00000500000000000000" pitchFamily="2" charset="-34"/>
                          <a:cs typeface="BLS Text" panose="00000500000000000000" pitchFamily="2" charset="-34"/>
                        </a:rPr>
                        <a:t>เพื่อให้ </a:t>
                      </a:r>
                      <a:r>
                        <a:rPr lang="en-US" sz="850" dirty="0">
                          <a:solidFill>
                            <a:schemeClr val="tx1">
                              <a:lumMod val="75000"/>
                              <a:lumOff val="25000"/>
                            </a:schemeClr>
                          </a:solidFill>
                          <a:latin typeface="BLS Text" panose="00000500000000000000" pitchFamily="2" charset="-34"/>
                          <a:cs typeface="BLS Text" panose="00000500000000000000" pitchFamily="2" charset="-34"/>
                        </a:rPr>
                        <a:t>SMEs </a:t>
                      </a:r>
                      <a:r>
                        <a:rPr lang="th-TH" sz="850" dirty="0">
                          <a:solidFill>
                            <a:schemeClr val="tx1">
                              <a:lumMod val="75000"/>
                              <a:lumOff val="25000"/>
                            </a:schemeClr>
                          </a:solidFill>
                          <a:latin typeface="BLS Text" panose="00000500000000000000" pitchFamily="2" charset="-34"/>
                          <a:cs typeface="BLS Text" panose="00000500000000000000" pitchFamily="2" charset="-34"/>
                        </a:rPr>
                        <a:t>เข้าถึงแหล่งเงินทุน</a:t>
                      </a:r>
                    </a:p>
                  </a:txBody>
                  <a:tcPr>
                    <a:noFill/>
                  </a:tcPr>
                </a:tc>
                <a:tc rowSpan="2">
                  <a:txBody>
                    <a:bodyPr/>
                    <a:lstStyle/>
                    <a:p>
                      <a:pPr marL="0" indent="0">
                        <a:lnSpc>
                          <a:spcPts val="1400"/>
                        </a:lnSpc>
                        <a:buFont typeface="Wingdings" panose="05000000000000000000" pitchFamily="2" charset="2"/>
                        <a:buNone/>
                      </a:pPr>
                      <a:r>
                        <a:rPr lang="th-TH" sz="850" dirty="0">
                          <a:solidFill>
                            <a:schemeClr val="tx1">
                              <a:lumMod val="75000"/>
                              <a:lumOff val="25000"/>
                            </a:schemeClr>
                          </a:solidFill>
                          <a:latin typeface="BLS Text" panose="00000500000000000000" pitchFamily="2" charset="-34"/>
                          <a:cs typeface="BLS Text" panose="00000500000000000000" pitchFamily="2" charset="-34"/>
                        </a:rPr>
                        <a:t>ช่วยเหลือ </a:t>
                      </a:r>
                      <a:r>
                        <a:rPr lang="en-US" sz="850" dirty="0">
                          <a:solidFill>
                            <a:schemeClr val="tx1">
                              <a:lumMod val="75000"/>
                              <a:lumOff val="25000"/>
                            </a:schemeClr>
                          </a:solidFill>
                          <a:latin typeface="BLS Text" panose="00000500000000000000" pitchFamily="2" charset="-34"/>
                          <a:cs typeface="BLS Text" panose="00000500000000000000" pitchFamily="2" charset="-34"/>
                        </a:rPr>
                        <a:t>SMEs </a:t>
                      </a:r>
                      <a:r>
                        <a:rPr lang="th-TH" sz="850" dirty="0">
                          <a:solidFill>
                            <a:schemeClr val="tx1">
                              <a:lumMod val="75000"/>
                              <a:lumOff val="25000"/>
                            </a:schemeClr>
                          </a:solidFill>
                          <a:latin typeface="BLS Text" panose="00000500000000000000" pitchFamily="2" charset="-34"/>
                          <a:cs typeface="BLS Text" panose="00000500000000000000" pitchFamily="2" charset="-34"/>
                        </a:rPr>
                        <a:t>โดยเฉพาะการเพิ่มการเข้าถึงแหล่งเงินทุนของ </a:t>
                      </a:r>
                      <a:r>
                        <a:rPr lang="en-US" sz="850" dirty="0">
                          <a:solidFill>
                            <a:schemeClr val="tx1">
                              <a:lumMod val="75000"/>
                              <a:lumOff val="25000"/>
                            </a:schemeClr>
                          </a:solidFill>
                          <a:latin typeface="BLS Text" panose="00000500000000000000" pitchFamily="2" charset="-34"/>
                          <a:cs typeface="BLS Text" panose="00000500000000000000" pitchFamily="2" charset="-34"/>
                        </a:rPr>
                        <a:t>SMEs</a:t>
                      </a:r>
                      <a:endParaRPr lang="th-TH" sz="850" dirty="0">
                        <a:solidFill>
                          <a:schemeClr val="tx1">
                            <a:lumMod val="75000"/>
                            <a:lumOff val="25000"/>
                          </a:schemeClr>
                        </a:solidFill>
                        <a:latin typeface="BLS Text" panose="00000500000000000000" pitchFamily="2" charset="-34"/>
                        <a:cs typeface="BLS Text" panose="00000500000000000000" pitchFamily="2" charset="-34"/>
                      </a:endParaRPr>
                    </a:p>
                  </a:txBody>
                  <a:tcPr>
                    <a:noFill/>
                  </a:tcPr>
                </a:tc>
                <a:tc vMerge="1">
                  <a:txBody>
                    <a:bodyPr/>
                    <a:lstStyle/>
                    <a:p>
                      <a:pPr marL="0" indent="0">
                        <a:lnSpc>
                          <a:spcPts val="1400"/>
                        </a:lnSpc>
                        <a:buFont typeface="Wingdings" panose="05000000000000000000" pitchFamily="2" charset="2"/>
                        <a:buNone/>
                      </a:pPr>
                      <a:endParaRPr lang="th-TH" sz="900" dirty="0">
                        <a:solidFill>
                          <a:schemeClr val="tx1">
                            <a:lumMod val="75000"/>
                            <a:lumOff val="25000"/>
                          </a:schemeClr>
                        </a:solidFill>
                        <a:latin typeface="BLS Text" panose="00000500000000000000" pitchFamily="2" charset="-34"/>
                        <a:cs typeface="BLS Text" panose="00000500000000000000" pitchFamily="2" charset="-34"/>
                      </a:endParaRPr>
                    </a:p>
                  </a:txBody>
                  <a:tcPr>
                    <a:noFill/>
                  </a:tcPr>
                </a:tc>
                <a:extLst>
                  <a:ext uri="{0D108BD9-81ED-4DB2-BD59-A6C34878D82A}">
                    <a16:rowId xmlns:a16="http://schemas.microsoft.com/office/drawing/2014/main" val="1562488511"/>
                  </a:ext>
                </a:extLst>
              </a:tr>
              <a:tr h="581330">
                <a:tc vMerge="1">
                  <a:txBody>
                    <a:bodyPr/>
                    <a:lstStyle/>
                    <a:p>
                      <a:endParaRPr lang="th-TH" sz="1100" dirty="0">
                        <a:latin typeface="BLS Text" panose="00000500000000000000" pitchFamily="2" charset="-34"/>
                        <a:cs typeface="BLS Text" panose="00000500000000000000" pitchFamily="2" charset="-34"/>
                      </a:endParaRPr>
                    </a:p>
                  </a:txBody>
                  <a:tcPr/>
                </a:tc>
                <a:tc>
                  <a:txBody>
                    <a:bodyPr/>
                    <a:lstStyle/>
                    <a:p>
                      <a:pPr marL="171450" indent="-171450">
                        <a:buFont typeface="Wingdings" panose="05000000000000000000" pitchFamily="2" charset="2"/>
                        <a:buChar char="§"/>
                      </a:pPr>
                      <a:r>
                        <a:rPr lang="th-TH" sz="850" dirty="0">
                          <a:solidFill>
                            <a:schemeClr val="tx1">
                              <a:lumMod val="75000"/>
                              <a:lumOff val="25000"/>
                            </a:schemeClr>
                          </a:solidFill>
                          <a:latin typeface="BLS Text" panose="00000500000000000000" pitchFamily="2" charset="-34"/>
                          <a:cs typeface="BLS Text" panose="00000500000000000000" pitchFamily="2" charset="-34"/>
                        </a:rPr>
                        <a:t>จัดซื้อจัดจ้างภาครัฐโดยเน้นสินค้าไทย สินค้าต้องได้รับใบรับรอง </a:t>
                      </a:r>
                      <a:r>
                        <a:rPr lang="en-US" sz="850" dirty="0">
                          <a:solidFill>
                            <a:schemeClr val="tx1">
                              <a:lumMod val="75000"/>
                              <a:lumOff val="25000"/>
                            </a:schemeClr>
                          </a:solidFill>
                          <a:latin typeface="BLS Text" panose="00000500000000000000" pitchFamily="2" charset="-34"/>
                          <a:cs typeface="BLS Text" panose="00000500000000000000" pitchFamily="2" charset="-34"/>
                        </a:rPr>
                        <a:t>Made in Thailand (MiT) </a:t>
                      </a:r>
                      <a:r>
                        <a:rPr lang="th-TH" sz="850" dirty="0">
                          <a:solidFill>
                            <a:schemeClr val="tx1">
                              <a:lumMod val="75000"/>
                              <a:lumOff val="25000"/>
                            </a:schemeClr>
                          </a:solidFill>
                          <a:latin typeface="BLS Text" panose="00000500000000000000" pitchFamily="2" charset="-34"/>
                          <a:cs typeface="BLS Text" panose="00000500000000000000" pitchFamily="2" charset="-34"/>
                        </a:rPr>
                        <a:t>จากสภาอุตสาหกรรมแห่งประเทศไทย</a:t>
                      </a:r>
                    </a:p>
                  </a:txBody>
                  <a:tcPr>
                    <a:noFill/>
                  </a:tcPr>
                </a:tc>
                <a:tc vMerge="1">
                  <a:txBody>
                    <a:bodyPr/>
                    <a:lstStyle/>
                    <a:p>
                      <a:pPr marL="171450" indent="-171450">
                        <a:buFont typeface="Wingdings" panose="05000000000000000000" pitchFamily="2" charset="2"/>
                        <a:buChar char="§"/>
                      </a:pPr>
                      <a:endParaRPr lang="th-TH" sz="1000" dirty="0">
                        <a:solidFill>
                          <a:schemeClr val="tx1">
                            <a:lumMod val="75000"/>
                            <a:lumOff val="25000"/>
                          </a:schemeClr>
                        </a:solidFill>
                        <a:latin typeface="BLS Text" panose="00000500000000000000" pitchFamily="2" charset="-34"/>
                        <a:cs typeface="BLS Text" panose="00000500000000000000" pitchFamily="2" charset="-34"/>
                      </a:endParaRPr>
                    </a:p>
                  </a:txBody>
                  <a:tcPr>
                    <a:noFill/>
                  </a:tcPr>
                </a:tc>
                <a:tc vMerge="1">
                  <a:txBody>
                    <a:bodyPr/>
                    <a:lstStyle/>
                    <a:p>
                      <a:endParaRPr lang="en-US"/>
                    </a:p>
                  </a:txBody>
                  <a:tcPr/>
                </a:tc>
                <a:extLst>
                  <a:ext uri="{0D108BD9-81ED-4DB2-BD59-A6C34878D82A}">
                    <a16:rowId xmlns:a16="http://schemas.microsoft.com/office/drawing/2014/main" val="2509574612"/>
                  </a:ext>
                </a:extLst>
              </a:tr>
              <a:tr h="357742">
                <a:tc rowSpan="6">
                  <a:txBody>
                    <a:bodyPr/>
                    <a:lstStyle/>
                    <a:p>
                      <a:r>
                        <a:rPr lang="th-TH" sz="900" b="1" dirty="0">
                          <a:solidFill>
                            <a:schemeClr val="tx1">
                              <a:lumMod val="75000"/>
                              <a:lumOff val="25000"/>
                            </a:schemeClr>
                          </a:solidFill>
                          <a:latin typeface="BLS Text" panose="00000500000000000000" pitchFamily="2" charset="-34"/>
                          <a:cs typeface="BLS Text" panose="00000500000000000000" pitchFamily="2" charset="-34"/>
                        </a:rPr>
                        <a:t>ระยะกลาง (1-3 ปี)</a:t>
                      </a:r>
                      <a:endParaRPr lang="th-TH" sz="900" dirty="0">
                        <a:solidFill>
                          <a:schemeClr val="tx1">
                            <a:lumMod val="75000"/>
                            <a:lumOff val="25000"/>
                          </a:schemeClr>
                        </a:solidFill>
                        <a:latin typeface="BLS Text" panose="00000500000000000000" pitchFamily="2" charset="-34"/>
                        <a:cs typeface="BLS Text" panose="00000500000000000000" pitchFamily="2" charset="-34"/>
                      </a:endParaRPr>
                    </a:p>
                  </a:txBody>
                  <a:tcPr anchor="ctr">
                    <a:solidFill>
                      <a:srgbClr val="E8EAEB"/>
                    </a:solidFill>
                  </a:tcPr>
                </a:tc>
                <a:tc>
                  <a:txBody>
                    <a:bodyPr/>
                    <a:lstStyle/>
                    <a:p>
                      <a:pPr marL="171450" indent="-171450">
                        <a:buFont typeface="Wingdings" panose="05000000000000000000" pitchFamily="2" charset="2"/>
                        <a:buChar char="§"/>
                      </a:pPr>
                      <a:r>
                        <a:rPr lang="th-TH" sz="850" dirty="0">
                          <a:solidFill>
                            <a:schemeClr val="tx1">
                              <a:lumMod val="75000"/>
                              <a:lumOff val="25000"/>
                            </a:schemeClr>
                          </a:solidFill>
                          <a:latin typeface="BLS Text" panose="00000500000000000000" pitchFamily="2" charset="-34"/>
                          <a:cs typeface="BLS Text" panose="00000500000000000000" pitchFamily="2" charset="-34"/>
                        </a:rPr>
                        <a:t>ลงทุนด้านพลังงานสะอาดเพื่อรองรับเศรษฐกิจสีเขียว (</a:t>
                      </a:r>
                      <a:r>
                        <a:rPr lang="en-US" sz="850" dirty="0">
                          <a:solidFill>
                            <a:schemeClr val="tx1">
                              <a:lumMod val="75000"/>
                              <a:lumOff val="25000"/>
                            </a:schemeClr>
                          </a:solidFill>
                          <a:latin typeface="BLS Text" panose="00000500000000000000" pitchFamily="2" charset="-34"/>
                          <a:cs typeface="BLS Text" panose="00000500000000000000" pitchFamily="2" charset="-34"/>
                        </a:rPr>
                        <a:t>Green economy) </a:t>
                      </a:r>
                      <a:r>
                        <a:rPr lang="th-TH" sz="850" dirty="0">
                          <a:solidFill>
                            <a:schemeClr val="tx1">
                              <a:lumMod val="75000"/>
                              <a:lumOff val="25000"/>
                            </a:schemeClr>
                          </a:solidFill>
                          <a:latin typeface="BLS Text" panose="00000500000000000000" pitchFamily="2" charset="-34"/>
                          <a:cs typeface="BLS Text" panose="00000500000000000000" pitchFamily="2" charset="-34"/>
                        </a:rPr>
                        <a:t>ผ่านการเปิด </a:t>
                      </a:r>
                      <a:r>
                        <a:rPr lang="en-US" sz="850" dirty="0">
                          <a:solidFill>
                            <a:schemeClr val="tx1">
                              <a:lumMod val="75000"/>
                              <a:lumOff val="25000"/>
                            </a:schemeClr>
                          </a:solidFill>
                          <a:latin typeface="BLS Text" panose="00000500000000000000" pitchFamily="2" charset="-34"/>
                          <a:cs typeface="BLS Text" panose="00000500000000000000" pitchFamily="2" charset="-34"/>
                        </a:rPr>
                        <a:t>Direct PPA</a:t>
                      </a:r>
                      <a:endParaRPr lang="th-TH" sz="850" dirty="0">
                        <a:solidFill>
                          <a:schemeClr val="tx1">
                            <a:lumMod val="75000"/>
                            <a:lumOff val="25000"/>
                          </a:schemeClr>
                        </a:solidFill>
                        <a:latin typeface="BLS Text" panose="00000500000000000000" pitchFamily="2" charset="-34"/>
                        <a:cs typeface="BLS Text" panose="00000500000000000000" pitchFamily="2" charset="-34"/>
                      </a:endParaRPr>
                    </a:p>
                  </a:txBody>
                  <a:tcPr>
                    <a:solidFill>
                      <a:srgbClr val="E8EAEB"/>
                    </a:solidFill>
                  </a:tcPr>
                </a:tc>
                <a:tc rowSpan="6">
                  <a:txBody>
                    <a:bodyPr/>
                    <a:lstStyle/>
                    <a:p>
                      <a:pPr marL="0" indent="0">
                        <a:lnSpc>
                          <a:spcPts val="1400"/>
                        </a:lnSpc>
                        <a:buFont typeface="Wingdings" panose="05000000000000000000" pitchFamily="2" charset="2"/>
                        <a:buNone/>
                      </a:pPr>
                      <a:r>
                        <a:rPr lang="th-TH" sz="850" dirty="0">
                          <a:solidFill>
                            <a:schemeClr val="tx1">
                              <a:lumMod val="75000"/>
                              <a:lumOff val="25000"/>
                            </a:schemeClr>
                          </a:solidFill>
                          <a:latin typeface="BLS Text" panose="00000500000000000000" pitchFamily="2" charset="-34"/>
                          <a:cs typeface="BLS Text" panose="00000500000000000000" pitchFamily="2" charset="-34"/>
                        </a:rPr>
                        <a:t>ขยายการค้าและการลงทุน โดยเฉพาะในโครงสร้างพื้นฐาน โดยตั้งเป้าเพิ่มสัดส่วนการลงทุนให้ถึง 30</a:t>
                      </a:r>
                      <a:r>
                        <a:rPr lang="en-US" sz="850" dirty="0">
                          <a:solidFill>
                            <a:schemeClr val="tx1">
                              <a:lumMod val="75000"/>
                              <a:lumOff val="25000"/>
                            </a:schemeClr>
                          </a:solidFill>
                          <a:latin typeface="BLS Text" panose="00000500000000000000" pitchFamily="2" charset="-34"/>
                          <a:cs typeface="BLS Text" panose="00000500000000000000" pitchFamily="2" charset="-34"/>
                        </a:rPr>
                        <a:t>% </a:t>
                      </a:r>
                      <a:r>
                        <a:rPr lang="th-TH" sz="850" dirty="0">
                          <a:solidFill>
                            <a:schemeClr val="tx1">
                              <a:lumMod val="75000"/>
                              <a:lumOff val="25000"/>
                            </a:schemeClr>
                          </a:solidFill>
                          <a:latin typeface="BLS Text" panose="00000500000000000000" pitchFamily="2" charset="-34"/>
                          <a:cs typeface="BLS Text" panose="00000500000000000000" pitchFamily="2" charset="-34"/>
                        </a:rPr>
                        <a:t>ของ </a:t>
                      </a:r>
                      <a:r>
                        <a:rPr lang="en-US" sz="850" dirty="0">
                          <a:solidFill>
                            <a:schemeClr val="tx1">
                              <a:lumMod val="75000"/>
                              <a:lumOff val="25000"/>
                            </a:schemeClr>
                          </a:solidFill>
                          <a:latin typeface="BLS Text" panose="00000500000000000000" pitchFamily="2" charset="-34"/>
                          <a:cs typeface="BLS Text" panose="00000500000000000000" pitchFamily="2" charset="-34"/>
                        </a:rPr>
                        <a:t>GDP  (</a:t>
                      </a:r>
                      <a:r>
                        <a:rPr lang="th-TH" sz="850" dirty="0">
                          <a:solidFill>
                            <a:schemeClr val="tx1">
                              <a:lumMod val="75000"/>
                              <a:lumOff val="25000"/>
                            </a:schemeClr>
                          </a:solidFill>
                          <a:latin typeface="BLS Text" panose="00000500000000000000" pitchFamily="2" charset="-34"/>
                          <a:cs typeface="BLS Text" panose="00000500000000000000" pitchFamily="2" charset="-34"/>
                        </a:rPr>
                        <a:t>หากสามารถเพิ่มการลงทุนใหม่ได้ราว 6 แสนล้านบาทต่อปี ภายใต้การใช้ </a:t>
                      </a:r>
                      <a:r>
                        <a:rPr lang="en-US" sz="850" dirty="0">
                          <a:solidFill>
                            <a:schemeClr val="tx1">
                              <a:lumMod val="75000"/>
                              <a:lumOff val="25000"/>
                            </a:schemeClr>
                          </a:solidFill>
                          <a:latin typeface="BLS Text" panose="00000500000000000000" pitchFamily="2" charset="-34"/>
                          <a:cs typeface="BLS Text" panose="00000500000000000000" pitchFamily="2" charset="-34"/>
                        </a:rPr>
                        <a:t>Local content </a:t>
                      </a:r>
                      <a:r>
                        <a:rPr lang="th-TH" sz="850" dirty="0">
                          <a:solidFill>
                            <a:schemeClr val="tx1">
                              <a:lumMod val="75000"/>
                              <a:lumOff val="25000"/>
                            </a:schemeClr>
                          </a:solidFill>
                          <a:latin typeface="BLS Text" panose="00000500000000000000" pitchFamily="2" charset="-34"/>
                          <a:cs typeface="BLS Text" panose="00000500000000000000" pitchFamily="2" charset="-34"/>
                        </a:rPr>
                        <a:t>ที่มากกว่า 40</a:t>
                      </a:r>
                      <a:r>
                        <a:rPr lang="en-US" sz="850" dirty="0">
                          <a:solidFill>
                            <a:schemeClr val="tx1">
                              <a:lumMod val="75000"/>
                              <a:lumOff val="25000"/>
                            </a:schemeClr>
                          </a:solidFill>
                          <a:latin typeface="BLS Text" panose="00000500000000000000" pitchFamily="2" charset="-34"/>
                          <a:cs typeface="BLS Text" panose="00000500000000000000" pitchFamily="2" charset="-34"/>
                        </a:rPr>
                        <a:t>% </a:t>
                      </a:r>
                      <a:r>
                        <a:rPr lang="th-TH" sz="850" dirty="0">
                          <a:solidFill>
                            <a:schemeClr val="tx1">
                              <a:lumMod val="75000"/>
                              <a:lumOff val="25000"/>
                            </a:schemeClr>
                          </a:solidFill>
                          <a:latin typeface="BLS Text" panose="00000500000000000000" pitchFamily="2" charset="-34"/>
                          <a:cs typeface="BLS Text" panose="00000500000000000000" pitchFamily="2" charset="-34"/>
                        </a:rPr>
                        <a:t>จะหนุนให้ </a:t>
                      </a:r>
                      <a:r>
                        <a:rPr lang="en-US" sz="850" dirty="0">
                          <a:solidFill>
                            <a:schemeClr val="tx1">
                              <a:lumMod val="75000"/>
                              <a:lumOff val="25000"/>
                            </a:schemeClr>
                          </a:solidFill>
                          <a:latin typeface="BLS Text" panose="00000500000000000000" pitchFamily="2" charset="-34"/>
                          <a:cs typeface="BLS Text" panose="00000500000000000000" pitchFamily="2" charset="-34"/>
                        </a:rPr>
                        <a:t>GDP </a:t>
                      </a:r>
                      <a:r>
                        <a:rPr lang="th-TH" sz="850" dirty="0">
                          <a:solidFill>
                            <a:schemeClr val="tx1">
                              <a:lumMod val="75000"/>
                              <a:lumOff val="25000"/>
                            </a:schemeClr>
                          </a:solidFill>
                          <a:latin typeface="BLS Text" panose="00000500000000000000" pitchFamily="2" charset="-34"/>
                          <a:cs typeface="BLS Text" panose="00000500000000000000" pitchFamily="2" charset="-34"/>
                        </a:rPr>
                        <a:t>ไทยเพิ่มขึ้น 1.2</a:t>
                      </a:r>
                      <a:r>
                        <a:rPr lang="en-US" sz="850" dirty="0">
                          <a:solidFill>
                            <a:schemeClr val="tx1">
                              <a:lumMod val="75000"/>
                              <a:lumOff val="25000"/>
                            </a:schemeClr>
                          </a:solidFill>
                          <a:latin typeface="BLS Text" panose="00000500000000000000" pitchFamily="2" charset="-34"/>
                          <a:cs typeface="BLS Text" panose="00000500000000000000" pitchFamily="2" charset="-34"/>
                        </a:rPr>
                        <a:t>%</a:t>
                      </a:r>
                      <a:endParaRPr lang="th-TH" sz="850" dirty="0">
                        <a:solidFill>
                          <a:schemeClr val="tx1">
                            <a:lumMod val="75000"/>
                            <a:lumOff val="25000"/>
                          </a:schemeClr>
                        </a:solidFill>
                        <a:latin typeface="BLS Text" panose="00000500000000000000" pitchFamily="2" charset="-34"/>
                        <a:cs typeface="BLS Text" panose="00000500000000000000" pitchFamily="2" charset="-34"/>
                      </a:endParaRPr>
                    </a:p>
                  </a:txBody>
                  <a:tcPr anchor="ctr">
                    <a:solidFill>
                      <a:srgbClr val="E8EAEB"/>
                    </a:solidFill>
                  </a:tcPr>
                </a:tc>
                <a:tc rowSpan="6">
                  <a:txBody>
                    <a:bodyPr/>
                    <a:lstStyle/>
                    <a:p>
                      <a:pPr marL="0" indent="0">
                        <a:lnSpc>
                          <a:spcPts val="1400"/>
                        </a:lnSpc>
                        <a:buFont typeface="Wingdings" panose="05000000000000000000" pitchFamily="2" charset="2"/>
                        <a:buNone/>
                      </a:pPr>
                      <a:r>
                        <a:rPr lang="th-TH" sz="900" dirty="0">
                          <a:solidFill>
                            <a:schemeClr val="tx1">
                              <a:lumMod val="75000"/>
                              <a:lumOff val="25000"/>
                            </a:schemeClr>
                          </a:solidFill>
                          <a:latin typeface="BLS Text" panose="00000500000000000000" pitchFamily="2" charset="-34"/>
                          <a:cs typeface="BLS Text" panose="00000500000000000000" pitchFamily="2" charset="-34"/>
                        </a:rPr>
                        <a:t>กลุ่มโรงไฟฟ้าและพลังงานสะอาด/กลุ่มนิคมฯ /กลุ่มรับเหมาก่อสร้างและโครงสร้างพื้นฐาน / กลุ่มระบบโครงข่ายไฟฟ้าและพลังงาน (</a:t>
                      </a:r>
                      <a:r>
                        <a:rPr lang="en-US" sz="900" dirty="0">
                          <a:solidFill>
                            <a:schemeClr val="tx1">
                              <a:lumMod val="75000"/>
                              <a:lumOff val="25000"/>
                            </a:schemeClr>
                          </a:solidFill>
                          <a:latin typeface="BLS Text" panose="00000500000000000000" pitchFamily="2" charset="-34"/>
                          <a:cs typeface="BLS Text" panose="00000500000000000000" pitchFamily="2" charset="-34"/>
                        </a:rPr>
                        <a:t>Smart grid / Energy system)</a:t>
                      </a:r>
                      <a:r>
                        <a:rPr lang="th-TH" sz="900" dirty="0">
                          <a:solidFill>
                            <a:schemeClr val="tx1">
                              <a:lumMod val="75000"/>
                              <a:lumOff val="25000"/>
                            </a:schemeClr>
                          </a:solidFill>
                          <a:latin typeface="BLS Text" panose="00000500000000000000" pitchFamily="2" charset="-34"/>
                          <a:cs typeface="BLS Text" panose="00000500000000000000" pitchFamily="2" charset="-34"/>
                        </a:rPr>
                        <a:t> / กลุ่มเทคโนโลยีพลังงานและโซลูชันด้านสิ่งแวดล้อม/กลุ่มธุรกิจที่เกี่ยวข้องกับคาร์บอนเครดิตและ </a:t>
                      </a:r>
                      <a:r>
                        <a:rPr lang="en-US" sz="900" dirty="0">
                          <a:solidFill>
                            <a:schemeClr val="tx1">
                              <a:lumMod val="75000"/>
                              <a:lumOff val="25000"/>
                            </a:schemeClr>
                          </a:solidFill>
                          <a:latin typeface="BLS Text" panose="00000500000000000000" pitchFamily="2" charset="-34"/>
                          <a:cs typeface="BLS Text" panose="00000500000000000000" pitchFamily="2" charset="-34"/>
                        </a:rPr>
                        <a:t>ESG</a:t>
                      </a:r>
                      <a:endParaRPr lang="th-TH" sz="900" dirty="0">
                        <a:solidFill>
                          <a:schemeClr val="tx1">
                            <a:lumMod val="75000"/>
                            <a:lumOff val="25000"/>
                          </a:schemeClr>
                        </a:solidFill>
                        <a:latin typeface="BLS Text" panose="00000500000000000000" pitchFamily="2" charset="-34"/>
                        <a:cs typeface="BLS Text" panose="00000500000000000000" pitchFamily="2" charset="-34"/>
                      </a:endParaRPr>
                    </a:p>
                  </a:txBody>
                  <a:tcPr anchor="ctr">
                    <a:solidFill>
                      <a:srgbClr val="E8EAEB"/>
                    </a:solidFill>
                  </a:tcPr>
                </a:tc>
                <a:extLst>
                  <a:ext uri="{0D108BD9-81ED-4DB2-BD59-A6C34878D82A}">
                    <a16:rowId xmlns:a16="http://schemas.microsoft.com/office/drawing/2014/main" val="1948295009"/>
                  </a:ext>
                </a:extLst>
              </a:tr>
              <a:tr h="357742">
                <a:tc vMerge="1">
                  <a:txBody>
                    <a:bodyPr/>
                    <a:lstStyle/>
                    <a:p>
                      <a:endParaRPr lang="th-TH" sz="1100" dirty="0">
                        <a:latin typeface="BLS Text" panose="00000500000000000000" pitchFamily="2" charset="-34"/>
                        <a:cs typeface="BLS Text" panose="00000500000000000000" pitchFamily="2" charset="-34"/>
                      </a:endParaRPr>
                    </a:p>
                  </a:txBody>
                  <a:tcPr>
                    <a:solidFill>
                      <a:srgbClr val="E8EAEB"/>
                    </a:solidFill>
                  </a:tcPr>
                </a:tc>
                <a:tc>
                  <a:txBody>
                    <a:bodyPr/>
                    <a:lstStyle/>
                    <a:p>
                      <a:pPr marL="171450" indent="-171450">
                        <a:buFont typeface="Wingdings" panose="05000000000000000000" pitchFamily="2" charset="2"/>
                        <a:buChar char="§"/>
                      </a:pPr>
                      <a:r>
                        <a:rPr lang="th-TH" sz="850" dirty="0">
                          <a:solidFill>
                            <a:schemeClr val="tx1">
                              <a:lumMod val="75000"/>
                              <a:lumOff val="25000"/>
                            </a:schemeClr>
                          </a:solidFill>
                          <a:latin typeface="BLS Text" panose="00000500000000000000" pitchFamily="2" charset="-34"/>
                          <a:cs typeface="BLS Text" panose="00000500000000000000" pitchFamily="2" charset="-34"/>
                        </a:rPr>
                        <a:t>ลงทุนร่วมกันระหว่างส่วนกลางกับท้องถิ่น เพื่อลงทุนโครงสร้างพื้นฐานสำหรับป้องกันภัยพิบัติ </a:t>
                      </a:r>
                    </a:p>
                  </a:txBody>
                  <a:tcPr>
                    <a:solidFill>
                      <a:srgbClr val="E8EAEB"/>
                    </a:solidFill>
                  </a:tcPr>
                </a:tc>
                <a:tc vMerge="1">
                  <a:txBody>
                    <a:bodyPr/>
                    <a:lstStyle/>
                    <a:p>
                      <a:pPr marL="171450" indent="-171450">
                        <a:buFont typeface="Wingdings" panose="05000000000000000000" pitchFamily="2" charset="2"/>
                        <a:buChar char="§"/>
                      </a:pPr>
                      <a:endParaRPr lang="th-TH" sz="1000" dirty="0">
                        <a:solidFill>
                          <a:schemeClr val="tx1">
                            <a:lumMod val="75000"/>
                            <a:lumOff val="25000"/>
                          </a:schemeClr>
                        </a:solidFill>
                        <a:latin typeface="BLS Text" panose="00000500000000000000" pitchFamily="2" charset="-34"/>
                        <a:cs typeface="BLS Text" panose="00000500000000000000" pitchFamily="2" charset="-34"/>
                      </a:endParaRPr>
                    </a:p>
                  </a:txBody>
                  <a:tcPr>
                    <a:solidFill>
                      <a:srgbClr val="E8EAEB"/>
                    </a:solidFill>
                  </a:tcPr>
                </a:tc>
                <a:tc vMerge="1">
                  <a:txBody>
                    <a:bodyPr/>
                    <a:lstStyle/>
                    <a:p>
                      <a:endParaRPr lang="en-US"/>
                    </a:p>
                  </a:txBody>
                  <a:tcPr/>
                </a:tc>
                <a:extLst>
                  <a:ext uri="{0D108BD9-81ED-4DB2-BD59-A6C34878D82A}">
                    <a16:rowId xmlns:a16="http://schemas.microsoft.com/office/drawing/2014/main" val="271050414"/>
                  </a:ext>
                </a:extLst>
              </a:tr>
              <a:tr h="357742">
                <a:tc vMerge="1">
                  <a:txBody>
                    <a:bodyPr/>
                    <a:lstStyle/>
                    <a:p>
                      <a:endParaRPr lang="th-TH" sz="1100" dirty="0">
                        <a:latin typeface="BLS Text" panose="00000500000000000000" pitchFamily="2" charset="-34"/>
                        <a:cs typeface="BLS Text" panose="00000500000000000000" pitchFamily="2" charset="-34"/>
                      </a:endParaRPr>
                    </a:p>
                  </a:txBody>
                  <a:tcPr>
                    <a:solidFill>
                      <a:srgbClr val="E8EAEB"/>
                    </a:solidFill>
                  </a:tcPr>
                </a:tc>
                <a:tc>
                  <a:txBody>
                    <a:bodyPr/>
                    <a:lstStyle/>
                    <a:p>
                      <a:pPr marL="171450" indent="-171450">
                        <a:buFont typeface="Wingdings" panose="05000000000000000000" pitchFamily="2" charset="2"/>
                        <a:buChar char="§"/>
                      </a:pPr>
                      <a:r>
                        <a:rPr lang="th-TH" sz="850" dirty="0">
                          <a:solidFill>
                            <a:schemeClr val="tx1">
                              <a:lumMod val="75000"/>
                              <a:lumOff val="25000"/>
                            </a:schemeClr>
                          </a:solidFill>
                          <a:latin typeface="BLS Text" panose="00000500000000000000" pitchFamily="2" charset="-34"/>
                          <a:cs typeface="BLS Text" panose="00000500000000000000" pitchFamily="2" charset="-34"/>
                        </a:rPr>
                        <a:t>ลงทุนร่วมกันระหว่างรัฐและเอกชนผ่านโครงการ </a:t>
                      </a:r>
                      <a:r>
                        <a:rPr lang="en-US" sz="850" dirty="0">
                          <a:solidFill>
                            <a:schemeClr val="tx1">
                              <a:lumMod val="75000"/>
                              <a:lumOff val="25000"/>
                            </a:schemeClr>
                          </a:solidFill>
                          <a:latin typeface="BLS Text" panose="00000500000000000000" pitchFamily="2" charset="-34"/>
                          <a:cs typeface="BLS Text" panose="00000500000000000000" pitchFamily="2" charset="-34"/>
                        </a:rPr>
                        <a:t>PPP (Public-Private Partnership)</a:t>
                      </a:r>
                      <a:endParaRPr lang="th-TH" sz="850" dirty="0">
                        <a:solidFill>
                          <a:schemeClr val="tx1">
                            <a:lumMod val="75000"/>
                            <a:lumOff val="25000"/>
                          </a:schemeClr>
                        </a:solidFill>
                        <a:latin typeface="BLS Text" panose="00000500000000000000" pitchFamily="2" charset="-34"/>
                        <a:cs typeface="BLS Text" panose="00000500000000000000" pitchFamily="2" charset="-34"/>
                      </a:endParaRPr>
                    </a:p>
                  </a:txBody>
                  <a:tcPr>
                    <a:solidFill>
                      <a:srgbClr val="E8EAEB"/>
                    </a:solidFill>
                  </a:tcPr>
                </a:tc>
                <a:tc vMerge="1">
                  <a:txBody>
                    <a:bodyPr/>
                    <a:lstStyle/>
                    <a:p>
                      <a:pPr marL="171450" indent="-171450">
                        <a:buFont typeface="Wingdings" panose="05000000000000000000" pitchFamily="2" charset="2"/>
                        <a:buChar char="§"/>
                      </a:pPr>
                      <a:endParaRPr lang="th-TH" sz="1000" dirty="0">
                        <a:solidFill>
                          <a:schemeClr val="tx1">
                            <a:lumMod val="75000"/>
                            <a:lumOff val="25000"/>
                          </a:schemeClr>
                        </a:solidFill>
                        <a:latin typeface="BLS Text" panose="00000500000000000000" pitchFamily="2" charset="-34"/>
                        <a:cs typeface="BLS Text" panose="00000500000000000000" pitchFamily="2" charset="-34"/>
                      </a:endParaRPr>
                    </a:p>
                  </a:txBody>
                  <a:tcPr>
                    <a:solidFill>
                      <a:srgbClr val="E8EAEB"/>
                    </a:solidFill>
                  </a:tcPr>
                </a:tc>
                <a:tc vMerge="1">
                  <a:txBody>
                    <a:bodyPr/>
                    <a:lstStyle/>
                    <a:p>
                      <a:endParaRPr lang="en-US"/>
                    </a:p>
                  </a:txBody>
                  <a:tcPr/>
                </a:tc>
                <a:extLst>
                  <a:ext uri="{0D108BD9-81ED-4DB2-BD59-A6C34878D82A}">
                    <a16:rowId xmlns:a16="http://schemas.microsoft.com/office/drawing/2014/main" val="3106910183"/>
                  </a:ext>
                </a:extLst>
              </a:tr>
              <a:tr h="489951">
                <a:tc vMerge="1">
                  <a:txBody>
                    <a:bodyPr/>
                    <a:lstStyle/>
                    <a:p>
                      <a:endParaRPr lang="th-TH" sz="1100" dirty="0">
                        <a:latin typeface="BLS Text" panose="00000500000000000000" pitchFamily="2" charset="-34"/>
                        <a:cs typeface="BLS Text" panose="00000500000000000000" pitchFamily="2" charset="-34"/>
                      </a:endParaRPr>
                    </a:p>
                  </a:txBody>
                  <a:tcPr>
                    <a:solidFill>
                      <a:srgbClr val="E8EAEB"/>
                    </a:solidFill>
                  </a:tcPr>
                </a:tc>
                <a:tc>
                  <a:txBody>
                    <a:bodyPr/>
                    <a:lstStyle/>
                    <a:p>
                      <a:pPr marL="171450" indent="-171450">
                        <a:buFont typeface="Wingdings" panose="05000000000000000000" pitchFamily="2" charset="2"/>
                        <a:buChar char="§"/>
                      </a:pPr>
                      <a:r>
                        <a:rPr lang="th-TH" sz="850" dirty="0">
                          <a:solidFill>
                            <a:schemeClr val="tx1">
                              <a:lumMod val="75000"/>
                              <a:lumOff val="25000"/>
                            </a:schemeClr>
                          </a:solidFill>
                          <a:latin typeface="BLS Text" panose="00000500000000000000" pitchFamily="2" charset="-34"/>
                          <a:cs typeface="BLS Text" panose="00000500000000000000" pitchFamily="2" charset="-34"/>
                        </a:rPr>
                        <a:t>จัดตั้งกองทุนรวมโครงสร้างพื้นฐาน (</a:t>
                      </a:r>
                      <a:r>
                        <a:rPr lang="en-US" sz="850" dirty="0">
                          <a:solidFill>
                            <a:schemeClr val="tx1">
                              <a:lumMod val="75000"/>
                              <a:lumOff val="25000"/>
                            </a:schemeClr>
                          </a:solidFill>
                          <a:latin typeface="BLS Text" panose="00000500000000000000" pitchFamily="2" charset="-34"/>
                          <a:cs typeface="BLS Text" panose="00000500000000000000" pitchFamily="2" charset="-34"/>
                        </a:rPr>
                        <a:t>Infrastructure fund) </a:t>
                      </a:r>
                      <a:r>
                        <a:rPr lang="th-TH" sz="850" dirty="0">
                          <a:solidFill>
                            <a:schemeClr val="tx1">
                              <a:lumMod val="75000"/>
                              <a:lumOff val="25000"/>
                            </a:schemeClr>
                          </a:solidFill>
                          <a:latin typeface="BLS Text" panose="00000500000000000000" pitchFamily="2" charset="-34"/>
                          <a:cs typeface="BLS Text" panose="00000500000000000000" pitchFamily="2" charset="-34"/>
                        </a:rPr>
                        <a:t>เพื่อระดมทุนโครงการโรงไฟฟ้าพลังงานแสงอาทิตย์ทุ่นลอยน้ำ </a:t>
                      </a:r>
                      <a:r>
                        <a:rPr lang="en-US" sz="850" dirty="0">
                          <a:solidFill>
                            <a:schemeClr val="tx1">
                              <a:lumMod val="75000"/>
                              <a:lumOff val="25000"/>
                            </a:schemeClr>
                          </a:solidFill>
                          <a:latin typeface="BLS Text" panose="00000500000000000000" pitchFamily="2" charset="-34"/>
                          <a:cs typeface="BLS Text" panose="00000500000000000000" pitchFamily="2" charset="-34"/>
                        </a:rPr>
                        <a:t>(Floating solar)</a:t>
                      </a:r>
                      <a:endParaRPr lang="th-TH" sz="850" dirty="0">
                        <a:solidFill>
                          <a:schemeClr val="tx1">
                            <a:lumMod val="75000"/>
                            <a:lumOff val="25000"/>
                          </a:schemeClr>
                        </a:solidFill>
                        <a:latin typeface="BLS Text" panose="00000500000000000000" pitchFamily="2" charset="-34"/>
                        <a:cs typeface="BLS Text" panose="00000500000000000000" pitchFamily="2" charset="-34"/>
                      </a:endParaRPr>
                    </a:p>
                  </a:txBody>
                  <a:tcPr>
                    <a:solidFill>
                      <a:srgbClr val="E8EAEB"/>
                    </a:solidFill>
                  </a:tcPr>
                </a:tc>
                <a:tc vMerge="1">
                  <a:txBody>
                    <a:bodyPr/>
                    <a:lstStyle/>
                    <a:p>
                      <a:pPr marL="171450" indent="-171450">
                        <a:buFont typeface="Wingdings" panose="05000000000000000000" pitchFamily="2" charset="2"/>
                        <a:buChar char="§"/>
                      </a:pPr>
                      <a:endParaRPr lang="th-TH" sz="1000" dirty="0">
                        <a:solidFill>
                          <a:schemeClr val="tx1">
                            <a:lumMod val="75000"/>
                            <a:lumOff val="25000"/>
                          </a:schemeClr>
                        </a:solidFill>
                        <a:latin typeface="BLS Text" panose="00000500000000000000" pitchFamily="2" charset="-34"/>
                        <a:cs typeface="BLS Text" panose="00000500000000000000" pitchFamily="2" charset="-34"/>
                      </a:endParaRPr>
                    </a:p>
                  </a:txBody>
                  <a:tcPr>
                    <a:solidFill>
                      <a:srgbClr val="E8EAEB"/>
                    </a:solidFill>
                  </a:tcPr>
                </a:tc>
                <a:tc vMerge="1">
                  <a:txBody>
                    <a:bodyPr/>
                    <a:lstStyle/>
                    <a:p>
                      <a:endParaRPr lang="en-US"/>
                    </a:p>
                  </a:txBody>
                  <a:tcPr/>
                </a:tc>
                <a:extLst>
                  <a:ext uri="{0D108BD9-81ED-4DB2-BD59-A6C34878D82A}">
                    <a16:rowId xmlns:a16="http://schemas.microsoft.com/office/drawing/2014/main" val="3284996918"/>
                  </a:ext>
                </a:extLst>
              </a:tr>
              <a:tr h="489951">
                <a:tc vMerge="1">
                  <a:txBody>
                    <a:bodyPr/>
                    <a:lstStyle/>
                    <a:p>
                      <a:endParaRPr lang="th-TH" sz="1100" dirty="0">
                        <a:latin typeface="BLS Text" panose="00000500000000000000" pitchFamily="2" charset="-34"/>
                        <a:cs typeface="BLS Text" panose="00000500000000000000" pitchFamily="2" charset="-34"/>
                      </a:endParaRPr>
                    </a:p>
                  </a:txBody>
                  <a:tcPr>
                    <a:solidFill>
                      <a:srgbClr val="E8EAEB"/>
                    </a:solidFill>
                  </a:tcPr>
                </a:tc>
                <a:tc>
                  <a:txBody>
                    <a:bodyPr/>
                    <a:lstStyle/>
                    <a:p>
                      <a:pPr marL="171450" indent="-171450">
                        <a:buFont typeface="Wingdings" panose="05000000000000000000" pitchFamily="2" charset="2"/>
                        <a:buChar char="§"/>
                      </a:pPr>
                      <a:r>
                        <a:rPr lang="th-TH" sz="850" dirty="0">
                          <a:solidFill>
                            <a:schemeClr val="tx1">
                              <a:lumMod val="75000"/>
                              <a:lumOff val="25000"/>
                            </a:schemeClr>
                          </a:solidFill>
                          <a:latin typeface="BLS Text" panose="00000500000000000000" pitchFamily="2" charset="-34"/>
                          <a:cs typeface="BLS Text" panose="00000500000000000000" pitchFamily="2" charset="-34"/>
                        </a:rPr>
                        <a:t>โครงการ </a:t>
                      </a:r>
                      <a:r>
                        <a:rPr lang="en-US" sz="850" dirty="0">
                          <a:solidFill>
                            <a:schemeClr val="tx1">
                              <a:lumMod val="75000"/>
                              <a:lumOff val="25000"/>
                            </a:schemeClr>
                          </a:solidFill>
                          <a:latin typeface="BLS Text" panose="00000500000000000000" pitchFamily="2" charset="-34"/>
                          <a:cs typeface="BLS Text" panose="00000500000000000000" pitchFamily="2" charset="-34"/>
                        </a:rPr>
                        <a:t>Low carbon city </a:t>
                      </a:r>
                      <a:r>
                        <a:rPr lang="th-TH" sz="850" dirty="0">
                          <a:solidFill>
                            <a:schemeClr val="tx1">
                              <a:lumMod val="75000"/>
                              <a:lumOff val="25000"/>
                            </a:schemeClr>
                          </a:solidFill>
                          <a:latin typeface="BLS Text" panose="00000500000000000000" pitchFamily="2" charset="-34"/>
                          <a:cs typeface="BLS Text" panose="00000500000000000000" pitchFamily="2" charset="-34"/>
                        </a:rPr>
                        <a:t>เพื่อส่งเสริมเศรษฐกิจคาร์บอนต่ำ ซึ่งจะก่อให้เกิด </a:t>
                      </a:r>
                      <a:r>
                        <a:rPr lang="en-US" sz="850" dirty="0">
                          <a:solidFill>
                            <a:schemeClr val="tx1">
                              <a:lumMod val="75000"/>
                              <a:lumOff val="25000"/>
                            </a:schemeClr>
                          </a:solidFill>
                          <a:latin typeface="BLS Text" panose="00000500000000000000" pitchFamily="2" charset="-34"/>
                          <a:cs typeface="BLS Text" panose="00000500000000000000" pitchFamily="2" charset="-34"/>
                        </a:rPr>
                        <a:t>Carbon credit </a:t>
                      </a:r>
                      <a:r>
                        <a:rPr lang="th-TH" sz="850" dirty="0">
                          <a:solidFill>
                            <a:schemeClr val="tx1">
                              <a:lumMod val="75000"/>
                              <a:lumOff val="25000"/>
                            </a:schemeClr>
                          </a:solidFill>
                          <a:latin typeface="BLS Text" panose="00000500000000000000" pitchFamily="2" charset="-34"/>
                          <a:cs typeface="BLS Text" panose="00000500000000000000" pitchFamily="2" charset="-34"/>
                        </a:rPr>
                        <a:t>ภาคประชาชน สร้างรายได้ให้ชุมชน</a:t>
                      </a:r>
                    </a:p>
                  </a:txBody>
                  <a:tcPr>
                    <a:solidFill>
                      <a:srgbClr val="E8EAEB"/>
                    </a:solidFill>
                  </a:tcPr>
                </a:tc>
                <a:tc vMerge="1">
                  <a:txBody>
                    <a:bodyPr/>
                    <a:lstStyle/>
                    <a:p>
                      <a:pPr marL="171450" indent="-171450">
                        <a:buFont typeface="Wingdings" panose="05000000000000000000" pitchFamily="2" charset="2"/>
                        <a:buChar char="§"/>
                      </a:pPr>
                      <a:endParaRPr lang="th-TH" sz="1000" dirty="0">
                        <a:solidFill>
                          <a:schemeClr val="tx1">
                            <a:lumMod val="75000"/>
                            <a:lumOff val="25000"/>
                          </a:schemeClr>
                        </a:solidFill>
                        <a:latin typeface="BLS Text" panose="00000500000000000000" pitchFamily="2" charset="-34"/>
                        <a:cs typeface="BLS Text" panose="00000500000000000000" pitchFamily="2" charset="-34"/>
                      </a:endParaRPr>
                    </a:p>
                  </a:txBody>
                  <a:tcPr>
                    <a:solidFill>
                      <a:srgbClr val="E8EAEB"/>
                    </a:solidFill>
                  </a:tcPr>
                </a:tc>
                <a:tc vMerge="1">
                  <a:txBody>
                    <a:bodyPr/>
                    <a:lstStyle/>
                    <a:p>
                      <a:endParaRPr lang="en-US"/>
                    </a:p>
                  </a:txBody>
                  <a:tcPr/>
                </a:tc>
                <a:extLst>
                  <a:ext uri="{0D108BD9-81ED-4DB2-BD59-A6C34878D82A}">
                    <a16:rowId xmlns:a16="http://schemas.microsoft.com/office/drawing/2014/main" val="2468480405"/>
                  </a:ext>
                </a:extLst>
              </a:tr>
              <a:tr h="489951">
                <a:tc vMerge="1">
                  <a:txBody>
                    <a:bodyPr/>
                    <a:lstStyle/>
                    <a:p>
                      <a:endParaRPr lang="th-TH" sz="1100" dirty="0">
                        <a:latin typeface="BLS Text" panose="00000500000000000000" pitchFamily="2" charset="-34"/>
                        <a:cs typeface="BLS Text" panose="00000500000000000000" pitchFamily="2" charset="-34"/>
                      </a:endParaRPr>
                    </a:p>
                  </a:txBody>
                  <a:tcPr anchor="ctr">
                    <a:solidFill>
                      <a:srgbClr val="E8EAEB"/>
                    </a:solidFill>
                  </a:tcPr>
                </a:tc>
                <a:tc>
                  <a:txBody>
                    <a:bodyPr/>
                    <a:lstStyle/>
                    <a:p>
                      <a:pPr marL="171450" indent="-171450">
                        <a:buFont typeface="Wingdings" panose="05000000000000000000" pitchFamily="2" charset="2"/>
                        <a:buChar char="§"/>
                      </a:pPr>
                      <a:r>
                        <a:rPr lang="en-US" sz="850" dirty="0">
                          <a:solidFill>
                            <a:schemeClr val="tx1">
                              <a:lumMod val="75000"/>
                              <a:lumOff val="25000"/>
                            </a:schemeClr>
                          </a:solidFill>
                          <a:latin typeface="BLS Text" panose="00000500000000000000" pitchFamily="2" charset="-34"/>
                          <a:cs typeface="BLS Text" panose="00000500000000000000" pitchFamily="2" charset="-34"/>
                        </a:rPr>
                        <a:t>Trade plus</a:t>
                      </a:r>
                      <a:r>
                        <a:rPr lang="th-TH" sz="850" dirty="0">
                          <a:solidFill>
                            <a:schemeClr val="tx1">
                              <a:lumMod val="75000"/>
                              <a:lumOff val="25000"/>
                            </a:schemeClr>
                          </a:solidFill>
                          <a:latin typeface="BLS Text" panose="00000500000000000000" pitchFamily="2" charset="-34"/>
                          <a:cs typeface="BLS Text" panose="00000500000000000000" pitchFamily="2" charset="-34"/>
                        </a:rPr>
                        <a:t> ด้วยการส่งเสริม </a:t>
                      </a:r>
                      <a:r>
                        <a:rPr lang="en-US" sz="850" dirty="0">
                          <a:solidFill>
                            <a:schemeClr val="tx1">
                              <a:lumMod val="75000"/>
                              <a:lumOff val="25000"/>
                            </a:schemeClr>
                          </a:solidFill>
                          <a:latin typeface="BLS Text" panose="00000500000000000000" pitchFamily="2" charset="-34"/>
                          <a:cs typeface="BLS Text" panose="00000500000000000000" pitchFamily="2" charset="-34"/>
                        </a:rPr>
                        <a:t>Barter trade (</a:t>
                      </a:r>
                      <a:r>
                        <a:rPr lang="th-TH" sz="850" dirty="0">
                          <a:solidFill>
                            <a:schemeClr val="tx1">
                              <a:lumMod val="75000"/>
                              <a:lumOff val="25000"/>
                            </a:schemeClr>
                          </a:solidFill>
                          <a:latin typeface="BLS Text" panose="00000500000000000000" pitchFamily="2" charset="-34"/>
                          <a:cs typeface="BLS Text" panose="00000500000000000000" pitchFamily="2" charset="-34"/>
                        </a:rPr>
                        <a:t>เช่น การซื้ออาวุธหรือเครื่องบินจากคู่ค้าต้องแลกด้วยการขายสินค้าเกษตรไทย เป็นต้น)</a:t>
                      </a:r>
                    </a:p>
                  </a:txBody>
                  <a:tcPr>
                    <a:solidFill>
                      <a:srgbClr val="E8EAEB"/>
                    </a:solidFill>
                  </a:tcPr>
                </a:tc>
                <a:tc vMerge="1">
                  <a:txBody>
                    <a:bodyPr/>
                    <a:lstStyle/>
                    <a:p>
                      <a:pPr marL="171450" indent="-171450">
                        <a:buFont typeface="Wingdings" panose="05000000000000000000" pitchFamily="2" charset="2"/>
                        <a:buChar char="§"/>
                      </a:pPr>
                      <a:endParaRPr lang="th-TH" sz="1000" dirty="0">
                        <a:solidFill>
                          <a:schemeClr val="tx1">
                            <a:lumMod val="75000"/>
                            <a:lumOff val="25000"/>
                          </a:schemeClr>
                        </a:solidFill>
                        <a:latin typeface="BLS Text" panose="00000500000000000000" pitchFamily="2" charset="-34"/>
                        <a:cs typeface="BLS Text" panose="00000500000000000000" pitchFamily="2" charset="-34"/>
                      </a:endParaRPr>
                    </a:p>
                  </a:txBody>
                  <a:tcPr>
                    <a:solidFill>
                      <a:srgbClr val="E8EAEB"/>
                    </a:solidFill>
                  </a:tcPr>
                </a:tc>
                <a:tc vMerge="1">
                  <a:txBody>
                    <a:bodyPr/>
                    <a:lstStyle/>
                    <a:p>
                      <a:endParaRPr lang="en-US"/>
                    </a:p>
                  </a:txBody>
                  <a:tcPr/>
                </a:tc>
                <a:extLst>
                  <a:ext uri="{0D108BD9-81ED-4DB2-BD59-A6C34878D82A}">
                    <a16:rowId xmlns:a16="http://schemas.microsoft.com/office/drawing/2014/main" val="4212983822"/>
                  </a:ext>
                </a:extLst>
              </a:tr>
            </a:tbl>
          </a:graphicData>
        </a:graphic>
      </p:graphicFrame>
      <p:sp>
        <p:nvSpPr>
          <p:cNvPr id="10" name="TextBox 9">
            <a:extLst>
              <a:ext uri="{FF2B5EF4-FFF2-40B4-BE49-F238E27FC236}">
                <a16:creationId xmlns:a16="http://schemas.microsoft.com/office/drawing/2014/main" id="{C13BCBA8-BBE7-33BE-1C9C-FCD55AE61CB2}"/>
              </a:ext>
            </a:extLst>
          </p:cNvPr>
          <p:cNvSpPr txBox="1">
            <a:spLocks noChangeArrowheads="1"/>
          </p:cNvSpPr>
          <p:nvPr/>
        </p:nvSpPr>
        <p:spPr bwMode="auto">
          <a:xfrm>
            <a:off x="427161" y="8548409"/>
            <a:ext cx="2768773"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r>
              <a:rPr lang="th-TH" sz="700" dirty="0">
                <a:solidFill>
                  <a:srgbClr val="404040"/>
                </a:solidFill>
                <a:latin typeface="BLS Condensed" pitchFamily="2" charset="-34"/>
                <a:cs typeface="BLS Condensed" pitchFamily="2" charset="-34"/>
              </a:rPr>
              <a:t>ที่มา</a:t>
            </a:r>
            <a:r>
              <a:rPr lang="th-TH" sz="600" dirty="0">
                <a:solidFill>
                  <a:srgbClr val="404040"/>
                </a:solidFill>
                <a:latin typeface="BLS Condensed" pitchFamily="2" charset="-34"/>
                <a:cs typeface="BLS Condensed" pitchFamily="2" charset="-34"/>
              </a:rPr>
              <a:t>:</a:t>
            </a:r>
            <a:r>
              <a:rPr lang="en-US" sz="600" dirty="0">
                <a:solidFill>
                  <a:srgbClr val="404040"/>
                </a:solidFill>
                <a:latin typeface="BLS Condensed" pitchFamily="2" charset="-34"/>
                <a:cs typeface="BLS Condensed" pitchFamily="2" charset="-34"/>
              </a:rPr>
              <a:t> </a:t>
            </a:r>
            <a:r>
              <a:rPr lang="en-US" sz="700" dirty="0" err="1">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Bualuang</a:t>
            </a:r>
            <a:r>
              <a:rPr lang="en-US" sz="700" dirty="0">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 Research</a:t>
            </a:r>
            <a:endParaRPr lang="en-US" sz="600" dirty="0">
              <a:solidFill>
                <a:srgbClr val="404040"/>
              </a:solidFill>
              <a:latin typeface="BLS Condensed" pitchFamily="2" charset="-34"/>
              <a:cs typeface="BLS Condensed" pitchFamily="2" charset="-34"/>
            </a:endParaRPr>
          </a:p>
        </p:txBody>
      </p:sp>
      <p:cxnSp>
        <p:nvCxnSpPr>
          <p:cNvPr id="11" name="Straight Connector 10">
            <a:extLst>
              <a:ext uri="{FF2B5EF4-FFF2-40B4-BE49-F238E27FC236}">
                <a16:creationId xmlns:a16="http://schemas.microsoft.com/office/drawing/2014/main" id="{75CFB0F4-49B5-C951-9446-27215AF35E1F}"/>
              </a:ext>
            </a:extLst>
          </p:cNvPr>
          <p:cNvCxnSpPr>
            <a:cxnSpLocks/>
          </p:cNvCxnSpPr>
          <p:nvPr/>
        </p:nvCxnSpPr>
        <p:spPr>
          <a:xfrm>
            <a:off x="362735" y="8532440"/>
            <a:ext cx="6220743"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5652366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8602"/>
          <a:stretch/>
        </p:blipFill>
        <p:spPr>
          <a:xfrm>
            <a:off x="0" y="0"/>
            <a:ext cx="6858000" cy="8689302"/>
          </a:xfrm>
          <a:prstGeom prst="rect">
            <a:avLst/>
          </a:prstGeom>
        </p:spPr>
      </p:pic>
      <p:sp>
        <p:nvSpPr>
          <p:cNvPr id="36" name="TextBox 35">
            <a:extLst>
              <a:ext uri="{FF2B5EF4-FFF2-40B4-BE49-F238E27FC236}">
                <a16:creationId xmlns:a16="http://schemas.microsoft.com/office/drawing/2014/main" id="{1A9E9AAC-6A37-023B-CB7D-D641133919A7}"/>
              </a:ext>
            </a:extLst>
          </p:cNvPr>
          <p:cNvSpPr txBox="1"/>
          <p:nvPr/>
        </p:nvSpPr>
        <p:spPr>
          <a:xfrm>
            <a:off x="4590386" y="3432473"/>
            <a:ext cx="1125089"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เลือกนายก/แต่งตั้งคณะรัฐมนตรี</a:t>
            </a:r>
          </a:p>
        </p:txBody>
      </p:sp>
      <p:sp>
        <p:nvSpPr>
          <p:cNvPr id="23" name="TextBox 22">
            <a:extLst>
              <a:ext uri="{FF2B5EF4-FFF2-40B4-BE49-F238E27FC236}">
                <a16:creationId xmlns:a16="http://schemas.microsoft.com/office/drawing/2014/main" id="{81748675-2985-66A0-18EB-8B4E8A4F54F6}"/>
              </a:ext>
            </a:extLst>
          </p:cNvPr>
          <p:cNvSpPr txBox="1"/>
          <p:nvPr/>
        </p:nvSpPr>
        <p:spPr>
          <a:xfrm>
            <a:off x="286492" y="3585374"/>
            <a:ext cx="6022828" cy="21544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5: Earnings play</a:t>
            </a:r>
            <a:endParaRPr lang="th-TH" sz="800" dirty="0">
              <a:solidFill>
                <a:schemeClr val="tx1">
                  <a:lumMod val="95000"/>
                  <a:lumOff val="5000"/>
                </a:schemeClr>
              </a:solidFill>
              <a:latin typeface="BLS Condensed" pitchFamily="2" charset="-34"/>
              <a:ea typeface="Tahoma" pitchFamily="34" charset="0"/>
              <a:cs typeface="BLS Condensed" pitchFamily="2" charset="-34"/>
            </a:endParaRPr>
          </a:p>
        </p:txBody>
      </p:sp>
      <p:cxnSp>
        <p:nvCxnSpPr>
          <p:cNvPr id="31" name="Straight Connector 30">
            <a:extLst>
              <a:ext uri="{FF2B5EF4-FFF2-40B4-BE49-F238E27FC236}">
                <a16:creationId xmlns:a16="http://schemas.microsoft.com/office/drawing/2014/main" id="{ED544969-6829-5FFD-1765-676D76EE5F5B}"/>
              </a:ext>
            </a:extLst>
          </p:cNvPr>
          <p:cNvCxnSpPr/>
          <p:nvPr/>
        </p:nvCxnSpPr>
        <p:spPr>
          <a:xfrm>
            <a:off x="305146" y="3576489"/>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7AA2941-9659-DEF5-69DF-BE120C176F29}"/>
              </a:ext>
            </a:extLst>
          </p:cNvPr>
          <p:cNvSpPr/>
          <p:nvPr/>
        </p:nvSpPr>
        <p:spPr>
          <a:xfrm>
            <a:off x="297857" y="8748464"/>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a:extLst>
              <a:ext uri="{FF2B5EF4-FFF2-40B4-BE49-F238E27FC236}">
                <a16:creationId xmlns:a16="http://schemas.microsoft.com/office/drawing/2014/main" id="{974B464D-079C-66D5-267A-B0271C83992E}"/>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716ED43-E385-A160-9D3A-0264F1B0EE0B}"/>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9" name="TextBox 8">
            <a:extLst>
              <a:ext uri="{FF2B5EF4-FFF2-40B4-BE49-F238E27FC236}">
                <a16:creationId xmlns:a16="http://schemas.microsoft.com/office/drawing/2014/main" id="{C8FA6393-E3EE-E08E-89C6-D50BB8050980}"/>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10" name="TextBox 9">
            <a:extLst>
              <a:ext uri="{FF2B5EF4-FFF2-40B4-BE49-F238E27FC236}">
                <a16:creationId xmlns:a16="http://schemas.microsoft.com/office/drawing/2014/main" id="{C2139EFA-0963-F3E4-30F9-FE4954797181}"/>
              </a:ext>
            </a:extLst>
          </p:cNvPr>
          <p:cNvSpPr txBox="1"/>
          <p:nvPr/>
        </p:nvSpPr>
        <p:spPr>
          <a:xfrm>
            <a:off x="188640" y="1032962"/>
            <a:ext cx="6439240" cy="1292662"/>
          </a:xfrm>
          <a:prstGeom prst="rect">
            <a:avLst/>
          </a:prstGeom>
          <a:noFill/>
        </p:spPr>
        <p:txBody>
          <a:bodyPr wrap="square">
            <a:spAutoFit/>
          </a:bodyPr>
          <a:lstStyle/>
          <a:p>
            <a:r>
              <a:rPr lang="th-TH" altLang="en-US" sz="3200" dirty="0">
                <a:solidFill>
                  <a:schemeClr val="accent2"/>
                </a:solidFill>
                <a:latin typeface="BLS Condensed Bold" panose="00000800000000000000" pitchFamily="2" charset="-34"/>
                <a:ea typeface="Tahoma" pitchFamily="34" charset="0"/>
                <a:cs typeface="BLS Condensed Bold" panose="00000800000000000000" pitchFamily="2" charset="-34"/>
              </a:rPr>
              <a:t>โอกาส</a:t>
            </a:r>
            <a:r>
              <a:rPr lang="en-US" altLang="en-US" sz="3200" dirty="0">
                <a:solidFill>
                  <a:schemeClr val="accent2"/>
                </a:solidFill>
                <a:latin typeface="BLS Condensed Bold" panose="00000800000000000000" pitchFamily="2" charset="-34"/>
                <a:ea typeface="Tahoma" pitchFamily="34" charset="0"/>
                <a:cs typeface="BLS Condensed Bold" panose="00000800000000000000" pitchFamily="2" charset="-34"/>
              </a:rPr>
              <a:t> #</a:t>
            </a:r>
            <a:r>
              <a:rPr lang="th-TH" altLang="en-US" sz="3200" dirty="0">
                <a:solidFill>
                  <a:schemeClr val="accent2"/>
                </a:solidFill>
                <a:latin typeface="BLS Condensed Bold" panose="00000800000000000000" pitchFamily="2" charset="-34"/>
                <a:ea typeface="Tahoma" pitchFamily="34" charset="0"/>
                <a:cs typeface="BLS Condensed Bold" panose="00000800000000000000" pitchFamily="2" charset="-34"/>
              </a:rPr>
              <a:t> 2</a:t>
            </a:r>
            <a:r>
              <a:rPr lang="en-US" altLang="en-US" sz="3200" dirty="0">
                <a:solidFill>
                  <a:schemeClr val="accent2"/>
                </a:solidFill>
                <a:latin typeface="BLS Condensed Bold" panose="00000800000000000000" pitchFamily="2" charset="-34"/>
                <a:ea typeface="Tahoma" pitchFamily="34" charset="0"/>
                <a:cs typeface="BLS Condensed Bold" panose="00000800000000000000" pitchFamily="2" charset="-34"/>
              </a:rPr>
              <a:t> </a:t>
            </a:r>
            <a:r>
              <a:rPr lang="th-TH" altLang="en-US" sz="3200" dirty="0">
                <a:solidFill>
                  <a:schemeClr val="accent2"/>
                </a:solidFill>
                <a:latin typeface="BLS Condensed Bold" panose="00000800000000000000" pitchFamily="2" charset="-34"/>
                <a:ea typeface="Tahoma" pitchFamily="34" charset="0"/>
                <a:cs typeface="BLS Condensed Bold" panose="00000800000000000000" pitchFamily="2" charset="-34"/>
              </a:rPr>
              <a:t>กลุ่มกำไร/กระแสเงินสดแกร่ง</a:t>
            </a:r>
          </a:p>
          <a:p>
            <a:r>
              <a:rPr lang="th-TH" altLang="en-US" sz="2400" dirty="0">
                <a:solidFill>
                  <a:schemeClr val="tx2"/>
                </a:solidFill>
                <a:latin typeface="BLS Condensed Bold" panose="00000800000000000000" pitchFamily="2" charset="-34"/>
                <a:ea typeface="Tahoma" pitchFamily="34" charset="0"/>
                <a:cs typeface="BLS Condensed Bold" panose="00000800000000000000" pitchFamily="2" charset="-34"/>
              </a:rPr>
              <a:t>        </a:t>
            </a:r>
            <a:r>
              <a:rPr lang="th-TH" altLang="en-US" sz="2200" dirty="0">
                <a:solidFill>
                  <a:schemeClr val="tx2"/>
                </a:solidFill>
                <a:latin typeface="BLS Condensed Bold" panose="00000800000000000000" pitchFamily="2" charset="-34"/>
                <a:ea typeface="Tahoma" pitchFamily="34" charset="0"/>
                <a:cs typeface="BLS Condensed Bold" panose="00000800000000000000" pitchFamily="2" charset="-34"/>
              </a:rPr>
              <a:t>สัดส่วนต้นทุนพลังงานต่ำ/ส่งผ่านต้นทุนได้ (</a:t>
            </a:r>
            <a:r>
              <a:rPr lang="en-US" altLang="en-US" sz="2200" dirty="0">
                <a:solidFill>
                  <a:schemeClr val="tx2"/>
                </a:solidFill>
                <a:latin typeface="BLS Condensed Bold" panose="00000800000000000000" pitchFamily="2" charset="-34"/>
                <a:ea typeface="Tahoma" pitchFamily="34" charset="0"/>
                <a:cs typeface="BLS Condensed Bold" panose="00000800000000000000" pitchFamily="2" charset="-34"/>
              </a:rPr>
              <a:t>pricing power)</a:t>
            </a:r>
            <a:endParaRPr lang="th-TH" altLang="en-US" sz="2200" dirty="0">
              <a:solidFill>
                <a:schemeClr val="tx2"/>
              </a:solidFill>
              <a:latin typeface="BLS Condensed Bold" panose="00000800000000000000" pitchFamily="2" charset="-34"/>
              <a:ea typeface="Tahoma" pitchFamily="34" charset="0"/>
              <a:cs typeface="BLS Condensed Bold" panose="00000800000000000000" pitchFamily="2" charset="-34"/>
            </a:endParaRPr>
          </a:p>
          <a:p>
            <a:r>
              <a:rPr lang="th-TH" altLang="en-US" sz="2200" dirty="0">
                <a:solidFill>
                  <a:schemeClr val="tx2"/>
                </a:solidFill>
                <a:latin typeface="BLS Condensed Bold" panose="00000800000000000000" pitchFamily="2" charset="-34"/>
                <a:ea typeface="Tahoma" pitchFamily="34" charset="0"/>
                <a:cs typeface="BLS Condensed Bold" panose="00000800000000000000" pitchFamily="2" charset="-34"/>
              </a:rPr>
              <a:t>                                                       มาตรการรัฐฯ หนุนการฟื้นตัว </a:t>
            </a:r>
            <a:endParaRPr lang="en-US" altLang="en-US" sz="2200" dirty="0">
              <a:solidFill>
                <a:schemeClr val="tx2"/>
              </a:solidFill>
              <a:latin typeface="BLS Condensed Bold" panose="00000800000000000000" pitchFamily="2" charset="-34"/>
              <a:ea typeface="Tahoma" pitchFamily="34" charset="0"/>
              <a:cs typeface="BLS Condensed Bold" panose="00000800000000000000" pitchFamily="2" charset="-34"/>
            </a:endParaRPr>
          </a:p>
        </p:txBody>
      </p:sp>
      <p:sp>
        <p:nvSpPr>
          <p:cNvPr id="24" name="TextBox 23">
            <a:extLst>
              <a:ext uri="{FF2B5EF4-FFF2-40B4-BE49-F238E27FC236}">
                <a16:creationId xmlns:a16="http://schemas.microsoft.com/office/drawing/2014/main" id="{97B8DEDE-0323-676D-8E1B-73A6C4102A9D}"/>
              </a:ext>
            </a:extLst>
          </p:cNvPr>
          <p:cNvSpPr txBox="1">
            <a:spLocks noChangeArrowheads="1"/>
          </p:cNvSpPr>
          <p:nvPr/>
        </p:nvSpPr>
        <p:spPr bwMode="auto">
          <a:xfrm>
            <a:off x="427161" y="6820217"/>
            <a:ext cx="2768773"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r>
              <a:rPr lang="en-US" sz="700" dirty="0">
                <a:solidFill>
                  <a:srgbClr val="404040"/>
                </a:solidFill>
                <a:latin typeface="BLS Condensed" pitchFamily="2" charset="-34"/>
                <a:cs typeface="BLS Condensed" pitchFamily="2" charset="-34"/>
              </a:rPr>
              <a:t>Source</a:t>
            </a:r>
            <a:r>
              <a:rPr lang="th-TH" sz="600" dirty="0">
                <a:solidFill>
                  <a:srgbClr val="404040"/>
                </a:solidFill>
                <a:latin typeface="BLS Condensed" pitchFamily="2" charset="-34"/>
                <a:cs typeface="BLS Condensed" pitchFamily="2" charset="-34"/>
              </a:rPr>
              <a:t>:</a:t>
            </a:r>
            <a:r>
              <a:rPr lang="en-US" sz="600" dirty="0">
                <a:solidFill>
                  <a:srgbClr val="404040"/>
                </a:solidFill>
                <a:latin typeface="BLS Condensed" pitchFamily="2" charset="-34"/>
                <a:cs typeface="BLS Condensed" pitchFamily="2" charset="-34"/>
              </a:rPr>
              <a:t> </a:t>
            </a:r>
            <a:r>
              <a:rPr lang="en-US" sz="700" dirty="0" err="1">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Bualuang</a:t>
            </a:r>
            <a:r>
              <a:rPr lang="en-US" sz="700" dirty="0">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 Research</a:t>
            </a:r>
            <a:endParaRPr lang="en-US" sz="600" dirty="0">
              <a:solidFill>
                <a:srgbClr val="404040"/>
              </a:solidFill>
              <a:latin typeface="BLS Condensed" pitchFamily="2" charset="-34"/>
              <a:cs typeface="BLS Condensed" pitchFamily="2" charset="-34"/>
            </a:endParaRPr>
          </a:p>
        </p:txBody>
      </p:sp>
      <p:cxnSp>
        <p:nvCxnSpPr>
          <p:cNvPr id="26" name="Straight Connector 25">
            <a:extLst>
              <a:ext uri="{FF2B5EF4-FFF2-40B4-BE49-F238E27FC236}">
                <a16:creationId xmlns:a16="http://schemas.microsoft.com/office/drawing/2014/main" id="{80EE2C16-6AB7-3E6F-18FC-8299BA999C4C}"/>
              </a:ext>
            </a:extLst>
          </p:cNvPr>
          <p:cNvCxnSpPr>
            <a:cxnSpLocks/>
          </p:cNvCxnSpPr>
          <p:nvPr/>
        </p:nvCxnSpPr>
        <p:spPr>
          <a:xfrm>
            <a:off x="362735" y="6804248"/>
            <a:ext cx="6220743"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29" name="Picture 28">
            <a:extLst>
              <a:ext uri="{FF2B5EF4-FFF2-40B4-BE49-F238E27FC236}">
                <a16:creationId xmlns:a16="http://schemas.microsoft.com/office/drawing/2014/main" id="{19F6BE0C-117C-7CE9-3C67-885265A27EDA}"/>
              </a:ext>
            </a:extLst>
          </p:cNvPr>
          <p:cNvPicPr>
            <a:picLocks noChangeAspect="1"/>
          </p:cNvPicPr>
          <p:nvPr/>
        </p:nvPicPr>
        <p:blipFill rotWithShape="1">
          <a:blip r:embed="rId7"/>
          <a:srcRect r="7867"/>
          <a:stretch/>
        </p:blipFill>
        <p:spPr>
          <a:xfrm>
            <a:off x="227047" y="3848018"/>
            <a:ext cx="6476100" cy="2812214"/>
          </a:xfrm>
          <a:prstGeom prst="rect">
            <a:avLst/>
          </a:prstGeom>
        </p:spPr>
      </p:pic>
      <p:sp>
        <p:nvSpPr>
          <p:cNvPr id="34" name="TextBox 33">
            <a:extLst>
              <a:ext uri="{FF2B5EF4-FFF2-40B4-BE49-F238E27FC236}">
                <a16:creationId xmlns:a16="http://schemas.microsoft.com/office/drawing/2014/main" id="{BB3FBAC2-23AA-5659-527A-23BE86F1FB86}"/>
              </a:ext>
            </a:extLst>
          </p:cNvPr>
          <p:cNvSpPr txBox="1"/>
          <p:nvPr/>
        </p:nvSpPr>
        <p:spPr>
          <a:xfrm>
            <a:off x="188640" y="2393563"/>
            <a:ext cx="3164970" cy="830997"/>
          </a:xfrm>
          <a:prstGeom prst="rect">
            <a:avLst/>
          </a:prstGeom>
          <a:solidFill>
            <a:srgbClr val="EDEDED">
              <a:alpha val="60000"/>
            </a:srgbClr>
          </a:solidFill>
          <a:ln>
            <a:noFill/>
          </a:ln>
        </p:spPr>
        <p:txBody>
          <a:bodyPr wrap="square" rtlCol="0">
            <a:spAutoFit/>
          </a:bodyPr>
          <a:lstStyle/>
          <a:p>
            <a:pPr algn="thaiDist">
              <a:lnSpc>
                <a:spcPct val="120000"/>
              </a:lnSpc>
              <a:spcBef>
                <a:spcPts val="300"/>
              </a:spcBef>
              <a:buSzPct val="120000"/>
            </a:pPr>
            <a:r>
              <a:rPr lang="th-TH" sz="1000" dirty="0">
                <a:solidFill>
                  <a:schemeClr val="tx1">
                    <a:lumMod val="65000"/>
                    <a:lumOff val="35000"/>
                  </a:schemeClr>
                </a:solidFill>
                <a:latin typeface="BLS Text" panose="00000500000000000000" pitchFamily="2" charset="-34"/>
                <a:cs typeface="BLS Text" pitchFamily="2" charset="-34"/>
              </a:rPr>
              <a:t>ภายใต้บริบทปัจจุบัน แม้เศรษฐกิจยังเผชิญความไม่แน่นอนจากปัจจัยภายนอก แต่เรามองว่ารูปแบบการลงทุนในปีนี้มีแนวโน้มใกล้เคียงกับปี 2022 โดยตลาดจะให้น้ำหนักกับ ความสามารถในการบริหารต้นทุนและ</a:t>
            </a:r>
            <a:endParaRPr lang="en-US" sz="1000" dirty="0">
              <a:solidFill>
                <a:schemeClr val="tx1">
                  <a:lumMod val="65000"/>
                  <a:lumOff val="35000"/>
                </a:schemeClr>
              </a:solidFill>
              <a:latin typeface="BLS Text" panose="00000500000000000000" pitchFamily="2" charset="-34"/>
              <a:cs typeface="BLS Text" pitchFamily="2" charset="-34"/>
            </a:endParaRPr>
          </a:p>
        </p:txBody>
      </p:sp>
      <p:sp>
        <p:nvSpPr>
          <p:cNvPr id="37" name="TextBox 36">
            <a:extLst>
              <a:ext uri="{FF2B5EF4-FFF2-40B4-BE49-F238E27FC236}">
                <a16:creationId xmlns:a16="http://schemas.microsoft.com/office/drawing/2014/main" id="{4D5D285C-4E12-6C5C-0929-4346EA94E85A}"/>
              </a:ext>
            </a:extLst>
          </p:cNvPr>
          <p:cNvSpPr txBox="1"/>
          <p:nvPr/>
        </p:nvSpPr>
        <p:spPr>
          <a:xfrm>
            <a:off x="3462910" y="2393563"/>
            <a:ext cx="3164970" cy="882293"/>
          </a:xfrm>
          <a:prstGeom prst="rect">
            <a:avLst/>
          </a:prstGeom>
          <a:solidFill>
            <a:srgbClr val="EDEDED">
              <a:alpha val="60000"/>
            </a:srgbClr>
          </a:solidFill>
          <a:ln>
            <a:noFill/>
          </a:ln>
        </p:spPr>
        <p:txBody>
          <a:bodyPr wrap="square" rtlCol="0">
            <a:spAutoFit/>
          </a:bodyPr>
          <a:lstStyle/>
          <a:p>
            <a:pPr algn="thaiDist">
              <a:lnSpc>
                <a:spcPct val="120000"/>
              </a:lnSpc>
              <a:spcBef>
                <a:spcPts val="400"/>
              </a:spcBef>
              <a:buSzPct val="120000"/>
            </a:pPr>
            <a:r>
              <a:rPr lang="th-TH" sz="1000" dirty="0">
                <a:solidFill>
                  <a:schemeClr val="tx1">
                    <a:lumMod val="65000"/>
                    <a:lumOff val="35000"/>
                  </a:schemeClr>
                </a:solidFill>
                <a:latin typeface="BLS Text" panose="00000500000000000000" pitchFamily="2" charset="-34"/>
                <a:cs typeface="BLS Text" pitchFamily="2" charset="-34"/>
              </a:rPr>
              <a:t>อำนาจในการกำหนดราคา มากกว่าการเติบโตเชิงปริมาณ กลุ่มค้าปลีกและศูนย์การค้าที่มีประวัติการรักษาอัตรากำไรในภาวะต้นทุนสูง มีแนวโน้มกลับมาเป็นกลุ่มนำ </a:t>
            </a:r>
          </a:p>
          <a:p>
            <a:pPr algn="thaiDist">
              <a:lnSpc>
                <a:spcPct val="120000"/>
              </a:lnSpc>
              <a:spcBef>
                <a:spcPts val="400"/>
              </a:spcBef>
              <a:buSzPct val="120000"/>
            </a:pPr>
            <a:r>
              <a:rPr lang="en-US" sz="1000" b="1" dirty="0">
                <a:solidFill>
                  <a:schemeClr val="tx1">
                    <a:lumMod val="65000"/>
                    <a:lumOff val="35000"/>
                  </a:schemeClr>
                </a:solidFill>
                <a:latin typeface="BLS Text" panose="00000500000000000000" pitchFamily="2" charset="-34"/>
                <a:cs typeface="BLS Text" pitchFamily="2" charset="-34"/>
              </a:rPr>
              <a:t>CPN, CPALL</a:t>
            </a:r>
            <a:r>
              <a:rPr lang="en-US" sz="1000" dirty="0">
                <a:solidFill>
                  <a:schemeClr val="tx1">
                    <a:lumMod val="65000"/>
                    <a:lumOff val="35000"/>
                  </a:schemeClr>
                </a:solidFill>
                <a:latin typeface="BLS Text" panose="00000500000000000000" pitchFamily="2" charset="-34"/>
                <a:cs typeface="BLS Text" pitchFamily="2" charset="-34"/>
              </a:rPr>
              <a:t> </a:t>
            </a:r>
          </a:p>
        </p:txBody>
      </p:sp>
    </p:spTree>
    <p:extLst>
      <p:ext uri="{BB962C8B-B14F-4D97-AF65-F5344CB8AC3E}">
        <p14:creationId xmlns:p14="http://schemas.microsoft.com/office/powerpoint/2010/main" val="23498303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8602"/>
          <a:stretch/>
        </p:blipFill>
        <p:spPr>
          <a:xfrm>
            <a:off x="0" y="0"/>
            <a:ext cx="6858000" cy="8689302"/>
          </a:xfrm>
          <a:prstGeom prst="rect">
            <a:avLst/>
          </a:prstGeom>
        </p:spPr>
      </p:pic>
      <p:sp>
        <p:nvSpPr>
          <p:cNvPr id="36" name="TextBox 35">
            <a:extLst>
              <a:ext uri="{FF2B5EF4-FFF2-40B4-BE49-F238E27FC236}">
                <a16:creationId xmlns:a16="http://schemas.microsoft.com/office/drawing/2014/main" id="{1A9E9AAC-6A37-023B-CB7D-D641133919A7}"/>
              </a:ext>
            </a:extLst>
          </p:cNvPr>
          <p:cNvSpPr txBox="1"/>
          <p:nvPr/>
        </p:nvSpPr>
        <p:spPr>
          <a:xfrm>
            <a:off x="4590386" y="2771800"/>
            <a:ext cx="1125089" cy="369332"/>
          </a:xfrm>
          <a:prstGeom prst="rect">
            <a:avLst/>
          </a:prstGeom>
          <a:noFill/>
        </p:spPr>
        <p:txBody>
          <a:bodyPr wrap="square" rtlCol="0">
            <a:spAutoFit/>
          </a:bodyPr>
          <a:lstStyle/>
          <a:p>
            <a:pPr algn="ctr"/>
            <a:r>
              <a:rPr lang="th-TH" sz="900" dirty="0">
                <a:solidFill>
                  <a:schemeClr val="bg1"/>
                </a:solidFill>
                <a:latin typeface="BLS Text" panose="00000500000000000000" pitchFamily="2" charset="-34"/>
                <a:cs typeface="BLS Text" panose="00000500000000000000" pitchFamily="2" charset="-34"/>
              </a:rPr>
              <a:t>เลือกนายก/แต่งตั้งคณะรัฐมนตรี</a:t>
            </a:r>
          </a:p>
        </p:txBody>
      </p:sp>
      <p:sp>
        <p:nvSpPr>
          <p:cNvPr id="23" name="TextBox 22">
            <a:extLst>
              <a:ext uri="{FF2B5EF4-FFF2-40B4-BE49-F238E27FC236}">
                <a16:creationId xmlns:a16="http://schemas.microsoft.com/office/drawing/2014/main" id="{81748675-2985-66A0-18EB-8B4E8A4F54F6}"/>
              </a:ext>
            </a:extLst>
          </p:cNvPr>
          <p:cNvSpPr txBox="1"/>
          <p:nvPr/>
        </p:nvSpPr>
        <p:spPr>
          <a:xfrm>
            <a:off x="286492" y="2924701"/>
            <a:ext cx="6022828" cy="215444"/>
          </a:xfrm>
          <a:prstGeom prst="rect">
            <a:avLst/>
          </a:prstGeom>
          <a:noFill/>
        </p:spPr>
        <p:txBody>
          <a:bodyPr wrap="square" rtlCol="0">
            <a:spAutoFit/>
          </a:bodyPr>
          <a:lstStyle/>
          <a:p>
            <a:r>
              <a:rPr lang="th-TH" sz="800" b="1" dirty="0">
                <a:solidFill>
                  <a:schemeClr val="tx1">
                    <a:lumMod val="95000"/>
                    <a:lumOff val="5000"/>
                  </a:schemeClr>
                </a:solidFill>
                <a:latin typeface="BLS Condensed" pitchFamily="2" charset="-34"/>
                <a:ea typeface="Tahoma" pitchFamily="34" charset="0"/>
                <a:cs typeface="BLS Condensed" pitchFamily="2" charset="-34"/>
              </a:rPr>
              <a:t>รูปที่</a:t>
            </a:r>
            <a:r>
              <a:rPr lang="en-US" sz="800" b="1" dirty="0">
                <a:solidFill>
                  <a:schemeClr val="tx1">
                    <a:lumMod val="95000"/>
                    <a:lumOff val="5000"/>
                  </a:schemeClr>
                </a:solidFill>
                <a:latin typeface="BLS Condensed" pitchFamily="2" charset="-34"/>
                <a:ea typeface="Tahoma" pitchFamily="34" charset="0"/>
                <a:cs typeface="BLS Condensed" pitchFamily="2" charset="-34"/>
              </a:rPr>
              <a:t> 6: Dividends play</a:t>
            </a:r>
            <a:r>
              <a:rPr lang="th-TH" sz="800" b="1" dirty="0">
                <a:solidFill>
                  <a:schemeClr val="tx1">
                    <a:lumMod val="95000"/>
                    <a:lumOff val="5000"/>
                  </a:schemeClr>
                </a:solidFill>
                <a:latin typeface="BLS Condensed" pitchFamily="2" charset="-34"/>
                <a:ea typeface="Tahoma" pitchFamily="34" charset="0"/>
                <a:cs typeface="BLS Condensed" pitchFamily="2" charset="-34"/>
              </a:rPr>
              <a:t> </a:t>
            </a:r>
            <a:r>
              <a:rPr lang="th-TH" sz="800" dirty="0">
                <a:solidFill>
                  <a:schemeClr val="tx1">
                    <a:lumMod val="95000"/>
                    <a:lumOff val="5000"/>
                  </a:schemeClr>
                </a:solidFill>
                <a:latin typeface="BLS Condensed" pitchFamily="2" charset="-34"/>
                <a:ea typeface="Tahoma" pitchFamily="34" charset="0"/>
                <a:cs typeface="BLS Condensed" pitchFamily="2" charset="-34"/>
              </a:rPr>
              <a:t>- หุ้นที่คาดการณ์อัตราผลตอบแทนเงินปันผลมากกว่า 5% ในปี 2026-2027 และมีการจ่ายเพิ่มขึ้นใน 5 ปีที่ผ่านมา </a:t>
            </a:r>
          </a:p>
        </p:txBody>
      </p:sp>
      <p:cxnSp>
        <p:nvCxnSpPr>
          <p:cNvPr id="31" name="Straight Connector 30">
            <a:extLst>
              <a:ext uri="{FF2B5EF4-FFF2-40B4-BE49-F238E27FC236}">
                <a16:creationId xmlns:a16="http://schemas.microsoft.com/office/drawing/2014/main" id="{ED544969-6829-5FFD-1765-676D76EE5F5B}"/>
              </a:ext>
            </a:extLst>
          </p:cNvPr>
          <p:cNvCxnSpPr/>
          <p:nvPr/>
        </p:nvCxnSpPr>
        <p:spPr>
          <a:xfrm>
            <a:off x="305146" y="2915816"/>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7AA2941-9659-DEF5-69DF-BE120C176F29}"/>
              </a:ext>
            </a:extLst>
          </p:cNvPr>
          <p:cNvSpPr/>
          <p:nvPr/>
        </p:nvSpPr>
        <p:spPr>
          <a:xfrm>
            <a:off x="297857" y="8748464"/>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a:extLst>
              <a:ext uri="{FF2B5EF4-FFF2-40B4-BE49-F238E27FC236}">
                <a16:creationId xmlns:a16="http://schemas.microsoft.com/office/drawing/2014/main" id="{974B464D-079C-66D5-267A-B0271C83992E}"/>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716ED43-E385-A160-9D3A-0264F1B0EE0B}"/>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9" name="TextBox 8">
            <a:extLst>
              <a:ext uri="{FF2B5EF4-FFF2-40B4-BE49-F238E27FC236}">
                <a16:creationId xmlns:a16="http://schemas.microsoft.com/office/drawing/2014/main" id="{C8FA6393-E3EE-E08E-89C6-D50BB8050980}"/>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10" name="TextBox 9">
            <a:extLst>
              <a:ext uri="{FF2B5EF4-FFF2-40B4-BE49-F238E27FC236}">
                <a16:creationId xmlns:a16="http://schemas.microsoft.com/office/drawing/2014/main" id="{C2139EFA-0963-F3E4-30F9-FE4954797181}"/>
              </a:ext>
            </a:extLst>
          </p:cNvPr>
          <p:cNvSpPr txBox="1"/>
          <p:nvPr/>
        </p:nvSpPr>
        <p:spPr>
          <a:xfrm>
            <a:off x="188640" y="1032962"/>
            <a:ext cx="6439240" cy="1846659"/>
          </a:xfrm>
          <a:prstGeom prst="rect">
            <a:avLst/>
          </a:prstGeom>
          <a:noFill/>
        </p:spPr>
        <p:txBody>
          <a:bodyPr wrap="square">
            <a:spAutoFit/>
          </a:bodyPr>
          <a:lstStyle/>
          <a:p>
            <a:r>
              <a:rPr lang="th-TH" altLang="en-US" sz="3200" dirty="0">
                <a:solidFill>
                  <a:schemeClr val="accent2"/>
                </a:solidFill>
                <a:latin typeface="BLS Condensed Bold" panose="00000800000000000000" pitchFamily="2" charset="-34"/>
                <a:ea typeface="Tahoma" pitchFamily="34" charset="0"/>
                <a:cs typeface="BLS Condensed Bold" panose="00000800000000000000" pitchFamily="2" charset="-34"/>
              </a:rPr>
              <a:t>โอกาส</a:t>
            </a:r>
            <a:r>
              <a:rPr lang="en-US" altLang="en-US" sz="3200" dirty="0">
                <a:solidFill>
                  <a:schemeClr val="accent2"/>
                </a:solidFill>
                <a:latin typeface="BLS Condensed Bold" panose="00000800000000000000" pitchFamily="2" charset="-34"/>
                <a:ea typeface="Tahoma" pitchFamily="34" charset="0"/>
                <a:cs typeface="BLS Condensed Bold" panose="00000800000000000000" pitchFamily="2" charset="-34"/>
              </a:rPr>
              <a:t> #</a:t>
            </a:r>
            <a:r>
              <a:rPr lang="th-TH" altLang="en-US" sz="3200" dirty="0">
                <a:solidFill>
                  <a:schemeClr val="accent2"/>
                </a:solidFill>
                <a:latin typeface="BLS Condensed Bold" panose="00000800000000000000" pitchFamily="2" charset="-34"/>
                <a:ea typeface="Tahoma" pitchFamily="34" charset="0"/>
                <a:cs typeface="BLS Condensed Bold" panose="00000800000000000000" pitchFamily="2" charset="-34"/>
              </a:rPr>
              <a:t> </a:t>
            </a:r>
            <a:r>
              <a:rPr lang="en-US" altLang="en-US" sz="3200" dirty="0">
                <a:solidFill>
                  <a:schemeClr val="accent2"/>
                </a:solidFill>
                <a:latin typeface="BLS Condensed Bold" panose="00000800000000000000" pitchFamily="2" charset="-34"/>
                <a:ea typeface="Tahoma" pitchFamily="34" charset="0"/>
                <a:cs typeface="BLS Condensed Bold" panose="00000800000000000000" pitchFamily="2" charset="-34"/>
              </a:rPr>
              <a:t>3 </a:t>
            </a:r>
            <a:r>
              <a:rPr lang="th-TH" altLang="en-US" sz="3200" dirty="0">
                <a:solidFill>
                  <a:schemeClr val="accent2"/>
                </a:solidFill>
                <a:latin typeface="BLS Condensed Bold" panose="00000800000000000000" pitchFamily="2" charset="-34"/>
                <a:ea typeface="Tahoma" pitchFamily="34" charset="0"/>
                <a:cs typeface="BLS Condensed Bold" panose="00000800000000000000" pitchFamily="2" charset="-34"/>
              </a:rPr>
              <a:t>ผู้นำปันผลสูง</a:t>
            </a:r>
            <a:endParaRPr lang="en-US" altLang="en-US" sz="3200" dirty="0">
              <a:solidFill>
                <a:schemeClr val="accent2"/>
              </a:solidFill>
              <a:latin typeface="BLS Condensed Bold" panose="00000800000000000000" pitchFamily="2" charset="-34"/>
              <a:ea typeface="Tahoma" pitchFamily="34" charset="0"/>
              <a:cs typeface="BLS Condensed Bold" panose="00000800000000000000" pitchFamily="2" charset="-34"/>
            </a:endParaRPr>
          </a:p>
          <a:p>
            <a:r>
              <a:rPr lang="en-US" altLang="en-US" sz="3200" dirty="0">
                <a:solidFill>
                  <a:schemeClr val="accent2"/>
                </a:solidFill>
                <a:latin typeface="BLS Condensed Bold" panose="00000800000000000000" pitchFamily="2" charset="-34"/>
                <a:ea typeface="Tahoma" pitchFamily="34" charset="0"/>
                <a:cs typeface="BLS Condensed Bold" panose="00000800000000000000" pitchFamily="2" charset="-34"/>
              </a:rPr>
              <a:t>               </a:t>
            </a:r>
            <a:r>
              <a:rPr lang="th-TH" altLang="en-US" sz="3200" dirty="0">
                <a:solidFill>
                  <a:schemeClr val="accent2"/>
                </a:solidFill>
                <a:latin typeface="BLS Condensed Bold" panose="00000800000000000000" pitchFamily="2" charset="-34"/>
                <a:ea typeface="Tahoma" pitchFamily="34" charset="0"/>
                <a:cs typeface="BLS Condensed Bold" panose="00000800000000000000" pitchFamily="2" charset="-34"/>
              </a:rPr>
              <a:t>รับอานิสงส์ </a:t>
            </a:r>
            <a:r>
              <a:rPr lang="en-US" altLang="en-US" sz="3200" dirty="0">
                <a:solidFill>
                  <a:schemeClr val="accent2"/>
                </a:solidFill>
                <a:latin typeface="BLS Condensed Bold" panose="00000800000000000000" pitchFamily="2" charset="-34"/>
                <a:ea typeface="Tahoma" pitchFamily="34" charset="0"/>
                <a:cs typeface="BLS Condensed Bold" panose="00000800000000000000" pitchFamily="2" charset="-34"/>
              </a:rPr>
              <a:t>TISA </a:t>
            </a:r>
            <a:r>
              <a:rPr lang="th-TH" altLang="en-US" sz="3200" dirty="0">
                <a:solidFill>
                  <a:schemeClr val="accent2"/>
                </a:solidFill>
                <a:latin typeface="BLS Condensed Bold" panose="00000800000000000000" pitchFamily="2" charset="-34"/>
                <a:ea typeface="Tahoma" pitchFamily="34" charset="0"/>
                <a:cs typeface="BLS Condensed Bold" panose="00000800000000000000" pitchFamily="2" charset="-34"/>
              </a:rPr>
              <a:t>หนุนเงินทุนไหลเข้า</a:t>
            </a:r>
            <a:endParaRPr lang="en-US" altLang="en-US" sz="3200" dirty="0">
              <a:solidFill>
                <a:schemeClr val="accent2"/>
              </a:solidFill>
              <a:latin typeface="BLS Condensed Bold" panose="00000800000000000000" pitchFamily="2" charset="-34"/>
              <a:ea typeface="Tahoma" pitchFamily="34" charset="0"/>
              <a:cs typeface="BLS Condensed Bold" panose="00000800000000000000" pitchFamily="2" charset="-34"/>
            </a:endParaRPr>
          </a:p>
          <a:p>
            <a:pPr algn="ctr"/>
            <a:endParaRPr lang="en-US" altLang="en-US" sz="400" dirty="0">
              <a:solidFill>
                <a:schemeClr val="tx2"/>
              </a:solidFill>
              <a:latin typeface="BLS Condensed Bold" panose="00000800000000000000" pitchFamily="2" charset="-34"/>
              <a:ea typeface="Tahoma" pitchFamily="34" charset="0"/>
              <a:cs typeface="BLS Condensed Bold" panose="00000800000000000000" pitchFamily="2" charset="-34"/>
            </a:endParaRPr>
          </a:p>
          <a:p>
            <a:pPr algn="ctr"/>
            <a:r>
              <a:rPr lang="th-TH" altLang="en-US" sz="2200" dirty="0">
                <a:solidFill>
                  <a:schemeClr val="tx2"/>
                </a:solidFill>
                <a:latin typeface="BLS Condensed Bold" panose="00000800000000000000" pitchFamily="2" charset="-34"/>
                <a:ea typeface="Tahoma" pitchFamily="34" charset="0"/>
                <a:cs typeface="BLS Condensed Bold" panose="00000800000000000000" pitchFamily="2" charset="-34"/>
              </a:rPr>
              <a:t>หุ้นที่คาดการณ์อัตราผลตอบแทนเงินปันผลมากกว่า 5% ในปี 2026-2027 และมีการจ่ายเพิ่มขึ้นใน 5 ปีที่ผ่านมา </a:t>
            </a:r>
            <a:endParaRPr lang="en-US" altLang="en-US" sz="2200" dirty="0">
              <a:solidFill>
                <a:schemeClr val="tx2"/>
              </a:solidFill>
              <a:latin typeface="BLS Condensed Bold" panose="00000800000000000000" pitchFamily="2" charset="-34"/>
              <a:ea typeface="Tahoma" pitchFamily="34" charset="0"/>
              <a:cs typeface="BLS Condensed Bold" panose="00000800000000000000" pitchFamily="2" charset="-34"/>
            </a:endParaRPr>
          </a:p>
        </p:txBody>
      </p:sp>
      <p:sp>
        <p:nvSpPr>
          <p:cNvPr id="24" name="TextBox 23">
            <a:extLst>
              <a:ext uri="{FF2B5EF4-FFF2-40B4-BE49-F238E27FC236}">
                <a16:creationId xmlns:a16="http://schemas.microsoft.com/office/drawing/2014/main" id="{97B8DEDE-0323-676D-8E1B-73A6C4102A9D}"/>
              </a:ext>
            </a:extLst>
          </p:cNvPr>
          <p:cNvSpPr txBox="1">
            <a:spLocks noChangeArrowheads="1"/>
          </p:cNvSpPr>
          <p:nvPr/>
        </p:nvSpPr>
        <p:spPr bwMode="auto">
          <a:xfrm>
            <a:off x="427161" y="6172145"/>
            <a:ext cx="2768773" cy="2000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36000" rIns="36000">
            <a:spAutoFit/>
          </a:bodyPr>
          <a:lstStyle>
            <a:lvl1pPr>
              <a:defRPr sz="2800">
                <a:solidFill>
                  <a:schemeClr val="tx1"/>
                </a:solidFill>
                <a:latin typeface="Times New Roman" pitchFamily="18" charset="0"/>
                <a:cs typeface="Angsana New" pitchFamily="18" charset="-34"/>
              </a:defRPr>
            </a:lvl1pPr>
            <a:lvl2pPr marL="742950" indent="-285750">
              <a:defRPr sz="2800">
                <a:solidFill>
                  <a:schemeClr val="tx1"/>
                </a:solidFill>
                <a:latin typeface="Times New Roman" pitchFamily="18" charset="0"/>
                <a:cs typeface="Angsana New" pitchFamily="18" charset="-34"/>
              </a:defRPr>
            </a:lvl2pPr>
            <a:lvl3pPr marL="1143000" indent="-228600">
              <a:defRPr sz="2800">
                <a:solidFill>
                  <a:schemeClr val="tx1"/>
                </a:solidFill>
                <a:latin typeface="Times New Roman" pitchFamily="18" charset="0"/>
                <a:cs typeface="Angsana New" pitchFamily="18" charset="-34"/>
              </a:defRPr>
            </a:lvl3pPr>
            <a:lvl4pPr marL="1600200" indent="-228600">
              <a:defRPr sz="2800">
                <a:solidFill>
                  <a:schemeClr val="tx1"/>
                </a:solidFill>
                <a:latin typeface="Times New Roman" pitchFamily="18" charset="0"/>
                <a:cs typeface="Angsana New" pitchFamily="18" charset="-34"/>
              </a:defRPr>
            </a:lvl4pPr>
            <a:lvl5pPr marL="2057400" indent="-228600">
              <a:defRPr sz="2800">
                <a:solidFill>
                  <a:schemeClr val="tx1"/>
                </a:solidFill>
                <a:latin typeface="Times New Roman" pitchFamily="18" charset="0"/>
                <a:cs typeface="Angsana New" pitchFamily="18" charset="-34"/>
              </a:defRPr>
            </a:lvl5pPr>
            <a:lvl6pPr marL="2514600" indent="-228600" eaLnBrk="0" fontAlgn="base" hangingPunct="0">
              <a:spcBef>
                <a:spcPct val="0"/>
              </a:spcBef>
              <a:spcAft>
                <a:spcPct val="0"/>
              </a:spcAft>
              <a:defRPr sz="2800">
                <a:solidFill>
                  <a:schemeClr val="tx1"/>
                </a:solidFill>
                <a:latin typeface="Times New Roman" pitchFamily="18" charset="0"/>
                <a:cs typeface="Angsana New" pitchFamily="18" charset="-34"/>
              </a:defRPr>
            </a:lvl6pPr>
            <a:lvl7pPr marL="2971800" indent="-228600" eaLnBrk="0" fontAlgn="base" hangingPunct="0">
              <a:spcBef>
                <a:spcPct val="0"/>
              </a:spcBef>
              <a:spcAft>
                <a:spcPct val="0"/>
              </a:spcAft>
              <a:defRPr sz="2800">
                <a:solidFill>
                  <a:schemeClr val="tx1"/>
                </a:solidFill>
                <a:latin typeface="Times New Roman" pitchFamily="18" charset="0"/>
                <a:cs typeface="Angsana New" pitchFamily="18" charset="-34"/>
              </a:defRPr>
            </a:lvl7pPr>
            <a:lvl8pPr marL="3429000" indent="-228600" eaLnBrk="0" fontAlgn="base" hangingPunct="0">
              <a:spcBef>
                <a:spcPct val="0"/>
              </a:spcBef>
              <a:spcAft>
                <a:spcPct val="0"/>
              </a:spcAft>
              <a:defRPr sz="2800">
                <a:solidFill>
                  <a:schemeClr val="tx1"/>
                </a:solidFill>
                <a:latin typeface="Times New Roman" pitchFamily="18" charset="0"/>
                <a:cs typeface="Angsana New" pitchFamily="18" charset="-34"/>
              </a:defRPr>
            </a:lvl8pPr>
            <a:lvl9pPr marL="3886200" indent="-228600" eaLnBrk="0" fontAlgn="base" hangingPunct="0">
              <a:spcBef>
                <a:spcPct val="0"/>
              </a:spcBef>
              <a:spcAft>
                <a:spcPct val="0"/>
              </a:spcAft>
              <a:defRPr sz="2800">
                <a:solidFill>
                  <a:schemeClr val="tx1"/>
                </a:solidFill>
                <a:latin typeface="Times New Roman" pitchFamily="18" charset="0"/>
                <a:cs typeface="Angsana New" pitchFamily="18" charset="-34"/>
              </a:defRPr>
            </a:lvl9pPr>
          </a:lstStyle>
          <a:p>
            <a:r>
              <a:rPr lang="en-US" sz="700" dirty="0">
                <a:solidFill>
                  <a:srgbClr val="404040"/>
                </a:solidFill>
                <a:latin typeface="BLS Condensed" pitchFamily="2" charset="-34"/>
                <a:cs typeface="BLS Condensed" pitchFamily="2" charset="-34"/>
              </a:rPr>
              <a:t>Source</a:t>
            </a:r>
            <a:r>
              <a:rPr lang="th-TH" sz="600" dirty="0">
                <a:solidFill>
                  <a:srgbClr val="404040"/>
                </a:solidFill>
                <a:latin typeface="BLS Condensed" pitchFamily="2" charset="-34"/>
                <a:cs typeface="BLS Condensed" pitchFamily="2" charset="-34"/>
              </a:rPr>
              <a:t>:</a:t>
            </a:r>
            <a:r>
              <a:rPr lang="en-US" sz="600" dirty="0">
                <a:solidFill>
                  <a:srgbClr val="404040"/>
                </a:solidFill>
                <a:latin typeface="BLS Condensed" pitchFamily="2" charset="-34"/>
                <a:cs typeface="BLS Condensed" pitchFamily="2" charset="-34"/>
              </a:rPr>
              <a:t> </a:t>
            </a:r>
            <a:r>
              <a:rPr lang="en-US" sz="700" dirty="0" err="1">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Bualuang</a:t>
            </a:r>
            <a:r>
              <a:rPr lang="en-US" sz="700" dirty="0">
                <a:solidFill>
                  <a:schemeClr val="tx1">
                    <a:lumMod val="75000"/>
                    <a:lumOff val="25000"/>
                  </a:schemeClr>
                </a:solidFill>
                <a:latin typeface="BLS Condensed" panose="00000500000000000000" pitchFamily="2" charset="-34"/>
                <a:ea typeface="MS PGothic" panose="020B0600070205080204" pitchFamily="34" charset="-128"/>
                <a:cs typeface="BLS Condensed" panose="00000500000000000000" pitchFamily="2" charset="-34"/>
              </a:rPr>
              <a:t> Research</a:t>
            </a:r>
            <a:endParaRPr lang="en-US" sz="600" dirty="0">
              <a:solidFill>
                <a:srgbClr val="404040"/>
              </a:solidFill>
              <a:latin typeface="BLS Condensed" pitchFamily="2" charset="-34"/>
              <a:cs typeface="BLS Condensed" pitchFamily="2" charset="-34"/>
            </a:endParaRPr>
          </a:p>
        </p:txBody>
      </p:sp>
      <p:cxnSp>
        <p:nvCxnSpPr>
          <p:cNvPr id="26" name="Straight Connector 25">
            <a:extLst>
              <a:ext uri="{FF2B5EF4-FFF2-40B4-BE49-F238E27FC236}">
                <a16:creationId xmlns:a16="http://schemas.microsoft.com/office/drawing/2014/main" id="{80EE2C16-6AB7-3E6F-18FC-8299BA999C4C}"/>
              </a:ext>
            </a:extLst>
          </p:cNvPr>
          <p:cNvCxnSpPr>
            <a:cxnSpLocks/>
          </p:cNvCxnSpPr>
          <p:nvPr/>
        </p:nvCxnSpPr>
        <p:spPr>
          <a:xfrm>
            <a:off x="362735" y="6156176"/>
            <a:ext cx="6220743"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pic>
        <p:nvPicPr>
          <p:cNvPr id="12" name="Picture 11">
            <a:extLst>
              <a:ext uri="{FF2B5EF4-FFF2-40B4-BE49-F238E27FC236}">
                <a16:creationId xmlns:a16="http://schemas.microsoft.com/office/drawing/2014/main" id="{BDA5D66E-BEE3-737D-BECA-C0A50278FB5B}"/>
              </a:ext>
            </a:extLst>
          </p:cNvPr>
          <p:cNvPicPr>
            <a:picLocks noChangeAspect="1"/>
          </p:cNvPicPr>
          <p:nvPr/>
        </p:nvPicPr>
        <p:blipFill rotWithShape="1">
          <a:blip r:embed="rId7"/>
          <a:srcRect r="18028"/>
          <a:stretch/>
        </p:blipFill>
        <p:spPr>
          <a:xfrm>
            <a:off x="773699" y="3228471"/>
            <a:ext cx="5310602" cy="2783689"/>
          </a:xfrm>
          <a:prstGeom prst="rect">
            <a:avLst/>
          </a:prstGeom>
        </p:spPr>
      </p:pic>
    </p:spTree>
    <p:extLst>
      <p:ext uri="{BB962C8B-B14F-4D97-AF65-F5344CB8AC3E}">
        <p14:creationId xmlns:p14="http://schemas.microsoft.com/office/powerpoint/2010/main" val="37934745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D9AD5D-75DD-7C3E-4E12-95FE9E6DA851}"/>
            </a:ext>
          </a:extLst>
        </p:cNvPr>
        <p:cNvGrpSpPr/>
        <p:nvPr/>
      </p:nvGrpSpPr>
      <p:grpSpPr>
        <a:xfrm>
          <a:off x="0" y="0"/>
          <a:ext cx="0" cy="0"/>
          <a:chOff x="0" y="0"/>
          <a:chExt cx="0" cy="0"/>
        </a:xfrm>
      </p:grpSpPr>
      <p:pic>
        <p:nvPicPr>
          <p:cNvPr id="5" name="Picture 4" descr="Watercolor of trees in the fog&#10;&#10;Description automatically generated">
            <a:extLst>
              <a:ext uri="{FF2B5EF4-FFF2-40B4-BE49-F238E27FC236}">
                <a16:creationId xmlns:a16="http://schemas.microsoft.com/office/drawing/2014/main" id="{FB46D737-2FF6-5661-E106-CBC8C1117565}"/>
              </a:ext>
            </a:extLst>
          </p:cNvPr>
          <p:cNvPicPr>
            <a:picLocks noChangeAspect="1"/>
          </p:cNvPicPr>
          <p:nvPr/>
        </p:nvPicPr>
        <p:blipFill rotWithShape="1">
          <a:blip r:embed="rId3" cstate="print">
            <a:duotone>
              <a:schemeClr val="accent4">
                <a:shade val="45000"/>
                <a:satMod val="135000"/>
              </a:schemeClr>
              <a:prstClr val="white"/>
            </a:duotone>
            <a:alphaModFix/>
            <a:extLst>
              <a:ext uri="{BEBA8EAE-BF5A-486C-A8C5-ECC9F3942E4B}">
                <a14:imgProps xmlns:a14="http://schemas.microsoft.com/office/drawing/2010/main">
                  <a14:imgLayer r:embed="rId4">
                    <a14:imgEffect>
                      <a14:brightnessContrast bright="60000" contrast="40000"/>
                    </a14:imgEffect>
                  </a14:imgLayer>
                </a14:imgProps>
              </a:ext>
              <a:ext uri="{28A0092B-C50C-407E-A947-70E740481C1C}">
                <a14:useLocalDpi xmlns:a14="http://schemas.microsoft.com/office/drawing/2010/main" val="0"/>
              </a:ext>
            </a:extLst>
          </a:blip>
          <a:srcRect l="56413" t="2666" r="8181" b="8602"/>
          <a:stretch/>
        </p:blipFill>
        <p:spPr>
          <a:xfrm>
            <a:off x="0" y="0"/>
            <a:ext cx="6858000" cy="8689302"/>
          </a:xfrm>
          <a:prstGeom prst="rect">
            <a:avLst/>
          </a:prstGeom>
        </p:spPr>
      </p:pic>
      <p:cxnSp>
        <p:nvCxnSpPr>
          <p:cNvPr id="18" name="Straight Connector 17">
            <a:extLst>
              <a:ext uri="{FF2B5EF4-FFF2-40B4-BE49-F238E27FC236}">
                <a16:creationId xmlns:a16="http://schemas.microsoft.com/office/drawing/2014/main" id="{811E1CC9-D26F-1122-558A-414813438452}"/>
              </a:ext>
            </a:extLst>
          </p:cNvPr>
          <p:cNvCxnSpPr>
            <a:cxnSpLocks/>
          </p:cNvCxnSpPr>
          <p:nvPr/>
        </p:nvCxnSpPr>
        <p:spPr>
          <a:xfrm>
            <a:off x="320593" y="8748464"/>
            <a:ext cx="6126480" cy="0"/>
          </a:xfrm>
          <a:prstGeom prst="line">
            <a:avLst/>
          </a:prstGeom>
          <a:ln w="6350">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sp>
        <p:nvSpPr>
          <p:cNvPr id="33" name="Rectangle 32">
            <a:extLst>
              <a:ext uri="{FF2B5EF4-FFF2-40B4-BE49-F238E27FC236}">
                <a16:creationId xmlns:a16="http://schemas.microsoft.com/office/drawing/2014/main" id="{47AA2941-9659-DEF5-69DF-BE120C176F29}"/>
              </a:ext>
            </a:extLst>
          </p:cNvPr>
          <p:cNvSpPr/>
          <p:nvPr/>
        </p:nvSpPr>
        <p:spPr>
          <a:xfrm>
            <a:off x="297857" y="8748464"/>
            <a:ext cx="6235107"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2">
            <a:extLst>
              <a:ext uri="{FF2B5EF4-FFF2-40B4-BE49-F238E27FC236}">
                <a16:creationId xmlns:a16="http://schemas.microsoft.com/office/drawing/2014/main" id="{974B464D-079C-66D5-267A-B0271C83992E}"/>
              </a:ext>
            </a:extLst>
          </p:cNvPr>
          <p:cNvPicPr>
            <a:picLocks noChangeAspect="1" noChangeArrowheads="1"/>
          </p:cNvPicPr>
          <p:nvPr/>
        </p:nvPicPr>
        <p:blipFill>
          <a:blip r:embed="rId5" cstate="print">
            <a:clrChange>
              <a:clrFrom>
                <a:srgbClr val="FFFFFF"/>
              </a:clrFrom>
              <a:clrTo>
                <a:srgbClr val="FFFFFF">
                  <a:alpha val="0"/>
                </a:srgbClr>
              </a:clrTo>
            </a:clrChange>
            <a:extLst>
              <a:ext uri="{BEBA8EAE-BF5A-486C-A8C5-ECC9F3942E4B}">
                <a14:imgProps xmlns:a14="http://schemas.microsoft.com/office/drawing/2010/main">
                  <a14:imgLayer r:embed="rId6">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159793" y="125733"/>
            <a:ext cx="1252983" cy="4138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Box 7">
            <a:extLst>
              <a:ext uri="{FF2B5EF4-FFF2-40B4-BE49-F238E27FC236}">
                <a16:creationId xmlns:a16="http://schemas.microsoft.com/office/drawing/2014/main" id="{A716ED43-E385-A160-9D3A-0264F1B0EE0B}"/>
              </a:ext>
            </a:extLst>
          </p:cNvPr>
          <p:cNvSpPr txBox="1"/>
          <p:nvPr/>
        </p:nvSpPr>
        <p:spPr>
          <a:xfrm>
            <a:off x="514209" y="61918"/>
            <a:ext cx="970575" cy="253916"/>
          </a:xfrm>
          <a:prstGeom prst="rect">
            <a:avLst/>
          </a:prstGeom>
          <a:noFill/>
        </p:spPr>
        <p:txBody>
          <a:bodyPr wrap="square">
            <a:spAutoFit/>
          </a:bodyPr>
          <a:lstStyle/>
          <a:p>
            <a:pPr algn="r"/>
            <a:r>
              <a:rPr lang="en-US" sz="1050" b="1" dirty="0">
                <a:solidFill>
                  <a:srgbClr val="CCAE8A"/>
                </a:solidFill>
                <a:latin typeface="Aharoni" panose="020F0502020204030204" pitchFamily="2" charset="-79"/>
                <a:ea typeface="Tahoma" pitchFamily="34" charset="0"/>
                <a:cs typeface="Aharoni" panose="020F0502020204030204" pitchFamily="2" charset="-79"/>
              </a:rPr>
              <a:t>BLS</a:t>
            </a:r>
            <a:r>
              <a:rPr lang="th-TH" sz="1050" b="1" dirty="0">
                <a:solidFill>
                  <a:srgbClr val="CCAE8A"/>
                </a:solidFill>
                <a:latin typeface="Aharoni" panose="020F0502020204030204" pitchFamily="2" charset="-79"/>
                <a:ea typeface="Tahoma" pitchFamily="34" charset="0"/>
                <a:cs typeface="Aharoni" panose="020F0502020204030204" pitchFamily="2" charset="-79"/>
              </a:rPr>
              <a:t> </a:t>
            </a:r>
            <a:r>
              <a:rPr lang="en-US" sz="1050" b="1" dirty="0">
                <a:solidFill>
                  <a:srgbClr val="CCAE8A"/>
                </a:solidFill>
                <a:latin typeface="Aharoni" panose="020F0502020204030204" pitchFamily="2" charset="-79"/>
                <a:ea typeface="Tahoma" pitchFamily="34" charset="0"/>
                <a:cs typeface="Aharoni" panose="020F0502020204030204" pitchFamily="2" charset="-79"/>
              </a:rPr>
              <a:t>WEALTH</a:t>
            </a:r>
            <a:endParaRPr lang="th-TH" sz="10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9" name="TextBox 8">
            <a:extLst>
              <a:ext uri="{FF2B5EF4-FFF2-40B4-BE49-F238E27FC236}">
                <a16:creationId xmlns:a16="http://schemas.microsoft.com/office/drawing/2014/main" id="{C8FA6393-E3EE-E08E-89C6-D50BB8050980}"/>
              </a:ext>
            </a:extLst>
          </p:cNvPr>
          <p:cNvSpPr txBox="1"/>
          <p:nvPr/>
        </p:nvSpPr>
        <p:spPr>
          <a:xfrm>
            <a:off x="1886145" y="-177626"/>
            <a:ext cx="4999239" cy="1015663"/>
          </a:xfrm>
          <a:prstGeom prst="rect">
            <a:avLst/>
          </a:prstGeom>
          <a:noFill/>
        </p:spPr>
        <p:txBody>
          <a:bodyPr wrap="square" rtlCol="0">
            <a:spAutoFit/>
          </a:bodyPr>
          <a:lstStyle/>
          <a:p>
            <a:pPr algn="r"/>
            <a:r>
              <a:rPr lang="el-GR" sz="4000" dirty="0">
                <a:solidFill>
                  <a:schemeClr val="accent3"/>
                </a:solidFill>
                <a:latin typeface="BLS Condensed Bold" pitchFamily="2" charset="-34"/>
                <a:ea typeface="Tahoma" pitchFamily="34" charset="0"/>
                <a:cs typeface="BLS Condensed Bold" pitchFamily="2" charset="-34"/>
              </a:rPr>
              <a:t>α</a:t>
            </a:r>
            <a:r>
              <a:rPr lang="en-US" sz="2400" dirty="0" err="1">
                <a:solidFill>
                  <a:schemeClr val="tx1">
                    <a:lumMod val="95000"/>
                    <a:lumOff val="5000"/>
                  </a:schemeClr>
                </a:solidFill>
                <a:latin typeface="BLS Condensed Bold" pitchFamily="2" charset="-34"/>
                <a:ea typeface="Tahoma" pitchFamily="34" charset="0"/>
                <a:cs typeface="BLS Condensed Bold" pitchFamily="2" charset="-34"/>
              </a:rPr>
              <a:t>lpha</a:t>
            </a:r>
            <a:r>
              <a:rPr lang="en-US" sz="2400" dirty="0">
                <a:solidFill>
                  <a:schemeClr val="tx1">
                    <a:lumMod val="95000"/>
                    <a:lumOff val="5000"/>
                  </a:schemeClr>
                </a:solidFill>
                <a:latin typeface="BLS Condensed Bold" pitchFamily="2" charset="-34"/>
                <a:ea typeface="Tahoma" pitchFamily="34" charset="0"/>
                <a:cs typeface="BLS Condensed Bold" pitchFamily="2" charset="-34"/>
              </a:rPr>
              <a:t> PULSE | </a:t>
            </a:r>
            <a:endParaRPr lang="th-TH" sz="2400" dirty="0">
              <a:solidFill>
                <a:schemeClr val="tx1">
                  <a:lumMod val="95000"/>
                  <a:lumOff val="5000"/>
                </a:schemeClr>
              </a:solidFill>
              <a:latin typeface="BLS Condensed Bold" pitchFamily="2" charset="-34"/>
              <a:ea typeface="Tahoma" pitchFamily="34" charset="0"/>
              <a:cs typeface="BLS Condensed Bold" pitchFamily="2" charset="-34"/>
            </a:endParaRPr>
          </a:p>
          <a:p>
            <a:pPr algn="r"/>
            <a:r>
              <a:rPr lang="en-US" sz="2000" dirty="0">
                <a:solidFill>
                  <a:schemeClr val="accent5"/>
                </a:solidFill>
                <a:latin typeface="BLS Condensed Bold" pitchFamily="2" charset="-34"/>
                <a:ea typeface="Tahoma" pitchFamily="34" charset="0"/>
                <a:cs typeface="BLS Condensed Bold" pitchFamily="2" charset="-34"/>
              </a:rPr>
              <a:t>Weekly strategy</a:t>
            </a:r>
          </a:p>
        </p:txBody>
      </p:sp>
      <p:sp>
        <p:nvSpPr>
          <p:cNvPr id="10" name="TextBox 9">
            <a:extLst>
              <a:ext uri="{FF2B5EF4-FFF2-40B4-BE49-F238E27FC236}">
                <a16:creationId xmlns:a16="http://schemas.microsoft.com/office/drawing/2014/main" id="{C2139EFA-0963-F3E4-30F9-FE4954797181}"/>
              </a:ext>
            </a:extLst>
          </p:cNvPr>
          <p:cNvSpPr txBox="1"/>
          <p:nvPr/>
        </p:nvSpPr>
        <p:spPr>
          <a:xfrm>
            <a:off x="188640" y="1098773"/>
            <a:ext cx="6669360" cy="1384995"/>
          </a:xfrm>
          <a:prstGeom prst="rect">
            <a:avLst/>
          </a:prstGeom>
          <a:noFill/>
        </p:spPr>
        <p:txBody>
          <a:bodyPr wrap="square">
            <a:spAutoFit/>
          </a:bodyPr>
          <a:lstStyle/>
          <a:p>
            <a:r>
              <a:rPr lang="th-TH" altLang="en-US" sz="2700" dirty="0">
                <a:solidFill>
                  <a:schemeClr val="accent2"/>
                </a:solidFill>
                <a:latin typeface="BLS Condensed Bold" panose="00000800000000000000" pitchFamily="2" charset="-34"/>
                <a:ea typeface="Tahoma" pitchFamily="34" charset="0"/>
                <a:cs typeface="BLS Condensed Bold" panose="00000800000000000000" pitchFamily="2" charset="-34"/>
              </a:rPr>
              <a:t>โอกาส</a:t>
            </a:r>
            <a:r>
              <a:rPr lang="en-US" altLang="en-US" sz="2700" dirty="0">
                <a:solidFill>
                  <a:schemeClr val="accent2"/>
                </a:solidFill>
                <a:latin typeface="BLS Condensed Bold" panose="00000800000000000000" pitchFamily="2" charset="-34"/>
                <a:ea typeface="Tahoma" pitchFamily="34" charset="0"/>
                <a:cs typeface="BLS Condensed Bold" panose="00000800000000000000" pitchFamily="2" charset="-34"/>
              </a:rPr>
              <a:t> #</a:t>
            </a:r>
            <a:r>
              <a:rPr lang="th-TH" altLang="en-US" sz="2700" dirty="0">
                <a:solidFill>
                  <a:schemeClr val="accent2"/>
                </a:solidFill>
                <a:latin typeface="BLS Condensed Bold" panose="00000800000000000000" pitchFamily="2" charset="-34"/>
                <a:ea typeface="Tahoma" pitchFamily="34" charset="0"/>
                <a:cs typeface="BLS Condensed Bold" panose="00000800000000000000" pitchFamily="2" charset="-34"/>
              </a:rPr>
              <a:t> </a:t>
            </a:r>
            <a:r>
              <a:rPr lang="en-US" altLang="en-US" sz="2700" dirty="0">
                <a:solidFill>
                  <a:schemeClr val="accent2"/>
                </a:solidFill>
                <a:latin typeface="BLS Condensed Bold" panose="00000800000000000000" pitchFamily="2" charset="-34"/>
                <a:ea typeface="Tahoma" pitchFamily="34" charset="0"/>
                <a:cs typeface="BLS Condensed Bold" panose="00000800000000000000" pitchFamily="2" charset="-34"/>
              </a:rPr>
              <a:t>4</a:t>
            </a:r>
            <a:r>
              <a:rPr lang="th-TH" altLang="en-US" sz="2700" dirty="0">
                <a:solidFill>
                  <a:schemeClr val="accent2"/>
                </a:solidFill>
                <a:latin typeface="BLS Condensed Bold" panose="00000800000000000000" pitchFamily="2" charset="-34"/>
                <a:ea typeface="Tahoma" pitchFamily="34" charset="0"/>
                <a:cs typeface="BLS Condensed Bold" panose="00000800000000000000" pitchFamily="2" charset="-34"/>
              </a:rPr>
              <a:t> หุ้นที่ราคาปรับตัวลงแรงกว่าปัจจัยพื้นฐาน</a:t>
            </a:r>
            <a:endParaRPr lang="en-US" altLang="en-US" sz="2700" dirty="0">
              <a:solidFill>
                <a:schemeClr val="accent2"/>
              </a:solidFill>
              <a:latin typeface="BLS Condensed Bold" panose="00000800000000000000" pitchFamily="2" charset="-34"/>
              <a:ea typeface="Tahoma" pitchFamily="34" charset="0"/>
              <a:cs typeface="BLS Condensed Bold" panose="00000800000000000000" pitchFamily="2" charset="-34"/>
            </a:endParaRPr>
          </a:p>
          <a:p>
            <a:r>
              <a:rPr lang="en-US" altLang="en-US" sz="2700" dirty="0">
                <a:solidFill>
                  <a:schemeClr val="accent2"/>
                </a:solidFill>
                <a:latin typeface="BLS Condensed Bold" panose="00000800000000000000" pitchFamily="2" charset="-34"/>
                <a:ea typeface="Tahoma" pitchFamily="34" charset="0"/>
                <a:cs typeface="BLS Condensed Bold" panose="00000800000000000000" pitchFamily="2" charset="-34"/>
              </a:rPr>
              <a:t>                          </a:t>
            </a:r>
            <a:r>
              <a:rPr lang="th-TH" altLang="en-US" sz="2700" dirty="0">
                <a:solidFill>
                  <a:schemeClr val="accent2"/>
                </a:solidFill>
                <a:latin typeface="BLS Condensed Bold" panose="00000800000000000000" pitchFamily="2" charset="-34"/>
                <a:ea typeface="Tahoma" pitchFamily="34" charset="0"/>
                <a:cs typeface="BLS Condensed Bold" panose="00000800000000000000" pitchFamily="2" charset="-34"/>
              </a:rPr>
              <a:t>มี </a:t>
            </a:r>
            <a:r>
              <a:rPr lang="en-US" altLang="en-US" sz="2700" dirty="0">
                <a:solidFill>
                  <a:schemeClr val="accent2"/>
                </a:solidFill>
                <a:latin typeface="BLS Condensed Bold" panose="00000800000000000000" pitchFamily="2" charset="-34"/>
                <a:ea typeface="Tahoma" pitchFamily="34" charset="0"/>
                <a:cs typeface="BLS Condensed Bold" panose="00000800000000000000" pitchFamily="2" charset="-34"/>
              </a:rPr>
              <a:t>catalyst </a:t>
            </a:r>
            <a:r>
              <a:rPr lang="th-TH" altLang="en-US" sz="2700" dirty="0">
                <a:solidFill>
                  <a:schemeClr val="accent2"/>
                </a:solidFill>
                <a:latin typeface="BLS Condensed Bold" panose="00000800000000000000" pitchFamily="2" charset="-34"/>
                <a:ea typeface="Tahoma" pitchFamily="34" charset="0"/>
                <a:cs typeface="BLS Condensed Bold" panose="00000800000000000000" pitchFamily="2" charset="-34"/>
              </a:rPr>
              <a:t>หนุนการฟื้นตัวหลังสงคราม (</a:t>
            </a:r>
            <a:r>
              <a:rPr lang="en-US" altLang="en-US" sz="2700" dirty="0">
                <a:solidFill>
                  <a:schemeClr val="accent2"/>
                </a:solidFill>
                <a:latin typeface="BLS Condensed Bold" panose="00000800000000000000" pitchFamily="2" charset="-34"/>
                <a:ea typeface="Tahoma" pitchFamily="34" charset="0"/>
                <a:cs typeface="BLS Condensed Bold" panose="00000800000000000000" pitchFamily="2" charset="-34"/>
              </a:rPr>
              <a:t>Over-penalized valuation &amp; post-war re-rating)</a:t>
            </a:r>
          </a:p>
        </p:txBody>
      </p:sp>
      <p:pic>
        <p:nvPicPr>
          <p:cNvPr id="12" name="Picture 11">
            <a:extLst>
              <a:ext uri="{FF2B5EF4-FFF2-40B4-BE49-F238E27FC236}">
                <a16:creationId xmlns:a16="http://schemas.microsoft.com/office/drawing/2014/main" id="{FEF6E84A-0E91-0767-4E46-28ACADD761E3}"/>
              </a:ext>
            </a:extLst>
          </p:cNvPr>
          <p:cNvPicPr>
            <a:picLocks noChangeAspect="1"/>
          </p:cNvPicPr>
          <p:nvPr/>
        </p:nvPicPr>
        <p:blipFill>
          <a:blip r:embed="rId7"/>
          <a:stretch>
            <a:fillRect/>
          </a:stretch>
        </p:blipFill>
        <p:spPr>
          <a:xfrm>
            <a:off x="253197" y="2581490"/>
            <a:ext cx="6334297" cy="3574686"/>
          </a:xfrm>
          <a:prstGeom prst="rect">
            <a:avLst/>
          </a:prstGeom>
        </p:spPr>
      </p:pic>
      <p:sp>
        <p:nvSpPr>
          <p:cNvPr id="16" name="TextBox 15">
            <a:extLst>
              <a:ext uri="{FF2B5EF4-FFF2-40B4-BE49-F238E27FC236}">
                <a16:creationId xmlns:a16="http://schemas.microsoft.com/office/drawing/2014/main" id="{9508855F-17F2-61EE-315B-8E311F3A8477}"/>
              </a:ext>
            </a:extLst>
          </p:cNvPr>
          <p:cNvSpPr txBox="1"/>
          <p:nvPr/>
        </p:nvSpPr>
        <p:spPr>
          <a:xfrm>
            <a:off x="188640" y="6444208"/>
            <a:ext cx="3164970" cy="2169825"/>
          </a:xfrm>
          <a:prstGeom prst="rect">
            <a:avLst/>
          </a:prstGeom>
          <a:solidFill>
            <a:srgbClr val="EDEDED">
              <a:alpha val="60000"/>
            </a:srgbClr>
          </a:solidFill>
          <a:ln>
            <a:noFill/>
          </a:ln>
        </p:spPr>
        <p:txBody>
          <a:bodyPr wrap="square" rtlCol="0">
            <a:spAutoFit/>
          </a:bodyPr>
          <a:lstStyle/>
          <a:p>
            <a:pPr>
              <a:spcBef>
                <a:spcPts val="600"/>
              </a:spcBef>
            </a:pPr>
            <a:r>
              <a:rPr lang="en-US" sz="1100" b="1" dirty="0">
                <a:solidFill>
                  <a:schemeClr val="tx1">
                    <a:lumMod val="65000"/>
                    <a:lumOff val="35000"/>
                  </a:schemeClr>
                </a:solidFill>
                <a:latin typeface="BLS Text" panose="00000500000000000000" pitchFamily="2" charset="-34"/>
                <a:cs typeface="BLS Text" pitchFamily="2" charset="-34"/>
              </a:rPr>
              <a:t>BH</a:t>
            </a:r>
            <a:r>
              <a:rPr lang="en-US" sz="1100" dirty="0">
                <a:solidFill>
                  <a:schemeClr val="tx1">
                    <a:lumMod val="65000"/>
                    <a:lumOff val="35000"/>
                  </a:schemeClr>
                </a:solidFill>
                <a:latin typeface="BLS Text" panose="00000500000000000000" pitchFamily="2" charset="-34"/>
                <a:cs typeface="BLS Text" pitchFamily="2" charset="-34"/>
              </a:rPr>
              <a:t> </a:t>
            </a:r>
          </a:p>
          <a:p>
            <a:pPr marL="171450" indent="-171450">
              <a:spcBef>
                <a:spcPts val="600"/>
              </a:spcBef>
              <a:buFont typeface="Arial" panose="020B0604020202020204" pitchFamily="34" charset="0"/>
              <a:buChar char="•"/>
            </a:pPr>
            <a:r>
              <a:rPr lang="th-TH" sz="1100" dirty="0">
                <a:solidFill>
                  <a:schemeClr val="tx1">
                    <a:lumMod val="65000"/>
                    <a:lumOff val="35000"/>
                  </a:schemeClr>
                </a:solidFill>
                <a:latin typeface="BLS Text" panose="00000500000000000000" pitchFamily="2" charset="-34"/>
                <a:cs typeface="BLS Text" pitchFamily="2" charset="-34"/>
              </a:rPr>
              <a:t>ราคาหุ้นสะท้อนการหายไปของรายได้ตะวันออกกลางไปแล้ว</a:t>
            </a:r>
            <a:r>
              <a:rPr lang="en-US" sz="1100" dirty="0">
                <a:solidFill>
                  <a:schemeClr val="tx1">
                    <a:lumMod val="65000"/>
                    <a:lumOff val="35000"/>
                  </a:schemeClr>
                </a:solidFill>
                <a:latin typeface="BLS Text" panose="00000500000000000000" pitchFamily="2" charset="-34"/>
                <a:cs typeface="BLS Text" pitchFamily="2" charset="-34"/>
              </a:rPr>
              <a:t>, proxy </a:t>
            </a:r>
            <a:r>
              <a:rPr lang="th-TH" sz="1100" dirty="0">
                <a:solidFill>
                  <a:schemeClr val="tx1">
                    <a:lumMod val="65000"/>
                    <a:lumOff val="35000"/>
                  </a:schemeClr>
                </a:solidFill>
                <a:latin typeface="BLS Text" panose="00000500000000000000" pitchFamily="2" charset="-34"/>
                <a:cs typeface="BLS Text" pitchFamily="2" charset="-34"/>
              </a:rPr>
              <a:t>ของ </a:t>
            </a:r>
            <a:r>
              <a:rPr lang="en-US" sz="1100" dirty="0">
                <a:solidFill>
                  <a:schemeClr val="tx1">
                    <a:lumMod val="65000"/>
                    <a:lumOff val="35000"/>
                  </a:schemeClr>
                </a:solidFill>
                <a:latin typeface="BLS Text" panose="00000500000000000000" pitchFamily="2" charset="-34"/>
                <a:cs typeface="BLS Text" pitchFamily="2" charset="-34"/>
              </a:rPr>
              <a:t>medical tourism </a:t>
            </a:r>
            <a:r>
              <a:rPr lang="th-TH" sz="1100" dirty="0">
                <a:solidFill>
                  <a:schemeClr val="tx1">
                    <a:lumMod val="65000"/>
                    <a:lumOff val="35000"/>
                  </a:schemeClr>
                </a:solidFill>
                <a:latin typeface="BLS Text" panose="00000500000000000000" pitchFamily="2" charset="-34"/>
                <a:cs typeface="BLS Text" pitchFamily="2" charset="-34"/>
              </a:rPr>
              <a:t>เมื่อ </a:t>
            </a:r>
            <a:r>
              <a:rPr lang="en-US" sz="1100" dirty="0">
                <a:solidFill>
                  <a:schemeClr val="tx1">
                    <a:lumMod val="65000"/>
                    <a:lumOff val="35000"/>
                  </a:schemeClr>
                </a:solidFill>
                <a:latin typeface="BLS Text" panose="00000500000000000000" pitchFamily="2" charset="-34"/>
                <a:cs typeface="BLS Text" pitchFamily="2" charset="-34"/>
              </a:rPr>
              <a:t>sentiment </a:t>
            </a:r>
            <a:r>
              <a:rPr lang="th-TH" sz="1100" dirty="0">
                <a:solidFill>
                  <a:schemeClr val="tx1">
                    <a:lumMod val="65000"/>
                    <a:lumOff val="35000"/>
                  </a:schemeClr>
                </a:solidFill>
                <a:latin typeface="BLS Text" panose="00000500000000000000" pitchFamily="2" charset="-34"/>
                <a:cs typeface="BLS Text" pitchFamily="2" charset="-34"/>
              </a:rPr>
              <a:t>คลี่คลาย</a:t>
            </a:r>
            <a:r>
              <a:rPr lang="en-US" sz="1100" dirty="0">
                <a:solidFill>
                  <a:schemeClr val="tx1">
                    <a:lumMod val="65000"/>
                    <a:lumOff val="35000"/>
                  </a:schemeClr>
                </a:solidFill>
                <a:latin typeface="BLS Text" panose="00000500000000000000" pitchFamily="2" charset="-34"/>
                <a:cs typeface="BLS Text" pitchFamily="2" charset="-34"/>
              </a:rPr>
              <a:t>, </a:t>
            </a:r>
          </a:p>
          <a:p>
            <a:pPr>
              <a:spcBef>
                <a:spcPts val="600"/>
              </a:spcBef>
            </a:pPr>
            <a:r>
              <a:rPr lang="en-US" sz="1100" b="1" dirty="0">
                <a:solidFill>
                  <a:schemeClr val="tx1">
                    <a:lumMod val="65000"/>
                    <a:lumOff val="35000"/>
                  </a:schemeClr>
                </a:solidFill>
                <a:latin typeface="BLS Text" panose="00000500000000000000" pitchFamily="2" charset="-34"/>
                <a:cs typeface="BLS Text" pitchFamily="2" charset="-34"/>
              </a:rPr>
              <a:t>MINT </a:t>
            </a:r>
          </a:p>
          <a:p>
            <a:pPr marL="171450" indent="-171450">
              <a:spcBef>
                <a:spcPts val="600"/>
              </a:spcBef>
              <a:buFont typeface="Arial" panose="020B0604020202020204" pitchFamily="34" charset="0"/>
              <a:buChar char="•"/>
            </a:pPr>
            <a:r>
              <a:rPr lang="th-TH" sz="1100" dirty="0">
                <a:solidFill>
                  <a:schemeClr val="tx1">
                    <a:lumMod val="65000"/>
                    <a:lumOff val="35000"/>
                  </a:schemeClr>
                </a:solidFill>
                <a:latin typeface="BLS Text" panose="00000500000000000000" pitchFamily="2" charset="-34"/>
                <a:cs typeface="BLS Text" pitchFamily="2" charset="-34"/>
              </a:rPr>
              <a:t>กระทบน้อยสุดในกลุ่มโรงแรม, ฐานรายได้ยุโรปที่แข็งแรง (ลูกค้าภายในยุโรปมากกว่า 70%), </a:t>
            </a:r>
            <a:endParaRPr lang="en-US" sz="1100" dirty="0">
              <a:solidFill>
                <a:schemeClr val="tx1">
                  <a:lumMod val="65000"/>
                  <a:lumOff val="35000"/>
                </a:schemeClr>
              </a:solidFill>
              <a:latin typeface="BLS Text" panose="00000500000000000000" pitchFamily="2" charset="-34"/>
              <a:cs typeface="BLS Text" pitchFamily="2" charset="-34"/>
            </a:endParaRPr>
          </a:p>
          <a:p>
            <a:pPr marL="171450" indent="-171450">
              <a:spcBef>
                <a:spcPts val="600"/>
              </a:spcBef>
              <a:buFont typeface="Arial" panose="020B0604020202020204" pitchFamily="34" charset="0"/>
              <a:buChar char="•"/>
            </a:pPr>
            <a:r>
              <a:rPr lang="th-TH" sz="1100" dirty="0">
                <a:solidFill>
                  <a:schemeClr val="tx1">
                    <a:lumMod val="65000"/>
                    <a:lumOff val="35000"/>
                  </a:schemeClr>
                </a:solidFill>
                <a:latin typeface="BLS Text" panose="00000500000000000000" pitchFamily="2" charset="-34"/>
                <a:cs typeface="BLS Text" pitchFamily="2" charset="-34"/>
              </a:rPr>
              <a:t>ล็อกต้นทุนพลังงานไว้แล้วมากกว่า 70%, </a:t>
            </a:r>
            <a:endParaRPr lang="en-US" sz="1100" dirty="0">
              <a:solidFill>
                <a:schemeClr val="tx1">
                  <a:lumMod val="65000"/>
                  <a:lumOff val="35000"/>
                </a:schemeClr>
              </a:solidFill>
              <a:latin typeface="BLS Text" panose="00000500000000000000" pitchFamily="2" charset="-34"/>
              <a:cs typeface="BLS Text" pitchFamily="2" charset="-34"/>
            </a:endParaRPr>
          </a:p>
          <a:p>
            <a:pPr marL="171450" indent="-171450">
              <a:spcBef>
                <a:spcPts val="600"/>
              </a:spcBef>
              <a:buFont typeface="Arial" panose="020B0604020202020204" pitchFamily="34" charset="0"/>
              <a:buChar char="•"/>
            </a:pPr>
            <a:r>
              <a:rPr lang="en-US" sz="1100" dirty="0" err="1">
                <a:solidFill>
                  <a:schemeClr val="tx1">
                    <a:lumMod val="65000"/>
                    <a:lumOff val="35000"/>
                  </a:schemeClr>
                </a:solidFill>
                <a:latin typeface="BLS Text" panose="00000500000000000000" pitchFamily="2" charset="-34"/>
                <a:cs typeface="BLS Text" pitchFamily="2" charset="-34"/>
              </a:rPr>
              <a:t>RevPar</a:t>
            </a:r>
            <a:r>
              <a:rPr lang="en-US" sz="1100" dirty="0">
                <a:solidFill>
                  <a:schemeClr val="tx1">
                    <a:lumMod val="65000"/>
                    <a:lumOff val="35000"/>
                  </a:schemeClr>
                </a:solidFill>
                <a:latin typeface="BLS Text" panose="00000500000000000000" pitchFamily="2" charset="-34"/>
                <a:cs typeface="BLS Text" pitchFamily="2" charset="-34"/>
              </a:rPr>
              <a:t> 1Q26 </a:t>
            </a:r>
            <a:r>
              <a:rPr lang="th-TH" sz="1100" dirty="0">
                <a:solidFill>
                  <a:schemeClr val="tx1">
                    <a:lumMod val="65000"/>
                    <a:lumOff val="35000"/>
                  </a:schemeClr>
                </a:solidFill>
                <a:latin typeface="BLS Text" panose="00000500000000000000" pitchFamily="2" charset="-34"/>
                <a:cs typeface="BLS Text" pitchFamily="2" charset="-34"/>
              </a:rPr>
              <a:t>ยังเติบโต (ยุโรป +8%, ไทย +15%, </a:t>
            </a:r>
            <a:r>
              <a:rPr lang="en-US" sz="1100" dirty="0">
                <a:solidFill>
                  <a:schemeClr val="tx1">
                    <a:lumMod val="65000"/>
                    <a:lumOff val="35000"/>
                  </a:schemeClr>
                </a:solidFill>
                <a:latin typeface="BLS Text" panose="00000500000000000000" pitchFamily="2" charset="-34"/>
                <a:cs typeface="BLS Text" pitchFamily="2" charset="-34"/>
              </a:rPr>
              <a:t>Maldives +8%),</a:t>
            </a:r>
          </a:p>
        </p:txBody>
      </p:sp>
      <p:sp>
        <p:nvSpPr>
          <p:cNvPr id="17" name="TextBox 16">
            <a:extLst>
              <a:ext uri="{FF2B5EF4-FFF2-40B4-BE49-F238E27FC236}">
                <a16:creationId xmlns:a16="http://schemas.microsoft.com/office/drawing/2014/main" id="{7C976D8F-D82E-3E46-97C6-2068F98EAD28}"/>
              </a:ext>
            </a:extLst>
          </p:cNvPr>
          <p:cNvSpPr txBox="1"/>
          <p:nvPr/>
        </p:nvSpPr>
        <p:spPr>
          <a:xfrm>
            <a:off x="3462910" y="6444208"/>
            <a:ext cx="3206450" cy="2123658"/>
          </a:xfrm>
          <a:prstGeom prst="rect">
            <a:avLst/>
          </a:prstGeom>
          <a:solidFill>
            <a:srgbClr val="EDEDED">
              <a:alpha val="60000"/>
            </a:srgbClr>
          </a:solidFill>
          <a:ln>
            <a:noFill/>
          </a:ln>
        </p:spPr>
        <p:txBody>
          <a:bodyPr wrap="square" rtlCol="0">
            <a:spAutoFit/>
          </a:bodyPr>
          <a:lstStyle/>
          <a:p>
            <a:pPr>
              <a:spcBef>
                <a:spcPts val="600"/>
              </a:spcBef>
            </a:pPr>
            <a:r>
              <a:rPr lang="en-US" sz="1100" b="1" dirty="0">
                <a:solidFill>
                  <a:schemeClr val="tx1">
                    <a:lumMod val="65000"/>
                    <a:lumOff val="35000"/>
                  </a:schemeClr>
                </a:solidFill>
                <a:latin typeface="BLS Text" panose="00000500000000000000" pitchFamily="2" charset="-34"/>
                <a:cs typeface="BLS Text" pitchFamily="2" charset="-34"/>
              </a:rPr>
              <a:t>ITC</a:t>
            </a:r>
            <a:r>
              <a:rPr lang="en-US" sz="1100" dirty="0">
                <a:solidFill>
                  <a:schemeClr val="tx1">
                    <a:lumMod val="65000"/>
                    <a:lumOff val="35000"/>
                  </a:schemeClr>
                </a:solidFill>
                <a:latin typeface="BLS Text" panose="00000500000000000000" pitchFamily="2" charset="-34"/>
                <a:cs typeface="BLS Text" pitchFamily="2" charset="-34"/>
              </a:rPr>
              <a:t> </a:t>
            </a:r>
          </a:p>
          <a:p>
            <a:pPr marL="171450" indent="-171450">
              <a:spcBef>
                <a:spcPts val="600"/>
              </a:spcBef>
              <a:buFont typeface="Arial" panose="020B0604020202020204" pitchFamily="34" charset="0"/>
              <a:buChar char="•"/>
            </a:pPr>
            <a:r>
              <a:rPr lang="th-TH" sz="1100" dirty="0">
                <a:solidFill>
                  <a:schemeClr val="tx1">
                    <a:lumMod val="65000"/>
                    <a:lumOff val="35000"/>
                  </a:schemeClr>
                </a:solidFill>
                <a:latin typeface="BLS Text" panose="00000500000000000000" pitchFamily="2" charset="-34"/>
                <a:cs typeface="BLS Text" pitchFamily="2" charset="-34"/>
              </a:rPr>
              <a:t>กำไร </a:t>
            </a:r>
            <a:r>
              <a:rPr lang="en-US" sz="1100" dirty="0">
                <a:solidFill>
                  <a:schemeClr val="tx1">
                    <a:lumMod val="65000"/>
                    <a:lumOff val="35000"/>
                  </a:schemeClr>
                </a:solidFill>
                <a:latin typeface="BLS Text" panose="00000500000000000000" pitchFamily="2" charset="-34"/>
                <a:cs typeface="BLS Text" pitchFamily="2" charset="-34"/>
              </a:rPr>
              <a:t>1Q26 </a:t>
            </a:r>
            <a:r>
              <a:rPr lang="th-TH" sz="1100" dirty="0">
                <a:solidFill>
                  <a:schemeClr val="tx1">
                    <a:lumMod val="65000"/>
                    <a:lumOff val="35000"/>
                  </a:schemeClr>
                </a:solidFill>
                <a:latin typeface="BLS Text" panose="00000500000000000000" pitchFamily="2" charset="-34"/>
                <a:cs typeface="BLS Text" pitchFamily="2" charset="-34"/>
              </a:rPr>
              <a:t>ดีกว่าคาดเดิม</a:t>
            </a:r>
            <a:endParaRPr lang="en-US" sz="1100" dirty="0">
              <a:solidFill>
                <a:schemeClr val="tx1">
                  <a:lumMod val="65000"/>
                  <a:lumOff val="35000"/>
                </a:schemeClr>
              </a:solidFill>
              <a:latin typeface="BLS Text" panose="00000500000000000000" pitchFamily="2" charset="-34"/>
              <a:cs typeface="BLS Text" pitchFamily="2" charset="-34"/>
            </a:endParaRPr>
          </a:p>
          <a:p>
            <a:pPr marL="171450" indent="-171450">
              <a:spcBef>
                <a:spcPts val="600"/>
              </a:spcBef>
              <a:buFont typeface="Arial" panose="020B0604020202020204" pitchFamily="34" charset="0"/>
              <a:buChar char="•"/>
            </a:pPr>
            <a:r>
              <a:rPr lang="th-TH" sz="1100" dirty="0">
                <a:solidFill>
                  <a:schemeClr val="tx1">
                    <a:lumMod val="65000"/>
                    <a:lumOff val="35000"/>
                  </a:schemeClr>
                </a:solidFill>
                <a:latin typeface="BLS Text" panose="00000500000000000000" pitchFamily="2" charset="-34"/>
                <a:cs typeface="BLS Text" pitchFamily="2" charset="-34"/>
              </a:rPr>
              <a:t>ยอดขายเติบโต 12-15% </a:t>
            </a:r>
            <a:r>
              <a:rPr lang="en-US" sz="1100" dirty="0">
                <a:solidFill>
                  <a:schemeClr val="tx1">
                    <a:lumMod val="65000"/>
                    <a:lumOff val="35000"/>
                  </a:schemeClr>
                </a:solidFill>
                <a:latin typeface="BLS Text" panose="00000500000000000000" pitchFamily="2" charset="-34"/>
                <a:cs typeface="BLS Text" pitchFamily="2" charset="-34"/>
              </a:rPr>
              <a:t>YoY </a:t>
            </a:r>
            <a:r>
              <a:rPr lang="th-TH" sz="1100" dirty="0">
                <a:solidFill>
                  <a:schemeClr val="tx1">
                    <a:lumMod val="65000"/>
                    <a:lumOff val="35000"/>
                  </a:schemeClr>
                </a:solidFill>
                <a:latin typeface="BLS Text" panose="00000500000000000000" pitchFamily="2" charset="-34"/>
                <a:cs typeface="BLS Text" pitchFamily="2" charset="-34"/>
              </a:rPr>
              <a:t>และอัตรากำไรขั้นต้นสูงขึ้น </a:t>
            </a:r>
            <a:r>
              <a:rPr lang="en-US" sz="1100" dirty="0">
                <a:solidFill>
                  <a:schemeClr val="tx1">
                    <a:lumMod val="65000"/>
                    <a:lumOff val="35000"/>
                  </a:schemeClr>
                </a:solidFill>
                <a:latin typeface="BLS Text" panose="00000500000000000000" pitchFamily="2" charset="-34"/>
                <a:cs typeface="BLS Text" pitchFamily="2" charset="-34"/>
              </a:rPr>
              <a:t>YoY </a:t>
            </a:r>
            <a:r>
              <a:rPr lang="th-TH" sz="1100" dirty="0">
                <a:solidFill>
                  <a:schemeClr val="tx1">
                    <a:lumMod val="65000"/>
                    <a:lumOff val="35000"/>
                  </a:schemeClr>
                </a:solidFill>
                <a:latin typeface="BLS Text" panose="00000500000000000000" pitchFamily="2" charset="-34"/>
                <a:cs typeface="BLS Text" pitchFamily="2" charset="-34"/>
              </a:rPr>
              <a:t>จากสัดส่วนสินค้า </a:t>
            </a:r>
            <a:r>
              <a:rPr lang="en-US" sz="1100" dirty="0">
                <a:solidFill>
                  <a:schemeClr val="tx1">
                    <a:lumMod val="65000"/>
                    <a:lumOff val="35000"/>
                  </a:schemeClr>
                </a:solidFill>
                <a:latin typeface="BLS Text" panose="00000500000000000000" pitchFamily="2" charset="-34"/>
                <a:cs typeface="BLS Text" pitchFamily="2" charset="-34"/>
              </a:rPr>
              <a:t>premium </a:t>
            </a:r>
            <a:r>
              <a:rPr lang="th-TH" sz="1100" dirty="0">
                <a:solidFill>
                  <a:schemeClr val="tx1">
                    <a:lumMod val="65000"/>
                    <a:lumOff val="35000"/>
                  </a:schemeClr>
                </a:solidFill>
                <a:latin typeface="BLS Text" panose="00000500000000000000" pitchFamily="2" charset="-34"/>
                <a:cs typeface="BLS Text" pitchFamily="2" charset="-34"/>
              </a:rPr>
              <a:t>สูงขึ้นในไตรมาส 1</a:t>
            </a:r>
            <a:r>
              <a:rPr lang="en-US" sz="1100" dirty="0">
                <a:solidFill>
                  <a:schemeClr val="tx1">
                    <a:lumMod val="65000"/>
                    <a:lumOff val="35000"/>
                  </a:schemeClr>
                </a:solidFill>
                <a:latin typeface="BLS Text" panose="00000500000000000000" pitchFamily="2" charset="-34"/>
                <a:cs typeface="BLS Text" pitchFamily="2" charset="-34"/>
              </a:rPr>
              <a:t> </a:t>
            </a:r>
          </a:p>
          <a:p>
            <a:pPr marL="171450" indent="-171450">
              <a:spcBef>
                <a:spcPts val="600"/>
              </a:spcBef>
              <a:buFont typeface="Arial" panose="020B0604020202020204" pitchFamily="34" charset="0"/>
              <a:buChar char="•"/>
            </a:pPr>
            <a:r>
              <a:rPr lang="th-TH" sz="1100" dirty="0">
                <a:solidFill>
                  <a:schemeClr val="tx1">
                    <a:lumMod val="65000"/>
                    <a:lumOff val="35000"/>
                  </a:schemeClr>
                </a:solidFill>
                <a:latin typeface="BLS Text" panose="00000500000000000000" pitchFamily="2" charset="-34"/>
                <a:cs typeface="BLS Text" pitchFamily="2" charset="-34"/>
              </a:rPr>
              <a:t>ความต้องการสินค้ายังแข็งแกร่งต่อใน 2</a:t>
            </a:r>
            <a:r>
              <a:rPr lang="en-US" sz="1100" dirty="0">
                <a:solidFill>
                  <a:schemeClr val="tx1">
                    <a:lumMod val="65000"/>
                    <a:lumOff val="35000"/>
                  </a:schemeClr>
                </a:solidFill>
                <a:latin typeface="BLS Text" panose="00000500000000000000" pitchFamily="2" charset="-34"/>
                <a:cs typeface="BLS Text" pitchFamily="2" charset="-34"/>
              </a:rPr>
              <a:t>Q26</a:t>
            </a:r>
            <a:r>
              <a:rPr lang="th-TH" sz="1100" dirty="0">
                <a:solidFill>
                  <a:schemeClr val="tx1">
                    <a:lumMod val="65000"/>
                    <a:lumOff val="35000"/>
                  </a:schemeClr>
                </a:solidFill>
                <a:latin typeface="BLS Text" panose="00000500000000000000" pitchFamily="2" charset="-34"/>
                <a:cs typeface="BLS Text" pitchFamily="2" charset="-34"/>
              </a:rPr>
              <a:t> หนุนการปรับราคาขายขึ้น</a:t>
            </a:r>
            <a:endParaRPr lang="en-US" sz="1100" dirty="0">
              <a:solidFill>
                <a:schemeClr val="tx1">
                  <a:lumMod val="65000"/>
                  <a:lumOff val="35000"/>
                </a:schemeClr>
              </a:solidFill>
              <a:latin typeface="BLS Text" panose="00000500000000000000" pitchFamily="2" charset="-34"/>
              <a:cs typeface="BLS Text" pitchFamily="2" charset="-34"/>
            </a:endParaRPr>
          </a:p>
          <a:p>
            <a:pPr marL="171450" indent="-171450">
              <a:spcBef>
                <a:spcPts val="600"/>
              </a:spcBef>
              <a:buFont typeface="Arial" panose="020B0604020202020204" pitchFamily="34" charset="0"/>
              <a:buChar char="•"/>
            </a:pPr>
            <a:r>
              <a:rPr lang="th-TH" sz="1100" dirty="0">
                <a:solidFill>
                  <a:schemeClr val="tx1">
                    <a:lumMod val="65000"/>
                    <a:lumOff val="35000"/>
                  </a:schemeClr>
                </a:solidFill>
                <a:latin typeface="BLS Text" panose="00000500000000000000" pitchFamily="2" charset="-34"/>
                <a:cs typeface="BLS Text" pitchFamily="2" charset="-34"/>
              </a:rPr>
              <a:t>สต๊อกวัตถุดิบมีถึงประมาณเดือนพ.ค.</a:t>
            </a:r>
            <a:endParaRPr lang="en-US" sz="1100" dirty="0">
              <a:solidFill>
                <a:schemeClr val="tx1">
                  <a:lumMod val="65000"/>
                  <a:lumOff val="35000"/>
                </a:schemeClr>
              </a:solidFill>
              <a:latin typeface="BLS Text" panose="00000500000000000000" pitchFamily="2" charset="-34"/>
              <a:cs typeface="BLS Text" pitchFamily="2" charset="-34"/>
            </a:endParaRPr>
          </a:p>
          <a:p>
            <a:pPr>
              <a:spcBef>
                <a:spcPts val="600"/>
              </a:spcBef>
            </a:pPr>
            <a:endParaRPr lang="en-US" sz="300" dirty="0"/>
          </a:p>
          <a:p>
            <a:pPr>
              <a:spcBef>
                <a:spcPts val="600"/>
              </a:spcBef>
            </a:pPr>
            <a:endParaRPr lang="en-US" sz="1100" dirty="0"/>
          </a:p>
        </p:txBody>
      </p:sp>
    </p:spTree>
    <p:extLst>
      <p:ext uri="{BB962C8B-B14F-4D97-AF65-F5344CB8AC3E}">
        <p14:creationId xmlns:p14="http://schemas.microsoft.com/office/powerpoint/2010/main" val="13915913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97858" y="8699316"/>
            <a:ext cx="6235106"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2"/>
          <p:cNvSpPr>
            <a:spLocks noGrp="1"/>
          </p:cNvSpPr>
          <p:nvPr>
            <p:ph type="sldNum" sz="quarter" idx="12"/>
          </p:nvPr>
        </p:nvSpPr>
        <p:spPr>
          <a:xfrm>
            <a:off x="4914900" y="8659771"/>
            <a:ext cx="1600200" cy="486833"/>
          </a:xfrm>
        </p:spPr>
        <p:txBody>
          <a:bodyPr/>
          <a:lstStyle/>
          <a:p>
            <a:fld id="{10452F14-DDA8-46AC-9FFA-A749C5B763D3}" type="slidenum">
              <a:rPr lang="en-US" smtClean="0">
                <a:latin typeface="BLS" panose="00000500000000000000" pitchFamily="2" charset="-34"/>
                <a:cs typeface="BLS" panose="00000500000000000000" pitchFamily="2" charset="-34"/>
              </a:rPr>
              <a:t>9</a:t>
            </a:fld>
            <a:endParaRPr lang="en-US">
              <a:latin typeface="BLS" panose="00000500000000000000" pitchFamily="2" charset="-34"/>
              <a:cs typeface="BLS" panose="00000500000000000000" pitchFamily="2" charset="-34"/>
            </a:endParaRPr>
          </a:p>
        </p:txBody>
      </p:sp>
      <p:grpSp>
        <p:nvGrpSpPr>
          <p:cNvPr id="11" name="Group 156"/>
          <p:cNvGrpSpPr>
            <a:grpSpLocks/>
          </p:cNvGrpSpPr>
          <p:nvPr/>
        </p:nvGrpSpPr>
        <p:grpSpPr bwMode="auto">
          <a:xfrm>
            <a:off x="3374529" y="6536080"/>
            <a:ext cx="708025" cy="781050"/>
            <a:chOff x="1800" y="1440"/>
            <a:chExt cx="1539" cy="1800"/>
          </a:xfrm>
        </p:grpSpPr>
        <p:pic>
          <p:nvPicPr>
            <p:cNvPr id="17" name="Picture 15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800"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5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04"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15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3"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6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07"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1" name="Picture 16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016" y="144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2" name="Picture 162"/>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950"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163"/>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4"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6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53"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65"/>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857" y="180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6" name="Picture 166"/>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104" y="216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7" name="Picture 167"/>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403" y="216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168"/>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707" y="216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69"/>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256" y="252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170"/>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560" y="2520"/>
              <a:ext cx="323" cy="360"/>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171"/>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2396" y="2880"/>
              <a:ext cx="323" cy="360"/>
            </a:xfrm>
            <a:prstGeom prst="rect">
              <a:avLst/>
            </a:prstGeom>
            <a:noFill/>
            <a:extLst>
              <a:ext uri="{909E8E84-426E-40DD-AFC4-6F175D3DCCD1}">
                <a14:hiddenFill xmlns:a14="http://schemas.microsoft.com/office/drawing/2010/main">
                  <a:solidFill>
                    <a:srgbClr val="FFFFFF"/>
                  </a:solidFill>
                </a14:hiddenFill>
              </a:ext>
            </a:extLst>
          </p:spPr>
        </p:pic>
      </p:grpSp>
      <p:sp>
        <p:nvSpPr>
          <p:cNvPr id="32" name="TextBox 31"/>
          <p:cNvSpPr txBox="1"/>
          <p:nvPr/>
        </p:nvSpPr>
        <p:spPr>
          <a:xfrm>
            <a:off x="297858" y="611560"/>
            <a:ext cx="6235106" cy="338554"/>
          </a:xfrm>
          <a:prstGeom prst="rect">
            <a:avLst/>
          </a:prstGeom>
          <a:noFill/>
        </p:spPr>
        <p:txBody>
          <a:bodyPr wrap="square" rtlCol="0">
            <a:spAutoFit/>
          </a:bodyPr>
          <a:lstStyle/>
          <a:p>
            <a:r>
              <a:rPr lang="en-US" sz="1600" b="1" err="1">
                <a:solidFill>
                  <a:srgbClr val="404040"/>
                </a:solidFill>
                <a:latin typeface="BLS Condensed Bold" pitchFamily="2" charset="-34"/>
                <a:cs typeface="BLS Condensed Bold" pitchFamily="2" charset="-34"/>
              </a:rPr>
              <a:t>Bualuang</a:t>
            </a:r>
            <a:r>
              <a:rPr lang="en-US" sz="1600" b="1">
                <a:solidFill>
                  <a:srgbClr val="404040"/>
                </a:solidFill>
                <a:latin typeface="BLS Condensed Bold" pitchFamily="2" charset="-34"/>
                <a:cs typeface="BLS Condensed Bold" pitchFamily="2" charset="-34"/>
              </a:rPr>
              <a:t> Securities Public Company Limited</a:t>
            </a:r>
            <a:endParaRPr lang="en-US" sz="1600">
              <a:solidFill>
                <a:srgbClr val="404040"/>
              </a:solidFill>
              <a:latin typeface="BLS Condensed Bold" pitchFamily="2" charset="-34"/>
              <a:ea typeface="Tahoma" pitchFamily="34" charset="0"/>
              <a:cs typeface="BLS Condensed Bold" pitchFamily="2" charset="-34"/>
            </a:endParaRPr>
          </a:p>
        </p:txBody>
      </p:sp>
      <p:sp>
        <p:nvSpPr>
          <p:cNvPr id="12" name="Text Box 155"/>
          <p:cNvSpPr txBox="1">
            <a:spLocks noChangeArrowheads="1"/>
          </p:cNvSpPr>
          <p:nvPr/>
        </p:nvSpPr>
        <p:spPr bwMode="auto">
          <a:xfrm>
            <a:off x="4737844" y="624260"/>
            <a:ext cx="1644650" cy="319087"/>
          </a:xfrm>
          <a:prstGeom prst="rect">
            <a:avLst/>
          </a:prstGeom>
          <a:solidFill>
            <a:srgbClr val="002060"/>
          </a:solidFill>
          <a:ln w="9525">
            <a:solidFill>
              <a:srgbClr val="002060"/>
            </a:solidFill>
            <a:miter lim="800000"/>
            <a:headEnd/>
            <a:tailEnd/>
          </a:ln>
        </p:spPr>
        <p:txBody>
          <a:bodyPr vert="horz" wrap="square" lIns="91440" tIns="45720" rIns="91440" bIns="45720" numCol="1" anchor="t" anchorCtr="0" compatLnSpc="1">
            <a:prstTxWarp prst="textNoShape">
              <a:avLst/>
            </a:prstTxWarp>
          </a:bodyPr>
          <a:lstStyle/>
          <a:p>
            <a:pPr marL="0" marR="0" lvl="0" indent="0" algn="ctr" defTabSz="914400" rtl="0" eaLnBrk="1" fontAlgn="base" latinLnBrk="0" hangingPunct="1">
              <a:lnSpc>
                <a:spcPct val="100000"/>
              </a:lnSpc>
              <a:spcBef>
                <a:spcPct val="0"/>
              </a:spcBef>
              <a:spcAft>
                <a:spcPts val="1000"/>
              </a:spcAft>
              <a:buClrTx/>
              <a:buSzTx/>
              <a:buFontTx/>
              <a:buNone/>
              <a:tabLst/>
            </a:pPr>
            <a:r>
              <a:rPr kumimoji="0" lang="en-US" sz="1600" b="1" i="0" u="none" strike="noStrike" cap="none" normalizeH="0" baseline="0">
                <a:ln>
                  <a:noFill/>
                </a:ln>
                <a:solidFill>
                  <a:srgbClr val="FFFFFF"/>
                </a:solidFill>
                <a:effectLst/>
                <a:latin typeface="BLS Condensed Bold" pitchFamily="2" charset="-34"/>
                <a:ea typeface="Arial" pitchFamily="34" charset="0"/>
                <a:cs typeface="BLS Condensed Bold" pitchFamily="2" charset="-34"/>
              </a:rPr>
              <a:t>DISCLAIMER</a:t>
            </a:r>
            <a:endParaRPr kumimoji="0" lang="en-US" sz="1800" b="0" i="0" u="none" strike="noStrike" cap="none" normalizeH="0" baseline="0">
              <a:ln>
                <a:noFill/>
              </a:ln>
              <a:solidFill>
                <a:schemeClr val="tx1"/>
              </a:solidFill>
              <a:effectLst/>
              <a:latin typeface="BLS Condensed Bold" pitchFamily="2" charset="-34"/>
              <a:cs typeface="BLS Condensed Bold" pitchFamily="2" charset="-34"/>
            </a:endParaRPr>
          </a:p>
        </p:txBody>
      </p:sp>
      <p:sp>
        <p:nvSpPr>
          <p:cNvPr id="35" name="Rectangle 34"/>
          <p:cNvSpPr/>
          <p:nvPr/>
        </p:nvSpPr>
        <p:spPr>
          <a:xfrm>
            <a:off x="294066" y="1043608"/>
            <a:ext cx="6235106" cy="36000"/>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p:cNvSpPr txBox="1"/>
          <p:nvPr/>
        </p:nvSpPr>
        <p:spPr>
          <a:xfrm>
            <a:off x="297858" y="1187624"/>
            <a:ext cx="6231314" cy="3539430"/>
          </a:xfrm>
          <a:prstGeom prst="rect">
            <a:avLst/>
          </a:prstGeom>
          <a:noFill/>
        </p:spPr>
        <p:txBody>
          <a:bodyPr wrap="square" rtlCol="0">
            <a:spAutoFit/>
          </a:bodyPr>
          <a:lstStyle/>
          <a:p>
            <a:pPr algn="just"/>
            <a:r>
              <a:rPr lang="en-GB" sz="800" dirty="0">
                <a:solidFill>
                  <a:srgbClr val="404040"/>
                </a:solidFill>
                <a:latin typeface="BLS" pitchFamily="2" charset="-34"/>
                <a:cs typeface="BLS" pitchFamily="2" charset="-34"/>
              </a:rPr>
              <a:t>BUALUANG SECURITIES PUBLIC COMPANY LIMITED (BLS) is a subsidiary of BANGKOK BANK PUBLIC COMPANY LIMITED (BBL). This document is produced based upon sources believed to be reliable but their accuracy, completeness or correctness is not guaranteed. The statements or expressions of opinion herein were arrived at after due and careful consideration to use as information for investment. Expressions of opinion contained herein are subject to change without notice. This document is not, and should not be construed as, an offer or the solicitation of an offer to buy or sell any securities. The use of any information shall be at the sole discretion and risk of the user.</a:t>
            </a:r>
          </a:p>
          <a:p>
            <a:pPr algn="just"/>
            <a:endParaRPr lang="en-US" sz="800" dirty="0">
              <a:solidFill>
                <a:srgbClr val="404040"/>
              </a:solidFill>
              <a:latin typeface="BLS" pitchFamily="2" charset="-34"/>
              <a:cs typeface="BLS" pitchFamily="2" charset="-34"/>
            </a:endParaRPr>
          </a:p>
          <a:p>
            <a:pPr algn="just"/>
            <a:r>
              <a:rPr lang="en-GB" sz="800" dirty="0">
                <a:solidFill>
                  <a:srgbClr val="404040"/>
                </a:solidFill>
                <a:latin typeface="BLS" pitchFamily="2" charset="-34"/>
                <a:cs typeface="BLS" pitchFamily="2" charset="-34"/>
              </a:rPr>
              <a:t>BUALUANG SECURITIES PUBLIC COMPANY LIMITED MAY BE IN RELATIONSHIPS WITH THE SECURITIES IN THIS REPORT. “Opinions, projections and other information contained in this report are based upon sources believed to be accurate including the draft prospectus, but no responsibility is accepted for any loss occasioned by reliance placed upon the contents hereof. </a:t>
            </a:r>
            <a:r>
              <a:rPr lang="en-GB" sz="800" dirty="0" err="1">
                <a:solidFill>
                  <a:srgbClr val="404040"/>
                </a:solidFill>
                <a:latin typeface="BLS" pitchFamily="2" charset="-34"/>
                <a:cs typeface="BLS" pitchFamily="2" charset="-34"/>
              </a:rPr>
              <a:t>Bualuang</a:t>
            </a:r>
            <a:r>
              <a:rPr lang="en-GB" sz="800" dirty="0">
                <a:solidFill>
                  <a:srgbClr val="404040"/>
                </a:solidFill>
                <a:latin typeface="BLS" pitchFamily="2" charset="-34"/>
                <a:cs typeface="BLS" pitchFamily="2" charset="-34"/>
              </a:rPr>
              <a:t> Securities Public Company Limited may from time to time perform investment, advisory or other services for companies mentioned in this report, as well as dealing (as principal or otherwise) in, or otherwise being interested in, any securities mentioned herein, This report does not constitute a solicitation to buy or sell any securities”. Investors should carefully read details in the prospectus before making investment decision.</a:t>
            </a:r>
          </a:p>
          <a:p>
            <a:pPr algn="just"/>
            <a:endParaRPr lang="en-US" sz="800" dirty="0">
              <a:solidFill>
                <a:srgbClr val="404040"/>
              </a:solidFill>
              <a:latin typeface="BLS" pitchFamily="2" charset="-34"/>
              <a:cs typeface="BLS" pitchFamily="2" charset="-34"/>
            </a:endParaRPr>
          </a:p>
          <a:p>
            <a:pPr algn="just"/>
            <a:r>
              <a:rPr lang="en-GB" sz="800" dirty="0">
                <a:solidFill>
                  <a:srgbClr val="404040"/>
                </a:solidFill>
                <a:latin typeface="BLS" pitchFamily="2" charset="-34"/>
                <a:cs typeface="BLS" pitchFamily="2" charset="-34"/>
              </a:rPr>
              <a:t>BUALUANG SECURITIES PUBLIC COMPANY LIMITED MAY ACT AS MARKET MAKER AND ISSUER OF DWs, AND ISSUER OF STRUCTURED NOTES ON THESE SECURITIES. The company may prepare the research reports on those underlying securities. Investors should carefully read the details of the derivative warrants and structured notes in the prospectus before making investment decisions.</a:t>
            </a: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GB" sz="800" dirty="0">
              <a:solidFill>
                <a:srgbClr val="404040"/>
              </a:solidFill>
              <a:latin typeface="BLS" pitchFamily="2" charset="-34"/>
              <a:cs typeface="BLS" pitchFamily="2" charset="-34"/>
            </a:endParaRPr>
          </a:p>
          <a:p>
            <a:pPr algn="just"/>
            <a:endParaRPr lang="en-US" sz="800" dirty="0">
              <a:solidFill>
                <a:srgbClr val="404040"/>
              </a:solidFill>
              <a:latin typeface="BLS" pitchFamily="2" charset="-34"/>
              <a:cs typeface="BLS" pitchFamily="2" charset="-34"/>
            </a:endParaRPr>
          </a:p>
          <a:p>
            <a:pPr algn="just"/>
            <a:endParaRPr lang="en-US" sz="800" dirty="0">
              <a:solidFill>
                <a:srgbClr val="404040"/>
              </a:solidFill>
              <a:latin typeface="BLS" pitchFamily="2" charset="-34"/>
              <a:cs typeface="BLS" pitchFamily="2" charset="-34"/>
            </a:endParaRPr>
          </a:p>
          <a:p>
            <a:pPr algn="just"/>
            <a:r>
              <a:rPr lang="en-US" sz="800" dirty="0">
                <a:solidFill>
                  <a:srgbClr val="404040"/>
                </a:solidFill>
                <a:latin typeface="BLS" pitchFamily="2" charset="-34"/>
                <a:cs typeface="BLS" pitchFamily="2" charset="-34"/>
              </a:rPr>
              <a:t>BUALUANG SECURITIES PUBLIC COMPANY LIMITED IS OR MAY BE AN UNDERWRITER/CO-UNDERWRITER/JOINT LEAD IN RESPECT OF THE INITIAL PUBLIC OFFERING (IPO) OF SECURITIES.</a:t>
            </a:r>
          </a:p>
        </p:txBody>
      </p:sp>
      <p:graphicFrame>
        <p:nvGraphicFramePr>
          <p:cNvPr id="36" name="Table 35"/>
          <p:cNvGraphicFramePr>
            <a:graphicFrameLocks noGrp="1"/>
          </p:cNvGraphicFramePr>
          <p:nvPr/>
        </p:nvGraphicFramePr>
        <p:xfrm>
          <a:off x="388937" y="4923329"/>
          <a:ext cx="5993557" cy="920750"/>
        </p:xfrm>
        <a:graphic>
          <a:graphicData uri="http://schemas.openxmlformats.org/drawingml/2006/table">
            <a:tbl>
              <a:tblPr firstRow="1" firstCol="1" bandRow="1">
                <a:tableStyleId>{5C22544A-7EE6-4342-B048-85BDC9FD1C3A}</a:tableStyleId>
              </a:tblPr>
              <a:tblGrid>
                <a:gridCol w="2541183">
                  <a:extLst>
                    <a:ext uri="{9D8B030D-6E8A-4147-A177-3AD203B41FA5}">
                      <a16:colId xmlns:a16="http://schemas.microsoft.com/office/drawing/2014/main" val="20000"/>
                    </a:ext>
                  </a:extLst>
                </a:gridCol>
                <a:gridCol w="3452374">
                  <a:extLst>
                    <a:ext uri="{9D8B030D-6E8A-4147-A177-3AD203B41FA5}">
                      <a16:colId xmlns:a16="http://schemas.microsoft.com/office/drawing/2014/main" val="20001"/>
                    </a:ext>
                  </a:extLst>
                </a:gridCol>
              </a:tblGrid>
              <a:tr h="411537">
                <a:tc>
                  <a:txBody>
                    <a:bodyPr/>
                    <a:lstStyle/>
                    <a:p>
                      <a:pPr algn="ctr">
                        <a:spcAft>
                          <a:spcPts val="0"/>
                        </a:spcAft>
                        <a:tabLst>
                          <a:tab pos="2743200" algn="ctr"/>
                          <a:tab pos="5486400" algn="r"/>
                          <a:tab pos="5486400" algn="r"/>
                        </a:tabLst>
                      </a:pPr>
                      <a:r>
                        <a:rPr lang="en-US" sz="800" dirty="0">
                          <a:solidFill>
                            <a:srgbClr val="404040"/>
                          </a:solidFill>
                          <a:effectLst/>
                          <a:latin typeface="BLS" pitchFamily="2" charset="-34"/>
                          <a:cs typeface="BLS" pitchFamily="2" charset="-34"/>
                        </a:rPr>
                        <a:t>Financial Advisor</a:t>
                      </a:r>
                      <a:endParaRPr lang="en-US" sz="800" dirty="0">
                        <a:solidFill>
                          <a:srgbClr val="404040"/>
                        </a:solidFill>
                        <a:effectLst/>
                        <a:latin typeface="BLS" pitchFamily="2" charset="-34"/>
                        <a:ea typeface="Times New Roman"/>
                        <a:cs typeface="BLS" pitchFamily="2" charset="-34"/>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spcAft>
                          <a:spcPts val="0"/>
                        </a:spcAft>
                        <a:tabLst>
                          <a:tab pos="2743200" algn="ctr"/>
                          <a:tab pos="5486400" algn="r"/>
                        </a:tabLst>
                      </a:pPr>
                      <a:r>
                        <a:rPr lang="en-US" sz="800" dirty="0">
                          <a:solidFill>
                            <a:srgbClr val="404040"/>
                          </a:solidFill>
                          <a:effectLst/>
                          <a:latin typeface="BLS" pitchFamily="2" charset="-34"/>
                          <a:cs typeface="BLS" pitchFamily="2" charset="-34"/>
                        </a:rPr>
                        <a:t>Lead underwriter/</a:t>
                      </a:r>
                    </a:p>
                    <a:p>
                      <a:pPr algn="ctr">
                        <a:spcAft>
                          <a:spcPts val="0"/>
                        </a:spcAft>
                        <a:tabLst>
                          <a:tab pos="2743200" algn="ctr"/>
                          <a:tab pos="5486400" algn="r"/>
                          <a:tab pos="5486400" algn="r"/>
                        </a:tabLst>
                      </a:pPr>
                      <a:r>
                        <a:rPr lang="en-US" sz="800" dirty="0">
                          <a:solidFill>
                            <a:srgbClr val="404040"/>
                          </a:solidFill>
                          <a:effectLst/>
                          <a:latin typeface="BLS" pitchFamily="2" charset="-34"/>
                          <a:cs typeface="BLS" pitchFamily="2" charset="-34"/>
                        </a:rPr>
                        <a:t>Underwriter/</a:t>
                      </a:r>
                    </a:p>
                    <a:p>
                      <a:pPr algn="ctr">
                        <a:spcAft>
                          <a:spcPts val="0"/>
                        </a:spcAft>
                        <a:tabLst>
                          <a:tab pos="2743200" algn="ctr"/>
                          <a:tab pos="5486400" algn="r"/>
                          <a:tab pos="5486400" algn="r"/>
                        </a:tabLst>
                      </a:pPr>
                      <a:r>
                        <a:rPr lang="en-US" sz="800" dirty="0">
                          <a:solidFill>
                            <a:srgbClr val="404040"/>
                          </a:solidFill>
                          <a:effectLst/>
                          <a:latin typeface="BLS" pitchFamily="2" charset="-34"/>
                          <a:cs typeface="BLS" pitchFamily="2" charset="-34"/>
                        </a:rPr>
                        <a:t>Co-underwriter</a:t>
                      </a:r>
                      <a:endParaRPr lang="en-US" sz="800" dirty="0">
                        <a:solidFill>
                          <a:srgbClr val="404040"/>
                        </a:solidFill>
                        <a:effectLst/>
                        <a:latin typeface="BLS" pitchFamily="2" charset="-34"/>
                        <a:ea typeface="Times New Roman"/>
                        <a:cs typeface="BLS" pitchFamily="2" charset="-34"/>
                      </a:endParaRPr>
                    </a:p>
                  </a:txBody>
                  <a:tcPr marL="68577" marR="68577"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509213">
                <a:tc>
                  <a:txBody>
                    <a:bodyPr/>
                    <a:lstStyle/>
                    <a:p>
                      <a:pPr algn="l">
                        <a:lnSpc>
                          <a:spcPts val="1320"/>
                        </a:lnSpc>
                        <a:spcBef>
                          <a:spcPts val="0"/>
                        </a:spcBef>
                        <a:spcAft>
                          <a:spcPts val="0"/>
                        </a:spcAft>
                      </a:pPr>
                      <a:endParaRPr lang="en-US" sz="800" b="0" dirty="0">
                        <a:solidFill>
                          <a:srgbClr val="404040"/>
                        </a:solidFill>
                        <a:effectLst/>
                        <a:latin typeface="BLS" pitchFamily="2" charset="-34"/>
                        <a:ea typeface="Times New Roman"/>
                        <a:cs typeface="BLS" pitchFamily="2"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just">
                        <a:lnSpc>
                          <a:spcPts val="500"/>
                        </a:lnSpc>
                        <a:spcBef>
                          <a:spcPts val="0"/>
                        </a:spcBef>
                        <a:spcAft>
                          <a:spcPts val="0"/>
                        </a:spcAft>
                        <a:tabLst>
                          <a:tab pos="1266825" algn="l"/>
                        </a:tabLst>
                      </a:pPr>
                      <a:endParaRPr lang="en-US" sz="700" b="0" dirty="0">
                        <a:solidFill>
                          <a:srgbClr val="404040"/>
                        </a:solidFill>
                        <a:effectLst/>
                        <a:latin typeface="BLS" pitchFamily="2" charset="-34"/>
                        <a:ea typeface="Times New Roman"/>
                        <a:cs typeface="BLS" pitchFamily="2" charset="-34"/>
                      </a:endParaRPr>
                    </a:p>
                    <a:p>
                      <a:pPr algn="just">
                        <a:lnSpc>
                          <a:spcPts val="500"/>
                        </a:lnSpc>
                        <a:spcBef>
                          <a:spcPts val="0"/>
                        </a:spcBef>
                        <a:spcAft>
                          <a:spcPts val="0"/>
                        </a:spcAft>
                        <a:tabLst>
                          <a:tab pos="1266825" algn="l"/>
                        </a:tabLst>
                      </a:pPr>
                      <a:endParaRPr lang="en-US" sz="200" dirty="0">
                        <a:solidFill>
                          <a:srgbClr val="404040"/>
                        </a:solidFill>
                        <a:effectLst/>
                        <a:latin typeface="BLS" pitchFamily="2" charset="-34"/>
                        <a:ea typeface="Times New Roman"/>
                        <a:cs typeface="BLS" pitchFamily="2" charset="-34"/>
                      </a:endParaRPr>
                    </a:p>
                  </a:txBody>
                  <a:tcPr marL="68580" marR="68580" marT="0" marB="0">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graphicFrame>
        <p:nvGraphicFramePr>
          <p:cNvPr id="37" name="Table 36"/>
          <p:cNvGraphicFramePr>
            <a:graphicFrameLocks noGrp="1"/>
          </p:cNvGraphicFramePr>
          <p:nvPr/>
        </p:nvGraphicFramePr>
        <p:xfrm>
          <a:off x="404664" y="6291481"/>
          <a:ext cx="6353174" cy="1219200"/>
        </p:xfrm>
        <a:graphic>
          <a:graphicData uri="http://schemas.openxmlformats.org/drawingml/2006/table">
            <a:tbl>
              <a:tblPr firstRow="1" firstCol="1" bandRow="1">
                <a:tableStyleId>{5C22544A-7EE6-4342-B048-85BDC9FD1C3A}</a:tableStyleId>
              </a:tblPr>
              <a:tblGrid>
                <a:gridCol w="2278152">
                  <a:extLst>
                    <a:ext uri="{9D8B030D-6E8A-4147-A177-3AD203B41FA5}">
                      <a16:colId xmlns:a16="http://schemas.microsoft.com/office/drawing/2014/main" val="20000"/>
                    </a:ext>
                  </a:extLst>
                </a:gridCol>
                <a:gridCol w="2037511">
                  <a:extLst>
                    <a:ext uri="{9D8B030D-6E8A-4147-A177-3AD203B41FA5}">
                      <a16:colId xmlns:a16="http://schemas.microsoft.com/office/drawing/2014/main" val="20001"/>
                    </a:ext>
                  </a:extLst>
                </a:gridCol>
                <a:gridCol w="2037511">
                  <a:extLst>
                    <a:ext uri="{9D8B030D-6E8A-4147-A177-3AD203B41FA5}">
                      <a16:colId xmlns:a16="http://schemas.microsoft.com/office/drawing/2014/main" val="20002"/>
                    </a:ext>
                  </a:extLst>
                </a:gridCol>
              </a:tblGrid>
              <a:tr h="215900">
                <a:tc>
                  <a:txBody>
                    <a:bodyPr/>
                    <a:lstStyle/>
                    <a:p>
                      <a:pPr algn="ctr">
                        <a:spcBef>
                          <a:spcPts val="300"/>
                        </a:spcBef>
                        <a:spcAft>
                          <a:spcPts val="0"/>
                        </a:spcAft>
                      </a:pPr>
                      <a:r>
                        <a:rPr lang="en-US" sz="800">
                          <a:solidFill>
                            <a:srgbClr val="404040"/>
                          </a:solidFill>
                          <a:effectLst/>
                          <a:latin typeface="BLS" pitchFamily="2" charset="-34"/>
                          <a:cs typeface="BLS" pitchFamily="2" charset="-34"/>
                        </a:rPr>
                        <a:t>Score Range</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 Score Range</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Description</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extLst>
                  <a:ext uri="{0D108BD9-81ED-4DB2-BD59-A6C34878D82A}">
                    <a16:rowId xmlns:a16="http://schemas.microsoft.com/office/drawing/2014/main" val="10000"/>
                  </a:ext>
                </a:extLst>
              </a:tr>
              <a:tr h="161925">
                <a:tc>
                  <a:txBody>
                    <a:bodyPr/>
                    <a:lstStyle/>
                    <a:p>
                      <a:pPr algn="ctr">
                        <a:spcAft>
                          <a:spcPts val="0"/>
                        </a:spcAft>
                      </a:pPr>
                      <a:r>
                        <a:rPr lang="en-US" sz="800">
                          <a:solidFill>
                            <a:srgbClr val="404040"/>
                          </a:solidFill>
                          <a:effectLst/>
                          <a:latin typeface="BLS" pitchFamily="2" charset="-34"/>
                          <a:cs typeface="BLS" pitchFamily="2" charset="-34"/>
                        </a:rPr>
                        <a:t>90 – 100</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Excellent</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1"/>
                  </a:ext>
                </a:extLst>
              </a:tr>
              <a:tr h="161925">
                <a:tc>
                  <a:txBody>
                    <a:bodyPr/>
                    <a:lstStyle/>
                    <a:p>
                      <a:pPr algn="ctr">
                        <a:spcAft>
                          <a:spcPts val="0"/>
                        </a:spcAft>
                      </a:pPr>
                      <a:r>
                        <a:rPr lang="en-US" sz="800">
                          <a:solidFill>
                            <a:srgbClr val="404040"/>
                          </a:solidFill>
                          <a:effectLst/>
                          <a:latin typeface="BLS" pitchFamily="2" charset="-34"/>
                          <a:cs typeface="BLS" pitchFamily="2" charset="-34"/>
                        </a:rPr>
                        <a:t>80 – 89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Very Good</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2"/>
                  </a:ext>
                </a:extLst>
              </a:tr>
              <a:tr h="161925">
                <a:tc>
                  <a:txBody>
                    <a:bodyPr/>
                    <a:lstStyle/>
                    <a:p>
                      <a:pPr algn="ctr">
                        <a:spcAft>
                          <a:spcPts val="0"/>
                        </a:spcAft>
                      </a:pPr>
                      <a:r>
                        <a:rPr lang="en-US" sz="800">
                          <a:solidFill>
                            <a:srgbClr val="404040"/>
                          </a:solidFill>
                          <a:effectLst/>
                          <a:latin typeface="BLS" pitchFamily="2" charset="-34"/>
                          <a:cs typeface="BLS" pitchFamily="2" charset="-34"/>
                        </a:rPr>
                        <a:t>70 – 79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Good</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3"/>
                  </a:ext>
                </a:extLst>
              </a:tr>
              <a:tr h="161925">
                <a:tc>
                  <a:txBody>
                    <a:bodyPr/>
                    <a:lstStyle/>
                    <a:p>
                      <a:pPr algn="ctr">
                        <a:spcAft>
                          <a:spcPts val="0"/>
                        </a:spcAft>
                      </a:pPr>
                      <a:r>
                        <a:rPr lang="en-US" sz="800">
                          <a:solidFill>
                            <a:srgbClr val="404040"/>
                          </a:solidFill>
                          <a:effectLst/>
                          <a:latin typeface="BLS" pitchFamily="2" charset="-34"/>
                          <a:cs typeface="BLS" pitchFamily="2" charset="-34"/>
                        </a:rPr>
                        <a:t>60 – 69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Satisfactory</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4"/>
                  </a:ext>
                </a:extLst>
              </a:tr>
              <a:tr h="161925">
                <a:tc>
                  <a:txBody>
                    <a:bodyPr/>
                    <a:lstStyle/>
                    <a:p>
                      <a:pPr algn="ctr">
                        <a:spcAft>
                          <a:spcPts val="0"/>
                        </a:spcAft>
                      </a:pPr>
                      <a:r>
                        <a:rPr lang="en-US" sz="800">
                          <a:solidFill>
                            <a:srgbClr val="404040"/>
                          </a:solidFill>
                          <a:effectLst/>
                          <a:latin typeface="BLS" pitchFamily="2" charset="-34"/>
                          <a:cs typeface="BLS" pitchFamily="2" charset="-34"/>
                        </a:rPr>
                        <a:t>50 – 59</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tc>
                  <a:txBody>
                    <a:bodyPr/>
                    <a:lstStyle/>
                    <a:p>
                      <a:pPr algn="ctr">
                        <a:spcAft>
                          <a:spcPts val="0"/>
                        </a:spcAft>
                      </a:pPr>
                      <a:r>
                        <a:rPr lang="en-US" sz="800">
                          <a:solidFill>
                            <a:srgbClr val="404040"/>
                          </a:solidFill>
                          <a:effectLst/>
                          <a:latin typeface="BLS" pitchFamily="2" charset="-34"/>
                          <a:cs typeface="BLS" pitchFamily="2" charset="-34"/>
                        </a:rPr>
                        <a:t> </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Aft>
                          <a:spcPts val="0"/>
                        </a:spcAft>
                      </a:pPr>
                      <a:r>
                        <a:rPr lang="en-US" sz="800">
                          <a:solidFill>
                            <a:srgbClr val="404040"/>
                          </a:solidFill>
                          <a:effectLst/>
                          <a:latin typeface="BLS" pitchFamily="2" charset="-34"/>
                          <a:cs typeface="BLS" pitchFamily="2" charset="-34"/>
                        </a:rPr>
                        <a:t>Pass</a:t>
                      </a:r>
                      <a:endParaRPr lang="en-US" sz="800">
                        <a:solidFill>
                          <a:srgbClr val="404040"/>
                        </a:solidFill>
                        <a:effectLst/>
                        <a:latin typeface="BLS" pitchFamily="2" charset="-34"/>
                        <a:ea typeface="Times New Roman"/>
                        <a:cs typeface="BLS" pitchFamily="2" charset="-34"/>
                      </a:endParaRPr>
                    </a:p>
                  </a:txBody>
                  <a:tcPr marL="68573" marR="68573" marT="0" marB="0" anchor="b">
                    <a:noFill/>
                  </a:tcPr>
                </a:tc>
                <a:extLst>
                  <a:ext uri="{0D108BD9-81ED-4DB2-BD59-A6C34878D82A}">
                    <a16:rowId xmlns:a16="http://schemas.microsoft.com/office/drawing/2014/main" val="10005"/>
                  </a:ext>
                </a:extLst>
              </a:tr>
              <a:tr h="193675">
                <a:tc>
                  <a:txBody>
                    <a:bodyPr/>
                    <a:lstStyle/>
                    <a:p>
                      <a:pPr algn="ctr">
                        <a:spcBef>
                          <a:spcPts val="300"/>
                        </a:spcBef>
                        <a:spcAft>
                          <a:spcPts val="0"/>
                        </a:spcAft>
                      </a:pPr>
                      <a:r>
                        <a:rPr lang="en-US" sz="800">
                          <a:solidFill>
                            <a:srgbClr val="404040"/>
                          </a:solidFill>
                          <a:effectLst/>
                          <a:latin typeface="BLS" pitchFamily="2" charset="-34"/>
                          <a:cs typeface="BLS" pitchFamily="2" charset="-34"/>
                        </a:rPr>
                        <a:t>Below 50</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 No logo given</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tc>
                  <a:txBody>
                    <a:bodyPr/>
                    <a:lstStyle/>
                    <a:p>
                      <a:pPr algn="ctr">
                        <a:spcBef>
                          <a:spcPts val="300"/>
                        </a:spcBef>
                        <a:spcAft>
                          <a:spcPts val="0"/>
                        </a:spcAft>
                      </a:pPr>
                      <a:r>
                        <a:rPr lang="en-US" sz="800">
                          <a:solidFill>
                            <a:srgbClr val="404040"/>
                          </a:solidFill>
                          <a:effectLst/>
                          <a:latin typeface="BLS" pitchFamily="2" charset="-34"/>
                          <a:cs typeface="BLS" pitchFamily="2" charset="-34"/>
                        </a:rPr>
                        <a:t>N/A</a:t>
                      </a:r>
                      <a:endParaRPr lang="en-US" sz="800">
                        <a:solidFill>
                          <a:srgbClr val="404040"/>
                        </a:solidFill>
                        <a:effectLst/>
                        <a:latin typeface="BLS" pitchFamily="2" charset="-34"/>
                        <a:ea typeface="Times New Roman"/>
                        <a:cs typeface="BLS" pitchFamily="2" charset="-34"/>
                      </a:endParaRPr>
                    </a:p>
                  </a:txBody>
                  <a:tcPr marL="68573" marR="68573" marT="0" marB="0" anchor="ctr">
                    <a:noFill/>
                  </a:tcPr>
                </a:tc>
                <a:extLst>
                  <a:ext uri="{0D108BD9-81ED-4DB2-BD59-A6C34878D82A}">
                    <a16:rowId xmlns:a16="http://schemas.microsoft.com/office/drawing/2014/main" val="10006"/>
                  </a:ext>
                </a:extLst>
              </a:tr>
            </a:tbl>
          </a:graphicData>
        </a:graphic>
      </p:graphicFrame>
      <p:sp>
        <p:nvSpPr>
          <p:cNvPr id="38" name="TextBox 37"/>
          <p:cNvSpPr txBox="1"/>
          <p:nvPr/>
        </p:nvSpPr>
        <p:spPr>
          <a:xfrm>
            <a:off x="404664" y="6001157"/>
            <a:ext cx="5977830" cy="215444"/>
          </a:xfrm>
          <a:prstGeom prst="rect">
            <a:avLst/>
          </a:prstGeom>
          <a:noFill/>
        </p:spPr>
        <p:txBody>
          <a:bodyPr wrap="square" rtlCol="0">
            <a:spAutoFit/>
          </a:bodyPr>
          <a:lstStyle/>
          <a:p>
            <a:pPr algn="just"/>
            <a:r>
              <a:rPr lang="en-US" sz="800" b="1">
                <a:solidFill>
                  <a:srgbClr val="404040"/>
                </a:solidFill>
                <a:latin typeface="BLS" pitchFamily="2" charset="-34"/>
                <a:cs typeface="BLS" pitchFamily="2" charset="-34"/>
              </a:rPr>
              <a:t>CG Rating</a:t>
            </a:r>
          </a:p>
        </p:txBody>
      </p:sp>
      <p:sp>
        <p:nvSpPr>
          <p:cNvPr id="39" name="TextBox 38"/>
          <p:cNvSpPr txBox="1"/>
          <p:nvPr/>
        </p:nvSpPr>
        <p:spPr>
          <a:xfrm>
            <a:off x="1052736" y="7875657"/>
            <a:ext cx="4752528" cy="584775"/>
          </a:xfrm>
          <a:prstGeom prst="rect">
            <a:avLst/>
          </a:prstGeom>
          <a:noFill/>
        </p:spPr>
        <p:txBody>
          <a:bodyPr wrap="square" rtlCol="0">
            <a:spAutoFit/>
          </a:bodyPr>
          <a:lstStyle/>
          <a:p>
            <a:pPr algn="ctr"/>
            <a:r>
              <a:rPr lang="en-US" sz="800" b="1">
                <a:latin typeface="BLS" pitchFamily="2" charset="-34"/>
                <a:cs typeface="BLS" pitchFamily="2" charset="-34"/>
              </a:rPr>
              <a:t>Thailand's Private Sector Collective Action Coalition Against Corruption </a:t>
            </a:r>
            <a:r>
              <a:rPr lang="en-US" sz="800" b="1" err="1">
                <a:latin typeface="BLS" pitchFamily="2" charset="-34"/>
                <a:cs typeface="BLS" pitchFamily="2" charset="-34"/>
              </a:rPr>
              <a:t>programme</a:t>
            </a:r>
            <a:r>
              <a:rPr lang="en-US" sz="800" b="1">
                <a:latin typeface="BLS" pitchFamily="2" charset="-34"/>
                <a:cs typeface="BLS" pitchFamily="2" charset="-34"/>
              </a:rPr>
              <a:t> (Thai CAC) under Thai Institute of Directors</a:t>
            </a:r>
          </a:p>
          <a:p>
            <a:pPr marL="171450" indent="-171450" algn="ctr">
              <a:buFont typeface="Arial" pitchFamily="34" charset="0"/>
              <a:buChar char="•"/>
            </a:pPr>
            <a:r>
              <a:rPr lang="en-US" sz="800">
                <a:latin typeface="BLS" pitchFamily="2" charset="-34"/>
                <a:cs typeface="BLS" pitchFamily="2" charset="-34"/>
              </a:rPr>
              <a:t>companies that have </a:t>
            </a:r>
            <a:r>
              <a:rPr lang="en-US" sz="800" b="1">
                <a:latin typeface="BLS" pitchFamily="2" charset="-34"/>
                <a:cs typeface="BLS" pitchFamily="2" charset="-34"/>
              </a:rPr>
              <a:t>declared</a:t>
            </a:r>
            <a:r>
              <a:rPr lang="en-US" sz="800">
                <a:latin typeface="BLS" pitchFamily="2" charset="-34"/>
                <a:cs typeface="BLS" pitchFamily="2" charset="-34"/>
              </a:rPr>
              <a:t> their intention to join CAC, and</a:t>
            </a:r>
          </a:p>
          <a:p>
            <a:pPr marL="171450" indent="-171450" algn="ctr">
              <a:buFont typeface="Arial" pitchFamily="34" charset="0"/>
              <a:buChar char="•"/>
            </a:pPr>
            <a:r>
              <a:rPr lang="en-US" sz="800">
                <a:latin typeface="BLS" pitchFamily="2" charset="-34"/>
                <a:cs typeface="BLS" pitchFamily="2" charset="-34"/>
              </a:rPr>
              <a:t>companies </a:t>
            </a:r>
            <a:r>
              <a:rPr lang="en-US" sz="800" b="1">
                <a:latin typeface="BLS" pitchFamily="2" charset="-34"/>
                <a:cs typeface="BLS" pitchFamily="2" charset="-34"/>
              </a:rPr>
              <a:t>certified</a:t>
            </a:r>
            <a:r>
              <a:rPr lang="en-US" sz="800">
                <a:latin typeface="BLS" pitchFamily="2" charset="-34"/>
                <a:cs typeface="BLS" pitchFamily="2" charset="-34"/>
              </a:rPr>
              <a:t> by CAC.</a:t>
            </a:r>
            <a:endParaRPr lang="en-US" sz="800">
              <a:solidFill>
                <a:srgbClr val="404040"/>
              </a:solidFill>
              <a:latin typeface="BLS" pitchFamily="2" charset="-34"/>
              <a:cs typeface="BLS" pitchFamily="2" charset="-34"/>
            </a:endParaRPr>
          </a:p>
        </p:txBody>
      </p:sp>
      <p:pic>
        <p:nvPicPr>
          <p:cNvPr id="1026" name="Picture 2">
            <a:extLst>
              <a:ext uri="{FF2B5EF4-FFF2-40B4-BE49-F238E27FC236}">
                <a16:creationId xmlns:a16="http://schemas.microsoft.com/office/drawing/2014/main" id="{0E5D63DB-D9DE-7124-6220-F449B2D45F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937" y="3631607"/>
            <a:ext cx="63246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Picture 2">
            <a:extLst>
              <a:ext uri="{FF2B5EF4-FFF2-40B4-BE49-F238E27FC236}">
                <a16:creationId xmlns:a16="http://schemas.microsoft.com/office/drawing/2014/main" id="{2FADF063-618E-2A0B-B0CC-F9AEA43EBADF}"/>
              </a:ext>
            </a:extLst>
          </p:cNvPr>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490823" y="107504"/>
            <a:ext cx="731838"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a:extLst>
              <a:ext uri="{FF2B5EF4-FFF2-40B4-BE49-F238E27FC236}">
                <a16:creationId xmlns:a16="http://schemas.microsoft.com/office/drawing/2014/main" id="{9F434746-9B89-59A7-88CF-4D5439A09315}"/>
              </a:ext>
            </a:extLst>
          </p:cNvPr>
          <p:cNvCxnSpPr/>
          <p:nvPr/>
        </p:nvCxnSpPr>
        <p:spPr>
          <a:xfrm>
            <a:off x="1254791" y="190033"/>
            <a:ext cx="0" cy="108000"/>
          </a:xfrm>
          <a:prstGeom prst="line">
            <a:avLst/>
          </a:prstGeom>
          <a:ln w="1905">
            <a:solidFill>
              <a:srgbClr val="00206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24CC043B-0591-672D-2174-7401EDDCA5CE}"/>
              </a:ext>
            </a:extLst>
          </p:cNvPr>
          <p:cNvSpPr txBox="1"/>
          <p:nvPr/>
        </p:nvSpPr>
        <p:spPr>
          <a:xfrm>
            <a:off x="332656" y="30656"/>
            <a:ext cx="970575" cy="184666"/>
          </a:xfrm>
          <a:prstGeom prst="rect">
            <a:avLst/>
          </a:prstGeom>
          <a:noFill/>
        </p:spPr>
        <p:txBody>
          <a:bodyPr wrap="square">
            <a:spAutoFit/>
          </a:bodyPr>
          <a:lstStyle/>
          <a:p>
            <a:pPr algn="r"/>
            <a:r>
              <a:rPr lang="en-US" sz="60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5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10" name="TextBox 9">
            <a:extLst>
              <a:ext uri="{FF2B5EF4-FFF2-40B4-BE49-F238E27FC236}">
                <a16:creationId xmlns:a16="http://schemas.microsoft.com/office/drawing/2014/main" id="{2531F109-D890-A9D4-6394-29EC9D37B88A}"/>
              </a:ext>
            </a:extLst>
          </p:cNvPr>
          <p:cNvSpPr txBox="1"/>
          <p:nvPr/>
        </p:nvSpPr>
        <p:spPr>
          <a:xfrm>
            <a:off x="1207813" y="131801"/>
            <a:ext cx="1411131" cy="230832"/>
          </a:xfrm>
          <a:prstGeom prst="rect">
            <a:avLst/>
          </a:prstGeom>
          <a:noFill/>
        </p:spPr>
        <p:txBody>
          <a:bodyPr wrap="square" rtlCol="0">
            <a:spAutoFit/>
          </a:bodyPr>
          <a:lstStyle/>
          <a:p>
            <a:r>
              <a:rPr lang="en-US" sz="450" b="1" dirty="0">
                <a:solidFill>
                  <a:schemeClr val="accent3"/>
                </a:solidFill>
                <a:latin typeface="Arial" pitchFamily="34" charset="0"/>
                <a:cs typeface="Arial" pitchFamily="34" charset="0"/>
              </a:rPr>
              <a:t>Data-driven</a:t>
            </a:r>
            <a:endParaRPr lang="th-TH" sz="450" b="1" dirty="0">
              <a:solidFill>
                <a:schemeClr val="accent3"/>
              </a:solidFill>
              <a:latin typeface="Arial" pitchFamily="34" charset="0"/>
              <a:cs typeface="Arial" pitchFamily="34" charset="0"/>
            </a:endParaRPr>
          </a:p>
          <a:p>
            <a:r>
              <a:rPr lang="en-US" sz="450" b="1" dirty="0">
                <a:solidFill>
                  <a:schemeClr val="tx2"/>
                </a:solidFill>
                <a:latin typeface="Arial" pitchFamily="34" charset="0"/>
                <a:cs typeface="Arial" pitchFamily="34" charset="0"/>
              </a:rPr>
              <a:t>RESEARCH</a:t>
            </a:r>
          </a:p>
        </p:txBody>
      </p:sp>
    </p:spTree>
    <p:extLst>
      <p:ext uri="{BB962C8B-B14F-4D97-AF65-F5344CB8AC3E}">
        <p14:creationId xmlns:p14="http://schemas.microsoft.com/office/powerpoint/2010/main" val="32914915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297858" y="8699316"/>
            <a:ext cx="6235106" cy="45719"/>
          </a:xfrm>
          <a:prstGeom prst="rect">
            <a:avLst/>
          </a:prstGeom>
          <a:gradFill>
            <a:gsLst>
              <a:gs pos="0">
                <a:schemeClr val="accent1">
                  <a:lumMod val="60000"/>
                  <a:lumOff val="40000"/>
                </a:schemeClr>
              </a:gs>
              <a:gs pos="50000">
                <a:schemeClr val="accent1">
                  <a:lumMod val="75000"/>
                </a:schemeClr>
              </a:gs>
              <a:gs pos="100000">
                <a:schemeClr val="accent1">
                  <a:lumMod val="50000"/>
                </a:schemeClr>
              </a:gs>
            </a:gsLst>
            <a:lin ang="10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Slide Number Placeholder 2"/>
          <p:cNvSpPr>
            <a:spLocks noGrp="1"/>
          </p:cNvSpPr>
          <p:nvPr>
            <p:ph type="sldNum" sz="quarter" idx="12"/>
          </p:nvPr>
        </p:nvSpPr>
        <p:spPr>
          <a:xfrm>
            <a:off x="4914900" y="8659771"/>
            <a:ext cx="1600200" cy="486833"/>
          </a:xfrm>
        </p:spPr>
        <p:txBody>
          <a:bodyPr/>
          <a:lstStyle/>
          <a:p>
            <a:fld id="{10452F14-DDA8-46AC-9FFA-A749C5B763D3}" type="slidenum">
              <a:rPr lang="en-US" smtClean="0">
                <a:latin typeface="BLS" panose="00000500000000000000" pitchFamily="2" charset="-34"/>
                <a:cs typeface="BLS" panose="00000500000000000000" pitchFamily="2" charset="-34"/>
              </a:rPr>
              <a:t>10</a:t>
            </a:fld>
            <a:endParaRPr lang="en-US" dirty="0">
              <a:latin typeface="BLS" panose="00000500000000000000" pitchFamily="2" charset="-34"/>
              <a:cs typeface="BLS" panose="00000500000000000000" pitchFamily="2" charset="-34"/>
            </a:endParaRPr>
          </a:p>
        </p:txBody>
      </p:sp>
      <p:sp>
        <p:nvSpPr>
          <p:cNvPr id="12" name="Text Box 155"/>
          <p:cNvSpPr txBox="1">
            <a:spLocks noChangeArrowheads="1"/>
          </p:cNvSpPr>
          <p:nvPr/>
        </p:nvSpPr>
        <p:spPr bwMode="auto">
          <a:xfrm>
            <a:off x="297858" y="624260"/>
            <a:ext cx="6231314" cy="319087"/>
          </a:xfrm>
          <a:prstGeom prst="rect">
            <a:avLst/>
          </a:prstGeom>
          <a:solidFill>
            <a:srgbClr val="002060"/>
          </a:solidFill>
          <a:ln w="9525">
            <a:solidFill>
              <a:srgbClr val="002060"/>
            </a:solidFill>
            <a:miter lim="800000"/>
            <a:headEnd/>
            <a:tailEnd/>
          </a:ln>
        </p:spPr>
        <p:txBody>
          <a:bodyPr vert="horz" wrap="square" lIns="91440" tIns="45720" rIns="91440" bIns="45720" numCol="1" anchor="ctr" anchorCtr="0" compatLnSpc="1">
            <a:prstTxWarp prst="textNoShape">
              <a:avLst/>
            </a:prstTxWarp>
          </a:bodyPr>
          <a:lstStyle/>
          <a:p>
            <a:pPr>
              <a:spcAft>
                <a:spcPts val="0"/>
              </a:spcAft>
              <a:tabLst>
                <a:tab pos="2743200" algn="ctr"/>
                <a:tab pos="5486400" algn="r"/>
              </a:tabLst>
            </a:pPr>
            <a:r>
              <a:rPr lang="en-US" sz="1000" b="1">
                <a:solidFill>
                  <a:srgbClr val="FFFFFF"/>
                </a:solidFill>
                <a:latin typeface="BLS Condensed Bold" pitchFamily="2" charset="-34"/>
                <a:ea typeface="Arial" pitchFamily="34" charset="0"/>
                <a:cs typeface="BLS Condensed Bold" pitchFamily="2" charset="-34"/>
              </a:rPr>
              <a:t>CORPORATE GOVERNANCE REPORT DISCLAIMER</a:t>
            </a:r>
          </a:p>
        </p:txBody>
      </p:sp>
      <p:sp>
        <p:nvSpPr>
          <p:cNvPr id="13" name="TextBox 12"/>
          <p:cNvSpPr txBox="1"/>
          <p:nvPr/>
        </p:nvSpPr>
        <p:spPr>
          <a:xfrm>
            <a:off x="297858" y="1043608"/>
            <a:ext cx="6231314" cy="3293209"/>
          </a:xfrm>
          <a:prstGeom prst="rect">
            <a:avLst/>
          </a:prstGeom>
          <a:noFill/>
        </p:spPr>
        <p:txBody>
          <a:bodyPr wrap="square" rtlCol="0">
            <a:spAutoFit/>
          </a:bodyPr>
          <a:lstStyle/>
          <a:p>
            <a:pPr algn="just"/>
            <a:r>
              <a:rPr lang="en-GB" sz="800">
                <a:solidFill>
                  <a:srgbClr val="404040"/>
                </a:solidFill>
                <a:latin typeface="BLS" pitchFamily="2" charset="-34"/>
                <a:cs typeface="BLS" pitchFamily="2" charset="-34"/>
              </a:rPr>
              <a:t>This research report was prepared by </a:t>
            </a:r>
            <a:r>
              <a:rPr lang="en-GB" sz="800" err="1">
                <a:solidFill>
                  <a:srgbClr val="404040"/>
                </a:solidFill>
                <a:latin typeface="BLS" pitchFamily="2" charset="-34"/>
                <a:cs typeface="BLS" pitchFamily="2" charset="-34"/>
              </a:rPr>
              <a:t>Bualuang</a:t>
            </a:r>
            <a:r>
              <a:rPr lang="en-GB" sz="800">
                <a:solidFill>
                  <a:srgbClr val="404040"/>
                </a:solidFill>
                <a:latin typeface="BLS" pitchFamily="2" charset="-34"/>
                <a:cs typeface="BLS" pitchFamily="2" charset="-34"/>
              </a:rPr>
              <a:t> Securities Public Company Limited and refers to research prepared by Morgan Stanley. Morgan Stanley does not warrant or guarantee the accuracy or completeness of its research reports. Morgan Stanley reserves copyright and other proprietary rights in the material reproduced in this report. Morgan Stanley is under no obligation to inform </a:t>
            </a:r>
            <a:r>
              <a:rPr lang="en-GB" sz="800" err="1">
                <a:solidFill>
                  <a:srgbClr val="404040"/>
                </a:solidFill>
                <a:latin typeface="BLS" pitchFamily="2" charset="-34"/>
                <a:cs typeface="BLS" pitchFamily="2" charset="-34"/>
              </a:rPr>
              <a:t>Bualuang</a:t>
            </a:r>
            <a:r>
              <a:rPr lang="en-GB" sz="800">
                <a:solidFill>
                  <a:srgbClr val="404040"/>
                </a:solidFill>
                <a:latin typeface="BLS" pitchFamily="2" charset="-34"/>
                <a:cs typeface="BLS" pitchFamily="2" charset="-34"/>
              </a:rPr>
              <a:t> Securities or you if the views or information referred to or reproduced in this research report change.</a:t>
            </a:r>
          </a:p>
          <a:p>
            <a:pPr algn="just"/>
            <a:endParaRPr lang="en-US" sz="800">
              <a:solidFill>
                <a:srgbClr val="404040"/>
              </a:solidFill>
              <a:latin typeface="BLS" pitchFamily="2" charset="-34"/>
              <a:cs typeface="BLS" pitchFamily="2" charset="-34"/>
            </a:endParaRPr>
          </a:p>
          <a:p>
            <a:pPr algn="just"/>
            <a:r>
              <a:rPr lang="en-GB" sz="800" b="1">
                <a:solidFill>
                  <a:srgbClr val="404040"/>
                </a:solidFill>
                <a:latin typeface="BLS" pitchFamily="2" charset="-34"/>
                <a:cs typeface="BLS" pitchFamily="2" charset="-34"/>
              </a:rPr>
              <a:t>Corporate Governance Report disclaimer</a:t>
            </a:r>
          </a:p>
          <a:p>
            <a:pPr algn="just"/>
            <a:endParaRPr lang="en-US" sz="400" b="1">
              <a:solidFill>
                <a:srgbClr val="404040"/>
              </a:solidFill>
              <a:latin typeface="BLS" pitchFamily="2" charset="-34"/>
              <a:cs typeface="BLS" pitchFamily="2" charset="-34"/>
            </a:endParaRPr>
          </a:p>
          <a:p>
            <a:pPr algn="just"/>
            <a:r>
              <a:rPr lang="en-US" sz="800">
                <a:solidFill>
                  <a:srgbClr val="404040"/>
                </a:solidFill>
                <a:latin typeface="BLS" pitchFamily="2" charset="-34"/>
                <a:cs typeface="BLS" pitchFamily="2" charset="-34"/>
              </a:rPr>
              <a:t>The disclosure of the survey result of the Thai Institute of Directors Association (IOD) regarding corporate governance is made pursuant to the policy of the Office of the Securities and Exchange Commission. The IOD survey is based on the information of a company listed on the Stock Exchange of Thailand and the Market for Alternative Investment disclosed to the public and able to be accessed by a general public investor. The result, therefore, is from the perspective of a third party. It is not an evaluation of operation and is not based on inside information.</a:t>
            </a:r>
          </a:p>
          <a:p>
            <a:pPr algn="just"/>
            <a:r>
              <a:rPr lang="en-US" sz="800">
                <a:solidFill>
                  <a:srgbClr val="404040"/>
                </a:solidFill>
                <a:latin typeface="BLS" pitchFamily="2" charset="-34"/>
                <a:cs typeface="BLS" pitchFamily="2" charset="-34"/>
              </a:rPr>
              <a:t>The survey result is as of the date appearing in the Corporate Governance Report of Thai Listed Companies. As a result, the survey result may be changed after that date. </a:t>
            </a:r>
            <a:r>
              <a:rPr lang="en-US" sz="800" err="1">
                <a:solidFill>
                  <a:srgbClr val="404040"/>
                </a:solidFill>
                <a:latin typeface="BLS" pitchFamily="2" charset="-34"/>
                <a:cs typeface="BLS" pitchFamily="2" charset="-34"/>
              </a:rPr>
              <a:t>Bualuang</a:t>
            </a:r>
            <a:r>
              <a:rPr lang="en-US" sz="800">
                <a:solidFill>
                  <a:srgbClr val="404040"/>
                </a:solidFill>
                <a:latin typeface="BLS" pitchFamily="2" charset="-34"/>
                <a:cs typeface="BLS" pitchFamily="2" charset="-34"/>
              </a:rPr>
              <a:t> Securities Public Company Limited neither confirms nor certifies the accuracy of such survey results.</a:t>
            </a:r>
          </a:p>
          <a:p>
            <a:pPr algn="just"/>
            <a:r>
              <a:rPr lang="en-US" sz="800">
                <a:solidFill>
                  <a:srgbClr val="404040"/>
                </a:solidFill>
                <a:latin typeface="BLS" pitchFamily="2" charset="-34"/>
                <a:cs typeface="BLS" pitchFamily="2" charset="-34"/>
              </a:rPr>
              <a:t> </a:t>
            </a:r>
          </a:p>
          <a:p>
            <a:pPr algn="just"/>
            <a:r>
              <a:rPr lang="en-US" sz="800">
                <a:solidFill>
                  <a:srgbClr val="404040"/>
                </a:solidFill>
                <a:latin typeface="BLS" pitchFamily="2" charset="-34"/>
                <a:cs typeface="BLS" pitchFamily="2" charset="-34"/>
              </a:rPr>
              <a:t>“Disclaimer: The disclosure of the Anti-Corruption Progress Indicators of a listed company on the Stock Exchange of Thailand, which is assessed by the relevant institution as disclosed by the Office of the Securities and Exchange Commission, is made in order to comply with the policy and sustainable development plan for the listed companies. The relevant institution made this assessment based on the information received from the listed company, as stipulated in the form for the assessment of Anti-corruption, which refers to the Annual Registration Statement (Form 56-1), Annual Report (Form 56-2), or other relevant documents or reports of such listed company. The assessment result is therefore made from the perspective of a third party. It is not an assessment of operation and is not based on any inside information. Since this assessment is only the assessment result as of the date appearing in the assessment result, it may be changed after that date or when there is any change to the relevant information. Nevertheless, </a:t>
            </a:r>
            <a:r>
              <a:rPr lang="en-US" sz="800" err="1">
                <a:solidFill>
                  <a:srgbClr val="404040"/>
                </a:solidFill>
                <a:latin typeface="BLS" pitchFamily="2" charset="-34"/>
                <a:cs typeface="BLS" pitchFamily="2" charset="-34"/>
              </a:rPr>
              <a:t>Bualuang</a:t>
            </a:r>
            <a:r>
              <a:rPr lang="en-US" sz="800">
                <a:solidFill>
                  <a:srgbClr val="404040"/>
                </a:solidFill>
                <a:latin typeface="BLS" pitchFamily="2" charset="-34"/>
                <a:cs typeface="BLS" pitchFamily="2" charset="-34"/>
              </a:rPr>
              <a:t> Securities Public Company Limited neither confirms, verifies, nor certifies the accuracy and completeness of the assessment result.”</a:t>
            </a:r>
          </a:p>
        </p:txBody>
      </p:sp>
      <p:sp>
        <p:nvSpPr>
          <p:cNvPr id="33" name="Text Box 155"/>
          <p:cNvSpPr txBox="1">
            <a:spLocks noChangeArrowheads="1"/>
          </p:cNvSpPr>
          <p:nvPr/>
        </p:nvSpPr>
        <p:spPr bwMode="auto">
          <a:xfrm>
            <a:off x="294066" y="4572000"/>
            <a:ext cx="6231314" cy="319087"/>
          </a:xfrm>
          <a:prstGeom prst="rect">
            <a:avLst/>
          </a:prstGeom>
          <a:solidFill>
            <a:srgbClr val="002060"/>
          </a:solidFill>
          <a:ln w="9525">
            <a:solidFill>
              <a:srgbClr val="002060"/>
            </a:solidFill>
            <a:miter lim="800000"/>
            <a:headEnd/>
            <a:tailEnd/>
          </a:ln>
        </p:spPr>
        <p:txBody>
          <a:bodyPr vert="horz" wrap="square" lIns="91440" tIns="45720" rIns="91440" bIns="45720" numCol="1" anchor="ctr" anchorCtr="0" compatLnSpc="1">
            <a:prstTxWarp prst="textNoShape">
              <a:avLst/>
            </a:prstTxWarp>
          </a:bodyPr>
          <a:lstStyle/>
          <a:p>
            <a:pPr>
              <a:spcAft>
                <a:spcPts val="0"/>
              </a:spcAft>
              <a:tabLst>
                <a:tab pos="2743200" algn="ctr"/>
                <a:tab pos="5486400" algn="r"/>
              </a:tabLst>
            </a:pPr>
            <a:r>
              <a:rPr lang="en-US" sz="1000" b="1">
                <a:solidFill>
                  <a:srgbClr val="FFFFFF"/>
                </a:solidFill>
                <a:latin typeface="BLS Condensed Bold" pitchFamily="2" charset="-34"/>
                <a:ea typeface="Arial" pitchFamily="34" charset="0"/>
                <a:cs typeface="BLS Condensed Bold" pitchFamily="2" charset="-34"/>
              </a:rPr>
              <a:t>BUALUANG RESEARCH – RECOMMENDATION FRAMEWORK</a:t>
            </a:r>
          </a:p>
        </p:txBody>
      </p:sp>
      <p:sp>
        <p:nvSpPr>
          <p:cNvPr id="34" name="TextBox 33"/>
          <p:cNvSpPr txBox="1"/>
          <p:nvPr/>
        </p:nvSpPr>
        <p:spPr>
          <a:xfrm>
            <a:off x="294066" y="5004048"/>
            <a:ext cx="3121345" cy="1323439"/>
          </a:xfrm>
          <a:prstGeom prst="rect">
            <a:avLst/>
          </a:prstGeom>
          <a:noFill/>
        </p:spPr>
        <p:txBody>
          <a:bodyPr wrap="square" rtlCol="0">
            <a:spAutoFit/>
          </a:bodyPr>
          <a:lstStyle/>
          <a:p>
            <a:r>
              <a:rPr lang="en-US" sz="800" b="1">
                <a:solidFill>
                  <a:srgbClr val="404040"/>
                </a:solidFill>
                <a:latin typeface="BLS" pitchFamily="2" charset="-34"/>
                <a:cs typeface="BLS" pitchFamily="2" charset="-34"/>
              </a:rPr>
              <a:t>STOCK RECOMMENDATIONS</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 </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BUY:</a:t>
            </a:r>
            <a:r>
              <a:rPr lang="en-US" sz="800">
                <a:solidFill>
                  <a:srgbClr val="404040"/>
                </a:solidFill>
                <a:latin typeface="BLS" pitchFamily="2" charset="-34"/>
                <a:cs typeface="BLS" pitchFamily="2" charset="-34"/>
              </a:rPr>
              <a:t> Expected positive total returns of 15% or more over the next 12 months.</a:t>
            </a:r>
          </a:p>
          <a:p>
            <a:r>
              <a:rPr lang="en-US" sz="800" b="1">
                <a:solidFill>
                  <a:srgbClr val="404040"/>
                </a:solidFill>
                <a:latin typeface="BLS" pitchFamily="2" charset="-34"/>
                <a:cs typeface="BLS" pitchFamily="2" charset="-34"/>
              </a:rPr>
              <a:t>HOLD:</a:t>
            </a:r>
            <a:r>
              <a:rPr lang="en-US" sz="800">
                <a:solidFill>
                  <a:srgbClr val="404040"/>
                </a:solidFill>
                <a:latin typeface="BLS" pitchFamily="2" charset="-34"/>
                <a:cs typeface="BLS" pitchFamily="2" charset="-34"/>
              </a:rPr>
              <a:t> Expected total returns of between -15% and +15% over the next 12 months.</a:t>
            </a:r>
          </a:p>
          <a:p>
            <a:r>
              <a:rPr lang="en-US" sz="800" b="1">
                <a:solidFill>
                  <a:srgbClr val="404040"/>
                </a:solidFill>
                <a:latin typeface="BLS" pitchFamily="2" charset="-34"/>
                <a:cs typeface="BLS" pitchFamily="2" charset="-34"/>
              </a:rPr>
              <a:t>SELL:</a:t>
            </a:r>
            <a:r>
              <a:rPr lang="en-US" sz="800">
                <a:solidFill>
                  <a:srgbClr val="404040"/>
                </a:solidFill>
                <a:latin typeface="BLS" pitchFamily="2" charset="-34"/>
                <a:cs typeface="BLS" pitchFamily="2" charset="-34"/>
              </a:rPr>
              <a:t> Expected negative total returns of 15% or more over the next 12 months.</a:t>
            </a:r>
          </a:p>
          <a:p>
            <a:r>
              <a:rPr lang="en-US" sz="800" b="1">
                <a:solidFill>
                  <a:srgbClr val="404040"/>
                </a:solidFill>
                <a:latin typeface="BLS" pitchFamily="2" charset="-34"/>
                <a:cs typeface="BLS" pitchFamily="2" charset="-34"/>
              </a:rPr>
              <a:t>TRADING BUY:</a:t>
            </a:r>
            <a:r>
              <a:rPr lang="en-US" sz="800">
                <a:solidFill>
                  <a:srgbClr val="404040"/>
                </a:solidFill>
                <a:latin typeface="BLS" pitchFamily="2" charset="-34"/>
                <a:cs typeface="BLS" pitchFamily="2" charset="-34"/>
              </a:rPr>
              <a:t> Expected positive total returns of 15% or more over the next 3 months.</a:t>
            </a:r>
          </a:p>
        </p:txBody>
      </p:sp>
      <p:sp>
        <p:nvSpPr>
          <p:cNvPr id="40" name="TextBox 39"/>
          <p:cNvSpPr txBox="1"/>
          <p:nvPr/>
        </p:nvSpPr>
        <p:spPr>
          <a:xfrm>
            <a:off x="3403999" y="5006935"/>
            <a:ext cx="3121345" cy="1446550"/>
          </a:xfrm>
          <a:prstGeom prst="rect">
            <a:avLst/>
          </a:prstGeom>
          <a:noFill/>
        </p:spPr>
        <p:txBody>
          <a:bodyPr wrap="square" rtlCol="0">
            <a:spAutoFit/>
          </a:bodyPr>
          <a:lstStyle/>
          <a:p>
            <a:r>
              <a:rPr lang="en-US" sz="800" b="1">
                <a:solidFill>
                  <a:srgbClr val="404040"/>
                </a:solidFill>
                <a:latin typeface="BLS" pitchFamily="2" charset="-34"/>
                <a:cs typeface="BLS" pitchFamily="2" charset="-34"/>
              </a:rPr>
              <a:t>SECTOR RECOMMENDATIONS</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 </a:t>
            </a:r>
            <a:endParaRPr lang="en-US" sz="800">
              <a:solidFill>
                <a:srgbClr val="404040"/>
              </a:solidFill>
              <a:latin typeface="BLS" pitchFamily="2" charset="-34"/>
              <a:cs typeface="BLS" pitchFamily="2" charset="-34"/>
            </a:endParaRPr>
          </a:p>
          <a:p>
            <a:r>
              <a:rPr lang="en-US" sz="800" b="1">
                <a:solidFill>
                  <a:srgbClr val="404040"/>
                </a:solidFill>
                <a:latin typeface="BLS" pitchFamily="2" charset="-34"/>
                <a:cs typeface="BLS" pitchFamily="2" charset="-34"/>
              </a:rPr>
              <a:t>OVERWEIGHT:</a:t>
            </a:r>
            <a:r>
              <a:rPr lang="en-US" sz="800">
                <a:solidFill>
                  <a:srgbClr val="404040"/>
                </a:solidFill>
                <a:latin typeface="BLS" pitchFamily="2" charset="-34"/>
                <a:cs typeface="BLS" pitchFamily="2" charset="-34"/>
              </a:rPr>
              <a:t> The industry, as defined by the analyst's coverage universe, is expected to outperform the relevant primary market index over the next 12 months.</a:t>
            </a:r>
          </a:p>
          <a:p>
            <a:r>
              <a:rPr lang="en-US" sz="800" b="1">
                <a:solidFill>
                  <a:srgbClr val="404040"/>
                </a:solidFill>
                <a:latin typeface="BLS" pitchFamily="2" charset="-34"/>
                <a:cs typeface="BLS" pitchFamily="2" charset="-34"/>
              </a:rPr>
              <a:t>NEUTRAL:</a:t>
            </a:r>
            <a:r>
              <a:rPr lang="en-US" sz="800">
                <a:solidFill>
                  <a:srgbClr val="404040"/>
                </a:solidFill>
                <a:latin typeface="BLS" pitchFamily="2" charset="-34"/>
                <a:cs typeface="BLS" pitchFamily="2" charset="-34"/>
              </a:rPr>
              <a:t> The industry, as defined by the analyst's coverage universe, is expected to perform in line with the relevant primary market index over the next 12 months.</a:t>
            </a:r>
          </a:p>
          <a:p>
            <a:r>
              <a:rPr lang="en-US" sz="800" b="1">
                <a:solidFill>
                  <a:srgbClr val="404040"/>
                </a:solidFill>
                <a:latin typeface="BLS" pitchFamily="2" charset="-34"/>
                <a:cs typeface="BLS" pitchFamily="2" charset="-34"/>
              </a:rPr>
              <a:t>UNDERWEIGHT:</a:t>
            </a:r>
            <a:r>
              <a:rPr lang="en-US" sz="800">
                <a:solidFill>
                  <a:srgbClr val="404040"/>
                </a:solidFill>
                <a:latin typeface="BLS" pitchFamily="2" charset="-34"/>
                <a:cs typeface="BLS" pitchFamily="2" charset="-34"/>
              </a:rPr>
              <a:t> The industry, as defined by the analyst's coverage universe, is expected to underperform the relevant primary market index over the next 12 months.</a:t>
            </a:r>
          </a:p>
        </p:txBody>
      </p:sp>
      <p:pic>
        <p:nvPicPr>
          <p:cNvPr id="2" name="Picture 2">
            <a:extLst>
              <a:ext uri="{FF2B5EF4-FFF2-40B4-BE49-F238E27FC236}">
                <a16:creationId xmlns:a16="http://schemas.microsoft.com/office/drawing/2014/main" id="{68EBA98D-DAEB-71F6-F8D5-DDD9F3BDDDEE}"/>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490823" y="107504"/>
            <a:ext cx="731838" cy="238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 name="Straight Connector 2">
            <a:extLst>
              <a:ext uri="{FF2B5EF4-FFF2-40B4-BE49-F238E27FC236}">
                <a16:creationId xmlns:a16="http://schemas.microsoft.com/office/drawing/2014/main" id="{7E2E67D1-A25A-2469-0444-85CC17E609CB}"/>
              </a:ext>
            </a:extLst>
          </p:cNvPr>
          <p:cNvCxnSpPr/>
          <p:nvPr/>
        </p:nvCxnSpPr>
        <p:spPr>
          <a:xfrm>
            <a:off x="1254791" y="190033"/>
            <a:ext cx="0" cy="108000"/>
          </a:xfrm>
          <a:prstGeom prst="line">
            <a:avLst/>
          </a:prstGeom>
          <a:ln w="1905">
            <a:solidFill>
              <a:srgbClr val="002060"/>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8FD7DE02-ED03-5EC3-18A3-C3FFFC2FDA4D}"/>
              </a:ext>
            </a:extLst>
          </p:cNvPr>
          <p:cNvSpPr txBox="1"/>
          <p:nvPr/>
        </p:nvSpPr>
        <p:spPr>
          <a:xfrm>
            <a:off x="332656" y="30656"/>
            <a:ext cx="970575" cy="184666"/>
          </a:xfrm>
          <a:prstGeom prst="rect">
            <a:avLst/>
          </a:prstGeom>
          <a:noFill/>
        </p:spPr>
        <p:txBody>
          <a:bodyPr wrap="square">
            <a:spAutoFit/>
          </a:bodyPr>
          <a:lstStyle/>
          <a:p>
            <a:pPr algn="r"/>
            <a:r>
              <a:rPr lang="en-US" sz="600" b="1" dirty="0">
                <a:solidFill>
                  <a:srgbClr val="CCAE8A"/>
                </a:solidFill>
                <a:latin typeface="Aharoni" panose="020F0502020204030204" pitchFamily="2" charset="-79"/>
                <a:ea typeface="Tahoma" pitchFamily="34" charset="0"/>
                <a:cs typeface="Aharoni" panose="020F0502020204030204" pitchFamily="2" charset="-79"/>
              </a:rPr>
              <a:t>BLS WEALTH</a:t>
            </a:r>
            <a:endParaRPr lang="th-TH" sz="500" b="1" dirty="0">
              <a:solidFill>
                <a:srgbClr val="CCAE8A"/>
              </a:solidFill>
              <a:latin typeface="Aharoni" panose="020F0502020204030204" pitchFamily="2" charset="-79"/>
              <a:ea typeface="Tahoma" pitchFamily="34" charset="0"/>
              <a:cs typeface="BLS Condensed Bold" panose="00000800000000000000" pitchFamily="2" charset="-34"/>
            </a:endParaRPr>
          </a:p>
        </p:txBody>
      </p:sp>
      <p:sp>
        <p:nvSpPr>
          <p:cNvPr id="10" name="TextBox 9">
            <a:extLst>
              <a:ext uri="{FF2B5EF4-FFF2-40B4-BE49-F238E27FC236}">
                <a16:creationId xmlns:a16="http://schemas.microsoft.com/office/drawing/2014/main" id="{13DF9989-335C-A019-5306-81DB174F4CC4}"/>
              </a:ext>
            </a:extLst>
          </p:cNvPr>
          <p:cNvSpPr txBox="1"/>
          <p:nvPr/>
        </p:nvSpPr>
        <p:spPr>
          <a:xfrm>
            <a:off x="1207813" y="131801"/>
            <a:ext cx="1411131" cy="230832"/>
          </a:xfrm>
          <a:prstGeom prst="rect">
            <a:avLst/>
          </a:prstGeom>
          <a:noFill/>
        </p:spPr>
        <p:txBody>
          <a:bodyPr wrap="square" rtlCol="0">
            <a:spAutoFit/>
          </a:bodyPr>
          <a:lstStyle/>
          <a:p>
            <a:r>
              <a:rPr lang="en-US" sz="450" b="1" dirty="0">
                <a:solidFill>
                  <a:schemeClr val="accent3"/>
                </a:solidFill>
                <a:latin typeface="Arial" pitchFamily="34" charset="0"/>
                <a:cs typeface="Arial" pitchFamily="34" charset="0"/>
              </a:rPr>
              <a:t>Data-driven</a:t>
            </a:r>
            <a:endParaRPr lang="th-TH" sz="450" b="1" dirty="0">
              <a:solidFill>
                <a:schemeClr val="accent3"/>
              </a:solidFill>
              <a:latin typeface="Arial" pitchFamily="34" charset="0"/>
              <a:cs typeface="Arial" pitchFamily="34" charset="0"/>
            </a:endParaRPr>
          </a:p>
          <a:p>
            <a:r>
              <a:rPr lang="en-US" sz="450" b="1" dirty="0">
                <a:solidFill>
                  <a:schemeClr val="tx2"/>
                </a:solidFill>
                <a:latin typeface="Arial" pitchFamily="34" charset="0"/>
                <a:cs typeface="Arial" pitchFamily="34" charset="0"/>
              </a:rPr>
              <a:t>RESEARCH</a:t>
            </a:r>
          </a:p>
        </p:txBody>
      </p:sp>
    </p:spTree>
    <p:extLst>
      <p:ext uri="{BB962C8B-B14F-4D97-AF65-F5344CB8AC3E}">
        <p14:creationId xmlns:p14="http://schemas.microsoft.com/office/powerpoint/2010/main" val="2177988180"/>
      </p:ext>
    </p:extLst>
  </p:cSld>
  <p:clrMapOvr>
    <a:masterClrMapping/>
  </p:clrMapOvr>
</p:sld>
</file>

<file path=ppt/theme/theme1.xml><?xml version="1.0" encoding="utf-8"?>
<a:theme xmlns:a="http://schemas.openxmlformats.org/drawingml/2006/main" name="Office Theme">
  <a:themeElements>
    <a:clrScheme name="BLS">
      <a:dk1>
        <a:sysClr val="windowText" lastClr="000000"/>
      </a:dk1>
      <a:lt1>
        <a:sysClr val="window" lastClr="FFFFFF"/>
      </a:lt1>
      <a:dk2>
        <a:srgbClr val="1F497D"/>
      </a:dk2>
      <a:lt2>
        <a:srgbClr val="EEECE1"/>
      </a:lt2>
      <a:accent1>
        <a:srgbClr val="215968"/>
      </a:accent1>
      <a:accent2>
        <a:srgbClr val="A17D3D"/>
      </a:accent2>
      <a:accent3>
        <a:srgbClr val="AC1D3F"/>
      </a:accent3>
      <a:accent4>
        <a:srgbClr val="162A4C"/>
      </a:accent4>
      <a:accent5>
        <a:srgbClr val="A6A6A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147758</TotalTime>
  <Words>4172</Words>
  <Application>Microsoft Office PowerPoint</Application>
  <PresentationFormat>On-screen Show (4:3)</PresentationFormat>
  <Paragraphs>341</Paragraphs>
  <Slides>10</Slides>
  <Notes>9</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10</vt:i4>
      </vt:variant>
    </vt:vector>
  </HeadingPairs>
  <TitlesOfParts>
    <vt:vector size="21" baseType="lpstr">
      <vt:lpstr>Aharoni</vt:lpstr>
      <vt:lpstr>Arial</vt:lpstr>
      <vt:lpstr>BLS</vt:lpstr>
      <vt:lpstr>BLS Bold</vt:lpstr>
      <vt:lpstr>BLS Condensed</vt:lpstr>
      <vt:lpstr>BLS Condensed </vt:lpstr>
      <vt:lpstr>BLS Condensed Bold</vt:lpstr>
      <vt:lpstr>BLS Text</vt:lpstr>
      <vt:lpstr>Calibri</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sfsdfds</dc:title>
  <dc:creator>Nuttimas Akarapanuvitaya</dc:creator>
  <cp:lastModifiedBy>Piriyapon Kongvanich</cp:lastModifiedBy>
  <cp:revision>4792</cp:revision>
  <cp:lastPrinted>2024-11-19T12:54:25Z</cp:lastPrinted>
  <dcterms:created xsi:type="dcterms:W3CDTF">2019-01-16T11:18:39Z</dcterms:created>
  <dcterms:modified xsi:type="dcterms:W3CDTF">2026-04-06T04:39:56Z</dcterms:modified>
</cp:coreProperties>
</file>