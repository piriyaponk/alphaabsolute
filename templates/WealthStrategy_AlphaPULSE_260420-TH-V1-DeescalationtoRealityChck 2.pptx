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
  </p:notesMasterIdLst>
  <p:sldIdLst>
    <p:sldId id="410" r:id="rId2"/>
    <p:sldId id="569" r:id="rId3"/>
    <p:sldId id="353" r:id="rId4"/>
    <p:sldId id="354" r:id="rId5"/>
  </p:sldIdLst>
  <p:sldSz cx="6858000" cy="9144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20" userDrawn="1">
          <p15:clr>
            <a:srgbClr val="A4A3A4"/>
          </p15:clr>
        </p15:guide>
        <p15:guide id="2" pos="216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5968"/>
    <a:srgbClr val="EDEDED"/>
    <a:srgbClr val="FFCCCC"/>
    <a:srgbClr val="A17D3D"/>
    <a:srgbClr val="F2F2F2"/>
    <a:srgbClr val="AC1D3F"/>
    <a:srgbClr val="1C3765"/>
    <a:srgbClr val="A6A6A6"/>
    <a:srgbClr val="162A4C"/>
    <a:srgbClr val="2D7A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14" autoAdjust="0"/>
    <p:restoredTop sz="96357" autoAdjust="0"/>
  </p:normalViewPr>
  <p:slideViewPr>
    <p:cSldViewPr>
      <p:cViewPr varScale="1">
        <p:scale>
          <a:sx n="83" d="100"/>
          <a:sy n="83" d="100"/>
        </p:scale>
        <p:origin x="1416" y="96"/>
      </p:cViewPr>
      <p:guideLst>
        <p:guide orient="horz" pos="5420"/>
        <p:guide pos="2160"/>
      </p:guideLst>
    </p:cSldViewPr>
  </p:slideViewPr>
  <p:notesTextViewPr>
    <p:cViewPr>
      <p:scale>
        <a:sx n="150" d="100"/>
        <a:sy n="150" d="100"/>
      </p:scale>
      <p:origin x="0" y="0"/>
    </p:cViewPr>
  </p:notesTextViewPr>
  <p:notesViewPr>
    <p:cSldViewPr>
      <p:cViewPr varScale="1">
        <p:scale>
          <a:sx n="75" d="100"/>
          <a:sy n="75" d="100"/>
        </p:scale>
        <p:origin x="-4020" y="-8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6"/>
            <a:ext cx="2949533" cy="496427"/>
          </a:xfrm>
          <a:prstGeom prst="rect">
            <a:avLst/>
          </a:prstGeom>
        </p:spPr>
        <p:txBody>
          <a:bodyPr vert="horz" lIns="88249" tIns="44125" rIns="88249" bIns="44125" rtlCol="0"/>
          <a:lstStyle>
            <a:lvl1pPr algn="l">
              <a:defRPr sz="1200"/>
            </a:lvl1pPr>
          </a:lstStyle>
          <a:p>
            <a:endParaRPr lang="en-US"/>
          </a:p>
        </p:txBody>
      </p:sp>
      <p:sp>
        <p:nvSpPr>
          <p:cNvPr id="3" name="Date Placeholder 2"/>
          <p:cNvSpPr>
            <a:spLocks noGrp="1"/>
          </p:cNvSpPr>
          <p:nvPr>
            <p:ph type="dt" idx="1"/>
          </p:nvPr>
        </p:nvSpPr>
        <p:spPr>
          <a:xfrm>
            <a:off x="3856146" y="6"/>
            <a:ext cx="2949532" cy="496427"/>
          </a:xfrm>
          <a:prstGeom prst="rect">
            <a:avLst/>
          </a:prstGeom>
        </p:spPr>
        <p:txBody>
          <a:bodyPr vert="horz" lIns="88249" tIns="44125" rIns="88249" bIns="44125" rtlCol="0"/>
          <a:lstStyle>
            <a:lvl1pPr algn="r">
              <a:defRPr sz="1200"/>
            </a:lvl1pPr>
          </a:lstStyle>
          <a:p>
            <a:fld id="{E0B721B7-C9AF-4FEC-A17C-5AA640F24497}" type="datetimeFigureOut">
              <a:rPr lang="en-US" smtClean="0"/>
              <a:t>19-Apr-26</a:t>
            </a:fld>
            <a:endParaRPr lang="en-US"/>
          </a:p>
        </p:txBody>
      </p:sp>
      <p:sp>
        <p:nvSpPr>
          <p:cNvPr id="4" name="Slide Image Placeholder 3"/>
          <p:cNvSpPr>
            <a:spLocks noGrp="1" noRot="1" noChangeAspect="1"/>
          </p:cNvSpPr>
          <p:nvPr>
            <p:ph type="sldImg" idx="2"/>
          </p:nvPr>
        </p:nvSpPr>
        <p:spPr>
          <a:xfrm>
            <a:off x="2006600" y="746125"/>
            <a:ext cx="2794000" cy="3725863"/>
          </a:xfrm>
          <a:prstGeom prst="rect">
            <a:avLst/>
          </a:prstGeom>
          <a:noFill/>
          <a:ln w="12700">
            <a:solidFill>
              <a:prstClr val="black"/>
            </a:solidFill>
          </a:ln>
        </p:spPr>
        <p:txBody>
          <a:bodyPr vert="horz" lIns="88249" tIns="44125" rIns="88249" bIns="44125" rtlCol="0" anchor="ctr"/>
          <a:lstStyle/>
          <a:p>
            <a:endParaRPr lang="en-US"/>
          </a:p>
        </p:txBody>
      </p:sp>
      <p:sp>
        <p:nvSpPr>
          <p:cNvPr id="5" name="Notes Placeholder 4"/>
          <p:cNvSpPr>
            <a:spLocks noGrp="1"/>
          </p:cNvSpPr>
          <p:nvPr>
            <p:ph type="body" sz="quarter" idx="3"/>
          </p:nvPr>
        </p:nvSpPr>
        <p:spPr>
          <a:xfrm>
            <a:off x="681480" y="4720684"/>
            <a:ext cx="5445760" cy="4472471"/>
          </a:xfrm>
          <a:prstGeom prst="rect">
            <a:avLst/>
          </a:prstGeom>
        </p:spPr>
        <p:txBody>
          <a:bodyPr vert="horz" lIns="88249" tIns="44125" rIns="88249" bIns="441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441374"/>
            <a:ext cx="2949533" cy="496427"/>
          </a:xfrm>
          <a:prstGeom prst="rect">
            <a:avLst/>
          </a:prstGeom>
        </p:spPr>
        <p:txBody>
          <a:bodyPr vert="horz" lIns="88249" tIns="44125" rIns="88249" bIns="44125" rtlCol="0" anchor="b"/>
          <a:lstStyle>
            <a:lvl1pPr algn="l">
              <a:defRPr sz="1200"/>
            </a:lvl1pPr>
          </a:lstStyle>
          <a:p>
            <a:endParaRPr lang="en-US"/>
          </a:p>
        </p:txBody>
      </p:sp>
      <p:sp>
        <p:nvSpPr>
          <p:cNvPr id="7" name="Slide Number Placeholder 6"/>
          <p:cNvSpPr>
            <a:spLocks noGrp="1"/>
          </p:cNvSpPr>
          <p:nvPr>
            <p:ph type="sldNum" sz="quarter" idx="5"/>
          </p:nvPr>
        </p:nvSpPr>
        <p:spPr>
          <a:xfrm>
            <a:off x="3856146" y="9441374"/>
            <a:ext cx="2949532" cy="496427"/>
          </a:xfrm>
          <a:prstGeom prst="rect">
            <a:avLst/>
          </a:prstGeom>
        </p:spPr>
        <p:txBody>
          <a:bodyPr vert="horz" lIns="88249" tIns="44125" rIns="88249" bIns="44125" rtlCol="0" anchor="b"/>
          <a:lstStyle>
            <a:lvl1pPr algn="r">
              <a:defRPr sz="1200"/>
            </a:lvl1pPr>
          </a:lstStyle>
          <a:p>
            <a:fld id="{2CD61325-C3CE-4DCC-9429-B8D45AC53B9F}" type="slidenum">
              <a:rPr lang="en-US" smtClean="0"/>
              <a:t>‹#›</a:t>
            </a:fld>
            <a:endParaRPr lang="en-US"/>
          </a:p>
        </p:txBody>
      </p:sp>
    </p:spTree>
    <p:extLst>
      <p:ext uri="{BB962C8B-B14F-4D97-AF65-F5344CB8AC3E}">
        <p14:creationId xmlns:p14="http://schemas.microsoft.com/office/powerpoint/2010/main" val="10008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1</a:t>
            </a:fld>
            <a:endParaRPr lang="en-US"/>
          </a:p>
        </p:txBody>
      </p:sp>
    </p:spTree>
    <p:extLst>
      <p:ext uri="{BB962C8B-B14F-4D97-AF65-F5344CB8AC3E}">
        <p14:creationId xmlns:p14="http://schemas.microsoft.com/office/powerpoint/2010/main" val="301543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2</a:t>
            </a:fld>
            <a:endParaRPr lang="en-US"/>
          </a:p>
        </p:txBody>
      </p:sp>
    </p:spTree>
    <p:extLst>
      <p:ext uri="{BB962C8B-B14F-4D97-AF65-F5344CB8AC3E}">
        <p14:creationId xmlns:p14="http://schemas.microsoft.com/office/powerpoint/2010/main" val="916853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61325-C3CE-4DCC-9429-B8D45AC53B9F}" type="slidenum">
              <a:rPr lang="en-US" smtClean="0"/>
              <a:t>3</a:t>
            </a:fld>
            <a:endParaRPr lang="en-US"/>
          </a:p>
        </p:txBody>
      </p:sp>
    </p:spTree>
    <p:extLst>
      <p:ext uri="{BB962C8B-B14F-4D97-AF65-F5344CB8AC3E}">
        <p14:creationId xmlns:p14="http://schemas.microsoft.com/office/powerpoint/2010/main" val="83720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47A014-A296-4BC7-B627-8AC2C71DC79A}" type="datetime1">
              <a:rPr lang="en-US" smtClean="0"/>
              <a:t>19-Apr-26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5813307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DB215-8979-4C4B-8BFF-594D56AA267D}" type="datetime1">
              <a:rPr lang="en-US" smtClean="0"/>
              <a:t>19-Apr-26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975940730"/>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DC7C3-8DAC-42B5-992E-67718E4C44E5}" type="datetime1">
              <a:rPr lang="en-US" smtClean="0"/>
              <a:t>19-Apr-26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83853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22C08-459E-4CD8-B5EB-31D4A04C5811}" type="datetime1">
              <a:rPr lang="en-US" smtClean="0"/>
              <a:t>19-Apr-26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348761962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2B8B4D-A61B-4297-B86B-E166B5F5EE8D}" type="datetime1">
              <a:rPr lang="en-US" smtClean="0"/>
              <a:t>19-Apr-26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63373745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1687B9-2387-4B48-9744-8FAC5A1118EE}" type="datetime1">
              <a:rPr lang="en-US" smtClean="0"/>
              <a:t>19-Apr-26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19670914"/>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5B9114-7087-471F-AF84-A0410930461A}" type="datetime1">
              <a:rPr lang="en-US" smtClean="0"/>
              <a:t>19-Apr-26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8396679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0D1AB-4ECA-4B83-BD72-A342722AC28A}" type="datetime1">
              <a:rPr lang="en-US" smtClean="0"/>
              <a:t>19-Apr-26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544862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E8CDB0-7FCC-4FCC-8459-EB9C4EEE4A94}" type="datetime1">
              <a:rPr lang="en-US" smtClean="0"/>
              <a:t>19-Apr-26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74542708"/>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88985-0A44-49F4-87FE-C728C8ADB646}" type="datetime1">
              <a:rPr lang="en-US" smtClean="0"/>
              <a:t>19-Apr-26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37131110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488951"/>
            <a:ext cx="1157288" cy="10401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488951"/>
            <a:ext cx="3357563" cy="10401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6D9C90-B8D6-4F33-9BC1-9F057637A2EC}" type="datetime1">
              <a:rPr lang="en-US" smtClean="0"/>
              <a:t>19-Apr-26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97748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0A8762D2-009C-48A5-857B-14D015A0005E}" type="datetime1">
              <a:rPr lang="en-US" smtClean="0"/>
              <a:t>19-Apr-26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0452F14-DDA8-46AC-9FFA-A749C5B763D3}" type="slidenum">
              <a:rPr lang="en-US" smtClean="0"/>
              <a:t>‹#›</a:t>
            </a:fld>
            <a:endParaRPr lang="en-US"/>
          </a:p>
        </p:txBody>
      </p:sp>
      <p:sp>
        <p:nvSpPr>
          <p:cNvPr id="7" name="TextBox 6">
            <a:extLst>
              <a:ext uri="{FF2B5EF4-FFF2-40B4-BE49-F238E27FC236}">
                <a16:creationId xmlns:a16="http://schemas.microsoft.com/office/drawing/2014/main" id="{5A981C10-AEFA-B2EB-219B-8A42B27A49D4}"/>
              </a:ext>
            </a:extLst>
          </p:cNvPr>
          <p:cNvSpPr txBox="1"/>
          <p:nvPr userDrawn="1"/>
        </p:nvSpPr>
        <p:spPr>
          <a:xfrm>
            <a:off x="5373216" y="8821052"/>
            <a:ext cx="1440160" cy="215444"/>
          </a:xfrm>
          <a:prstGeom prst="rect">
            <a:avLst/>
          </a:prstGeom>
          <a:noFill/>
        </p:spPr>
        <p:txBody>
          <a:bodyPr wrap="square">
            <a:spAutoFit/>
          </a:bodyPr>
          <a:lstStyle/>
          <a:p>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Wealth Strategy </a:t>
            </a:r>
            <a:fld id="{10452F14-DDA8-46AC-9FFA-A749C5B763D3}" type="slidenum">
              <a:rPr lang="en-US" sz="800" b="0" smtClean="0">
                <a:solidFill>
                  <a:schemeClr val="bg1">
                    <a:lumMod val="50000"/>
                  </a:schemeClr>
                </a:solidFill>
                <a:latin typeface="Arial" panose="020B0604020202020204" pitchFamily="34" charset="0"/>
                <a:cs typeface="Arial" panose="020B0604020202020204" pitchFamily="34" charset="0"/>
              </a:rPr>
              <a:pPr/>
              <a:t>‹#›</a:t>
            </a:fld>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endParaRPr lang="en-US" sz="800" b="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198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emf"/></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3959"/>
          <a:stretch/>
        </p:blipFill>
        <p:spPr>
          <a:xfrm>
            <a:off x="0" y="0"/>
            <a:ext cx="6858000" cy="9144000"/>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49508"/>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41334"/>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26" name="TextBox 25">
            <a:extLst>
              <a:ext uri="{FF2B5EF4-FFF2-40B4-BE49-F238E27FC236}">
                <a16:creationId xmlns:a16="http://schemas.microsoft.com/office/drawing/2014/main" id="{5999F6F0-82E9-12DE-4CF8-661B374D7BDF}"/>
              </a:ext>
            </a:extLst>
          </p:cNvPr>
          <p:cNvSpPr txBox="1"/>
          <p:nvPr/>
        </p:nvSpPr>
        <p:spPr>
          <a:xfrm>
            <a:off x="3212976"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8 ก.พ.</a:t>
            </a:r>
          </a:p>
        </p:txBody>
      </p:sp>
      <p:sp>
        <p:nvSpPr>
          <p:cNvPr id="27" name="TextBox 26">
            <a:extLst>
              <a:ext uri="{FF2B5EF4-FFF2-40B4-BE49-F238E27FC236}">
                <a16:creationId xmlns:a16="http://schemas.microsoft.com/office/drawing/2014/main" id="{F8D73585-35FB-F0D5-2763-F6BB3312E8F0}"/>
              </a:ext>
            </a:extLst>
          </p:cNvPr>
          <p:cNvSpPr txBox="1"/>
          <p:nvPr/>
        </p:nvSpPr>
        <p:spPr>
          <a:xfrm>
            <a:off x="3872662" y="2653338"/>
            <a:ext cx="878577"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มี.ค.- ต้น เม.ย.</a:t>
            </a:r>
          </a:p>
        </p:txBody>
      </p:sp>
      <p:sp>
        <p:nvSpPr>
          <p:cNvPr id="28" name="TextBox 27">
            <a:extLst>
              <a:ext uri="{FF2B5EF4-FFF2-40B4-BE49-F238E27FC236}">
                <a16:creationId xmlns:a16="http://schemas.microsoft.com/office/drawing/2014/main" id="{4CEC07A3-D6A0-E1B2-370E-DB8B4F43D9B9}"/>
              </a:ext>
            </a:extLst>
          </p:cNvPr>
          <p:cNvSpPr txBox="1"/>
          <p:nvPr/>
        </p:nvSpPr>
        <p:spPr>
          <a:xfrm>
            <a:off x="4731749" y="2655699"/>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เม.ย.</a:t>
            </a:r>
          </a:p>
        </p:txBody>
      </p:sp>
      <p:sp>
        <p:nvSpPr>
          <p:cNvPr id="29" name="TextBox 28">
            <a:extLst>
              <a:ext uri="{FF2B5EF4-FFF2-40B4-BE49-F238E27FC236}">
                <a16:creationId xmlns:a16="http://schemas.microsoft.com/office/drawing/2014/main" id="{3010FF72-72AB-A1E4-8365-3636CBE05B6A}"/>
              </a:ext>
            </a:extLst>
          </p:cNvPr>
          <p:cNvSpPr txBox="1"/>
          <p:nvPr/>
        </p:nvSpPr>
        <p:spPr>
          <a:xfrm>
            <a:off x="5511409" y="2649965"/>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41334"/>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37439"/>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4" name="TextBox 33">
            <a:extLst>
              <a:ext uri="{FF2B5EF4-FFF2-40B4-BE49-F238E27FC236}">
                <a16:creationId xmlns:a16="http://schemas.microsoft.com/office/drawing/2014/main" id="{7E062017-FAEE-96BF-D26F-89DCC0880C8E}"/>
              </a:ext>
            </a:extLst>
          </p:cNvPr>
          <p:cNvSpPr txBox="1"/>
          <p:nvPr/>
        </p:nvSpPr>
        <p:spPr>
          <a:xfrm>
            <a:off x="3072457" y="2661863"/>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เลือกตั้ง</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67080"/>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5808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38" name="TextBox 37">
            <a:extLst>
              <a:ext uri="{FF2B5EF4-FFF2-40B4-BE49-F238E27FC236}">
                <a16:creationId xmlns:a16="http://schemas.microsoft.com/office/drawing/2014/main" id="{BFC4648D-0610-3B7B-438F-BDB5A8586805}"/>
              </a:ext>
            </a:extLst>
          </p:cNvPr>
          <p:cNvSpPr txBox="1"/>
          <p:nvPr/>
        </p:nvSpPr>
        <p:spPr>
          <a:xfrm>
            <a:off x="5509560" y="2658083"/>
            <a:ext cx="1125089"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รัฐบาลใหม่</a:t>
            </a:r>
          </a:p>
        </p:txBody>
      </p:sp>
      <p:sp>
        <p:nvSpPr>
          <p:cNvPr id="24" name="TextBox 23">
            <a:extLst>
              <a:ext uri="{FF2B5EF4-FFF2-40B4-BE49-F238E27FC236}">
                <a16:creationId xmlns:a16="http://schemas.microsoft.com/office/drawing/2014/main" id="{8C8CCC20-1C5E-6125-6A36-E7FC910AC4BE}"/>
              </a:ext>
            </a:extLst>
          </p:cNvPr>
          <p:cNvSpPr txBox="1"/>
          <p:nvPr/>
        </p:nvSpPr>
        <p:spPr>
          <a:xfrm>
            <a:off x="5517232" y="454697"/>
            <a:ext cx="1196244" cy="246221"/>
          </a:xfrm>
          <a:prstGeom prst="rect">
            <a:avLst/>
          </a:prstGeom>
          <a:noFill/>
        </p:spPr>
        <p:txBody>
          <a:bodyPr wrap="square" rtlCol="0">
            <a:spAutoFit/>
          </a:bodyPr>
          <a:lstStyle/>
          <a:p>
            <a:r>
              <a:rPr lang="en-US" sz="1000" b="1" dirty="0">
                <a:solidFill>
                  <a:schemeClr val="tx2"/>
                </a:solidFill>
                <a:latin typeface="BLS Bold" panose="00000800000000000000" pitchFamily="50" charset="-34"/>
                <a:cs typeface="BLS Bold" panose="00000800000000000000" pitchFamily="50" charset="-34"/>
              </a:rPr>
              <a:t>April </a:t>
            </a:r>
            <a:r>
              <a:rPr lang="th-TH" sz="1000" b="1" dirty="0">
                <a:solidFill>
                  <a:schemeClr val="tx2"/>
                </a:solidFill>
                <a:latin typeface="BLS Bold" panose="00000800000000000000" pitchFamily="50" charset="-34"/>
                <a:cs typeface="BLS Bold" panose="00000800000000000000" pitchFamily="50" charset="-34"/>
              </a:rPr>
              <a:t>20</a:t>
            </a:r>
            <a:r>
              <a:rPr lang="en-US" sz="1000" b="1" dirty="0">
                <a:solidFill>
                  <a:schemeClr val="tx2"/>
                </a:solidFill>
                <a:latin typeface="BLS Bold" panose="00000800000000000000" pitchFamily="50" charset="-34"/>
                <a:cs typeface="BLS Bold" panose="00000800000000000000" pitchFamily="50" charset="-34"/>
              </a:rPr>
              <a:t>, 2026</a:t>
            </a:r>
          </a:p>
        </p:txBody>
      </p:sp>
      <p:pic>
        <p:nvPicPr>
          <p:cNvPr id="40" name="Picture 2">
            <a:extLst>
              <a:ext uri="{FF2B5EF4-FFF2-40B4-BE49-F238E27FC236}">
                <a16:creationId xmlns:a16="http://schemas.microsoft.com/office/drawing/2014/main" id="{D40CF1FE-6670-0F86-7CBF-4A474C22E170}"/>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218" y="194588"/>
            <a:ext cx="17256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41">
            <a:extLst>
              <a:ext uri="{FF2B5EF4-FFF2-40B4-BE49-F238E27FC236}">
                <a16:creationId xmlns:a16="http://schemas.microsoft.com/office/drawing/2014/main" id="{E1F831D5-46CB-EB78-341D-EACF1E4B4898}"/>
              </a:ext>
            </a:extLst>
          </p:cNvPr>
          <p:cNvSpPr txBox="1"/>
          <p:nvPr/>
        </p:nvSpPr>
        <p:spPr>
          <a:xfrm>
            <a:off x="1162281" y="138550"/>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44" name="TextBox 43">
            <a:extLst>
              <a:ext uri="{FF2B5EF4-FFF2-40B4-BE49-F238E27FC236}">
                <a16:creationId xmlns:a16="http://schemas.microsoft.com/office/drawing/2014/main" id="{7D94CCD9-3CD7-7EBD-08D1-4EDC6069CD8F}"/>
              </a:ext>
            </a:extLst>
          </p:cNvPr>
          <p:cNvSpPr txBox="1"/>
          <p:nvPr/>
        </p:nvSpPr>
        <p:spPr>
          <a:xfrm>
            <a:off x="259758" y="539552"/>
            <a:ext cx="4825426" cy="1015663"/>
          </a:xfrm>
          <a:prstGeom prst="rect">
            <a:avLst/>
          </a:prstGeom>
          <a:noFill/>
        </p:spPr>
        <p:txBody>
          <a:bodyPr wrap="square" rtlCol="0">
            <a:spAutoFit/>
          </a:bodyPr>
          <a:lstStyle/>
          <a:p>
            <a:r>
              <a:rPr lang="el-GR" sz="6000" dirty="0">
                <a:solidFill>
                  <a:schemeClr val="accent3">
                    <a:lumMod val="75000"/>
                  </a:schemeClr>
                </a:solidFill>
                <a:latin typeface="BLS Condensed Bold" pitchFamily="2" charset="-34"/>
                <a:ea typeface="Tahoma" pitchFamily="34" charset="0"/>
                <a:cs typeface="BLS Condensed Bold" pitchFamily="2" charset="-34"/>
              </a:rPr>
              <a:t>α</a:t>
            </a:r>
            <a:r>
              <a:rPr lang="en-US" sz="3600" dirty="0" err="1">
                <a:latin typeface="BLS Condensed Bold" pitchFamily="2" charset="-34"/>
                <a:ea typeface="Tahoma" pitchFamily="34" charset="0"/>
                <a:cs typeface="BLS Condensed Bold" pitchFamily="2" charset="-34"/>
              </a:rPr>
              <a:t>lpha</a:t>
            </a:r>
            <a:r>
              <a:rPr lang="en-US" sz="3600" dirty="0">
                <a:latin typeface="BLS Condensed Bold" pitchFamily="2" charset="-34"/>
                <a:ea typeface="Tahoma" pitchFamily="34" charset="0"/>
                <a:cs typeface="BLS Condensed Bold" pitchFamily="2" charset="-34"/>
              </a:rPr>
              <a:t> </a:t>
            </a:r>
            <a:r>
              <a:rPr lang="en-US" sz="3200" dirty="0">
                <a:latin typeface="BLS Condensed Bold" pitchFamily="2" charset="-34"/>
                <a:ea typeface="Tahoma" pitchFamily="34" charset="0"/>
                <a:cs typeface="BLS Condensed Bold" pitchFamily="2" charset="-34"/>
              </a:rPr>
              <a:t>PULSE </a:t>
            </a:r>
            <a:r>
              <a:rPr lang="en-US" sz="2800" b="1" dirty="0">
                <a:solidFill>
                  <a:schemeClr val="tx1">
                    <a:lumMod val="65000"/>
                    <a:lumOff val="35000"/>
                  </a:schemeClr>
                </a:solidFill>
                <a:latin typeface="BLS Condensed "/>
                <a:ea typeface="Tahoma" pitchFamily="34" charset="0"/>
                <a:cs typeface="BLS Condensed Bold" pitchFamily="2" charset="-34"/>
              </a:rPr>
              <a:t>|</a:t>
            </a:r>
            <a:r>
              <a:rPr lang="en-GB" sz="3000" dirty="0">
                <a:solidFill>
                  <a:srgbClr val="DB002A"/>
                </a:solidFill>
                <a:latin typeface="BLS Condensed Bold" pitchFamily="2" charset="-34"/>
                <a:ea typeface="Tahoma" pitchFamily="34" charset="0"/>
                <a:cs typeface="BLS Condensed Bold" pitchFamily="2" charset="-34"/>
              </a:rPr>
              <a:t> </a:t>
            </a:r>
            <a:r>
              <a:rPr lang="en-US" sz="2400" dirty="0">
                <a:solidFill>
                  <a:schemeClr val="bg1">
                    <a:lumMod val="50000"/>
                  </a:schemeClr>
                </a:solidFill>
                <a:latin typeface="BLS Condensed Bold" pitchFamily="2" charset="-34"/>
                <a:ea typeface="Tahoma" pitchFamily="34" charset="0"/>
                <a:cs typeface="BLS Condensed Bold" pitchFamily="2" charset="-34"/>
              </a:rPr>
              <a:t>W</a:t>
            </a:r>
            <a:r>
              <a:rPr lang="en-GB" sz="2400" dirty="0" err="1">
                <a:solidFill>
                  <a:schemeClr val="bg1">
                    <a:lumMod val="50000"/>
                  </a:schemeClr>
                </a:solidFill>
                <a:latin typeface="BLS Condensed Bold" pitchFamily="2" charset="-34"/>
                <a:ea typeface="Tahoma" pitchFamily="34" charset="0"/>
                <a:cs typeface="BLS Condensed Bold" pitchFamily="2" charset="-34"/>
              </a:rPr>
              <a:t>eekly</a:t>
            </a:r>
            <a:r>
              <a:rPr lang="en-GB" sz="2400" dirty="0">
                <a:solidFill>
                  <a:schemeClr val="bg1">
                    <a:lumMod val="50000"/>
                  </a:schemeClr>
                </a:solidFill>
                <a:latin typeface="BLS Condensed Bold" pitchFamily="2" charset="-34"/>
                <a:ea typeface="Tahoma" pitchFamily="34" charset="0"/>
                <a:cs typeface="BLS Condensed Bold" pitchFamily="2" charset="-34"/>
              </a:rPr>
              <a:t> strategy</a:t>
            </a:r>
            <a:endParaRPr lang="en-GB" sz="2000" dirty="0">
              <a:solidFill>
                <a:schemeClr val="bg1">
                  <a:lumMod val="50000"/>
                </a:schemeClr>
              </a:solidFill>
              <a:latin typeface="BLS Condensed Bold" pitchFamily="2" charset="-34"/>
              <a:ea typeface="Tahoma" pitchFamily="34" charset="0"/>
              <a:cs typeface="BLS Condensed Bold" pitchFamily="2" charset="-34"/>
            </a:endParaRPr>
          </a:p>
        </p:txBody>
      </p:sp>
      <p:sp>
        <p:nvSpPr>
          <p:cNvPr id="45" name="TextBox 44">
            <a:extLst>
              <a:ext uri="{FF2B5EF4-FFF2-40B4-BE49-F238E27FC236}">
                <a16:creationId xmlns:a16="http://schemas.microsoft.com/office/drawing/2014/main" id="{EDDE772F-3591-A6B2-8675-AD72CCBF567B}"/>
              </a:ext>
            </a:extLst>
          </p:cNvPr>
          <p:cNvSpPr txBox="1"/>
          <p:nvPr/>
        </p:nvSpPr>
        <p:spPr>
          <a:xfrm>
            <a:off x="106587" y="1450975"/>
            <a:ext cx="6751414" cy="330860"/>
          </a:xfrm>
          <a:prstGeom prst="rect">
            <a:avLst/>
          </a:prstGeom>
          <a:noFill/>
          <a:ln>
            <a:noFill/>
          </a:ln>
        </p:spPr>
        <p:txBody>
          <a:bodyPr wrap="square" rtlCol="0">
            <a:spAutoFit/>
          </a:bodyPr>
          <a:lstStyle/>
          <a:p>
            <a:r>
              <a:rPr lang="en-US" altLang="en-US" sz="1550" b="1" dirty="0">
                <a:solidFill>
                  <a:schemeClr val="tx2"/>
                </a:solidFill>
                <a:latin typeface="BLS Condensed" pitchFamily="2" charset="-34"/>
                <a:ea typeface="Tahoma" pitchFamily="34" charset="0"/>
                <a:cs typeface="BLS Condensed" pitchFamily="2" charset="-34"/>
              </a:rPr>
              <a:t>Earnings season alpha amid rising cost pressures</a:t>
            </a:r>
            <a:r>
              <a:rPr lang="th-TH" altLang="en-US" sz="1550" b="1" dirty="0">
                <a:solidFill>
                  <a:schemeClr val="tx2"/>
                </a:solidFill>
                <a:latin typeface="BLS Condensed" pitchFamily="2" charset="-34"/>
                <a:ea typeface="Tahoma" pitchFamily="34" charset="0"/>
                <a:cs typeface="BLS Condensed" pitchFamily="2" charset="-34"/>
              </a:rPr>
              <a:t> </a:t>
            </a:r>
            <a:r>
              <a:rPr lang="en-US" altLang="en-US" sz="1550" b="1" dirty="0">
                <a:solidFill>
                  <a:schemeClr val="tx2"/>
                </a:solidFill>
                <a:latin typeface="BLS Condensed" pitchFamily="2" charset="-34"/>
                <a:ea typeface="Tahoma" pitchFamily="34" charset="0"/>
                <a:cs typeface="BLS Condensed" pitchFamily="2" charset="-34"/>
              </a:rPr>
              <a:t>|</a:t>
            </a:r>
            <a:r>
              <a:rPr lang="th-TH" altLang="en-US" sz="1550" b="1" dirty="0">
                <a:solidFill>
                  <a:schemeClr val="tx2"/>
                </a:solidFill>
                <a:latin typeface="BLS Condensed" pitchFamily="2" charset="-34"/>
                <a:ea typeface="Tahoma" pitchFamily="34" charset="0"/>
                <a:cs typeface="BLS Condensed" pitchFamily="2" charset="-34"/>
              </a:rPr>
              <a:t> โอกาสจากฤดูงบท่ามกลางแรงกดดันต้นทุน</a:t>
            </a:r>
            <a:endParaRPr lang="en-US" altLang="en-US" sz="1550" b="1" dirty="0">
              <a:solidFill>
                <a:schemeClr val="tx2"/>
              </a:solidFill>
              <a:latin typeface="BLS Condensed" pitchFamily="2" charset="-34"/>
              <a:ea typeface="Tahoma" pitchFamily="34" charset="0"/>
              <a:cs typeface="BLS Condensed" pitchFamily="2" charset="-34"/>
            </a:endParaRPr>
          </a:p>
        </p:txBody>
      </p:sp>
      <p:sp>
        <p:nvSpPr>
          <p:cNvPr id="49" name="TextBox 48">
            <a:extLst>
              <a:ext uri="{FF2B5EF4-FFF2-40B4-BE49-F238E27FC236}">
                <a16:creationId xmlns:a16="http://schemas.microsoft.com/office/drawing/2014/main" id="{5CFB5291-3F9E-F04A-57ED-EC8540FF0A70}"/>
              </a:ext>
            </a:extLst>
          </p:cNvPr>
          <p:cNvSpPr txBox="1"/>
          <p:nvPr/>
        </p:nvSpPr>
        <p:spPr>
          <a:xfrm>
            <a:off x="4039911" y="1838921"/>
            <a:ext cx="2848745" cy="246221"/>
          </a:xfrm>
          <a:prstGeom prst="rect">
            <a:avLst/>
          </a:prstGeom>
          <a:noFill/>
        </p:spPr>
        <p:txBody>
          <a:bodyPr wrap="square" rtlCol="0">
            <a:spAutoFit/>
          </a:bodyPr>
          <a:lstStyle/>
          <a:p>
            <a:r>
              <a:rPr lang="en-US" sz="1000" b="1" dirty="0">
                <a:solidFill>
                  <a:schemeClr val="tx2"/>
                </a:solidFill>
                <a:latin typeface="BLS Bold" panose="00000800000000000000" pitchFamily="2" charset="-34"/>
                <a:cs typeface="BLS Bold" panose="00000800000000000000" pitchFamily="2" charset="-34"/>
              </a:rPr>
              <a:t>SET target: 15</a:t>
            </a:r>
            <a:r>
              <a:rPr lang="th-TH" sz="1000" b="1" dirty="0">
                <a:solidFill>
                  <a:schemeClr val="tx2"/>
                </a:solidFill>
                <a:latin typeface="BLS Bold" panose="00000800000000000000" pitchFamily="2" charset="-34"/>
                <a:cs typeface="BLS Bold" panose="00000800000000000000" pitchFamily="2" charset="-34"/>
              </a:rPr>
              <a:t>5</a:t>
            </a:r>
            <a:r>
              <a:rPr lang="en-US" sz="1000" b="1" dirty="0">
                <a:solidFill>
                  <a:schemeClr val="tx2"/>
                </a:solidFill>
                <a:latin typeface="BLS Bold" panose="00000800000000000000" pitchFamily="2" charset="-34"/>
                <a:cs typeface="BLS Bold" panose="00000800000000000000" pitchFamily="2" charset="-34"/>
              </a:rPr>
              <a:t>0</a:t>
            </a:r>
          </a:p>
        </p:txBody>
      </p:sp>
      <p:cxnSp>
        <p:nvCxnSpPr>
          <p:cNvPr id="51" name="Straight Connector 50">
            <a:extLst>
              <a:ext uri="{FF2B5EF4-FFF2-40B4-BE49-F238E27FC236}">
                <a16:creationId xmlns:a16="http://schemas.microsoft.com/office/drawing/2014/main" id="{AA859AB4-FEB7-E719-3157-D4109949119E}"/>
              </a:ext>
            </a:extLst>
          </p:cNvPr>
          <p:cNvCxnSpPr>
            <a:cxnSpLocks/>
          </p:cNvCxnSpPr>
          <p:nvPr/>
        </p:nvCxnSpPr>
        <p:spPr>
          <a:xfrm>
            <a:off x="4008212" y="2092837"/>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CD14692-5E72-A147-72A0-450B7B453809}"/>
              </a:ext>
            </a:extLst>
          </p:cNvPr>
          <p:cNvSpPr txBox="1"/>
          <p:nvPr/>
        </p:nvSpPr>
        <p:spPr>
          <a:xfrm>
            <a:off x="4018706" y="2073840"/>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Weekly PULSE:</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59779"/>
            <a:ext cx="3711820" cy="7115281"/>
          </a:xfrm>
          <a:prstGeom prst="rect">
            <a:avLst/>
          </a:prstGeom>
          <a:solidFill>
            <a:schemeClr val="accent5">
              <a:lumMod val="20000"/>
              <a:lumOff val="80000"/>
            </a:schemeClr>
          </a:solidFill>
          <a:ln>
            <a:noFill/>
          </a:ln>
        </p:spPr>
        <p:txBody>
          <a:bodyPr wrap="square" rtlCol="0">
            <a:spAutoFit/>
          </a:bodyPr>
          <a:lstStyle/>
          <a:p>
            <a:pPr algn="thaiDist">
              <a:lnSpc>
                <a:spcPct val="120000"/>
              </a:lnSpc>
              <a:spcBef>
                <a:spcPts val="400"/>
              </a:spcBef>
              <a:buSzPct val="120000"/>
            </a:pPr>
            <a:r>
              <a:rPr lang="th-TH" sz="820" b="1" dirty="0">
                <a:solidFill>
                  <a:schemeClr val="tx1">
                    <a:lumMod val="65000"/>
                    <a:lumOff val="35000"/>
                  </a:schemeClr>
                </a:solidFill>
                <a:latin typeface="BLS Text" panose="00000500000000000000" pitchFamily="2" charset="-34"/>
                <a:cs typeface="BLS Text" pitchFamily="2" charset="-34"/>
              </a:rPr>
              <a:t>ตลาดหุ้นทั่วโลกฟื้นตัวในลักษณะของ </a:t>
            </a:r>
            <a:r>
              <a:rPr lang="en-US" sz="820" b="1" dirty="0">
                <a:solidFill>
                  <a:schemeClr val="tx1">
                    <a:lumMod val="65000"/>
                    <a:lumOff val="35000"/>
                  </a:schemeClr>
                </a:solidFill>
                <a:latin typeface="BLS Text" panose="00000500000000000000" pitchFamily="2" charset="-34"/>
                <a:cs typeface="BLS Text" pitchFamily="2" charset="-34"/>
              </a:rPr>
              <a:t>relief rally </a:t>
            </a:r>
            <a:r>
              <a:rPr lang="th-TH" sz="820" b="1" dirty="0">
                <a:solidFill>
                  <a:schemeClr val="tx1">
                    <a:lumMod val="65000"/>
                    <a:lumOff val="35000"/>
                  </a:schemeClr>
                </a:solidFill>
                <a:latin typeface="BLS Text" panose="00000500000000000000" pitchFamily="2" charset="-34"/>
                <a:cs typeface="BLS Text" pitchFamily="2" charset="-34"/>
              </a:rPr>
              <a:t>ตั้งแต่ต้นเดือนเมษายน  ความตึงเครียดสงครามผ่านจุดสูงสุด - ฤดูกาลประกาศงบ 1</a:t>
            </a:r>
            <a:r>
              <a:rPr lang="en-US" sz="820" b="1" dirty="0">
                <a:solidFill>
                  <a:schemeClr val="tx1">
                    <a:lumMod val="65000"/>
                    <a:lumOff val="35000"/>
                  </a:schemeClr>
                </a:solidFill>
                <a:latin typeface="BLS Text" panose="00000500000000000000" pitchFamily="2" charset="-34"/>
                <a:cs typeface="BLS Text" pitchFamily="2" charset="-34"/>
              </a:rPr>
              <a:t>Q26</a:t>
            </a:r>
            <a:r>
              <a:rPr lang="th-TH" sz="820" b="1" dirty="0">
                <a:solidFill>
                  <a:schemeClr val="tx1">
                    <a:lumMod val="65000"/>
                    <a:lumOff val="35000"/>
                  </a:schemeClr>
                </a:solidFill>
                <a:latin typeface="BLS Text" panose="00000500000000000000" pitchFamily="2" charset="-34"/>
                <a:cs typeface="BLS Text" pitchFamily="2" charset="-34"/>
              </a:rPr>
              <a:t> หนุน</a:t>
            </a:r>
            <a:r>
              <a:rPr lang="en-US" sz="820" b="1" dirty="0">
                <a:solidFill>
                  <a:schemeClr val="tx1">
                    <a:lumMod val="65000"/>
                    <a:lumOff val="35000"/>
                  </a:schemeClr>
                </a:solidFill>
                <a:latin typeface="BLS Text" panose="00000500000000000000" pitchFamily="2" charset="-34"/>
                <a:cs typeface="BLS Text" pitchFamily="2" charset="-34"/>
              </a:rPr>
              <a:t> sentiment</a:t>
            </a:r>
            <a:r>
              <a:rPr lang="th-TH" sz="820" b="1" dirty="0">
                <a:solidFill>
                  <a:schemeClr val="tx1">
                    <a:lumMod val="65000"/>
                    <a:lumOff val="35000"/>
                  </a:schemeClr>
                </a:solidFill>
                <a:latin typeface="BLS Text" panose="00000500000000000000" pitchFamily="2" charset="-34"/>
                <a:cs typeface="BLS Text" pitchFamily="2" charset="-34"/>
              </a:rPr>
              <a:t> ระยะสั้น</a:t>
            </a:r>
            <a:r>
              <a:rPr lang="en-US" sz="820" b="1" dirty="0">
                <a:solidFill>
                  <a:schemeClr val="tx1">
                    <a:lumMod val="65000"/>
                    <a:lumOff val="35000"/>
                  </a:schemeClr>
                </a:solidFill>
                <a:latin typeface="BLS Text" panose="00000500000000000000" pitchFamily="2" charset="-34"/>
                <a:cs typeface="BLS Text" pitchFamily="2" charset="-34"/>
              </a:rPr>
              <a:t>:</a:t>
            </a:r>
            <a:r>
              <a:rPr lang="th-TH" sz="820" b="1" dirty="0">
                <a:solidFill>
                  <a:schemeClr val="tx1">
                    <a:lumMod val="65000"/>
                    <a:lumOff val="35000"/>
                  </a:schemeClr>
                </a:solidFill>
                <a:latin typeface="BLS Text" panose="00000500000000000000" pitchFamily="2" charset="-34"/>
                <a:cs typeface="BLS Text" pitchFamily="2" charset="-34"/>
              </a:rPr>
              <a:t> </a:t>
            </a:r>
            <a:r>
              <a:rPr lang="th-TH" sz="820" dirty="0">
                <a:solidFill>
                  <a:schemeClr val="tx1">
                    <a:lumMod val="65000"/>
                    <a:lumOff val="35000"/>
                  </a:schemeClr>
                </a:solidFill>
                <a:latin typeface="BLS Text" panose="00000500000000000000" pitchFamily="2" charset="-34"/>
                <a:cs typeface="BLS Text" pitchFamily="2" charset="-34"/>
              </a:rPr>
              <a:t>ตลาดอยู่ในช่วงความตึงเครียดผ่อนคลาย (</a:t>
            </a:r>
            <a:r>
              <a:rPr lang="en-US" sz="820" dirty="0">
                <a:solidFill>
                  <a:schemeClr val="tx1">
                    <a:lumMod val="65000"/>
                    <a:lumOff val="35000"/>
                  </a:schemeClr>
                </a:solidFill>
                <a:latin typeface="BLS Text" panose="00000500000000000000" pitchFamily="2" charset="-34"/>
                <a:cs typeface="BLS Text" pitchFamily="2" charset="-34"/>
              </a:rPr>
              <a:t>de-escalation) </a:t>
            </a:r>
            <a:r>
              <a:rPr lang="th-TH" sz="820" dirty="0">
                <a:solidFill>
                  <a:schemeClr val="tx1">
                    <a:lumMod val="65000"/>
                    <a:lumOff val="35000"/>
                  </a:schemeClr>
                </a:solidFill>
                <a:latin typeface="BLS Text" panose="00000500000000000000" pitchFamily="2" charset="-34"/>
                <a:cs typeface="BLS Text" pitchFamily="2" charset="-34"/>
              </a:rPr>
              <a:t>แม้ว่าการเจรจาสันติภาพในรอบแรกเมื่อวันที่ 11 เมษายนจะยังไม่สามารถบรรลุข้อตกลงได้ แต่การเจรจายังคงดำเนินต่อเนื่อง ทำให้ตลาดให้น้ำหนักว่าความเสี่ยงเชิงลบส่วนใหญ่ได้ถูกสะท้อนในราคาไปแล้ว ขณะเดียวกัน การเข้าสู่ช่วงประกาศผลประกอบการไตรมาส 1</a:t>
            </a:r>
            <a:r>
              <a:rPr lang="en-US" sz="820" dirty="0">
                <a:solidFill>
                  <a:schemeClr val="tx1">
                    <a:lumMod val="65000"/>
                    <a:lumOff val="35000"/>
                  </a:schemeClr>
                </a:solidFill>
                <a:latin typeface="BLS Text" panose="00000500000000000000" pitchFamily="2" charset="-34"/>
                <a:cs typeface="BLS Text" pitchFamily="2" charset="-34"/>
              </a:rPr>
              <a:t>Q26 </a:t>
            </a:r>
            <a:r>
              <a:rPr lang="th-TH" sz="820" dirty="0">
                <a:solidFill>
                  <a:schemeClr val="tx1">
                    <a:lumMod val="65000"/>
                    <a:lumOff val="35000"/>
                  </a:schemeClr>
                </a:solidFill>
                <a:latin typeface="BLS Text" panose="00000500000000000000" pitchFamily="2" charset="-34"/>
                <a:cs typeface="BLS Text" pitchFamily="2" charset="-34"/>
              </a:rPr>
              <a:t>ซึ่งยังได้รับผลกระทบจากต้นทุนพลังงานในระดับจำกัด ช่วยหนุน </a:t>
            </a:r>
            <a:r>
              <a:rPr lang="en-US" sz="820" dirty="0">
                <a:solidFill>
                  <a:schemeClr val="tx1">
                    <a:lumMod val="65000"/>
                    <a:lumOff val="35000"/>
                  </a:schemeClr>
                </a:solidFill>
                <a:latin typeface="BLS Text" panose="00000500000000000000" pitchFamily="2" charset="-34"/>
                <a:cs typeface="BLS Text" pitchFamily="2" charset="-34"/>
              </a:rPr>
              <a:t>risk-on</a:t>
            </a:r>
            <a:r>
              <a:rPr lang="th-TH" sz="820" dirty="0">
                <a:solidFill>
                  <a:schemeClr val="tx1">
                    <a:lumMod val="65000"/>
                    <a:lumOff val="35000"/>
                  </a:schemeClr>
                </a:solidFill>
                <a:latin typeface="BLS Text" panose="00000500000000000000" pitchFamily="2" charset="-34"/>
                <a:cs typeface="BLS Text" pitchFamily="2" charset="-34"/>
              </a:rPr>
              <a:t> </a:t>
            </a:r>
            <a:r>
              <a:rPr lang="en-US" sz="820" dirty="0">
                <a:solidFill>
                  <a:schemeClr val="tx1">
                    <a:lumMod val="65000"/>
                    <a:lumOff val="35000"/>
                  </a:schemeClr>
                </a:solidFill>
                <a:latin typeface="BLS Text" panose="00000500000000000000" pitchFamily="2" charset="-34"/>
                <a:cs typeface="BLS Text" pitchFamily="2" charset="-34"/>
              </a:rPr>
              <a:t>sentiment </a:t>
            </a:r>
            <a:r>
              <a:rPr lang="th-TH" sz="820" dirty="0">
                <a:solidFill>
                  <a:schemeClr val="tx1">
                    <a:lumMod val="65000"/>
                    <a:lumOff val="35000"/>
                  </a:schemeClr>
                </a:solidFill>
                <a:latin typeface="BLS Text" panose="00000500000000000000" pitchFamily="2" charset="-34"/>
                <a:cs typeface="BLS Text" pitchFamily="2" charset="-34"/>
              </a:rPr>
              <a:t>และทำให้บรรยากาศการลงทุนในระยะสั้นยังคงเป็นบวก</a:t>
            </a:r>
            <a:endParaRPr lang="th-TH" sz="820" b="1"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820" b="1" dirty="0">
                <a:solidFill>
                  <a:schemeClr val="tx1">
                    <a:lumMod val="65000"/>
                    <a:lumOff val="35000"/>
                  </a:schemeClr>
                </a:solidFill>
                <a:latin typeface="BLS Text" panose="00000500000000000000" pitchFamily="2" charset="-34"/>
                <a:cs typeface="BLS Text" pitchFamily="2" charset="-34"/>
              </a:rPr>
              <a:t>แต่ตลาดจะเข้าสู่ช่วง </a:t>
            </a:r>
            <a:r>
              <a:rPr lang="en-US" sz="820" b="1" dirty="0">
                <a:solidFill>
                  <a:schemeClr val="tx1">
                    <a:lumMod val="65000"/>
                    <a:lumOff val="35000"/>
                  </a:schemeClr>
                </a:solidFill>
                <a:latin typeface="BLS Text" panose="00000500000000000000" pitchFamily="2" charset="-34"/>
                <a:cs typeface="BLS Text" pitchFamily="2" charset="-34"/>
              </a:rPr>
              <a:t>reality check — </a:t>
            </a:r>
            <a:r>
              <a:rPr lang="th-TH" sz="820" b="1" dirty="0">
                <a:solidFill>
                  <a:schemeClr val="tx1">
                    <a:lumMod val="65000"/>
                    <a:lumOff val="35000"/>
                  </a:schemeClr>
                </a:solidFill>
                <a:latin typeface="BLS Text" panose="00000500000000000000" pitchFamily="2" charset="-34"/>
                <a:cs typeface="BLS Text" pitchFamily="2" charset="-34"/>
              </a:rPr>
              <a:t>ต้นทุนพลังงานอาจเริ่มกดดันกำไรใน 2</a:t>
            </a:r>
            <a:r>
              <a:rPr lang="en-US" sz="820" b="1" dirty="0">
                <a:solidFill>
                  <a:schemeClr val="tx1">
                    <a:lumMod val="65000"/>
                    <a:lumOff val="35000"/>
                  </a:schemeClr>
                </a:solidFill>
                <a:latin typeface="BLS Text" panose="00000500000000000000" pitchFamily="2" charset="-34"/>
                <a:cs typeface="BLS Text" pitchFamily="2" charset="-34"/>
              </a:rPr>
              <a:t>Q</a:t>
            </a:r>
            <a:r>
              <a:rPr lang="th-TH" sz="820" b="1" dirty="0">
                <a:solidFill>
                  <a:schemeClr val="tx1">
                    <a:lumMod val="65000"/>
                    <a:lumOff val="35000"/>
                  </a:schemeClr>
                </a:solidFill>
                <a:latin typeface="BLS Text" panose="00000500000000000000" pitchFamily="2" charset="-34"/>
                <a:cs typeface="BLS Text" pitchFamily="2" charset="-34"/>
              </a:rPr>
              <a:t>26</a:t>
            </a:r>
            <a:r>
              <a:rPr lang="en-US" sz="820" b="1" dirty="0">
                <a:solidFill>
                  <a:schemeClr val="tx1">
                    <a:lumMod val="65000"/>
                    <a:lumOff val="35000"/>
                  </a:schemeClr>
                </a:solidFill>
                <a:latin typeface="BLS Text" panose="00000500000000000000" pitchFamily="2" charset="-34"/>
                <a:cs typeface="BLS Text" pitchFamily="2" charset="-34"/>
              </a:rPr>
              <a:t> </a:t>
            </a:r>
            <a:r>
              <a:rPr lang="th-TH" sz="820" b="1" dirty="0">
                <a:solidFill>
                  <a:schemeClr val="tx1">
                    <a:lumMod val="65000"/>
                    <a:lumOff val="35000"/>
                  </a:schemeClr>
                </a:solidFill>
                <a:latin typeface="BLS Text" panose="00000500000000000000" pitchFamily="2" charset="-34"/>
                <a:cs typeface="BLS Text" pitchFamily="2" charset="-34"/>
              </a:rPr>
              <a:t>และชัดขึ้นใน 3</a:t>
            </a:r>
            <a:r>
              <a:rPr lang="en-US" sz="820" b="1" dirty="0">
                <a:solidFill>
                  <a:schemeClr val="tx1">
                    <a:lumMod val="65000"/>
                    <a:lumOff val="35000"/>
                  </a:schemeClr>
                </a:solidFill>
                <a:latin typeface="BLS Text" panose="00000500000000000000" pitchFamily="2" charset="-34"/>
                <a:cs typeface="BLS Text" pitchFamily="2" charset="-34"/>
              </a:rPr>
              <a:t>Q</a:t>
            </a:r>
            <a:r>
              <a:rPr lang="th-TH" sz="820" b="1" dirty="0">
                <a:solidFill>
                  <a:schemeClr val="tx1">
                    <a:lumMod val="65000"/>
                    <a:lumOff val="35000"/>
                  </a:schemeClr>
                </a:solidFill>
                <a:latin typeface="BLS Text" panose="00000500000000000000" pitchFamily="2" charset="-34"/>
                <a:cs typeface="BLS Text" pitchFamily="2" charset="-34"/>
              </a:rPr>
              <a:t>26</a:t>
            </a:r>
            <a:r>
              <a:rPr lang="en-US" sz="820" b="1" dirty="0">
                <a:solidFill>
                  <a:schemeClr val="tx1">
                    <a:lumMod val="65000"/>
                    <a:lumOff val="35000"/>
                  </a:schemeClr>
                </a:solidFill>
                <a:latin typeface="BLS Text" panose="00000500000000000000" pitchFamily="2" charset="-34"/>
                <a:cs typeface="BLS Text" pitchFamily="2" charset="-34"/>
              </a:rPr>
              <a:t>:</a:t>
            </a:r>
            <a:r>
              <a:rPr lang="th-TH" sz="820" b="1" dirty="0">
                <a:solidFill>
                  <a:schemeClr val="tx1">
                    <a:lumMod val="65000"/>
                    <a:lumOff val="35000"/>
                  </a:schemeClr>
                </a:solidFill>
                <a:latin typeface="BLS Text" panose="00000500000000000000" pitchFamily="2" charset="-34"/>
                <a:cs typeface="BLS Text" pitchFamily="2" charset="-34"/>
              </a:rPr>
              <a:t> </a:t>
            </a:r>
            <a:r>
              <a:rPr lang="th-TH" sz="820" dirty="0">
                <a:solidFill>
                  <a:schemeClr val="tx1">
                    <a:lumMod val="65000"/>
                    <a:lumOff val="35000"/>
                  </a:schemeClr>
                </a:solidFill>
                <a:latin typeface="BLS Text" panose="00000500000000000000" pitchFamily="2" charset="-34"/>
                <a:cs typeface="BLS Text" pitchFamily="2" charset="-34"/>
              </a:rPr>
              <a:t>ประเมินกรอบการฟื้นตัวของตลาดยังจำกัด อยู่ที่ 1550 จุด ซึ่งเป็น </a:t>
            </a:r>
            <a:r>
              <a:rPr lang="en-US" sz="820" dirty="0">
                <a:solidFill>
                  <a:schemeClr val="tx1">
                    <a:lumMod val="65000"/>
                    <a:lumOff val="35000"/>
                  </a:schemeClr>
                </a:solidFill>
                <a:latin typeface="BLS Text" panose="00000500000000000000" pitchFamily="2" charset="-34"/>
                <a:cs typeface="BLS Text" pitchFamily="2" charset="-34"/>
              </a:rPr>
              <a:t>SET target </a:t>
            </a:r>
            <a:r>
              <a:rPr lang="th-TH" sz="820" dirty="0">
                <a:solidFill>
                  <a:schemeClr val="tx1">
                    <a:lumMod val="65000"/>
                    <a:lumOff val="35000"/>
                  </a:schemeClr>
                </a:solidFill>
                <a:latin typeface="BLS Text" panose="00000500000000000000" pitchFamily="2" charset="-34"/>
                <a:cs typeface="BLS Text" pitchFamily="2" charset="-34"/>
              </a:rPr>
              <a:t>ปลายปี 2026 เนื่องจากต้นทุนพลังงานที่ยังอยู่ในระดับสูงมีแนวโน้มเริ่มส่งผ่านเข้าสู่ต้นทุนการผลิตและการขนส่งตั้งแต่ไตรมาส 2</a:t>
            </a:r>
            <a:r>
              <a:rPr lang="en-US" sz="820" dirty="0">
                <a:solidFill>
                  <a:schemeClr val="tx1">
                    <a:lumMod val="65000"/>
                    <a:lumOff val="35000"/>
                  </a:schemeClr>
                </a:solidFill>
                <a:latin typeface="BLS Text" panose="00000500000000000000" pitchFamily="2" charset="-34"/>
                <a:cs typeface="BLS Text" pitchFamily="2" charset="-34"/>
              </a:rPr>
              <a:t>Q26 </a:t>
            </a:r>
            <a:r>
              <a:rPr lang="th-TH" sz="820" dirty="0">
                <a:solidFill>
                  <a:schemeClr val="tx1">
                    <a:lumMod val="65000"/>
                    <a:lumOff val="35000"/>
                  </a:schemeClr>
                </a:solidFill>
                <a:latin typeface="BLS Text" panose="00000500000000000000" pitchFamily="2" charset="-34"/>
                <a:cs typeface="BLS Text" pitchFamily="2" charset="-34"/>
              </a:rPr>
              <a:t>เป็นต้นไป และจะสะท้อนผลกระทบอย่างมีนัยสำคัญมากขึ้นในไตรมาส 3</a:t>
            </a:r>
            <a:r>
              <a:rPr lang="en-US" sz="820" dirty="0">
                <a:solidFill>
                  <a:schemeClr val="tx1">
                    <a:lumMod val="65000"/>
                    <a:lumOff val="35000"/>
                  </a:schemeClr>
                </a:solidFill>
                <a:latin typeface="BLS Text" panose="00000500000000000000" pitchFamily="2" charset="-34"/>
                <a:cs typeface="BLS Text" pitchFamily="2" charset="-34"/>
              </a:rPr>
              <a:t>Q26</a:t>
            </a:r>
            <a:r>
              <a:rPr lang="th-TH" sz="820" dirty="0">
                <a:solidFill>
                  <a:schemeClr val="tx1">
                    <a:lumMod val="65000"/>
                    <a:lumOff val="35000"/>
                  </a:schemeClr>
                </a:solidFill>
                <a:latin typeface="BLS Text" panose="00000500000000000000" pitchFamily="2" charset="-34"/>
                <a:cs typeface="BLS Text" pitchFamily="2" charset="-34"/>
              </a:rPr>
              <a:t> หากราคาต้นทุนพลังงานลงช้า เมื่อสินค้าคงคลังรอบใหม่เริ่มรับรู้ต้นทุนที่สูงขึ้น ส่งผลให้ตลาดมีแนวโน้มเปลี่ยนผ่านจากช่วงที่ขับเคลื่อนด้วยความคาดหวัง ไปสู่ช่วงของการประเมินผลกระทบเชิงพื้นฐาน (</a:t>
            </a:r>
            <a:r>
              <a:rPr lang="en-US" sz="820" dirty="0">
                <a:solidFill>
                  <a:schemeClr val="tx1">
                    <a:lumMod val="65000"/>
                    <a:lumOff val="35000"/>
                  </a:schemeClr>
                </a:solidFill>
                <a:latin typeface="BLS Text" panose="00000500000000000000" pitchFamily="2" charset="-34"/>
                <a:cs typeface="BLS Text" pitchFamily="2" charset="-34"/>
              </a:rPr>
              <a:t>reality check) </a:t>
            </a:r>
            <a:r>
              <a:rPr lang="th-TH" sz="820" dirty="0">
                <a:solidFill>
                  <a:schemeClr val="tx1">
                    <a:lumMod val="65000"/>
                    <a:lumOff val="35000"/>
                  </a:schemeClr>
                </a:solidFill>
                <a:latin typeface="BLS Text" panose="00000500000000000000" pitchFamily="2" charset="-34"/>
                <a:cs typeface="BLS Text" pitchFamily="2" charset="-34"/>
              </a:rPr>
              <a:t>ซึ่งจะทำให้การลงทุนต้องเน้น </a:t>
            </a:r>
            <a:r>
              <a:rPr lang="en-US" sz="820" dirty="0">
                <a:solidFill>
                  <a:schemeClr val="tx1">
                    <a:lumMod val="65000"/>
                    <a:lumOff val="35000"/>
                  </a:schemeClr>
                </a:solidFill>
                <a:latin typeface="BLS Text" panose="00000500000000000000" pitchFamily="2" charset="-34"/>
                <a:cs typeface="BLS Text" pitchFamily="2" charset="-34"/>
              </a:rPr>
              <a:t>selective </a:t>
            </a:r>
            <a:r>
              <a:rPr lang="th-TH" sz="820" dirty="0">
                <a:solidFill>
                  <a:schemeClr val="tx1">
                    <a:lumMod val="65000"/>
                    <a:lumOff val="35000"/>
                  </a:schemeClr>
                </a:solidFill>
                <a:latin typeface="BLS Text" panose="00000500000000000000" pitchFamily="2" charset="-34"/>
                <a:cs typeface="BLS Text" pitchFamily="2" charset="-34"/>
              </a:rPr>
              <a:t>มากขึ้น</a:t>
            </a:r>
            <a:endParaRPr lang="th-TH" sz="820" b="1"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300"/>
              </a:spcBef>
              <a:buSzPct val="120000"/>
            </a:pPr>
            <a:r>
              <a:rPr lang="th-TH" sz="820" b="1" dirty="0">
                <a:solidFill>
                  <a:schemeClr val="tx1">
                    <a:lumMod val="65000"/>
                    <a:lumOff val="35000"/>
                  </a:schemeClr>
                </a:solidFill>
                <a:latin typeface="BLS Text" panose="00000500000000000000" pitchFamily="2" charset="-34"/>
                <a:cs typeface="BLS Text" pitchFamily="2" charset="-34"/>
              </a:rPr>
              <a:t>ประเมินกลุ่มโดนกระทบก่อน-หลัง</a:t>
            </a:r>
            <a:r>
              <a:rPr lang="en-US" sz="820" b="1" dirty="0">
                <a:solidFill>
                  <a:schemeClr val="tx1">
                    <a:lumMod val="65000"/>
                    <a:lumOff val="35000"/>
                  </a:schemeClr>
                </a:solidFill>
                <a:latin typeface="BLS Text" panose="00000500000000000000" pitchFamily="2" charset="-34"/>
                <a:cs typeface="BLS Text" pitchFamily="2" charset="-34"/>
              </a:rPr>
              <a:t>:</a:t>
            </a:r>
            <a:r>
              <a:rPr lang="th-TH" sz="820" b="1" dirty="0">
                <a:solidFill>
                  <a:schemeClr val="tx1">
                    <a:lumMod val="65000"/>
                    <a:lumOff val="35000"/>
                  </a:schemeClr>
                </a:solidFill>
                <a:latin typeface="BLS Text" panose="00000500000000000000" pitchFamily="2" charset="-34"/>
                <a:cs typeface="BLS Text" pitchFamily="2" charset="-34"/>
              </a:rPr>
              <a:t> </a:t>
            </a:r>
            <a:r>
              <a:rPr lang="th-TH" sz="820" dirty="0">
                <a:solidFill>
                  <a:schemeClr val="tx1">
                    <a:lumMod val="65000"/>
                    <a:lumOff val="35000"/>
                  </a:schemeClr>
                </a:solidFill>
                <a:latin typeface="BLS Text" panose="00000500000000000000" pitchFamily="2" charset="-34"/>
                <a:cs typeface="BLS Text" pitchFamily="2" charset="-34"/>
              </a:rPr>
              <a:t>ในเชิงโครงสร้างผลกระทบ เราแบ่งกลุ่มธุรกิจออกเป็น 3 กลุ่มตามระยะเวลาที่โดนกระทบ และความสามารถในการส่งผ่านต้นทุน</a:t>
            </a:r>
          </a:p>
          <a:p>
            <a:pPr algn="thaiDist">
              <a:lnSpc>
                <a:spcPct val="120000"/>
              </a:lnSpc>
              <a:spcBef>
                <a:spcPts val="300"/>
              </a:spcBef>
              <a:buSzPct val="120000"/>
            </a:pPr>
            <a:r>
              <a:rPr lang="th-TH" sz="820" b="1" dirty="0">
                <a:solidFill>
                  <a:schemeClr val="tx1">
                    <a:lumMod val="65000"/>
                    <a:lumOff val="35000"/>
                  </a:schemeClr>
                </a:solidFill>
                <a:latin typeface="BLS Text" panose="00000500000000000000" pitchFamily="2" charset="-34"/>
                <a:cs typeface="BLS Text" pitchFamily="2" charset="-34"/>
              </a:rPr>
              <a:t>กลุ่มแรกคือ “</a:t>
            </a:r>
            <a:r>
              <a:rPr lang="en-US" sz="820" b="1" dirty="0">
                <a:solidFill>
                  <a:schemeClr val="tx1">
                    <a:lumMod val="65000"/>
                    <a:lumOff val="35000"/>
                  </a:schemeClr>
                </a:solidFill>
                <a:latin typeface="BLS Text" panose="00000500000000000000" pitchFamily="2" charset="-34"/>
                <a:cs typeface="BLS Text" pitchFamily="2" charset="-34"/>
              </a:rPr>
              <a:t>Immediate Cost Hit” </a:t>
            </a:r>
            <a:r>
              <a:rPr lang="th-TH" sz="820" dirty="0">
                <a:solidFill>
                  <a:schemeClr val="tx1">
                    <a:lumMod val="65000"/>
                    <a:lumOff val="35000"/>
                  </a:schemeClr>
                </a:solidFill>
                <a:latin typeface="BLS Text" panose="00000500000000000000" pitchFamily="2" charset="-34"/>
                <a:cs typeface="BLS Text" pitchFamily="2" charset="-34"/>
              </a:rPr>
              <a:t>ซึ่งได้รับผลกระทบทันทีจากราคาพลังงานที่เพิ่มขึ้น โดยเฉพาะกลุ่มสายการบินและขนส่ง ซึ่งมีสัดส่วนต้นทุนน้ำมันดีเซลและเชื้อเพลิงในระดับสูง รวมถึงโรงไฟฟ้า </a:t>
            </a:r>
            <a:r>
              <a:rPr lang="en-US" sz="820" dirty="0">
                <a:solidFill>
                  <a:schemeClr val="tx1">
                    <a:lumMod val="65000"/>
                    <a:lumOff val="35000"/>
                  </a:schemeClr>
                </a:solidFill>
                <a:latin typeface="BLS Text" panose="00000500000000000000" pitchFamily="2" charset="-34"/>
                <a:cs typeface="BLS Text" pitchFamily="2" charset="-34"/>
              </a:rPr>
              <a:t>SPP</a:t>
            </a:r>
            <a:r>
              <a:rPr lang="th-TH" sz="820" dirty="0">
                <a:solidFill>
                  <a:schemeClr val="tx1">
                    <a:lumMod val="65000"/>
                    <a:lumOff val="35000"/>
                  </a:schemeClr>
                </a:solidFill>
                <a:latin typeface="BLS Text" panose="00000500000000000000" pitchFamily="2" charset="-34"/>
                <a:cs typeface="BLS Text" pitchFamily="2" charset="-34"/>
              </a:rPr>
              <a:t> ทำให้กำไรถูกกดดันตั้งแต่ปลายไตรมาส 1</a:t>
            </a:r>
            <a:r>
              <a:rPr lang="en-US" sz="820" dirty="0">
                <a:solidFill>
                  <a:schemeClr val="tx1">
                    <a:lumMod val="65000"/>
                    <a:lumOff val="35000"/>
                  </a:schemeClr>
                </a:solidFill>
                <a:latin typeface="BLS Text" panose="00000500000000000000" pitchFamily="2" charset="-34"/>
                <a:cs typeface="BLS Text" pitchFamily="2" charset="-34"/>
              </a:rPr>
              <a:t>Q26 </a:t>
            </a:r>
            <a:r>
              <a:rPr lang="th-TH" sz="820" dirty="0">
                <a:solidFill>
                  <a:schemeClr val="tx1">
                    <a:lumMod val="65000"/>
                    <a:lumOff val="35000"/>
                  </a:schemeClr>
                </a:solidFill>
                <a:latin typeface="BLS Text" panose="00000500000000000000" pitchFamily="2" charset="-34"/>
                <a:cs typeface="BLS Text" pitchFamily="2" charset="-34"/>
              </a:rPr>
              <a:t>ต่อเนื่องเข้าสู่ไตรมาส 2</a:t>
            </a:r>
            <a:r>
              <a:rPr lang="en-US" sz="820" dirty="0">
                <a:solidFill>
                  <a:schemeClr val="tx1">
                    <a:lumMod val="65000"/>
                    <a:lumOff val="35000"/>
                  </a:schemeClr>
                </a:solidFill>
                <a:latin typeface="BLS Text" panose="00000500000000000000" pitchFamily="2" charset="-34"/>
                <a:cs typeface="BLS Text" pitchFamily="2" charset="-34"/>
              </a:rPr>
              <a:t>Q26 </a:t>
            </a:r>
            <a:r>
              <a:rPr lang="th-TH" sz="820" dirty="0">
                <a:solidFill>
                  <a:schemeClr val="tx1">
                    <a:lumMod val="65000"/>
                    <a:lumOff val="35000"/>
                  </a:schemeClr>
                </a:solidFill>
                <a:latin typeface="BLS Text" panose="00000500000000000000" pitchFamily="2" charset="-34"/>
                <a:cs typeface="BLS Text" pitchFamily="2" charset="-34"/>
              </a:rPr>
              <a:t>อย่างชัดเจน </a:t>
            </a:r>
          </a:p>
          <a:p>
            <a:pPr algn="thaiDist">
              <a:lnSpc>
                <a:spcPct val="120000"/>
              </a:lnSpc>
              <a:spcBef>
                <a:spcPts val="300"/>
              </a:spcBef>
              <a:buSzPct val="120000"/>
            </a:pPr>
            <a:r>
              <a:rPr lang="th-TH" sz="820" b="1" dirty="0">
                <a:solidFill>
                  <a:schemeClr val="tx1">
                    <a:lumMod val="65000"/>
                    <a:lumOff val="35000"/>
                  </a:schemeClr>
                </a:solidFill>
                <a:latin typeface="BLS Text" panose="00000500000000000000" pitchFamily="2" charset="-34"/>
                <a:cs typeface="BLS Text" pitchFamily="2" charset="-34"/>
              </a:rPr>
              <a:t>กลุ่มที่สองคือ “</a:t>
            </a:r>
            <a:r>
              <a:rPr lang="en-US" sz="820" b="1" dirty="0">
                <a:solidFill>
                  <a:schemeClr val="tx1">
                    <a:lumMod val="65000"/>
                    <a:lumOff val="35000"/>
                  </a:schemeClr>
                </a:solidFill>
                <a:latin typeface="BLS Text" panose="00000500000000000000" pitchFamily="2" charset="-34"/>
                <a:cs typeface="BLS Text" pitchFamily="2" charset="-34"/>
              </a:rPr>
              <a:t>Buffered &amp; Lagged Impact” </a:t>
            </a:r>
            <a:r>
              <a:rPr lang="th-TH" sz="820" dirty="0">
                <a:solidFill>
                  <a:schemeClr val="tx1">
                    <a:lumMod val="65000"/>
                    <a:lumOff val="35000"/>
                  </a:schemeClr>
                </a:solidFill>
                <a:latin typeface="BLS Text" panose="00000500000000000000" pitchFamily="2" charset="-34"/>
                <a:cs typeface="BLS Text" pitchFamily="2" charset="-34"/>
              </a:rPr>
              <a:t>รับรู้ต้นทุนใหม่ล่าช้าจากสินค้าคงคลังเดิม หรือได้รับผลกระทบทางอ้อมผ่านกำลังซื้อและภาวะเศรษฐกิจ โดยกลุ่มเครื่องดื่มยังมีสินค้าคงคลังเดิมรองรับ ทำให้ต้นทุนใหม่จะเริ่มสะท้อนในช่วงกลางถึงปลายไตรมาส 2</a:t>
            </a:r>
            <a:r>
              <a:rPr lang="en-US" sz="820" dirty="0">
                <a:solidFill>
                  <a:schemeClr val="tx1">
                    <a:lumMod val="65000"/>
                    <a:lumOff val="35000"/>
                  </a:schemeClr>
                </a:solidFill>
                <a:latin typeface="BLS Text" panose="00000500000000000000" pitchFamily="2" charset="-34"/>
                <a:cs typeface="BLS Text" pitchFamily="2" charset="-34"/>
              </a:rPr>
              <a:t>Q26 </a:t>
            </a:r>
            <a:r>
              <a:rPr lang="th-TH" sz="820" dirty="0">
                <a:solidFill>
                  <a:schemeClr val="tx1">
                    <a:lumMod val="65000"/>
                    <a:lumOff val="35000"/>
                  </a:schemeClr>
                </a:solidFill>
                <a:latin typeface="BLS Text" panose="00000500000000000000" pitchFamily="2" charset="-34"/>
                <a:cs typeface="BLS Text" pitchFamily="2" charset="-34"/>
              </a:rPr>
              <a:t>ขณะที่กลุ่มที่อ่อนไหวต่อกำลังซื้อ เช่น ค้าปลีกสินค้าไม่จำเป็น (</a:t>
            </a:r>
            <a:r>
              <a:rPr lang="en-US" sz="820" dirty="0">
                <a:solidFill>
                  <a:schemeClr val="tx1">
                    <a:lumMod val="65000"/>
                    <a:lumOff val="35000"/>
                  </a:schemeClr>
                </a:solidFill>
                <a:latin typeface="BLS Text" panose="00000500000000000000" pitchFamily="2" charset="-34"/>
                <a:cs typeface="BLS Text" pitchFamily="2" charset="-34"/>
              </a:rPr>
              <a:t>discretionary)</a:t>
            </a:r>
            <a:r>
              <a:rPr lang="th-TH" sz="820" dirty="0">
                <a:solidFill>
                  <a:schemeClr val="tx1">
                    <a:lumMod val="65000"/>
                    <a:lumOff val="35000"/>
                  </a:schemeClr>
                </a:solidFill>
                <a:latin typeface="BLS Text" panose="00000500000000000000" pitchFamily="2" charset="-34"/>
                <a:cs typeface="BLS Text" pitchFamily="2" charset="-34"/>
              </a:rPr>
              <a:t> เช่น ค้าปลีกวัสดุก่อสร้าง  รวมถึงท่องเที่ยว มีแนวโน้มได้รับผลกระทบจากค่าครองชีพที่สูงขึ้นซึ่งกดดันการใช้จ่ายของผู้บริโภค นอกจากนี้ กลุ่มส่งออกอาหารสัตว์เลี้ยงจะเริ่มรับรู้ต้นทุนวัตถุดิบใหม่ในช่วงปลายไตรมาส 2</a:t>
            </a:r>
            <a:r>
              <a:rPr lang="en-US" sz="820" dirty="0">
                <a:solidFill>
                  <a:schemeClr val="tx1">
                    <a:lumMod val="65000"/>
                    <a:lumOff val="35000"/>
                  </a:schemeClr>
                </a:solidFill>
                <a:latin typeface="BLS Text" panose="00000500000000000000" pitchFamily="2" charset="-34"/>
                <a:cs typeface="BLS Text" pitchFamily="2" charset="-34"/>
              </a:rPr>
              <a:t>Q26 </a:t>
            </a:r>
            <a:r>
              <a:rPr lang="th-TH" sz="820" dirty="0">
                <a:solidFill>
                  <a:schemeClr val="tx1">
                    <a:lumMod val="65000"/>
                    <a:lumOff val="35000"/>
                  </a:schemeClr>
                </a:solidFill>
                <a:latin typeface="BLS Text" panose="00000500000000000000" pitchFamily="2" charset="-34"/>
                <a:cs typeface="BLS Text" pitchFamily="2" charset="-34"/>
              </a:rPr>
              <a:t>คาดสามารถทยอยปรับราคาขึ้นได้ </a:t>
            </a:r>
            <a:endParaRPr lang="en-US" sz="820"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300"/>
              </a:spcBef>
              <a:buSzPct val="120000"/>
            </a:pPr>
            <a:r>
              <a:rPr lang="th-TH" sz="820" b="1" dirty="0">
                <a:solidFill>
                  <a:schemeClr val="tx1">
                    <a:lumMod val="65000"/>
                    <a:lumOff val="35000"/>
                  </a:schemeClr>
                </a:solidFill>
                <a:latin typeface="BLS Text" panose="00000500000000000000" pitchFamily="2" charset="-34"/>
                <a:cs typeface="BLS Text" pitchFamily="2" charset="-34"/>
              </a:rPr>
              <a:t>กลุ่มสุดท้ายคือ “</a:t>
            </a:r>
            <a:r>
              <a:rPr lang="en-US" sz="820" b="1" dirty="0">
                <a:solidFill>
                  <a:schemeClr val="tx1">
                    <a:lumMod val="65000"/>
                    <a:lumOff val="35000"/>
                  </a:schemeClr>
                </a:solidFill>
                <a:latin typeface="BLS Text" panose="00000500000000000000" pitchFamily="2" charset="-34"/>
                <a:cs typeface="BLS Text" pitchFamily="2" charset="-34"/>
              </a:rPr>
              <a:t>Beneficiaries &amp; Resilience Plays” </a:t>
            </a:r>
            <a:r>
              <a:rPr lang="th-TH" sz="820" dirty="0">
                <a:solidFill>
                  <a:schemeClr val="tx1">
                    <a:lumMod val="65000"/>
                    <a:lumOff val="35000"/>
                  </a:schemeClr>
                </a:solidFill>
                <a:latin typeface="BLS Text" panose="00000500000000000000" pitchFamily="2" charset="-34"/>
                <a:cs typeface="BLS Text" pitchFamily="2" charset="-34"/>
              </a:rPr>
              <a:t>กลุ่มได้รับประโยชน์หรือมีความสามารถในการต้านทานแรงกดดันด้านต้นทุน โดยเฉพาะกลุ่มปิโตรเคมีที่ส่วนต่างราคาผลิตภัณฑ์ (</a:t>
            </a:r>
            <a:r>
              <a:rPr lang="en-US" sz="820" dirty="0">
                <a:solidFill>
                  <a:schemeClr val="tx1">
                    <a:lumMod val="65000"/>
                    <a:lumOff val="35000"/>
                  </a:schemeClr>
                </a:solidFill>
                <a:latin typeface="BLS Text" panose="00000500000000000000" pitchFamily="2" charset="-34"/>
                <a:cs typeface="BLS Text" pitchFamily="2" charset="-34"/>
              </a:rPr>
              <a:t>chemical spread) </a:t>
            </a:r>
            <a:r>
              <a:rPr lang="th-TH" sz="820" dirty="0">
                <a:solidFill>
                  <a:schemeClr val="tx1">
                    <a:lumMod val="65000"/>
                    <a:lumOff val="35000"/>
                  </a:schemeClr>
                </a:solidFill>
                <a:latin typeface="BLS Text" panose="00000500000000000000" pitchFamily="2" charset="-34"/>
                <a:cs typeface="BLS Text" pitchFamily="2" charset="-34"/>
              </a:rPr>
              <a:t>มีแนวโน้มยืนในระดับสูงจากปัญหาอุปทานขาดแคลน </a:t>
            </a:r>
            <a:r>
              <a:rPr lang="en-US" sz="820" dirty="0">
                <a:solidFill>
                  <a:schemeClr val="tx1">
                    <a:lumMod val="65000"/>
                    <a:lumOff val="35000"/>
                  </a:schemeClr>
                </a:solidFill>
                <a:latin typeface="BLS Text" panose="00000500000000000000" pitchFamily="2" charset="-34"/>
                <a:cs typeface="BLS Text" pitchFamily="2" charset="-34"/>
              </a:rPr>
              <a:t>(supply disruption) </a:t>
            </a:r>
            <a:r>
              <a:rPr lang="th-TH" sz="820" dirty="0">
                <a:solidFill>
                  <a:schemeClr val="tx1">
                    <a:lumMod val="65000"/>
                    <a:lumOff val="35000"/>
                  </a:schemeClr>
                </a:solidFill>
                <a:latin typeface="BLS Text" panose="00000500000000000000" pitchFamily="2" charset="-34"/>
                <a:cs typeface="BLS Text" pitchFamily="2" charset="-34"/>
              </a:rPr>
              <a:t>และใช้เวลาฟื้นฟู</a:t>
            </a:r>
          </a:p>
          <a:p>
            <a:pPr algn="thaiDist">
              <a:lnSpc>
                <a:spcPct val="120000"/>
              </a:lnSpc>
              <a:spcBef>
                <a:spcPts val="400"/>
              </a:spcBef>
              <a:buSzPct val="120000"/>
            </a:pPr>
            <a:r>
              <a:rPr lang="th-TH" sz="820" dirty="0">
                <a:solidFill>
                  <a:schemeClr val="tx1">
                    <a:lumMod val="65000"/>
                    <a:lumOff val="35000"/>
                  </a:schemeClr>
                </a:solidFill>
                <a:latin typeface="BLS Text" panose="00000500000000000000" pitchFamily="2" charset="-34"/>
                <a:cs typeface="BLS Text" pitchFamily="2" charset="-34"/>
              </a:rPr>
              <a:t>ขณะที่กลุ่มนิคมฯ ยังได้รับแรงหนุนจากการลงทุนต่างชาติคาดยังไหลเข้าต่อเนื่อง และกลุ่มสื่อสารมีรายได้สม่ำเสมอ กลุ่มเนื้อสัตว์สามารถส่งผ่านต้นทุนได้ ขณะที่กลุ่มโรงพยาบาลมีแนวโน้มได้รับแรงหนุนจาก </a:t>
            </a:r>
            <a:r>
              <a:rPr lang="en-US" sz="820" dirty="0">
                <a:solidFill>
                  <a:schemeClr val="tx1">
                    <a:lumMod val="65000"/>
                    <a:lumOff val="35000"/>
                  </a:schemeClr>
                </a:solidFill>
                <a:latin typeface="BLS Text" panose="00000500000000000000" pitchFamily="2" charset="-34"/>
                <a:cs typeface="BLS Text" pitchFamily="2" charset="-34"/>
              </a:rPr>
              <a:t>pent-up demand </a:t>
            </a:r>
            <a:r>
              <a:rPr lang="th-TH" sz="820" dirty="0">
                <a:solidFill>
                  <a:schemeClr val="tx1">
                    <a:lumMod val="65000"/>
                    <a:lumOff val="35000"/>
                  </a:schemeClr>
                </a:solidFill>
                <a:latin typeface="BLS Text" panose="00000500000000000000" pitchFamily="2" charset="-34"/>
                <a:cs typeface="BLS Text" pitchFamily="2" charset="-34"/>
              </a:rPr>
              <a:t>ของผู้ป่วยต่างชาติหลังสถานการณ์ความขัดแย้งคลี่คลาย ส่งผลให้ภาพรวมกำไรมีแนวโน้มฟื้นตัวได้เร็วกว่า</a:t>
            </a:r>
            <a:endParaRPr lang="en-US" sz="820"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820" b="1" dirty="0">
                <a:solidFill>
                  <a:schemeClr val="tx1">
                    <a:lumMod val="65000"/>
                    <a:lumOff val="35000"/>
                  </a:schemeClr>
                </a:solidFill>
                <a:latin typeface="BLS Text" panose="00000500000000000000" pitchFamily="2" charset="-34"/>
                <a:cs typeface="BLS Text" pitchFamily="2" charset="-34"/>
              </a:rPr>
              <a:t>กลุ่มกำไรไตรมาส 1</a:t>
            </a:r>
            <a:r>
              <a:rPr lang="en-US" sz="820" b="1" dirty="0">
                <a:solidFill>
                  <a:schemeClr val="tx1">
                    <a:lumMod val="65000"/>
                    <a:lumOff val="35000"/>
                  </a:schemeClr>
                </a:solidFill>
                <a:latin typeface="BLS Text" panose="00000500000000000000" pitchFamily="2" charset="-34"/>
                <a:cs typeface="BLS Text" pitchFamily="2" charset="-34"/>
              </a:rPr>
              <a:t>Q26</a:t>
            </a:r>
            <a:r>
              <a:rPr lang="th-TH" sz="820" b="1" dirty="0">
                <a:solidFill>
                  <a:schemeClr val="tx1">
                    <a:lumMod val="65000"/>
                    <a:lumOff val="35000"/>
                  </a:schemeClr>
                </a:solidFill>
                <a:latin typeface="BLS Text" panose="00000500000000000000" pitchFamily="2" charset="-34"/>
                <a:cs typeface="BLS Text" pitchFamily="2" charset="-34"/>
              </a:rPr>
              <a:t> โต/ฟื้นเด่น –ความเสี่ยงผลกระทบต้นทุนจำกัด</a:t>
            </a:r>
            <a:r>
              <a:rPr lang="en-US" sz="820" b="1" dirty="0">
                <a:solidFill>
                  <a:schemeClr val="tx1">
                    <a:lumMod val="65000"/>
                    <a:lumOff val="35000"/>
                  </a:schemeClr>
                </a:solidFill>
                <a:latin typeface="BLS Text" panose="00000500000000000000" pitchFamily="2" charset="-34"/>
                <a:cs typeface="BLS Text" pitchFamily="2" charset="-34"/>
              </a:rPr>
              <a:t>: </a:t>
            </a:r>
            <a:r>
              <a:rPr lang="th-TH" sz="820" dirty="0">
                <a:solidFill>
                  <a:schemeClr val="tx1">
                    <a:lumMod val="65000"/>
                    <a:lumOff val="35000"/>
                  </a:schemeClr>
                </a:solidFill>
                <a:latin typeface="BLS Text" panose="00000500000000000000" pitchFamily="2" charset="-34"/>
                <a:cs typeface="BLS Text" pitchFamily="2" charset="-34"/>
              </a:rPr>
              <a:t>เน้น </a:t>
            </a:r>
            <a:r>
              <a:rPr lang="en-US" sz="820" dirty="0">
                <a:solidFill>
                  <a:schemeClr val="tx1">
                    <a:lumMod val="65000"/>
                    <a:lumOff val="35000"/>
                  </a:schemeClr>
                </a:solidFill>
                <a:latin typeface="BLS Text" panose="00000500000000000000" pitchFamily="2" charset="-34"/>
                <a:cs typeface="BLS Text" pitchFamily="2" charset="-34"/>
              </a:rPr>
              <a:t>3</a:t>
            </a:r>
            <a:r>
              <a:rPr lang="th-TH" sz="820" dirty="0">
                <a:solidFill>
                  <a:schemeClr val="tx1">
                    <a:lumMod val="65000"/>
                    <a:lumOff val="35000"/>
                  </a:schemeClr>
                </a:solidFill>
                <a:latin typeface="BLS Text" panose="00000500000000000000" pitchFamily="2" charset="-34"/>
                <a:cs typeface="BLS Text" pitchFamily="2" charset="-34"/>
              </a:rPr>
              <a:t> ธีมหลัก ได้แก่ </a:t>
            </a:r>
            <a:r>
              <a:rPr lang="th-TH" sz="820" b="1" dirty="0">
                <a:solidFill>
                  <a:schemeClr val="tx1">
                    <a:lumMod val="65000"/>
                    <a:lumOff val="35000"/>
                  </a:schemeClr>
                </a:solidFill>
                <a:latin typeface="BLS Text" panose="00000500000000000000" pitchFamily="2" charset="-34"/>
                <a:cs typeface="BLS Text" pitchFamily="2" charset="-34"/>
              </a:rPr>
              <a:t>“</a:t>
            </a:r>
            <a:r>
              <a:rPr lang="en-US" sz="820" b="1" dirty="0">
                <a:solidFill>
                  <a:schemeClr val="tx1">
                    <a:lumMod val="65000"/>
                    <a:lumOff val="35000"/>
                  </a:schemeClr>
                </a:solidFill>
                <a:latin typeface="BLS Text" panose="00000500000000000000" pitchFamily="2" charset="-34"/>
                <a:cs typeface="BLS Text" pitchFamily="2" charset="-34"/>
              </a:rPr>
              <a:t>Domestic Pricing Power Plays” (</a:t>
            </a:r>
            <a:r>
              <a:rPr lang="th-TH" sz="820" b="1" dirty="0">
                <a:solidFill>
                  <a:schemeClr val="tx1">
                    <a:lumMod val="65000"/>
                    <a:lumOff val="35000"/>
                  </a:schemeClr>
                </a:solidFill>
                <a:latin typeface="BLS Text" panose="00000500000000000000" pitchFamily="2" charset="-34"/>
                <a:cs typeface="BLS Text" pitchFamily="2" charset="-34"/>
              </a:rPr>
              <a:t>ผู้นำธุรกิจในประเทศที่มีอำนาจส่งผ่านต้นทุน)</a:t>
            </a:r>
            <a:r>
              <a:rPr lang="th-TH" sz="820" dirty="0">
                <a:solidFill>
                  <a:schemeClr val="tx1">
                    <a:lumMod val="65000"/>
                    <a:lumOff val="35000"/>
                  </a:schemeClr>
                </a:solidFill>
                <a:latin typeface="BLS Text" panose="00000500000000000000" pitchFamily="2" charset="-34"/>
                <a:cs typeface="BLS Text" pitchFamily="2" charset="-34"/>
              </a:rPr>
              <a:t> </a:t>
            </a:r>
            <a:r>
              <a:rPr lang="en-US" sz="820" dirty="0">
                <a:solidFill>
                  <a:schemeClr val="tx1">
                    <a:lumMod val="65000"/>
                    <a:lumOff val="35000"/>
                  </a:schemeClr>
                </a:solidFill>
                <a:latin typeface="BLS Text" panose="00000500000000000000" pitchFamily="2" charset="-34"/>
                <a:cs typeface="BLS Text" pitchFamily="2" charset="-34"/>
              </a:rPr>
              <a:t>CPALL, CPN, </a:t>
            </a:r>
            <a:r>
              <a:rPr lang="en-US" sz="820" b="1" dirty="0">
                <a:solidFill>
                  <a:schemeClr val="tx1">
                    <a:lumMod val="65000"/>
                    <a:lumOff val="35000"/>
                  </a:schemeClr>
                </a:solidFill>
                <a:latin typeface="BLS Text" panose="00000500000000000000" pitchFamily="2" charset="-34"/>
                <a:cs typeface="BLS Text" pitchFamily="2" charset="-34"/>
              </a:rPr>
              <a:t>“Supply Shock Beneficiaries” (</a:t>
            </a:r>
            <a:r>
              <a:rPr lang="th-TH" sz="820" b="1" dirty="0">
                <a:solidFill>
                  <a:schemeClr val="tx1">
                    <a:lumMod val="65000"/>
                    <a:lumOff val="35000"/>
                  </a:schemeClr>
                </a:solidFill>
                <a:latin typeface="BLS Text" panose="00000500000000000000" pitchFamily="2" charset="-34"/>
                <a:cs typeface="BLS Text" pitchFamily="2" charset="-34"/>
              </a:rPr>
              <a:t>ผู้ชนะจากภาวะอุปทานตึงตัวและวัฏจักรสินค้าโภคภัณฑ์ </a:t>
            </a:r>
            <a:r>
              <a:rPr lang="en-US" sz="820" b="1" dirty="0">
                <a:solidFill>
                  <a:schemeClr val="tx1">
                    <a:lumMod val="65000"/>
                    <a:lumOff val="35000"/>
                  </a:schemeClr>
                </a:solidFill>
                <a:latin typeface="BLS Text" panose="00000500000000000000" pitchFamily="2" charset="-34"/>
                <a:cs typeface="BLS Text" pitchFamily="2" charset="-34"/>
              </a:rPr>
              <a:t>chemical spread</a:t>
            </a:r>
            <a:r>
              <a:rPr lang="th-TH" sz="820" b="1" dirty="0">
                <a:solidFill>
                  <a:schemeClr val="tx1">
                    <a:lumMod val="65000"/>
                    <a:lumOff val="35000"/>
                  </a:schemeClr>
                </a:solidFill>
                <a:latin typeface="BLS Text" panose="00000500000000000000" pitchFamily="2" charset="-34"/>
                <a:cs typeface="BLS Text" pitchFamily="2" charset="-34"/>
              </a:rPr>
              <a:t> ยืนสูง) </a:t>
            </a:r>
            <a:r>
              <a:rPr lang="en-US" sz="820" dirty="0">
                <a:solidFill>
                  <a:schemeClr val="tx1">
                    <a:lumMod val="65000"/>
                    <a:lumOff val="35000"/>
                  </a:schemeClr>
                </a:solidFill>
                <a:latin typeface="BLS Text" panose="00000500000000000000" pitchFamily="2" charset="-34"/>
                <a:cs typeface="BLS Text" pitchFamily="2" charset="-34"/>
              </a:rPr>
              <a:t>PTTGC, IVL, </a:t>
            </a:r>
            <a:r>
              <a:rPr lang="th-TH" sz="820" dirty="0">
                <a:solidFill>
                  <a:schemeClr val="tx1">
                    <a:lumMod val="65000"/>
                    <a:lumOff val="35000"/>
                  </a:schemeClr>
                </a:solidFill>
                <a:latin typeface="BLS Text" panose="00000500000000000000" pitchFamily="2" charset="-34"/>
                <a:cs typeface="BLS Text" pitchFamily="2" charset="-34"/>
              </a:rPr>
              <a:t>และ </a:t>
            </a:r>
            <a:r>
              <a:rPr lang="th-TH" sz="820" b="1" dirty="0">
                <a:solidFill>
                  <a:schemeClr val="tx1">
                    <a:lumMod val="65000"/>
                    <a:lumOff val="35000"/>
                  </a:schemeClr>
                </a:solidFill>
                <a:latin typeface="BLS Text" panose="00000500000000000000" pitchFamily="2" charset="-34"/>
                <a:cs typeface="BLS Text" pitchFamily="2" charset="-34"/>
              </a:rPr>
              <a:t>“</a:t>
            </a:r>
            <a:r>
              <a:rPr lang="en-US" sz="820" b="1" dirty="0">
                <a:solidFill>
                  <a:schemeClr val="tx1">
                    <a:lumMod val="65000"/>
                    <a:lumOff val="35000"/>
                  </a:schemeClr>
                </a:solidFill>
                <a:latin typeface="BLS Text" panose="00000500000000000000" pitchFamily="2" charset="-34"/>
                <a:cs typeface="BLS Text" pitchFamily="2" charset="-34"/>
              </a:rPr>
              <a:t>Over-Penalized Recovery &amp; Re-rating Plays” (</a:t>
            </a:r>
            <a:r>
              <a:rPr lang="th-TH" sz="820" b="1" dirty="0">
                <a:solidFill>
                  <a:schemeClr val="tx1">
                    <a:lumMod val="65000"/>
                    <a:lumOff val="35000"/>
                  </a:schemeClr>
                </a:solidFill>
                <a:latin typeface="BLS Text" panose="00000500000000000000" pitchFamily="2" charset="-34"/>
                <a:cs typeface="BLS Text" pitchFamily="2" charset="-34"/>
              </a:rPr>
              <a:t>หุ้นต่ำมูลค่าที่มีโอกาสฟื้นตัวและถูกประเมินมูลค่าเพิ่ม) </a:t>
            </a:r>
            <a:r>
              <a:rPr lang="en-US" sz="820" dirty="0">
                <a:solidFill>
                  <a:schemeClr val="tx1">
                    <a:lumMod val="65000"/>
                    <a:lumOff val="35000"/>
                  </a:schemeClr>
                </a:solidFill>
                <a:latin typeface="BLS Text" panose="00000500000000000000" pitchFamily="2" charset="-34"/>
                <a:cs typeface="BLS Text" pitchFamily="2" charset="-34"/>
              </a:rPr>
              <a:t>BH</a:t>
            </a:r>
            <a:endParaRPr lang="th-TH" sz="820" b="1" dirty="0">
              <a:solidFill>
                <a:schemeClr val="tx1">
                  <a:lumMod val="65000"/>
                  <a:lumOff val="35000"/>
                </a:schemeClr>
              </a:solidFill>
              <a:latin typeface="BLS Text" panose="00000500000000000000" pitchFamily="2" charset="-34"/>
              <a:cs typeface="BLS Text" pitchFamily="2" charset="-34"/>
            </a:endParaRPr>
          </a:p>
        </p:txBody>
      </p:sp>
      <p:cxnSp>
        <p:nvCxnSpPr>
          <p:cNvPr id="3" name="Straight Connector 2">
            <a:extLst>
              <a:ext uri="{FF2B5EF4-FFF2-40B4-BE49-F238E27FC236}">
                <a16:creationId xmlns:a16="http://schemas.microsoft.com/office/drawing/2014/main" id="{3FB7FD5E-C2F4-696F-9623-665905EA508D}"/>
              </a:ext>
            </a:extLst>
          </p:cNvPr>
          <p:cNvCxnSpPr/>
          <p:nvPr/>
        </p:nvCxnSpPr>
        <p:spPr>
          <a:xfrm>
            <a:off x="2161884" y="410050"/>
            <a:ext cx="0" cy="230832"/>
          </a:xfrm>
          <a:prstGeom prst="line">
            <a:avLst/>
          </a:prstGeom>
          <a:ln w="3175">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92222F-6A22-6060-8AE7-28693619881E}"/>
              </a:ext>
            </a:extLst>
          </p:cNvPr>
          <p:cNvSpPr txBox="1"/>
          <p:nvPr/>
        </p:nvSpPr>
        <p:spPr>
          <a:xfrm>
            <a:off x="2161884" y="337471"/>
            <a:ext cx="1411131" cy="369332"/>
          </a:xfrm>
          <a:prstGeom prst="rect">
            <a:avLst/>
          </a:prstGeom>
          <a:noFill/>
        </p:spPr>
        <p:txBody>
          <a:bodyPr wrap="square" rtlCol="0">
            <a:spAutoFit/>
          </a:bodyPr>
          <a:lstStyle/>
          <a:p>
            <a:r>
              <a:rPr lang="en-US" sz="900" b="1" dirty="0">
                <a:solidFill>
                  <a:schemeClr val="accent3">
                    <a:lumMod val="50000"/>
                  </a:schemeClr>
                </a:solidFill>
                <a:latin typeface="Arial" pitchFamily="34" charset="0"/>
                <a:cs typeface="Arial" pitchFamily="34" charset="0"/>
              </a:rPr>
              <a:t>Data-driven</a:t>
            </a:r>
            <a:endParaRPr lang="th-TH" sz="900" b="1" dirty="0">
              <a:solidFill>
                <a:schemeClr val="accent3">
                  <a:lumMod val="50000"/>
                </a:schemeClr>
              </a:solidFill>
              <a:latin typeface="Arial" pitchFamily="34" charset="0"/>
              <a:cs typeface="Arial" pitchFamily="34" charset="0"/>
            </a:endParaRPr>
          </a:p>
          <a:p>
            <a:r>
              <a:rPr lang="en-US" sz="900" b="1" dirty="0">
                <a:solidFill>
                  <a:schemeClr val="tx2">
                    <a:lumMod val="50000"/>
                  </a:schemeClr>
                </a:solidFill>
                <a:latin typeface="Arial" pitchFamily="34" charset="0"/>
                <a:cs typeface="Arial" pitchFamily="34" charset="0"/>
              </a:rPr>
              <a:t>RESEARCH</a:t>
            </a:r>
          </a:p>
        </p:txBody>
      </p:sp>
      <p:cxnSp>
        <p:nvCxnSpPr>
          <p:cNvPr id="59" name="Straight Connector 58">
            <a:extLst>
              <a:ext uri="{FF2B5EF4-FFF2-40B4-BE49-F238E27FC236}">
                <a16:creationId xmlns:a16="http://schemas.microsoft.com/office/drawing/2014/main" id="{11C7C5D5-EAE4-B3E6-9DF7-E15CEA3E4EEB}"/>
              </a:ext>
            </a:extLst>
          </p:cNvPr>
          <p:cNvCxnSpPr>
            <a:cxnSpLocks/>
          </p:cNvCxnSpPr>
          <p:nvPr/>
        </p:nvCxnSpPr>
        <p:spPr>
          <a:xfrm>
            <a:off x="4008212" y="5076056"/>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1A465B-AFF2-BD30-A3C3-2B78B03168F9}"/>
              </a:ext>
            </a:extLst>
          </p:cNvPr>
          <p:cNvSpPr txBox="1"/>
          <p:nvPr/>
        </p:nvSpPr>
        <p:spPr>
          <a:xfrm>
            <a:off x="4018706" y="5087103"/>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Fundamental picks</a:t>
            </a:r>
          </a:p>
        </p:txBody>
      </p:sp>
      <p:sp>
        <p:nvSpPr>
          <p:cNvPr id="47" name="TextBox 46">
            <a:extLst>
              <a:ext uri="{FF2B5EF4-FFF2-40B4-BE49-F238E27FC236}">
                <a16:creationId xmlns:a16="http://schemas.microsoft.com/office/drawing/2014/main" id="{C9066BA8-BE99-5985-B984-4F43D0AC32DB}"/>
              </a:ext>
            </a:extLst>
          </p:cNvPr>
          <p:cNvSpPr txBox="1"/>
          <p:nvPr/>
        </p:nvSpPr>
        <p:spPr>
          <a:xfrm>
            <a:off x="4293096" y="8486854"/>
            <a:ext cx="2471462" cy="261610"/>
          </a:xfrm>
          <a:prstGeom prst="rect">
            <a:avLst/>
          </a:prstGeom>
          <a:noFill/>
          <a:ln>
            <a:noFill/>
          </a:ln>
        </p:spPr>
        <p:txBody>
          <a:bodyPr wrap="square" rtlCol="0">
            <a:spAutoFit/>
          </a:bodyPr>
          <a:lstStyle/>
          <a:p>
            <a:pPr algn="r"/>
            <a:r>
              <a:rPr lang="en-US" sz="900" b="1" dirty="0">
                <a:solidFill>
                  <a:schemeClr val="accent5">
                    <a:lumMod val="75000"/>
                  </a:schemeClr>
                </a:solidFill>
                <a:latin typeface="BLS Condensed" pitchFamily="2" charset="-34"/>
                <a:ea typeface="Tahoma" pitchFamily="34" charset="0"/>
                <a:cs typeface="BLS Condensed" pitchFamily="2" charset="-34"/>
              </a:rPr>
              <a:t>Wealth Research</a:t>
            </a:r>
            <a:endParaRPr lang="en-US" sz="500" dirty="0">
              <a:solidFill>
                <a:schemeClr val="tx1">
                  <a:lumMod val="95000"/>
                  <a:lumOff val="5000"/>
                </a:schemeClr>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cxnSp>
        <p:nvCxnSpPr>
          <p:cNvPr id="48" name="Straight Connector 47">
            <a:extLst>
              <a:ext uri="{FF2B5EF4-FFF2-40B4-BE49-F238E27FC236}">
                <a16:creationId xmlns:a16="http://schemas.microsoft.com/office/drawing/2014/main" id="{DB442B00-E779-9C8E-61D1-873917185A99}"/>
              </a:ext>
            </a:extLst>
          </p:cNvPr>
          <p:cNvCxnSpPr/>
          <p:nvPr/>
        </p:nvCxnSpPr>
        <p:spPr>
          <a:xfrm>
            <a:off x="4437360" y="8460432"/>
            <a:ext cx="2232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7236C13-3759-8FB1-0CD1-5FC325CB7A9A}"/>
              </a:ext>
            </a:extLst>
          </p:cNvPr>
          <p:cNvSpPr txBox="1"/>
          <p:nvPr/>
        </p:nvSpPr>
        <p:spPr>
          <a:xfrm>
            <a:off x="3461403" y="8611125"/>
            <a:ext cx="2471462" cy="569387"/>
          </a:xfrm>
          <a:prstGeom prst="rect">
            <a:avLst/>
          </a:prstGeom>
          <a:noFill/>
          <a:ln>
            <a:noFill/>
          </a:ln>
        </p:spPr>
        <p:txBody>
          <a:bodyPr wrap="square" rtlCol="0">
            <a:spAutoFit/>
          </a:bodyPr>
          <a:lstStyle/>
          <a:p>
            <a:pPr algn="r"/>
            <a:r>
              <a:rPr lang="th-TH" sz="700" dirty="0">
                <a:solidFill>
                  <a:srgbClr val="404040"/>
                </a:solidFill>
                <a:latin typeface="BLS Condensed" pitchFamily="2" charset="-34"/>
                <a:ea typeface="Tahoma" pitchFamily="34" charset="0"/>
                <a:cs typeface="BLS Condensed" pitchFamily="2" charset="-34"/>
              </a:rPr>
              <a:t>พิริยพล  คงวาณิช</a:t>
            </a:r>
            <a:endParaRPr lang="en-US" sz="7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นักกลยุทธ์/ผู้จัดการกองทุน/</a:t>
            </a:r>
            <a:endParaRPr lang="en-US" sz="5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นักวิเคราะห์การลงทุนปัจจัยพื้นฐานด้านหลักทรัพย์</a:t>
            </a:r>
          </a:p>
          <a:p>
            <a:pPr algn="r"/>
            <a:r>
              <a:rPr lang="en-US" sz="500" dirty="0">
                <a:solidFill>
                  <a:srgbClr val="404040"/>
                </a:solidFill>
                <a:latin typeface="BLS Condensed" pitchFamily="2" charset="-34"/>
                <a:ea typeface="Tahoma" pitchFamily="34" charset="0"/>
                <a:cs typeface="BLS Condensed" pitchFamily="2" charset="-34"/>
              </a:rPr>
              <a:t>Piriyapon.kon@bualuang.co.th</a:t>
            </a:r>
          </a:p>
          <a:p>
            <a:pPr algn="r"/>
            <a:r>
              <a:rPr lang="en-US" sz="500" dirty="0">
                <a:solidFill>
                  <a:schemeClr val="accent5">
                    <a:lumMod val="75000"/>
                  </a:schemeClr>
                </a:solidFill>
                <a:latin typeface="BLS Condensed" pitchFamily="2" charset="-34"/>
                <a:ea typeface="Tahoma" pitchFamily="34" charset="0"/>
                <a:cs typeface="BLS Condensed" pitchFamily="2" charset="-34"/>
              </a:rPr>
              <a:t>+66 2 618 1333</a:t>
            </a:r>
            <a:endParaRPr lang="en-US" sz="7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sp>
        <p:nvSpPr>
          <p:cNvPr id="13" name="TextBox 12">
            <a:extLst>
              <a:ext uri="{FF2B5EF4-FFF2-40B4-BE49-F238E27FC236}">
                <a16:creationId xmlns:a16="http://schemas.microsoft.com/office/drawing/2014/main" id="{6DCBF6DF-DDD7-732E-1011-21022104764B}"/>
              </a:ext>
            </a:extLst>
          </p:cNvPr>
          <p:cNvSpPr txBox="1"/>
          <p:nvPr/>
        </p:nvSpPr>
        <p:spPr>
          <a:xfrm>
            <a:off x="4317629" y="8676456"/>
            <a:ext cx="2471462" cy="338554"/>
          </a:xfrm>
          <a:prstGeom prst="rect">
            <a:avLst/>
          </a:prstGeom>
          <a:noFill/>
          <a:ln>
            <a:noFill/>
          </a:ln>
        </p:spPr>
        <p:txBody>
          <a:bodyPr wrap="square" rtlCol="0">
            <a:spAutoFit/>
          </a:bodyPr>
          <a:lstStyle/>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อิทธิ สุตัณฑวิบูลย์ </a:t>
            </a:r>
          </a:p>
          <a:p>
            <a:pPr algn="r"/>
            <a:r>
              <a:rPr lang="th-TH" sz="500" dirty="0">
                <a:solidFill>
                  <a:srgbClr val="404040"/>
                </a:solidFill>
                <a:latin typeface="BLS Condensed" pitchFamily="2" charset="-34"/>
                <a:ea typeface="Tahoma" pitchFamily="34" charset="0"/>
                <a:cs typeface="BLS Condensed" pitchFamily="2" charset="-34"/>
              </a:rPr>
              <a:t>ผู้ช่วยนักวิเคราะห์</a:t>
            </a:r>
            <a:endParaRPr lang="en-US" sz="5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pic>
        <p:nvPicPr>
          <p:cNvPr id="7" name="Picture 6">
            <a:extLst>
              <a:ext uri="{FF2B5EF4-FFF2-40B4-BE49-F238E27FC236}">
                <a16:creationId xmlns:a16="http://schemas.microsoft.com/office/drawing/2014/main" id="{C373925A-BA06-4974-42A6-EF6BB51E03C9}"/>
              </a:ext>
            </a:extLst>
          </p:cNvPr>
          <p:cNvPicPr>
            <a:picLocks noChangeAspect="1"/>
          </p:cNvPicPr>
          <p:nvPr/>
        </p:nvPicPr>
        <p:blipFill>
          <a:blip r:embed="rId6"/>
          <a:stretch>
            <a:fillRect/>
          </a:stretch>
        </p:blipFill>
        <p:spPr>
          <a:xfrm>
            <a:off x="3968752" y="5339256"/>
            <a:ext cx="2782660" cy="2472012"/>
          </a:xfrm>
          <a:prstGeom prst="rect">
            <a:avLst/>
          </a:prstGeom>
        </p:spPr>
      </p:pic>
      <p:pic>
        <p:nvPicPr>
          <p:cNvPr id="8" name="Picture 7" descr="A table of numbers and symbols&#10;&#10;Description automatically generated with medium confidence">
            <a:extLst>
              <a:ext uri="{FF2B5EF4-FFF2-40B4-BE49-F238E27FC236}">
                <a16:creationId xmlns:a16="http://schemas.microsoft.com/office/drawing/2014/main" id="{0E1FA0FF-1607-2E5F-C7E5-206FFEC4D1C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78307" y="2254465"/>
            <a:ext cx="2754889" cy="2703647"/>
          </a:xfrm>
          <a:prstGeom prst="rect">
            <a:avLst/>
          </a:prstGeom>
        </p:spPr>
      </p:pic>
    </p:spTree>
    <p:extLst>
      <p:ext uri="{BB962C8B-B14F-4D97-AF65-F5344CB8AC3E}">
        <p14:creationId xmlns:p14="http://schemas.microsoft.com/office/powerpoint/2010/main" val="5081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20" name="TextBox 19">
            <a:extLst>
              <a:ext uri="{FF2B5EF4-FFF2-40B4-BE49-F238E27FC236}">
                <a16:creationId xmlns:a16="http://schemas.microsoft.com/office/drawing/2014/main" id="{FC28B75D-C3AA-F0C5-6200-83DB873637CB}"/>
              </a:ext>
            </a:extLst>
          </p:cNvPr>
          <p:cNvSpPr txBox="1"/>
          <p:nvPr/>
        </p:nvSpPr>
        <p:spPr>
          <a:xfrm>
            <a:off x="531946" y="3614936"/>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3614936"/>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3611041"/>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3640682"/>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3631685"/>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252013" y="877132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683568"/>
            <a:ext cx="6552728" cy="646331"/>
          </a:xfrm>
          <a:prstGeom prst="rect">
            <a:avLst/>
          </a:prstGeom>
          <a:noFill/>
        </p:spPr>
        <p:txBody>
          <a:bodyPr wrap="square">
            <a:spAutoFit/>
          </a:bodyPr>
          <a:lstStyle/>
          <a:p>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หากราคาต้นทุนพลังงานลงช้า </a:t>
            </a:r>
          </a:p>
          <a:p>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                                        ต้นทุนที่สูงขึ้นจะเริ่มเข้ามากดดันกำไร </a:t>
            </a:r>
            <a:r>
              <a:rPr lang="en-US" altLang="en-US" dirty="0">
                <a:solidFill>
                  <a:schemeClr val="accent2"/>
                </a:solidFill>
                <a:latin typeface="BLS Condensed Bold" panose="00000800000000000000" pitchFamily="2" charset="-34"/>
                <a:ea typeface="Tahoma" pitchFamily="34" charset="0"/>
                <a:cs typeface="BLS Condensed Bold" panose="00000800000000000000" pitchFamily="2" charset="-34"/>
              </a:rPr>
              <a:t>SET</a:t>
            </a:r>
            <a:r>
              <a:rPr lang="th-TH" altLang="en-US" dirty="0">
                <a:solidFill>
                  <a:schemeClr val="accent2"/>
                </a:solidFill>
                <a:latin typeface="BLS Condensed Bold" panose="00000800000000000000" pitchFamily="2" charset="-34"/>
                <a:ea typeface="Tahoma" pitchFamily="34" charset="0"/>
                <a:cs typeface="BLS Condensed Bold" panose="00000800000000000000" pitchFamily="2" charset="-34"/>
              </a:rPr>
              <a:t> ตั้งแต่ไตรมาส 2</a:t>
            </a:r>
            <a:endParaRPr lang="en-US" altLang="en-US" dirty="0">
              <a:solidFill>
                <a:schemeClr val="accent2"/>
              </a:solidFill>
              <a:latin typeface="BLS Condensed Bold" panose="00000800000000000000" pitchFamily="2" charset="-34"/>
              <a:ea typeface="Tahoma" pitchFamily="34" charset="0"/>
              <a:cs typeface="BLS Condensed Bold" panose="00000800000000000000" pitchFamily="2" charset="-34"/>
            </a:endParaRPr>
          </a:p>
        </p:txBody>
      </p:sp>
      <p:sp>
        <p:nvSpPr>
          <p:cNvPr id="24" name="TextBox 23">
            <a:extLst>
              <a:ext uri="{FF2B5EF4-FFF2-40B4-BE49-F238E27FC236}">
                <a16:creationId xmlns:a16="http://schemas.microsoft.com/office/drawing/2014/main" id="{97B8DEDE-0323-676D-8E1B-73A6C4102A9D}"/>
              </a:ext>
            </a:extLst>
          </p:cNvPr>
          <p:cNvSpPr txBox="1">
            <a:spLocks noChangeArrowheads="1"/>
          </p:cNvSpPr>
          <p:nvPr/>
        </p:nvSpPr>
        <p:spPr bwMode="auto">
          <a:xfrm>
            <a:off x="391857" y="8571269"/>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cxnSp>
        <p:nvCxnSpPr>
          <p:cNvPr id="26" name="Straight Connector 25">
            <a:extLst>
              <a:ext uri="{FF2B5EF4-FFF2-40B4-BE49-F238E27FC236}">
                <a16:creationId xmlns:a16="http://schemas.microsoft.com/office/drawing/2014/main" id="{80EE2C16-6AB7-3E6F-18FC-8299BA999C4C}"/>
              </a:ext>
            </a:extLst>
          </p:cNvPr>
          <p:cNvCxnSpPr>
            <a:cxnSpLocks/>
          </p:cNvCxnSpPr>
          <p:nvPr/>
        </p:nvCxnSpPr>
        <p:spPr>
          <a:xfrm>
            <a:off x="294155" y="8570474"/>
            <a:ext cx="6220743"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FF82378C-B0A0-D6A4-4297-413E3543399A}"/>
              </a:ext>
            </a:extLst>
          </p:cNvPr>
          <p:cNvGraphicFramePr>
            <a:graphicFrameLocks noGrp="1"/>
          </p:cNvGraphicFramePr>
          <p:nvPr>
            <p:extLst>
              <p:ext uri="{D42A27DB-BD31-4B8C-83A1-F6EECF244321}">
                <p14:modId xmlns:p14="http://schemas.microsoft.com/office/powerpoint/2010/main" val="1080265348"/>
              </p:ext>
            </p:extLst>
          </p:nvPr>
        </p:nvGraphicFramePr>
        <p:xfrm>
          <a:off x="159792" y="1331640"/>
          <a:ext cx="6581576" cy="7147959"/>
        </p:xfrm>
        <a:graphic>
          <a:graphicData uri="http://schemas.openxmlformats.org/drawingml/2006/table">
            <a:tbl>
              <a:tblPr bandRow="1">
                <a:tableStyleId>{3B4B98B0-60AC-42C2-AFA5-B58CD77FA1E5}</a:tableStyleId>
              </a:tblPr>
              <a:tblGrid>
                <a:gridCol w="748928">
                  <a:extLst>
                    <a:ext uri="{9D8B030D-6E8A-4147-A177-3AD203B41FA5}">
                      <a16:colId xmlns:a16="http://schemas.microsoft.com/office/drawing/2014/main" val="3000494424"/>
                    </a:ext>
                  </a:extLst>
                </a:gridCol>
                <a:gridCol w="504056">
                  <a:extLst>
                    <a:ext uri="{9D8B030D-6E8A-4147-A177-3AD203B41FA5}">
                      <a16:colId xmlns:a16="http://schemas.microsoft.com/office/drawing/2014/main" val="1245123072"/>
                    </a:ext>
                  </a:extLst>
                </a:gridCol>
                <a:gridCol w="648072">
                  <a:extLst>
                    <a:ext uri="{9D8B030D-6E8A-4147-A177-3AD203B41FA5}">
                      <a16:colId xmlns:a16="http://schemas.microsoft.com/office/drawing/2014/main" val="2306194084"/>
                    </a:ext>
                  </a:extLst>
                </a:gridCol>
                <a:gridCol w="4680520">
                  <a:extLst>
                    <a:ext uri="{9D8B030D-6E8A-4147-A177-3AD203B41FA5}">
                      <a16:colId xmlns:a16="http://schemas.microsoft.com/office/drawing/2014/main" val="4020263589"/>
                    </a:ext>
                  </a:extLst>
                </a:gridCol>
              </a:tblGrid>
              <a:tr h="242404">
                <a:tc>
                  <a:txBody>
                    <a:bodyPr/>
                    <a:lstStyle/>
                    <a:p>
                      <a:pPr algn="ctr"/>
                      <a:r>
                        <a:rPr lang="th-TH" sz="900" b="1" dirty="0">
                          <a:solidFill>
                            <a:schemeClr val="bg1"/>
                          </a:solidFill>
                          <a:latin typeface="BLS Text" panose="00000500000000000000" pitchFamily="2" charset="-34"/>
                          <a:cs typeface="BLS Text" panose="00000500000000000000" pitchFamily="2" charset="-34"/>
                        </a:rPr>
                        <a:t>ธุรกิจ</a:t>
                      </a:r>
                    </a:p>
                  </a:txBody>
                  <a:tcPr marL="7982" marR="7982" marT="3991" marB="3991" anchor="ctr">
                    <a:solidFill>
                      <a:srgbClr val="215968"/>
                    </a:solidFill>
                  </a:tcPr>
                </a:tc>
                <a:tc>
                  <a:txBody>
                    <a:bodyPr/>
                    <a:lstStyle/>
                    <a:p>
                      <a:pPr algn="ctr"/>
                      <a:r>
                        <a:rPr lang="th-TH" sz="900" b="1" dirty="0">
                          <a:solidFill>
                            <a:schemeClr val="bg1"/>
                          </a:solidFill>
                          <a:latin typeface="BLS Text" panose="00000500000000000000" pitchFamily="2" charset="-34"/>
                          <a:cs typeface="BLS Text" panose="00000500000000000000" pitchFamily="2" charset="-34"/>
                        </a:rPr>
                        <a:t>ความเสี่ยงต้นทุน</a:t>
                      </a:r>
                    </a:p>
                  </a:txBody>
                  <a:tcPr marL="7982" marR="7982" marT="3991" marB="3991" anchor="ctr">
                    <a:solidFill>
                      <a:srgbClr val="215968"/>
                    </a:solidFill>
                  </a:tcPr>
                </a:tc>
                <a:tc>
                  <a:txBody>
                    <a:bodyPr/>
                    <a:lstStyle/>
                    <a:p>
                      <a:pPr algn="ctr"/>
                      <a:r>
                        <a:rPr lang="th-TH" sz="900" b="1" dirty="0">
                          <a:solidFill>
                            <a:schemeClr val="bg1"/>
                          </a:solidFill>
                          <a:latin typeface="BLS Text" panose="00000500000000000000" pitchFamily="2" charset="-34"/>
                          <a:cs typeface="BLS Text" panose="00000500000000000000" pitchFamily="2" charset="-34"/>
                        </a:rPr>
                        <a:t>ช่วงเวลาที่เริ่มถูกกระทบ</a:t>
                      </a:r>
                    </a:p>
                  </a:txBody>
                  <a:tcPr marL="7982" marR="7982" marT="3991" marB="3991" anchor="ctr">
                    <a:solidFill>
                      <a:srgbClr val="215968"/>
                    </a:solidFill>
                  </a:tcPr>
                </a:tc>
                <a:tc>
                  <a:txBody>
                    <a:bodyPr/>
                    <a:lstStyle/>
                    <a:p>
                      <a:pPr algn="ctr"/>
                      <a:r>
                        <a:rPr lang="th-TH" sz="900" b="1" dirty="0">
                          <a:solidFill>
                            <a:schemeClr val="bg1"/>
                          </a:solidFill>
                          <a:latin typeface="BLS Text" panose="00000500000000000000" pitchFamily="2" charset="-34"/>
                          <a:cs typeface="BLS Text" panose="00000500000000000000" pitchFamily="2" charset="-34"/>
                        </a:rPr>
                        <a:t>รายละเอียด</a:t>
                      </a:r>
                    </a:p>
                  </a:txBody>
                  <a:tcPr marL="7982" marR="7982" marT="3991" marB="3991" anchor="ctr">
                    <a:solidFill>
                      <a:srgbClr val="215968"/>
                    </a:solidFill>
                  </a:tcPr>
                </a:tc>
                <a:extLst>
                  <a:ext uri="{0D108BD9-81ED-4DB2-BD59-A6C34878D82A}">
                    <a16:rowId xmlns:a16="http://schemas.microsoft.com/office/drawing/2014/main" val="4035294127"/>
                  </a:ext>
                </a:extLst>
              </a:tr>
              <a:tr h="242404">
                <a:tc>
                  <a:txBody>
                    <a:bodyPr/>
                    <a:lstStyle/>
                    <a:p>
                      <a:pPr algn="ctr"/>
                      <a:r>
                        <a:rPr lang="th-TH" sz="900" dirty="0">
                          <a:latin typeface="BLS Text" panose="00000500000000000000" pitchFamily="2" charset="-34"/>
                          <a:cs typeface="BLS Text" panose="00000500000000000000" pitchFamily="2" charset="-34"/>
                        </a:rPr>
                        <a:t>สายการบิน</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สูง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1Q26</a:t>
                      </a:r>
                      <a:endParaRPr lang="th-TH" sz="90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ต้นทุนเชื้อเพลิงปรับตัวเพิ่มขึ้น ในขณะที่อุปสงค์การเดินทางอ่อนตัวช่วง</a:t>
                      </a:r>
                      <a:r>
                        <a:rPr lang="en-US" sz="900" dirty="0">
                          <a:latin typeface="BLS Text" panose="00000500000000000000" pitchFamily="2" charset="-34"/>
                          <a:cs typeface="BLS Text" panose="00000500000000000000" pitchFamily="2" charset="-34"/>
                        </a:rPr>
                        <a:t> low season</a:t>
                      </a:r>
                      <a:r>
                        <a:rPr lang="th-TH" sz="900" dirty="0">
                          <a:latin typeface="BLS Text" panose="00000500000000000000" pitchFamily="2" charset="-34"/>
                          <a:cs typeface="BLS Text" panose="00000500000000000000" pitchFamily="2" charset="-34"/>
                        </a:rPr>
                        <a:t> ส่งผลให้รายได้ไม่สามารถเติบโตตามต้นทุน ทำให้กำไรอาจถูกกดดันจากทั้งด้านรายได้และต้นทุนพร้อมกัน</a:t>
                      </a:r>
                    </a:p>
                  </a:txBody>
                  <a:tcPr marL="7982" marR="7982" marT="3991" marB="3991" anchor="ctr"/>
                </a:tc>
                <a:extLst>
                  <a:ext uri="{0D108BD9-81ED-4DB2-BD59-A6C34878D82A}">
                    <a16:rowId xmlns:a16="http://schemas.microsoft.com/office/drawing/2014/main" val="1984291075"/>
                  </a:ext>
                </a:extLst>
              </a:tr>
              <a:tr h="360179">
                <a:tc>
                  <a:txBody>
                    <a:bodyPr/>
                    <a:lstStyle/>
                    <a:p>
                      <a:pPr algn="ctr"/>
                      <a:r>
                        <a:rPr lang="th-TH" sz="900" dirty="0">
                          <a:latin typeface="BLS Text" panose="00000500000000000000" pitchFamily="2" charset="-34"/>
                          <a:cs typeface="BLS Text" panose="00000500000000000000" pitchFamily="2" charset="-34"/>
                        </a:rPr>
                        <a:t>โรงไฟฟ้า </a:t>
                      </a:r>
                      <a:r>
                        <a:rPr lang="en-US" sz="900" dirty="0">
                          <a:latin typeface="BLS Text" panose="00000500000000000000" pitchFamily="2" charset="-34"/>
                          <a:cs typeface="BLS Text" panose="00000500000000000000" pitchFamily="2" charset="-34"/>
                        </a:rPr>
                        <a:t>SPP</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สูง</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ปลาย</a:t>
                      </a:r>
                      <a:r>
                        <a:rPr lang="en-US" sz="900" dirty="0">
                          <a:latin typeface="BLS Text" panose="00000500000000000000" pitchFamily="2" charset="-34"/>
                          <a:cs typeface="BLS Text" panose="00000500000000000000" pitchFamily="2" charset="-34"/>
                        </a:rPr>
                        <a:t> </a:t>
                      </a:r>
                      <a:r>
                        <a:rPr lang="th-TH" sz="900" dirty="0">
                          <a:latin typeface="BLS Text" panose="00000500000000000000" pitchFamily="2" charset="-34"/>
                          <a:cs typeface="BLS Text" panose="00000500000000000000" pitchFamily="2" charset="-34"/>
                        </a:rPr>
                        <a:t>1</a:t>
                      </a:r>
                      <a:r>
                        <a:rPr lang="en-US" sz="900" dirty="0">
                          <a:latin typeface="BLS Text" panose="00000500000000000000" pitchFamily="2" charset="-34"/>
                          <a:cs typeface="BLS Text" panose="00000500000000000000" pitchFamily="2" charset="-34"/>
                        </a:rPr>
                        <a:t>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ค่าไฟฟ้าอยู่ที่ 3.88 บาทต่อหน่วยช่วงเดือนม.ค.-เม.ย. และ 3.95 บาทต่อหน่วยช่วงเดือนพ.ค.-ส.ค. ขณะที่ต้นทุนก๊าซปรับเพิ่มขึ้นในอัตราที่เร็วกว่า ส่งผลให้รายได้ไม่สามารถปรับขึ้นทันต้นทุน ทำให้อัตรากำไรถูกกดดันโดยตรง</a:t>
                      </a:r>
                    </a:p>
                  </a:txBody>
                  <a:tcPr marL="7982" marR="7982" marT="3991" marB="3991" anchor="ctr"/>
                </a:tc>
                <a:extLst>
                  <a:ext uri="{0D108BD9-81ED-4DB2-BD59-A6C34878D82A}">
                    <a16:rowId xmlns:a16="http://schemas.microsoft.com/office/drawing/2014/main" val="2978584856"/>
                  </a:ext>
                </a:extLst>
              </a:tr>
              <a:tr h="242404">
                <a:tc>
                  <a:txBody>
                    <a:bodyPr/>
                    <a:lstStyle/>
                    <a:p>
                      <a:pPr algn="ctr"/>
                      <a:r>
                        <a:rPr lang="th-TH" sz="900" dirty="0">
                          <a:latin typeface="BLS Text" panose="00000500000000000000" pitchFamily="2" charset="-34"/>
                          <a:cs typeface="BLS Text" panose="00000500000000000000" pitchFamily="2" charset="-34"/>
                        </a:rPr>
                        <a:t>เครื่องดื่ม</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สูง</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 2</a:t>
                      </a:r>
                      <a:r>
                        <a:rPr lang="en-US" sz="900" dirty="0">
                          <a:latin typeface="BLS Text" panose="00000500000000000000" pitchFamily="2" charset="-34"/>
                          <a:cs typeface="BLS Text" panose="00000500000000000000" pitchFamily="2" charset="-34"/>
                        </a:rPr>
                        <a:t>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ต้นทุนบรรจุภัณฑ์คิดเป็นประมาณ 30% ของต้นทุนขาย เมื่อรวมกับต้นทุนขนส่งที่เพิ่มขึ้น ส่งผลให้ต้นทุนรวมปรับสูงขึ้น ขณะที่ความสามารถในการปรับราคาขายมีข้อจำกัด ทำให้อัตรากำไรลดลง</a:t>
                      </a:r>
                    </a:p>
                  </a:txBody>
                  <a:tcPr marL="7982" marR="7982" marT="3991" marB="3991" anchor="ctr"/>
                </a:tc>
                <a:extLst>
                  <a:ext uri="{0D108BD9-81ED-4DB2-BD59-A6C34878D82A}">
                    <a16:rowId xmlns:a16="http://schemas.microsoft.com/office/drawing/2014/main" val="2139658935"/>
                  </a:ext>
                </a:extLst>
              </a:tr>
              <a:tr h="360179">
                <a:tc>
                  <a:txBody>
                    <a:bodyPr/>
                    <a:lstStyle/>
                    <a:p>
                      <a:pPr algn="ctr"/>
                      <a:r>
                        <a:rPr lang="th-TH" sz="900" dirty="0">
                          <a:latin typeface="BLS Text" panose="00000500000000000000" pitchFamily="2" charset="-34"/>
                          <a:cs typeface="BLS Text" panose="00000500000000000000" pitchFamily="2" charset="-34"/>
                        </a:rPr>
                        <a:t>ค้าปลีกวัสดุก่อสร้าง</a:t>
                      </a:r>
                      <a:endParaRPr lang="en-US" sz="90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กลาง/สูง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ต้นทุนขนส่งและค่าไฟคิดเป็นประมาณ 2–3% ของรายได้ แม้สัดส่วนไม่สูง แต่เนื่องจากความสามารถในการส่งผ่านต้นทุนมีจำกัด ประเมินราคาดีเซลขึ้นทุก 20</a:t>
                      </a:r>
                      <a:r>
                        <a:rPr lang="en-US" sz="900" dirty="0">
                          <a:latin typeface="BLS Text" panose="00000500000000000000" pitchFamily="2" charset="-34"/>
                          <a:cs typeface="BLS Text" panose="00000500000000000000" pitchFamily="2" charset="-34"/>
                        </a:rPr>
                        <a:t>%</a:t>
                      </a:r>
                      <a:r>
                        <a:rPr lang="th-TH" sz="900" dirty="0">
                          <a:latin typeface="BLS Text" panose="00000500000000000000" pitchFamily="2" charset="-34"/>
                          <a:cs typeface="BLS Text" panose="00000500000000000000" pitchFamily="2" charset="-34"/>
                        </a:rPr>
                        <a:t> จะกดดันกำไรประมาณ 8–12% จากการเพิ่มขึ้นของต้นทุนขนส่ง</a:t>
                      </a:r>
                    </a:p>
                  </a:txBody>
                  <a:tcPr marL="7982" marR="7982" marT="3991" marB="3991" anchor="ctr"/>
                </a:tc>
                <a:extLst>
                  <a:ext uri="{0D108BD9-81ED-4DB2-BD59-A6C34878D82A}">
                    <a16:rowId xmlns:a16="http://schemas.microsoft.com/office/drawing/2014/main" val="1571594391"/>
                  </a:ext>
                </a:extLst>
              </a:tr>
              <a:tr h="242404">
                <a:tc>
                  <a:txBody>
                    <a:bodyPr/>
                    <a:lstStyle/>
                    <a:p>
                      <a:pPr algn="ctr"/>
                      <a:r>
                        <a:rPr lang="th-TH" sz="900" dirty="0">
                          <a:latin typeface="BLS Text" panose="00000500000000000000" pitchFamily="2" charset="-34"/>
                          <a:cs typeface="BLS Text" panose="00000500000000000000" pitchFamily="2" charset="-34"/>
                        </a:rPr>
                        <a:t>ค้าปลีกของใช้จำเป็น</a:t>
                      </a:r>
                      <a:r>
                        <a:rPr lang="en-US" sz="900" dirty="0">
                          <a:latin typeface="BLS Text" panose="00000500000000000000" pitchFamily="2" charset="-34"/>
                          <a:cs typeface="BLS Text" panose="00000500000000000000" pitchFamily="2" charset="-34"/>
                        </a:rPr>
                        <a:t> / Mall</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ต้นทุนคิดเป็นประมาณ 3–4% ของรายได้ สามารถส่งผ่านต้นทุนได้บางส่วน ประเมินราคาดีเซลขึ้นทุก 20</a:t>
                      </a:r>
                      <a:r>
                        <a:rPr lang="en-US" sz="900" dirty="0">
                          <a:latin typeface="BLS Text" panose="00000500000000000000" pitchFamily="2" charset="-34"/>
                          <a:cs typeface="BLS Text" panose="00000500000000000000" pitchFamily="2" charset="-34"/>
                        </a:rPr>
                        <a:t>%</a:t>
                      </a:r>
                      <a:r>
                        <a:rPr lang="th-TH" sz="900" dirty="0">
                          <a:latin typeface="BLS Text" panose="00000500000000000000" pitchFamily="2" charset="-34"/>
                          <a:cs typeface="BLS Text" panose="00000500000000000000" pitchFamily="2" charset="-34"/>
                        </a:rPr>
                        <a:t> จะกดดันกำไรประมาณ 6–8%</a:t>
                      </a:r>
                    </a:p>
                  </a:txBody>
                  <a:tcPr marL="7982" marR="7982" marT="3991" marB="3991" anchor="ctr"/>
                </a:tc>
                <a:extLst>
                  <a:ext uri="{0D108BD9-81ED-4DB2-BD59-A6C34878D82A}">
                    <a16:rowId xmlns:a16="http://schemas.microsoft.com/office/drawing/2014/main" val="1435720439"/>
                  </a:ext>
                </a:extLst>
              </a:tr>
              <a:tr h="242404">
                <a:tc>
                  <a:txBody>
                    <a:bodyPr/>
                    <a:lstStyle/>
                    <a:p>
                      <a:pPr algn="ctr"/>
                      <a:r>
                        <a:rPr lang="th-TH" sz="900" dirty="0">
                          <a:latin typeface="BLS Text" panose="00000500000000000000" pitchFamily="2" charset="-34"/>
                          <a:cs typeface="BLS Text" panose="00000500000000000000" pitchFamily="2" charset="-34"/>
                        </a:rPr>
                        <a:t>ค้าปลีกสินค้า </a:t>
                      </a:r>
                      <a:r>
                        <a:rPr lang="en-US" sz="900" dirty="0">
                          <a:latin typeface="BLS Text" panose="00000500000000000000" pitchFamily="2" charset="-34"/>
                          <a:cs typeface="BLS Text" panose="00000500000000000000" pitchFamily="2" charset="-34"/>
                        </a:rPr>
                        <a:t>IT</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ต้นทุนอยู่ในระดับต่ำเพียง 1–2% ของรายได้ ประเมินราคาดีเซลขึ้นทุก 20</a:t>
                      </a:r>
                      <a:r>
                        <a:rPr lang="en-US" sz="900" dirty="0">
                          <a:latin typeface="BLS Text" panose="00000500000000000000" pitchFamily="2" charset="-34"/>
                          <a:cs typeface="BLS Text" panose="00000500000000000000" pitchFamily="2" charset="-34"/>
                        </a:rPr>
                        <a:t>%</a:t>
                      </a:r>
                      <a:r>
                        <a:rPr lang="th-TH" sz="900" dirty="0">
                          <a:latin typeface="BLS Text" panose="00000500000000000000" pitchFamily="2" charset="-34"/>
                          <a:cs typeface="BLS Text" panose="00000500000000000000" pitchFamily="2" charset="-34"/>
                        </a:rPr>
                        <a:t> จะกดดันกำไรประมาณ 2–4%</a:t>
                      </a:r>
                    </a:p>
                  </a:txBody>
                  <a:tcPr marL="7982" marR="7982" marT="3991" marB="3991" anchor="ctr"/>
                </a:tc>
                <a:extLst>
                  <a:ext uri="{0D108BD9-81ED-4DB2-BD59-A6C34878D82A}">
                    <a16:rowId xmlns:a16="http://schemas.microsoft.com/office/drawing/2014/main" val="3255174300"/>
                  </a:ext>
                </a:extLst>
              </a:tr>
              <a:tr h="242404">
                <a:tc>
                  <a:txBody>
                    <a:bodyPr/>
                    <a:lstStyle/>
                    <a:p>
                      <a:pPr algn="ctr"/>
                      <a:r>
                        <a:rPr lang="th-TH" sz="900" dirty="0">
                          <a:latin typeface="BLS Text" panose="00000500000000000000" pitchFamily="2" charset="-34"/>
                          <a:cs typeface="BLS Text" panose="00000500000000000000" pitchFamily="2" charset="-34"/>
                        </a:rPr>
                        <a:t>ผู้ผลิตชิ้นส่วนอิเล็กทรอนิกส์</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ระยะเวลาการส่งมอบสินค้ายาวขึ้น ค่าขนส่งปรับเพิ่ม และต้นทุนโลหะ เช่น ทองแดง อยู่ในระดับสูง ส่งผลให้ต้นทุนต่อหน่วยเพิ่มขึ้น แม้จะมีแรงหนุนจากอุปสงค์ด้าน </a:t>
                      </a:r>
                      <a:r>
                        <a:rPr lang="en-US" sz="900" dirty="0">
                          <a:latin typeface="BLS Text" panose="00000500000000000000" pitchFamily="2" charset="-34"/>
                          <a:cs typeface="BLS Text" panose="00000500000000000000" pitchFamily="2" charset="-34"/>
                        </a:rPr>
                        <a:t>data center</a:t>
                      </a:r>
                    </a:p>
                  </a:txBody>
                  <a:tcPr marL="7982" marR="7982" marT="3991" marB="3991" anchor="ctr"/>
                </a:tc>
                <a:extLst>
                  <a:ext uri="{0D108BD9-81ED-4DB2-BD59-A6C34878D82A}">
                    <a16:rowId xmlns:a16="http://schemas.microsoft.com/office/drawing/2014/main" val="36367751"/>
                  </a:ext>
                </a:extLst>
              </a:tr>
              <a:tr h="242404">
                <a:tc>
                  <a:txBody>
                    <a:bodyPr/>
                    <a:lstStyle/>
                    <a:p>
                      <a:pPr algn="ctr"/>
                      <a:r>
                        <a:rPr lang="th-TH" sz="900" dirty="0">
                          <a:latin typeface="BLS Text" panose="00000500000000000000" pitchFamily="2" charset="-34"/>
                          <a:cs typeface="BLS Text" panose="00000500000000000000" pitchFamily="2" charset="-34"/>
                        </a:rPr>
                        <a:t>ผู้ผลิตชิ้นส่วนยานยนต์</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ต้นทุนเม็ดพลาสติกเรซิ่นคิดเป็นประมาณ 5% ของต้นทุนขาย การเพิ่มขึ้นของต้นทุนดังกล่าวมีผลต่ออัตรากำไร แต่ผลกระทบจะทยอยรับรู้เนื่องจากมีระยะเวลาในการปรับต้นทุน</a:t>
                      </a:r>
                    </a:p>
                  </a:txBody>
                  <a:tcPr marL="7982" marR="7982" marT="3991" marB="3991" anchor="ctr"/>
                </a:tc>
                <a:extLst>
                  <a:ext uri="{0D108BD9-81ED-4DB2-BD59-A6C34878D82A}">
                    <a16:rowId xmlns:a16="http://schemas.microsoft.com/office/drawing/2014/main" val="442182606"/>
                  </a:ext>
                </a:extLst>
              </a:tr>
              <a:tr h="124629">
                <a:tc>
                  <a:txBody>
                    <a:bodyPr/>
                    <a:lstStyle/>
                    <a:p>
                      <a:pPr algn="ctr"/>
                      <a:r>
                        <a:rPr lang="th-TH" sz="900" dirty="0">
                          <a:latin typeface="BLS Text" panose="00000500000000000000" pitchFamily="2" charset="-34"/>
                          <a:cs typeface="BLS Text" panose="00000500000000000000" pitchFamily="2" charset="-34"/>
                        </a:rPr>
                        <a:t>โรงกลั่น</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1Q26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ค่าการกลั่นปรับเพิ่มขึ้นจากภาวะอุปทานตึงตัว ช่วยหนุนอัตรากำไร แม้ว่าจะมีความเสี่ยงด้านวัตถุดิบ</a:t>
                      </a:r>
                    </a:p>
                  </a:txBody>
                  <a:tcPr marL="7982" marR="7982" marT="3991" marB="3991" anchor="ctr"/>
                </a:tc>
                <a:extLst>
                  <a:ext uri="{0D108BD9-81ED-4DB2-BD59-A6C34878D82A}">
                    <a16:rowId xmlns:a16="http://schemas.microsoft.com/office/drawing/2014/main" val="2953933333"/>
                  </a:ext>
                </a:extLst>
              </a:tr>
              <a:tr h="242404">
                <a:tc>
                  <a:txBody>
                    <a:bodyPr/>
                    <a:lstStyle/>
                    <a:p>
                      <a:pPr algn="ctr"/>
                      <a:r>
                        <a:rPr lang="th-TH" sz="900" dirty="0">
                          <a:latin typeface="BLS Text" panose="00000500000000000000" pitchFamily="2" charset="-34"/>
                          <a:cs typeface="BLS Text" panose="00000500000000000000" pitchFamily="2" charset="-34"/>
                        </a:rPr>
                        <a:t>วัสดุก่อสร้าง</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ต้นทุนพลังงานเพิ่มขึ้น แต่มีการบริหารผ่านสัญญาล่วงหน้าและการใช้เชื้อเพลิงทางเลือก ทำให้ผลกระทบอยู่ในระดับจำกัด</a:t>
                      </a:r>
                    </a:p>
                  </a:txBody>
                  <a:tcPr marL="7982" marR="7982" marT="3991" marB="3991" anchor="ctr"/>
                </a:tc>
                <a:extLst>
                  <a:ext uri="{0D108BD9-81ED-4DB2-BD59-A6C34878D82A}">
                    <a16:rowId xmlns:a16="http://schemas.microsoft.com/office/drawing/2014/main" val="4154110994"/>
                  </a:ext>
                </a:extLst>
              </a:tr>
              <a:tr h="242404">
                <a:tc>
                  <a:txBody>
                    <a:bodyPr/>
                    <a:lstStyle/>
                    <a:p>
                      <a:pPr algn="ctr"/>
                      <a:r>
                        <a:rPr lang="th-TH" sz="900" dirty="0">
                          <a:latin typeface="BLS Text" panose="00000500000000000000" pitchFamily="2" charset="-34"/>
                          <a:cs typeface="BLS Text" panose="00000500000000000000" pitchFamily="2" charset="-34"/>
                        </a:rPr>
                        <a:t>บรรจุภัณฑ์</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endParaRPr lang="th-TH" sz="900" dirty="0">
                        <a:latin typeface="BLS Text" panose="00000500000000000000" pitchFamily="2" charset="-34"/>
                        <a:cs typeface="BLS Text" panose="00000500000000000000" pitchFamily="2" charset="-34"/>
                      </a:endParaRP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ต้นทุนพลังงานเพิ่มขึ้น แต่มีการทำสัญญาล่วงหน้าและใช้พลังงานทางเลือก จึงช่วยลดความผันผวนของต้นทุน</a:t>
                      </a:r>
                    </a:p>
                  </a:txBody>
                  <a:tcPr marL="7982" marR="7982" marT="3991" marB="3991" anchor="ctr"/>
                </a:tc>
                <a:extLst>
                  <a:ext uri="{0D108BD9-81ED-4DB2-BD59-A6C34878D82A}">
                    <a16:rowId xmlns:a16="http://schemas.microsoft.com/office/drawing/2014/main" val="2819295564"/>
                  </a:ext>
                </a:extLst>
              </a:tr>
              <a:tr h="242404">
                <a:tc>
                  <a:txBody>
                    <a:bodyPr/>
                    <a:lstStyle/>
                    <a:p>
                      <a:pPr algn="ctr"/>
                      <a:r>
                        <a:rPr lang="th-TH" sz="900" dirty="0">
                          <a:latin typeface="BLS Text" panose="00000500000000000000" pitchFamily="2" charset="-34"/>
                          <a:cs typeface="BLS Text" panose="00000500000000000000" pitchFamily="2" charset="-34"/>
                        </a:rPr>
                        <a:t>โรงแรม (ไทย)</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2</a:t>
                      </a:r>
                      <a:r>
                        <a:rPr lang="en-US" sz="900" dirty="0">
                          <a:latin typeface="BLS Text" panose="00000500000000000000" pitchFamily="2" charset="-34"/>
                          <a:cs typeface="BLS Text" panose="00000500000000000000" pitchFamily="2" charset="-34"/>
                        </a:rPr>
                        <a:t>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อุปสงค์นักท่องเที่ยวลดลงจากต้นทุนการเดินทางที่เพิ่มขึ้นและปัจจัยภูมิรัฐศาสตร์ ส่งผลให้รายได้ต่อห้องพักลดลง ขณะที่ต้นทุนยังอยู่ในระดับสูง</a:t>
                      </a:r>
                    </a:p>
                  </a:txBody>
                  <a:tcPr marL="7982" marR="7982" marT="3991" marB="3991" anchor="ctr"/>
                </a:tc>
                <a:extLst>
                  <a:ext uri="{0D108BD9-81ED-4DB2-BD59-A6C34878D82A}">
                    <a16:rowId xmlns:a16="http://schemas.microsoft.com/office/drawing/2014/main" val="1329403244"/>
                  </a:ext>
                </a:extLst>
              </a:tr>
              <a:tr h="242404">
                <a:tc>
                  <a:txBody>
                    <a:bodyPr/>
                    <a:lstStyle/>
                    <a:p>
                      <a:pPr algn="ctr"/>
                      <a:r>
                        <a:rPr lang="th-TH" sz="900" dirty="0">
                          <a:latin typeface="BLS Text" panose="00000500000000000000" pitchFamily="2" charset="-34"/>
                          <a:cs typeface="BLS Text" panose="00000500000000000000" pitchFamily="2" charset="-34"/>
                        </a:rPr>
                        <a:t>รับเหมาก่อสร้าง</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ต้นทุนพลังงานคิดเป็น 2–3% ของต้นทุนรวม และเหล็กประมาณ 10% ของต้นทุน โดยมีงานในมือ </a:t>
                      </a:r>
                      <a:r>
                        <a:rPr lang="en-US" sz="900" dirty="0">
                          <a:latin typeface="BLS Text" panose="00000500000000000000" pitchFamily="2" charset="-34"/>
                          <a:cs typeface="BLS Text" panose="00000500000000000000" pitchFamily="2" charset="-34"/>
                        </a:rPr>
                        <a:t>backlog </a:t>
                      </a:r>
                      <a:r>
                        <a:rPr lang="th-TH" sz="900" dirty="0">
                          <a:latin typeface="BLS Text" panose="00000500000000000000" pitchFamily="2" charset="-34"/>
                          <a:cs typeface="BLS Text" panose="00000500000000000000" pitchFamily="2" charset="-34"/>
                        </a:rPr>
                        <a:t>ช่วยจำกัดผลกระทบในระยะสั้น</a:t>
                      </a:r>
                    </a:p>
                  </a:txBody>
                  <a:tcPr marL="7982" marR="7982" marT="3991" marB="3991" anchor="ctr"/>
                </a:tc>
                <a:extLst>
                  <a:ext uri="{0D108BD9-81ED-4DB2-BD59-A6C34878D82A}">
                    <a16:rowId xmlns:a16="http://schemas.microsoft.com/office/drawing/2014/main" val="925145638"/>
                  </a:ext>
                </a:extLst>
              </a:tr>
              <a:tr h="298763">
                <a:tc>
                  <a:txBody>
                    <a:bodyPr/>
                    <a:lstStyle/>
                    <a:p>
                      <a:pPr algn="ctr"/>
                      <a:r>
                        <a:rPr lang="th-TH" sz="900" dirty="0">
                          <a:latin typeface="BLS Text" panose="00000500000000000000" pitchFamily="2" charset="-34"/>
                          <a:cs typeface="BLS Text" panose="00000500000000000000" pitchFamily="2" charset="-34"/>
                        </a:rPr>
                        <a:t>สนามบิน</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กลาง</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จำนวนผู้โดยสารลดลง ส่งผลให้รายได้จากการให้บริการลดลงตาม</a:t>
                      </a:r>
                    </a:p>
                  </a:txBody>
                  <a:tcPr marL="7982" marR="7982" marT="3991" marB="3991" anchor="ctr"/>
                </a:tc>
                <a:extLst>
                  <a:ext uri="{0D108BD9-81ED-4DB2-BD59-A6C34878D82A}">
                    <a16:rowId xmlns:a16="http://schemas.microsoft.com/office/drawing/2014/main" val="1861169215"/>
                  </a:ext>
                </a:extLst>
              </a:tr>
              <a:tr h="360179">
                <a:tc>
                  <a:txBody>
                    <a:bodyPr/>
                    <a:lstStyle/>
                    <a:p>
                      <a:pPr algn="ctr"/>
                      <a:r>
                        <a:rPr lang="th-TH" sz="900" dirty="0">
                          <a:latin typeface="BLS Text" panose="00000500000000000000" pitchFamily="2" charset="-34"/>
                          <a:cs typeface="BLS Text" panose="00000500000000000000" pitchFamily="2" charset="-34"/>
                        </a:rPr>
                        <a:t>ส่งออกอาหาร-สัตว์เลี้ยง</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ต่ำ/กลาง</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ปลาย 2</a:t>
                      </a:r>
                      <a:r>
                        <a:rPr lang="en-US" sz="900" dirty="0">
                          <a:latin typeface="BLS Text" panose="00000500000000000000" pitchFamily="2" charset="-34"/>
                          <a:cs typeface="BLS Text" panose="00000500000000000000" pitchFamily="2" charset="-34"/>
                        </a:rPr>
                        <a:t>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ต้นทุนปลาทูน่าคิดเป็น 15–20% ของต้นทุนขาย และบรรจุภัณฑ์ประมาณหนึ่งในสามของต้นทุนขาย อย่างไรก็ตาม การส่งออกในรูปแบบ </a:t>
                      </a:r>
                      <a:r>
                        <a:rPr lang="en-US" sz="900" dirty="0">
                          <a:latin typeface="BLS Text" panose="00000500000000000000" pitchFamily="2" charset="-34"/>
                          <a:cs typeface="BLS Text" panose="00000500000000000000" pitchFamily="2" charset="-34"/>
                        </a:rPr>
                        <a:t>FOB </a:t>
                      </a:r>
                      <a:r>
                        <a:rPr lang="th-TH" sz="900" dirty="0">
                          <a:latin typeface="BLS Text" panose="00000500000000000000" pitchFamily="2" charset="-34"/>
                          <a:cs typeface="BLS Text" panose="00000500000000000000" pitchFamily="2" charset="-34"/>
                        </a:rPr>
                        <a:t>ช่วยลดผลกระทบจากค่าขนส่ง</a:t>
                      </a:r>
                      <a:r>
                        <a:rPr lang="en-US" sz="900" dirty="0">
                          <a:latin typeface="BLS Text" panose="00000500000000000000" pitchFamily="2" charset="-34"/>
                          <a:cs typeface="BLS Text" panose="00000500000000000000" pitchFamily="2" charset="-34"/>
                        </a:rPr>
                        <a:t> </a:t>
                      </a:r>
                      <a:r>
                        <a:rPr lang="th-TH" sz="900" dirty="0">
                          <a:latin typeface="BLS Text" panose="00000500000000000000" pitchFamily="2" charset="-34"/>
                          <a:cs typeface="BLS Text" panose="00000500000000000000" pitchFamily="2" charset="-34"/>
                        </a:rPr>
                        <a:t>ขณะที่ ความต้องการอาหารสัตว์เลี้ยงยังแข็งแกร่ง คาดสามารถทยอยปรับราคาขึ้นได้</a:t>
                      </a:r>
                    </a:p>
                  </a:txBody>
                  <a:tcPr marL="7982" marR="7982" marT="3991" marB="3991" anchor="ctr"/>
                </a:tc>
                <a:extLst>
                  <a:ext uri="{0D108BD9-81ED-4DB2-BD59-A6C34878D82A}">
                    <a16:rowId xmlns:a16="http://schemas.microsoft.com/office/drawing/2014/main" val="2284198361"/>
                  </a:ext>
                </a:extLst>
              </a:tr>
              <a:tr h="242404">
                <a:tc>
                  <a:txBody>
                    <a:bodyPr/>
                    <a:lstStyle/>
                    <a:p>
                      <a:pPr algn="ctr"/>
                      <a:r>
                        <a:rPr lang="th-TH" sz="900" dirty="0">
                          <a:latin typeface="BLS Text" panose="00000500000000000000" pitchFamily="2" charset="-34"/>
                          <a:cs typeface="BLS Text" panose="00000500000000000000" pitchFamily="2" charset="-34"/>
                        </a:rPr>
                        <a:t>โรงแรม (ยุโรป</a:t>
                      </a:r>
                      <a:r>
                        <a:rPr lang="en-US" sz="900" dirty="0">
                          <a:latin typeface="BLS Text" panose="00000500000000000000" pitchFamily="2" charset="-34"/>
                          <a:cs typeface="BLS Text" panose="00000500000000000000" pitchFamily="2" charset="-34"/>
                        </a:rPr>
                        <a:t>)</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ต่ำ</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a:latin typeface="BLS Text" panose="00000500000000000000" pitchFamily="2" charset="-34"/>
                          <a:cs typeface="BLS Text" panose="00000500000000000000" pitchFamily="2" charset="-34"/>
                        </a:rPr>
                        <a:t>บริษัทมีการป้องกันความเสี่ยงด้านพลังงานมากกว่า 70% และมีรายได้จากยุโรปที่ยังแข็งแกร่ง ทำให้ผลกระทบจากต้นทุนต่ำกว่ากลุ่ม</a:t>
                      </a:r>
                    </a:p>
                  </a:txBody>
                  <a:tcPr marL="7982" marR="7982" marT="3991" marB="3991" anchor="ctr"/>
                </a:tc>
                <a:extLst>
                  <a:ext uri="{0D108BD9-81ED-4DB2-BD59-A6C34878D82A}">
                    <a16:rowId xmlns:a16="http://schemas.microsoft.com/office/drawing/2014/main" val="750743725"/>
                  </a:ext>
                </a:extLst>
              </a:tr>
              <a:tr h="242404">
                <a:tc>
                  <a:txBody>
                    <a:bodyPr/>
                    <a:lstStyle/>
                    <a:p>
                      <a:pPr algn="ctr"/>
                      <a:r>
                        <a:rPr lang="th-TH" sz="900" dirty="0">
                          <a:latin typeface="BLS Text" panose="00000500000000000000" pitchFamily="2" charset="-34"/>
                          <a:cs typeface="BLS Text" panose="00000500000000000000" pitchFamily="2" charset="-34"/>
                        </a:rPr>
                        <a:t>การเงิน</a:t>
                      </a:r>
                    </a:p>
                  </a:txBody>
                  <a:tcPr marL="7982" marR="7982" marT="3991" marB="399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900" dirty="0">
                          <a:latin typeface="BLS Text" panose="00000500000000000000" pitchFamily="2" charset="-34"/>
                          <a:cs typeface="BLS Text" panose="00000500000000000000" pitchFamily="2" charset="-34"/>
                        </a:rPr>
                        <a:t>ต่ำ</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ต้นทุนค่าครองชีพสูงอาจกระทบความสามารถในการชำระหนี้ของลูกค้า ทำให้ต้นทุนความเสี่ยงด้านเครดิตเพิ่มขึ้น</a:t>
                      </a:r>
                    </a:p>
                  </a:txBody>
                  <a:tcPr marL="7982" marR="7982" marT="3991" marB="3991" anchor="ctr"/>
                </a:tc>
                <a:extLst>
                  <a:ext uri="{0D108BD9-81ED-4DB2-BD59-A6C34878D82A}">
                    <a16:rowId xmlns:a16="http://schemas.microsoft.com/office/drawing/2014/main" val="1875156369"/>
                  </a:ext>
                </a:extLst>
              </a:tr>
              <a:tr h="124629">
                <a:tc>
                  <a:txBody>
                    <a:bodyPr/>
                    <a:lstStyle/>
                    <a:p>
                      <a:pPr algn="ctr"/>
                      <a:r>
                        <a:rPr lang="th-TH" sz="900" dirty="0">
                          <a:latin typeface="BLS Text" panose="00000500000000000000" pitchFamily="2" charset="-34"/>
                          <a:cs typeface="BLS Text" panose="00000500000000000000" pitchFamily="2" charset="-34"/>
                        </a:rPr>
                        <a:t>อสังหาฯ</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ต่ำ</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ต้นทุนค่าครองชีพสูงอาจกระทบกำลังซื้อ</a:t>
                      </a:r>
                      <a:r>
                        <a:rPr lang="en-US" sz="900" dirty="0">
                          <a:latin typeface="BLS Text" panose="00000500000000000000" pitchFamily="2" charset="-34"/>
                          <a:cs typeface="BLS Text" panose="00000500000000000000" pitchFamily="2" charset="-34"/>
                        </a:rPr>
                        <a:t> </a:t>
                      </a:r>
                      <a:endParaRPr lang="th-TH" sz="900" dirty="0">
                        <a:latin typeface="BLS Text" panose="00000500000000000000" pitchFamily="2" charset="-34"/>
                        <a:cs typeface="BLS Text" panose="00000500000000000000" pitchFamily="2" charset="-34"/>
                      </a:endParaRPr>
                    </a:p>
                  </a:txBody>
                  <a:tcPr marL="7982" marR="7982" marT="3991" marB="3991" anchor="ctr"/>
                </a:tc>
                <a:extLst>
                  <a:ext uri="{0D108BD9-81ED-4DB2-BD59-A6C34878D82A}">
                    <a16:rowId xmlns:a16="http://schemas.microsoft.com/office/drawing/2014/main" val="3949097655"/>
                  </a:ext>
                </a:extLst>
              </a:tr>
              <a:tr h="242404">
                <a:tc>
                  <a:txBody>
                    <a:bodyPr/>
                    <a:lstStyle/>
                    <a:p>
                      <a:pPr algn="ctr"/>
                      <a:r>
                        <a:rPr lang="th-TH" sz="900" dirty="0">
                          <a:latin typeface="BLS Text" panose="00000500000000000000" pitchFamily="2" charset="-34"/>
                          <a:cs typeface="BLS Text" panose="00000500000000000000" pitchFamily="2" charset="-34"/>
                        </a:rPr>
                        <a:t>ธนาคารพาณิชย์</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ต่ำ</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อัตราส่วนสำรองต่อหนี้เสียยังคงอยู่ในระดับสูง ขณะที่ธนาคารยังคงดำเนินนโยบายการปล่อยสินเชื่ออย่างระมัดระวัง เพื่อควบคุมและลดความเสี่ยงด้านคุณภาพสินทรัพย์</a:t>
                      </a:r>
                    </a:p>
                  </a:txBody>
                  <a:tcPr marL="7982" marR="7982" marT="3991" marB="3991" anchor="ctr"/>
                </a:tc>
                <a:extLst>
                  <a:ext uri="{0D108BD9-81ED-4DB2-BD59-A6C34878D82A}">
                    <a16:rowId xmlns:a16="http://schemas.microsoft.com/office/drawing/2014/main" val="1954053903"/>
                  </a:ext>
                </a:extLst>
              </a:tr>
              <a:tr h="242404">
                <a:tc>
                  <a:txBody>
                    <a:bodyPr/>
                    <a:lstStyle/>
                    <a:p>
                      <a:pPr algn="ctr"/>
                      <a:r>
                        <a:rPr lang="th-TH" sz="900" dirty="0">
                          <a:latin typeface="BLS Text" panose="00000500000000000000" pitchFamily="2" charset="-34"/>
                          <a:cs typeface="BLS Text" panose="00000500000000000000" pitchFamily="2" charset="-34"/>
                        </a:rPr>
                        <a:t>โรงพยาบาล</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ต่ำ</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2Q26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การฟื้นตัวของผู้ป่วยจากต่างประเทศ โดยเฉพาะ </a:t>
                      </a:r>
                      <a:r>
                        <a:rPr lang="en-US" sz="900" dirty="0">
                          <a:latin typeface="BLS Text" panose="00000500000000000000" pitchFamily="2" charset="-34"/>
                          <a:cs typeface="BLS Text" panose="00000500000000000000" pitchFamily="2" charset="-34"/>
                        </a:rPr>
                        <a:t>CLMV </a:t>
                      </a:r>
                      <a:r>
                        <a:rPr lang="th-TH" sz="900" dirty="0">
                          <a:latin typeface="BLS Text" panose="00000500000000000000" pitchFamily="2" charset="-34"/>
                          <a:cs typeface="BLS Text" panose="00000500000000000000" pitchFamily="2" charset="-34"/>
                        </a:rPr>
                        <a:t>และตะวันออกกลาง ช่วยเพิ่มปริมาณผู้ใช้บริการ ซึ่งสามารถชดเชยต้นทุนที่เพิ่มขึ้นได้บางส่วน</a:t>
                      </a:r>
                    </a:p>
                  </a:txBody>
                  <a:tcPr marL="7982" marR="7982" marT="3991" marB="3991" anchor="ctr"/>
                </a:tc>
                <a:extLst>
                  <a:ext uri="{0D108BD9-81ED-4DB2-BD59-A6C34878D82A}">
                    <a16:rowId xmlns:a16="http://schemas.microsoft.com/office/drawing/2014/main" val="1899191175"/>
                  </a:ext>
                </a:extLst>
              </a:tr>
              <a:tr h="124629">
                <a:tc>
                  <a:txBody>
                    <a:bodyPr/>
                    <a:lstStyle/>
                    <a:p>
                      <a:pPr algn="ctr"/>
                      <a:r>
                        <a:rPr lang="th-TH" sz="900" dirty="0">
                          <a:latin typeface="BLS Text" panose="00000500000000000000" pitchFamily="2" charset="-34"/>
                          <a:cs typeface="BLS Text" panose="00000500000000000000" pitchFamily="2" charset="-34"/>
                        </a:rPr>
                        <a:t>สื่อสาร</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ต่ำ</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4Q26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ค่าไฟฟ้ามีแนวโน้มเพิ่มขึ้นในช่วงปลายปี ทำให้ผลกระทบต่อกำไรเกิดขึ้นในระยะถัดไป</a:t>
                      </a:r>
                    </a:p>
                  </a:txBody>
                  <a:tcPr marL="7982" marR="7982" marT="3991" marB="3991" anchor="ctr"/>
                </a:tc>
                <a:extLst>
                  <a:ext uri="{0D108BD9-81ED-4DB2-BD59-A6C34878D82A}">
                    <a16:rowId xmlns:a16="http://schemas.microsoft.com/office/drawing/2014/main" val="3671576152"/>
                  </a:ext>
                </a:extLst>
              </a:tr>
              <a:tr h="140566">
                <a:tc>
                  <a:txBody>
                    <a:bodyPr/>
                    <a:lstStyle/>
                    <a:p>
                      <a:pPr algn="ctr"/>
                      <a:r>
                        <a:rPr lang="th-TH" sz="900" dirty="0">
                          <a:latin typeface="BLS Text" panose="00000500000000000000" pitchFamily="2" charset="-34"/>
                          <a:cs typeface="BLS Text" panose="00000500000000000000" pitchFamily="2" charset="-34"/>
                        </a:rPr>
                        <a:t>เนื้อสัตว์</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ต่ำ</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ปลาย 2</a:t>
                      </a:r>
                      <a:r>
                        <a:rPr lang="en-US" sz="900" dirty="0">
                          <a:latin typeface="BLS Text" panose="00000500000000000000" pitchFamily="2" charset="-34"/>
                          <a:cs typeface="BLS Text" panose="00000500000000000000" pitchFamily="2" charset="-34"/>
                        </a:rPr>
                        <a:t>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ต้นทุนอาหารสัตว์เพิ่มขึ้น แต่สามารถส่งผ่านต้นทุนผ่านราคาสินค้าได้ ทำให้ผลกระทบต่อกำไรจำกัด</a:t>
                      </a:r>
                    </a:p>
                  </a:txBody>
                  <a:tcPr marL="7982" marR="7982" marT="3991" marB="3991" anchor="ctr"/>
                </a:tc>
                <a:extLst>
                  <a:ext uri="{0D108BD9-81ED-4DB2-BD59-A6C34878D82A}">
                    <a16:rowId xmlns:a16="http://schemas.microsoft.com/office/drawing/2014/main" val="1993829519"/>
                  </a:ext>
                </a:extLst>
              </a:tr>
              <a:tr h="211108">
                <a:tc>
                  <a:txBody>
                    <a:bodyPr/>
                    <a:lstStyle/>
                    <a:p>
                      <a:pPr algn="ctr"/>
                      <a:r>
                        <a:rPr lang="th-TH" sz="900" dirty="0">
                          <a:latin typeface="BLS Text" panose="00000500000000000000" pitchFamily="2" charset="-34"/>
                          <a:cs typeface="BLS Text" panose="00000500000000000000" pitchFamily="2" charset="-34"/>
                        </a:rPr>
                        <a:t>นิคมฯ</a:t>
                      </a:r>
                    </a:p>
                  </a:txBody>
                  <a:tcPr marL="7982" marR="7982" marT="3991" marB="399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900" dirty="0">
                          <a:latin typeface="BLS Text" panose="00000500000000000000" pitchFamily="2" charset="-34"/>
                          <a:cs typeface="BLS Text" panose="00000500000000000000" pitchFamily="2" charset="-34"/>
                        </a:rPr>
                        <a:t>ต่ำ</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2</a:t>
                      </a:r>
                      <a:r>
                        <a:rPr lang="en-US" sz="900" dirty="0">
                          <a:latin typeface="BLS Text" panose="00000500000000000000" pitchFamily="2" charset="-34"/>
                          <a:cs typeface="BLS Text" panose="00000500000000000000" pitchFamily="2" charset="-34"/>
                        </a:rPr>
                        <a:t>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ต้นทุนพลังงานสูงขึ้น อาจกดดันเศรษฐกิจโลก เม็ดเงินลงทุนชะลอ</a:t>
                      </a:r>
                    </a:p>
                  </a:txBody>
                  <a:tcPr marL="7982" marR="7982" marT="3991" marB="3991" anchor="ctr"/>
                </a:tc>
                <a:extLst>
                  <a:ext uri="{0D108BD9-81ED-4DB2-BD59-A6C34878D82A}">
                    <a16:rowId xmlns:a16="http://schemas.microsoft.com/office/drawing/2014/main" val="1833354205"/>
                  </a:ext>
                </a:extLst>
              </a:tr>
              <a:tr h="242404">
                <a:tc>
                  <a:txBody>
                    <a:bodyPr/>
                    <a:lstStyle/>
                    <a:p>
                      <a:pPr algn="ctr"/>
                      <a:r>
                        <a:rPr lang="th-TH" sz="900" dirty="0">
                          <a:latin typeface="BLS Text" panose="00000500000000000000" pitchFamily="2" charset="-34"/>
                          <a:cs typeface="BLS Text" panose="00000500000000000000" pitchFamily="2" charset="-34"/>
                        </a:rPr>
                        <a:t>ปิโตรเคมี</a:t>
                      </a:r>
                    </a:p>
                  </a:txBody>
                  <a:tcPr marL="7982" marR="7982" marT="3991" marB="399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900" dirty="0">
                          <a:latin typeface="BLS Text" panose="00000500000000000000" pitchFamily="2" charset="-34"/>
                          <a:cs typeface="BLS Text" panose="00000500000000000000" pitchFamily="2" charset="-34"/>
                        </a:rPr>
                        <a:t>ต่ำที่สุด</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1Q26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ส่วนต่างราคาผลิตภัณฑ์ (</a:t>
                      </a:r>
                      <a:r>
                        <a:rPr lang="en-US" sz="900" dirty="0">
                          <a:latin typeface="BLS Text" panose="00000500000000000000" pitchFamily="2" charset="-34"/>
                          <a:cs typeface="BLS Text" panose="00000500000000000000" pitchFamily="2" charset="-34"/>
                        </a:rPr>
                        <a:t>spread) </a:t>
                      </a:r>
                      <a:r>
                        <a:rPr lang="th-TH" sz="900" dirty="0">
                          <a:latin typeface="BLS Text" panose="00000500000000000000" pitchFamily="2" charset="-34"/>
                          <a:cs typeface="BLS Text" panose="00000500000000000000" pitchFamily="2" charset="-34"/>
                        </a:rPr>
                        <a:t>มีแนวโน้มฟื้นตัวจากอุปทานใหม่ที่ชะลอลง ขณะที่ต้นทุน </a:t>
                      </a:r>
                      <a:r>
                        <a:rPr lang="en-US" sz="900" dirty="0">
                          <a:latin typeface="BLS Text" panose="00000500000000000000" pitchFamily="2" charset="-34"/>
                          <a:cs typeface="BLS Text" panose="00000500000000000000" pitchFamily="2" charset="-34"/>
                        </a:rPr>
                        <a:t>feedstock </a:t>
                      </a:r>
                      <a:r>
                        <a:rPr lang="th-TH" sz="900" dirty="0">
                          <a:latin typeface="BLS Text" panose="00000500000000000000" pitchFamily="2" charset="-34"/>
                          <a:cs typeface="BLS Text" panose="00000500000000000000" pitchFamily="2" charset="-34"/>
                        </a:rPr>
                        <a:t>เพิ่มขึ้น แต่สามารถส่งผ่านบางส่วนได้ ส่งผลให้ </a:t>
                      </a:r>
                      <a:r>
                        <a:rPr lang="en-US" sz="900" dirty="0">
                          <a:latin typeface="BLS Text" panose="00000500000000000000" pitchFamily="2" charset="-34"/>
                          <a:cs typeface="BLS Text" panose="00000500000000000000" pitchFamily="2" charset="-34"/>
                        </a:rPr>
                        <a:t>margin </a:t>
                      </a:r>
                      <a:r>
                        <a:rPr lang="th-TH" sz="900" dirty="0">
                          <a:latin typeface="BLS Text" panose="00000500000000000000" pitchFamily="2" charset="-34"/>
                          <a:cs typeface="BLS Text" panose="00000500000000000000" pitchFamily="2" charset="-34"/>
                        </a:rPr>
                        <a:t>มีแนวโน้มฟื้นตัวมากกว่าถูกกดดัน</a:t>
                      </a:r>
                    </a:p>
                  </a:txBody>
                  <a:tcPr marL="7982" marR="7982" marT="3991" marB="3991" anchor="ctr"/>
                </a:tc>
                <a:extLst>
                  <a:ext uri="{0D108BD9-81ED-4DB2-BD59-A6C34878D82A}">
                    <a16:rowId xmlns:a16="http://schemas.microsoft.com/office/drawing/2014/main" val="1973956625"/>
                  </a:ext>
                </a:extLst>
              </a:tr>
              <a:tr h="242404">
                <a:tc>
                  <a:txBody>
                    <a:bodyPr/>
                    <a:lstStyle/>
                    <a:p>
                      <a:pPr algn="ctr"/>
                      <a:r>
                        <a:rPr lang="th-TH" sz="900" dirty="0">
                          <a:latin typeface="BLS Text" panose="00000500000000000000" pitchFamily="2" charset="-34"/>
                          <a:cs typeface="BLS Text" panose="00000500000000000000" pitchFamily="2" charset="-34"/>
                        </a:rPr>
                        <a:t>พลังงาน </a:t>
                      </a:r>
                      <a:r>
                        <a:rPr lang="en-US" sz="900" dirty="0">
                          <a:latin typeface="BLS Text" panose="00000500000000000000" pitchFamily="2" charset="-34"/>
                          <a:cs typeface="BLS Text" panose="00000500000000000000" pitchFamily="2" charset="-34"/>
                        </a:rPr>
                        <a:t>Upstream</a:t>
                      </a:r>
                      <a:endParaRPr lang="th-TH" sz="900" dirty="0">
                        <a:latin typeface="BLS Text" panose="00000500000000000000" pitchFamily="2" charset="-34"/>
                        <a:cs typeface="BLS Text" panose="00000500000000000000" pitchFamily="2" charset="-34"/>
                      </a:endParaRPr>
                    </a:p>
                  </a:txBody>
                  <a:tcPr marL="7982" marR="7982" marT="3991" marB="3991"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900" dirty="0">
                          <a:latin typeface="BLS Text" panose="00000500000000000000" pitchFamily="2" charset="-34"/>
                          <a:cs typeface="BLS Text" panose="00000500000000000000" pitchFamily="2" charset="-34"/>
                        </a:rPr>
                        <a:t>ต่ำที่สุด</a:t>
                      </a:r>
                    </a:p>
                  </a:txBody>
                  <a:tcPr marL="7982" marR="7982" marT="3991" marB="3991" anchor="ctr"/>
                </a:tc>
                <a:tc>
                  <a:txBody>
                    <a:bodyPr/>
                    <a:lstStyle/>
                    <a:p>
                      <a:pPr algn="ctr"/>
                      <a:r>
                        <a:rPr lang="en-US" sz="900" dirty="0">
                          <a:latin typeface="BLS Text" panose="00000500000000000000" pitchFamily="2" charset="-34"/>
                          <a:cs typeface="BLS Text" panose="00000500000000000000" pitchFamily="2" charset="-34"/>
                        </a:rPr>
                        <a:t>1Q26</a:t>
                      </a:r>
                    </a:p>
                  </a:txBody>
                  <a:tcPr marL="7982" marR="7982" marT="3991" marB="3991" anchor="ctr"/>
                </a:tc>
                <a:tc>
                  <a:txBody>
                    <a:bodyPr/>
                    <a:lstStyle/>
                    <a:p>
                      <a:pPr algn="ctr"/>
                      <a:r>
                        <a:rPr lang="th-TH" sz="900" dirty="0">
                          <a:latin typeface="BLS Text" panose="00000500000000000000" pitchFamily="2" charset="-34"/>
                          <a:cs typeface="BLS Text" panose="00000500000000000000" pitchFamily="2" charset="-34"/>
                        </a:rPr>
                        <a:t>ราคาน้ำมันที่ปรับเพิ่มขึ้นส่งผลให้รายได้เพิ่มขึ้นในอัตราที่สูงกว่าต้นทุน จึงเป็นกลุ่มที่ได้รับประโยชน์</a:t>
                      </a:r>
                    </a:p>
                  </a:txBody>
                  <a:tcPr marL="7982" marR="7982" marT="3991" marB="3991" anchor="ctr"/>
                </a:tc>
                <a:extLst>
                  <a:ext uri="{0D108BD9-81ED-4DB2-BD59-A6C34878D82A}">
                    <a16:rowId xmlns:a16="http://schemas.microsoft.com/office/drawing/2014/main" val="3835901803"/>
                  </a:ext>
                </a:extLst>
              </a:tr>
            </a:tbl>
          </a:graphicData>
        </a:graphic>
      </p:graphicFrame>
    </p:spTree>
    <p:extLst>
      <p:ext uri="{BB962C8B-B14F-4D97-AF65-F5344CB8AC3E}">
        <p14:creationId xmlns:p14="http://schemas.microsoft.com/office/powerpoint/2010/main" val="2769575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3</a:t>
            </a:fld>
            <a:endParaRPr lang="en-US">
              <a:latin typeface="BLS" panose="00000500000000000000" pitchFamily="2" charset="-34"/>
              <a:cs typeface="BLS" panose="00000500000000000000" pitchFamily="2" charset="-34"/>
            </a:endParaRPr>
          </a:p>
        </p:txBody>
      </p:sp>
      <p:grpSp>
        <p:nvGrpSpPr>
          <p:cNvPr id="11" name="Group 156"/>
          <p:cNvGrpSpPr>
            <a:grpSpLocks/>
          </p:cNvGrpSpPr>
          <p:nvPr/>
        </p:nvGrpSpPr>
        <p:grpSpPr bwMode="auto">
          <a:xfrm>
            <a:off x="3374529" y="6536080"/>
            <a:ext cx="708025" cy="781050"/>
            <a:chOff x="1800" y="1440"/>
            <a:chExt cx="1539" cy="1800"/>
          </a:xfrm>
        </p:grpSpPr>
        <p:pic>
          <p:nvPicPr>
            <p:cNvPr id="17" name="Picture 1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6"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0"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3"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6" y="2880"/>
              <a:ext cx="323" cy="36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extBox 31"/>
          <p:cNvSpPr txBox="1"/>
          <p:nvPr/>
        </p:nvSpPr>
        <p:spPr>
          <a:xfrm>
            <a:off x="297858" y="611560"/>
            <a:ext cx="6235106" cy="338554"/>
          </a:xfrm>
          <a:prstGeom prst="rect">
            <a:avLst/>
          </a:prstGeom>
          <a:noFill/>
        </p:spPr>
        <p:txBody>
          <a:bodyPr wrap="square" rtlCol="0">
            <a:spAutoFit/>
          </a:bodyPr>
          <a:lstStyle/>
          <a:p>
            <a:r>
              <a:rPr lang="en-US" sz="1600" b="1" err="1">
                <a:solidFill>
                  <a:srgbClr val="404040"/>
                </a:solidFill>
                <a:latin typeface="BLS Condensed Bold" pitchFamily="2" charset="-34"/>
                <a:cs typeface="BLS Condensed Bold" pitchFamily="2" charset="-34"/>
              </a:rPr>
              <a:t>Bualuang</a:t>
            </a:r>
            <a:r>
              <a:rPr lang="en-US" sz="1600" b="1">
                <a:solidFill>
                  <a:srgbClr val="404040"/>
                </a:solidFill>
                <a:latin typeface="BLS Condensed Bold" pitchFamily="2" charset="-34"/>
                <a:cs typeface="BLS Condensed Bold" pitchFamily="2" charset="-34"/>
              </a:rPr>
              <a:t> Securities Public Company Limited</a:t>
            </a:r>
            <a:endParaRPr lang="en-US" sz="1600">
              <a:solidFill>
                <a:srgbClr val="404040"/>
              </a:solidFill>
              <a:latin typeface="BLS Condensed Bold" pitchFamily="2" charset="-34"/>
              <a:ea typeface="Tahoma" pitchFamily="34" charset="0"/>
              <a:cs typeface="BLS Condensed Bold" pitchFamily="2" charset="-34"/>
            </a:endParaRPr>
          </a:p>
        </p:txBody>
      </p:sp>
      <p:sp>
        <p:nvSpPr>
          <p:cNvPr id="12" name="Text Box 155"/>
          <p:cNvSpPr txBox="1">
            <a:spLocks noChangeArrowheads="1"/>
          </p:cNvSpPr>
          <p:nvPr/>
        </p:nvSpPr>
        <p:spPr bwMode="auto">
          <a:xfrm>
            <a:off x="4737844" y="624260"/>
            <a:ext cx="1644650" cy="319087"/>
          </a:xfrm>
          <a:prstGeom prst="rect">
            <a:avLst/>
          </a:prstGeom>
          <a:solidFill>
            <a:srgbClr val="002060"/>
          </a:solidFill>
          <a:ln w="9525">
            <a:solidFill>
              <a:srgbClr val="00206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a:ln>
                  <a:noFill/>
                </a:ln>
                <a:solidFill>
                  <a:srgbClr val="FFFFFF"/>
                </a:solidFill>
                <a:effectLst/>
                <a:latin typeface="BLS Condensed Bold" pitchFamily="2" charset="-34"/>
                <a:ea typeface="Arial" pitchFamily="34" charset="0"/>
                <a:cs typeface="BLS Condensed Bold" pitchFamily="2" charset="-34"/>
              </a:rPr>
              <a:t>DISCLAIMER</a:t>
            </a:r>
            <a:endParaRPr kumimoji="0" lang="en-US" sz="1800" b="0" i="0" u="none" strike="noStrike" cap="none" normalizeH="0" baseline="0">
              <a:ln>
                <a:noFill/>
              </a:ln>
              <a:solidFill>
                <a:schemeClr val="tx1"/>
              </a:solidFill>
              <a:effectLst/>
              <a:latin typeface="BLS Condensed Bold" pitchFamily="2" charset="-34"/>
              <a:cs typeface="BLS Condensed Bold" pitchFamily="2" charset="-34"/>
            </a:endParaRPr>
          </a:p>
        </p:txBody>
      </p:sp>
      <p:sp>
        <p:nvSpPr>
          <p:cNvPr id="35" name="Rectangle 34"/>
          <p:cNvSpPr/>
          <p:nvPr/>
        </p:nvSpPr>
        <p:spPr>
          <a:xfrm>
            <a:off x="294066" y="1043608"/>
            <a:ext cx="6235106" cy="36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97858" y="1187624"/>
            <a:ext cx="6231314" cy="3539430"/>
          </a:xfrm>
          <a:prstGeom prst="rect">
            <a:avLst/>
          </a:prstGeom>
          <a:noFill/>
        </p:spPr>
        <p:txBody>
          <a:bodyPr wrap="square" rtlCol="0">
            <a:spAutoFit/>
          </a:bodyPr>
          <a:lstStyle/>
          <a:p>
            <a:pPr algn="just"/>
            <a:r>
              <a:rPr lang="en-GB" sz="800" dirty="0">
                <a:solidFill>
                  <a:srgbClr val="404040"/>
                </a:solidFill>
                <a:latin typeface="BLS" pitchFamily="2" charset="-34"/>
                <a:cs typeface="BLS" pitchFamily="2" charset="-34"/>
              </a:rPr>
              <a:t>BUALUANG SECURITIES PUBLIC COMPANY LIMITED (BLS) is a subsidiary of BANGKOK BANK PUBLIC COMPANY LIMITED (BBL). This document is produced based upon sources believed to be reliable but their accuracy, completeness or correctness is not guaranteed. The statements or expressions of opinion herein were arrived at after due and careful consideration to use as information for investment. Expressions of opinion contained herein are subject to change without notice. This document is not, and should not be construed as, an offer or the solicitation of an offer to buy or sell any securities. The use of any information shall be at the sole discretion and risk of the user.</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BE IN RELATIONSHIPS WITH THE SECURITIES IN THIS REPORT. “Opinions, projections and other information contained in this report are based upon sources believed to be accurate including the draft prospectus, but no responsibility is accepted for any loss occasioned by reliance placed upon the contents hereof. </a:t>
            </a:r>
            <a:r>
              <a:rPr lang="en-GB" sz="800" dirty="0" err="1">
                <a:solidFill>
                  <a:srgbClr val="404040"/>
                </a:solidFill>
                <a:latin typeface="BLS" pitchFamily="2" charset="-34"/>
                <a:cs typeface="BLS" pitchFamily="2" charset="-34"/>
              </a:rPr>
              <a:t>Bualuang</a:t>
            </a:r>
            <a:r>
              <a:rPr lang="en-GB" sz="800" dirty="0">
                <a:solidFill>
                  <a:srgbClr val="404040"/>
                </a:solidFill>
                <a:latin typeface="BLS" pitchFamily="2" charset="-34"/>
                <a:cs typeface="BLS" pitchFamily="2" charset="-34"/>
              </a:rPr>
              <a:t> Securities Public Company Limited may from time to time perform investment, advisory or other services for companies mentioned in this report, as well as dealing (as principal or otherwise) in, or otherwise being interested in, any securities mentioned herein, This report does not constitute a solicitation to buy or sell any securities”. Investors should carefully read details in the prospectus before making investment decision.</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ACT AS MARKET MAKER AND ISSUER OF DWs, AND ISSUER OF STRUCTURED NOTES ON THESE SECURITIES. The company may prepare the research reports on those underlying securities. Investors should carefully read the details of the derivative warrants and structured notes in the prospectus before making investment decisions.</a:t>
            </a: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r>
              <a:rPr lang="en-US" sz="800" dirty="0">
                <a:solidFill>
                  <a:srgbClr val="404040"/>
                </a:solidFill>
                <a:latin typeface="BLS" pitchFamily="2" charset="-34"/>
                <a:cs typeface="BLS" pitchFamily="2" charset="-34"/>
              </a:rPr>
              <a:t>BUALUANG SECURITIES PUBLIC COMPANY LIMITED IS OR MAY BE AN UNDERWRITER/CO-UNDERWRITER/JOINT LEAD IN RESPECT OF THE INITIAL PUBLIC OFFERING (IPO) OF SECURITIES.</a:t>
            </a:r>
          </a:p>
        </p:txBody>
      </p:sp>
      <p:graphicFrame>
        <p:nvGraphicFramePr>
          <p:cNvPr id="36" name="Table 35"/>
          <p:cNvGraphicFramePr>
            <a:graphicFrameLocks noGrp="1"/>
          </p:cNvGraphicFramePr>
          <p:nvPr/>
        </p:nvGraphicFramePr>
        <p:xfrm>
          <a:off x="388937" y="4923329"/>
          <a:ext cx="5993557" cy="920750"/>
        </p:xfrm>
        <a:graphic>
          <a:graphicData uri="http://schemas.openxmlformats.org/drawingml/2006/table">
            <a:tbl>
              <a:tblPr firstRow="1" firstCol="1" bandRow="1">
                <a:tableStyleId>{5C22544A-7EE6-4342-B048-85BDC9FD1C3A}</a:tableStyleId>
              </a:tblPr>
              <a:tblGrid>
                <a:gridCol w="2541183">
                  <a:extLst>
                    <a:ext uri="{9D8B030D-6E8A-4147-A177-3AD203B41FA5}">
                      <a16:colId xmlns:a16="http://schemas.microsoft.com/office/drawing/2014/main" val="20000"/>
                    </a:ext>
                  </a:extLst>
                </a:gridCol>
                <a:gridCol w="3452374">
                  <a:extLst>
                    <a:ext uri="{9D8B030D-6E8A-4147-A177-3AD203B41FA5}">
                      <a16:colId xmlns:a16="http://schemas.microsoft.com/office/drawing/2014/main" val="20001"/>
                    </a:ext>
                  </a:extLst>
                </a:gridCol>
              </a:tblGrid>
              <a:tr h="411537">
                <a:tc>
                  <a:txBody>
                    <a:bodyPr/>
                    <a:lstStyle/>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Financial Advisor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tabLst>
                          <a:tab pos="2743200" algn="ctr"/>
                          <a:tab pos="5486400" algn="r"/>
                        </a:tabLst>
                      </a:pPr>
                      <a:r>
                        <a:rPr lang="en-US" sz="800" dirty="0">
                          <a:solidFill>
                            <a:srgbClr val="404040"/>
                          </a:solidFill>
                          <a:effectLst/>
                          <a:latin typeface="BLS" pitchFamily="2" charset="-34"/>
                          <a:cs typeface="BLS" pitchFamily="2" charset="-34"/>
                        </a:rPr>
                        <a:t>Lead 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Co-underwriter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9213">
                <a:tc>
                  <a:txBody>
                    <a:bodyPr/>
                    <a:lstStyle/>
                    <a:p>
                      <a:pPr algn="l">
                        <a:lnSpc>
                          <a:spcPts val="1320"/>
                        </a:lnSpc>
                        <a:spcBef>
                          <a:spcPts val="0"/>
                        </a:spcBef>
                        <a:spcAft>
                          <a:spcPts val="0"/>
                        </a:spcAft>
                      </a:pPr>
                      <a:endParaRPr lang="en-US" sz="800" b="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500"/>
                        </a:lnSpc>
                        <a:spcBef>
                          <a:spcPts val="0"/>
                        </a:spcBef>
                        <a:spcAft>
                          <a:spcPts val="0"/>
                        </a:spcAft>
                        <a:tabLst>
                          <a:tab pos="1266825" algn="l"/>
                        </a:tabLst>
                      </a:pPr>
                      <a:endParaRPr lang="en-US" sz="700" b="0" dirty="0">
                        <a:solidFill>
                          <a:srgbClr val="404040"/>
                        </a:solidFill>
                        <a:effectLst/>
                        <a:latin typeface="BLS" pitchFamily="2" charset="-34"/>
                        <a:ea typeface="Times New Roman"/>
                        <a:cs typeface="BLS" pitchFamily="2" charset="-34"/>
                      </a:endParaRPr>
                    </a:p>
                    <a:p>
                      <a:pPr algn="just">
                        <a:lnSpc>
                          <a:spcPts val="500"/>
                        </a:lnSpc>
                        <a:spcBef>
                          <a:spcPts val="0"/>
                        </a:spcBef>
                        <a:spcAft>
                          <a:spcPts val="0"/>
                        </a:spcAft>
                        <a:tabLst>
                          <a:tab pos="1266825" algn="l"/>
                        </a:tabLst>
                      </a:pPr>
                      <a:endParaRPr lang="en-US" sz="20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7" name="Table 36"/>
          <p:cNvGraphicFramePr>
            <a:graphicFrameLocks noGrp="1"/>
          </p:cNvGraphicFramePr>
          <p:nvPr/>
        </p:nvGraphicFramePr>
        <p:xfrm>
          <a:off x="404664" y="6291481"/>
          <a:ext cx="6353174" cy="1219200"/>
        </p:xfrm>
        <a:graphic>
          <a:graphicData uri="http://schemas.openxmlformats.org/drawingml/2006/table">
            <a:tbl>
              <a:tblPr firstRow="1" firstCol="1" bandRow="1">
                <a:tableStyleId>{5C22544A-7EE6-4342-B048-85BDC9FD1C3A}</a:tableStyleId>
              </a:tblPr>
              <a:tblGrid>
                <a:gridCol w="2278152">
                  <a:extLst>
                    <a:ext uri="{9D8B030D-6E8A-4147-A177-3AD203B41FA5}">
                      <a16:colId xmlns:a16="http://schemas.microsoft.com/office/drawing/2014/main" val="20000"/>
                    </a:ext>
                  </a:extLst>
                </a:gridCol>
                <a:gridCol w="2037511">
                  <a:extLst>
                    <a:ext uri="{9D8B030D-6E8A-4147-A177-3AD203B41FA5}">
                      <a16:colId xmlns:a16="http://schemas.microsoft.com/office/drawing/2014/main" val="20001"/>
                    </a:ext>
                  </a:extLst>
                </a:gridCol>
                <a:gridCol w="2037511">
                  <a:extLst>
                    <a:ext uri="{9D8B030D-6E8A-4147-A177-3AD203B41FA5}">
                      <a16:colId xmlns:a16="http://schemas.microsoft.com/office/drawing/2014/main" val="20002"/>
                    </a:ext>
                  </a:extLst>
                </a:gridCol>
              </a:tblGrid>
              <a:tr h="215900">
                <a:tc>
                  <a:txBody>
                    <a:bodyPr/>
                    <a:lstStyle/>
                    <a:p>
                      <a:pPr algn="ctr">
                        <a:spcBef>
                          <a:spcPts val="300"/>
                        </a:spcBef>
                        <a:spcAft>
                          <a:spcPts val="0"/>
                        </a:spcAft>
                      </a:pPr>
                      <a:r>
                        <a:rPr lang="en-US" sz="800">
                          <a:solidFill>
                            <a:srgbClr val="404040"/>
                          </a:solidFill>
                          <a:effectLst/>
                          <a:latin typeface="BLS" pitchFamily="2" charset="-34"/>
                          <a:cs typeface="BLS" pitchFamily="2" charset="-34"/>
                        </a:rPr>
                        <a:t>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Description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0"/>
                  </a:ext>
                </a:extLst>
              </a:tr>
              <a:tr h="161925">
                <a:tc>
                  <a:txBody>
                    <a:bodyPr/>
                    <a:lstStyle/>
                    <a:p>
                      <a:pPr algn="ctr">
                        <a:spcAft>
                          <a:spcPts val="0"/>
                        </a:spcAft>
                      </a:pPr>
                      <a:r>
                        <a:rPr lang="en-US" sz="800">
                          <a:solidFill>
                            <a:srgbClr val="404040"/>
                          </a:solidFill>
                          <a:effectLst/>
                          <a:latin typeface="BLS" pitchFamily="2" charset="-34"/>
                          <a:cs typeface="BLS" pitchFamily="2" charset="-34"/>
                        </a:rPr>
                        <a:t>90 – 100</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Excellent</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1"/>
                  </a:ext>
                </a:extLst>
              </a:tr>
              <a:tr h="161925">
                <a:tc>
                  <a:txBody>
                    <a:bodyPr/>
                    <a:lstStyle/>
                    <a:p>
                      <a:pPr algn="ctr">
                        <a:spcAft>
                          <a:spcPts val="0"/>
                        </a:spcAft>
                      </a:pPr>
                      <a:r>
                        <a:rPr lang="en-US" sz="800">
                          <a:solidFill>
                            <a:srgbClr val="404040"/>
                          </a:solidFill>
                          <a:effectLst/>
                          <a:latin typeface="BLS" pitchFamily="2" charset="-34"/>
                          <a:cs typeface="BLS" pitchFamily="2" charset="-34"/>
                        </a:rPr>
                        <a:t>80 – 89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Very 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2"/>
                  </a:ext>
                </a:extLst>
              </a:tr>
              <a:tr h="161925">
                <a:tc>
                  <a:txBody>
                    <a:bodyPr/>
                    <a:lstStyle/>
                    <a:p>
                      <a:pPr algn="ctr">
                        <a:spcAft>
                          <a:spcPts val="0"/>
                        </a:spcAft>
                      </a:pPr>
                      <a:r>
                        <a:rPr lang="en-US" sz="800">
                          <a:solidFill>
                            <a:srgbClr val="404040"/>
                          </a:solidFill>
                          <a:effectLst/>
                          <a:latin typeface="BLS" pitchFamily="2" charset="-34"/>
                          <a:cs typeface="BLS" pitchFamily="2" charset="-34"/>
                        </a:rPr>
                        <a:t>70 – 79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3"/>
                  </a:ext>
                </a:extLst>
              </a:tr>
              <a:tr h="161925">
                <a:tc>
                  <a:txBody>
                    <a:bodyPr/>
                    <a:lstStyle/>
                    <a:p>
                      <a:pPr algn="ctr">
                        <a:spcAft>
                          <a:spcPts val="0"/>
                        </a:spcAft>
                      </a:pPr>
                      <a:r>
                        <a:rPr lang="en-US" sz="800">
                          <a:solidFill>
                            <a:srgbClr val="404040"/>
                          </a:solidFill>
                          <a:effectLst/>
                          <a:latin typeface="BLS" pitchFamily="2" charset="-34"/>
                          <a:cs typeface="BLS" pitchFamily="2" charset="-34"/>
                        </a:rPr>
                        <a:t>60 – 69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Satisfactory</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4"/>
                  </a:ext>
                </a:extLst>
              </a:tr>
              <a:tr h="161925">
                <a:tc>
                  <a:txBody>
                    <a:bodyPr/>
                    <a:lstStyle/>
                    <a:p>
                      <a:pPr algn="ctr">
                        <a:spcAft>
                          <a:spcPts val="0"/>
                        </a:spcAft>
                      </a:pPr>
                      <a:r>
                        <a:rPr lang="en-US" sz="800">
                          <a:solidFill>
                            <a:srgbClr val="404040"/>
                          </a:solidFill>
                          <a:effectLst/>
                          <a:latin typeface="BLS" pitchFamily="2" charset="-34"/>
                          <a:cs typeface="BLS" pitchFamily="2" charset="-34"/>
                        </a:rPr>
                        <a:t>50 – 59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Pass</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5"/>
                  </a:ext>
                </a:extLst>
              </a:tr>
              <a:tr h="193675">
                <a:tc>
                  <a:txBody>
                    <a:bodyPr/>
                    <a:lstStyle/>
                    <a:p>
                      <a:pPr algn="ctr">
                        <a:spcBef>
                          <a:spcPts val="300"/>
                        </a:spcBef>
                        <a:spcAft>
                          <a:spcPts val="0"/>
                        </a:spcAft>
                      </a:pPr>
                      <a:r>
                        <a:rPr lang="en-US" sz="800">
                          <a:solidFill>
                            <a:srgbClr val="404040"/>
                          </a:solidFill>
                          <a:effectLst/>
                          <a:latin typeface="BLS" pitchFamily="2" charset="-34"/>
                          <a:cs typeface="BLS" pitchFamily="2" charset="-34"/>
                        </a:rPr>
                        <a:t>Below 50</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No logo given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N/A</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6"/>
                  </a:ext>
                </a:extLst>
              </a:tr>
            </a:tbl>
          </a:graphicData>
        </a:graphic>
      </p:graphicFrame>
      <p:sp>
        <p:nvSpPr>
          <p:cNvPr id="38" name="TextBox 37"/>
          <p:cNvSpPr txBox="1"/>
          <p:nvPr/>
        </p:nvSpPr>
        <p:spPr>
          <a:xfrm>
            <a:off x="404664" y="6001157"/>
            <a:ext cx="5977830" cy="215444"/>
          </a:xfrm>
          <a:prstGeom prst="rect">
            <a:avLst/>
          </a:prstGeom>
          <a:noFill/>
        </p:spPr>
        <p:txBody>
          <a:bodyPr wrap="square" rtlCol="0">
            <a:spAutoFit/>
          </a:bodyPr>
          <a:lstStyle/>
          <a:p>
            <a:pPr algn="just"/>
            <a:r>
              <a:rPr lang="en-US" sz="800" b="1">
                <a:solidFill>
                  <a:srgbClr val="404040"/>
                </a:solidFill>
                <a:latin typeface="BLS" pitchFamily="2" charset="-34"/>
                <a:cs typeface="BLS" pitchFamily="2" charset="-34"/>
              </a:rPr>
              <a:t>CG Rating</a:t>
            </a:r>
          </a:p>
        </p:txBody>
      </p:sp>
      <p:sp>
        <p:nvSpPr>
          <p:cNvPr id="39" name="TextBox 38"/>
          <p:cNvSpPr txBox="1"/>
          <p:nvPr/>
        </p:nvSpPr>
        <p:spPr>
          <a:xfrm>
            <a:off x="1052736" y="7875657"/>
            <a:ext cx="4752528" cy="584775"/>
          </a:xfrm>
          <a:prstGeom prst="rect">
            <a:avLst/>
          </a:prstGeom>
          <a:noFill/>
        </p:spPr>
        <p:txBody>
          <a:bodyPr wrap="square" rtlCol="0">
            <a:spAutoFit/>
          </a:bodyPr>
          <a:lstStyle/>
          <a:p>
            <a:pPr algn="ctr"/>
            <a:r>
              <a:rPr lang="en-US" sz="800" b="1">
                <a:latin typeface="BLS" pitchFamily="2" charset="-34"/>
                <a:cs typeface="BLS" pitchFamily="2" charset="-34"/>
              </a:rPr>
              <a:t>Thailand's Private Sector Collective Action Coalition Against Corruption </a:t>
            </a:r>
            <a:r>
              <a:rPr lang="en-US" sz="800" b="1" err="1">
                <a:latin typeface="BLS" pitchFamily="2" charset="-34"/>
                <a:cs typeface="BLS" pitchFamily="2" charset="-34"/>
              </a:rPr>
              <a:t>programme</a:t>
            </a:r>
            <a:r>
              <a:rPr lang="en-US" sz="800" b="1">
                <a:latin typeface="BLS" pitchFamily="2" charset="-34"/>
                <a:cs typeface="BLS" pitchFamily="2" charset="-34"/>
              </a:rPr>
              <a:t> (Thai CAC) under Thai Institute of Directors</a:t>
            </a:r>
          </a:p>
          <a:p>
            <a:pPr marL="171450" indent="-171450" algn="ctr">
              <a:buFont typeface="Arial" pitchFamily="34" charset="0"/>
              <a:buChar char="•"/>
            </a:pPr>
            <a:r>
              <a:rPr lang="en-US" sz="800">
                <a:latin typeface="BLS" pitchFamily="2" charset="-34"/>
                <a:cs typeface="BLS" pitchFamily="2" charset="-34"/>
              </a:rPr>
              <a:t>companies that have </a:t>
            </a:r>
            <a:r>
              <a:rPr lang="en-US" sz="800" b="1">
                <a:latin typeface="BLS" pitchFamily="2" charset="-34"/>
                <a:cs typeface="BLS" pitchFamily="2" charset="-34"/>
              </a:rPr>
              <a:t>declared</a:t>
            </a:r>
            <a:r>
              <a:rPr lang="en-US" sz="800">
                <a:latin typeface="BLS" pitchFamily="2" charset="-34"/>
                <a:cs typeface="BLS" pitchFamily="2" charset="-34"/>
              </a:rPr>
              <a:t> their intention to join CAC, and</a:t>
            </a:r>
          </a:p>
          <a:p>
            <a:pPr marL="171450" indent="-171450" algn="ctr">
              <a:buFont typeface="Arial" pitchFamily="34" charset="0"/>
              <a:buChar char="•"/>
            </a:pPr>
            <a:r>
              <a:rPr lang="en-US" sz="800">
                <a:latin typeface="BLS" pitchFamily="2" charset="-34"/>
                <a:cs typeface="BLS" pitchFamily="2" charset="-34"/>
              </a:rPr>
              <a:t>companies </a:t>
            </a:r>
            <a:r>
              <a:rPr lang="en-US" sz="800" b="1">
                <a:latin typeface="BLS" pitchFamily="2" charset="-34"/>
                <a:cs typeface="BLS" pitchFamily="2" charset="-34"/>
              </a:rPr>
              <a:t>certified</a:t>
            </a:r>
            <a:r>
              <a:rPr lang="en-US" sz="800">
                <a:latin typeface="BLS" pitchFamily="2" charset="-34"/>
                <a:cs typeface="BLS" pitchFamily="2" charset="-34"/>
              </a:rPr>
              <a:t> by CAC.</a:t>
            </a:r>
            <a:endParaRPr lang="en-US" sz="800">
              <a:solidFill>
                <a:srgbClr val="404040"/>
              </a:solidFill>
              <a:latin typeface="BLS" pitchFamily="2" charset="-34"/>
              <a:cs typeface="BLS" pitchFamily="2" charset="-34"/>
            </a:endParaRPr>
          </a:p>
        </p:txBody>
      </p:sp>
      <p:pic>
        <p:nvPicPr>
          <p:cNvPr id="1026" name="Picture 2">
            <a:extLst>
              <a:ext uri="{FF2B5EF4-FFF2-40B4-BE49-F238E27FC236}">
                <a16:creationId xmlns:a16="http://schemas.microsoft.com/office/drawing/2014/main" id="{0E5D63DB-D9DE-7124-6220-F449B2D45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7" y="3631607"/>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2FADF063-618E-2A0B-B0CC-F9AEA43EBA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9F434746-9B89-59A7-88CF-4D5439A09315}"/>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CC043B-0591-672D-2174-7401EDDCA5CE}"/>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2531F109-D890-A9D4-6394-29EC9D37B88A}"/>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32914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4</a:t>
            </a:fld>
            <a:endParaRPr lang="en-US" dirty="0">
              <a:latin typeface="BLS" panose="00000500000000000000" pitchFamily="2" charset="-34"/>
              <a:cs typeface="BLS" panose="00000500000000000000" pitchFamily="2" charset="-34"/>
            </a:endParaRPr>
          </a:p>
        </p:txBody>
      </p:sp>
      <p:sp>
        <p:nvSpPr>
          <p:cNvPr id="12" name="Text Box 155"/>
          <p:cNvSpPr txBox="1">
            <a:spLocks noChangeArrowheads="1"/>
          </p:cNvSpPr>
          <p:nvPr/>
        </p:nvSpPr>
        <p:spPr bwMode="auto">
          <a:xfrm>
            <a:off x="297858" y="62426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CORPORATE GOVERNANCE REPORT DISCLAIMER</a:t>
            </a:r>
          </a:p>
        </p:txBody>
      </p:sp>
      <p:sp>
        <p:nvSpPr>
          <p:cNvPr id="13" name="TextBox 12"/>
          <p:cNvSpPr txBox="1"/>
          <p:nvPr/>
        </p:nvSpPr>
        <p:spPr>
          <a:xfrm>
            <a:off x="297858" y="1043608"/>
            <a:ext cx="6231314" cy="3293209"/>
          </a:xfrm>
          <a:prstGeom prst="rect">
            <a:avLst/>
          </a:prstGeom>
          <a:noFill/>
        </p:spPr>
        <p:txBody>
          <a:bodyPr wrap="square" rtlCol="0">
            <a:spAutoFit/>
          </a:bodyPr>
          <a:lstStyle/>
          <a:p>
            <a:pPr algn="just"/>
            <a:r>
              <a:rPr lang="en-GB" sz="800">
                <a:solidFill>
                  <a:srgbClr val="404040"/>
                </a:solidFill>
                <a:latin typeface="BLS" pitchFamily="2" charset="-34"/>
                <a:cs typeface="BLS" pitchFamily="2" charset="-34"/>
              </a:rPr>
              <a:t>This research report was prepared by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Public Company Limited and refers to research prepared by Morgan Stanley. Morgan Stanley does not warrant or guarantee the accuracy or completeness of its research reports. Morgan Stanley reserves copyright and other proprietary rights in the material reproduced in this report. Morgan Stanley is under no obligation to inform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or you if the views or information referred to or reproduced in this research report change.</a:t>
            </a:r>
          </a:p>
          <a:p>
            <a:pPr algn="just"/>
            <a:endParaRPr lang="en-US" sz="800">
              <a:solidFill>
                <a:srgbClr val="404040"/>
              </a:solidFill>
              <a:latin typeface="BLS" pitchFamily="2" charset="-34"/>
              <a:cs typeface="BLS" pitchFamily="2" charset="-34"/>
            </a:endParaRPr>
          </a:p>
          <a:p>
            <a:pPr algn="just"/>
            <a:r>
              <a:rPr lang="en-GB" sz="800" b="1">
                <a:solidFill>
                  <a:srgbClr val="404040"/>
                </a:solidFill>
                <a:latin typeface="BLS" pitchFamily="2" charset="-34"/>
                <a:cs typeface="BLS" pitchFamily="2" charset="-34"/>
              </a:rPr>
              <a:t>Corporate Governance Report disclaimer</a:t>
            </a:r>
          </a:p>
          <a:p>
            <a:pPr algn="just"/>
            <a:endParaRPr lang="en-US" sz="400" b="1">
              <a:solidFill>
                <a:srgbClr val="404040"/>
              </a:solidFill>
              <a:latin typeface="BLS" pitchFamily="2" charset="-34"/>
              <a:cs typeface="BLS" pitchFamily="2" charset="-34"/>
            </a:endParaRPr>
          </a:p>
          <a:p>
            <a:pPr algn="just"/>
            <a:r>
              <a:rPr lang="en-US" sz="800">
                <a:solidFill>
                  <a:srgbClr val="404040"/>
                </a:solidFill>
                <a:latin typeface="BLS" pitchFamily="2" charset="-34"/>
                <a:cs typeface="BLS" pitchFamily="2" charset="-34"/>
              </a:rPr>
              <a:t>The disclosure of the survey result of the Thai Institute of Directors Association (IOD) regarding corporate governance is made pursuant to the policy of the Office of the Securities and Exchange Commission. The IOD survey is based on the information of a company listed on the Stock Exchange of Thailand and the Market for Alternative Investment disclosed to the public and able to be accessed by a general public investor. The result, therefore, is from the perspective of a third party. It is not an evaluation of operation and is not based on inside information.</a:t>
            </a:r>
          </a:p>
          <a:p>
            <a:pPr algn="just"/>
            <a:r>
              <a:rPr lang="en-US" sz="800">
                <a:solidFill>
                  <a:srgbClr val="404040"/>
                </a:solidFill>
                <a:latin typeface="BLS" pitchFamily="2" charset="-34"/>
                <a:cs typeface="BLS" pitchFamily="2" charset="-34"/>
              </a:rPr>
              <a:t>The survey result is as of the date appearing in the Corporate Governance Report of Thai Listed Companies. As a result, the survey result may be changed after that date.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nor certifies the accuracy of such survey results.</a:t>
            </a:r>
          </a:p>
          <a:p>
            <a:pPr algn="just"/>
            <a:r>
              <a:rPr lang="en-US" sz="800">
                <a:solidFill>
                  <a:srgbClr val="404040"/>
                </a:solidFill>
                <a:latin typeface="BLS" pitchFamily="2" charset="-34"/>
                <a:cs typeface="BLS" pitchFamily="2" charset="-34"/>
              </a:rPr>
              <a:t> </a:t>
            </a:r>
          </a:p>
          <a:p>
            <a:pPr algn="just"/>
            <a:r>
              <a:rPr lang="en-US" sz="800">
                <a:solidFill>
                  <a:srgbClr val="404040"/>
                </a:solidFill>
                <a:latin typeface="BLS" pitchFamily="2" charset="-34"/>
                <a:cs typeface="BLS" pitchFamily="2" charset="-34"/>
              </a:rPr>
              <a:t>“Disclaimer: The disclosure of the Anti-Corruption Progress Indicators of a listed company on the Stock Exchange of Thailand, which is assessed by the relevant institution as disclosed by the Office of the Securities and Exchange Commission, is made in order to comply with the policy and sustainable development plan for the listed companies. The relevant institution made this assessment based on the information received from the listed company, as stipulated in the form for the assessment of Anti-corruption, which refers to the Annual Registration Statement (Form 56-1), Annual Report (Form 56-2), or other relevant documents or reports of such listed company. The assessment result is therefore made from the perspective of a third party. It is not an assessment of operation and is not based on any inside information. Since this assessment is only the assessment result as of the date appearing in the assessment result, it may be changed after that date or when there is any change to the relevant information. Nevertheless,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verifies, nor certifies the accuracy and completeness of the assessment result.”</a:t>
            </a:r>
          </a:p>
        </p:txBody>
      </p:sp>
      <p:sp>
        <p:nvSpPr>
          <p:cNvPr id="33" name="Text Box 155"/>
          <p:cNvSpPr txBox="1">
            <a:spLocks noChangeArrowheads="1"/>
          </p:cNvSpPr>
          <p:nvPr/>
        </p:nvSpPr>
        <p:spPr bwMode="auto">
          <a:xfrm>
            <a:off x="294066" y="457200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BUALUANG RESEARCH – RECOMMENDATION FRAMEWORK</a:t>
            </a:r>
          </a:p>
        </p:txBody>
      </p:sp>
      <p:sp>
        <p:nvSpPr>
          <p:cNvPr id="34" name="TextBox 33"/>
          <p:cNvSpPr txBox="1"/>
          <p:nvPr/>
        </p:nvSpPr>
        <p:spPr>
          <a:xfrm>
            <a:off x="294066" y="5004048"/>
            <a:ext cx="3121345" cy="1323439"/>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STOCK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BUY:</a:t>
            </a:r>
            <a:r>
              <a:rPr lang="en-US" sz="800">
                <a:solidFill>
                  <a:srgbClr val="404040"/>
                </a:solidFill>
                <a:latin typeface="BLS" pitchFamily="2" charset="-34"/>
                <a:cs typeface="BLS" pitchFamily="2" charset="-34"/>
              </a:rPr>
              <a:t> Expected positive total returns of 15% or more over the next 12 months.</a:t>
            </a:r>
          </a:p>
          <a:p>
            <a:r>
              <a:rPr lang="en-US" sz="800" b="1">
                <a:solidFill>
                  <a:srgbClr val="404040"/>
                </a:solidFill>
                <a:latin typeface="BLS" pitchFamily="2" charset="-34"/>
                <a:cs typeface="BLS" pitchFamily="2" charset="-34"/>
              </a:rPr>
              <a:t>HOLD:</a:t>
            </a:r>
            <a:r>
              <a:rPr lang="en-US" sz="800">
                <a:solidFill>
                  <a:srgbClr val="404040"/>
                </a:solidFill>
                <a:latin typeface="BLS" pitchFamily="2" charset="-34"/>
                <a:cs typeface="BLS" pitchFamily="2" charset="-34"/>
              </a:rPr>
              <a:t> Expected total returns of between -15% and +15% over the next 12 months.</a:t>
            </a:r>
          </a:p>
          <a:p>
            <a:r>
              <a:rPr lang="en-US" sz="800" b="1">
                <a:solidFill>
                  <a:srgbClr val="404040"/>
                </a:solidFill>
                <a:latin typeface="BLS" pitchFamily="2" charset="-34"/>
                <a:cs typeface="BLS" pitchFamily="2" charset="-34"/>
              </a:rPr>
              <a:t>SELL:</a:t>
            </a:r>
            <a:r>
              <a:rPr lang="en-US" sz="800">
                <a:solidFill>
                  <a:srgbClr val="404040"/>
                </a:solidFill>
                <a:latin typeface="BLS" pitchFamily="2" charset="-34"/>
                <a:cs typeface="BLS" pitchFamily="2" charset="-34"/>
              </a:rPr>
              <a:t> Expected negative total returns of 15% or more over the next 12 months.</a:t>
            </a:r>
          </a:p>
          <a:p>
            <a:r>
              <a:rPr lang="en-US" sz="800" b="1">
                <a:solidFill>
                  <a:srgbClr val="404040"/>
                </a:solidFill>
                <a:latin typeface="BLS" pitchFamily="2" charset="-34"/>
                <a:cs typeface="BLS" pitchFamily="2" charset="-34"/>
              </a:rPr>
              <a:t>TRADING BUY:</a:t>
            </a:r>
            <a:r>
              <a:rPr lang="en-US" sz="800">
                <a:solidFill>
                  <a:srgbClr val="404040"/>
                </a:solidFill>
                <a:latin typeface="BLS" pitchFamily="2" charset="-34"/>
                <a:cs typeface="BLS" pitchFamily="2" charset="-34"/>
              </a:rPr>
              <a:t> Expected positive total returns of 15% or more over the next 3 months.</a:t>
            </a:r>
          </a:p>
        </p:txBody>
      </p:sp>
      <p:sp>
        <p:nvSpPr>
          <p:cNvPr id="40" name="TextBox 39"/>
          <p:cNvSpPr txBox="1"/>
          <p:nvPr/>
        </p:nvSpPr>
        <p:spPr>
          <a:xfrm>
            <a:off x="3403999" y="5006935"/>
            <a:ext cx="3121345" cy="1446550"/>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SECTOR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OVERWEIGHT:</a:t>
            </a:r>
            <a:r>
              <a:rPr lang="en-US" sz="800">
                <a:solidFill>
                  <a:srgbClr val="404040"/>
                </a:solidFill>
                <a:latin typeface="BLS" pitchFamily="2" charset="-34"/>
                <a:cs typeface="BLS" pitchFamily="2" charset="-34"/>
              </a:rPr>
              <a:t> The industry, as defined by the analyst's coverage universe, is expected to outperform the relevant primary market index over the next 12 months.</a:t>
            </a:r>
          </a:p>
          <a:p>
            <a:r>
              <a:rPr lang="en-US" sz="800" b="1">
                <a:solidFill>
                  <a:srgbClr val="404040"/>
                </a:solidFill>
                <a:latin typeface="BLS" pitchFamily="2" charset="-34"/>
                <a:cs typeface="BLS" pitchFamily="2" charset="-34"/>
              </a:rPr>
              <a:t>NEUTRAL:</a:t>
            </a:r>
            <a:r>
              <a:rPr lang="en-US" sz="800">
                <a:solidFill>
                  <a:srgbClr val="404040"/>
                </a:solidFill>
                <a:latin typeface="BLS" pitchFamily="2" charset="-34"/>
                <a:cs typeface="BLS" pitchFamily="2" charset="-34"/>
              </a:rPr>
              <a:t> The industry, as defined by the analyst's coverage universe, is expected to perform in line with the relevant primary market index over the next 12 months.</a:t>
            </a:r>
          </a:p>
          <a:p>
            <a:r>
              <a:rPr lang="en-US" sz="800" b="1">
                <a:solidFill>
                  <a:srgbClr val="404040"/>
                </a:solidFill>
                <a:latin typeface="BLS" pitchFamily="2" charset="-34"/>
                <a:cs typeface="BLS" pitchFamily="2" charset="-34"/>
              </a:rPr>
              <a:t>UNDERWEIGHT:</a:t>
            </a:r>
            <a:r>
              <a:rPr lang="en-US" sz="800">
                <a:solidFill>
                  <a:srgbClr val="404040"/>
                </a:solidFill>
                <a:latin typeface="BLS" pitchFamily="2" charset="-34"/>
                <a:cs typeface="BLS" pitchFamily="2" charset="-34"/>
              </a:rPr>
              <a:t> The industry, as defined by the analyst's coverage universe, is expected to underperform the relevant primary market index over the next 12 months.</a:t>
            </a:r>
          </a:p>
        </p:txBody>
      </p:sp>
      <p:pic>
        <p:nvPicPr>
          <p:cNvPr id="2" name="Picture 2">
            <a:extLst>
              <a:ext uri="{FF2B5EF4-FFF2-40B4-BE49-F238E27FC236}">
                <a16:creationId xmlns:a16="http://schemas.microsoft.com/office/drawing/2014/main" id="{68EBA98D-DAEB-71F6-F8D5-DDD9F3BDD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7E2E67D1-A25A-2469-0444-85CC17E609CB}"/>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FD7DE02-ED03-5EC3-18A3-C3FFFC2FDA4D}"/>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13DF9989-335C-A019-5306-81DB174F4CC4}"/>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2177988180"/>
      </p:ext>
    </p:extLst>
  </p:cSld>
  <p:clrMapOvr>
    <a:masterClrMapping/>
  </p:clrMapOvr>
</p:sld>
</file>

<file path=ppt/theme/theme1.xml><?xml version="1.0" encoding="utf-8"?>
<a:theme xmlns:a="http://schemas.openxmlformats.org/drawingml/2006/main" name="Office Theme">
  <a:themeElements>
    <a:clrScheme name="BLS">
      <a:dk1>
        <a:sysClr val="windowText" lastClr="000000"/>
      </a:dk1>
      <a:lt1>
        <a:sysClr val="window" lastClr="FFFFFF"/>
      </a:lt1>
      <a:dk2>
        <a:srgbClr val="1F497D"/>
      </a:dk2>
      <a:lt2>
        <a:srgbClr val="EEECE1"/>
      </a:lt2>
      <a:accent1>
        <a:srgbClr val="215968"/>
      </a:accent1>
      <a:accent2>
        <a:srgbClr val="A17D3D"/>
      </a:accent2>
      <a:accent3>
        <a:srgbClr val="AC1D3F"/>
      </a:accent3>
      <a:accent4>
        <a:srgbClr val="162A4C"/>
      </a:accent4>
      <a:accent5>
        <a:srgbClr val="A6A6A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149017</TotalTime>
  <Words>2820</Words>
  <Application>Microsoft Office PowerPoint</Application>
  <PresentationFormat>On-screen Show (4:3)</PresentationFormat>
  <Paragraphs>234</Paragraphs>
  <Slides>4</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vt:i4>
      </vt:variant>
    </vt:vector>
  </HeadingPairs>
  <TitlesOfParts>
    <vt:vector size="14" baseType="lpstr">
      <vt:lpstr>Aharoni</vt:lpstr>
      <vt:lpstr>Arial</vt:lpstr>
      <vt:lpstr>BLS</vt:lpstr>
      <vt:lpstr>BLS Bold</vt:lpstr>
      <vt:lpstr>BLS Condensed</vt:lpstr>
      <vt:lpstr>BLS Condensed </vt:lpstr>
      <vt:lpstr>BLS Condensed Bold</vt:lpstr>
      <vt:lpstr>BLS Text</vt:lpstr>
      <vt:lpstr>Calibri</vt:lpstr>
      <vt:lpstr>Office Theme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sfsdfds</dc:title>
  <dc:creator>Nuttimas Akarapanuvitaya</dc:creator>
  <cp:lastModifiedBy>Piriyapon Kongvanich</cp:lastModifiedBy>
  <cp:revision>4865</cp:revision>
  <cp:lastPrinted>2024-11-19T12:54:25Z</cp:lastPrinted>
  <dcterms:created xsi:type="dcterms:W3CDTF">2019-01-16T11:18:39Z</dcterms:created>
  <dcterms:modified xsi:type="dcterms:W3CDTF">2026-04-19T05:19:23Z</dcterms:modified>
</cp:coreProperties>
</file>