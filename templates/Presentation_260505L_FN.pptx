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6"/>
  </p:notesMasterIdLst>
  <p:sldIdLst>
    <p:sldId id="266" r:id="rId5"/>
    <p:sldId id="342" r:id="rId6"/>
    <p:sldId id="343" r:id="rId7"/>
    <p:sldId id="344" r:id="rId8"/>
    <p:sldId id="345" r:id="rId9"/>
    <p:sldId id="450" r:id="rId10"/>
    <p:sldId id="451" r:id="rId11"/>
    <p:sldId id="452" r:id="rId12"/>
    <p:sldId id="453" r:id="rId13"/>
    <p:sldId id="454" r:id="rId14"/>
    <p:sldId id="455" r:id="rId15"/>
  </p:sldIdLst>
  <p:sldSz cx="12192000" cy="6858000"/>
  <p:notesSz cx="6807200" cy="99393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ntent Slide" id="{5A6B3D7B-119B-428A-8031-30ED477C95FF}">
          <p14:sldIdLst>
            <p14:sldId id="266"/>
            <p14:sldId id="342"/>
            <p14:sldId id="343"/>
            <p14:sldId id="344"/>
            <p14:sldId id="345"/>
            <p14:sldId id="450"/>
            <p14:sldId id="451"/>
            <p14:sldId id="452"/>
            <p14:sldId id="453"/>
            <p14:sldId id="454"/>
            <p14:sldId id="455"/>
          </p14:sldIdLst>
        </p14:section>
        <p14:section name="Content Slide" id="{374E01CD-A6BC-4104-A5EF-C81975B8F4D9}">
          <p14:sldIdLst/>
        </p14:section>
        <p14:section name="Content Slide" id="{54D0DC06-4E83-4FBF-BD84-A8F76E42B1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2F7E0"/>
    <a:srgbClr val="A1E6BD"/>
    <a:srgbClr val="56C271"/>
    <a:srgbClr val="FFA666"/>
    <a:srgbClr val="3D3D3D"/>
    <a:srgbClr val="FFFFFF"/>
    <a:srgbClr val="F09252"/>
    <a:srgbClr val="E0D6C8"/>
    <a:srgbClr val="A7A8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92" autoAdjust="0"/>
    <p:restoredTop sz="96126" autoAdjust="0"/>
  </p:normalViewPr>
  <p:slideViewPr>
    <p:cSldViewPr snapToGrid="0" snapToObjects="1">
      <p:cViewPr varScale="1">
        <p:scale>
          <a:sx n="102" d="100"/>
          <a:sy n="102" d="100"/>
        </p:scale>
        <p:origin x="690" y="10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CDB6E389-5585-4484-A346-630C68CE62ED}" type="datetimeFigureOut">
              <a:rPr lang="en-US" smtClean="0"/>
              <a:t>5/5/2026</a:t>
            </a:fld>
            <a:endParaRPr lang="en-US"/>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F24EAD00-8F87-4311-AEAD-B634EA4DA92B}" type="slidenum">
              <a:rPr lang="en-US" smtClean="0"/>
              <a:t>‹#›</a:t>
            </a:fld>
            <a:endParaRPr lang="en-US"/>
          </a:p>
        </p:txBody>
      </p:sp>
    </p:spTree>
    <p:extLst>
      <p:ext uri="{BB962C8B-B14F-4D97-AF65-F5344CB8AC3E}">
        <p14:creationId xmlns:p14="http://schemas.microsoft.com/office/powerpoint/2010/main" val="3242271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h-TH" dirty="0"/>
          </a:p>
        </p:txBody>
      </p:sp>
      <p:sp>
        <p:nvSpPr>
          <p:cNvPr id="4" name="Slide Number Placeholder 3"/>
          <p:cNvSpPr>
            <a:spLocks noGrp="1"/>
          </p:cNvSpPr>
          <p:nvPr>
            <p:ph type="sldNum" sz="quarter" idx="5"/>
          </p:nvPr>
        </p:nvSpPr>
        <p:spPr/>
        <p:txBody>
          <a:bodyPr/>
          <a:lstStyle/>
          <a:p>
            <a:fld id="{F24EAD00-8F87-4311-AEAD-B634EA4DA92B}" type="slidenum">
              <a:rPr lang="en-US" smtClean="0"/>
              <a:t>5</a:t>
            </a:fld>
            <a:endParaRPr lang="en-US"/>
          </a:p>
        </p:txBody>
      </p:sp>
    </p:spTree>
    <p:extLst>
      <p:ext uri="{BB962C8B-B14F-4D97-AF65-F5344CB8AC3E}">
        <p14:creationId xmlns:p14="http://schemas.microsoft.com/office/powerpoint/2010/main" val="2534346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h-TH" dirty="0"/>
          </a:p>
        </p:txBody>
      </p:sp>
      <p:sp>
        <p:nvSpPr>
          <p:cNvPr id="4" name="Slide Number Placeholder 3"/>
          <p:cNvSpPr>
            <a:spLocks noGrp="1"/>
          </p:cNvSpPr>
          <p:nvPr>
            <p:ph type="sldNum" sz="quarter" idx="5"/>
          </p:nvPr>
        </p:nvSpPr>
        <p:spPr/>
        <p:txBody>
          <a:bodyPr/>
          <a:lstStyle/>
          <a:p>
            <a:fld id="{F24EAD00-8F87-4311-AEAD-B634EA4DA92B}" type="slidenum">
              <a:rPr lang="en-US" smtClean="0"/>
              <a:t>6</a:t>
            </a:fld>
            <a:endParaRPr lang="en-US"/>
          </a:p>
        </p:txBody>
      </p:sp>
    </p:spTree>
    <p:extLst>
      <p:ext uri="{BB962C8B-B14F-4D97-AF65-F5344CB8AC3E}">
        <p14:creationId xmlns:p14="http://schemas.microsoft.com/office/powerpoint/2010/main" val="583493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 </a:t>
            </a:r>
            <a:r>
              <a:rPr lang="th-TH" dirty="0"/>
              <a:t>ลดน้อยกว่าคาด + </a:t>
            </a:r>
            <a:r>
              <a:rPr lang="en-US" dirty="0"/>
              <a:t>easy e-receipt + trump</a:t>
            </a:r>
            <a:r>
              <a:rPr lang="th-TH" dirty="0"/>
              <a:t> ขู่เก้บภาษียุโรป</a:t>
            </a:r>
            <a:endParaRPr lang="en-US" dirty="0"/>
          </a:p>
        </p:txBody>
      </p:sp>
      <p:sp>
        <p:nvSpPr>
          <p:cNvPr id="4" name="Slide Number Placeholder 3"/>
          <p:cNvSpPr>
            <a:spLocks noGrp="1"/>
          </p:cNvSpPr>
          <p:nvPr>
            <p:ph type="sldNum" sz="quarter" idx="5"/>
          </p:nvPr>
        </p:nvSpPr>
        <p:spPr/>
        <p:txBody>
          <a:bodyPr/>
          <a:lstStyle/>
          <a:p>
            <a:fld id="{F24EAD00-8F87-4311-AEAD-B634EA4DA92B}" type="slidenum">
              <a:rPr lang="en-US" smtClean="0"/>
              <a:t>7</a:t>
            </a:fld>
            <a:endParaRPr lang="en-US"/>
          </a:p>
        </p:txBody>
      </p:sp>
    </p:spTree>
    <p:extLst>
      <p:ext uri="{BB962C8B-B14F-4D97-AF65-F5344CB8AC3E}">
        <p14:creationId xmlns:p14="http://schemas.microsoft.com/office/powerpoint/2010/main" val="2233567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29.6% in March</a:t>
            </a:r>
          </a:p>
        </p:txBody>
      </p:sp>
      <p:sp>
        <p:nvSpPr>
          <p:cNvPr id="4" name="Slide Number Placeholder 3"/>
          <p:cNvSpPr>
            <a:spLocks noGrp="1"/>
          </p:cNvSpPr>
          <p:nvPr>
            <p:ph type="sldNum" sz="quarter" idx="5"/>
          </p:nvPr>
        </p:nvSpPr>
        <p:spPr/>
        <p:txBody>
          <a:bodyPr/>
          <a:lstStyle/>
          <a:p>
            <a:fld id="{F24EAD00-8F87-4311-AEAD-B634EA4DA92B}" type="slidenum">
              <a:rPr lang="en-US" smtClean="0"/>
              <a:t>8</a:t>
            </a:fld>
            <a:endParaRPr lang="en-US"/>
          </a:p>
        </p:txBody>
      </p:sp>
    </p:spTree>
    <p:extLst>
      <p:ext uri="{BB962C8B-B14F-4D97-AF65-F5344CB8AC3E}">
        <p14:creationId xmlns:p14="http://schemas.microsoft.com/office/powerpoint/2010/main" val="3234480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JCI index PER 14x on average</a:t>
            </a:r>
          </a:p>
        </p:txBody>
      </p:sp>
      <p:sp>
        <p:nvSpPr>
          <p:cNvPr id="4" name="Slide Number Placeholder 3"/>
          <p:cNvSpPr>
            <a:spLocks noGrp="1"/>
          </p:cNvSpPr>
          <p:nvPr>
            <p:ph type="sldNum" sz="quarter" idx="5"/>
          </p:nvPr>
        </p:nvSpPr>
        <p:spPr/>
        <p:txBody>
          <a:bodyPr/>
          <a:lstStyle/>
          <a:p>
            <a:fld id="{F24EAD00-8F87-4311-AEAD-B634EA4DA92B}" type="slidenum">
              <a:rPr lang="en-US" smtClean="0"/>
              <a:t>9</a:t>
            </a:fld>
            <a:endParaRPr lang="en-US"/>
          </a:p>
        </p:txBody>
      </p:sp>
    </p:spTree>
    <p:extLst>
      <p:ext uri="{BB962C8B-B14F-4D97-AF65-F5344CB8AC3E}">
        <p14:creationId xmlns:p14="http://schemas.microsoft.com/office/powerpoint/2010/main" val="570494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a:t>
            </a:r>
          </a:p>
        </p:txBody>
      </p:sp>
      <p:sp>
        <p:nvSpPr>
          <p:cNvPr id="4" name="Slide Number Placeholder 3"/>
          <p:cNvSpPr>
            <a:spLocks noGrp="1"/>
          </p:cNvSpPr>
          <p:nvPr>
            <p:ph type="sldNum" sz="quarter" idx="5"/>
          </p:nvPr>
        </p:nvSpPr>
        <p:spPr/>
        <p:txBody>
          <a:bodyPr/>
          <a:lstStyle/>
          <a:p>
            <a:fld id="{F24EAD00-8F87-4311-AEAD-B634EA4DA92B}" type="slidenum">
              <a:rPr lang="en-US" smtClean="0"/>
              <a:t>10</a:t>
            </a:fld>
            <a:endParaRPr lang="en-US"/>
          </a:p>
        </p:txBody>
      </p:sp>
    </p:spTree>
    <p:extLst>
      <p:ext uri="{BB962C8B-B14F-4D97-AF65-F5344CB8AC3E}">
        <p14:creationId xmlns:p14="http://schemas.microsoft.com/office/powerpoint/2010/main" val="25905988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_Cover 1 2" preserve="1" userDrawn="1">
  <p:cSld name="4_Cover 1 2">
    <p:bg>
      <p:bgPr>
        <a:solidFill>
          <a:schemeClr val="lt1"/>
        </a:solidFill>
        <a:effectLst/>
      </p:bgPr>
    </p:bg>
    <p:spTree>
      <p:nvGrpSpPr>
        <p:cNvPr id="1" name="Shape 19"/>
        <p:cNvGrpSpPr/>
        <p:nvPr/>
      </p:nvGrpSpPr>
      <p:grpSpPr>
        <a:xfrm>
          <a:off x="0" y="0"/>
          <a:ext cx="0" cy="0"/>
          <a:chOff x="0" y="0"/>
          <a:chExt cx="0" cy="0"/>
        </a:xfrm>
      </p:grpSpPr>
      <p:sp>
        <p:nvSpPr>
          <p:cNvPr id="10" name="Rounded Rectangle 9">
            <a:extLst>
              <a:ext uri="{FF2B5EF4-FFF2-40B4-BE49-F238E27FC236}">
                <a16:creationId xmlns:a16="http://schemas.microsoft.com/office/drawing/2014/main" id="{2D916CD7-23B5-F84D-BA47-627BDF22CE6A}"/>
              </a:ext>
            </a:extLst>
          </p:cNvPr>
          <p:cNvSpPr/>
          <p:nvPr userDrawn="1"/>
        </p:nvSpPr>
        <p:spPr>
          <a:xfrm>
            <a:off x="1" y="249668"/>
            <a:ext cx="11820937" cy="6358664"/>
          </a:xfrm>
          <a:prstGeom prst="roundRect">
            <a:avLst>
              <a:gd name="adj" fmla="val 4584"/>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dirty="0">
              <a:solidFill>
                <a:schemeClr val="tx1"/>
              </a:solidFill>
            </a:endParaRPr>
          </a:p>
        </p:txBody>
      </p:sp>
      <p:sp>
        <p:nvSpPr>
          <p:cNvPr id="11" name="Rectangle 10"/>
          <p:cNvSpPr/>
          <p:nvPr userDrawn="1"/>
        </p:nvSpPr>
        <p:spPr>
          <a:xfrm>
            <a:off x="8221700" y="550020"/>
            <a:ext cx="3185018" cy="509317"/>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9" name="Google Shape;27;p3">
            <a:extLst>
              <a:ext uri="{FF2B5EF4-FFF2-40B4-BE49-F238E27FC236}">
                <a16:creationId xmlns:a16="http://schemas.microsoft.com/office/drawing/2014/main" id="{4CD79F46-A0F1-B944-8395-A8342E277CDC}"/>
              </a:ext>
            </a:extLst>
          </p:cNvPr>
          <p:cNvPicPr preferRelativeResize="0">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250732"/>
            <a:ext cx="7616403" cy="6357599"/>
          </a:xfrm>
          <a:prstGeom prst="rect">
            <a:avLst/>
          </a:prstGeom>
        </p:spPr>
      </p:pic>
      <p:sp>
        <p:nvSpPr>
          <p:cNvPr id="20" name="Google Shape;24;p3">
            <a:extLst>
              <a:ext uri="{FF2B5EF4-FFF2-40B4-BE49-F238E27FC236}">
                <a16:creationId xmlns:a16="http://schemas.microsoft.com/office/drawing/2014/main" id="{F7343754-C702-8D49-B1EE-E5D259446D39}"/>
              </a:ext>
            </a:extLst>
          </p:cNvPr>
          <p:cNvSpPr txBox="1">
            <a:spLocks noGrp="1"/>
          </p:cNvSpPr>
          <p:nvPr>
            <p:ph type="title" hasCustomPrompt="1"/>
          </p:nvPr>
        </p:nvSpPr>
        <p:spPr>
          <a:xfrm>
            <a:off x="8016377" y="1366533"/>
            <a:ext cx="3405600" cy="3322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Clr>
                <a:schemeClr val="lt1"/>
              </a:buClr>
              <a:buSzPts val="2800"/>
              <a:buFont typeface="Arial"/>
              <a:buNone/>
              <a:defRPr sz="2800" b="0" i="0" u="none" strike="noStrike" cap="none">
                <a:solidFill>
                  <a:schemeClr val="lt1"/>
                </a:solidFill>
                <a:latin typeface="Arial"/>
                <a:ea typeface="Arial"/>
                <a:cs typeface="Arial"/>
                <a:sym typeface="Arial"/>
              </a:defRPr>
            </a:lvl1pPr>
            <a:lvl2pPr lvl="1" rtl="0">
              <a:spcBef>
                <a:spcPts val="0"/>
              </a:spcBef>
              <a:spcAft>
                <a:spcPts val="0"/>
              </a:spcAft>
              <a:buSzPts val="1400"/>
              <a:buNone/>
              <a:defRPr sz="2400"/>
            </a:lvl2pPr>
            <a:lvl3pPr lvl="2" rtl="0">
              <a:spcBef>
                <a:spcPts val="0"/>
              </a:spcBef>
              <a:spcAft>
                <a:spcPts val="0"/>
              </a:spcAft>
              <a:buSzPts val="1400"/>
              <a:buNone/>
              <a:defRPr sz="2400"/>
            </a:lvl3pPr>
            <a:lvl4pPr lvl="3" rtl="0">
              <a:spcBef>
                <a:spcPts val="0"/>
              </a:spcBef>
              <a:spcAft>
                <a:spcPts val="0"/>
              </a:spcAft>
              <a:buSzPts val="1400"/>
              <a:buNone/>
              <a:defRPr sz="2400"/>
            </a:lvl4pPr>
            <a:lvl5pPr lvl="4" rtl="0">
              <a:spcBef>
                <a:spcPts val="0"/>
              </a:spcBef>
              <a:spcAft>
                <a:spcPts val="0"/>
              </a:spcAft>
              <a:buSzPts val="1400"/>
              <a:buNone/>
              <a:defRPr sz="2400"/>
            </a:lvl5pPr>
            <a:lvl6pPr lvl="5" rtl="0">
              <a:spcBef>
                <a:spcPts val="0"/>
              </a:spcBef>
              <a:spcAft>
                <a:spcPts val="0"/>
              </a:spcAft>
              <a:buSzPts val="1400"/>
              <a:buNone/>
              <a:defRPr sz="2400"/>
            </a:lvl6pPr>
            <a:lvl7pPr lvl="6" rtl="0">
              <a:spcBef>
                <a:spcPts val="0"/>
              </a:spcBef>
              <a:spcAft>
                <a:spcPts val="0"/>
              </a:spcAft>
              <a:buSzPts val="1400"/>
              <a:buNone/>
              <a:defRPr sz="2400"/>
            </a:lvl7pPr>
            <a:lvl8pPr lvl="7" rtl="0">
              <a:spcBef>
                <a:spcPts val="0"/>
              </a:spcBef>
              <a:spcAft>
                <a:spcPts val="0"/>
              </a:spcAft>
              <a:buSzPts val="1400"/>
              <a:buNone/>
              <a:defRPr sz="2400"/>
            </a:lvl8pPr>
            <a:lvl9pPr lvl="8" rtl="0">
              <a:spcBef>
                <a:spcPts val="0"/>
              </a:spcBef>
              <a:spcAft>
                <a:spcPts val="0"/>
              </a:spcAft>
              <a:buSzPts val="1400"/>
              <a:buNone/>
              <a:defRPr sz="2400"/>
            </a:lvl9pPr>
          </a:lstStyle>
          <a:p>
            <a:r>
              <a:rPr lang="en-GB" dirty="0"/>
              <a:t>Title: Arial 28</a:t>
            </a:r>
            <a:endParaRPr dirty="0"/>
          </a:p>
        </p:txBody>
      </p:sp>
      <p:sp>
        <p:nvSpPr>
          <p:cNvPr id="22" name="Text Placeholder 4">
            <a:extLst>
              <a:ext uri="{FF2B5EF4-FFF2-40B4-BE49-F238E27FC236}">
                <a16:creationId xmlns:a16="http://schemas.microsoft.com/office/drawing/2014/main" id="{EC72D213-2F87-1F49-842A-78B666D7E153}"/>
              </a:ext>
            </a:extLst>
          </p:cNvPr>
          <p:cNvSpPr>
            <a:spLocks noGrp="1"/>
          </p:cNvSpPr>
          <p:nvPr>
            <p:ph type="body" sz="quarter" idx="10" hasCustomPrompt="1"/>
          </p:nvPr>
        </p:nvSpPr>
        <p:spPr>
          <a:xfrm>
            <a:off x="8015872" y="4826223"/>
            <a:ext cx="3405600" cy="266400"/>
          </a:xfrm>
          <a:prstGeom prst="rect">
            <a:avLst/>
          </a:prstGeom>
        </p:spPr>
        <p:txBody>
          <a:bodyPr lIns="0" tIns="46800" rIns="0" bIns="46800" anchor="ctr" anchorCtr="0"/>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Name: Arial 14</a:t>
            </a:r>
          </a:p>
        </p:txBody>
      </p:sp>
      <p:sp>
        <p:nvSpPr>
          <p:cNvPr id="23" name="Text Placeholder 6">
            <a:extLst>
              <a:ext uri="{FF2B5EF4-FFF2-40B4-BE49-F238E27FC236}">
                <a16:creationId xmlns:a16="http://schemas.microsoft.com/office/drawing/2014/main" id="{6DF9A5C0-BB45-C04A-A11D-553BA4384A34}"/>
              </a:ext>
            </a:extLst>
          </p:cNvPr>
          <p:cNvSpPr>
            <a:spLocks noGrp="1"/>
          </p:cNvSpPr>
          <p:nvPr>
            <p:ph type="body" sz="quarter" idx="11" hasCustomPrompt="1"/>
          </p:nvPr>
        </p:nvSpPr>
        <p:spPr>
          <a:xfrm>
            <a:off x="8015871" y="5320317"/>
            <a:ext cx="3405600" cy="262800"/>
          </a:xfrm>
          <a:prstGeom prst="rect">
            <a:avLst/>
          </a:prstGeom>
        </p:spPr>
        <p:txBody>
          <a:bodyPr lIns="0" tIns="46800" rIns="0" anchor="ctr"/>
          <a:lstStyle>
            <a:lvl1pPr algn="l">
              <a:defRPr sz="1000">
                <a:solidFill>
                  <a:schemeClr val="bg1"/>
                </a:solidFill>
              </a:defRPr>
            </a:lvl1pPr>
          </a:lstStyle>
          <a:p>
            <a:pPr lvl="0"/>
            <a:r>
              <a:rPr lang="en-US" dirty="0"/>
              <a:t>Division: Arial 10</a:t>
            </a:r>
          </a:p>
        </p:txBody>
      </p:sp>
      <p:sp>
        <p:nvSpPr>
          <p:cNvPr id="24" name="Text Placeholder 8">
            <a:extLst>
              <a:ext uri="{FF2B5EF4-FFF2-40B4-BE49-F238E27FC236}">
                <a16:creationId xmlns:a16="http://schemas.microsoft.com/office/drawing/2014/main" id="{3FA37746-BF20-D640-A297-0F44026B3873}"/>
              </a:ext>
            </a:extLst>
          </p:cNvPr>
          <p:cNvSpPr>
            <a:spLocks noGrp="1"/>
          </p:cNvSpPr>
          <p:nvPr>
            <p:ph type="body" sz="quarter" idx="12" hasCustomPrompt="1"/>
          </p:nvPr>
        </p:nvSpPr>
        <p:spPr>
          <a:xfrm>
            <a:off x="8015871" y="5814752"/>
            <a:ext cx="3405600" cy="262800"/>
          </a:xfrm>
          <a:prstGeom prst="rect">
            <a:avLst/>
          </a:prstGeom>
        </p:spPr>
        <p:txBody>
          <a:bodyPr lIns="0" tIns="46800" rIns="0" anchor="ctr"/>
          <a:lstStyle>
            <a:lvl1pPr>
              <a:defRPr sz="800">
                <a:solidFill>
                  <a:schemeClr val="bg1"/>
                </a:solidFill>
              </a:defRPr>
            </a:lvl1pPr>
          </a:lstStyle>
          <a:p>
            <a:pPr lvl="0"/>
            <a:r>
              <a:rPr lang="en-US" dirty="0"/>
              <a:t>Date Month Year Arial 8</a:t>
            </a:r>
          </a:p>
        </p:txBody>
      </p:sp>
      <p:sp>
        <p:nvSpPr>
          <p:cNvPr id="13" name="Google Shape;25;p3"/>
          <p:cNvSpPr txBox="1"/>
          <p:nvPr userDrawn="1"/>
        </p:nvSpPr>
        <p:spPr>
          <a:xfrm>
            <a:off x="8873836" y="6214211"/>
            <a:ext cx="2583151" cy="158880"/>
          </a:xfrm>
          <a:prstGeom prst="rect">
            <a:avLst/>
          </a:prstGeom>
          <a:noFill/>
          <a:ln>
            <a:noFill/>
          </a:ln>
        </p:spPr>
        <p:txBody>
          <a:bodyPr spcFirstLastPara="1" wrap="square" lIns="0" tIns="0" rIns="0" bIns="0" anchor="ctr" anchorCtr="0">
            <a:noAutofit/>
          </a:bodyPr>
          <a:lstStyle/>
          <a:p>
            <a:pPr algn="r" defTabSz="342900"/>
            <a:r>
              <a:rPr lang="en-US" sz="900" b="1" kern="800" dirty="0">
                <a:solidFill>
                  <a:srgbClr val="A7A8A9"/>
                </a:solidFill>
                <a:latin typeface="Tahoma" panose="020B0604030504040204" pitchFamily="34" charset="0"/>
                <a:ea typeface="Tahoma" panose="020B0604030504040204" pitchFamily="34" charset="0"/>
                <a:cs typeface="Tahoma" panose="020B0604030504040204" pitchFamily="34" charset="0"/>
              </a:rPr>
              <a:t>Private &amp; Confidential For Institutional Only</a:t>
            </a:r>
          </a:p>
        </p:txBody>
      </p:sp>
    </p:spTree>
    <p:extLst>
      <p:ext uri="{BB962C8B-B14F-4D97-AF65-F5344CB8AC3E}">
        <p14:creationId xmlns:p14="http://schemas.microsoft.com/office/powerpoint/2010/main" val="2772105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1" preserve="1" userDrawn="1">
  <p:cSld name="1_Agenda 1">
    <p:spTree>
      <p:nvGrpSpPr>
        <p:cNvPr id="1" name="Shape 37"/>
        <p:cNvGrpSpPr/>
        <p:nvPr/>
      </p:nvGrpSpPr>
      <p:grpSpPr>
        <a:xfrm>
          <a:off x="0" y="0"/>
          <a:ext cx="0" cy="0"/>
          <a:chOff x="0" y="0"/>
          <a:chExt cx="0" cy="0"/>
        </a:xfrm>
      </p:grpSpPr>
      <p:sp>
        <p:nvSpPr>
          <p:cNvPr id="27" name="Rounded Rectangle 26">
            <a:extLst>
              <a:ext uri="{FF2B5EF4-FFF2-40B4-BE49-F238E27FC236}">
                <a16:creationId xmlns:a16="http://schemas.microsoft.com/office/drawing/2014/main" id="{0E98E9B0-F292-8546-94A3-E6B0979118F4}"/>
              </a:ext>
            </a:extLst>
          </p:cNvPr>
          <p:cNvSpPr/>
          <p:nvPr userDrawn="1"/>
        </p:nvSpPr>
        <p:spPr>
          <a:xfrm>
            <a:off x="4543911" y="4962948"/>
            <a:ext cx="6865200" cy="7992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ounded Rectangle 27">
            <a:extLst>
              <a:ext uri="{FF2B5EF4-FFF2-40B4-BE49-F238E27FC236}">
                <a16:creationId xmlns:a16="http://schemas.microsoft.com/office/drawing/2014/main" id="{8393F57B-677A-4048-9138-DB3AA5EB7F86}"/>
              </a:ext>
            </a:extLst>
          </p:cNvPr>
          <p:cNvSpPr/>
          <p:nvPr userDrawn="1"/>
        </p:nvSpPr>
        <p:spPr>
          <a:xfrm>
            <a:off x="4543911" y="3882949"/>
            <a:ext cx="6865200" cy="7992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ounded Rectangle 29">
            <a:extLst>
              <a:ext uri="{FF2B5EF4-FFF2-40B4-BE49-F238E27FC236}">
                <a16:creationId xmlns:a16="http://schemas.microsoft.com/office/drawing/2014/main" id="{E7DF7C76-8F7E-B447-979E-8C219253BBCE}"/>
              </a:ext>
            </a:extLst>
          </p:cNvPr>
          <p:cNvSpPr/>
          <p:nvPr userDrawn="1"/>
        </p:nvSpPr>
        <p:spPr>
          <a:xfrm>
            <a:off x="4543911" y="2802950"/>
            <a:ext cx="6865200" cy="7992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ounded Rectangle 30">
            <a:extLst>
              <a:ext uri="{FF2B5EF4-FFF2-40B4-BE49-F238E27FC236}">
                <a16:creationId xmlns:a16="http://schemas.microsoft.com/office/drawing/2014/main" id="{F506D522-CA57-7348-93DC-76025B3A6651}"/>
              </a:ext>
            </a:extLst>
          </p:cNvPr>
          <p:cNvSpPr/>
          <p:nvPr userDrawn="1"/>
        </p:nvSpPr>
        <p:spPr>
          <a:xfrm>
            <a:off x="4543911" y="1722951"/>
            <a:ext cx="6865200" cy="79920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ound Same-side Corner of Rectangle 33">
            <a:extLst>
              <a:ext uri="{FF2B5EF4-FFF2-40B4-BE49-F238E27FC236}">
                <a16:creationId xmlns:a16="http://schemas.microsoft.com/office/drawing/2014/main" id="{68FE47C3-9FE1-2B4F-9767-AEC2FC1D1F37}"/>
              </a:ext>
            </a:extLst>
          </p:cNvPr>
          <p:cNvSpPr/>
          <p:nvPr userDrawn="1"/>
        </p:nvSpPr>
        <p:spPr>
          <a:xfrm rot="5400000">
            <a:off x="-1078156" y="1337548"/>
            <a:ext cx="6352035" cy="4195723"/>
          </a:xfrm>
          <a:prstGeom prst="round2SameRect">
            <a:avLst>
              <a:gd name="adj1" fmla="val 4733"/>
              <a:gd name="adj2" fmla="val 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dirty="0"/>
          </a:p>
        </p:txBody>
      </p:sp>
      <p:sp>
        <p:nvSpPr>
          <p:cNvPr id="25" name="Title 1">
            <a:extLst>
              <a:ext uri="{FF2B5EF4-FFF2-40B4-BE49-F238E27FC236}">
                <a16:creationId xmlns:a16="http://schemas.microsoft.com/office/drawing/2014/main" id="{0002F320-909A-6741-B45D-712778D1D77A}"/>
              </a:ext>
            </a:extLst>
          </p:cNvPr>
          <p:cNvSpPr>
            <a:spLocks noGrp="1"/>
          </p:cNvSpPr>
          <p:nvPr>
            <p:ph type="title" hasCustomPrompt="1"/>
          </p:nvPr>
        </p:nvSpPr>
        <p:spPr>
          <a:xfrm>
            <a:off x="782889" y="780289"/>
            <a:ext cx="3059900" cy="5277612"/>
          </a:xfrm>
          <a:prstGeom prst="rect">
            <a:avLst/>
          </a:prstGeom>
          <a:noFill/>
          <a:effectLst/>
        </p:spPr>
        <p:txBody>
          <a:bodyPr lIns="0" tIns="0" rIns="0" bIns="0" anchor="ctr"/>
          <a:lstStyle>
            <a:lvl1pPr algn="l">
              <a:defRPr sz="2800" b="0" baseline="0">
                <a:solidFill>
                  <a:schemeClr val="bg1"/>
                </a:solidFill>
                <a:effectLst/>
              </a:defRPr>
            </a:lvl1pPr>
          </a:lstStyle>
          <a:p>
            <a:r>
              <a:rPr lang="en-US" dirty="0"/>
              <a:t>Agenda Title:</a:t>
            </a:r>
            <a:br>
              <a:rPr lang="en-US" dirty="0"/>
            </a:br>
            <a:r>
              <a:rPr lang="en-US" dirty="0"/>
              <a:t>Arial 28</a:t>
            </a:r>
          </a:p>
        </p:txBody>
      </p:sp>
      <p:sp>
        <p:nvSpPr>
          <p:cNvPr id="58" name="Title 1">
            <a:extLst>
              <a:ext uri="{FF2B5EF4-FFF2-40B4-BE49-F238E27FC236}">
                <a16:creationId xmlns:a16="http://schemas.microsoft.com/office/drawing/2014/main" id="{FC5F490F-BE09-9A4F-BA93-E239928263DD}"/>
              </a:ext>
            </a:extLst>
          </p:cNvPr>
          <p:cNvSpPr txBox="1">
            <a:spLocks/>
          </p:cNvSpPr>
          <p:nvPr userDrawn="1"/>
        </p:nvSpPr>
        <p:spPr>
          <a:xfrm>
            <a:off x="4938269" y="1296000"/>
            <a:ext cx="1169364" cy="239907"/>
          </a:xfrm>
          <a:prstGeom prst="rect">
            <a:avLst/>
          </a:prstGeom>
          <a:noFill/>
          <a:effectLst/>
        </p:spPr>
        <p:txBody>
          <a:bodyPr lIns="0" tIns="0" rIns="0" bIns="0" anchor="ctr"/>
          <a:lstStyle>
            <a:lvl1pPr algn="l" defTabSz="457166" rtl="0" eaLnBrk="1" latinLnBrk="0" hangingPunct="1">
              <a:spcBef>
                <a:spcPct val="0"/>
              </a:spcBef>
              <a:buNone/>
              <a:defRPr sz="3400" b="0" kern="1200" baseline="0">
                <a:solidFill>
                  <a:schemeClr val="tx1"/>
                </a:solidFill>
                <a:effectLst/>
                <a:latin typeface="+mj-lt"/>
                <a:ea typeface="+mj-ea"/>
                <a:cs typeface="+mj-cs"/>
              </a:defRPr>
            </a:lvl1pPr>
          </a:lstStyle>
          <a:p>
            <a:pPr lvl="0"/>
            <a:r>
              <a:rPr lang="en-US" sz="1867" b="0" dirty="0"/>
              <a:t>Time</a:t>
            </a:r>
          </a:p>
        </p:txBody>
      </p:sp>
      <p:sp>
        <p:nvSpPr>
          <p:cNvPr id="61" name="Title 1">
            <a:extLst>
              <a:ext uri="{FF2B5EF4-FFF2-40B4-BE49-F238E27FC236}">
                <a16:creationId xmlns:a16="http://schemas.microsoft.com/office/drawing/2014/main" id="{01CA4F2C-5FAB-E24D-89CB-FB9EA071AA5F}"/>
              </a:ext>
            </a:extLst>
          </p:cNvPr>
          <p:cNvSpPr txBox="1">
            <a:spLocks/>
          </p:cNvSpPr>
          <p:nvPr userDrawn="1"/>
        </p:nvSpPr>
        <p:spPr>
          <a:xfrm>
            <a:off x="6486653" y="1296000"/>
            <a:ext cx="1169364" cy="239907"/>
          </a:xfrm>
          <a:prstGeom prst="rect">
            <a:avLst/>
          </a:prstGeom>
          <a:noFill/>
          <a:effectLst/>
        </p:spPr>
        <p:txBody>
          <a:bodyPr lIns="0" tIns="0" rIns="0" bIns="0" anchor="ctr"/>
          <a:lstStyle>
            <a:lvl1pPr algn="l" defTabSz="457166" rtl="0" eaLnBrk="1" latinLnBrk="0" hangingPunct="1">
              <a:spcBef>
                <a:spcPct val="0"/>
              </a:spcBef>
              <a:buNone/>
              <a:defRPr sz="3400" b="0" kern="1200" baseline="0">
                <a:solidFill>
                  <a:schemeClr val="tx1"/>
                </a:solidFill>
                <a:effectLst/>
                <a:latin typeface="+mj-lt"/>
                <a:ea typeface="+mj-ea"/>
                <a:cs typeface="+mj-cs"/>
              </a:defRPr>
            </a:lvl1pPr>
          </a:lstStyle>
          <a:p>
            <a:pPr lvl="0"/>
            <a:r>
              <a:rPr lang="en-US" sz="1867" b="0" dirty="0"/>
              <a:t>Topic</a:t>
            </a:r>
          </a:p>
        </p:txBody>
      </p:sp>
      <p:sp>
        <p:nvSpPr>
          <p:cNvPr id="62" name="Title 1">
            <a:extLst>
              <a:ext uri="{FF2B5EF4-FFF2-40B4-BE49-F238E27FC236}">
                <a16:creationId xmlns:a16="http://schemas.microsoft.com/office/drawing/2014/main" id="{D84A4625-490C-F24D-A02C-F70A32578452}"/>
              </a:ext>
            </a:extLst>
          </p:cNvPr>
          <p:cNvSpPr txBox="1">
            <a:spLocks/>
          </p:cNvSpPr>
          <p:nvPr userDrawn="1"/>
        </p:nvSpPr>
        <p:spPr>
          <a:xfrm>
            <a:off x="9559036" y="1296000"/>
            <a:ext cx="1536171" cy="271685"/>
          </a:xfrm>
          <a:prstGeom prst="rect">
            <a:avLst/>
          </a:prstGeom>
          <a:noFill/>
          <a:effectLst/>
        </p:spPr>
        <p:txBody>
          <a:bodyPr lIns="0" tIns="0" rIns="0" bIns="0" anchor="ctr"/>
          <a:lstStyle>
            <a:lvl1pPr algn="l" defTabSz="457166" rtl="0" eaLnBrk="1" latinLnBrk="0" hangingPunct="1">
              <a:spcBef>
                <a:spcPct val="0"/>
              </a:spcBef>
              <a:buNone/>
              <a:defRPr sz="3400" b="0" kern="1200" baseline="0">
                <a:solidFill>
                  <a:schemeClr val="tx1"/>
                </a:solidFill>
                <a:effectLst/>
                <a:latin typeface="+mj-lt"/>
                <a:ea typeface="+mj-ea"/>
                <a:cs typeface="+mj-cs"/>
              </a:defRPr>
            </a:lvl1pPr>
          </a:lstStyle>
          <a:p>
            <a:pPr lvl="0"/>
            <a:r>
              <a:rPr lang="en-US" sz="1867" b="0" dirty="0"/>
              <a:t>Presenter</a:t>
            </a:r>
          </a:p>
        </p:txBody>
      </p:sp>
      <p:sp>
        <p:nvSpPr>
          <p:cNvPr id="38" name="Text Placeholder 2">
            <a:extLst>
              <a:ext uri="{FF2B5EF4-FFF2-40B4-BE49-F238E27FC236}">
                <a16:creationId xmlns:a16="http://schemas.microsoft.com/office/drawing/2014/main" id="{EBE084A9-2CD8-B940-B8E0-9EA7224D0614}"/>
              </a:ext>
            </a:extLst>
          </p:cNvPr>
          <p:cNvSpPr>
            <a:spLocks noGrp="1"/>
          </p:cNvSpPr>
          <p:nvPr>
            <p:ph type="body" sz="quarter" idx="16" hasCustomPrompt="1"/>
          </p:nvPr>
        </p:nvSpPr>
        <p:spPr>
          <a:xfrm>
            <a:off x="6486653" y="1724400"/>
            <a:ext cx="2646961" cy="797750"/>
          </a:xfrm>
          <a:prstGeom prst="rect">
            <a:avLst/>
          </a:prstGeom>
        </p:spPr>
        <p:txBody>
          <a:bodyPr lIns="0" tIns="0" rIns="0" bIns="0" anchor="ctr"/>
          <a:lstStyle>
            <a:lvl1pPr>
              <a:defRPr sz="1200">
                <a:solidFill>
                  <a:schemeClr val="tx2">
                    <a:lumMod val="25000"/>
                  </a:schemeClr>
                </a:solidFill>
              </a:defRPr>
            </a:lvl1pPr>
          </a:lstStyle>
          <a:p>
            <a:pPr lvl="0"/>
            <a:r>
              <a:rPr lang="en-US" dirty="0"/>
              <a:t>1. Topic: Arial 12</a:t>
            </a:r>
          </a:p>
        </p:txBody>
      </p:sp>
      <p:sp>
        <p:nvSpPr>
          <p:cNvPr id="39" name="Text Placeholder 2">
            <a:extLst>
              <a:ext uri="{FF2B5EF4-FFF2-40B4-BE49-F238E27FC236}">
                <a16:creationId xmlns:a16="http://schemas.microsoft.com/office/drawing/2014/main" id="{F59DDBB1-C79E-834B-AD92-3A7D1DA31FBF}"/>
              </a:ext>
            </a:extLst>
          </p:cNvPr>
          <p:cNvSpPr>
            <a:spLocks noGrp="1"/>
          </p:cNvSpPr>
          <p:nvPr>
            <p:ph type="body" sz="quarter" idx="39" hasCustomPrompt="1"/>
          </p:nvPr>
        </p:nvSpPr>
        <p:spPr>
          <a:xfrm>
            <a:off x="6486653" y="2804400"/>
            <a:ext cx="2646961" cy="797750"/>
          </a:xfrm>
          <a:prstGeom prst="rect">
            <a:avLst/>
          </a:prstGeom>
        </p:spPr>
        <p:txBody>
          <a:bodyPr lIns="0" tIns="0" rIns="0" bIns="0" anchor="ctr"/>
          <a:lstStyle>
            <a:lvl1pPr>
              <a:defRPr sz="1200">
                <a:solidFill>
                  <a:schemeClr val="tx2">
                    <a:lumMod val="25000"/>
                  </a:schemeClr>
                </a:solidFill>
              </a:defRPr>
            </a:lvl1pPr>
          </a:lstStyle>
          <a:p>
            <a:pPr lvl="0"/>
            <a:r>
              <a:rPr lang="en-US" dirty="0"/>
              <a:t>2. Topic: Arial 12</a:t>
            </a:r>
          </a:p>
        </p:txBody>
      </p:sp>
      <p:sp>
        <p:nvSpPr>
          <p:cNvPr id="40" name="Text Placeholder 2">
            <a:extLst>
              <a:ext uri="{FF2B5EF4-FFF2-40B4-BE49-F238E27FC236}">
                <a16:creationId xmlns:a16="http://schemas.microsoft.com/office/drawing/2014/main" id="{CF66B5FA-12CB-0745-B8AF-1D02AA4A86AF}"/>
              </a:ext>
            </a:extLst>
          </p:cNvPr>
          <p:cNvSpPr>
            <a:spLocks noGrp="1"/>
          </p:cNvSpPr>
          <p:nvPr>
            <p:ph type="body" sz="quarter" idx="40" hasCustomPrompt="1"/>
          </p:nvPr>
        </p:nvSpPr>
        <p:spPr>
          <a:xfrm>
            <a:off x="6486653" y="3884400"/>
            <a:ext cx="2646961" cy="797750"/>
          </a:xfrm>
          <a:prstGeom prst="rect">
            <a:avLst/>
          </a:prstGeom>
        </p:spPr>
        <p:txBody>
          <a:bodyPr lIns="0" tIns="0" rIns="0" bIns="0" anchor="ctr"/>
          <a:lstStyle>
            <a:lvl1pPr>
              <a:defRPr sz="1200">
                <a:solidFill>
                  <a:schemeClr val="tx2">
                    <a:lumMod val="25000"/>
                  </a:schemeClr>
                </a:solidFill>
              </a:defRPr>
            </a:lvl1pPr>
          </a:lstStyle>
          <a:p>
            <a:pPr lvl="0"/>
            <a:r>
              <a:rPr lang="en-US" dirty="0"/>
              <a:t>3. Topic: Arial 12</a:t>
            </a:r>
          </a:p>
        </p:txBody>
      </p:sp>
      <p:sp>
        <p:nvSpPr>
          <p:cNvPr id="41" name="Text Placeholder 2">
            <a:extLst>
              <a:ext uri="{FF2B5EF4-FFF2-40B4-BE49-F238E27FC236}">
                <a16:creationId xmlns:a16="http://schemas.microsoft.com/office/drawing/2014/main" id="{CAAF77CE-074D-D847-BC34-56A0278CCA5E}"/>
              </a:ext>
            </a:extLst>
          </p:cNvPr>
          <p:cNvSpPr>
            <a:spLocks noGrp="1"/>
          </p:cNvSpPr>
          <p:nvPr>
            <p:ph type="body" sz="quarter" idx="41" hasCustomPrompt="1"/>
          </p:nvPr>
        </p:nvSpPr>
        <p:spPr>
          <a:xfrm>
            <a:off x="6486653" y="4964400"/>
            <a:ext cx="2646961" cy="797750"/>
          </a:xfrm>
          <a:prstGeom prst="rect">
            <a:avLst/>
          </a:prstGeom>
        </p:spPr>
        <p:txBody>
          <a:bodyPr lIns="0" tIns="0" rIns="0" bIns="0" anchor="ctr"/>
          <a:lstStyle>
            <a:lvl1pPr>
              <a:defRPr sz="1200">
                <a:solidFill>
                  <a:schemeClr val="tx2">
                    <a:lumMod val="25000"/>
                  </a:schemeClr>
                </a:solidFill>
              </a:defRPr>
            </a:lvl1pPr>
          </a:lstStyle>
          <a:p>
            <a:pPr lvl="0"/>
            <a:r>
              <a:rPr lang="en-US" dirty="0"/>
              <a:t>4. Topic: Arial 12</a:t>
            </a:r>
          </a:p>
        </p:txBody>
      </p:sp>
      <p:sp>
        <p:nvSpPr>
          <p:cNvPr id="42" name="Text Placeholder 2">
            <a:extLst>
              <a:ext uri="{FF2B5EF4-FFF2-40B4-BE49-F238E27FC236}">
                <a16:creationId xmlns:a16="http://schemas.microsoft.com/office/drawing/2014/main" id="{989EA873-8FE2-244A-B580-8AE4D516A3D7}"/>
              </a:ext>
            </a:extLst>
          </p:cNvPr>
          <p:cNvSpPr>
            <a:spLocks noGrp="1"/>
          </p:cNvSpPr>
          <p:nvPr>
            <p:ph type="body" sz="quarter" idx="24" hasCustomPrompt="1"/>
          </p:nvPr>
        </p:nvSpPr>
        <p:spPr>
          <a:xfrm>
            <a:off x="4938268" y="1724400"/>
            <a:ext cx="1148232" cy="797750"/>
          </a:xfrm>
          <a:prstGeom prst="rect">
            <a:avLst/>
          </a:prstGeom>
        </p:spPr>
        <p:txBody>
          <a:bodyPr lIns="0" tIns="0" rIns="0" bIns="0" anchor="ctr"/>
          <a:lstStyle>
            <a:lvl1pPr>
              <a:defRPr sz="1200">
                <a:solidFill>
                  <a:schemeClr val="tx2">
                    <a:lumMod val="25000"/>
                  </a:schemeClr>
                </a:solidFill>
              </a:defRPr>
            </a:lvl1pPr>
          </a:lstStyle>
          <a:p>
            <a:pPr lvl="0"/>
            <a:r>
              <a:rPr lang="en-US" dirty="0"/>
              <a:t>Time: Arial 12</a:t>
            </a:r>
          </a:p>
        </p:txBody>
      </p:sp>
      <p:sp>
        <p:nvSpPr>
          <p:cNvPr id="43" name="Text Placeholder 2">
            <a:extLst>
              <a:ext uri="{FF2B5EF4-FFF2-40B4-BE49-F238E27FC236}">
                <a16:creationId xmlns:a16="http://schemas.microsoft.com/office/drawing/2014/main" id="{C987712B-9FEE-904C-A091-9C0739D3BE81}"/>
              </a:ext>
            </a:extLst>
          </p:cNvPr>
          <p:cNvSpPr>
            <a:spLocks noGrp="1"/>
          </p:cNvSpPr>
          <p:nvPr>
            <p:ph type="body" sz="quarter" idx="42" hasCustomPrompt="1"/>
          </p:nvPr>
        </p:nvSpPr>
        <p:spPr>
          <a:xfrm>
            <a:off x="4938268" y="2804400"/>
            <a:ext cx="1148232" cy="797750"/>
          </a:xfrm>
          <a:prstGeom prst="rect">
            <a:avLst/>
          </a:prstGeom>
        </p:spPr>
        <p:txBody>
          <a:bodyPr lIns="0" tIns="0" rIns="0" bIns="0" anchor="ctr"/>
          <a:lstStyle>
            <a:lvl1pPr>
              <a:defRPr sz="1200">
                <a:solidFill>
                  <a:schemeClr val="tx2">
                    <a:lumMod val="25000"/>
                  </a:schemeClr>
                </a:solidFill>
              </a:defRPr>
            </a:lvl1pPr>
          </a:lstStyle>
          <a:p>
            <a:pPr lvl="0"/>
            <a:r>
              <a:rPr lang="en-US" dirty="0"/>
              <a:t>Time: Arial 12</a:t>
            </a:r>
          </a:p>
        </p:txBody>
      </p:sp>
      <p:sp>
        <p:nvSpPr>
          <p:cNvPr id="44" name="Text Placeholder 2">
            <a:extLst>
              <a:ext uri="{FF2B5EF4-FFF2-40B4-BE49-F238E27FC236}">
                <a16:creationId xmlns:a16="http://schemas.microsoft.com/office/drawing/2014/main" id="{25207633-2EA3-2F40-A9A3-961C5BBCC256}"/>
              </a:ext>
            </a:extLst>
          </p:cNvPr>
          <p:cNvSpPr>
            <a:spLocks noGrp="1"/>
          </p:cNvSpPr>
          <p:nvPr>
            <p:ph type="body" sz="quarter" idx="43" hasCustomPrompt="1"/>
          </p:nvPr>
        </p:nvSpPr>
        <p:spPr>
          <a:xfrm>
            <a:off x="4938268" y="3884400"/>
            <a:ext cx="1148232" cy="797750"/>
          </a:xfrm>
          <a:prstGeom prst="rect">
            <a:avLst/>
          </a:prstGeom>
        </p:spPr>
        <p:txBody>
          <a:bodyPr lIns="0" tIns="0" rIns="0" bIns="0" anchor="ctr"/>
          <a:lstStyle>
            <a:lvl1pPr>
              <a:defRPr sz="1200">
                <a:solidFill>
                  <a:schemeClr val="tx2">
                    <a:lumMod val="25000"/>
                  </a:schemeClr>
                </a:solidFill>
              </a:defRPr>
            </a:lvl1pPr>
          </a:lstStyle>
          <a:p>
            <a:pPr lvl="0"/>
            <a:r>
              <a:rPr lang="en-US" dirty="0"/>
              <a:t>Time: Arial 12</a:t>
            </a:r>
          </a:p>
        </p:txBody>
      </p:sp>
      <p:sp>
        <p:nvSpPr>
          <p:cNvPr id="45" name="Text Placeholder 2">
            <a:extLst>
              <a:ext uri="{FF2B5EF4-FFF2-40B4-BE49-F238E27FC236}">
                <a16:creationId xmlns:a16="http://schemas.microsoft.com/office/drawing/2014/main" id="{F5C580FE-9526-C54A-B24D-8A88AA789663}"/>
              </a:ext>
            </a:extLst>
          </p:cNvPr>
          <p:cNvSpPr>
            <a:spLocks noGrp="1"/>
          </p:cNvSpPr>
          <p:nvPr>
            <p:ph type="body" sz="quarter" idx="44" hasCustomPrompt="1"/>
          </p:nvPr>
        </p:nvSpPr>
        <p:spPr>
          <a:xfrm>
            <a:off x="4938268" y="4964400"/>
            <a:ext cx="1148232" cy="797750"/>
          </a:xfrm>
          <a:prstGeom prst="rect">
            <a:avLst/>
          </a:prstGeom>
        </p:spPr>
        <p:txBody>
          <a:bodyPr lIns="0" tIns="0" rIns="0" bIns="0" anchor="ctr"/>
          <a:lstStyle>
            <a:lvl1pPr>
              <a:defRPr sz="1200">
                <a:solidFill>
                  <a:schemeClr val="tx2">
                    <a:lumMod val="25000"/>
                  </a:schemeClr>
                </a:solidFill>
              </a:defRPr>
            </a:lvl1pPr>
          </a:lstStyle>
          <a:p>
            <a:pPr lvl="0"/>
            <a:r>
              <a:rPr lang="en-US" dirty="0"/>
              <a:t>Time: Arial 12</a:t>
            </a:r>
          </a:p>
        </p:txBody>
      </p:sp>
      <p:sp>
        <p:nvSpPr>
          <p:cNvPr id="46" name="Text Placeholder 2">
            <a:extLst>
              <a:ext uri="{FF2B5EF4-FFF2-40B4-BE49-F238E27FC236}">
                <a16:creationId xmlns:a16="http://schemas.microsoft.com/office/drawing/2014/main" id="{C792C9BA-13F1-D44E-A564-F7B3A8D9F5EA}"/>
              </a:ext>
            </a:extLst>
          </p:cNvPr>
          <p:cNvSpPr>
            <a:spLocks noGrp="1"/>
          </p:cNvSpPr>
          <p:nvPr>
            <p:ph type="body" sz="quarter" idx="20" hasCustomPrompt="1"/>
          </p:nvPr>
        </p:nvSpPr>
        <p:spPr>
          <a:xfrm>
            <a:off x="9559035" y="1724400"/>
            <a:ext cx="1625969" cy="797750"/>
          </a:xfrm>
          <a:prstGeom prst="rect">
            <a:avLst/>
          </a:prstGeom>
        </p:spPr>
        <p:txBody>
          <a:bodyPr lIns="0" tIns="0" rIns="0" bIns="0" anchor="ctr"/>
          <a:lstStyle>
            <a:lvl1pPr>
              <a:defRPr sz="1200">
                <a:solidFill>
                  <a:schemeClr val="tx2">
                    <a:lumMod val="25000"/>
                  </a:schemeClr>
                </a:solidFill>
              </a:defRPr>
            </a:lvl1pPr>
          </a:lstStyle>
          <a:p>
            <a:pPr lvl="0"/>
            <a:r>
              <a:rPr lang="en-US" dirty="0"/>
              <a:t>Name: Arial 12</a:t>
            </a:r>
          </a:p>
        </p:txBody>
      </p:sp>
      <p:sp>
        <p:nvSpPr>
          <p:cNvPr id="47" name="Text Placeholder 2">
            <a:extLst>
              <a:ext uri="{FF2B5EF4-FFF2-40B4-BE49-F238E27FC236}">
                <a16:creationId xmlns:a16="http://schemas.microsoft.com/office/drawing/2014/main" id="{402B3B28-F443-3447-B5FE-9D9B8252F0CC}"/>
              </a:ext>
            </a:extLst>
          </p:cNvPr>
          <p:cNvSpPr>
            <a:spLocks noGrp="1"/>
          </p:cNvSpPr>
          <p:nvPr>
            <p:ph type="body" sz="quarter" idx="45" hasCustomPrompt="1"/>
          </p:nvPr>
        </p:nvSpPr>
        <p:spPr>
          <a:xfrm>
            <a:off x="9559035" y="2804400"/>
            <a:ext cx="1625969" cy="797750"/>
          </a:xfrm>
          <a:prstGeom prst="rect">
            <a:avLst/>
          </a:prstGeom>
        </p:spPr>
        <p:txBody>
          <a:bodyPr lIns="0" tIns="0" rIns="0" bIns="0" anchor="ctr"/>
          <a:lstStyle>
            <a:lvl1pPr>
              <a:defRPr sz="1200">
                <a:solidFill>
                  <a:schemeClr val="tx2">
                    <a:lumMod val="25000"/>
                  </a:schemeClr>
                </a:solidFill>
              </a:defRPr>
            </a:lvl1pPr>
          </a:lstStyle>
          <a:p>
            <a:pPr lvl="0"/>
            <a:r>
              <a:rPr lang="en-US" dirty="0"/>
              <a:t>Name: Arial 12</a:t>
            </a:r>
          </a:p>
        </p:txBody>
      </p:sp>
      <p:sp>
        <p:nvSpPr>
          <p:cNvPr id="48" name="Text Placeholder 2">
            <a:extLst>
              <a:ext uri="{FF2B5EF4-FFF2-40B4-BE49-F238E27FC236}">
                <a16:creationId xmlns:a16="http://schemas.microsoft.com/office/drawing/2014/main" id="{A4E73170-7959-1F40-94F2-B3ADB5CBFE09}"/>
              </a:ext>
            </a:extLst>
          </p:cNvPr>
          <p:cNvSpPr>
            <a:spLocks noGrp="1"/>
          </p:cNvSpPr>
          <p:nvPr>
            <p:ph type="body" sz="quarter" idx="46" hasCustomPrompt="1"/>
          </p:nvPr>
        </p:nvSpPr>
        <p:spPr>
          <a:xfrm>
            <a:off x="9559035" y="3884400"/>
            <a:ext cx="1625969" cy="797750"/>
          </a:xfrm>
          <a:prstGeom prst="rect">
            <a:avLst/>
          </a:prstGeom>
        </p:spPr>
        <p:txBody>
          <a:bodyPr lIns="0" tIns="0" rIns="0" bIns="0" anchor="ctr"/>
          <a:lstStyle>
            <a:lvl1pPr>
              <a:defRPr sz="1200">
                <a:solidFill>
                  <a:schemeClr val="tx2">
                    <a:lumMod val="25000"/>
                  </a:schemeClr>
                </a:solidFill>
              </a:defRPr>
            </a:lvl1pPr>
          </a:lstStyle>
          <a:p>
            <a:pPr lvl="0"/>
            <a:r>
              <a:rPr lang="en-US" dirty="0"/>
              <a:t>Name: Arial 12</a:t>
            </a:r>
          </a:p>
        </p:txBody>
      </p:sp>
      <p:sp>
        <p:nvSpPr>
          <p:cNvPr id="49" name="Text Placeholder 2">
            <a:extLst>
              <a:ext uri="{FF2B5EF4-FFF2-40B4-BE49-F238E27FC236}">
                <a16:creationId xmlns:a16="http://schemas.microsoft.com/office/drawing/2014/main" id="{C09B18B1-0BBD-5B40-A7D1-709032E709F5}"/>
              </a:ext>
            </a:extLst>
          </p:cNvPr>
          <p:cNvSpPr>
            <a:spLocks noGrp="1"/>
          </p:cNvSpPr>
          <p:nvPr>
            <p:ph type="body" sz="quarter" idx="47" hasCustomPrompt="1"/>
          </p:nvPr>
        </p:nvSpPr>
        <p:spPr>
          <a:xfrm>
            <a:off x="9559035" y="4964400"/>
            <a:ext cx="1625969" cy="797750"/>
          </a:xfrm>
          <a:prstGeom prst="rect">
            <a:avLst/>
          </a:prstGeom>
        </p:spPr>
        <p:txBody>
          <a:bodyPr lIns="0" tIns="0" rIns="0" bIns="0" anchor="ctr"/>
          <a:lstStyle>
            <a:lvl1pPr>
              <a:defRPr sz="1200">
                <a:solidFill>
                  <a:schemeClr val="tx2">
                    <a:lumMod val="25000"/>
                  </a:schemeClr>
                </a:solidFill>
              </a:defRPr>
            </a:lvl1pPr>
          </a:lstStyle>
          <a:p>
            <a:pPr lvl="0"/>
            <a:r>
              <a:rPr lang="en-US" dirty="0"/>
              <a:t>Name: Arial 12</a:t>
            </a:r>
          </a:p>
        </p:txBody>
      </p:sp>
      <p:sp>
        <p:nvSpPr>
          <p:cNvPr id="50" name="TextBox 49">
            <a:extLst>
              <a:ext uri="{FF2B5EF4-FFF2-40B4-BE49-F238E27FC236}">
                <a16:creationId xmlns:a16="http://schemas.microsoft.com/office/drawing/2014/main" id="{E2C7552B-C569-984F-B1D2-3EF5A650570D}"/>
              </a:ext>
            </a:extLst>
          </p:cNvPr>
          <p:cNvSpPr txBox="1"/>
          <p:nvPr userDrawn="1"/>
        </p:nvSpPr>
        <p:spPr>
          <a:xfrm>
            <a:off x="4554848" y="6090233"/>
            <a:ext cx="6868800" cy="692497"/>
          </a:xfrm>
          <a:prstGeom prst="rect">
            <a:avLst/>
          </a:prstGeom>
          <a:noFill/>
        </p:spPr>
        <p:txBody>
          <a:bodyPr wrap="square" lIns="0" tIns="0" rIns="0" bIns="0" rtlCol="0">
            <a:spAutoFit/>
          </a:bodyPr>
          <a:lstStyle/>
          <a:p>
            <a:pPr algn="just"/>
            <a:r>
              <a:rPr lang="en-SG" sz="900" b="1" dirty="0">
                <a:solidFill>
                  <a:schemeClr val="tx2">
                    <a:lumMod val="50000"/>
                  </a:schemeClr>
                </a:solidFill>
              </a:rPr>
              <a:t>Private and Confidential. </a:t>
            </a:r>
            <a:r>
              <a:rPr lang="en-SG" sz="900" dirty="0">
                <a:solidFill>
                  <a:schemeClr val="tx2">
                    <a:lumMod val="50000"/>
                  </a:schemeClr>
                </a:solidFill>
              </a:rPr>
              <a:t>Disclaimer: This material that follows is a presentation of general background information about UOB’s activities current at the date of the presentation. It is information given in summary form and does not purport to be complete. It is not to be relied upon as advice to investors or potential investors and does not take into account the investment objectives, financial situation or needs of any particular investor. This material should be considered with professional advice when deciding if an investment is appropriate. UOB accepts no liability whatsoever with respect to the use of this document or its content. </a:t>
            </a:r>
            <a:endParaRPr lang="en-US" sz="900" dirty="0">
              <a:solidFill>
                <a:schemeClr val="tx2">
                  <a:lumMod val="50000"/>
                </a:schemeClr>
              </a:solidFill>
            </a:endParaRPr>
          </a:p>
        </p:txBody>
      </p:sp>
      <p:sp>
        <p:nvSpPr>
          <p:cNvPr id="29" name="Rectangle 28"/>
          <p:cNvSpPr/>
          <p:nvPr userDrawn="1"/>
        </p:nvSpPr>
        <p:spPr>
          <a:xfrm>
            <a:off x="9583260" y="547156"/>
            <a:ext cx="1983258" cy="320040"/>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38480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2 1" preserve="1" userDrawn="1">
  <p:cSld name="Section Divider 2 2">
    <p:bg>
      <p:bgRef idx="1001">
        <a:schemeClr val="bg1"/>
      </p:bgRef>
    </p:bg>
    <p:spTree>
      <p:nvGrpSpPr>
        <p:cNvPr id="1" name="Shape 74"/>
        <p:cNvGrpSpPr/>
        <p:nvPr/>
      </p:nvGrpSpPr>
      <p:grpSpPr>
        <a:xfrm>
          <a:off x="0" y="0"/>
          <a:ext cx="0" cy="0"/>
          <a:chOff x="0" y="0"/>
          <a:chExt cx="0" cy="0"/>
        </a:xfrm>
      </p:grpSpPr>
      <p:sp>
        <p:nvSpPr>
          <p:cNvPr id="7" name="Text Placeholder 3">
            <a:extLst>
              <a:ext uri="{FF2B5EF4-FFF2-40B4-BE49-F238E27FC236}">
                <a16:creationId xmlns:a16="http://schemas.microsoft.com/office/drawing/2014/main" id="{14CF4AE1-C753-1240-A56D-5C7D3A584B46}"/>
              </a:ext>
            </a:extLst>
          </p:cNvPr>
          <p:cNvSpPr>
            <a:spLocks noGrp="1"/>
          </p:cNvSpPr>
          <p:nvPr>
            <p:ph type="body" sz="quarter" idx="22" hasCustomPrompt="1"/>
          </p:nvPr>
        </p:nvSpPr>
        <p:spPr>
          <a:xfrm>
            <a:off x="782887" y="4239442"/>
            <a:ext cx="3605061" cy="1563951"/>
          </a:xfrm>
          <a:prstGeom prst="rect">
            <a:avLst/>
          </a:prstGeom>
        </p:spPr>
        <p:txBody>
          <a:bodyPr lIns="0" tIns="0" rIns="0" bIns="0" anchor="t" anchorCtr="0"/>
          <a:lstStyle>
            <a:lvl1pPr marL="0" marR="0" indent="0" algn="l" defTabSz="609539" rtl="0" eaLnBrk="1" fontAlgn="auto" latinLnBrk="0" hangingPunct="1">
              <a:lnSpc>
                <a:spcPct val="100000"/>
              </a:lnSpc>
              <a:spcBef>
                <a:spcPct val="20000"/>
              </a:spcBef>
              <a:spcAft>
                <a:spcPts val="0"/>
              </a:spcAft>
              <a:buClr>
                <a:schemeClr val="tx1"/>
              </a:buClr>
              <a:buSzTx/>
              <a:buFont typeface="Arial" panose="020B0604020202020204" pitchFamily="34" charset="0"/>
              <a:buNone/>
              <a:tabLst/>
              <a:defRPr sz="1800" b="0">
                <a:solidFill>
                  <a:schemeClr val="tx1"/>
                </a:solidFill>
              </a:defRPr>
            </a:lvl1pPr>
            <a:lvl2pPr marL="609539" indent="0">
              <a:lnSpc>
                <a:spcPct val="150000"/>
              </a:lnSpc>
              <a:buClr>
                <a:srgbClr val="0F9BD6"/>
              </a:buClr>
              <a:buFontTx/>
              <a:buNone/>
              <a:defRPr sz="1600">
                <a:solidFill>
                  <a:srgbClr val="4D4D4C"/>
                </a:solidFill>
              </a:defRPr>
            </a:lvl2pPr>
            <a:lvl3pPr>
              <a:buFont typeface="Arial" panose="020B0604020202020204" pitchFamily="34" charset="0"/>
              <a:buChar char="•"/>
              <a:defRPr sz="1600"/>
            </a:lvl3pPr>
            <a:lvl4pPr>
              <a:buFont typeface="Arial" panose="020B0604020202020204" pitchFamily="34" charset="0"/>
              <a:buChar char="•"/>
              <a:defRPr sz="1600"/>
            </a:lvl4pPr>
            <a:lvl5pPr>
              <a:buFont typeface="Arial" panose="020B0604020202020204" pitchFamily="34" charset="0"/>
              <a:buChar char="•"/>
              <a:defRPr sz="1600"/>
            </a:lvl5pPr>
          </a:lstStyle>
          <a:p>
            <a:pPr lvl="0"/>
            <a:r>
              <a:rPr lang="en-US" dirty="0"/>
              <a:t>Subhead Arial 18</a:t>
            </a:r>
          </a:p>
        </p:txBody>
      </p:sp>
      <p:sp>
        <p:nvSpPr>
          <p:cNvPr id="8" name="Title 1">
            <a:extLst>
              <a:ext uri="{FF2B5EF4-FFF2-40B4-BE49-F238E27FC236}">
                <a16:creationId xmlns:a16="http://schemas.microsoft.com/office/drawing/2014/main" id="{78808BC8-3449-DE49-9CD0-BF414D4A4F2C}"/>
              </a:ext>
            </a:extLst>
          </p:cNvPr>
          <p:cNvSpPr>
            <a:spLocks noGrp="1"/>
          </p:cNvSpPr>
          <p:nvPr>
            <p:ph type="title" hasCustomPrompt="1"/>
          </p:nvPr>
        </p:nvSpPr>
        <p:spPr>
          <a:xfrm>
            <a:off x="782887" y="1576050"/>
            <a:ext cx="3605061" cy="2284757"/>
          </a:xfrm>
          <a:prstGeom prst="rect">
            <a:avLst/>
          </a:prstGeom>
          <a:noFill/>
          <a:effectLst/>
        </p:spPr>
        <p:txBody>
          <a:bodyPr lIns="0" tIns="0" rIns="0" bIns="0" anchor="t"/>
          <a:lstStyle>
            <a:lvl1pPr algn="l">
              <a:defRPr sz="3600" b="0" baseline="0">
                <a:solidFill>
                  <a:schemeClr val="tx1"/>
                </a:solidFill>
                <a:effectLst/>
              </a:defRPr>
            </a:lvl1pPr>
          </a:lstStyle>
          <a:p>
            <a:r>
              <a:rPr lang="en-US" dirty="0"/>
              <a:t>Section Divider Title: Arial 36</a:t>
            </a:r>
          </a:p>
        </p:txBody>
      </p:sp>
      <p:pic>
        <p:nvPicPr>
          <p:cNvPr id="9" name="Picture 8">
            <a:extLst>
              <a:ext uri="{FF2B5EF4-FFF2-40B4-BE49-F238E27FC236}">
                <a16:creationId xmlns:a16="http://schemas.microsoft.com/office/drawing/2014/main" id="{AE8B4373-F40D-F542-95B6-9CACA380137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63984" y="547938"/>
            <a:ext cx="1117752" cy="318821"/>
          </a:xfrm>
          <a:prstGeom prst="rect">
            <a:avLst/>
          </a:prstGeom>
        </p:spPr>
      </p:pic>
      <p:pic>
        <p:nvPicPr>
          <p:cNvPr id="4" name="Picture 3">
            <a:extLst>
              <a:ext uri="{FF2B5EF4-FFF2-40B4-BE49-F238E27FC236}">
                <a16:creationId xmlns:a16="http://schemas.microsoft.com/office/drawing/2014/main" id="{55114A53-7C83-CB4F-BE43-E5917D897B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724400" y="203200"/>
            <a:ext cx="7467600" cy="6451600"/>
          </a:xfrm>
          <a:prstGeom prst="rect">
            <a:avLst/>
          </a:prstGeom>
        </p:spPr>
      </p:pic>
    </p:spTree>
    <p:extLst>
      <p:ext uri="{BB962C8B-B14F-4D97-AF65-F5344CB8AC3E}">
        <p14:creationId xmlns:p14="http://schemas.microsoft.com/office/powerpoint/2010/main" val="177294607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ontent 1col" userDrawn="1">
  <p:cSld name="1_Content 1col">
    <p:spTree>
      <p:nvGrpSpPr>
        <p:cNvPr id="1" name="Shape 61"/>
        <p:cNvGrpSpPr/>
        <p:nvPr/>
      </p:nvGrpSpPr>
      <p:grpSpPr>
        <a:xfrm>
          <a:off x="0" y="0"/>
          <a:ext cx="0" cy="0"/>
          <a:chOff x="0" y="0"/>
          <a:chExt cx="0" cy="0"/>
        </a:xfrm>
      </p:grpSpPr>
      <p:sp>
        <p:nvSpPr>
          <p:cNvPr id="63" name="Google Shape;63;p6"/>
          <p:cNvSpPr txBox="1">
            <a:spLocks noGrp="1"/>
          </p:cNvSpPr>
          <p:nvPr>
            <p:ph type="title" hasCustomPrompt="1"/>
          </p:nvPr>
        </p:nvSpPr>
        <p:spPr>
          <a:xfrm>
            <a:off x="768352" y="548680"/>
            <a:ext cx="8385641" cy="495184"/>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Clr>
                <a:schemeClr val="dk1"/>
              </a:buClr>
              <a:buSzPts val="2400"/>
              <a:buFont typeface="Arial"/>
              <a:buNone/>
              <a:defRPr sz="2400" b="0" i="0" u="none" strike="noStrike" cap="none">
                <a:solidFill>
                  <a:schemeClr val="tx1"/>
                </a:solidFill>
                <a:latin typeface="Arial"/>
                <a:ea typeface="Arial"/>
                <a:cs typeface="Arial"/>
                <a:sym typeface="Arial"/>
              </a:defRPr>
            </a:lvl1pPr>
            <a:lvl2pPr lvl="1">
              <a:spcBef>
                <a:spcPts val="0"/>
              </a:spcBef>
              <a:spcAft>
                <a:spcPts val="0"/>
              </a:spcAft>
              <a:buSzPts val="1400"/>
              <a:buNone/>
              <a:defRPr sz="2400"/>
            </a:lvl2pPr>
            <a:lvl3pPr lvl="2">
              <a:spcBef>
                <a:spcPts val="0"/>
              </a:spcBef>
              <a:spcAft>
                <a:spcPts val="0"/>
              </a:spcAft>
              <a:buSzPts val="1400"/>
              <a:buNone/>
              <a:defRPr sz="2400"/>
            </a:lvl3pPr>
            <a:lvl4pPr lvl="3">
              <a:spcBef>
                <a:spcPts val="0"/>
              </a:spcBef>
              <a:spcAft>
                <a:spcPts val="0"/>
              </a:spcAft>
              <a:buSzPts val="1400"/>
              <a:buNone/>
              <a:defRPr sz="2400"/>
            </a:lvl4pPr>
            <a:lvl5pPr lvl="4">
              <a:spcBef>
                <a:spcPts val="0"/>
              </a:spcBef>
              <a:spcAft>
                <a:spcPts val="0"/>
              </a:spcAft>
              <a:buSzPts val="1400"/>
              <a:buNone/>
              <a:defRPr sz="2400"/>
            </a:lvl5pPr>
            <a:lvl6pPr lvl="5">
              <a:spcBef>
                <a:spcPts val="0"/>
              </a:spcBef>
              <a:spcAft>
                <a:spcPts val="0"/>
              </a:spcAft>
              <a:buSzPts val="1400"/>
              <a:buNone/>
              <a:defRPr sz="2400"/>
            </a:lvl6pPr>
            <a:lvl7pPr lvl="6">
              <a:spcBef>
                <a:spcPts val="0"/>
              </a:spcBef>
              <a:spcAft>
                <a:spcPts val="0"/>
              </a:spcAft>
              <a:buSzPts val="1400"/>
              <a:buNone/>
              <a:defRPr sz="2400"/>
            </a:lvl7pPr>
            <a:lvl8pPr lvl="7">
              <a:spcBef>
                <a:spcPts val="0"/>
              </a:spcBef>
              <a:spcAft>
                <a:spcPts val="0"/>
              </a:spcAft>
              <a:buSzPts val="1400"/>
              <a:buNone/>
              <a:defRPr sz="2400"/>
            </a:lvl8pPr>
            <a:lvl9pPr lvl="8">
              <a:spcBef>
                <a:spcPts val="0"/>
              </a:spcBef>
              <a:spcAft>
                <a:spcPts val="0"/>
              </a:spcAft>
              <a:buSzPts val="1400"/>
              <a:buNone/>
              <a:defRPr sz="2400"/>
            </a:lvl9pPr>
          </a:lstStyle>
          <a:p>
            <a:r>
              <a:rPr lang="en-GB" dirty="0"/>
              <a:t>Title: Arial 24</a:t>
            </a:r>
            <a:endParaRPr dirty="0"/>
          </a:p>
        </p:txBody>
      </p:sp>
      <p:pic>
        <p:nvPicPr>
          <p:cNvPr id="68" name="Google Shape;68;p6"/>
          <p:cNvPicPr preferRelativeResize="0"/>
          <p:nvPr/>
        </p:nvPicPr>
        <p:blipFill>
          <a:blip r:embed="rId2" cstate="email">
            <a:alphaModFix/>
            <a:extLst>
              <a:ext uri="{28A0092B-C50C-407E-A947-70E740481C1C}">
                <a14:useLocalDpi xmlns:a14="http://schemas.microsoft.com/office/drawing/2010/main"/>
              </a:ext>
            </a:extLst>
          </a:blip>
          <a:stretch>
            <a:fillRect/>
          </a:stretch>
        </p:blipFill>
        <p:spPr>
          <a:xfrm>
            <a:off x="-1" y="-15235"/>
            <a:ext cx="144631" cy="6888483"/>
          </a:xfrm>
          <a:prstGeom prst="rect">
            <a:avLst/>
          </a:prstGeom>
          <a:noFill/>
          <a:ln>
            <a:noFill/>
          </a:ln>
        </p:spPr>
      </p:pic>
      <p:sp>
        <p:nvSpPr>
          <p:cNvPr id="10" name="Text Placeholder 2">
            <a:extLst>
              <a:ext uri="{FF2B5EF4-FFF2-40B4-BE49-F238E27FC236}">
                <a16:creationId xmlns:a16="http://schemas.microsoft.com/office/drawing/2014/main" id="{6CCDA3A8-3C02-394E-8EE2-72835CDD4B27}"/>
              </a:ext>
            </a:extLst>
          </p:cNvPr>
          <p:cNvSpPr>
            <a:spLocks noGrp="1"/>
          </p:cNvSpPr>
          <p:nvPr>
            <p:ph type="body" sz="quarter" idx="10" hasCustomPrompt="1"/>
          </p:nvPr>
        </p:nvSpPr>
        <p:spPr>
          <a:xfrm>
            <a:off x="768349" y="6309320"/>
            <a:ext cx="10656000" cy="495184"/>
          </a:xfrm>
          <a:prstGeom prst="rect">
            <a:avLst/>
          </a:prstGeom>
        </p:spPr>
        <p:txBody>
          <a:bodyPr lIns="0" tIns="0" rIns="0" bIns="0" anchor="ctr"/>
          <a:lstStyle>
            <a:lvl1pPr algn="l">
              <a:defRPr sz="900">
                <a:solidFill>
                  <a:schemeClr val="tx2">
                    <a:lumMod val="50000"/>
                  </a:schemeClr>
                </a:solidFill>
              </a:defRPr>
            </a:lvl1pPr>
          </a:lstStyle>
          <a:p>
            <a:pPr lvl="0"/>
            <a:r>
              <a:rPr lang="en-US" dirty="0"/>
              <a:t>Insert Source Copy: Arial 9</a:t>
            </a:r>
          </a:p>
        </p:txBody>
      </p:sp>
      <p:sp>
        <p:nvSpPr>
          <p:cNvPr id="5" name="Text Placeholder 4">
            <a:extLst>
              <a:ext uri="{FF2B5EF4-FFF2-40B4-BE49-F238E27FC236}">
                <a16:creationId xmlns:a16="http://schemas.microsoft.com/office/drawing/2014/main" id="{1DFD56D7-9A8C-8447-83E5-6D6A1CE3E509}"/>
              </a:ext>
            </a:extLst>
          </p:cNvPr>
          <p:cNvSpPr>
            <a:spLocks noGrp="1"/>
          </p:cNvSpPr>
          <p:nvPr>
            <p:ph type="body" sz="quarter" idx="11" hasCustomPrompt="1"/>
          </p:nvPr>
        </p:nvSpPr>
        <p:spPr>
          <a:xfrm>
            <a:off x="768347" y="1594800"/>
            <a:ext cx="10656000" cy="259200"/>
          </a:xfrm>
          <a:prstGeom prst="rect">
            <a:avLst/>
          </a:prstGeom>
        </p:spPr>
        <p:txBody>
          <a:bodyPr lIns="0" tIns="0" rIns="0" bIns="0" anchor="ctr"/>
          <a:lstStyle>
            <a:lvl1pPr>
              <a:defRPr sz="1600">
                <a:solidFill>
                  <a:schemeClr val="tx1"/>
                </a:solidFill>
              </a:defRPr>
            </a:lvl1pPr>
          </a:lstStyle>
          <a:p>
            <a:pPr lvl="0"/>
            <a:r>
              <a:rPr lang="en-US" dirty="0"/>
              <a:t>Subhead: Arial 16</a:t>
            </a:r>
          </a:p>
        </p:txBody>
      </p:sp>
      <p:sp>
        <p:nvSpPr>
          <p:cNvPr id="12" name="Text Placeholder 7">
            <a:extLst>
              <a:ext uri="{FF2B5EF4-FFF2-40B4-BE49-F238E27FC236}">
                <a16:creationId xmlns:a16="http://schemas.microsoft.com/office/drawing/2014/main" id="{BE295AD6-E101-D746-A189-8DB0A53E47E2}"/>
              </a:ext>
            </a:extLst>
          </p:cNvPr>
          <p:cNvSpPr>
            <a:spLocks noGrp="1"/>
          </p:cNvSpPr>
          <p:nvPr>
            <p:ph type="body" sz="quarter" idx="13" hasCustomPrompt="1"/>
          </p:nvPr>
        </p:nvSpPr>
        <p:spPr>
          <a:xfrm>
            <a:off x="768346" y="2109600"/>
            <a:ext cx="10656000" cy="3960000"/>
          </a:xfrm>
          <a:prstGeom prst="rect">
            <a:avLst/>
          </a:prstGeom>
        </p:spPr>
        <p:txBody>
          <a:bodyPr lIns="0" tIns="0" rIns="0" bIns="0"/>
          <a:lstStyle>
            <a:lvl1pPr>
              <a:defRPr sz="1200">
                <a:solidFill>
                  <a:schemeClr val="tx2">
                    <a:lumMod val="25000"/>
                  </a:schemeClr>
                </a:solidFill>
              </a:defRPr>
            </a:lvl1pPr>
          </a:lstStyle>
          <a:p>
            <a:pPr lvl="0"/>
            <a:r>
              <a:rPr lang="en-US" dirty="0"/>
              <a:t>Body text: Arial 12</a:t>
            </a:r>
          </a:p>
        </p:txBody>
      </p:sp>
      <p:sp>
        <p:nvSpPr>
          <p:cNvPr id="8" name="Rectangle 7"/>
          <p:cNvSpPr/>
          <p:nvPr userDrawn="1"/>
        </p:nvSpPr>
        <p:spPr>
          <a:xfrm>
            <a:off x="9583260" y="547156"/>
            <a:ext cx="1983258" cy="32004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768094184"/>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Variation 2" userDrawn="1">
  <p:cSld name="Content Variation 2">
    <p:spTree>
      <p:nvGrpSpPr>
        <p:cNvPr id="1" name="Shape 126"/>
        <p:cNvGrpSpPr/>
        <p:nvPr/>
      </p:nvGrpSpPr>
      <p:grpSpPr>
        <a:xfrm>
          <a:off x="0" y="0"/>
          <a:ext cx="0" cy="0"/>
          <a:chOff x="0" y="0"/>
          <a:chExt cx="0" cy="0"/>
        </a:xfrm>
      </p:grpSpPr>
      <p:sp>
        <p:nvSpPr>
          <p:cNvPr id="127" name="Google Shape;127;p14"/>
          <p:cNvSpPr/>
          <p:nvPr/>
        </p:nvSpPr>
        <p:spPr>
          <a:xfrm rot="5400000">
            <a:off x="-1078156" y="1337548"/>
            <a:ext cx="6352035" cy="4195723"/>
          </a:xfrm>
          <a:prstGeom prst="round2SameRect">
            <a:avLst>
              <a:gd name="adj1" fmla="val 4733"/>
              <a:gd name="adj2" fmla="val 0"/>
            </a:avLst>
          </a:prstGeom>
          <a:solidFill>
            <a:schemeClr val="dk1"/>
          </a:solid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endParaRPr sz="2400" b="0" i="0" u="none" strike="noStrike" cap="none" dirty="0">
              <a:solidFill>
                <a:schemeClr val="lt1"/>
              </a:solidFill>
              <a:latin typeface="Arial"/>
              <a:ea typeface="Arial"/>
              <a:cs typeface="Arial"/>
              <a:sym typeface="Arial"/>
            </a:endParaRPr>
          </a:p>
        </p:txBody>
      </p:sp>
      <p:sp>
        <p:nvSpPr>
          <p:cNvPr id="128" name="Google Shape;128;p14"/>
          <p:cNvSpPr txBox="1">
            <a:spLocks noGrp="1"/>
          </p:cNvSpPr>
          <p:nvPr>
            <p:ph type="title" hasCustomPrompt="1"/>
          </p:nvPr>
        </p:nvSpPr>
        <p:spPr>
          <a:xfrm>
            <a:off x="782889" y="780289"/>
            <a:ext cx="3059900" cy="5277612"/>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lvl="1">
              <a:spcBef>
                <a:spcPts val="0"/>
              </a:spcBef>
              <a:spcAft>
                <a:spcPts val="0"/>
              </a:spcAft>
              <a:buSzPts val="1400"/>
              <a:buNone/>
              <a:defRPr sz="2400"/>
            </a:lvl2pPr>
            <a:lvl3pPr lvl="2">
              <a:spcBef>
                <a:spcPts val="0"/>
              </a:spcBef>
              <a:spcAft>
                <a:spcPts val="0"/>
              </a:spcAft>
              <a:buSzPts val="1400"/>
              <a:buNone/>
              <a:defRPr sz="2400"/>
            </a:lvl3pPr>
            <a:lvl4pPr lvl="3">
              <a:spcBef>
                <a:spcPts val="0"/>
              </a:spcBef>
              <a:spcAft>
                <a:spcPts val="0"/>
              </a:spcAft>
              <a:buSzPts val="1400"/>
              <a:buNone/>
              <a:defRPr sz="2400"/>
            </a:lvl4pPr>
            <a:lvl5pPr lvl="4">
              <a:spcBef>
                <a:spcPts val="0"/>
              </a:spcBef>
              <a:spcAft>
                <a:spcPts val="0"/>
              </a:spcAft>
              <a:buSzPts val="1400"/>
              <a:buNone/>
              <a:defRPr sz="2400"/>
            </a:lvl5pPr>
            <a:lvl6pPr lvl="5">
              <a:spcBef>
                <a:spcPts val="0"/>
              </a:spcBef>
              <a:spcAft>
                <a:spcPts val="0"/>
              </a:spcAft>
              <a:buSzPts val="1400"/>
              <a:buNone/>
              <a:defRPr sz="2400"/>
            </a:lvl6pPr>
            <a:lvl7pPr lvl="6">
              <a:spcBef>
                <a:spcPts val="0"/>
              </a:spcBef>
              <a:spcAft>
                <a:spcPts val="0"/>
              </a:spcAft>
              <a:buSzPts val="1400"/>
              <a:buNone/>
              <a:defRPr sz="2400"/>
            </a:lvl7pPr>
            <a:lvl8pPr lvl="7">
              <a:spcBef>
                <a:spcPts val="0"/>
              </a:spcBef>
              <a:spcAft>
                <a:spcPts val="0"/>
              </a:spcAft>
              <a:buSzPts val="1400"/>
              <a:buNone/>
              <a:defRPr sz="2400"/>
            </a:lvl8pPr>
            <a:lvl9pPr lvl="8">
              <a:spcBef>
                <a:spcPts val="0"/>
              </a:spcBef>
              <a:spcAft>
                <a:spcPts val="0"/>
              </a:spcAft>
              <a:buSzPts val="1400"/>
              <a:buNone/>
              <a:defRPr sz="2400"/>
            </a:lvl9pPr>
          </a:lstStyle>
          <a:p>
            <a:r>
              <a:rPr lang="en-GB" dirty="0"/>
              <a:t>Title: Arial 24</a:t>
            </a:r>
            <a:endParaRPr dirty="0"/>
          </a:p>
        </p:txBody>
      </p:sp>
      <p:sp>
        <p:nvSpPr>
          <p:cNvPr id="129" name="Google Shape;129;p14"/>
          <p:cNvSpPr/>
          <p:nvPr userDrawn="1"/>
        </p:nvSpPr>
        <p:spPr>
          <a:xfrm>
            <a:off x="4559300" y="1328400"/>
            <a:ext cx="6838951" cy="1316735"/>
          </a:xfrm>
          <a:prstGeom prst="roundRect">
            <a:avLst>
              <a:gd name="adj" fmla="val 20072"/>
            </a:avLst>
          </a:prstGeom>
          <a:solidFill>
            <a:schemeClr val="lt2"/>
          </a:solid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endParaRPr sz="2400" b="0" i="0" u="none" strike="noStrike" cap="none" dirty="0">
              <a:solidFill>
                <a:schemeClr val="lt1"/>
              </a:solidFill>
              <a:latin typeface="Arial"/>
              <a:ea typeface="Arial"/>
              <a:cs typeface="Arial"/>
              <a:sym typeface="Arial"/>
            </a:endParaRPr>
          </a:p>
        </p:txBody>
      </p:sp>
      <p:sp>
        <p:nvSpPr>
          <p:cNvPr id="132" name="Google Shape;132;p14"/>
          <p:cNvSpPr/>
          <p:nvPr userDrawn="1"/>
        </p:nvSpPr>
        <p:spPr>
          <a:xfrm>
            <a:off x="4559300" y="2890800"/>
            <a:ext cx="6838951" cy="1316735"/>
          </a:xfrm>
          <a:prstGeom prst="roundRect">
            <a:avLst>
              <a:gd name="adj" fmla="val 20072"/>
            </a:avLst>
          </a:prstGeom>
          <a:solidFill>
            <a:schemeClr val="lt2"/>
          </a:solid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endParaRPr sz="2400" b="0" i="0" u="none" strike="noStrike" cap="none" dirty="0">
              <a:solidFill>
                <a:schemeClr val="lt1"/>
              </a:solidFill>
              <a:latin typeface="Arial"/>
              <a:ea typeface="Arial"/>
              <a:cs typeface="Arial"/>
              <a:sym typeface="Arial"/>
            </a:endParaRPr>
          </a:p>
        </p:txBody>
      </p:sp>
      <p:sp>
        <p:nvSpPr>
          <p:cNvPr id="135" name="Google Shape;135;p14"/>
          <p:cNvSpPr/>
          <p:nvPr userDrawn="1"/>
        </p:nvSpPr>
        <p:spPr>
          <a:xfrm>
            <a:off x="4559300" y="4426735"/>
            <a:ext cx="6838951" cy="1316735"/>
          </a:xfrm>
          <a:prstGeom prst="roundRect">
            <a:avLst>
              <a:gd name="adj" fmla="val 20072"/>
            </a:avLst>
          </a:prstGeom>
          <a:solidFill>
            <a:schemeClr val="lt2"/>
          </a:solid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endParaRPr sz="2400" b="0" i="0" u="none" strike="noStrike" cap="none" dirty="0">
              <a:solidFill>
                <a:schemeClr val="lt1"/>
              </a:solidFill>
              <a:latin typeface="Arial"/>
              <a:ea typeface="Arial"/>
              <a:cs typeface="Arial"/>
              <a:sym typeface="Arial"/>
            </a:endParaRPr>
          </a:p>
        </p:txBody>
      </p:sp>
      <p:sp>
        <p:nvSpPr>
          <p:cNvPr id="15" name="Text Placeholder 4">
            <a:extLst>
              <a:ext uri="{FF2B5EF4-FFF2-40B4-BE49-F238E27FC236}">
                <a16:creationId xmlns:a16="http://schemas.microsoft.com/office/drawing/2014/main" id="{D7F05559-1729-3340-B704-396AB7FD5906}"/>
              </a:ext>
            </a:extLst>
          </p:cNvPr>
          <p:cNvSpPr>
            <a:spLocks noGrp="1"/>
          </p:cNvSpPr>
          <p:nvPr>
            <p:ph type="body" sz="quarter" idx="17" hasCustomPrompt="1"/>
          </p:nvPr>
        </p:nvSpPr>
        <p:spPr>
          <a:xfrm>
            <a:off x="4974336" y="4426735"/>
            <a:ext cx="1884280" cy="1316735"/>
          </a:xfrm>
          <a:prstGeom prst="rect">
            <a:avLst/>
          </a:prstGeom>
        </p:spPr>
        <p:txBody>
          <a:bodyPr lIns="0" tIns="0" rIns="0" bIns="0" anchor="ctr"/>
          <a:lstStyle>
            <a:lvl1pPr>
              <a:defRPr sz="1600">
                <a:solidFill>
                  <a:schemeClr val="tx1"/>
                </a:solidFill>
              </a:defRPr>
            </a:lvl1pPr>
          </a:lstStyle>
          <a:p>
            <a:pPr lvl="0"/>
            <a:r>
              <a:rPr lang="en-US" dirty="0"/>
              <a:t>Subhead: Arial 16</a:t>
            </a:r>
          </a:p>
        </p:txBody>
      </p:sp>
      <p:sp>
        <p:nvSpPr>
          <p:cNvPr id="16" name="Text Placeholder 4">
            <a:extLst>
              <a:ext uri="{FF2B5EF4-FFF2-40B4-BE49-F238E27FC236}">
                <a16:creationId xmlns:a16="http://schemas.microsoft.com/office/drawing/2014/main" id="{B03BF7F6-6661-3941-8889-40B9C3A4F9DB}"/>
              </a:ext>
            </a:extLst>
          </p:cNvPr>
          <p:cNvSpPr>
            <a:spLocks noGrp="1"/>
          </p:cNvSpPr>
          <p:nvPr>
            <p:ph type="body" sz="quarter" idx="18" hasCustomPrompt="1"/>
          </p:nvPr>
        </p:nvSpPr>
        <p:spPr>
          <a:xfrm>
            <a:off x="4974336" y="2890800"/>
            <a:ext cx="1884280" cy="1316735"/>
          </a:xfrm>
          <a:prstGeom prst="rect">
            <a:avLst/>
          </a:prstGeom>
        </p:spPr>
        <p:txBody>
          <a:bodyPr lIns="0" tIns="0" rIns="0" bIns="0" anchor="ctr"/>
          <a:lstStyle>
            <a:lvl1pPr>
              <a:defRPr sz="1600">
                <a:solidFill>
                  <a:schemeClr val="tx1"/>
                </a:solidFill>
              </a:defRPr>
            </a:lvl1pPr>
          </a:lstStyle>
          <a:p>
            <a:pPr lvl="0"/>
            <a:r>
              <a:rPr lang="en-US" dirty="0"/>
              <a:t>Subhead: Arial 16</a:t>
            </a:r>
          </a:p>
        </p:txBody>
      </p:sp>
      <p:sp>
        <p:nvSpPr>
          <p:cNvPr id="17" name="Text Placeholder 4">
            <a:extLst>
              <a:ext uri="{FF2B5EF4-FFF2-40B4-BE49-F238E27FC236}">
                <a16:creationId xmlns:a16="http://schemas.microsoft.com/office/drawing/2014/main" id="{0701042A-FA6E-264A-864F-8F3B59D33A22}"/>
              </a:ext>
            </a:extLst>
          </p:cNvPr>
          <p:cNvSpPr>
            <a:spLocks noGrp="1"/>
          </p:cNvSpPr>
          <p:nvPr>
            <p:ph type="body" sz="quarter" idx="19" hasCustomPrompt="1"/>
          </p:nvPr>
        </p:nvSpPr>
        <p:spPr>
          <a:xfrm>
            <a:off x="4974336" y="1328400"/>
            <a:ext cx="1884280" cy="1316735"/>
          </a:xfrm>
          <a:prstGeom prst="rect">
            <a:avLst/>
          </a:prstGeom>
        </p:spPr>
        <p:txBody>
          <a:bodyPr lIns="0" tIns="0" rIns="0" bIns="0" anchor="ctr"/>
          <a:lstStyle>
            <a:lvl1pPr>
              <a:defRPr sz="1600">
                <a:solidFill>
                  <a:schemeClr val="tx1"/>
                </a:solidFill>
              </a:defRPr>
            </a:lvl1pPr>
          </a:lstStyle>
          <a:p>
            <a:pPr lvl="0"/>
            <a:r>
              <a:rPr lang="en-US" dirty="0"/>
              <a:t>Subhead: Arial 16</a:t>
            </a:r>
          </a:p>
        </p:txBody>
      </p:sp>
      <p:sp>
        <p:nvSpPr>
          <p:cNvPr id="18" name="Text Placeholder 7">
            <a:extLst>
              <a:ext uri="{FF2B5EF4-FFF2-40B4-BE49-F238E27FC236}">
                <a16:creationId xmlns:a16="http://schemas.microsoft.com/office/drawing/2014/main" id="{C721B72D-2762-934F-A54D-A4ECF072D940}"/>
              </a:ext>
            </a:extLst>
          </p:cNvPr>
          <p:cNvSpPr>
            <a:spLocks noGrp="1"/>
          </p:cNvSpPr>
          <p:nvPr>
            <p:ph type="body" sz="quarter" idx="16" hasCustomPrompt="1"/>
          </p:nvPr>
        </p:nvSpPr>
        <p:spPr>
          <a:xfrm>
            <a:off x="7247596" y="4426735"/>
            <a:ext cx="3847867" cy="1316736"/>
          </a:xfrm>
          <a:prstGeom prst="rect">
            <a:avLst/>
          </a:prstGeom>
        </p:spPr>
        <p:txBody>
          <a:bodyPr lIns="0" tIns="0" rIns="0" bIns="0" anchor="ctr"/>
          <a:lstStyle>
            <a:lvl1pPr algn="l">
              <a:defRPr sz="1200">
                <a:solidFill>
                  <a:schemeClr val="tx2">
                    <a:lumMod val="25000"/>
                  </a:schemeClr>
                </a:solidFill>
              </a:defRPr>
            </a:lvl1pPr>
          </a:lstStyle>
          <a:p>
            <a:pPr lvl="0"/>
            <a:r>
              <a:rPr lang="en-US" dirty="0"/>
              <a:t>Body text: Arial 12</a:t>
            </a:r>
          </a:p>
        </p:txBody>
      </p:sp>
      <p:sp>
        <p:nvSpPr>
          <p:cNvPr id="19" name="Text Placeholder 7">
            <a:extLst>
              <a:ext uri="{FF2B5EF4-FFF2-40B4-BE49-F238E27FC236}">
                <a16:creationId xmlns:a16="http://schemas.microsoft.com/office/drawing/2014/main" id="{F2E8567B-F807-D54A-A8B8-C94481347AA0}"/>
              </a:ext>
            </a:extLst>
          </p:cNvPr>
          <p:cNvSpPr>
            <a:spLocks noGrp="1"/>
          </p:cNvSpPr>
          <p:nvPr>
            <p:ph type="body" sz="quarter" idx="20" hasCustomPrompt="1"/>
          </p:nvPr>
        </p:nvSpPr>
        <p:spPr>
          <a:xfrm>
            <a:off x="7247596" y="2890800"/>
            <a:ext cx="3847867" cy="1316736"/>
          </a:xfrm>
          <a:prstGeom prst="rect">
            <a:avLst/>
          </a:prstGeom>
        </p:spPr>
        <p:txBody>
          <a:bodyPr lIns="0" tIns="0" rIns="0" bIns="0" anchor="ctr"/>
          <a:lstStyle>
            <a:lvl1pPr algn="l">
              <a:defRPr sz="1200">
                <a:solidFill>
                  <a:schemeClr val="tx2">
                    <a:lumMod val="25000"/>
                  </a:schemeClr>
                </a:solidFill>
              </a:defRPr>
            </a:lvl1pPr>
          </a:lstStyle>
          <a:p>
            <a:pPr lvl="0"/>
            <a:r>
              <a:rPr lang="en-US" dirty="0"/>
              <a:t>Body text: Arial 12</a:t>
            </a:r>
          </a:p>
        </p:txBody>
      </p:sp>
      <p:sp>
        <p:nvSpPr>
          <p:cNvPr id="20" name="Text Placeholder 7">
            <a:extLst>
              <a:ext uri="{FF2B5EF4-FFF2-40B4-BE49-F238E27FC236}">
                <a16:creationId xmlns:a16="http://schemas.microsoft.com/office/drawing/2014/main" id="{32F616D4-4574-8A4E-9C7B-4753143EE357}"/>
              </a:ext>
            </a:extLst>
          </p:cNvPr>
          <p:cNvSpPr>
            <a:spLocks noGrp="1"/>
          </p:cNvSpPr>
          <p:nvPr>
            <p:ph type="body" sz="quarter" idx="21" hasCustomPrompt="1"/>
          </p:nvPr>
        </p:nvSpPr>
        <p:spPr>
          <a:xfrm>
            <a:off x="7247596" y="1328400"/>
            <a:ext cx="3847867" cy="1316736"/>
          </a:xfrm>
          <a:prstGeom prst="rect">
            <a:avLst/>
          </a:prstGeom>
        </p:spPr>
        <p:txBody>
          <a:bodyPr lIns="0" tIns="0" rIns="0" bIns="0" anchor="ctr"/>
          <a:lstStyle>
            <a:lvl1pPr algn="l">
              <a:defRPr sz="1200">
                <a:solidFill>
                  <a:schemeClr val="tx2">
                    <a:lumMod val="25000"/>
                  </a:schemeClr>
                </a:solidFill>
              </a:defRPr>
            </a:lvl1pPr>
          </a:lstStyle>
          <a:p>
            <a:pPr lvl="0"/>
            <a:r>
              <a:rPr lang="en-US" dirty="0"/>
              <a:t>Body text: Arial 12</a:t>
            </a:r>
          </a:p>
        </p:txBody>
      </p:sp>
      <p:sp>
        <p:nvSpPr>
          <p:cNvPr id="21" name="Text Placeholder 2">
            <a:extLst>
              <a:ext uri="{FF2B5EF4-FFF2-40B4-BE49-F238E27FC236}">
                <a16:creationId xmlns:a16="http://schemas.microsoft.com/office/drawing/2014/main" id="{3FF4AAC5-962C-1847-9443-587D260CAEED}"/>
              </a:ext>
            </a:extLst>
          </p:cNvPr>
          <p:cNvSpPr>
            <a:spLocks noGrp="1"/>
          </p:cNvSpPr>
          <p:nvPr>
            <p:ph type="body" sz="quarter" idx="10" hasCustomPrompt="1"/>
          </p:nvPr>
        </p:nvSpPr>
        <p:spPr>
          <a:xfrm>
            <a:off x="4559299" y="6057901"/>
            <a:ext cx="6865049" cy="746603"/>
          </a:xfrm>
          <a:prstGeom prst="rect">
            <a:avLst/>
          </a:prstGeom>
        </p:spPr>
        <p:txBody>
          <a:bodyPr lIns="0" tIns="0" rIns="0" bIns="0" anchor="ctr"/>
          <a:lstStyle>
            <a:lvl1pPr algn="l">
              <a:defRPr sz="900">
                <a:solidFill>
                  <a:schemeClr val="tx2">
                    <a:lumMod val="50000"/>
                  </a:schemeClr>
                </a:solidFill>
              </a:defRPr>
            </a:lvl1pPr>
          </a:lstStyle>
          <a:p>
            <a:pPr lvl="0"/>
            <a:r>
              <a:rPr lang="en-US" dirty="0"/>
              <a:t>Insert Source Copy: Arial 9</a:t>
            </a:r>
          </a:p>
        </p:txBody>
      </p:sp>
      <p:sp>
        <p:nvSpPr>
          <p:cNvPr id="22" name="Rectangle 21"/>
          <p:cNvSpPr/>
          <p:nvPr userDrawn="1"/>
        </p:nvSpPr>
        <p:spPr>
          <a:xfrm>
            <a:off x="9583260" y="547156"/>
            <a:ext cx="1983258" cy="320040"/>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857711565"/>
      </p:ext>
    </p:extLst>
  </p:cSld>
  <p:clrMapOvr>
    <a:masterClrMapping/>
  </p:clrMapOvr>
  <p:extLst>
    <p:ext uri="{DCECCB84-F9BA-43D5-87BE-67443E8EF086}">
      <p15:sldGuideLst xmlns:p15="http://schemas.microsoft.com/office/powerpoint/2012/main">
        <p15:guide id="1" pos="215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B102279-A4C1-BD41-B252-B885F266E393}"/>
              </a:ext>
            </a:extLst>
          </p:cNvPr>
          <p:cNvSpPr txBox="1">
            <a:spLocks/>
          </p:cNvSpPr>
          <p:nvPr userDrawn="1"/>
        </p:nvSpPr>
        <p:spPr>
          <a:xfrm>
            <a:off x="11297348" y="6326354"/>
            <a:ext cx="540000" cy="338400"/>
          </a:xfrm>
          <a:prstGeom prst="rect">
            <a:avLst/>
          </a:prstGeom>
        </p:spPr>
        <p:txBody>
          <a:bodyPr lIns="0" tIns="0" rIns="0" bIns="36000" anchor="b"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C6C324FE-A53C-B04F-8362-4B75AEE57F97}" type="slidenum">
              <a:rPr lang="en-US" sz="900" smtClean="0">
                <a:solidFill>
                  <a:srgbClr val="404041"/>
                </a:solidFill>
                <a:latin typeface="Tahoma" panose="020B0604030504040204" pitchFamily="34" charset="0"/>
                <a:ea typeface="Tahoma" panose="020B0604030504040204" pitchFamily="34" charset="0"/>
                <a:cs typeface="Tahoma" panose="020B0604030504040204" pitchFamily="34" charset="0"/>
              </a:rPr>
              <a:pPr algn="r"/>
              <a:t>‹#›</a:t>
            </a:fld>
            <a:endParaRPr lang="en-US" sz="900" dirty="0">
              <a:solidFill>
                <a:srgbClr val="40404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10189591"/>
      </p:ext>
    </p:extLst>
  </p:cSld>
  <p:clrMap bg1="lt1" tx1="dk1" bg2="dk2" tx2="lt2" accent1="accent1" accent2="accent2" accent3="accent3" accent4="accent4" accent5="accent5" accent6="accent6" hlink="hlink" folHlink="folHlink"/>
  <p:sldLayoutIdLst>
    <p:sldLayoutId id="2147483686" r:id="rId1"/>
    <p:sldLayoutId id="2147483685" r:id="rId2"/>
    <p:sldLayoutId id="2147483687" r:id="rId3"/>
    <p:sldLayoutId id="2147483666" r:id="rId4"/>
    <p:sldLayoutId id="2147483671" r:id="rId5"/>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63">
          <p15:clr>
            <a:srgbClr val="F26B43"/>
          </p15:clr>
        </p15:guide>
        <p15:guide id="2" orient="horz" pos="2981">
          <p15:clr>
            <a:srgbClr val="F26B43"/>
          </p15:clr>
        </p15:guide>
        <p15:guide id="3" orient="horz" pos="75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file:///\\Dfsho01\re_share\ECON\Morgan%20Stanley%20Forecast.xlsx!Thai!R102C41:R117C49"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file:///\\Dfsho01\re_share\ECON\Morgan%20Stanley%20Forecast.xlsx!Global%20GDP%20Forecast!%5bMorgan%20Stanley%20Forecast.xlsx%5dGlobal%20GDP%20Forecast%20Chart%20498" TargetMode="External"/><Relationship Id="rId1" Type="http://schemas.openxmlformats.org/officeDocument/2006/relationships/slideLayout" Target="../slideLayouts/slideLayout4.xml"/><Relationship Id="rId5" Type="http://schemas.openxmlformats.org/officeDocument/2006/relationships/image" Target="../media/image9.emf"/><Relationship Id="rId4" Type="http://schemas.openxmlformats.org/officeDocument/2006/relationships/oleObject" Target="file:///\\Dfsho01\re_share\Wealth\Econ_Data\Request.xlsx!UOB_L!R9C29:R30C34"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file:///\\Dfsho01\re_share\ECON\Morgan%20Stanley%20Forecast.xlsx!Global%20GDP%20Forecast!%5bMorgan%20Stanley%20Forecast.xlsx%5dGlobal%20GDP%20Forecast%20Chart%20498-1" TargetMode="External"/><Relationship Id="rId1" Type="http://schemas.openxmlformats.org/officeDocument/2006/relationships/slideLayout" Target="../slideLayouts/slideLayout4.xml"/><Relationship Id="rId5" Type="http://schemas.openxmlformats.org/officeDocument/2006/relationships/image" Target="../media/image11.emf"/><Relationship Id="rId4" Type="http://schemas.openxmlformats.org/officeDocument/2006/relationships/oleObject" Target="file:///\\Dfsho01\re_share\Wealth\Econ_Data\Request.xlsx!UOB_L!R35C29:R43C34" TargetMode="External"/></Relationships>
</file>

<file path=ppt/slides/_rels/slide5.xml.rels><?xml version="1.0" encoding="UTF-8" standalone="yes"?>
<Relationships xmlns="http://schemas.openxmlformats.org/package/2006/relationships"><Relationship Id="rId3" Type="http://schemas.openxmlformats.org/officeDocument/2006/relationships/oleObject" Target="file:///\\Dfsho01\re_share\ECON\Morgan%20Stanley%20Forecast.xlsx!Global%20GDP%20Forecast!%5bMorgan%20Stanley%20Forecast.xlsx%5dGlobal%20GDP%20Forecast%20Chart%20316"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3.emf"/><Relationship Id="rId5" Type="http://schemas.openxmlformats.org/officeDocument/2006/relationships/oleObject" Target="file:///\\Dfsho01\re_share\Wealth\Econ_Data\Request.xlsx!UOB_L!R49C29:R60C34" TargetMode="External"/><Relationship Id="rId4"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7.emf"/></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9.emf"/></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7733-1297-1242-844C-666D5ED05A9C}"/>
              </a:ext>
            </a:extLst>
          </p:cNvPr>
          <p:cNvSpPr>
            <a:spLocks noGrp="1"/>
          </p:cNvSpPr>
          <p:nvPr>
            <p:ph type="title"/>
          </p:nvPr>
        </p:nvSpPr>
        <p:spPr/>
        <p:txBody>
          <a:bodyPr/>
          <a:lstStyle/>
          <a:p>
            <a:r>
              <a:rPr lang="th-TH" b="1" dirty="0">
                <a:solidFill>
                  <a:schemeClr val="bg1"/>
                </a:solidFill>
                <a:latin typeface="Tahoma" panose="020B0604030504040204" pitchFamily="34" charset="0"/>
                <a:ea typeface="Tahoma" panose="020B0604030504040204" pitchFamily="34" charset="0"/>
                <a:cs typeface="Tahoma" panose="020B0604030504040204" pitchFamily="34" charset="0"/>
              </a:rPr>
              <a:t>สรุปภาวะเศรษฐกิจและมุมมอง</a:t>
            </a:r>
            <a:r>
              <a:rPr lang="th-TH" b="1">
                <a:solidFill>
                  <a:schemeClr val="bg1"/>
                </a:solidFill>
                <a:latin typeface="Tahoma" panose="020B0604030504040204" pitchFamily="34" charset="0"/>
                <a:ea typeface="Tahoma" panose="020B0604030504040204" pitchFamily="34" charset="0"/>
                <a:cs typeface="Tahoma" panose="020B0604030504040204" pitchFamily="34" charset="0"/>
              </a:rPr>
              <a:t>การลงทุน</a:t>
            </a:r>
            <a:endParaRPr lang="en-US" dirty="0"/>
          </a:p>
        </p:txBody>
      </p:sp>
      <p:sp>
        <p:nvSpPr>
          <p:cNvPr id="5" name="Text Placeholder 4">
            <a:extLst>
              <a:ext uri="{FF2B5EF4-FFF2-40B4-BE49-F238E27FC236}">
                <a16:creationId xmlns:a16="http://schemas.microsoft.com/office/drawing/2014/main" id="{26D12D2D-7CDF-8B49-847A-537E46650C42}"/>
              </a:ext>
            </a:extLst>
          </p:cNvPr>
          <p:cNvSpPr>
            <a:spLocks noGrp="1"/>
          </p:cNvSpPr>
          <p:nvPr>
            <p:ph type="body" sz="quarter" idx="17"/>
          </p:nvPr>
        </p:nvSpPr>
        <p:spPr/>
        <p:txBody>
          <a:bodyPr/>
          <a:lstStyle/>
          <a:p>
            <a:r>
              <a:rPr lang="th-TH" dirty="0">
                <a:solidFill>
                  <a:schemeClr val="tx2">
                    <a:lumMod val="25000"/>
                  </a:schemeClr>
                </a:solidFill>
                <a:latin typeface="Tahoma" panose="020B0604030504040204" pitchFamily="34" charset="0"/>
                <a:ea typeface="Tahoma" panose="020B0604030504040204" pitchFamily="34" charset="0"/>
                <a:cs typeface="Tahoma" panose="020B0604030504040204" pitchFamily="34" charset="0"/>
              </a:rPr>
              <a:t>กลยุทธ์การลงทุน</a:t>
            </a:r>
            <a:endParaRPr lang="en-US" dirty="0">
              <a:solidFill>
                <a:schemeClr val="tx2">
                  <a:lumMod val="2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6" name="Text Placeholder 5">
            <a:extLst>
              <a:ext uri="{FF2B5EF4-FFF2-40B4-BE49-F238E27FC236}">
                <a16:creationId xmlns:a16="http://schemas.microsoft.com/office/drawing/2014/main" id="{22F21652-A309-B545-B4E0-7367C495ADA6}"/>
              </a:ext>
            </a:extLst>
          </p:cNvPr>
          <p:cNvSpPr>
            <a:spLocks noGrp="1"/>
          </p:cNvSpPr>
          <p:nvPr>
            <p:ph type="body" sz="quarter" idx="18"/>
          </p:nvPr>
        </p:nvSpPr>
        <p:spPr/>
        <p:txBody>
          <a:bodyPr/>
          <a:lstStyle/>
          <a:p>
            <a:r>
              <a:rPr lang="th-TH" dirty="0">
                <a:solidFill>
                  <a:schemeClr val="tx2">
                    <a:lumMod val="25000"/>
                  </a:schemeClr>
                </a:solidFill>
                <a:latin typeface="Tahoma" panose="020B0604030504040204" pitchFamily="34" charset="0"/>
                <a:ea typeface="Tahoma" panose="020B0604030504040204" pitchFamily="34" charset="0"/>
                <a:cs typeface="Tahoma" panose="020B0604030504040204" pitchFamily="34" charset="0"/>
              </a:rPr>
              <a:t>สรุปตราสารทุนปี 2025</a:t>
            </a:r>
            <a:endParaRPr lang="en-US" dirty="0">
              <a:solidFill>
                <a:schemeClr val="tx2">
                  <a:lumMod val="2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7" name="Text Placeholder 6">
            <a:extLst>
              <a:ext uri="{FF2B5EF4-FFF2-40B4-BE49-F238E27FC236}">
                <a16:creationId xmlns:a16="http://schemas.microsoft.com/office/drawing/2014/main" id="{8318F351-86D4-B546-952C-D9C0525A85AB}"/>
              </a:ext>
            </a:extLst>
          </p:cNvPr>
          <p:cNvSpPr>
            <a:spLocks noGrp="1"/>
          </p:cNvSpPr>
          <p:nvPr>
            <p:ph type="body" sz="quarter" idx="19"/>
          </p:nvPr>
        </p:nvSpPr>
        <p:spPr>
          <a:xfrm>
            <a:off x="4974335" y="1328400"/>
            <a:ext cx="3297145" cy="1316735"/>
          </a:xfrm>
        </p:spPr>
        <p:txBody>
          <a:bodyPr/>
          <a:lstStyle/>
          <a:p>
            <a:r>
              <a:rPr lang="th-TH" dirty="0">
                <a:solidFill>
                  <a:schemeClr val="tx2">
                    <a:lumMod val="25000"/>
                  </a:schemeClr>
                </a:solidFill>
                <a:latin typeface="Tahoma" panose="020B0604030504040204" pitchFamily="34" charset="0"/>
                <a:ea typeface="Tahoma" panose="020B0604030504040204" pitchFamily="34" charset="0"/>
                <a:cs typeface="Tahoma" panose="020B0604030504040204" pitchFamily="34" charset="0"/>
              </a:rPr>
              <a:t>ภาวะเศรษฐกิจต่างประเทศและไทย</a:t>
            </a:r>
            <a:endParaRPr lang="en-US" dirty="0">
              <a:solidFill>
                <a:schemeClr val="tx2">
                  <a:lumMod val="2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97044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4">
            <a:extLst>
              <a:ext uri="{FF2B5EF4-FFF2-40B4-BE49-F238E27FC236}">
                <a16:creationId xmlns:a16="http://schemas.microsoft.com/office/drawing/2014/main" id="{B84911B2-D981-E241-B3C5-8959177C9CEC}"/>
              </a:ext>
            </a:extLst>
          </p:cNvPr>
          <p:cNvSpPr>
            <a:spLocks noGrp="1"/>
          </p:cNvSpPr>
          <p:nvPr>
            <p:ph type="title"/>
          </p:nvPr>
        </p:nvSpPr>
        <p:spPr>
          <a:xfrm>
            <a:off x="768352" y="459798"/>
            <a:ext cx="8364700" cy="495184"/>
          </a:xfrm>
        </p:spPr>
        <p:txBody>
          <a:bodyPr/>
          <a:lstStyle/>
          <a:p>
            <a:pPr>
              <a:spcBef>
                <a:spcPct val="20000"/>
              </a:spcBef>
            </a:pPr>
            <a:r>
              <a:rPr lang="th-TH" b="1" dirty="0">
                <a:latin typeface="Noto Sans Thai" panose="020B0502040504020204" pitchFamily="34" charset="-34"/>
                <a:ea typeface="Tahoma" panose="020B0604030504040204" pitchFamily="34" charset="0"/>
                <a:cs typeface="Noto Sans Thai" panose="020B0502040504020204" pitchFamily="34" charset="-34"/>
              </a:rPr>
              <a:t>ประมาณการอัตราการเติบโตทางเศรษฐกิจ</a:t>
            </a:r>
          </a:p>
        </p:txBody>
      </p:sp>
      <p:sp>
        <p:nvSpPr>
          <p:cNvPr id="11" name="Footer Placeholder 4"/>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9" name="TextBox 10">
            <a:extLst>
              <a:ext uri="{FF2B5EF4-FFF2-40B4-BE49-F238E27FC236}">
                <a16:creationId xmlns:a16="http://schemas.microsoft.com/office/drawing/2014/main" id="{85172CD5-41DB-45D0-BCC8-1EF34E4731F2}"/>
              </a:ext>
            </a:extLst>
          </p:cNvPr>
          <p:cNvSpPr txBox="1">
            <a:spLocks noChangeArrowheads="1"/>
          </p:cNvSpPr>
          <p:nvPr/>
        </p:nvSpPr>
        <p:spPr bwMode="auto">
          <a:xfrm>
            <a:off x="12250736" y="6284175"/>
            <a:ext cx="8640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r>
              <a:rPr lang="en-US" altLang="en-US" sz="700" dirty="0">
                <a:solidFill>
                  <a:srgbClr val="4F81BD"/>
                </a:solidFill>
              </a:rPr>
              <a:t>Econ\Morgan Stanley Forecast</a:t>
            </a:r>
          </a:p>
          <a:p>
            <a:pPr eaLnBrk="1" hangingPunct="1">
              <a:spcBef>
                <a:spcPct val="0"/>
              </a:spcBef>
              <a:buFontTx/>
              <a:buNone/>
            </a:pPr>
            <a:endParaRPr lang="en-US" altLang="en-US" sz="700" dirty="0">
              <a:solidFill>
                <a:srgbClr val="4F81BD"/>
              </a:solidFill>
            </a:endParaRPr>
          </a:p>
          <a:p>
            <a:pPr eaLnBrk="1" hangingPunct="1">
              <a:spcBef>
                <a:spcPct val="0"/>
              </a:spcBef>
              <a:buFontTx/>
              <a:buNone/>
            </a:pPr>
            <a:endParaRPr lang="en-US" altLang="en-US" sz="700" dirty="0">
              <a:solidFill>
                <a:srgbClr val="4F81BD"/>
              </a:solidFill>
            </a:endParaRPr>
          </a:p>
        </p:txBody>
      </p:sp>
      <p:sp>
        <p:nvSpPr>
          <p:cNvPr id="10" name="Text Placeholder 6">
            <a:extLst>
              <a:ext uri="{FF2B5EF4-FFF2-40B4-BE49-F238E27FC236}">
                <a16:creationId xmlns:a16="http://schemas.microsoft.com/office/drawing/2014/main" id="{FECCA9C7-6687-4208-9A1C-6CA557DFCD72}"/>
              </a:ext>
            </a:extLst>
          </p:cNvPr>
          <p:cNvSpPr txBox="1">
            <a:spLocks/>
          </p:cNvSpPr>
          <p:nvPr/>
        </p:nvSpPr>
        <p:spPr>
          <a:xfrm>
            <a:off x="566054" y="5964609"/>
            <a:ext cx="3249546"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dirty="0">
                <a:solidFill>
                  <a:schemeClr val="tx1"/>
                </a:solidFill>
                <a:latin typeface="+mj-lt"/>
                <a:ea typeface="Tahoma" panose="020B0604030504040204" pitchFamily="34" charset="0"/>
                <a:cs typeface="Tahoma" panose="020B0604030504040204" pitchFamily="34" charset="0"/>
              </a:rPr>
              <a:t>Sources: </a:t>
            </a:r>
            <a:r>
              <a:rPr lang="en-US" altLang="en-US" sz="900" dirty="0">
                <a:solidFill>
                  <a:schemeClr val="tx1"/>
                </a:solidFill>
                <a:latin typeface="+mj-lt"/>
                <a:ea typeface="Tahoma" panose="020B0604030504040204" pitchFamily="34" charset="0"/>
                <a:cs typeface="Tahoma" panose="020B0604030504040204" pitchFamily="34" charset="0"/>
              </a:rPr>
              <a:t>Bloomberg, Bualuang Research</a:t>
            </a:r>
            <a:endParaRPr lang="en-US" sz="900" dirty="0">
              <a:solidFill>
                <a:schemeClr val="tx1"/>
              </a:solidFill>
              <a:latin typeface="+mj-lt"/>
              <a:ea typeface="Tahoma" panose="020B0604030504040204" pitchFamily="34" charset="0"/>
              <a:cs typeface="Tahoma" panose="020B0604030504040204" pitchFamily="34" charset="0"/>
            </a:endParaRPr>
          </a:p>
        </p:txBody>
      </p:sp>
      <p:sp>
        <p:nvSpPr>
          <p:cNvPr id="13" name="Text Placeholder 4">
            <a:extLst>
              <a:ext uri="{FF2B5EF4-FFF2-40B4-BE49-F238E27FC236}">
                <a16:creationId xmlns:a16="http://schemas.microsoft.com/office/drawing/2014/main" id="{321F1B07-306E-4C42-8231-898B96E0B09E}"/>
              </a:ext>
            </a:extLst>
          </p:cNvPr>
          <p:cNvSpPr txBox="1">
            <a:spLocks/>
          </p:cNvSpPr>
          <p:nvPr/>
        </p:nvSpPr>
        <p:spPr>
          <a:xfrm>
            <a:off x="920747" y="1131488"/>
            <a:ext cx="10656000" cy="259200"/>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en-US" b="1">
                <a:latin typeface="+mj-lt"/>
                <a:cs typeface="+mn-cs"/>
              </a:rPr>
              <a:t>GDP and monetary rates</a:t>
            </a:r>
            <a:endParaRPr lang="th-TH" altLang="en-US" b="1" dirty="0">
              <a:latin typeface="+mj-lt"/>
              <a:cs typeface="+mn-cs"/>
            </a:endParaRPr>
          </a:p>
        </p:txBody>
      </p:sp>
      <p:sp>
        <p:nvSpPr>
          <p:cNvPr id="14" name="Rectangle 13">
            <a:extLst>
              <a:ext uri="{FF2B5EF4-FFF2-40B4-BE49-F238E27FC236}">
                <a16:creationId xmlns:a16="http://schemas.microsoft.com/office/drawing/2014/main" id="{F8330153-A44C-483D-9457-608AA53436E1}"/>
              </a:ext>
            </a:extLst>
          </p:cNvPr>
          <p:cNvSpPr/>
          <p:nvPr/>
        </p:nvSpPr>
        <p:spPr>
          <a:xfrm>
            <a:off x="4748267" y="1664365"/>
            <a:ext cx="7080878" cy="4305794"/>
          </a:xfrm>
          <a:prstGeom prst="rect">
            <a:avLst/>
          </a:prstGeom>
        </p:spPr>
        <p:txBody>
          <a:bodyPr wrap="square">
            <a:spAutoFit/>
          </a:bodyPr>
          <a:lstStyle/>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เศรษฐกิจโลกคาดเติบโต 3.1% ในปี 2026 เทียบคาด 3.5% ในปี 2025 โดยการเติบโตในปี 2026 ปรับลดจากการประมาณการก่อนหน้าที่ 3.3</a:t>
            </a:r>
            <a:r>
              <a:rPr lang="en-US" altLang="en-US" dirty="0">
                <a:solidFill>
                  <a:srgbClr val="F4F4F4">
                    <a:lumMod val="25000"/>
                  </a:srgbClr>
                </a:solidFill>
                <a:latin typeface="Noto Sans Thai" panose="020B0502040504020204" pitchFamily="34" charset="-34"/>
                <a:cs typeface="Noto Sans Thai" panose="020B0502040504020204"/>
              </a:rPr>
              <a:t>%</a:t>
            </a:r>
            <a:r>
              <a:rPr lang="th-TH" altLang="en-US" dirty="0">
                <a:solidFill>
                  <a:srgbClr val="F4F4F4">
                    <a:lumMod val="25000"/>
                  </a:srgbClr>
                </a:solidFill>
                <a:latin typeface="Noto Sans Thai" panose="020B0502040504020204" pitchFamily="34" charset="-34"/>
                <a:cs typeface="Noto Sans Thai" panose="020B0502040504020204"/>
              </a:rPr>
              <a:t> โดยเป็นการปรับลดการเติบโตของเศรษฐกิจทั้งกลุ่มประเทศที่พัฒนาแล้ว (</a:t>
            </a:r>
            <a:r>
              <a:rPr lang="en-US" altLang="en-US" dirty="0">
                <a:solidFill>
                  <a:srgbClr val="F4F4F4">
                    <a:lumMod val="25000"/>
                  </a:srgbClr>
                </a:solidFill>
                <a:latin typeface="Noto Sans Thai" panose="020B0502040504020204" pitchFamily="34" charset="-34"/>
                <a:cs typeface="Noto Sans Thai" panose="020B0502040504020204"/>
              </a:rPr>
              <a:t>Developed Markets) </a:t>
            </a:r>
            <a:r>
              <a:rPr lang="th-TH" altLang="en-US" dirty="0">
                <a:solidFill>
                  <a:srgbClr val="F4F4F4">
                    <a:lumMod val="25000"/>
                  </a:srgbClr>
                </a:solidFill>
                <a:latin typeface="Noto Sans Thai" panose="020B0502040504020204" pitchFamily="34" charset="-34"/>
                <a:cs typeface="Noto Sans Thai" panose="020B0502040504020204"/>
              </a:rPr>
              <a:t>และกลุ่มเศรษฐกิจเกิดใหม่ (</a:t>
            </a:r>
            <a:r>
              <a:rPr lang="en-US" altLang="en-US" dirty="0">
                <a:solidFill>
                  <a:srgbClr val="F4F4F4">
                    <a:lumMod val="25000"/>
                  </a:srgbClr>
                </a:solidFill>
                <a:latin typeface="Noto Sans Thai" panose="020B0502040504020204" pitchFamily="34" charset="-34"/>
                <a:cs typeface="Noto Sans Thai" panose="020B0502040504020204"/>
              </a:rPr>
              <a:t>Emerging Markets) </a:t>
            </a:r>
            <a:r>
              <a:rPr lang="th-TH" altLang="en-US" dirty="0">
                <a:solidFill>
                  <a:srgbClr val="F4F4F4">
                    <a:lumMod val="25000"/>
                  </a:srgbClr>
                </a:solidFill>
                <a:latin typeface="Noto Sans Thai" panose="020B0502040504020204" pitchFamily="34" charset="-34"/>
                <a:cs typeface="Noto Sans Thai" panose="020B0502040504020204"/>
              </a:rPr>
              <a:t>โดยกลุ่มประเทศที่พัฒนาแล้ว คาดเติบโตที่ 1.4% ในปี 2026 เทียบก่อนหน้าคาด 1.6</a:t>
            </a:r>
            <a:r>
              <a:rPr lang="en-US" altLang="en-US" dirty="0">
                <a:solidFill>
                  <a:srgbClr val="F4F4F4">
                    <a:lumMod val="25000"/>
                  </a:srgbClr>
                </a:solidFill>
                <a:latin typeface="Noto Sans Thai" panose="020B0502040504020204" pitchFamily="34" charset="-34"/>
                <a:cs typeface="Noto Sans Thai" panose="020B0502040504020204"/>
              </a:rPr>
              <a:t>%</a:t>
            </a:r>
            <a:r>
              <a:rPr lang="th-TH" altLang="en-US" dirty="0">
                <a:solidFill>
                  <a:srgbClr val="F4F4F4">
                    <a:lumMod val="25000"/>
                  </a:srgbClr>
                </a:solidFill>
                <a:latin typeface="Noto Sans Thai" panose="020B0502040504020204" pitchFamily="34" charset="-34"/>
                <a:cs typeface="Noto Sans Thai" panose="020B0502040504020204"/>
              </a:rPr>
              <a:t> และกลุ่มเศรษฐกิจเกิดใหม่ คาดเติบโตที่ 4.4% เทียบก่อนหน้าคาด 4.5% โดยหลักมาจากผลกระทบของความขัดแย้งภูมิรัฐศาสตร์ที่รุนแรงขึ้นและหนุนให้ราคาพลังงานปรับตัวขึ้นแรงในช่วงที่ผ่านมา</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ส่งผลต่อทิศทางของอัตราเงินเฟ้อในหลายประเทศ</a:t>
            </a:r>
          </a:p>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ราคาน้ำมันดิบ </a:t>
            </a:r>
            <a:r>
              <a:rPr lang="en-US" altLang="en-US" dirty="0">
                <a:solidFill>
                  <a:srgbClr val="F4F4F4">
                    <a:lumMod val="25000"/>
                  </a:srgbClr>
                </a:solidFill>
                <a:latin typeface="Noto Sans Thai" panose="020B0502040504020204" pitchFamily="34" charset="-34"/>
                <a:cs typeface="Noto Sans Thai" panose="020B0502040504020204"/>
              </a:rPr>
              <a:t>Brent</a:t>
            </a:r>
            <a:r>
              <a:rPr lang="th-TH" altLang="en-US" dirty="0">
                <a:solidFill>
                  <a:srgbClr val="F4F4F4">
                    <a:lumMod val="25000"/>
                  </a:srgbClr>
                </a:solidFill>
                <a:latin typeface="Noto Sans Thai" panose="020B0502040504020204" pitchFamily="34" charset="-34"/>
                <a:cs typeface="Noto Sans Thai" panose="020B0502040504020204"/>
              </a:rPr>
              <a:t> ปรับตัวขึ้นต่อราว 14</a:t>
            </a:r>
            <a:r>
              <a:rPr lang="en-US" altLang="en-US" dirty="0">
                <a:solidFill>
                  <a:srgbClr val="F4F4F4">
                    <a:lumMod val="25000"/>
                  </a:srgbClr>
                </a:solidFill>
                <a:latin typeface="Noto Sans Thai" panose="020B0502040504020204" pitchFamily="34" charset="-34"/>
                <a:cs typeface="Noto Sans Thai" panose="020B0502040504020204"/>
              </a:rPr>
              <a:t>%</a:t>
            </a:r>
            <a:r>
              <a:rPr lang="th-TH" altLang="en-US" dirty="0">
                <a:solidFill>
                  <a:srgbClr val="F4F4F4">
                    <a:lumMod val="25000"/>
                  </a:srgbClr>
                </a:solidFill>
                <a:latin typeface="Noto Sans Thai" panose="020B0502040504020204" pitchFamily="34" charset="-34"/>
                <a:cs typeface="Noto Sans Thai" panose="020B0502040504020204"/>
              </a:rPr>
              <a:t> ในเดือนเมษายน 2026 มาอยู่ที่เฉลี่ย 117 เหรียญ/บาร์เรล เทียบเฉลี่ย 103 เหรียญ/บาร์เรลในเดือนมีนาคม จากสงครามที่รุนแรงขึ้นและความกังวลต่ออุปทานที่ขาดแคลนหลังมีการประกาศปิดช่องแคบฮอร์มุซซึ่งคิดเป็น 20</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ของการส่งน้ำมันโลก ทั้งนี้แม้จะเริ่มเห็นสัญญาณของการหยุดยิง แต่สถานการณ์ความตึงเครียดยังคงยืดเยื้อ ซึ่งหากความสามารถในการเดินเรือผ่านช่องแคบฮอร์มุซยังคงจำกัด อาจส่งผลให้น้ำมันทรงตัวในระดับสูง แต่หากสถานการณ์คลี่คลายภาย อาจส่งผลให้ราคาน้ำมันทยอยปรับตัวลดลง เนื่องจากหากดูในด้านปัจจัยพื้นฐาน เริ่มเห็นอุปทานในตลาดน้ำมันโลกที่สูงขึ้น หลัง</a:t>
            </a:r>
            <a:r>
              <a:rPr lang="en-US" altLang="en-US" dirty="0">
                <a:solidFill>
                  <a:srgbClr val="F4F4F4">
                    <a:lumMod val="25000"/>
                  </a:srgbClr>
                </a:solidFill>
                <a:latin typeface="Noto Sans Thai" panose="020B0502040504020204" pitchFamily="34" charset="-34"/>
                <a:cs typeface="Noto Sans Thai" panose="020B0502040504020204"/>
              </a:rPr>
              <a:t> OPEC+ </a:t>
            </a:r>
            <a:r>
              <a:rPr lang="th-TH" altLang="en-US" dirty="0">
                <a:solidFill>
                  <a:srgbClr val="F4F4F4">
                    <a:lumMod val="25000"/>
                  </a:srgbClr>
                </a:solidFill>
                <a:latin typeface="Noto Sans Thai" panose="020B0502040504020204" pitchFamily="34" charset="-34"/>
                <a:cs typeface="Noto Sans Thai" panose="020B0502040504020204"/>
              </a:rPr>
              <a:t>มีมติปรับกำลังการผลิตขึ้น อีก 1.88 แสนบาร์เรล/วันในเดือนมิถุนายน 2026 </a:t>
            </a:r>
          </a:p>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สำหรับนโยบายการเงิน คาด </a:t>
            </a:r>
            <a:r>
              <a:rPr lang="en-US" altLang="en-US" dirty="0">
                <a:solidFill>
                  <a:srgbClr val="F4F4F4">
                    <a:lumMod val="25000"/>
                  </a:srgbClr>
                </a:solidFill>
                <a:latin typeface="Noto Sans Thai" panose="020B0502040504020204" pitchFamily="34" charset="-34"/>
                <a:cs typeface="Noto Sans Thai" panose="020B0502040504020204"/>
              </a:rPr>
              <a:t>Fed</a:t>
            </a:r>
            <a:r>
              <a:rPr lang="th-TH" altLang="en-US" dirty="0">
                <a:solidFill>
                  <a:srgbClr val="F4F4F4">
                    <a:lumMod val="25000"/>
                  </a:srgbClr>
                </a:solidFill>
                <a:latin typeface="Noto Sans Thai" panose="020B0502040504020204" pitchFamily="34" charset="-34"/>
                <a:cs typeface="Noto Sans Thai" panose="020B0502040504020204"/>
              </a:rPr>
              <a:t> มีแนวโน้มคงดอกเบี้ยอีกที่ 3.75 ในช่วงครึ่งแรกของปี เพื่อดูสถานการณ์เงินเฟ้อ โดยเฉพาะหลังสงครามในตะวันออกกลางรุนแรงขึ้นและกระทบต่อห่วงโซ่อุปทาน หนุนให้ราคาน้ำมันสูงขึ้น ทั้งนี้หากสถานการณ์คลี่คลายและราคาพลังงานปรับตัวลง อาจเปิดทางให้ </a:t>
            </a:r>
            <a:r>
              <a:rPr lang="en-US" altLang="en-US" dirty="0">
                <a:solidFill>
                  <a:srgbClr val="F4F4F4">
                    <a:lumMod val="25000"/>
                  </a:srgbClr>
                </a:solidFill>
                <a:latin typeface="Noto Sans Thai" panose="020B0502040504020204" pitchFamily="34" charset="-34"/>
                <a:cs typeface="Noto Sans Thai" panose="020B0502040504020204"/>
              </a:rPr>
              <a:t>Fed</a:t>
            </a:r>
            <a:r>
              <a:rPr lang="th-TH" altLang="en-US" dirty="0">
                <a:solidFill>
                  <a:srgbClr val="F4F4F4">
                    <a:lumMod val="25000"/>
                  </a:srgbClr>
                </a:solidFill>
                <a:latin typeface="Noto Sans Thai" panose="020B0502040504020204" pitchFamily="34" charset="-34"/>
                <a:cs typeface="Noto Sans Thai" panose="020B0502040504020204"/>
              </a:rPr>
              <a:t> สามารถปรับลดดอกเบี้ยต่อได้ในช่วงครึ่งหลังของปี 2026 โดยคาดดอกเบี้ยสิ้นปี 2026 อยู่ที่ 3.25</a:t>
            </a:r>
            <a:r>
              <a:rPr lang="en-US" altLang="en-US" dirty="0">
                <a:solidFill>
                  <a:srgbClr val="F4F4F4">
                    <a:lumMod val="25000"/>
                  </a:srgbClr>
                </a:solidFill>
                <a:latin typeface="Noto Sans Thai" panose="020B0502040504020204" pitchFamily="34" charset="-34"/>
                <a:cs typeface="Noto Sans Thai" panose="020B0502040504020204"/>
              </a:rPr>
              <a:t>%</a:t>
            </a:r>
            <a:r>
              <a:rPr lang="th-TH" altLang="en-US" dirty="0">
                <a:solidFill>
                  <a:srgbClr val="F4F4F4">
                    <a:lumMod val="25000"/>
                  </a:srgbClr>
                </a:solidFill>
                <a:latin typeface="Noto Sans Thai" panose="020B0502040504020204" pitchFamily="34" charset="-34"/>
                <a:cs typeface="Noto Sans Thai" panose="020B0502040504020204"/>
              </a:rPr>
              <a:t> เพื่อกระตุ้นเศรษฐกิจในช่วงต่อจากนี้ ซึ่งคาดการณ์ดังกล่าวสูงกว่าเมื่อเทียบกับ </a:t>
            </a:r>
            <a:r>
              <a:rPr lang="en-US" altLang="en-US" dirty="0">
                <a:solidFill>
                  <a:srgbClr val="F4F4F4">
                    <a:lumMod val="25000"/>
                  </a:srgbClr>
                </a:solidFill>
                <a:latin typeface="Noto Sans Thai" panose="020B0502040504020204" pitchFamily="34" charset="-34"/>
                <a:cs typeface="Noto Sans Thai" panose="020B0502040504020204"/>
              </a:rPr>
              <a:t>Dot</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Plot</a:t>
            </a:r>
            <a:r>
              <a:rPr lang="th-TH" altLang="en-US" dirty="0">
                <a:solidFill>
                  <a:srgbClr val="F4F4F4">
                    <a:lumMod val="25000"/>
                  </a:srgbClr>
                </a:solidFill>
                <a:latin typeface="Noto Sans Thai" panose="020B0502040504020204" pitchFamily="34" charset="-34"/>
                <a:cs typeface="Noto Sans Thai" panose="020B0502040504020204"/>
              </a:rPr>
              <a:t> ล่าสุดของ</a:t>
            </a:r>
            <a:r>
              <a:rPr lang="en-US" altLang="en-US" dirty="0">
                <a:solidFill>
                  <a:srgbClr val="F4F4F4">
                    <a:lumMod val="25000"/>
                  </a:srgbClr>
                </a:solidFill>
                <a:latin typeface="Noto Sans Thai" panose="020B0502040504020204" pitchFamily="34" charset="-34"/>
                <a:cs typeface="Noto Sans Thai" panose="020B0502040504020204"/>
              </a:rPr>
              <a:t> Fed </a:t>
            </a:r>
            <a:r>
              <a:rPr lang="th-TH" altLang="en-US" dirty="0">
                <a:solidFill>
                  <a:srgbClr val="F4F4F4">
                    <a:lumMod val="25000"/>
                  </a:srgbClr>
                </a:solidFill>
                <a:latin typeface="Noto Sans Thai" panose="020B0502040504020204" pitchFamily="34" charset="-34"/>
                <a:cs typeface="Noto Sans Thai" panose="020B0502040504020204"/>
              </a:rPr>
              <a:t>ในเดือนมีนาคม 2026 ที่คาดดอกเบี้ยจะอยู่ที่ 3.4% ในปี 2026 </a:t>
            </a:r>
          </a:p>
        </p:txBody>
      </p:sp>
      <p:graphicFrame>
        <p:nvGraphicFramePr>
          <p:cNvPr id="3" name="Object 2">
            <a:extLst>
              <a:ext uri="{FF2B5EF4-FFF2-40B4-BE49-F238E27FC236}">
                <a16:creationId xmlns:a16="http://schemas.microsoft.com/office/drawing/2014/main" id="{AFE5C6AC-EFCA-ED20-2424-E5D807C7E7AD}"/>
              </a:ext>
            </a:extLst>
          </p:cNvPr>
          <p:cNvGraphicFramePr>
            <a:graphicFrameLocks noChangeAspect="1"/>
          </p:cNvGraphicFramePr>
          <p:nvPr>
            <p:extLst>
              <p:ext uri="{D42A27DB-BD31-4B8C-83A1-F6EECF244321}">
                <p14:modId xmlns:p14="http://schemas.microsoft.com/office/powerpoint/2010/main" val="3902122206"/>
              </p:ext>
            </p:extLst>
          </p:nvPr>
        </p:nvGraphicFramePr>
        <p:xfrm>
          <a:off x="566054" y="1673479"/>
          <a:ext cx="3778317" cy="3511041"/>
        </p:xfrm>
        <a:graphic>
          <a:graphicData uri="http://schemas.openxmlformats.org/presentationml/2006/ole">
            <mc:AlternateContent xmlns:mc="http://schemas.openxmlformats.org/markup-compatibility/2006">
              <mc:Choice xmlns:v="urn:schemas-microsoft-com:vml" Requires="v">
                <p:oleObj name="Worksheet" r:id="rId2" imgW="2962227" imgH="2752691" progId="Excel.Sheet.12">
                  <p:link updateAutomatic="1"/>
                </p:oleObj>
              </mc:Choice>
              <mc:Fallback>
                <p:oleObj name="Worksheet" r:id="rId2" imgW="2962227" imgH="2752691" progId="Excel.Sheet.12">
                  <p:link updateAutomatic="1"/>
                  <p:pic>
                    <p:nvPicPr>
                      <p:cNvPr id="0" name=""/>
                      <p:cNvPicPr/>
                      <p:nvPr/>
                    </p:nvPicPr>
                    <p:blipFill>
                      <a:blip r:embed="rId3"/>
                      <a:stretch>
                        <a:fillRect/>
                      </a:stretch>
                    </p:blipFill>
                    <p:spPr>
                      <a:xfrm>
                        <a:off x="566054" y="1673479"/>
                        <a:ext cx="3778317" cy="3511041"/>
                      </a:xfrm>
                      <a:prstGeom prst="rect">
                        <a:avLst/>
                      </a:prstGeom>
                    </p:spPr>
                  </p:pic>
                </p:oleObj>
              </mc:Fallback>
            </mc:AlternateContent>
          </a:graphicData>
        </a:graphic>
      </p:graphicFrame>
    </p:spTree>
    <p:extLst>
      <p:ext uri="{BB962C8B-B14F-4D97-AF65-F5344CB8AC3E}">
        <p14:creationId xmlns:p14="http://schemas.microsoft.com/office/powerpoint/2010/main" val="4032218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4"/>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20" name="Text Placeholder 6">
            <a:extLst>
              <a:ext uri="{FF2B5EF4-FFF2-40B4-BE49-F238E27FC236}">
                <a16:creationId xmlns:a16="http://schemas.microsoft.com/office/drawing/2014/main" id="{41E6D16A-AE8A-452E-BB86-9BEB7E68041B}"/>
              </a:ext>
            </a:extLst>
          </p:cNvPr>
          <p:cNvSpPr txBox="1">
            <a:spLocks/>
          </p:cNvSpPr>
          <p:nvPr/>
        </p:nvSpPr>
        <p:spPr>
          <a:xfrm>
            <a:off x="757061" y="6194981"/>
            <a:ext cx="3217410"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dirty="0">
                <a:solidFill>
                  <a:schemeClr val="tx1"/>
                </a:solidFill>
                <a:latin typeface="+mj-lt"/>
                <a:ea typeface="Tahoma" panose="020B0604030504040204" pitchFamily="34" charset="0"/>
                <a:cs typeface="+mn-cs"/>
              </a:rPr>
              <a:t>Sources: </a:t>
            </a:r>
            <a:r>
              <a:rPr lang="en-US" altLang="en-US" sz="900" dirty="0">
                <a:solidFill>
                  <a:schemeClr val="tx1"/>
                </a:solidFill>
                <a:latin typeface="+mj-lt"/>
                <a:ea typeface="Tahoma" panose="020B0604030504040204" pitchFamily="34" charset="0"/>
                <a:cs typeface="+mn-cs"/>
              </a:rPr>
              <a:t>Economic Cycle Research Institute, Bloomberg, Morgan Stanley Research</a:t>
            </a:r>
            <a:endParaRPr lang="th-TH" altLang="en-US" sz="900" dirty="0">
              <a:solidFill>
                <a:schemeClr val="tx1"/>
              </a:solidFill>
              <a:latin typeface="+mj-lt"/>
              <a:ea typeface="Tahoma" panose="020B0604030504040204" pitchFamily="34" charset="0"/>
              <a:cs typeface="+mn-cs"/>
            </a:endParaRPr>
          </a:p>
        </p:txBody>
      </p:sp>
      <p:sp>
        <p:nvSpPr>
          <p:cNvPr id="14" name="Text Placeholder 4">
            <a:extLst>
              <a:ext uri="{FF2B5EF4-FFF2-40B4-BE49-F238E27FC236}">
                <a16:creationId xmlns:a16="http://schemas.microsoft.com/office/drawing/2014/main" id="{048AA0D7-5DB9-4238-A565-81D783D1EB82}"/>
              </a:ext>
            </a:extLst>
          </p:cNvPr>
          <p:cNvSpPr txBox="1">
            <a:spLocks/>
          </p:cNvSpPr>
          <p:nvPr/>
        </p:nvSpPr>
        <p:spPr>
          <a:xfrm>
            <a:off x="532829" y="1082146"/>
            <a:ext cx="4057278" cy="429444"/>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en-US" b="1" dirty="0">
                <a:latin typeface="Noto Sans Thai" panose="020B0502040504020204" pitchFamily="34" charset="-34"/>
                <a:ea typeface="Tahoma" panose="020B0604030504040204" pitchFamily="34" charset="0"/>
                <a:cs typeface="Noto Sans Thai" panose="020B0502040504020204"/>
              </a:rPr>
              <a:t>US ISM PMI : </a:t>
            </a:r>
            <a:r>
              <a:rPr lang="th-TH" altLang="en-US" b="1" dirty="0">
                <a:latin typeface="Noto Sans Thai" panose="020B0502040504020204" pitchFamily="34" charset="-34"/>
                <a:ea typeface="Tahoma" panose="020B0604030504040204" pitchFamily="34" charset="0"/>
                <a:cs typeface="Noto Sans Thai" panose="020B0502040504020204"/>
              </a:rPr>
              <a:t>เดือนเมษายน ภาคการผลิต (</a:t>
            </a:r>
            <a:r>
              <a:rPr lang="en-US" altLang="en-US" b="1" dirty="0">
                <a:latin typeface="Noto Sans Thai" panose="020B0502040504020204" pitchFamily="34" charset="-34"/>
                <a:ea typeface="Tahoma" panose="020B0604030504040204" pitchFamily="34" charset="0"/>
                <a:cs typeface="Noto Sans Thai" panose="020B0502040504020204"/>
              </a:rPr>
              <a:t>S&amp;P Global) </a:t>
            </a:r>
            <a:r>
              <a:rPr lang="th-TH" altLang="en-US" b="1" dirty="0">
                <a:latin typeface="Noto Sans Thai" panose="020B0502040504020204" pitchFamily="34" charset="-34"/>
                <a:ea typeface="Tahoma" panose="020B0604030504040204" pitchFamily="34" charset="0"/>
                <a:cs typeface="Noto Sans Thai" panose="020B0502040504020204"/>
              </a:rPr>
              <a:t>ขยายตัวเร่งตัวขึ้น ขณะที่ภาคบริการ (</a:t>
            </a:r>
            <a:r>
              <a:rPr lang="en-US" altLang="en-US" b="1" dirty="0">
                <a:latin typeface="Noto Sans Thai" panose="020B0502040504020204" pitchFamily="34" charset="-34"/>
                <a:ea typeface="Tahoma" panose="020B0604030504040204" pitchFamily="34" charset="0"/>
                <a:cs typeface="Noto Sans Thai" panose="020B0502040504020204"/>
              </a:rPr>
              <a:t>S&amp;P Global) </a:t>
            </a:r>
            <a:r>
              <a:rPr lang="th-TH" altLang="en-US" b="1" dirty="0">
                <a:latin typeface="Noto Sans Thai" panose="020B0502040504020204" pitchFamily="34" charset="-34"/>
                <a:ea typeface="Tahoma" panose="020B0604030504040204" pitchFamily="34" charset="0"/>
                <a:cs typeface="Noto Sans Thai" panose="020B0502040504020204"/>
              </a:rPr>
              <a:t>พลิกเป็นขยายตัว</a:t>
            </a:r>
          </a:p>
        </p:txBody>
      </p:sp>
      <p:sp>
        <p:nvSpPr>
          <p:cNvPr id="15" name="Rectangle 14">
            <a:extLst>
              <a:ext uri="{FF2B5EF4-FFF2-40B4-BE49-F238E27FC236}">
                <a16:creationId xmlns:a16="http://schemas.microsoft.com/office/drawing/2014/main" id="{442DC3CE-7DFE-4BFD-B1EF-92D7694B8816}"/>
              </a:ext>
            </a:extLst>
          </p:cNvPr>
          <p:cNvSpPr/>
          <p:nvPr/>
        </p:nvSpPr>
        <p:spPr>
          <a:xfrm>
            <a:off x="4696781" y="1662579"/>
            <a:ext cx="7137289" cy="4564326"/>
          </a:xfrm>
          <a:prstGeom prst="rect">
            <a:avLst/>
          </a:prstGeom>
        </p:spPr>
        <p:txBody>
          <a:bodyPr wrap="square">
            <a:spAutoFit/>
          </a:bodyPr>
          <a:lstStyle/>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เศรษฐกิจสหรัฐฯ ในไตรมาส 1 ปี 2026 ขยายตัว 2.0% </a:t>
            </a:r>
            <a:r>
              <a:rPr lang="en-US" altLang="en-US" dirty="0">
                <a:solidFill>
                  <a:srgbClr val="F4F4F4">
                    <a:lumMod val="25000"/>
                  </a:srgbClr>
                </a:solidFill>
                <a:latin typeface="Noto Sans Thai" panose="020B0502040504020204" pitchFamily="34" charset="-34"/>
                <a:cs typeface="Noto Sans Thai" panose="020B0502040504020204"/>
              </a:rPr>
              <a:t>QoQ</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err="1">
                <a:solidFill>
                  <a:srgbClr val="F4F4F4">
                    <a:lumMod val="25000"/>
                  </a:srgbClr>
                </a:solidFill>
                <a:latin typeface="Noto Sans Thai" panose="020B0502040504020204" pitchFamily="34" charset="-34"/>
                <a:cs typeface="Noto Sans Thai" panose="020B0502040504020204"/>
              </a:rPr>
              <a:t>saar</a:t>
            </a:r>
            <a:r>
              <a:rPr lang="th-TH" altLang="en-US" dirty="0">
                <a:solidFill>
                  <a:srgbClr val="F4F4F4">
                    <a:lumMod val="25000"/>
                  </a:srgbClr>
                </a:solidFill>
                <a:latin typeface="Noto Sans Thai" panose="020B0502040504020204" pitchFamily="34" charset="-34"/>
                <a:cs typeface="Noto Sans Thai" panose="020B0502040504020204"/>
              </a:rPr>
              <a:t> ใกล้เคียงกับที่คาดที่ 1</a:t>
            </a:r>
            <a:r>
              <a:rPr lang="en-US" altLang="en-US" dirty="0">
                <a:solidFill>
                  <a:srgbClr val="F4F4F4">
                    <a:lumMod val="25000"/>
                  </a:srgbClr>
                </a:solidFill>
                <a:latin typeface="Noto Sans Thai" panose="020B0502040504020204" pitchFamily="34" charset="-34"/>
                <a:cs typeface="Noto Sans Thai" panose="020B0502040504020204"/>
              </a:rPr>
              <a:t>.9% QoQ </a:t>
            </a:r>
            <a:r>
              <a:rPr lang="en-US" altLang="en-US" dirty="0" err="1">
                <a:solidFill>
                  <a:srgbClr val="F4F4F4">
                    <a:lumMod val="25000"/>
                  </a:srgbClr>
                </a:solidFill>
                <a:latin typeface="Noto Sans Thai" panose="020B0502040504020204" pitchFamily="34" charset="-34"/>
                <a:cs typeface="Noto Sans Thai" panose="020B0502040504020204"/>
              </a:rPr>
              <a:t>saar</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และฟื้นตัวจาก 0.</a:t>
            </a:r>
            <a:r>
              <a:rPr lang="en-US" altLang="en-US" dirty="0">
                <a:solidFill>
                  <a:srgbClr val="F4F4F4">
                    <a:lumMod val="25000"/>
                  </a:srgbClr>
                </a:solidFill>
                <a:latin typeface="Noto Sans Thai" panose="020B0502040504020204" pitchFamily="34" charset="-34"/>
                <a:cs typeface="Noto Sans Thai" panose="020B0502040504020204"/>
              </a:rPr>
              <a:t>5%</a:t>
            </a:r>
            <a:r>
              <a:rPr lang="th-TH" altLang="en-US" dirty="0">
                <a:solidFill>
                  <a:srgbClr val="F4F4F4">
                    <a:lumMod val="25000"/>
                  </a:srgbClr>
                </a:solidFill>
                <a:latin typeface="Noto Sans Thai" panose="020B0502040504020204" pitchFamily="34" charset="-34"/>
                <a:cs typeface="Noto Sans Thai" panose="020B0502040504020204"/>
              </a:rPr>
              <a:t> ในไตรมาส 4 ปี 2025 โดยหลักจากการใช้จ่ายของภาครัฐที่กลับมาขยายตัวที่ 4</a:t>
            </a:r>
            <a:r>
              <a:rPr lang="en-US" altLang="en-US" dirty="0">
                <a:solidFill>
                  <a:srgbClr val="F4F4F4">
                    <a:lumMod val="25000"/>
                  </a:srgbClr>
                </a:solidFill>
                <a:latin typeface="Noto Sans Thai" panose="020B0502040504020204" pitchFamily="34" charset="-34"/>
                <a:cs typeface="Noto Sans Thai" panose="020B0502040504020204"/>
              </a:rPr>
              <a:t>.4% QoQ </a:t>
            </a:r>
            <a:r>
              <a:rPr lang="en-US" altLang="en-US" dirty="0" err="1">
                <a:solidFill>
                  <a:srgbClr val="F4F4F4">
                    <a:lumMod val="25000"/>
                  </a:srgbClr>
                </a:solidFill>
                <a:latin typeface="Noto Sans Thai" panose="020B0502040504020204" pitchFamily="34" charset="-34"/>
                <a:cs typeface="Noto Sans Thai" panose="020B0502040504020204"/>
              </a:rPr>
              <a:t>saar</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เทียบกับที่หดตัว 5.6</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ในไตรมาสก่อน และการลงทุนที่เร่งตัวขึ้น โดยขยายตัว 8.</a:t>
            </a:r>
            <a:r>
              <a:rPr lang="en-US" altLang="en-US" dirty="0">
                <a:solidFill>
                  <a:srgbClr val="F4F4F4">
                    <a:lumMod val="25000"/>
                  </a:srgbClr>
                </a:solidFill>
                <a:latin typeface="Noto Sans Thai" panose="020B0502040504020204" pitchFamily="34" charset="-34"/>
                <a:cs typeface="Noto Sans Thai" panose="020B0502040504020204"/>
              </a:rPr>
              <a:t>7% QoQ </a:t>
            </a:r>
            <a:r>
              <a:rPr lang="en-US" altLang="en-US" dirty="0" err="1">
                <a:solidFill>
                  <a:srgbClr val="F4F4F4">
                    <a:lumMod val="25000"/>
                  </a:srgbClr>
                </a:solidFill>
                <a:latin typeface="Noto Sans Thai" panose="020B0502040504020204" pitchFamily="34" charset="-34"/>
                <a:cs typeface="Noto Sans Thai" panose="020B0502040504020204"/>
              </a:rPr>
              <a:t>saar</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เทียบกับที่ขยายตัว 2.</a:t>
            </a:r>
            <a:r>
              <a:rPr lang="en-US" altLang="en-US" dirty="0">
                <a:solidFill>
                  <a:srgbClr val="F4F4F4">
                    <a:lumMod val="25000"/>
                  </a:srgbClr>
                </a:solidFill>
                <a:latin typeface="Noto Sans Thai" panose="020B0502040504020204" pitchFamily="34" charset="-34"/>
                <a:cs typeface="Noto Sans Thai" panose="020B0502040504020204"/>
              </a:rPr>
              <a:t>3% </a:t>
            </a:r>
            <a:r>
              <a:rPr lang="th-TH" altLang="en-US" dirty="0">
                <a:solidFill>
                  <a:srgbClr val="F4F4F4">
                    <a:lumMod val="25000"/>
                  </a:srgbClr>
                </a:solidFill>
                <a:latin typeface="Noto Sans Thai" panose="020B0502040504020204" pitchFamily="34" charset="-34"/>
                <a:cs typeface="Noto Sans Thai" panose="020B0502040504020204"/>
              </a:rPr>
              <a:t>ในไตรมาสก่อน ซึ่งแนวโน้มในไตรมาส 2 ปี 2026 คาดจะฟื้นตัว จากการส่งผ่านผลของนโยบายการเงินที่คาดจะหนุนการลงทุนและการบริโภค และแรงส่งจากการฟื้นตัวของภาคการผลิต โดยคาดเศรษฐกิจในไตรมาส 2 ปี 2026 จะขยายตัว 2.</a:t>
            </a:r>
            <a:r>
              <a:rPr lang="en-US" altLang="en-US" dirty="0">
                <a:solidFill>
                  <a:srgbClr val="F4F4F4">
                    <a:lumMod val="25000"/>
                  </a:srgbClr>
                </a:solidFill>
                <a:latin typeface="Noto Sans Thai" panose="020B0502040504020204" pitchFamily="34" charset="-34"/>
                <a:cs typeface="Noto Sans Thai" panose="020B0502040504020204"/>
              </a:rPr>
              <a:t>3% QoQ </a:t>
            </a:r>
            <a:r>
              <a:rPr lang="en-US" altLang="en-US" dirty="0" err="1">
                <a:solidFill>
                  <a:srgbClr val="F4F4F4">
                    <a:lumMod val="25000"/>
                  </a:srgbClr>
                </a:solidFill>
                <a:latin typeface="Noto Sans Thai" panose="020B0502040504020204" pitchFamily="34" charset="-34"/>
                <a:cs typeface="Noto Sans Thai" panose="020B0502040504020204"/>
              </a:rPr>
              <a:t>saar</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และทั้งปี 2026 คาดขยายตัว 2.</a:t>
            </a:r>
            <a:r>
              <a:rPr lang="en-US" altLang="en-US" dirty="0">
                <a:solidFill>
                  <a:srgbClr val="F4F4F4">
                    <a:lumMod val="25000"/>
                  </a:srgbClr>
                </a:solidFill>
                <a:latin typeface="Noto Sans Thai" panose="020B0502040504020204" pitchFamily="34" charset="-34"/>
                <a:cs typeface="Noto Sans Thai" panose="020B0502040504020204"/>
              </a:rPr>
              <a:t>2% </a:t>
            </a:r>
            <a:r>
              <a:rPr lang="th-TH" altLang="en-US" dirty="0">
                <a:solidFill>
                  <a:srgbClr val="F4F4F4">
                    <a:lumMod val="25000"/>
                  </a:srgbClr>
                </a:solidFill>
                <a:latin typeface="Noto Sans Thai" panose="020B0502040504020204" pitchFamily="34" charset="-34"/>
                <a:cs typeface="Noto Sans Thai" panose="020B0502040504020204"/>
              </a:rPr>
              <a:t>เทียบ 2.</a:t>
            </a:r>
            <a:r>
              <a:rPr lang="en-US" altLang="en-US" dirty="0">
                <a:solidFill>
                  <a:srgbClr val="F4F4F4">
                    <a:lumMod val="25000"/>
                  </a:srgbClr>
                </a:solidFill>
                <a:latin typeface="Noto Sans Thai" panose="020B0502040504020204" pitchFamily="34" charset="-34"/>
                <a:cs typeface="Noto Sans Thai" panose="020B0502040504020204"/>
              </a:rPr>
              <a:t>1% </a:t>
            </a:r>
            <a:r>
              <a:rPr lang="th-TH" altLang="en-US" dirty="0">
                <a:solidFill>
                  <a:srgbClr val="F4F4F4">
                    <a:lumMod val="25000"/>
                  </a:srgbClr>
                </a:solidFill>
                <a:latin typeface="Noto Sans Thai" panose="020B0502040504020204" pitchFamily="34" charset="-34"/>
                <a:cs typeface="Noto Sans Thai" panose="020B0502040504020204"/>
              </a:rPr>
              <a:t>ในปี 2025</a:t>
            </a:r>
          </a:p>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เศรษฐกิจในเดือนเมษายน 2026 โดยรวมขยายตัวเร่งตัวขึ้นจากเดือนก่อน โดยได้แรงหนุนจากทั้งภาคการผลิตที่เร่งตัวขึ้นและภาคบริการที่พลิกกลับเป็นขยายตัว โดยดัชนี </a:t>
            </a:r>
            <a:r>
              <a:rPr lang="en-US" altLang="en-US" dirty="0">
                <a:solidFill>
                  <a:srgbClr val="F4F4F4">
                    <a:lumMod val="25000"/>
                  </a:srgbClr>
                </a:solidFill>
                <a:latin typeface="Noto Sans Thai" panose="020B0502040504020204" pitchFamily="34" charset="-34"/>
                <a:cs typeface="Noto Sans Thai" panose="020B0502040504020204"/>
              </a:rPr>
              <a:t>S&amp;P</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Global</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Manufacturing</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PMI</a:t>
            </a:r>
            <a:r>
              <a:rPr lang="th-TH" altLang="en-US" dirty="0">
                <a:solidFill>
                  <a:srgbClr val="F4F4F4">
                    <a:lumMod val="25000"/>
                  </a:srgbClr>
                </a:solidFill>
                <a:latin typeface="Noto Sans Thai" panose="020B0502040504020204" pitchFamily="34" charset="-34"/>
                <a:cs typeface="Noto Sans Thai" panose="020B0502040504020204"/>
              </a:rPr>
              <a:t> ปรับตัวขึ้นมาที่ 54.0 เทียบกับเดือนก่อนที่ 52.3 ขณะที่ดัชนีภาคบริการ </a:t>
            </a:r>
            <a:r>
              <a:rPr lang="en-US" altLang="en-US" dirty="0">
                <a:solidFill>
                  <a:srgbClr val="F4F4F4">
                    <a:lumMod val="25000"/>
                  </a:srgbClr>
                </a:solidFill>
                <a:latin typeface="Noto Sans Thai" panose="020B0502040504020204" pitchFamily="34" charset="-34"/>
                <a:cs typeface="Noto Sans Thai" panose="020B0502040504020204"/>
              </a:rPr>
              <a:t>S&amp;P Global Service PMI</a:t>
            </a:r>
            <a:r>
              <a:rPr lang="th-TH" altLang="en-US" dirty="0">
                <a:solidFill>
                  <a:srgbClr val="F4F4F4">
                    <a:lumMod val="25000"/>
                  </a:srgbClr>
                </a:solidFill>
                <a:latin typeface="Noto Sans Thai" panose="020B0502040504020204" pitchFamily="34" charset="-34"/>
                <a:cs typeface="Noto Sans Thai" panose="020B0502040504020204"/>
              </a:rPr>
              <a:t> ปรับขึ้นมาขยายตัวที่ 51.3 เทียบ 49.8 ในเดือนก่อนหน้า โดยหนุนจากการจ้างงานที่ฟื้นตัวขึ้น โดยหากดูตัวเลขการขอรับสวัสดิการว่างงานปรับตัวลงต่อเนื่อง โดยล่าสุดสิ้นเดือนเมษายน 2026 อยู่ที่ </a:t>
            </a:r>
            <a:r>
              <a:rPr lang="en-US" altLang="en-US" dirty="0">
                <a:solidFill>
                  <a:srgbClr val="F4F4F4">
                    <a:lumMod val="25000"/>
                  </a:srgbClr>
                </a:solidFill>
                <a:latin typeface="Noto Sans Thai" panose="020B0502040504020204" pitchFamily="34" charset="-34"/>
                <a:cs typeface="Noto Sans Thai" panose="020B0502040504020204"/>
              </a:rPr>
              <a:t>1.89 </a:t>
            </a:r>
            <a:r>
              <a:rPr lang="th-TH" altLang="en-US" dirty="0">
                <a:solidFill>
                  <a:srgbClr val="F4F4F4">
                    <a:lumMod val="25000"/>
                  </a:srgbClr>
                </a:solidFill>
                <a:latin typeface="Noto Sans Thai" panose="020B0502040504020204" pitchFamily="34" charset="-34"/>
                <a:cs typeface="Noto Sans Thai" panose="020B0502040504020204"/>
              </a:rPr>
              <a:t>แสนราย เทียบกับ 2.1 แสนรายสิ้นเดือนมีนาคม และต่ำสุดในรอบ 14 เดือน ทั้งนี้แนวโน้มข้างหน้าอาจเห็นการฟื้นตัวในภาคการผลิตโดยรวมที่ต่อเนื่องได้ จากการฟื้นตัวของการลงทุนโดยรวม รวมถึงหากดูเฉพาะบริษัทขนาดใหญ่ (</a:t>
            </a:r>
            <a:r>
              <a:rPr lang="en-US" altLang="en-US" dirty="0">
                <a:solidFill>
                  <a:srgbClr val="F4F4F4">
                    <a:lumMod val="25000"/>
                  </a:srgbClr>
                </a:solidFill>
                <a:latin typeface="Noto Sans Thai" panose="020B0502040504020204" pitchFamily="34" charset="-34"/>
                <a:cs typeface="Noto Sans Thai" panose="020B0502040504020204"/>
              </a:rPr>
              <a:t>US ISM</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Manufacturing PMI</a:t>
            </a:r>
            <a:r>
              <a:rPr lang="th-TH" altLang="en-US" dirty="0">
                <a:solidFill>
                  <a:srgbClr val="F4F4F4">
                    <a:lumMod val="25000"/>
                  </a:srgbClr>
                </a:solidFill>
                <a:latin typeface="Noto Sans Thai" panose="020B0502040504020204" pitchFamily="34" charset="-34"/>
                <a:cs typeface="Noto Sans Thai" panose="020B0502040504020204"/>
              </a:rPr>
              <a:t>) ยังคงเห็นการขยายตัวที่ต่อเนื่องเป็นเดือนที่ 4 ติดต่อกันในเดือนเมษายน 2026 หลังหดตัวมาอย่างยาวนานถึง 3 ปี</a:t>
            </a:r>
          </a:p>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อัตราเงินเฟ้อทั่วไป </a:t>
            </a:r>
            <a:r>
              <a:rPr lang="en-US" altLang="en-US" dirty="0">
                <a:solidFill>
                  <a:srgbClr val="F4F4F4">
                    <a:lumMod val="25000"/>
                  </a:srgbClr>
                </a:solidFill>
                <a:latin typeface="Noto Sans Thai" panose="020B0502040504020204" pitchFamily="34" charset="-34"/>
                <a:cs typeface="Noto Sans Thai" panose="020B0502040504020204"/>
              </a:rPr>
              <a:t>(Headline CPI) </a:t>
            </a:r>
            <a:r>
              <a:rPr lang="th-TH" altLang="en-US" dirty="0">
                <a:solidFill>
                  <a:srgbClr val="F4F4F4">
                    <a:lumMod val="25000"/>
                  </a:srgbClr>
                </a:solidFill>
                <a:latin typeface="Noto Sans Thai" panose="020B0502040504020204" pitchFamily="34" charset="-34"/>
                <a:cs typeface="Noto Sans Thai" panose="020B0502040504020204"/>
              </a:rPr>
              <a:t>ในเดือนมีนาคม 2026 ปรับตัวขึ้นมาทที่ </a:t>
            </a:r>
            <a:r>
              <a:rPr lang="en-US" altLang="en-US" dirty="0">
                <a:solidFill>
                  <a:srgbClr val="F4F4F4">
                    <a:lumMod val="25000"/>
                  </a:srgbClr>
                </a:solidFill>
                <a:latin typeface="Noto Sans Thai" panose="020B0502040504020204" pitchFamily="34" charset="-34"/>
                <a:cs typeface="Noto Sans Thai" panose="020B0502040504020204"/>
              </a:rPr>
              <a:t>3.3% YoY </a:t>
            </a:r>
            <a:r>
              <a:rPr lang="th-TH" altLang="en-US" dirty="0">
                <a:solidFill>
                  <a:srgbClr val="F4F4F4">
                    <a:lumMod val="25000"/>
                  </a:srgbClr>
                </a:solidFill>
                <a:latin typeface="Noto Sans Thai" panose="020B0502040504020204" pitchFamily="34" charset="-34"/>
                <a:cs typeface="Noto Sans Thai" panose="020B0502040504020204"/>
              </a:rPr>
              <a:t>จาก 2.4%</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ในเดือนก่อน ซึ่งเป็นไปตามที่ตลาดคาด โดยหลักมาจากราคาพลังงานที่ปรับตัวขึ้นแรง กลบราคาอาหารที่ชะลอตัว และราคารถมือสองที่ติดลบ สำหรับอัตราเงินเฟ้อพื้นฐาน (</a:t>
            </a:r>
            <a:r>
              <a:rPr lang="en-US" altLang="en-US" dirty="0">
                <a:solidFill>
                  <a:srgbClr val="F4F4F4">
                    <a:lumMod val="25000"/>
                  </a:srgbClr>
                </a:solidFill>
                <a:latin typeface="Noto Sans Thai" panose="020B0502040504020204" pitchFamily="34" charset="-34"/>
                <a:cs typeface="Noto Sans Thai" panose="020B0502040504020204"/>
              </a:rPr>
              <a:t>Core</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CPI)</a:t>
            </a:r>
            <a:r>
              <a:rPr lang="th-TH" altLang="en-US" dirty="0">
                <a:solidFill>
                  <a:srgbClr val="F4F4F4">
                    <a:lumMod val="25000"/>
                  </a:srgbClr>
                </a:solidFill>
                <a:latin typeface="Noto Sans Thai" panose="020B0502040504020204" pitchFamily="34" charset="-34"/>
                <a:cs typeface="Noto Sans Thai" panose="020B0502040504020204"/>
              </a:rPr>
              <a:t> ที่ไม่รวมราคาอาหารและพลังงานปรับตัวขึ้นเล็กน้อยที่ 3.2</a:t>
            </a:r>
            <a:r>
              <a:rPr lang="en-US" altLang="en-US" dirty="0">
                <a:solidFill>
                  <a:srgbClr val="F4F4F4">
                    <a:lumMod val="25000"/>
                  </a:srgbClr>
                </a:solidFill>
                <a:latin typeface="Noto Sans Thai" panose="020B0502040504020204" pitchFamily="34" charset="-34"/>
                <a:cs typeface="Noto Sans Thai" panose="020B0502040504020204"/>
              </a:rPr>
              <a:t>% YoY </a:t>
            </a:r>
            <a:r>
              <a:rPr lang="th-TH" altLang="en-US" dirty="0">
                <a:solidFill>
                  <a:srgbClr val="F4F4F4">
                    <a:lumMod val="25000"/>
                  </a:srgbClr>
                </a:solidFill>
                <a:latin typeface="Noto Sans Thai" panose="020B0502040504020204" pitchFamily="34" charset="-34"/>
                <a:cs typeface="Noto Sans Thai" panose="020B0502040504020204"/>
              </a:rPr>
              <a:t>จาก 3.0</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ในเดือนก่อน ซึ่งมาจากราคาด้านบริการที่ปรับตัวขึ้น ขณะที่ราคาที่อยู่อาศัยยังคงทรงตัว ทั้งนี้ในระยะสั้นมีความเสี่ยงที่เงินเฟ้อในหมวดพลังงานอาจปรับตัวขึ้นในระยะสั้น จากปัจจัยภูมิรัฐศาสตร์ที่หนุนให้ราคาน้ำมันปรับตัวขึ้นและยังทรงตัวในระดับสูง</a:t>
            </a:r>
          </a:p>
        </p:txBody>
      </p:sp>
      <p:sp>
        <p:nvSpPr>
          <p:cNvPr id="16" name="Text Placeholder 4">
            <a:extLst>
              <a:ext uri="{FF2B5EF4-FFF2-40B4-BE49-F238E27FC236}">
                <a16:creationId xmlns:a16="http://schemas.microsoft.com/office/drawing/2014/main" id="{5C1B88B5-0A19-425E-8F3E-003CA0C5941D}"/>
              </a:ext>
            </a:extLst>
          </p:cNvPr>
          <p:cNvSpPr txBox="1">
            <a:spLocks/>
          </p:cNvSpPr>
          <p:nvPr/>
        </p:nvSpPr>
        <p:spPr>
          <a:xfrm>
            <a:off x="768348" y="4257108"/>
            <a:ext cx="4327164" cy="296238"/>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Aft>
                <a:spcPts val="450"/>
              </a:spcAft>
            </a:pPr>
            <a:r>
              <a:rPr lang="th-TH" altLang="en-US" b="1" dirty="0">
                <a:latin typeface="Noto Sans Thai" panose="020B0502040504020204" pitchFamily="34" charset="-34"/>
                <a:ea typeface="Tahoma" panose="020B0604030504040204" pitchFamily="34" charset="0"/>
                <a:cs typeface="Noto Sans Thai" panose="020B0502040504020204"/>
              </a:rPr>
              <a:t>ประมาณการ</a:t>
            </a:r>
            <a:r>
              <a:rPr lang="en-US" altLang="en-US" b="1" dirty="0">
                <a:latin typeface="Noto Sans Thai" panose="020B0502040504020204" pitchFamily="34" charset="-34"/>
                <a:ea typeface="Tahoma" panose="020B0604030504040204" pitchFamily="34" charset="0"/>
                <a:cs typeface="Noto Sans Thai" panose="020B0502040504020204"/>
              </a:rPr>
              <a:t> GDP </a:t>
            </a:r>
            <a:r>
              <a:rPr lang="en-US" altLang="en-US" b="1" dirty="0" err="1">
                <a:latin typeface="Noto Sans Thai" panose="020B0502040504020204" pitchFamily="34" charset="-34"/>
                <a:ea typeface="Tahoma" panose="020B0604030504040204" pitchFamily="34" charset="0"/>
                <a:cs typeface="Noto Sans Thai" panose="020B0502040504020204"/>
              </a:rPr>
              <a:t>QoQ</a:t>
            </a:r>
            <a:r>
              <a:rPr lang="en-US" altLang="en-US" b="1" dirty="0">
                <a:latin typeface="Noto Sans Thai" panose="020B0502040504020204" pitchFamily="34" charset="-34"/>
                <a:ea typeface="Tahoma" panose="020B0604030504040204" pitchFamily="34" charset="0"/>
                <a:cs typeface="Noto Sans Thai" panose="020B0502040504020204"/>
              </a:rPr>
              <a:t>, </a:t>
            </a:r>
            <a:r>
              <a:rPr lang="en-US" altLang="en-US" b="1" dirty="0" err="1">
                <a:latin typeface="Noto Sans Thai" panose="020B0502040504020204" pitchFamily="34" charset="-34"/>
                <a:ea typeface="Tahoma" panose="020B0604030504040204" pitchFamily="34" charset="0"/>
                <a:cs typeface="Noto Sans Thai" panose="020B0502040504020204"/>
              </a:rPr>
              <a:t>saar</a:t>
            </a:r>
            <a:r>
              <a:rPr lang="th-TH" altLang="en-US" b="1" dirty="0">
                <a:latin typeface="Noto Sans Thai" panose="020B0502040504020204" pitchFamily="34" charset="-34"/>
                <a:ea typeface="Tahoma" panose="020B0604030504040204" pitchFamily="34" charset="0"/>
                <a:cs typeface="Noto Sans Thai" panose="020B0502040504020204"/>
              </a:rPr>
              <a:t> รายไตรมาส</a:t>
            </a:r>
          </a:p>
        </p:txBody>
      </p:sp>
      <p:sp>
        <p:nvSpPr>
          <p:cNvPr id="3" name="Title 44">
            <a:extLst>
              <a:ext uri="{FF2B5EF4-FFF2-40B4-BE49-F238E27FC236}">
                <a16:creationId xmlns:a16="http://schemas.microsoft.com/office/drawing/2014/main" id="{F6E26888-F18A-10A4-0BE0-59472F22A037}"/>
              </a:ext>
            </a:extLst>
          </p:cNvPr>
          <p:cNvSpPr txBox="1">
            <a:spLocks/>
          </p:cNvSpPr>
          <p:nvPr/>
        </p:nvSpPr>
        <p:spPr>
          <a:xfrm>
            <a:off x="768351" y="355207"/>
            <a:ext cx="8667879" cy="62234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dk1"/>
              </a:buClr>
              <a:buSzPts val="2400"/>
              <a:buFont typeface="Arial"/>
              <a:buNone/>
              <a:defRPr sz="24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9pPr>
          </a:lstStyle>
          <a:p>
            <a:pPr>
              <a:spcBef>
                <a:spcPct val="20000"/>
              </a:spcBef>
            </a:pPr>
            <a:r>
              <a:rPr lang="th-TH" altLang="en-US" b="1" dirty="0">
                <a:latin typeface="Noto Sans Thai" panose="020B0502040504020204" pitchFamily="34" charset="-34"/>
                <a:cs typeface="Noto Sans Thai" panose="020B0502040504020204"/>
              </a:rPr>
              <a:t>สหรัฐฯ:เศรษฐกิจไตรมาส 1 ปี 2026 ขยายตัวใกล้เคียงกับคาด ทั้งนี้คาดฟื้นตัวต่อในไตรมาส 2</a:t>
            </a:r>
            <a:endParaRPr lang="th-TH" b="1" dirty="0">
              <a:latin typeface="Noto Sans Thai" panose="020B0502040504020204" pitchFamily="34" charset="-34"/>
              <a:ea typeface="Tahoma" panose="020B0604030504040204" pitchFamily="34" charset="0"/>
              <a:cs typeface="Noto Sans Thai" panose="020B0502040504020204" pitchFamily="34" charset="-34"/>
            </a:endParaRPr>
          </a:p>
        </p:txBody>
      </p:sp>
      <p:graphicFrame>
        <p:nvGraphicFramePr>
          <p:cNvPr id="2" name="Object 1">
            <a:extLst>
              <a:ext uri="{FF2B5EF4-FFF2-40B4-BE49-F238E27FC236}">
                <a16:creationId xmlns:a16="http://schemas.microsoft.com/office/drawing/2014/main" id="{AD59ECEE-7E11-507A-4C96-B3FFACE7A90D}"/>
              </a:ext>
            </a:extLst>
          </p:cNvPr>
          <p:cNvGraphicFramePr>
            <a:graphicFrameLocks noChangeAspect="1"/>
          </p:cNvGraphicFramePr>
          <p:nvPr>
            <p:extLst>
              <p:ext uri="{D42A27DB-BD31-4B8C-83A1-F6EECF244321}">
                <p14:modId xmlns:p14="http://schemas.microsoft.com/office/powerpoint/2010/main" val="2519636088"/>
              </p:ext>
            </p:extLst>
          </p:nvPr>
        </p:nvGraphicFramePr>
        <p:xfrm>
          <a:off x="1030288" y="4553308"/>
          <a:ext cx="3033712" cy="1608138"/>
        </p:xfrm>
        <a:graphic>
          <a:graphicData uri="http://schemas.openxmlformats.org/presentationml/2006/ole">
            <mc:AlternateContent xmlns:mc="http://schemas.openxmlformats.org/markup-compatibility/2006">
              <mc:Choice xmlns:v="urn:schemas-microsoft-com:vml" Requires="v">
                <p:oleObj name="Worksheet" r:id="rId2" imgW="3124277" imgH="1657248" progId="Excel.Sheet.12">
                  <p:link updateAutomatic="1"/>
                </p:oleObj>
              </mc:Choice>
              <mc:Fallback>
                <p:oleObj name="Worksheet" r:id="rId2" imgW="3124277" imgH="1657248" progId="Excel.Sheet.12">
                  <p:link updateAutomatic="1"/>
                  <p:pic>
                    <p:nvPicPr>
                      <p:cNvPr id="0" name=""/>
                      <p:cNvPicPr/>
                      <p:nvPr/>
                    </p:nvPicPr>
                    <p:blipFill>
                      <a:blip r:embed="rId3"/>
                      <a:stretch>
                        <a:fillRect/>
                      </a:stretch>
                    </p:blipFill>
                    <p:spPr>
                      <a:xfrm>
                        <a:off x="1030288" y="4553308"/>
                        <a:ext cx="3033712" cy="160813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75F8E1C8-8004-5C7C-2530-04FE56B3FE4B}"/>
              </a:ext>
            </a:extLst>
          </p:cNvPr>
          <p:cNvGraphicFramePr>
            <a:graphicFrameLocks noChangeAspect="1"/>
          </p:cNvGraphicFramePr>
          <p:nvPr>
            <p:extLst>
              <p:ext uri="{D42A27DB-BD31-4B8C-83A1-F6EECF244321}">
                <p14:modId xmlns:p14="http://schemas.microsoft.com/office/powerpoint/2010/main" val="1937448287"/>
              </p:ext>
            </p:extLst>
          </p:nvPr>
        </p:nvGraphicFramePr>
        <p:xfrm>
          <a:off x="757061" y="1662579"/>
          <a:ext cx="3386705" cy="2560994"/>
        </p:xfrm>
        <a:graphic>
          <a:graphicData uri="http://schemas.openxmlformats.org/presentationml/2006/ole">
            <mc:AlternateContent xmlns:mc="http://schemas.openxmlformats.org/markup-compatibility/2006">
              <mc:Choice xmlns:v="urn:schemas-microsoft-com:vml" Requires="v">
                <p:oleObj name="Worksheet" r:id="rId4" imgW="5000558" imgH="3781391" progId="Excel.Sheet.12">
                  <p:link updateAutomatic="1"/>
                </p:oleObj>
              </mc:Choice>
              <mc:Fallback>
                <p:oleObj name="Worksheet" r:id="rId4" imgW="5000558" imgH="3781391" progId="Excel.Sheet.12">
                  <p:link updateAutomatic="1"/>
                  <p:pic>
                    <p:nvPicPr>
                      <p:cNvPr id="0" name=""/>
                      <p:cNvPicPr/>
                      <p:nvPr/>
                    </p:nvPicPr>
                    <p:blipFill>
                      <a:blip r:embed="rId5"/>
                      <a:stretch>
                        <a:fillRect/>
                      </a:stretch>
                    </p:blipFill>
                    <p:spPr>
                      <a:xfrm>
                        <a:off x="757061" y="1662579"/>
                        <a:ext cx="3386705" cy="2560994"/>
                      </a:xfrm>
                      <a:prstGeom prst="rect">
                        <a:avLst/>
                      </a:prstGeom>
                    </p:spPr>
                  </p:pic>
                </p:oleObj>
              </mc:Fallback>
            </mc:AlternateContent>
          </a:graphicData>
        </a:graphic>
      </p:graphicFrame>
    </p:spTree>
    <p:extLst>
      <p:ext uri="{BB962C8B-B14F-4D97-AF65-F5344CB8AC3E}">
        <p14:creationId xmlns:p14="http://schemas.microsoft.com/office/powerpoint/2010/main" val="376379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4"/>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12" name="TextBox 11">
            <a:extLst>
              <a:ext uri="{FF2B5EF4-FFF2-40B4-BE49-F238E27FC236}">
                <a16:creationId xmlns:a16="http://schemas.microsoft.com/office/drawing/2014/main" id="{B6C74BA9-EF6B-44B6-87B4-34396FC0D98B}"/>
              </a:ext>
            </a:extLst>
          </p:cNvPr>
          <p:cNvSpPr txBox="1">
            <a:spLocks noChangeArrowheads="1"/>
          </p:cNvSpPr>
          <p:nvPr/>
        </p:nvSpPr>
        <p:spPr bwMode="auto">
          <a:xfrm>
            <a:off x="12231877" y="5545298"/>
            <a:ext cx="864096"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r>
              <a:rPr lang="en-US" altLang="en-US" sz="700" dirty="0">
                <a:solidFill>
                  <a:srgbClr val="4F81BD"/>
                </a:solidFill>
              </a:rPr>
              <a:t>Econ\Econ20</a:t>
            </a:r>
          </a:p>
          <a:p>
            <a:pPr eaLnBrk="1" hangingPunct="1">
              <a:spcBef>
                <a:spcPct val="0"/>
              </a:spcBef>
              <a:buFontTx/>
              <a:buNone/>
            </a:pPr>
            <a:r>
              <a:rPr lang="en-US" altLang="en-US" sz="700" dirty="0">
                <a:solidFill>
                  <a:srgbClr val="4F81BD"/>
                </a:solidFill>
              </a:rPr>
              <a:t>US</a:t>
            </a:r>
          </a:p>
          <a:p>
            <a:pPr eaLnBrk="1" hangingPunct="1">
              <a:spcBef>
                <a:spcPct val="0"/>
              </a:spcBef>
              <a:buFontTx/>
              <a:buNone/>
            </a:pPr>
            <a:endParaRPr lang="en-US" altLang="en-US" sz="700" dirty="0">
              <a:solidFill>
                <a:srgbClr val="4F81BD"/>
              </a:solidFill>
            </a:endParaRPr>
          </a:p>
          <a:p>
            <a:pPr eaLnBrk="1" hangingPunct="1">
              <a:spcBef>
                <a:spcPct val="0"/>
              </a:spcBef>
              <a:buFontTx/>
              <a:buNone/>
            </a:pPr>
            <a:r>
              <a:rPr lang="en-US" altLang="en-US" sz="700" dirty="0">
                <a:solidFill>
                  <a:srgbClr val="4F81BD"/>
                </a:solidFill>
              </a:rPr>
              <a:t>Econ\Morgan Stanley Forecast</a:t>
            </a:r>
          </a:p>
          <a:p>
            <a:pPr>
              <a:spcBef>
                <a:spcPct val="0"/>
              </a:spcBef>
              <a:buNone/>
            </a:pPr>
            <a:r>
              <a:rPr lang="en-US" altLang="en-US" sz="700" dirty="0">
                <a:solidFill>
                  <a:srgbClr val="4F81BD"/>
                </a:solidFill>
              </a:rPr>
              <a:t>Global GDP</a:t>
            </a:r>
          </a:p>
          <a:p>
            <a:pPr eaLnBrk="1" hangingPunct="1">
              <a:spcBef>
                <a:spcPct val="0"/>
              </a:spcBef>
              <a:buFontTx/>
              <a:buNone/>
            </a:pPr>
            <a:endParaRPr lang="th-TH" altLang="en-US" sz="700" dirty="0">
              <a:solidFill>
                <a:srgbClr val="4F81BD"/>
              </a:solidFill>
            </a:endParaRPr>
          </a:p>
          <a:p>
            <a:pPr eaLnBrk="1" hangingPunct="1">
              <a:spcBef>
                <a:spcPct val="0"/>
              </a:spcBef>
              <a:buFontTx/>
              <a:buNone/>
            </a:pPr>
            <a:r>
              <a:rPr lang="en-US" altLang="en-US" sz="700" dirty="0">
                <a:solidFill>
                  <a:srgbClr val="4F81BD"/>
                </a:solidFill>
              </a:rPr>
              <a:t>German Ifo business condition survey </a:t>
            </a:r>
            <a:r>
              <a:rPr lang="th-TH" altLang="en-US" sz="700" dirty="0">
                <a:solidFill>
                  <a:srgbClr val="4F81BD"/>
                </a:solidFill>
              </a:rPr>
              <a:t>-- </a:t>
            </a:r>
            <a:r>
              <a:rPr lang="en-US" altLang="en-US" sz="700" dirty="0">
                <a:solidFill>
                  <a:srgbClr val="4F81BD"/>
                </a:solidFill>
              </a:rPr>
              <a:t> Google</a:t>
            </a:r>
          </a:p>
        </p:txBody>
      </p:sp>
      <p:sp>
        <p:nvSpPr>
          <p:cNvPr id="17" name="Title 44">
            <a:extLst>
              <a:ext uri="{FF2B5EF4-FFF2-40B4-BE49-F238E27FC236}">
                <a16:creationId xmlns:a16="http://schemas.microsoft.com/office/drawing/2014/main" id="{67199823-AD59-4361-9D40-C8725A69E0FD}"/>
              </a:ext>
            </a:extLst>
          </p:cNvPr>
          <p:cNvSpPr>
            <a:spLocks noGrp="1"/>
          </p:cNvSpPr>
          <p:nvPr>
            <p:ph type="title"/>
          </p:nvPr>
        </p:nvSpPr>
        <p:spPr>
          <a:xfrm>
            <a:off x="768351" y="517039"/>
            <a:ext cx="8629146" cy="699046"/>
          </a:xfrm>
          <a:noFill/>
          <a:ln>
            <a:noFill/>
          </a:ln>
        </p:spPr>
        <p:txBody>
          <a:bodyPr spcFirstLastPara="1" wrap="square" lIns="0" tIns="0" rIns="0" bIns="0" anchor="ctr" anchorCtr="0">
            <a:noAutofit/>
          </a:bodyPr>
          <a:lstStyle/>
          <a:p>
            <a:pPr>
              <a:spcBef>
                <a:spcPct val="20000"/>
              </a:spcBef>
            </a:pPr>
            <a:r>
              <a:rPr lang="th-TH" altLang="en-US" b="1" dirty="0">
                <a:latin typeface="Noto Sans Thai" panose="020B0502040504020204" pitchFamily="34" charset="-34"/>
                <a:ea typeface="Tahoma" panose="020B0604030504040204" pitchFamily="34" charset="0"/>
                <a:cs typeface="Noto Sans Thai" panose="020B0502040504020204" pitchFamily="34" charset="-34"/>
              </a:rPr>
              <a:t>ยูโรโซน: </a:t>
            </a:r>
            <a:r>
              <a:rPr lang="th-TH" altLang="en-US" b="1" dirty="0">
                <a:latin typeface="Noto Sans Thai" panose="020B0502040504020204" pitchFamily="34" charset="-34"/>
                <a:cs typeface="Noto Sans Thai" panose="020B0502040504020204"/>
              </a:rPr>
              <a:t>เศรษฐกิจไตรมาส 1 ปี 2026 ขยายตัวต่ำกว่าคาด ความขัดแย้งภูมิรัฐศาสตร์จะจำกัดการฟื้นตัวในไตรมาส 2</a:t>
            </a:r>
            <a:endParaRPr lang="th-TH" b="1" dirty="0">
              <a:latin typeface="Noto Sans Thai" panose="020B0502040504020204" pitchFamily="34" charset="-34"/>
              <a:ea typeface="Tahoma" panose="020B0604030504040204" pitchFamily="34" charset="0"/>
              <a:cs typeface="Noto Sans Thai" panose="020B0502040504020204" pitchFamily="34" charset="-34"/>
            </a:endParaRPr>
          </a:p>
        </p:txBody>
      </p:sp>
      <p:sp>
        <p:nvSpPr>
          <p:cNvPr id="23" name="Text Placeholder 6">
            <a:extLst>
              <a:ext uri="{FF2B5EF4-FFF2-40B4-BE49-F238E27FC236}">
                <a16:creationId xmlns:a16="http://schemas.microsoft.com/office/drawing/2014/main" id="{32C5D083-6BCD-42B2-96C0-EDC2FBB55103}"/>
              </a:ext>
            </a:extLst>
          </p:cNvPr>
          <p:cNvSpPr txBox="1">
            <a:spLocks/>
          </p:cNvSpPr>
          <p:nvPr/>
        </p:nvSpPr>
        <p:spPr>
          <a:xfrm>
            <a:off x="736122" y="6194981"/>
            <a:ext cx="3249546"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a:solidFill>
                  <a:schemeClr val="tx1"/>
                </a:solidFill>
                <a:latin typeface="+mj-lt"/>
                <a:ea typeface="Tahoma" panose="020B0604030504040204" pitchFamily="34" charset="0"/>
                <a:cs typeface="+mn-cs"/>
              </a:rPr>
              <a:t>Sources: </a:t>
            </a:r>
            <a:r>
              <a:rPr lang="en-US" altLang="en-US" sz="900">
                <a:solidFill>
                  <a:schemeClr val="tx1"/>
                </a:solidFill>
                <a:latin typeface="+mj-lt"/>
                <a:ea typeface="Tahoma" panose="020B0604030504040204" pitchFamily="34" charset="0"/>
                <a:cs typeface="+mn-cs"/>
              </a:rPr>
              <a:t>Morgan Stanley Research, Bualuang Research</a:t>
            </a:r>
            <a:endParaRPr lang="en-US" sz="900" dirty="0">
              <a:solidFill>
                <a:schemeClr val="tx1"/>
              </a:solidFill>
              <a:latin typeface="+mj-lt"/>
              <a:ea typeface="Tahoma" panose="020B0604030504040204" pitchFamily="34" charset="0"/>
              <a:cs typeface="+mn-cs"/>
            </a:endParaRPr>
          </a:p>
        </p:txBody>
      </p:sp>
      <p:sp>
        <p:nvSpPr>
          <p:cNvPr id="16" name="Text Placeholder 4">
            <a:extLst>
              <a:ext uri="{FF2B5EF4-FFF2-40B4-BE49-F238E27FC236}">
                <a16:creationId xmlns:a16="http://schemas.microsoft.com/office/drawing/2014/main" id="{B264DEEC-6F35-40FA-8E51-0B396D61FF72}"/>
              </a:ext>
            </a:extLst>
          </p:cNvPr>
          <p:cNvSpPr txBox="1">
            <a:spLocks/>
          </p:cNvSpPr>
          <p:nvPr/>
        </p:nvSpPr>
        <p:spPr>
          <a:xfrm>
            <a:off x="512955" y="1510507"/>
            <a:ext cx="4582555" cy="662670"/>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en-US" b="1" dirty="0">
                <a:latin typeface="Noto Sans Thai" panose="020B0502040504020204" pitchFamily="34" charset="-34"/>
                <a:ea typeface="Tahoma" panose="020B0604030504040204" pitchFamily="34" charset="0"/>
                <a:cs typeface="Noto Sans Thai" panose="020B0502040504020204"/>
              </a:rPr>
              <a:t>EU PMI index : </a:t>
            </a:r>
            <a:r>
              <a:rPr lang="th-TH" altLang="en-US" b="1" dirty="0">
                <a:latin typeface="Noto Sans Thai" panose="020B0502040504020204" pitchFamily="34" charset="-34"/>
                <a:ea typeface="Tahoma" panose="020B0604030504040204" pitchFamily="34" charset="0"/>
                <a:cs typeface="Noto Sans Thai" panose="020B0502040504020204"/>
              </a:rPr>
              <a:t>เดือนเมษายน ภาคการผลิตขยายตัวในอัตราที่เร่งตัวขึ้น ขณะที่ภาคการบริการพลิกกลับเป็นหดตัว</a:t>
            </a:r>
          </a:p>
        </p:txBody>
      </p:sp>
      <p:sp>
        <p:nvSpPr>
          <p:cNvPr id="19" name="Rectangle 18">
            <a:extLst>
              <a:ext uri="{FF2B5EF4-FFF2-40B4-BE49-F238E27FC236}">
                <a16:creationId xmlns:a16="http://schemas.microsoft.com/office/drawing/2014/main" id="{E807A1FF-8E72-490C-B536-C6415C828FF9}"/>
              </a:ext>
            </a:extLst>
          </p:cNvPr>
          <p:cNvSpPr/>
          <p:nvPr/>
        </p:nvSpPr>
        <p:spPr>
          <a:xfrm>
            <a:off x="5017678" y="1213583"/>
            <a:ext cx="6915242" cy="5378395"/>
          </a:xfrm>
          <a:prstGeom prst="rect">
            <a:avLst/>
          </a:prstGeom>
        </p:spPr>
        <p:txBody>
          <a:bodyPr wrap="square">
            <a:spAutoFit/>
          </a:bodyPr>
          <a:lstStyle/>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ตัวเลขประมาณการรอบแรก เศรษฐกิจยุโรปในไตรมาส 1 ปี 2026 ขยายตัว 0.4% </a:t>
            </a:r>
            <a:r>
              <a:rPr lang="en-US" altLang="en-US" dirty="0">
                <a:solidFill>
                  <a:srgbClr val="F4F4F4">
                    <a:lumMod val="25000"/>
                  </a:srgbClr>
                </a:solidFill>
                <a:latin typeface="Noto Sans Thai" panose="020B0502040504020204" pitchFamily="34" charset="-34"/>
                <a:cs typeface="Noto Sans Thai" panose="020B0502040504020204"/>
              </a:rPr>
              <a:t>QoQ</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err="1">
                <a:solidFill>
                  <a:srgbClr val="F4F4F4">
                    <a:lumMod val="25000"/>
                  </a:srgbClr>
                </a:solidFill>
                <a:latin typeface="Noto Sans Thai" panose="020B0502040504020204" pitchFamily="34" charset="-34"/>
                <a:cs typeface="Noto Sans Thai" panose="020B0502040504020204"/>
              </a:rPr>
              <a:t>saar</a:t>
            </a:r>
            <a:r>
              <a:rPr lang="th-TH" altLang="en-US" dirty="0">
                <a:solidFill>
                  <a:srgbClr val="F4F4F4">
                    <a:lumMod val="25000"/>
                  </a:srgbClr>
                </a:solidFill>
                <a:latin typeface="Noto Sans Thai" panose="020B0502040504020204" pitchFamily="34" charset="-34"/>
                <a:cs typeface="Noto Sans Thai" panose="020B0502040504020204"/>
              </a:rPr>
              <a:t> ขยายตัวต่ำกว่าคาดและชะลอตัวจากไตรมาส 4 ปี 2025 ที่ 0.8% โดยหลักจากผลกระทบของความขัดแย้งระหว่างภูมิภาคที่รุนแรง หนุนให้ราคาพลังงานปรับตัวขึ้น ส่งผลให้อัตราเงินเฟ้อในยุโรปปรับตัวขึ้น คาดจะกดดันการลงทุนและการบริโภค นอกจากนี้ยังมีแรงกดดันมาจากภาคการบริการที่ขยายตัวชะลอตัวลงจากไตรมาสก่อน สำหรับไตรมาส 2 ปี 2026 คาดการฟื้นตัวของเศรษฐกิจจะจำกัด โดยคาดเติบโต 0.</a:t>
            </a:r>
            <a:r>
              <a:rPr lang="en-US" altLang="en-US" dirty="0">
                <a:solidFill>
                  <a:srgbClr val="F4F4F4">
                    <a:lumMod val="25000"/>
                  </a:srgbClr>
                </a:solidFill>
                <a:latin typeface="Noto Sans Thai" panose="020B0502040504020204" pitchFamily="34" charset="-34"/>
                <a:cs typeface="Noto Sans Thai" panose="020B0502040504020204"/>
              </a:rPr>
              <a:t>1%</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QoQ,</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err="1">
                <a:solidFill>
                  <a:srgbClr val="F4F4F4">
                    <a:lumMod val="25000"/>
                  </a:srgbClr>
                </a:solidFill>
                <a:latin typeface="Noto Sans Thai" panose="020B0502040504020204" pitchFamily="34" charset="-34"/>
                <a:cs typeface="Noto Sans Thai" panose="020B0502040504020204"/>
              </a:rPr>
              <a:t>saar</a:t>
            </a:r>
            <a:r>
              <a:rPr lang="th-TH" altLang="en-US" dirty="0">
                <a:solidFill>
                  <a:srgbClr val="F4F4F4">
                    <a:lumMod val="25000"/>
                  </a:srgbClr>
                </a:solidFill>
                <a:latin typeface="Noto Sans Thai" panose="020B0502040504020204" pitchFamily="34" charset="-34"/>
                <a:cs typeface="Noto Sans Thai" panose="020B0502040504020204"/>
              </a:rPr>
              <a:t>  โดยกดดันจากราคาพลังงานที่ยังคงอยู่ในระดับสูง แม้จะเริ่มเห็นสัญญาณของการหยุดยิง แต่สถานการณ์ความตึงเครียดยังคงมีอยู่ โดยรวมปี 2026 คาดเติบโต 0.</a:t>
            </a:r>
            <a:r>
              <a:rPr lang="en-US" altLang="en-US" dirty="0">
                <a:solidFill>
                  <a:srgbClr val="F4F4F4">
                    <a:lumMod val="25000"/>
                  </a:srgbClr>
                </a:solidFill>
                <a:latin typeface="Noto Sans Thai" panose="020B0502040504020204" pitchFamily="34" charset="-34"/>
                <a:cs typeface="Noto Sans Thai" panose="020B0502040504020204"/>
              </a:rPr>
              <a:t>6%</a:t>
            </a:r>
            <a:endParaRPr lang="th-TH" altLang="en-US" dirty="0">
              <a:solidFill>
                <a:srgbClr val="F4F4F4">
                  <a:lumMod val="25000"/>
                </a:srgbClr>
              </a:solidFill>
              <a:latin typeface="Noto Sans Thai" panose="020B0502040504020204" pitchFamily="34" charset="-34"/>
              <a:cs typeface="Noto Sans Thai" panose="020B0502040504020204"/>
            </a:endParaRPr>
          </a:p>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เศรษฐกิจโดยรวมในเดือนเมษายน ชะลอตัวจากเดือนก่อน โดยกดดันจากภาคการบริการที่พลิกกลับเป็นหดตัวกลบภาคการผลิตที่ขยายตัวในอัตราที่เร่งตัวขึ้น โดยดัชนีภาคบริการปรับตัวลงมาหดตัวที่ 47.4 ในเดือนเมษายน จากที่ขยายตัว 50.2 ในเดือนก่อน ขณะที่ดัชนีภาคผลิต (</a:t>
            </a:r>
            <a:r>
              <a:rPr lang="en-US" altLang="en-US" dirty="0">
                <a:solidFill>
                  <a:srgbClr val="F4F4F4">
                    <a:lumMod val="25000"/>
                  </a:srgbClr>
                </a:solidFill>
                <a:latin typeface="Noto Sans Thai" panose="020B0502040504020204" pitchFamily="34" charset="-34"/>
                <a:cs typeface="Noto Sans Thai" panose="020B0502040504020204"/>
              </a:rPr>
              <a:t>PMI)</a:t>
            </a:r>
            <a:r>
              <a:rPr lang="th-TH" altLang="en-US" dirty="0">
                <a:solidFill>
                  <a:srgbClr val="F4F4F4">
                    <a:lumMod val="25000"/>
                  </a:srgbClr>
                </a:solidFill>
                <a:latin typeface="Noto Sans Thai" panose="020B0502040504020204" pitchFamily="34" charset="-34"/>
                <a:cs typeface="Noto Sans Thai" panose="020B0502040504020204"/>
              </a:rPr>
              <a:t> เดือนเมษายน ปรับตัวขึ้นมาที่ 52.2 เทียบเดือนก่อนที่ 51.6 สำหรับแนวโน้มข้างหน้าอาจเห็นการฟื้นตัวของภาคการผลิตต่อได้ สังเกตจากดัชนีคำสั่งซื้อใหม่ที่ปรับตัวขึ้นต่อเนื่อง อย่างไรก็ตามแนวโน้มภาคบริการอาจเห็นการฟื้นตัวอย่างจำกัด หลังดัชนีคำสั่งซื้อใหม่ของภาคบริการปรับตัวลงต่อเนื่องเป็นเดือนที่ 2 ต่อกัน ประกอบกับดัชนีความเชื่อมั่นภาคบริการที่ลดลง โดยล่าสุดในเดือนเมษายน 2026 อยู่ที่   0.9 ปรับตัวลงจาก 4.1 ในเดือนมีนาคม ซึ่งต่ำสุดในรอบ 5 ปี นอกจากนี้ราคาน้ำมันปรับตัวขึ้น หากอยู่ในระดับสูงเป็นเวลานาน อาจกดดันทิศทางเงินเฟ้อและจำกัดการฟื้นตัวของการบริโภคในประเทศ</a:t>
            </a:r>
            <a:endParaRPr lang="en-US" altLang="en-US" dirty="0">
              <a:solidFill>
                <a:srgbClr val="F4F4F4">
                  <a:lumMod val="25000"/>
                </a:srgbClr>
              </a:solidFill>
              <a:latin typeface="Noto Sans Thai" panose="020B0502040504020204" pitchFamily="34" charset="-34"/>
              <a:cs typeface="Noto Sans Thai" panose="020B0502040504020204"/>
            </a:endParaRPr>
          </a:p>
          <a:p>
            <a:pPr marL="128588" indent="-128588" algn="thaiDist" defTabSz="685800">
              <a:lnSpc>
                <a:spcPct val="120000"/>
              </a:lnSpc>
              <a:spcBef>
                <a:spcPts val="300"/>
              </a:spcBef>
              <a:buFont typeface="Arial" panose="020B0604020202020204" pitchFamily="34" charset="0"/>
              <a:buChar char="•"/>
            </a:pPr>
            <a:r>
              <a:rPr lang="en-US" altLang="en-US" dirty="0">
                <a:solidFill>
                  <a:srgbClr val="F4F4F4">
                    <a:lumMod val="25000"/>
                  </a:srgbClr>
                </a:solidFill>
                <a:latin typeface="Noto Sans Thai" panose="020B0502040504020204" pitchFamily="34" charset="-34"/>
                <a:cs typeface="Noto Sans Thai" panose="020B0502040504020204"/>
              </a:rPr>
              <a:t>German Ifo business condition survey</a:t>
            </a:r>
            <a:r>
              <a:rPr lang="th-TH" altLang="en-US" dirty="0">
                <a:solidFill>
                  <a:srgbClr val="F4F4F4">
                    <a:lumMod val="25000"/>
                  </a:srgbClr>
                </a:solidFill>
                <a:latin typeface="Noto Sans Thai" panose="020B0502040504020204" pitchFamily="34" charset="-34"/>
                <a:cs typeface="Noto Sans Thai" panose="020B0502040504020204"/>
              </a:rPr>
              <a:t> ปรับตัวลงมาที่ 84.4 ในเดือนเมษายน (กรอบ 12 เดือนที่ 84-89)</a:t>
            </a:r>
          </a:p>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อัตราเงินเฟ้อทั่วไป (</a:t>
            </a:r>
            <a:r>
              <a:rPr lang="en-US" altLang="en-US" dirty="0">
                <a:solidFill>
                  <a:srgbClr val="F4F4F4">
                    <a:lumMod val="25000"/>
                  </a:srgbClr>
                </a:solidFill>
                <a:latin typeface="Noto Sans Thai" panose="020B0502040504020204" pitchFamily="34" charset="-34"/>
                <a:cs typeface="Noto Sans Thai" panose="020B0502040504020204"/>
              </a:rPr>
              <a:t>Headline</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CPI)</a:t>
            </a:r>
            <a:r>
              <a:rPr lang="th-TH" altLang="en-US" dirty="0">
                <a:solidFill>
                  <a:srgbClr val="F4F4F4">
                    <a:lumMod val="25000"/>
                  </a:srgbClr>
                </a:solidFill>
                <a:latin typeface="Noto Sans Thai" panose="020B0502040504020204" pitchFamily="34" charset="-34"/>
                <a:cs typeface="Noto Sans Thai" panose="020B0502040504020204"/>
              </a:rPr>
              <a:t> ในเดือนเมษายน ปรับตัวขึ้นมาที่ 3.</a:t>
            </a:r>
            <a:r>
              <a:rPr lang="en-US" altLang="en-US" dirty="0">
                <a:solidFill>
                  <a:srgbClr val="F4F4F4">
                    <a:lumMod val="25000"/>
                  </a:srgbClr>
                </a:solidFill>
                <a:latin typeface="Noto Sans Thai" panose="020B0502040504020204" pitchFamily="34" charset="-34"/>
                <a:cs typeface="Noto Sans Thai" panose="020B0502040504020204"/>
              </a:rPr>
              <a:t>0%</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YoY</a:t>
            </a:r>
            <a:r>
              <a:rPr lang="th-TH" altLang="en-US" dirty="0">
                <a:solidFill>
                  <a:srgbClr val="F4F4F4">
                    <a:lumMod val="25000"/>
                  </a:srgbClr>
                </a:solidFill>
                <a:latin typeface="Noto Sans Thai" panose="020B0502040504020204" pitchFamily="34" charset="-34"/>
                <a:cs typeface="Noto Sans Thai" panose="020B0502040504020204"/>
              </a:rPr>
              <a:t> จากเดือนก่อนหน้าที่ 2.</a:t>
            </a:r>
            <a:r>
              <a:rPr lang="en-US" altLang="en-US" dirty="0">
                <a:solidFill>
                  <a:srgbClr val="F4F4F4">
                    <a:lumMod val="25000"/>
                  </a:srgbClr>
                </a:solidFill>
                <a:latin typeface="Noto Sans Thai" panose="020B0502040504020204" pitchFamily="34" charset="-34"/>
                <a:cs typeface="Noto Sans Thai" panose="020B0502040504020204"/>
              </a:rPr>
              <a:t>6%</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YoY</a:t>
            </a:r>
            <a:r>
              <a:rPr lang="th-TH" altLang="en-US" dirty="0">
                <a:solidFill>
                  <a:srgbClr val="F4F4F4">
                    <a:lumMod val="25000"/>
                  </a:srgbClr>
                </a:solidFill>
                <a:latin typeface="Noto Sans Thai" panose="020B0502040504020204" pitchFamily="34" charset="-34"/>
                <a:cs typeface="Noto Sans Thai" panose="020B0502040504020204"/>
              </a:rPr>
              <a:t> โดยหลักมาจากราคาในหมวดหมู่พลังงานที่ปรับตัวขึ้นแรง หลังสงครามในตะวันออกกลางรุนแรงและกระทบห่วงโซ่อุปทาน ขณะที่อัตราเงินเฟ้อพื้นฐาน (</a:t>
            </a:r>
            <a:r>
              <a:rPr lang="en-US" altLang="en-US" dirty="0">
                <a:solidFill>
                  <a:srgbClr val="F4F4F4">
                    <a:lumMod val="25000"/>
                  </a:srgbClr>
                </a:solidFill>
                <a:latin typeface="Noto Sans Thai" panose="020B0502040504020204" pitchFamily="34" charset="-34"/>
                <a:cs typeface="Noto Sans Thai" panose="020B0502040504020204"/>
              </a:rPr>
              <a:t>Core CPI)</a:t>
            </a:r>
            <a:r>
              <a:rPr lang="th-TH" altLang="en-US" dirty="0">
                <a:solidFill>
                  <a:srgbClr val="F4F4F4">
                    <a:lumMod val="25000"/>
                  </a:srgbClr>
                </a:solidFill>
                <a:latin typeface="Noto Sans Thai" panose="020B0502040504020204" pitchFamily="34" charset="-34"/>
                <a:cs typeface="Noto Sans Thai" panose="020B0502040504020204"/>
              </a:rPr>
              <a:t> ที่ไม่รวมราคาอาหารและพลังงานปรับตัวลงมาที่ 2.</a:t>
            </a:r>
            <a:r>
              <a:rPr lang="en-US" altLang="en-US" dirty="0">
                <a:solidFill>
                  <a:srgbClr val="F4F4F4">
                    <a:lumMod val="25000"/>
                  </a:srgbClr>
                </a:solidFill>
                <a:latin typeface="Noto Sans Thai" panose="020B0502040504020204" pitchFamily="34" charset="-34"/>
                <a:cs typeface="Noto Sans Thai" panose="020B0502040504020204"/>
              </a:rPr>
              <a:t>2%</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YoY</a:t>
            </a:r>
            <a:r>
              <a:rPr lang="th-TH" altLang="en-US" dirty="0">
                <a:solidFill>
                  <a:srgbClr val="F4F4F4">
                    <a:lumMod val="25000"/>
                  </a:srgbClr>
                </a:solidFill>
                <a:latin typeface="Noto Sans Thai" panose="020B0502040504020204" pitchFamily="34" charset="-34"/>
                <a:cs typeface="Noto Sans Thai" panose="020B0502040504020204"/>
              </a:rPr>
              <a:t> ในเดือนเมษายน (เทียบ 2.3</a:t>
            </a:r>
            <a:r>
              <a:rPr lang="en-US" altLang="en-US" dirty="0">
                <a:solidFill>
                  <a:srgbClr val="F4F4F4">
                    <a:lumMod val="25000"/>
                  </a:srgbClr>
                </a:solidFill>
                <a:latin typeface="Noto Sans Thai" panose="020B0502040504020204" pitchFamily="34" charset="-34"/>
                <a:cs typeface="Noto Sans Thai" panose="020B0502040504020204"/>
              </a:rPr>
              <a:t>%</a:t>
            </a:r>
            <a:r>
              <a:rPr lang="th-TH" altLang="en-US" dirty="0">
                <a:solidFill>
                  <a:srgbClr val="F4F4F4">
                    <a:lumMod val="25000"/>
                  </a:srgbClr>
                </a:solidFill>
                <a:latin typeface="Noto Sans Thai" panose="020B0502040504020204" pitchFamily="34" charset="-34"/>
                <a:cs typeface="Noto Sans Thai" panose="020B0502040504020204"/>
              </a:rPr>
              <a:t> ในเดือนก่อน) อย่างไรก็ตามจากราคาพลังงานที่ยืนในระดับสูงในปัจจุบันด้วยผลกระทบจากสงคราม มีแนวโน้มที่จะหนุนให้อัตราเงินเฟ้อทรงตัวในดับสูงในระยะสั้น ซึ่งหากสถานการณ์คลี่คลายและราคาพลังงานและอัตราเงินเฟ้อปรับตัวลงมาอยู่ในกรอบเป้าหมายของ </a:t>
            </a:r>
            <a:r>
              <a:rPr lang="en-US" altLang="en-US" dirty="0">
                <a:solidFill>
                  <a:srgbClr val="F4F4F4">
                    <a:lumMod val="25000"/>
                  </a:srgbClr>
                </a:solidFill>
                <a:latin typeface="Noto Sans Thai" panose="020B0502040504020204" pitchFamily="34" charset="-34"/>
                <a:cs typeface="Noto Sans Thai" panose="020B0502040504020204"/>
              </a:rPr>
              <a:t>ECB</a:t>
            </a:r>
            <a:r>
              <a:rPr lang="th-TH" altLang="en-US" dirty="0">
                <a:solidFill>
                  <a:srgbClr val="F4F4F4">
                    <a:lumMod val="25000"/>
                  </a:srgbClr>
                </a:solidFill>
                <a:latin typeface="Noto Sans Thai" panose="020B0502040504020204" pitchFamily="34" charset="-34"/>
                <a:cs typeface="Noto Sans Thai" panose="020B0502040504020204"/>
              </a:rPr>
              <a:t> ความเสี่ยงที่จะเห็นการปรับขึ้นอัตราดอกเบี้ยอาจมีจำกัด โดยล่าสุดคาดอัตราดอกเบี้ยเงินฝากคงอยู่ที่ 2.00% ณ สิ้นปี 2026 ส่วนอัตราดอกเบี้ยรีไฟแนนซ์คงไว้ที่ 2.</a:t>
            </a:r>
            <a:r>
              <a:rPr lang="en-US" altLang="en-US" dirty="0">
                <a:solidFill>
                  <a:srgbClr val="F4F4F4">
                    <a:lumMod val="25000"/>
                  </a:srgbClr>
                </a:solidFill>
                <a:latin typeface="Noto Sans Thai" panose="020B0502040504020204" pitchFamily="34" charset="-34"/>
                <a:cs typeface="Noto Sans Thai" panose="020B0502040504020204"/>
              </a:rPr>
              <a:t>15%</a:t>
            </a:r>
            <a:endParaRPr lang="th-TH" altLang="en-US" dirty="0">
              <a:solidFill>
                <a:srgbClr val="F4F4F4">
                  <a:lumMod val="25000"/>
                </a:srgbClr>
              </a:solidFill>
              <a:latin typeface="Noto Sans Thai" panose="020B0502040504020204" pitchFamily="34" charset="-34"/>
              <a:cs typeface="Noto Sans Thai" panose="020B0502040504020204"/>
            </a:endParaRPr>
          </a:p>
        </p:txBody>
      </p:sp>
      <p:sp>
        <p:nvSpPr>
          <p:cNvPr id="24" name="Text Placeholder 4">
            <a:extLst>
              <a:ext uri="{FF2B5EF4-FFF2-40B4-BE49-F238E27FC236}">
                <a16:creationId xmlns:a16="http://schemas.microsoft.com/office/drawing/2014/main" id="{7938A205-3FFF-4693-AF26-3E53E185B51C}"/>
              </a:ext>
            </a:extLst>
          </p:cNvPr>
          <p:cNvSpPr txBox="1">
            <a:spLocks/>
          </p:cNvSpPr>
          <p:nvPr/>
        </p:nvSpPr>
        <p:spPr>
          <a:xfrm>
            <a:off x="768347" y="3999426"/>
            <a:ext cx="4327164" cy="296238"/>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th-TH" altLang="en-US" b="1" dirty="0">
                <a:latin typeface="Noto Sans Thai" panose="020B0502040504020204" pitchFamily="34" charset="-34"/>
                <a:ea typeface="Tahoma" panose="020B0604030504040204" pitchFamily="34" charset="0"/>
                <a:cs typeface="Noto Sans Thai" panose="020B0502040504020204"/>
              </a:rPr>
              <a:t>ประมาณการ</a:t>
            </a:r>
            <a:r>
              <a:rPr lang="en-US" altLang="en-US" b="1" dirty="0">
                <a:latin typeface="Noto Sans Thai" panose="020B0502040504020204" pitchFamily="34" charset="-34"/>
                <a:ea typeface="Tahoma" panose="020B0604030504040204" pitchFamily="34" charset="0"/>
                <a:cs typeface="Noto Sans Thai" panose="020B0502040504020204"/>
              </a:rPr>
              <a:t> GDP QoQ, </a:t>
            </a:r>
            <a:r>
              <a:rPr lang="en-US" altLang="en-US" b="1" dirty="0" err="1">
                <a:latin typeface="Noto Sans Thai" panose="020B0502040504020204" pitchFamily="34" charset="-34"/>
                <a:ea typeface="Tahoma" panose="020B0604030504040204" pitchFamily="34" charset="0"/>
                <a:cs typeface="Noto Sans Thai" panose="020B0502040504020204"/>
              </a:rPr>
              <a:t>saar</a:t>
            </a:r>
            <a:r>
              <a:rPr lang="th-TH" altLang="en-US" b="1" dirty="0">
                <a:latin typeface="Noto Sans Thai" panose="020B0502040504020204" pitchFamily="34" charset="-34"/>
                <a:ea typeface="Tahoma" panose="020B0604030504040204" pitchFamily="34" charset="0"/>
                <a:cs typeface="Noto Sans Thai" panose="020B0502040504020204"/>
              </a:rPr>
              <a:t> รายไตรมาส</a:t>
            </a:r>
          </a:p>
        </p:txBody>
      </p:sp>
      <p:graphicFrame>
        <p:nvGraphicFramePr>
          <p:cNvPr id="4" name="Object 3">
            <a:extLst>
              <a:ext uri="{FF2B5EF4-FFF2-40B4-BE49-F238E27FC236}">
                <a16:creationId xmlns:a16="http://schemas.microsoft.com/office/drawing/2014/main" id="{2AA52DF1-CABC-DEB7-23A3-2A29FD64C630}"/>
              </a:ext>
            </a:extLst>
          </p:cNvPr>
          <p:cNvGraphicFramePr>
            <a:graphicFrameLocks noChangeAspect="1"/>
          </p:cNvGraphicFramePr>
          <p:nvPr>
            <p:extLst>
              <p:ext uri="{D42A27DB-BD31-4B8C-83A1-F6EECF244321}">
                <p14:modId xmlns:p14="http://schemas.microsoft.com/office/powerpoint/2010/main" val="1865581608"/>
              </p:ext>
            </p:extLst>
          </p:nvPr>
        </p:nvGraphicFramePr>
        <p:xfrm>
          <a:off x="654050" y="4330700"/>
          <a:ext cx="3124200" cy="1657350"/>
        </p:xfrm>
        <a:graphic>
          <a:graphicData uri="http://schemas.openxmlformats.org/presentationml/2006/ole">
            <mc:AlternateContent xmlns:mc="http://schemas.openxmlformats.org/markup-compatibility/2006">
              <mc:Choice xmlns:v="urn:schemas-microsoft-com:vml" Requires="v">
                <p:oleObj name="Worksheet" r:id="rId2" imgW="3124277" imgH="1657248" progId="Excel.Sheet.12">
                  <p:link updateAutomatic="1"/>
                </p:oleObj>
              </mc:Choice>
              <mc:Fallback>
                <p:oleObj name="Worksheet" r:id="rId2" imgW="3124277" imgH="1657248" progId="Excel.Sheet.12">
                  <p:link updateAutomatic="1"/>
                  <p:pic>
                    <p:nvPicPr>
                      <p:cNvPr id="0" name=""/>
                      <p:cNvPicPr/>
                      <p:nvPr/>
                    </p:nvPicPr>
                    <p:blipFill>
                      <a:blip r:embed="rId3"/>
                      <a:stretch>
                        <a:fillRect/>
                      </a:stretch>
                    </p:blipFill>
                    <p:spPr>
                      <a:xfrm>
                        <a:off x="654050" y="4330700"/>
                        <a:ext cx="3124200" cy="1657350"/>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C6347D87-0083-00BE-8114-7B49CBAA22B8}"/>
              </a:ext>
            </a:extLst>
          </p:cNvPr>
          <p:cNvGraphicFramePr>
            <a:graphicFrameLocks noChangeAspect="1"/>
          </p:cNvGraphicFramePr>
          <p:nvPr>
            <p:extLst>
              <p:ext uri="{D42A27DB-BD31-4B8C-83A1-F6EECF244321}">
                <p14:modId xmlns:p14="http://schemas.microsoft.com/office/powerpoint/2010/main" val="3026608364"/>
              </p:ext>
            </p:extLst>
          </p:nvPr>
        </p:nvGraphicFramePr>
        <p:xfrm>
          <a:off x="512955" y="2149958"/>
          <a:ext cx="4470950" cy="1541413"/>
        </p:xfrm>
        <a:graphic>
          <a:graphicData uri="http://schemas.openxmlformats.org/presentationml/2006/ole">
            <mc:AlternateContent xmlns:mc="http://schemas.openxmlformats.org/markup-compatibility/2006">
              <mc:Choice xmlns:v="urn:schemas-microsoft-com:vml" Requires="v">
                <p:oleObj name="Worksheet" r:id="rId4" imgW="5000558" imgH="1723991" progId="Excel.Sheet.12">
                  <p:link updateAutomatic="1"/>
                </p:oleObj>
              </mc:Choice>
              <mc:Fallback>
                <p:oleObj name="Worksheet" r:id="rId4" imgW="5000558" imgH="1723991" progId="Excel.Sheet.12">
                  <p:link updateAutomatic="1"/>
                  <p:pic>
                    <p:nvPicPr>
                      <p:cNvPr id="0" name=""/>
                      <p:cNvPicPr/>
                      <p:nvPr/>
                    </p:nvPicPr>
                    <p:blipFill>
                      <a:blip r:embed="rId5"/>
                      <a:stretch>
                        <a:fillRect/>
                      </a:stretch>
                    </p:blipFill>
                    <p:spPr>
                      <a:xfrm>
                        <a:off x="512955" y="2149958"/>
                        <a:ext cx="4470950" cy="1541413"/>
                      </a:xfrm>
                      <a:prstGeom prst="rect">
                        <a:avLst/>
                      </a:prstGeom>
                    </p:spPr>
                  </p:pic>
                </p:oleObj>
              </mc:Fallback>
            </mc:AlternateContent>
          </a:graphicData>
        </a:graphic>
      </p:graphicFrame>
    </p:spTree>
    <p:extLst>
      <p:ext uri="{BB962C8B-B14F-4D97-AF65-F5344CB8AC3E}">
        <p14:creationId xmlns:p14="http://schemas.microsoft.com/office/powerpoint/2010/main" val="352651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6176EC0-6200-4BE8-ADE3-D764346BA7CF}"/>
              </a:ext>
            </a:extLst>
          </p:cNvPr>
          <p:cNvSpPr txBox="1">
            <a:spLocks noChangeArrowheads="1"/>
          </p:cNvSpPr>
          <p:nvPr/>
        </p:nvSpPr>
        <p:spPr bwMode="auto">
          <a:xfrm>
            <a:off x="12207089" y="6013958"/>
            <a:ext cx="864096"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r>
              <a:rPr lang="en-US" altLang="en-US" sz="700" dirty="0">
                <a:solidFill>
                  <a:srgbClr val="4F81BD"/>
                </a:solidFill>
              </a:rPr>
              <a:t>Econ\Econ20</a:t>
            </a:r>
          </a:p>
          <a:p>
            <a:pPr eaLnBrk="1" hangingPunct="1">
              <a:spcBef>
                <a:spcPct val="0"/>
              </a:spcBef>
              <a:buFontTx/>
              <a:buNone/>
            </a:pPr>
            <a:r>
              <a:rPr lang="en-US" altLang="en-US" sz="700" dirty="0">
                <a:solidFill>
                  <a:srgbClr val="4F81BD"/>
                </a:solidFill>
              </a:rPr>
              <a:t>Region</a:t>
            </a:r>
          </a:p>
          <a:p>
            <a:pPr eaLnBrk="1" hangingPunct="1">
              <a:spcBef>
                <a:spcPct val="0"/>
              </a:spcBef>
              <a:buFontTx/>
              <a:buNone/>
            </a:pPr>
            <a:endParaRPr lang="en-US" altLang="en-US" sz="700" dirty="0">
              <a:solidFill>
                <a:srgbClr val="4F81BD"/>
              </a:solidFill>
            </a:endParaRPr>
          </a:p>
          <a:p>
            <a:pPr eaLnBrk="1" hangingPunct="1">
              <a:spcBef>
                <a:spcPct val="0"/>
              </a:spcBef>
              <a:buFontTx/>
              <a:buNone/>
            </a:pPr>
            <a:r>
              <a:rPr lang="en-US" altLang="en-US" sz="700" dirty="0">
                <a:solidFill>
                  <a:srgbClr val="4F81BD"/>
                </a:solidFill>
              </a:rPr>
              <a:t>Econ\Morgan Stanley Forecast</a:t>
            </a:r>
          </a:p>
          <a:p>
            <a:pPr eaLnBrk="1" hangingPunct="1">
              <a:spcBef>
                <a:spcPct val="0"/>
              </a:spcBef>
              <a:buFontTx/>
              <a:buNone/>
            </a:pPr>
            <a:r>
              <a:rPr lang="en-US" altLang="en-US" sz="700" dirty="0">
                <a:solidFill>
                  <a:srgbClr val="4F81BD"/>
                </a:solidFill>
              </a:rPr>
              <a:t>Global GDP</a:t>
            </a:r>
          </a:p>
          <a:p>
            <a:pPr eaLnBrk="1" hangingPunct="1">
              <a:spcBef>
                <a:spcPct val="0"/>
              </a:spcBef>
              <a:buFontTx/>
              <a:buNone/>
            </a:pPr>
            <a:endParaRPr lang="en-US" altLang="en-US" sz="700" dirty="0">
              <a:solidFill>
                <a:srgbClr val="4F81BD"/>
              </a:solidFill>
            </a:endParaRPr>
          </a:p>
        </p:txBody>
      </p:sp>
      <p:sp>
        <p:nvSpPr>
          <p:cNvPr id="17" name="Title 44">
            <a:extLst>
              <a:ext uri="{FF2B5EF4-FFF2-40B4-BE49-F238E27FC236}">
                <a16:creationId xmlns:a16="http://schemas.microsoft.com/office/drawing/2014/main" id="{B5A1BDA0-E910-4506-91C0-862F38347645}"/>
              </a:ext>
            </a:extLst>
          </p:cNvPr>
          <p:cNvSpPr>
            <a:spLocks noGrp="1"/>
          </p:cNvSpPr>
          <p:nvPr>
            <p:ph type="title"/>
          </p:nvPr>
        </p:nvSpPr>
        <p:spPr>
          <a:xfrm>
            <a:off x="528459" y="487717"/>
            <a:ext cx="8332737" cy="597441"/>
          </a:xfrm>
          <a:noFill/>
          <a:ln>
            <a:noFill/>
          </a:ln>
        </p:spPr>
        <p:txBody>
          <a:bodyPr spcFirstLastPara="1" wrap="square" lIns="0" tIns="0" rIns="0" bIns="0" anchor="ctr" anchorCtr="0">
            <a:noAutofit/>
          </a:bodyPr>
          <a:lstStyle/>
          <a:p>
            <a:pPr>
              <a:spcBef>
                <a:spcPct val="20000"/>
              </a:spcBef>
            </a:pPr>
            <a:r>
              <a:rPr lang="th-TH" altLang="en-US" b="1" dirty="0">
                <a:latin typeface="Noto Sans Thai" panose="020B0502040504020204" pitchFamily="34" charset="-34"/>
                <a:ea typeface="Tahoma" panose="020B0604030504040204" pitchFamily="34" charset="0"/>
                <a:cs typeface="Noto Sans Thai" panose="020B0502040504020204" pitchFamily="34" charset="-34"/>
              </a:rPr>
              <a:t>จีน</a:t>
            </a:r>
            <a:r>
              <a:rPr lang="en-US" altLang="en-US" b="1" dirty="0">
                <a:latin typeface="Noto Sans Thai" panose="020B0502040504020204" pitchFamily="34" charset="-34"/>
                <a:ea typeface="Tahoma" panose="020B0604030504040204" pitchFamily="34" charset="0"/>
                <a:cs typeface="Noto Sans Thai" panose="020B0502040504020204" pitchFamily="34" charset="-34"/>
              </a:rPr>
              <a:t>:</a:t>
            </a:r>
            <a:r>
              <a:rPr lang="th-TH" altLang="en-US" b="1" dirty="0">
                <a:latin typeface="Noto Sans Thai" panose="020B0502040504020204" pitchFamily="34" charset="-34"/>
                <a:ea typeface="Tahoma" panose="020B0604030504040204" pitchFamily="34" charset="0"/>
                <a:cs typeface="Noto Sans Thai" panose="020B0502040504020204" pitchFamily="34" charset="-34"/>
              </a:rPr>
              <a:t> </a:t>
            </a:r>
            <a:r>
              <a:rPr lang="th-TH" altLang="en-US" b="1" dirty="0">
                <a:latin typeface="Noto Sans Thai" panose="020B0502040504020204" pitchFamily="34" charset="-34"/>
                <a:cs typeface="Noto Sans Thai" panose="020B0502040504020204"/>
              </a:rPr>
              <a:t>เศรษฐกิจไตรมาส 1 ปี 2026 ฟื้นตัวตามคาด อาจเห็นการขยายตัวในอัตราที่ชะลอตัวในไตรมาส 2</a:t>
            </a:r>
            <a:endParaRPr lang="th-TH" altLang="en-US" b="1" dirty="0">
              <a:latin typeface="Noto Sans Thai" panose="020B0502040504020204" pitchFamily="34" charset="-34"/>
              <a:ea typeface="Tahoma" panose="020B0604030504040204" pitchFamily="34" charset="0"/>
              <a:cs typeface="Noto Sans Thai" panose="020B0502040504020204" pitchFamily="34" charset="-34"/>
            </a:endParaRPr>
          </a:p>
        </p:txBody>
      </p:sp>
      <p:sp>
        <p:nvSpPr>
          <p:cNvPr id="13" name="Text Placeholder 6">
            <a:extLst>
              <a:ext uri="{FF2B5EF4-FFF2-40B4-BE49-F238E27FC236}">
                <a16:creationId xmlns:a16="http://schemas.microsoft.com/office/drawing/2014/main" id="{0A57CEEB-2D35-4050-93DA-17AB699926E6}"/>
              </a:ext>
            </a:extLst>
          </p:cNvPr>
          <p:cNvSpPr txBox="1">
            <a:spLocks/>
          </p:cNvSpPr>
          <p:nvPr/>
        </p:nvSpPr>
        <p:spPr>
          <a:xfrm>
            <a:off x="757062" y="6194981"/>
            <a:ext cx="3249546"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a:solidFill>
                  <a:schemeClr val="tx1"/>
                </a:solidFill>
                <a:latin typeface="+mj-lt"/>
                <a:ea typeface="Tahoma" panose="020B0604030504040204" pitchFamily="34" charset="0"/>
                <a:cs typeface="Tahoma" panose="020B0604030504040204" pitchFamily="34" charset="0"/>
              </a:rPr>
              <a:t>Sources: </a:t>
            </a:r>
            <a:r>
              <a:rPr lang="en-US" altLang="en-US" sz="900">
                <a:solidFill>
                  <a:schemeClr val="tx1"/>
                </a:solidFill>
                <a:latin typeface="+mj-lt"/>
                <a:ea typeface="Tahoma" panose="020B0604030504040204" pitchFamily="34" charset="0"/>
                <a:cs typeface="Tahoma" panose="020B0604030504040204" pitchFamily="34" charset="0"/>
              </a:rPr>
              <a:t>Morgan Stanley Research, Bualuang Research</a:t>
            </a:r>
            <a:endParaRPr lang="en-US" sz="900" dirty="0">
              <a:solidFill>
                <a:schemeClr val="tx1"/>
              </a:solidFill>
              <a:latin typeface="+mj-lt"/>
              <a:ea typeface="Tahoma" panose="020B0604030504040204" pitchFamily="34" charset="0"/>
              <a:cs typeface="Tahoma" panose="020B0604030504040204" pitchFamily="34" charset="0"/>
            </a:endParaRPr>
          </a:p>
        </p:txBody>
      </p:sp>
      <p:sp>
        <p:nvSpPr>
          <p:cNvPr id="16" name="Text Placeholder 4">
            <a:extLst>
              <a:ext uri="{FF2B5EF4-FFF2-40B4-BE49-F238E27FC236}">
                <a16:creationId xmlns:a16="http://schemas.microsoft.com/office/drawing/2014/main" id="{B9A3959D-547B-491C-AD72-ED572781F4B6}"/>
              </a:ext>
            </a:extLst>
          </p:cNvPr>
          <p:cNvSpPr txBox="1">
            <a:spLocks/>
          </p:cNvSpPr>
          <p:nvPr/>
        </p:nvSpPr>
        <p:spPr>
          <a:xfrm>
            <a:off x="528461" y="1158998"/>
            <a:ext cx="4251770" cy="670117"/>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en-US" b="1" dirty="0">
                <a:latin typeface="Noto Sans Thai" panose="020B0502040504020204" pitchFamily="34" charset="-34"/>
                <a:cs typeface="Noto Sans Thai" panose="020B0502040504020204"/>
              </a:rPr>
              <a:t>China PMI Index –</a:t>
            </a:r>
            <a:r>
              <a:rPr lang="th-TH" altLang="en-US" b="1" dirty="0">
                <a:latin typeface="Noto Sans Thai" panose="020B0502040504020204" pitchFamily="34" charset="-34"/>
                <a:cs typeface="Noto Sans Thai" panose="020B0502040504020204"/>
              </a:rPr>
              <a:t> ภาคการผลิต </a:t>
            </a:r>
            <a:r>
              <a:rPr lang="en-US" altLang="en-US" b="1" dirty="0" err="1">
                <a:latin typeface="Noto Sans Thai" panose="020B0502040504020204" pitchFamily="34" charset="-34"/>
                <a:cs typeface="Noto Sans Thai" panose="020B0502040504020204"/>
              </a:rPr>
              <a:t>RatingDog</a:t>
            </a:r>
            <a:r>
              <a:rPr lang="en-US" altLang="en-US" b="1" dirty="0">
                <a:latin typeface="Noto Sans Thai" panose="020B0502040504020204" pitchFamily="34" charset="-34"/>
                <a:cs typeface="Noto Sans Thai" panose="020B0502040504020204"/>
              </a:rPr>
              <a:t> PMI </a:t>
            </a:r>
            <a:r>
              <a:rPr lang="th-TH" altLang="en-US" b="1" dirty="0">
                <a:latin typeface="Noto Sans Thai" panose="020B0502040504020204" pitchFamily="34" charset="-34"/>
                <a:cs typeface="Noto Sans Thai" panose="020B0502040504020204"/>
              </a:rPr>
              <a:t>ขยายตัวในอัตราที่เร่งงตัวขึ้นในเดือนเมษายน</a:t>
            </a:r>
          </a:p>
        </p:txBody>
      </p:sp>
      <p:sp>
        <p:nvSpPr>
          <p:cNvPr id="18" name="Rectangle 17">
            <a:extLst>
              <a:ext uri="{FF2B5EF4-FFF2-40B4-BE49-F238E27FC236}">
                <a16:creationId xmlns:a16="http://schemas.microsoft.com/office/drawing/2014/main" id="{0217E2DC-98B2-45E3-A340-E9068EB1DDAC}"/>
              </a:ext>
            </a:extLst>
          </p:cNvPr>
          <p:cNvSpPr/>
          <p:nvPr/>
        </p:nvSpPr>
        <p:spPr>
          <a:xfrm>
            <a:off x="4950702" y="1842465"/>
            <a:ext cx="6691335" cy="4344266"/>
          </a:xfrm>
          <a:prstGeom prst="rect">
            <a:avLst/>
          </a:prstGeom>
        </p:spPr>
        <p:txBody>
          <a:bodyPr wrap="square">
            <a:spAutoFit/>
          </a:bodyPr>
          <a:lstStyle/>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เศรษฐกิจจีนในไตรมาส 1 ปี 2026 เติบโต 5.0% </a:t>
            </a:r>
            <a:r>
              <a:rPr lang="en-US" altLang="en-US" dirty="0">
                <a:solidFill>
                  <a:srgbClr val="F4F4F4">
                    <a:lumMod val="25000"/>
                  </a:srgbClr>
                </a:solidFill>
                <a:latin typeface="Noto Sans Thai" panose="020B0502040504020204" pitchFamily="34" charset="-34"/>
                <a:cs typeface="Noto Sans Thai" panose="020B0502040504020204"/>
              </a:rPr>
              <a:t>YoY</a:t>
            </a:r>
            <a:r>
              <a:rPr lang="th-TH" altLang="en-US" dirty="0">
                <a:solidFill>
                  <a:srgbClr val="F4F4F4">
                    <a:lumMod val="25000"/>
                  </a:srgbClr>
                </a:solidFill>
                <a:latin typeface="Noto Sans Thai" panose="020B0502040504020204" pitchFamily="34" charset="-34"/>
                <a:cs typeface="Noto Sans Thai" panose="020B0502040504020204"/>
              </a:rPr>
              <a:t> เร่งตัวจากไตรมาสก่อนที่ 4.5</a:t>
            </a:r>
            <a:r>
              <a:rPr lang="en-US" altLang="en-US" dirty="0">
                <a:solidFill>
                  <a:srgbClr val="F4F4F4">
                    <a:lumMod val="25000"/>
                  </a:srgbClr>
                </a:solidFill>
                <a:latin typeface="Noto Sans Thai" panose="020B0502040504020204" pitchFamily="34" charset="-34"/>
                <a:cs typeface="Noto Sans Thai" panose="020B0502040504020204"/>
              </a:rPr>
              <a:t>%</a:t>
            </a:r>
            <a:r>
              <a:rPr lang="th-TH" altLang="en-US" dirty="0">
                <a:solidFill>
                  <a:srgbClr val="F4F4F4">
                    <a:lumMod val="25000"/>
                  </a:srgbClr>
                </a:solidFill>
                <a:latin typeface="Noto Sans Thai" panose="020B0502040504020204" pitchFamily="34" charset="-34"/>
                <a:cs typeface="Noto Sans Thai" panose="020B0502040504020204"/>
              </a:rPr>
              <a:t> ซึ่งเป็นไปตามที่ตลาด โดยหลักการเติบโตของการส่งออกที่เร่งตัวและการฟื้นตัวของอุปสงค์ในประเทศ สังเกตจากยอดค้าปลีกที่ขยายตัวเฉลี่ย 2.</a:t>
            </a:r>
            <a:r>
              <a:rPr lang="en-US" altLang="en-US" dirty="0">
                <a:solidFill>
                  <a:srgbClr val="F4F4F4">
                    <a:lumMod val="25000"/>
                  </a:srgbClr>
                </a:solidFill>
                <a:latin typeface="Noto Sans Thai" panose="020B0502040504020204" pitchFamily="34" charset="-34"/>
                <a:cs typeface="Noto Sans Thai" panose="020B0502040504020204"/>
              </a:rPr>
              <a:t>3%</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YoY</a:t>
            </a:r>
            <a:r>
              <a:rPr lang="th-TH" altLang="en-US" dirty="0">
                <a:solidFill>
                  <a:srgbClr val="F4F4F4">
                    <a:lumMod val="25000"/>
                  </a:srgbClr>
                </a:solidFill>
                <a:latin typeface="Noto Sans Thai" panose="020B0502040504020204" pitchFamily="34" charset="-34"/>
                <a:cs typeface="Noto Sans Thai" panose="020B0502040504020204"/>
              </a:rPr>
              <a:t> ในไตรมาส 1 ปี 2026 เทียบกับเฉลี่ย 2.</a:t>
            </a:r>
            <a:r>
              <a:rPr lang="en-US" altLang="en-US" dirty="0">
                <a:solidFill>
                  <a:srgbClr val="F4F4F4">
                    <a:lumMod val="25000"/>
                  </a:srgbClr>
                </a:solidFill>
                <a:latin typeface="Noto Sans Thai" panose="020B0502040504020204" pitchFamily="34" charset="-34"/>
                <a:cs typeface="Noto Sans Thai" panose="020B0502040504020204"/>
              </a:rPr>
              <a:t>3%</a:t>
            </a:r>
            <a:r>
              <a:rPr lang="th-TH" altLang="en-US" dirty="0">
                <a:solidFill>
                  <a:srgbClr val="F4F4F4">
                    <a:lumMod val="25000"/>
                  </a:srgbClr>
                </a:solidFill>
                <a:latin typeface="Noto Sans Thai" panose="020B0502040504020204" pitchFamily="34" charset="-34"/>
                <a:cs typeface="Noto Sans Thai" panose="020B0502040504020204"/>
              </a:rPr>
              <a:t> ในไตรมาส 4 ปี 2025</a:t>
            </a:r>
          </a:p>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เศรษฐกิจจีนในไตรมาส</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2 ปี 2026</a:t>
            </a:r>
            <a:r>
              <a:rPr lang="en-US" altLang="en-US" dirty="0">
                <a:solidFill>
                  <a:srgbClr val="F4F4F4">
                    <a:lumMod val="25000"/>
                  </a:srgbClr>
                </a:solidFill>
                <a:latin typeface="Noto Sans Thai" panose="020B0502040504020204" pitchFamily="34" charset="-34"/>
                <a:cs typeface="Noto Sans Thai" panose="020B0502040504020204"/>
              </a:rPr>
              <a:t> </a:t>
            </a:r>
            <a:r>
              <a:rPr lang="th-TH" altLang="en-US" dirty="0">
                <a:solidFill>
                  <a:srgbClr val="F4F4F4">
                    <a:lumMod val="25000"/>
                  </a:srgbClr>
                </a:solidFill>
                <a:latin typeface="Noto Sans Thai" panose="020B0502040504020204" pitchFamily="34" charset="-34"/>
                <a:cs typeface="Noto Sans Thai" panose="020B0502040504020204"/>
              </a:rPr>
              <a:t>คาดชะลอตัวมาที่ 4.</a:t>
            </a:r>
            <a:r>
              <a:rPr lang="en-US" altLang="en-US" dirty="0">
                <a:solidFill>
                  <a:srgbClr val="F4F4F4">
                    <a:lumMod val="25000"/>
                  </a:srgbClr>
                </a:solidFill>
                <a:latin typeface="Noto Sans Thai" panose="020B0502040504020204" pitchFamily="34" charset="-34"/>
                <a:cs typeface="Noto Sans Thai" panose="020B0502040504020204"/>
              </a:rPr>
              <a:t>5% YoY </a:t>
            </a:r>
            <a:r>
              <a:rPr lang="th-TH" altLang="en-US" dirty="0">
                <a:solidFill>
                  <a:srgbClr val="F4F4F4">
                    <a:lumMod val="25000"/>
                  </a:srgbClr>
                </a:solidFill>
                <a:latin typeface="Noto Sans Thai" panose="020B0502040504020204" pitchFamily="34" charset="-34"/>
                <a:cs typeface="Noto Sans Thai" panose="020B0502040504020204"/>
              </a:rPr>
              <a:t>โดยหลักมาจากการขยายตัวของการส่งออกที่คาดจะขยายตัวชะลอตัวจากไตรมาสก่อน ทั้งปี 2026 คาดโต 4.7% ชะลอตัวจาก 5.0</a:t>
            </a:r>
            <a:r>
              <a:rPr lang="en-US" altLang="en-US" dirty="0">
                <a:solidFill>
                  <a:srgbClr val="F4F4F4">
                    <a:lumMod val="25000"/>
                  </a:srgbClr>
                </a:solidFill>
                <a:latin typeface="Noto Sans Thai" panose="020B0502040504020204" pitchFamily="34" charset="-34"/>
                <a:cs typeface="Noto Sans Thai" panose="020B0502040504020204"/>
              </a:rPr>
              <a:t>%</a:t>
            </a:r>
            <a:r>
              <a:rPr lang="th-TH" altLang="en-US" dirty="0">
                <a:solidFill>
                  <a:srgbClr val="F4F4F4">
                    <a:lumMod val="25000"/>
                  </a:srgbClr>
                </a:solidFill>
                <a:latin typeface="Noto Sans Thai" panose="020B0502040504020204" pitchFamily="34" charset="-34"/>
                <a:cs typeface="Noto Sans Thai" panose="020B0502040504020204"/>
              </a:rPr>
              <a:t> ในปีก่อน จากภาคอสังหาที่ยังคงอ่อนแอ ขณะที่โอกาสเห็นมาตรการกระตุ้นการบริโภคขนาดใหญ่ในระยะสั้นของภาครัฐอาจจำกัด หลังรัฐบาลประกาศให้ความสำคัญกับการแก้ปัญหาเชิงโครงสร้างในระยะยาว มากกว่าการแก้ปัญหาผ่านการกระตุ้นการบริโภคในระยะสั้น </a:t>
            </a:r>
          </a:p>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ดัชนีภาคการผลิต (</a:t>
            </a:r>
            <a:r>
              <a:rPr lang="en-US" altLang="en-US" dirty="0" err="1">
                <a:solidFill>
                  <a:srgbClr val="F4F4F4">
                    <a:lumMod val="25000"/>
                  </a:srgbClr>
                </a:solidFill>
                <a:latin typeface="Noto Sans Thai" panose="020B0502040504020204" pitchFamily="34" charset="-34"/>
                <a:cs typeface="Noto Sans Thai" panose="020B0502040504020204"/>
              </a:rPr>
              <a:t>RatingDog</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PMI)</a:t>
            </a:r>
            <a:r>
              <a:rPr lang="th-TH" altLang="en-US" dirty="0">
                <a:solidFill>
                  <a:srgbClr val="F4F4F4">
                    <a:lumMod val="25000"/>
                  </a:srgbClr>
                </a:solidFill>
                <a:latin typeface="Noto Sans Thai" panose="020B0502040504020204" pitchFamily="34" charset="-34"/>
                <a:cs typeface="Noto Sans Thai" panose="020B0502040504020204"/>
              </a:rPr>
              <a:t> เดือนเมษายน 2026 ขยายตัวที่ 52.2 เร่งตัวขึ้นเทียบกับ 50.8 ในเดือนก่อน ซึ่งดีกว่าที่ตลาดคาด ทั้งนี้แนวโน้มข้างหน้าอาจเห็นการขยายตัวทที่จำกัด เนื่องจากหากดูเฉพาะบริษัทใหญ่ ดัชนีภาคการผลิต (</a:t>
            </a:r>
            <a:r>
              <a:rPr lang="en-US" altLang="en-US" dirty="0">
                <a:solidFill>
                  <a:srgbClr val="F4F4F4">
                    <a:lumMod val="25000"/>
                  </a:srgbClr>
                </a:solidFill>
                <a:latin typeface="Noto Sans Thai" panose="020B0502040504020204" pitchFamily="34" charset="-34"/>
                <a:cs typeface="Noto Sans Thai" panose="020B0502040504020204"/>
              </a:rPr>
              <a:t>NBS Manufacturing PMI</a:t>
            </a:r>
            <a:r>
              <a:rPr lang="th-TH" altLang="en-US" dirty="0">
                <a:solidFill>
                  <a:srgbClr val="F4F4F4">
                    <a:lumMod val="25000"/>
                  </a:srgbClr>
                </a:solidFill>
                <a:latin typeface="Noto Sans Thai" panose="020B0502040504020204" pitchFamily="34" charset="-34"/>
                <a:cs typeface="Noto Sans Thai" panose="020B0502040504020204"/>
              </a:rPr>
              <a:t>) ปรับตัวลงและพลิกกลับเป็นหดตัวที่ 49.4 ในเดือนเมษายน เทียบที่ขยายตัว 50.1 ในเดือนก่อนหน้า</a:t>
            </a:r>
          </a:p>
          <a:p>
            <a:pPr marL="128588" indent="-128588" algn="thaiDist" defTabSz="685800">
              <a:lnSpc>
                <a:spcPct val="120000"/>
              </a:lnSpc>
              <a:spcBef>
                <a:spcPts val="300"/>
              </a:spcBef>
              <a:buFont typeface="Arial" panose="020B0604020202020204" pitchFamily="34" charset="0"/>
              <a:buChar char="•"/>
            </a:pPr>
            <a:r>
              <a:rPr lang="th-TH" altLang="en-US" dirty="0">
                <a:solidFill>
                  <a:srgbClr val="F4F4F4">
                    <a:lumMod val="25000"/>
                  </a:srgbClr>
                </a:solidFill>
                <a:latin typeface="Noto Sans Thai" panose="020B0502040504020204" pitchFamily="34" charset="-34"/>
                <a:cs typeface="Noto Sans Thai" panose="020B0502040504020204"/>
              </a:rPr>
              <a:t>อัตราเงินเฟ้อทั่วไป </a:t>
            </a:r>
            <a:r>
              <a:rPr lang="en-US" altLang="en-US" dirty="0">
                <a:solidFill>
                  <a:srgbClr val="F4F4F4">
                    <a:lumMod val="25000"/>
                  </a:srgbClr>
                </a:solidFill>
                <a:latin typeface="Noto Sans Thai" panose="020B0502040504020204" pitchFamily="34" charset="-34"/>
                <a:cs typeface="Noto Sans Thai" panose="020B0502040504020204"/>
              </a:rPr>
              <a:t>(Headline</a:t>
            </a:r>
            <a:r>
              <a:rPr lang="th-TH" altLang="en-US" dirty="0">
                <a:solidFill>
                  <a:srgbClr val="F4F4F4">
                    <a:lumMod val="25000"/>
                  </a:srgbClr>
                </a:solidFill>
                <a:latin typeface="Noto Sans Thai" panose="020B0502040504020204" pitchFamily="34" charset="-34"/>
                <a:cs typeface="Noto Sans Thai" panose="020B0502040504020204"/>
              </a:rPr>
              <a:t> </a:t>
            </a:r>
            <a:r>
              <a:rPr lang="en-US" altLang="en-US" dirty="0">
                <a:solidFill>
                  <a:srgbClr val="F4F4F4">
                    <a:lumMod val="25000"/>
                  </a:srgbClr>
                </a:solidFill>
                <a:latin typeface="Noto Sans Thai" panose="020B0502040504020204" pitchFamily="34" charset="-34"/>
                <a:cs typeface="Noto Sans Thai" panose="020B0502040504020204"/>
              </a:rPr>
              <a:t>CPI)</a:t>
            </a:r>
            <a:r>
              <a:rPr lang="th-TH" altLang="en-US" dirty="0">
                <a:solidFill>
                  <a:srgbClr val="F4F4F4">
                    <a:lumMod val="25000"/>
                  </a:srgbClr>
                </a:solidFill>
                <a:latin typeface="Noto Sans Thai" panose="020B0502040504020204" pitchFamily="34" charset="-34"/>
                <a:cs typeface="Noto Sans Thai" panose="020B0502040504020204"/>
              </a:rPr>
              <a:t> เดือนมีนาคม 2026 ปรับตัวลงเป็น 1.0% </a:t>
            </a:r>
            <a:r>
              <a:rPr lang="en-US" altLang="en-US" dirty="0">
                <a:solidFill>
                  <a:srgbClr val="F4F4F4">
                    <a:lumMod val="25000"/>
                  </a:srgbClr>
                </a:solidFill>
                <a:latin typeface="Noto Sans Thai" panose="020B0502040504020204" pitchFamily="34" charset="-34"/>
                <a:cs typeface="Noto Sans Thai" panose="020B0502040504020204"/>
              </a:rPr>
              <a:t>YoY</a:t>
            </a:r>
            <a:r>
              <a:rPr lang="th-TH" altLang="en-US" dirty="0">
                <a:solidFill>
                  <a:srgbClr val="F4F4F4">
                    <a:lumMod val="25000"/>
                  </a:srgbClr>
                </a:solidFill>
                <a:latin typeface="Noto Sans Thai" panose="020B0502040504020204" pitchFamily="34" charset="-34"/>
                <a:cs typeface="Noto Sans Thai" panose="020B0502040504020204"/>
              </a:rPr>
              <a:t> จาก </a:t>
            </a:r>
            <a:r>
              <a:rPr lang="en-US" altLang="en-US" dirty="0">
                <a:solidFill>
                  <a:srgbClr val="F4F4F4">
                    <a:lumMod val="25000"/>
                  </a:srgbClr>
                </a:solidFill>
                <a:latin typeface="Noto Sans Thai" panose="020B0502040504020204" pitchFamily="34" charset="-34"/>
                <a:cs typeface="Noto Sans Thai" panose="020B0502040504020204"/>
              </a:rPr>
              <a:t>1.3%</a:t>
            </a:r>
            <a:r>
              <a:rPr lang="th-TH" altLang="en-US" dirty="0">
                <a:solidFill>
                  <a:srgbClr val="F4F4F4">
                    <a:lumMod val="25000"/>
                  </a:srgbClr>
                </a:solidFill>
                <a:latin typeface="Noto Sans Thai" panose="020B0502040504020204" pitchFamily="34" charset="-34"/>
                <a:cs typeface="Noto Sans Thai" panose="020B0502040504020204"/>
              </a:rPr>
              <a:t> ในเดือนก่อน โดยมาจากราคาสินค้าหมวดหมู่อาหารที่ปรับตัวลง (0.</a:t>
            </a:r>
            <a:r>
              <a:rPr lang="en-US" altLang="en-US" dirty="0">
                <a:solidFill>
                  <a:srgbClr val="F4F4F4">
                    <a:lumMod val="25000"/>
                  </a:srgbClr>
                </a:solidFill>
                <a:latin typeface="Noto Sans Thai" panose="020B0502040504020204" pitchFamily="34" charset="-34"/>
                <a:cs typeface="Noto Sans Thai" panose="020B0502040504020204"/>
              </a:rPr>
              <a:t>3%</a:t>
            </a:r>
            <a:r>
              <a:rPr lang="th-TH" altLang="en-US" dirty="0">
                <a:solidFill>
                  <a:srgbClr val="F4F4F4">
                    <a:lumMod val="25000"/>
                  </a:srgbClr>
                </a:solidFill>
                <a:latin typeface="Noto Sans Thai" panose="020B0502040504020204" pitchFamily="34" charset="-34"/>
                <a:cs typeface="Noto Sans Thai" panose="020B0502040504020204"/>
              </a:rPr>
              <a:t> เทียบ 1.</a:t>
            </a:r>
            <a:r>
              <a:rPr lang="en-US" altLang="en-US" dirty="0">
                <a:solidFill>
                  <a:srgbClr val="F4F4F4">
                    <a:lumMod val="25000"/>
                  </a:srgbClr>
                </a:solidFill>
                <a:latin typeface="Noto Sans Thai" panose="020B0502040504020204" pitchFamily="34" charset="-34"/>
                <a:cs typeface="Noto Sans Thai" panose="020B0502040504020204"/>
              </a:rPr>
              <a:t>7%</a:t>
            </a:r>
            <a:r>
              <a:rPr lang="th-TH" altLang="en-US" dirty="0">
                <a:solidFill>
                  <a:srgbClr val="F4F4F4">
                    <a:lumMod val="25000"/>
                  </a:srgbClr>
                </a:solidFill>
                <a:latin typeface="Noto Sans Thai" panose="020B0502040504020204" pitchFamily="34" charset="-34"/>
                <a:cs typeface="Noto Sans Thai" panose="020B0502040504020204"/>
              </a:rPr>
              <a:t> เดือนก่อน) โดยหลักมาจากราคาผัก ผลไม้และเนื้อหมูที่ปรับตัวลงหลังเทศกาลไหว้พระจันทร์ ขณะที่ราคาสินค้าหมวดหมู่ที่ไม่ใช่อาหารปรับตัวลงเล็กน้อย (1.</a:t>
            </a:r>
            <a:r>
              <a:rPr lang="en-US" altLang="en-US" dirty="0">
                <a:solidFill>
                  <a:srgbClr val="F4F4F4">
                    <a:lumMod val="25000"/>
                  </a:srgbClr>
                </a:solidFill>
                <a:latin typeface="Noto Sans Thai" panose="020B0502040504020204" pitchFamily="34" charset="-34"/>
                <a:cs typeface="Noto Sans Thai" panose="020B0502040504020204"/>
              </a:rPr>
              <a:t>2%</a:t>
            </a:r>
            <a:r>
              <a:rPr lang="th-TH" altLang="en-US" dirty="0">
                <a:solidFill>
                  <a:srgbClr val="F4F4F4">
                    <a:lumMod val="25000"/>
                  </a:srgbClr>
                </a:solidFill>
                <a:latin typeface="Noto Sans Thai" panose="020B0502040504020204" pitchFamily="34" charset="-34"/>
                <a:cs typeface="Noto Sans Thai" panose="020B0502040504020204"/>
              </a:rPr>
              <a:t> เทียบ 1.</a:t>
            </a:r>
            <a:r>
              <a:rPr lang="en-US" altLang="en-US" dirty="0">
                <a:solidFill>
                  <a:srgbClr val="F4F4F4">
                    <a:lumMod val="25000"/>
                  </a:srgbClr>
                </a:solidFill>
                <a:latin typeface="Noto Sans Thai" panose="020B0502040504020204" pitchFamily="34" charset="-34"/>
                <a:cs typeface="Noto Sans Thai" panose="020B0502040504020204"/>
              </a:rPr>
              <a:t>3%</a:t>
            </a:r>
            <a:r>
              <a:rPr lang="th-TH" altLang="en-US" dirty="0">
                <a:solidFill>
                  <a:srgbClr val="F4F4F4">
                    <a:lumMod val="25000"/>
                  </a:srgbClr>
                </a:solidFill>
                <a:latin typeface="Noto Sans Thai" panose="020B0502040504020204" pitchFamily="34" charset="-34"/>
                <a:cs typeface="Noto Sans Thai" panose="020B0502040504020204"/>
              </a:rPr>
              <a:t> เดือนก่อน) ทั้งนี้ในระยะสั้นอาจเห็นอัตราเงินเฟ้อที่ปรับตัวขึ้นจากราคาพลังงานโลกที่ยังคงททรงตัวในระดับสูง หลังสงครามในตะวันออกกลางรุนแรงและกระทบห่วงโซ่อุปทาน ขณะที่ดัชนีราคาผู้ผลิตเดือนมีนาคม พลิกกลับเป็นบวกที่ 0.5% เทียบ -0.</a:t>
            </a:r>
            <a:r>
              <a:rPr lang="en-US" altLang="en-US" dirty="0">
                <a:solidFill>
                  <a:srgbClr val="F4F4F4">
                    <a:lumMod val="25000"/>
                  </a:srgbClr>
                </a:solidFill>
                <a:latin typeface="Noto Sans Thai" panose="020B0502040504020204" pitchFamily="34" charset="-34"/>
                <a:cs typeface="Noto Sans Thai" panose="020B0502040504020204"/>
              </a:rPr>
              <a:t>9%</a:t>
            </a:r>
            <a:r>
              <a:rPr lang="th-TH" altLang="en-US" dirty="0">
                <a:solidFill>
                  <a:srgbClr val="F4F4F4">
                    <a:lumMod val="25000"/>
                  </a:srgbClr>
                </a:solidFill>
                <a:latin typeface="Noto Sans Thai" panose="020B0502040504020204" pitchFamily="34" charset="-34"/>
                <a:cs typeface="Noto Sans Thai" panose="020B0502040504020204"/>
              </a:rPr>
              <a:t> เดือนก่อน ซึ่งเป็นการกลับเป็นบวกครั้งแรก หลังติดลบต่อเนื่องถึง 41 เดือน</a:t>
            </a:r>
          </a:p>
        </p:txBody>
      </p:sp>
      <p:sp>
        <p:nvSpPr>
          <p:cNvPr id="23" name="Text Placeholder 4">
            <a:extLst>
              <a:ext uri="{FF2B5EF4-FFF2-40B4-BE49-F238E27FC236}">
                <a16:creationId xmlns:a16="http://schemas.microsoft.com/office/drawing/2014/main" id="{5C2E47DE-DF83-4715-8781-903F13879C68}"/>
              </a:ext>
            </a:extLst>
          </p:cNvPr>
          <p:cNvSpPr txBox="1">
            <a:spLocks/>
          </p:cNvSpPr>
          <p:nvPr/>
        </p:nvSpPr>
        <p:spPr>
          <a:xfrm>
            <a:off x="528462" y="4107995"/>
            <a:ext cx="4327164" cy="296238"/>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Aft>
                <a:spcPts val="450"/>
              </a:spcAft>
            </a:pPr>
            <a:r>
              <a:rPr lang="th-TH" altLang="en-US" b="1" dirty="0">
                <a:latin typeface="Noto Sans Thai" panose="020B0502040504020204" pitchFamily="34" charset="-34"/>
                <a:ea typeface="Tahoma" panose="020B0604030504040204" pitchFamily="34" charset="0"/>
                <a:cs typeface="Noto Sans Thai" panose="020B0502040504020204"/>
              </a:rPr>
              <a:t>ประมาณการ</a:t>
            </a:r>
            <a:r>
              <a:rPr lang="en-US" altLang="en-US" b="1" dirty="0">
                <a:latin typeface="Noto Sans Thai" panose="020B0502040504020204" pitchFamily="34" charset="-34"/>
                <a:ea typeface="Tahoma" panose="020B0604030504040204" pitchFamily="34" charset="0"/>
                <a:cs typeface="Noto Sans Thai" panose="020B0502040504020204"/>
              </a:rPr>
              <a:t> GDP YoY </a:t>
            </a:r>
            <a:r>
              <a:rPr lang="th-TH" altLang="en-US" b="1" dirty="0">
                <a:latin typeface="Noto Sans Thai" panose="020B0502040504020204" pitchFamily="34" charset="-34"/>
                <a:ea typeface="Tahoma" panose="020B0604030504040204" pitchFamily="34" charset="0"/>
                <a:cs typeface="Noto Sans Thai" panose="020B0502040504020204"/>
              </a:rPr>
              <a:t>รายไตรมาส</a:t>
            </a:r>
          </a:p>
        </p:txBody>
      </p:sp>
      <p:sp>
        <p:nvSpPr>
          <p:cNvPr id="24" name="Text Placeholder 6">
            <a:extLst>
              <a:ext uri="{FF2B5EF4-FFF2-40B4-BE49-F238E27FC236}">
                <a16:creationId xmlns:a16="http://schemas.microsoft.com/office/drawing/2014/main" id="{A8EE83DE-1E0A-4D1F-9A2C-CF8E51A2775F}"/>
              </a:ext>
            </a:extLst>
          </p:cNvPr>
          <p:cNvSpPr txBox="1">
            <a:spLocks/>
          </p:cNvSpPr>
          <p:nvPr/>
        </p:nvSpPr>
        <p:spPr>
          <a:xfrm>
            <a:off x="757062" y="6194981"/>
            <a:ext cx="3249546"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a:solidFill>
                  <a:schemeClr val="tx1"/>
                </a:solidFill>
                <a:latin typeface="+mj-lt"/>
                <a:ea typeface="Tahoma" panose="020B0604030504040204" pitchFamily="34" charset="0"/>
                <a:cs typeface="+mn-cs"/>
              </a:rPr>
              <a:t>Sources: </a:t>
            </a:r>
            <a:r>
              <a:rPr lang="en-US" altLang="en-US" sz="900">
                <a:solidFill>
                  <a:schemeClr val="tx1"/>
                </a:solidFill>
                <a:latin typeface="+mj-lt"/>
                <a:ea typeface="Tahoma" panose="020B0604030504040204" pitchFamily="34" charset="0"/>
                <a:cs typeface="+mn-cs"/>
              </a:rPr>
              <a:t>Morgan Stanley Research, Bualuang Research</a:t>
            </a:r>
            <a:endParaRPr lang="en-US" sz="900" dirty="0">
              <a:solidFill>
                <a:schemeClr val="tx1"/>
              </a:solidFill>
              <a:latin typeface="+mj-lt"/>
              <a:ea typeface="Tahoma" panose="020B0604030504040204" pitchFamily="34" charset="0"/>
              <a:cs typeface="+mn-cs"/>
            </a:endParaRPr>
          </a:p>
        </p:txBody>
      </p:sp>
      <p:graphicFrame>
        <p:nvGraphicFramePr>
          <p:cNvPr id="2" name="Object 1">
            <a:extLst>
              <a:ext uri="{FF2B5EF4-FFF2-40B4-BE49-F238E27FC236}">
                <a16:creationId xmlns:a16="http://schemas.microsoft.com/office/drawing/2014/main" id="{1B41DACE-7D91-D726-AB14-5FAA18BFD9C7}"/>
              </a:ext>
            </a:extLst>
          </p:cNvPr>
          <p:cNvGraphicFramePr>
            <a:graphicFrameLocks noChangeAspect="1"/>
          </p:cNvGraphicFramePr>
          <p:nvPr>
            <p:extLst>
              <p:ext uri="{D42A27DB-BD31-4B8C-83A1-F6EECF244321}">
                <p14:modId xmlns:p14="http://schemas.microsoft.com/office/powerpoint/2010/main" val="3049281814"/>
              </p:ext>
            </p:extLst>
          </p:nvPr>
        </p:nvGraphicFramePr>
        <p:xfrm>
          <a:off x="636588" y="4403725"/>
          <a:ext cx="3114675" cy="1647825"/>
        </p:xfrm>
        <a:graphic>
          <a:graphicData uri="http://schemas.openxmlformats.org/presentationml/2006/ole">
            <mc:AlternateContent xmlns:mc="http://schemas.openxmlformats.org/markup-compatibility/2006">
              <mc:Choice xmlns:v="urn:schemas-microsoft-com:vml" Requires="v">
                <p:oleObj name="Worksheet" r:id="rId3" imgW="3114780" imgH="1647757" progId="Excel.Sheet.12">
                  <p:link updateAutomatic="1"/>
                </p:oleObj>
              </mc:Choice>
              <mc:Fallback>
                <p:oleObj name="Worksheet" r:id="rId3" imgW="3114780" imgH="1647757" progId="Excel.Sheet.12">
                  <p:link updateAutomatic="1"/>
                  <p:pic>
                    <p:nvPicPr>
                      <p:cNvPr id="0" name=""/>
                      <p:cNvPicPr/>
                      <p:nvPr/>
                    </p:nvPicPr>
                    <p:blipFill>
                      <a:blip r:embed="rId4"/>
                      <a:stretch>
                        <a:fillRect/>
                      </a:stretch>
                    </p:blipFill>
                    <p:spPr>
                      <a:xfrm>
                        <a:off x="636588" y="4403725"/>
                        <a:ext cx="3114675" cy="1647825"/>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DF9B70B0-CE5B-4B38-006E-ACF90E2F8E1A}"/>
              </a:ext>
            </a:extLst>
          </p:cNvPr>
          <p:cNvGraphicFramePr>
            <a:graphicFrameLocks noChangeAspect="1"/>
          </p:cNvGraphicFramePr>
          <p:nvPr>
            <p:extLst>
              <p:ext uri="{D42A27DB-BD31-4B8C-83A1-F6EECF244321}">
                <p14:modId xmlns:p14="http://schemas.microsoft.com/office/powerpoint/2010/main" val="2766813083"/>
              </p:ext>
            </p:extLst>
          </p:nvPr>
        </p:nvGraphicFramePr>
        <p:xfrm>
          <a:off x="289630" y="1829115"/>
          <a:ext cx="4661072" cy="2033115"/>
        </p:xfrm>
        <a:graphic>
          <a:graphicData uri="http://schemas.openxmlformats.org/presentationml/2006/ole">
            <mc:AlternateContent xmlns:mc="http://schemas.openxmlformats.org/markup-compatibility/2006">
              <mc:Choice xmlns:v="urn:schemas-microsoft-com:vml" Requires="v">
                <p:oleObj name="Worksheet" r:id="rId5" imgW="5000558" imgH="2181089" progId="Excel.Sheet.12">
                  <p:link updateAutomatic="1"/>
                </p:oleObj>
              </mc:Choice>
              <mc:Fallback>
                <p:oleObj name="Worksheet" r:id="rId5" imgW="5000558" imgH="2181089" progId="Excel.Sheet.12">
                  <p:link updateAutomatic="1"/>
                  <p:pic>
                    <p:nvPicPr>
                      <p:cNvPr id="0" name=""/>
                      <p:cNvPicPr/>
                      <p:nvPr/>
                    </p:nvPicPr>
                    <p:blipFill>
                      <a:blip r:embed="rId6"/>
                      <a:stretch>
                        <a:fillRect/>
                      </a:stretch>
                    </p:blipFill>
                    <p:spPr>
                      <a:xfrm>
                        <a:off x="289630" y="1829115"/>
                        <a:ext cx="4661072" cy="2033115"/>
                      </a:xfrm>
                      <a:prstGeom prst="rect">
                        <a:avLst/>
                      </a:prstGeom>
                    </p:spPr>
                  </p:pic>
                </p:oleObj>
              </mc:Fallback>
            </mc:AlternateContent>
          </a:graphicData>
        </a:graphic>
      </p:graphicFrame>
    </p:spTree>
    <p:extLst>
      <p:ext uri="{BB962C8B-B14F-4D97-AF65-F5344CB8AC3E}">
        <p14:creationId xmlns:p14="http://schemas.microsoft.com/office/powerpoint/2010/main" val="4017465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13" name="TextBox 10">
            <a:extLst>
              <a:ext uri="{FF2B5EF4-FFF2-40B4-BE49-F238E27FC236}">
                <a16:creationId xmlns:a16="http://schemas.microsoft.com/office/drawing/2014/main" id="{9528F76D-EEC9-4773-88D9-938C06B27268}"/>
              </a:ext>
            </a:extLst>
          </p:cNvPr>
          <p:cNvSpPr txBox="1">
            <a:spLocks noChangeArrowheads="1"/>
          </p:cNvSpPr>
          <p:nvPr/>
        </p:nvSpPr>
        <p:spPr bwMode="auto">
          <a:xfrm>
            <a:off x="12192000" y="5877066"/>
            <a:ext cx="8640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endParaRPr lang="en-US" altLang="en-US" sz="700" dirty="0">
              <a:solidFill>
                <a:srgbClr val="4F81BD"/>
              </a:solidFill>
            </a:endParaRPr>
          </a:p>
          <a:p>
            <a:pPr eaLnBrk="1" hangingPunct="1">
              <a:spcBef>
                <a:spcPct val="0"/>
              </a:spcBef>
              <a:buFontTx/>
              <a:buNone/>
            </a:pPr>
            <a:r>
              <a:rPr lang="en-US" altLang="en-US" sz="700" dirty="0">
                <a:solidFill>
                  <a:srgbClr val="4F81BD"/>
                </a:solidFill>
              </a:rPr>
              <a:t>Econ\Morgan Stanley Forecast</a:t>
            </a:r>
          </a:p>
          <a:p>
            <a:pPr eaLnBrk="1" hangingPunct="1">
              <a:spcBef>
                <a:spcPct val="0"/>
              </a:spcBef>
              <a:buFontTx/>
              <a:buNone/>
            </a:pPr>
            <a:r>
              <a:rPr lang="en-US" altLang="en-US" sz="700" dirty="0">
                <a:solidFill>
                  <a:srgbClr val="4F81BD"/>
                </a:solidFill>
              </a:rPr>
              <a:t>Sheet1</a:t>
            </a:r>
          </a:p>
          <a:p>
            <a:pPr eaLnBrk="1" hangingPunct="1">
              <a:spcBef>
                <a:spcPct val="0"/>
              </a:spcBef>
              <a:buFontTx/>
              <a:buNone/>
            </a:pPr>
            <a:endParaRPr lang="en-US" altLang="en-US" sz="700" dirty="0">
              <a:solidFill>
                <a:srgbClr val="4F81BD"/>
              </a:solidFill>
            </a:endParaRPr>
          </a:p>
          <a:p>
            <a:pPr eaLnBrk="1" hangingPunct="1">
              <a:spcBef>
                <a:spcPct val="0"/>
              </a:spcBef>
              <a:buFontTx/>
              <a:buNone/>
            </a:pPr>
            <a:r>
              <a:rPr lang="en-US" altLang="en-US" sz="700" dirty="0">
                <a:solidFill>
                  <a:srgbClr val="4F81BD"/>
                </a:solidFill>
              </a:rPr>
              <a:t>Econ02</a:t>
            </a:r>
          </a:p>
          <a:p>
            <a:pPr eaLnBrk="1" hangingPunct="1">
              <a:spcBef>
                <a:spcPct val="0"/>
              </a:spcBef>
              <a:buFontTx/>
              <a:buNone/>
            </a:pPr>
            <a:r>
              <a:rPr lang="en-US" altLang="en-US" sz="700" dirty="0">
                <a:solidFill>
                  <a:srgbClr val="4F81BD"/>
                </a:solidFill>
              </a:rPr>
              <a:t>GDP</a:t>
            </a:r>
          </a:p>
          <a:p>
            <a:pPr eaLnBrk="1" hangingPunct="1">
              <a:spcBef>
                <a:spcPct val="0"/>
              </a:spcBef>
              <a:buFontTx/>
              <a:buNone/>
            </a:pPr>
            <a:endParaRPr lang="en-US" altLang="en-US" sz="700" dirty="0">
              <a:solidFill>
                <a:srgbClr val="4F81BD"/>
              </a:solidFill>
            </a:endParaRPr>
          </a:p>
        </p:txBody>
      </p:sp>
      <p:sp>
        <p:nvSpPr>
          <p:cNvPr id="18" name="Title 44">
            <a:extLst>
              <a:ext uri="{FF2B5EF4-FFF2-40B4-BE49-F238E27FC236}">
                <a16:creationId xmlns:a16="http://schemas.microsoft.com/office/drawing/2014/main" id="{FB4C2612-2F17-4865-B4CE-2A77128384A0}"/>
              </a:ext>
            </a:extLst>
          </p:cNvPr>
          <p:cNvSpPr>
            <a:spLocks noGrp="1"/>
          </p:cNvSpPr>
          <p:nvPr>
            <p:ph type="title"/>
          </p:nvPr>
        </p:nvSpPr>
        <p:spPr>
          <a:xfrm>
            <a:off x="768351" y="459798"/>
            <a:ext cx="8599583" cy="645220"/>
          </a:xfrm>
          <a:noFill/>
          <a:ln>
            <a:noFill/>
          </a:ln>
        </p:spPr>
        <p:txBody>
          <a:bodyPr spcFirstLastPara="1" wrap="square" lIns="0" tIns="0" rIns="0" bIns="0" anchor="ctr" anchorCtr="0">
            <a:noAutofit/>
          </a:bodyPr>
          <a:lstStyle/>
          <a:p>
            <a:pPr>
              <a:lnSpc>
                <a:spcPts val="2400"/>
              </a:lnSpc>
              <a:spcBef>
                <a:spcPct val="20000"/>
              </a:spcBef>
            </a:pPr>
            <a:r>
              <a:rPr lang="th-TH" altLang="en-US" b="1" dirty="0">
                <a:latin typeface="Noto Sans Thai" panose="020B0502040504020204" pitchFamily="34" charset="-34"/>
                <a:ea typeface="Tahoma" panose="020B0604030504040204" pitchFamily="34" charset="0"/>
                <a:cs typeface="Noto Sans Thai" panose="020B0502040504020204" pitchFamily="34" charset="-34"/>
              </a:rPr>
              <a:t>ไทย:</a:t>
            </a:r>
            <a:r>
              <a:rPr lang="en-US" altLang="en-US" b="1" dirty="0">
                <a:latin typeface="Noto Sans Thai" panose="020B0502040504020204" pitchFamily="34" charset="-34"/>
                <a:ea typeface="Tahoma" panose="020B0604030504040204" pitchFamily="34" charset="0"/>
                <a:cs typeface="Noto Sans Thai" panose="020B0502040504020204" pitchFamily="34" charset="-34"/>
              </a:rPr>
              <a:t> GDP </a:t>
            </a:r>
            <a:r>
              <a:rPr lang="th-TH" altLang="en-US" b="1" dirty="0">
                <a:latin typeface="Noto Sans Thai" panose="020B0502040504020204" pitchFamily="34" charset="-34"/>
                <a:ea typeface="Tahoma" panose="020B0604030504040204" pitchFamily="34" charset="0"/>
                <a:cs typeface="Noto Sans Thai" panose="020B0502040504020204" pitchFamily="34" charset="-34"/>
              </a:rPr>
              <a:t>ไตรมาส 2 เปราะบางชัดขึ้นจากต้นทุนพลังงานและปัญหาเชิงโครงสร้างสะสม</a:t>
            </a:r>
          </a:p>
        </p:txBody>
      </p:sp>
      <p:sp>
        <p:nvSpPr>
          <p:cNvPr id="16" name="Footer Placeholder 4">
            <a:extLst>
              <a:ext uri="{FF2B5EF4-FFF2-40B4-BE49-F238E27FC236}">
                <a16:creationId xmlns:a16="http://schemas.microsoft.com/office/drawing/2014/main" id="{91E9B4D5-B327-4227-8117-28D170E9582C}"/>
              </a:ext>
            </a:extLst>
          </p:cNvPr>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17" name="Text Placeholder 4">
            <a:extLst>
              <a:ext uri="{FF2B5EF4-FFF2-40B4-BE49-F238E27FC236}">
                <a16:creationId xmlns:a16="http://schemas.microsoft.com/office/drawing/2014/main" id="{3D476666-5380-4EA6-A4A7-7CDA2F7DDC05}"/>
              </a:ext>
            </a:extLst>
          </p:cNvPr>
          <p:cNvSpPr txBox="1">
            <a:spLocks/>
          </p:cNvSpPr>
          <p:nvPr/>
        </p:nvSpPr>
        <p:spPr>
          <a:xfrm>
            <a:off x="222420" y="1048310"/>
            <a:ext cx="3657276" cy="429444"/>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Bef>
                <a:spcPct val="0"/>
              </a:spcBef>
            </a:pPr>
            <a:r>
              <a:rPr lang="th-TH" altLang="en-US" b="1" dirty="0">
                <a:latin typeface="Noto Sans Thai" panose="020B0502040504020204" pitchFamily="34" charset="-34"/>
                <a:cs typeface="Noto Sans Thai" panose="020B0502040504020204"/>
              </a:rPr>
              <a:t>ประมาณการตัวเลขเศรษฐกิจไทยปี 2026</a:t>
            </a:r>
          </a:p>
        </p:txBody>
      </p:sp>
      <p:sp>
        <p:nvSpPr>
          <p:cNvPr id="19" name="Rectangle 18">
            <a:extLst>
              <a:ext uri="{FF2B5EF4-FFF2-40B4-BE49-F238E27FC236}">
                <a16:creationId xmlns:a16="http://schemas.microsoft.com/office/drawing/2014/main" id="{CE51B80D-FB42-4C8A-B512-A36909DF40B2}"/>
              </a:ext>
            </a:extLst>
          </p:cNvPr>
          <p:cNvSpPr/>
          <p:nvPr/>
        </p:nvSpPr>
        <p:spPr>
          <a:xfrm>
            <a:off x="3838935" y="938911"/>
            <a:ext cx="8115930" cy="5930854"/>
          </a:xfrm>
          <a:prstGeom prst="rect">
            <a:avLst/>
          </a:prstGeom>
        </p:spPr>
        <p:txBody>
          <a:bodyPr wrap="square">
            <a:spAutoFit/>
          </a:bodyPr>
          <a:lstStyle/>
          <a:p>
            <a:pPr marL="128588" indent="-128588" algn="thaiDist" defTabSz="685800">
              <a:lnSpc>
                <a:spcPct val="120000"/>
              </a:lnSpc>
              <a:spcBef>
                <a:spcPts val="300"/>
              </a:spcBef>
              <a:buFont typeface="Arial" panose="020B0604020202020204" pitchFamily="34" charset="0"/>
              <a:buChar char="•"/>
            </a:pPr>
            <a:r>
              <a:rPr lang="th-TH" altLang="en-US" sz="1300" dirty="0">
                <a:solidFill>
                  <a:srgbClr val="F4F4F4">
                    <a:lumMod val="25000"/>
                  </a:srgbClr>
                </a:solidFill>
                <a:latin typeface="Noto Sans Thai" panose="020B0502040504020204" pitchFamily="34" charset="-34"/>
                <a:cs typeface="Noto Sans Thai" panose="020B0502040504020204"/>
              </a:rPr>
              <a:t>เศรษฐกิจไทยไตรมาส 1 ปี 2026 คาดว่าน่าจะขยายตัวราว 2.2% </a:t>
            </a:r>
            <a:r>
              <a:rPr lang="en-US" altLang="en-US" sz="1300" dirty="0">
                <a:solidFill>
                  <a:srgbClr val="F4F4F4">
                    <a:lumMod val="25000"/>
                  </a:srgbClr>
                </a:solidFill>
                <a:latin typeface="Noto Sans Thai" panose="020B0502040504020204" pitchFamily="34" charset="-34"/>
                <a:cs typeface="Noto Sans Thai" panose="020B0502040504020204"/>
              </a:rPr>
              <a:t>YoY</a:t>
            </a:r>
            <a:r>
              <a:rPr lang="th-TH" altLang="en-US" sz="1300" dirty="0">
                <a:solidFill>
                  <a:srgbClr val="F4F4F4">
                    <a:lumMod val="25000"/>
                  </a:srgbClr>
                </a:solidFill>
                <a:latin typeface="Noto Sans Thai" panose="020B0502040504020204" pitchFamily="34" charset="-34"/>
                <a:cs typeface="Noto Sans Thai" panose="020B0502040504020204"/>
              </a:rPr>
              <a:t> </a:t>
            </a:r>
            <a:r>
              <a:rPr lang="en-US" altLang="en-US" sz="1300" dirty="0">
                <a:solidFill>
                  <a:srgbClr val="F4F4F4">
                    <a:lumMod val="25000"/>
                  </a:srgbClr>
                </a:solidFill>
                <a:latin typeface="Noto Sans Thai" panose="020B0502040504020204" pitchFamily="34" charset="-34"/>
                <a:cs typeface="Noto Sans Thai" panose="020B0502040504020204"/>
              </a:rPr>
              <a:t>(</a:t>
            </a:r>
            <a:r>
              <a:rPr lang="th-TH" altLang="en-US" sz="1300" dirty="0">
                <a:solidFill>
                  <a:srgbClr val="F4F4F4">
                    <a:lumMod val="25000"/>
                  </a:srgbClr>
                </a:solidFill>
                <a:latin typeface="Noto Sans Thai" panose="020B0502040504020204" pitchFamily="34" charset="-34"/>
                <a:cs typeface="Noto Sans Thai" panose="020B0502040504020204"/>
              </a:rPr>
              <a:t>กรณีฐาน) (ขยายตัวเล็กน้อยที่ 0.1</a:t>
            </a:r>
            <a:r>
              <a:rPr lang="en-US" altLang="en-US" sz="1300" dirty="0">
                <a:solidFill>
                  <a:srgbClr val="F4F4F4">
                    <a:lumMod val="25000"/>
                  </a:srgbClr>
                </a:solidFill>
                <a:latin typeface="Noto Sans Thai" panose="020B0502040504020204" pitchFamily="34" charset="-34"/>
                <a:cs typeface="Noto Sans Thai" panose="020B0502040504020204"/>
              </a:rPr>
              <a:t>%</a:t>
            </a:r>
            <a:r>
              <a:rPr lang="th-TH" altLang="en-US" sz="1300" dirty="0">
                <a:solidFill>
                  <a:srgbClr val="F4F4F4">
                    <a:lumMod val="25000"/>
                  </a:srgbClr>
                </a:solidFill>
                <a:latin typeface="Noto Sans Thai" panose="020B0502040504020204" pitchFamily="34" charset="-34"/>
                <a:cs typeface="Noto Sans Thai" panose="020B0502040504020204"/>
              </a:rPr>
              <a:t> </a:t>
            </a:r>
            <a:r>
              <a:rPr lang="en-US" altLang="en-US" sz="1300" dirty="0" err="1">
                <a:solidFill>
                  <a:srgbClr val="F4F4F4">
                    <a:lumMod val="25000"/>
                  </a:srgbClr>
                </a:solidFill>
                <a:latin typeface="Noto Sans Thai" panose="020B0502040504020204" pitchFamily="34" charset="-34"/>
                <a:cs typeface="Noto Sans Thai" panose="020B0502040504020204"/>
              </a:rPr>
              <a:t>QoQ,sa</a:t>
            </a:r>
            <a:r>
              <a:rPr lang="th-TH" altLang="en-US" sz="1300" dirty="0">
                <a:solidFill>
                  <a:srgbClr val="F4F4F4">
                    <a:lumMod val="25000"/>
                  </a:srgbClr>
                </a:solidFill>
                <a:latin typeface="Noto Sans Thai" panose="020B0502040504020204" pitchFamily="34" charset="-34"/>
                <a:cs typeface="Noto Sans Thai" panose="020B0502040504020204"/>
              </a:rPr>
              <a:t>) โดยได้แรงขับเคลื่อนหลักจากการลงทุนโดยตรงจากต่างประเทศ หรือ </a:t>
            </a:r>
            <a:r>
              <a:rPr lang="en-US" altLang="en-US" sz="1300" dirty="0">
                <a:solidFill>
                  <a:srgbClr val="F4F4F4">
                    <a:lumMod val="25000"/>
                  </a:srgbClr>
                </a:solidFill>
                <a:latin typeface="Noto Sans Thai" panose="020B0502040504020204" pitchFamily="34" charset="-34"/>
                <a:cs typeface="Noto Sans Thai" panose="020B0502040504020204"/>
              </a:rPr>
              <a:t>FDI </a:t>
            </a:r>
            <a:r>
              <a:rPr lang="th-TH" altLang="en-US" sz="1300" dirty="0">
                <a:solidFill>
                  <a:srgbClr val="F4F4F4">
                    <a:lumMod val="25000"/>
                  </a:srgbClr>
                </a:solidFill>
                <a:latin typeface="Noto Sans Thai" panose="020B0502040504020204" pitchFamily="34" charset="-34"/>
                <a:cs typeface="Noto Sans Thai" panose="020B0502040504020204"/>
              </a:rPr>
              <a:t>ในกลุ่มอุตสาหกรรมดิจิทัลและอิเล็กทรอนิกส์ อย่างไรก็ดี เศรษฐกิจไทยไตรมาส 1 ปี 2026 ยังคงเผชิญแรงกดดันหลายด้าน โดยเฉพาะการบริโภคในประเทศที่น่าจะชะลอลงเมื่อเทียบกับไตรมาสก่อนหน้า ซึ่งสาเหตุส่วนหนึ่งมาจากภาคการท่องเที่ยวที่ฟื้นช้ากว่าคาด สะท้อนจากตัวเลขนักท่องเที่ยวต่างชาติในไตรมาส 1 ปี 2026 ที่อยู่เพียง 9.32 ล้านคน หดตัวราว 2.4</a:t>
            </a:r>
            <a:r>
              <a:rPr lang="en-US" altLang="en-US" sz="1300" dirty="0">
                <a:solidFill>
                  <a:srgbClr val="F4F4F4">
                    <a:lumMod val="25000"/>
                  </a:srgbClr>
                </a:solidFill>
                <a:latin typeface="Noto Sans Thai" panose="020B0502040504020204" pitchFamily="34" charset="-34"/>
                <a:cs typeface="Noto Sans Thai" panose="020B0502040504020204"/>
              </a:rPr>
              <a:t>% YoY </a:t>
            </a:r>
            <a:r>
              <a:rPr lang="th-TH" altLang="en-US" sz="1300" dirty="0">
                <a:solidFill>
                  <a:srgbClr val="F4F4F4">
                    <a:lumMod val="25000"/>
                  </a:srgbClr>
                </a:solidFill>
                <a:latin typeface="Noto Sans Thai" panose="020B0502040504020204" pitchFamily="34" charset="-34"/>
                <a:cs typeface="Noto Sans Thai" panose="020B0502040504020204"/>
              </a:rPr>
              <a:t>ขณะที่ภาคการส่งออกไทยเดือนมีนาคม 2026 ก็กลับมาขยายตัวสูงที่ 18.7% </a:t>
            </a:r>
            <a:r>
              <a:rPr lang="en-US" altLang="en-US" sz="1300" dirty="0">
                <a:solidFill>
                  <a:srgbClr val="F4F4F4">
                    <a:lumMod val="25000"/>
                  </a:srgbClr>
                </a:solidFill>
                <a:latin typeface="Noto Sans Thai" panose="020B0502040504020204" pitchFamily="34" charset="-34"/>
                <a:cs typeface="Noto Sans Thai" panose="020B0502040504020204"/>
              </a:rPr>
              <a:t>YoY </a:t>
            </a:r>
            <a:r>
              <a:rPr lang="th-TH" altLang="en-US" sz="1300" dirty="0">
                <a:solidFill>
                  <a:srgbClr val="F4F4F4">
                    <a:lumMod val="25000"/>
                  </a:srgbClr>
                </a:solidFill>
                <a:latin typeface="Noto Sans Thai" panose="020B0502040504020204" pitchFamily="34" charset="-34"/>
                <a:cs typeface="Noto Sans Thai" panose="020B0502040504020204"/>
              </a:rPr>
              <a:t>สูงกว่าตลาดคาด ส่งผลให้ภาพรวมไตรมาส 1 ภาคการส่งออกไทยขยายตัวสูงถึง 17.6% </a:t>
            </a:r>
            <a:r>
              <a:rPr lang="en-US" altLang="en-US" sz="1300" dirty="0">
                <a:solidFill>
                  <a:srgbClr val="F4F4F4">
                    <a:lumMod val="25000"/>
                  </a:srgbClr>
                </a:solidFill>
                <a:latin typeface="Noto Sans Thai" panose="020B0502040504020204" pitchFamily="34" charset="-34"/>
                <a:cs typeface="Noto Sans Thai" panose="020B0502040504020204"/>
              </a:rPr>
              <a:t>YoY</a:t>
            </a:r>
            <a:r>
              <a:rPr lang="th-TH" altLang="en-US" sz="1300" dirty="0">
                <a:solidFill>
                  <a:srgbClr val="F4F4F4">
                    <a:lumMod val="25000"/>
                  </a:srgbClr>
                </a:solidFill>
                <a:latin typeface="Noto Sans Thai" panose="020B0502040504020204" pitchFamily="34" charset="-34"/>
                <a:cs typeface="Noto Sans Thai" panose="020B0502040504020204"/>
              </a:rPr>
              <a:t> แต่ภาคการผลิตกลับขยายตัวเพียง 0.6% สะท้อนถึงปัญหาความไม่เชื่อมโยงกันระหว่างภาคการค้าระหว่างประเทศกับภาคเศรษฐกิจจริงในประเทศอย่างมีนัยสำคัญ ขณะเดียวกัน การนำเข้าที่เร่งตัวสูงถึง 35.7% </a:t>
            </a:r>
            <a:r>
              <a:rPr lang="en-US" altLang="en-US" sz="1300" dirty="0">
                <a:solidFill>
                  <a:srgbClr val="F4F4F4">
                    <a:lumMod val="25000"/>
                  </a:srgbClr>
                </a:solidFill>
                <a:latin typeface="Noto Sans Thai" panose="020B0502040504020204" pitchFamily="34" charset="-34"/>
                <a:cs typeface="Noto Sans Thai" panose="020B0502040504020204"/>
              </a:rPr>
              <a:t>YoY</a:t>
            </a:r>
            <a:r>
              <a:rPr lang="th-TH" altLang="en-US" sz="1300" dirty="0">
                <a:solidFill>
                  <a:srgbClr val="F4F4F4">
                    <a:lumMod val="25000"/>
                  </a:srgbClr>
                </a:solidFill>
                <a:latin typeface="Noto Sans Thai" panose="020B0502040504020204" pitchFamily="34" charset="-34"/>
                <a:cs typeface="Noto Sans Thai" panose="020B0502040504020204"/>
              </a:rPr>
              <a:t> เร็วกว่าการส่งออกมาก ทำให้ไทยยังคงขาดดุลการค้าต่อเนื่องกว่า 3,339.5 ล้านเหรียญดอลลาร์สหรัฐฯ (สะสม 3 เดือนแรก ขาดดุล 9,476.6 ล้านเหรียญดอลลาร์สหรัฐฯ) ซึ่งหมายความว่า แม้ </a:t>
            </a:r>
            <a:r>
              <a:rPr lang="en-US" altLang="en-US" sz="1300" dirty="0">
                <a:solidFill>
                  <a:srgbClr val="F4F4F4">
                    <a:lumMod val="25000"/>
                  </a:srgbClr>
                </a:solidFill>
                <a:latin typeface="Noto Sans Thai" panose="020B0502040504020204" pitchFamily="34" charset="-34"/>
                <a:cs typeface="Noto Sans Thai" panose="020B0502040504020204"/>
              </a:rPr>
              <a:t>Headline exports </a:t>
            </a:r>
            <a:r>
              <a:rPr lang="th-TH" altLang="en-US" sz="1300" dirty="0">
                <a:solidFill>
                  <a:srgbClr val="F4F4F4">
                    <a:lumMod val="25000"/>
                  </a:srgbClr>
                </a:solidFill>
                <a:latin typeface="Noto Sans Thai" panose="020B0502040504020204" pitchFamily="34" charset="-34"/>
                <a:cs typeface="Noto Sans Thai" panose="020B0502040504020204"/>
              </a:rPr>
              <a:t>จะออกมาดีกว่าคาด แต่ </a:t>
            </a:r>
            <a:r>
              <a:rPr lang="en-US" altLang="en-US" sz="1300" dirty="0">
                <a:solidFill>
                  <a:srgbClr val="F4F4F4">
                    <a:lumMod val="25000"/>
                  </a:srgbClr>
                </a:solidFill>
                <a:latin typeface="Noto Sans Thai" panose="020B0502040504020204" pitchFamily="34" charset="-34"/>
                <a:cs typeface="Noto Sans Thai" panose="020B0502040504020204"/>
              </a:rPr>
              <a:t>Contribution </a:t>
            </a:r>
            <a:r>
              <a:rPr lang="th-TH" altLang="en-US" sz="1300" dirty="0">
                <a:solidFill>
                  <a:srgbClr val="F4F4F4">
                    <a:lumMod val="25000"/>
                  </a:srgbClr>
                </a:solidFill>
                <a:latin typeface="Noto Sans Thai" panose="020B0502040504020204" pitchFamily="34" charset="-34"/>
                <a:cs typeface="Noto Sans Thai" panose="020B0502040504020204"/>
              </a:rPr>
              <a:t>ของมูลค่าส่งออกสุทธิต่อ </a:t>
            </a:r>
            <a:r>
              <a:rPr lang="en-US" altLang="en-US" sz="1300" dirty="0">
                <a:solidFill>
                  <a:srgbClr val="F4F4F4">
                    <a:lumMod val="25000"/>
                  </a:srgbClr>
                </a:solidFill>
                <a:latin typeface="Noto Sans Thai" panose="020B0502040504020204" pitchFamily="34" charset="-34"/>
                <a:cs typeface="Noto Sans Thai" panose="020B0502040504020204"/>
              </a:rPr>
              <a:t>GDP </a:t>
            </a:r>
            <a:r>
              <a:rPr lang="th-TH" altLang="en-US" sz="1300" dirty="0">
                <a:solidFill>
                  <a:srgbClr val="F4F4F4">
                    <a:lumMod val="25000"/>
                  </a:srgbClr>
                </a:solidFill>
                <a:latin typeface="Noto Sans Thai" panose="020B0502040504020204" pitchFamily="34" charset="-34"/>
                <a:cs typeface="Noto Sans Thai" panose="020B0502040504020204"/>
              </a:rPr>
              <a:t>กลับมีแนวโน้มจำกัด ทั้งนี้ การนำเข้าที่เร่งตัวส่วนหนึ่งสะท้อนการนำเข้าสินค้าทุนเพื่อรองรับ </a:t>
            </a:r>
            <a:r>
              <a:rPr lang="en-US" altLang="en-US" sz="1300" dirty="0">
                <a:solidFill>
                  <a:srgbClr val="F4F4F4">
                    <a:lumMod val="25000"/>
                  </a:srgbClr>
                </a:solidFill>
                <a:latin typeface="Noto Sans Thai" panose="020B0502040504020204" pitchFamily="34" charset="-34"/>
                <a:cs typeface="Noto Sans Thai" panose="020B0502040504020204"/>
              </a:rPr>
              <a:t>FDI </a:t>
            </a:r>
            <a:r>
              <a:rPr lang="th-TH" altLang="en-US" sz="1300" dirty="0">
                <a:solidFill>
                  <a:srgbClr val="F4F4F4">
                    <a:lumMod val="25000"/>
                  </a:srgbClr>
                </a:solidFill>
                <a:latin typeface="Noto Sans Thai" panose="020B0502040504020204" pitchFamily="34" charset="-34"/>
                <a:cs typeface="Noto Sans Thai" panose="020B0502040504020204"/>
              </a:rPr>
              <a:t>ในกลุ่มอุตสาหกรรมดิจิทัลและอิเล็กทรอนิกส์ ซึ่งเป็นบวกต่อศักยภาพเศรษฐกิจในระยะกลาง แต่ในระยะสั้นกลับกดดันดุลการค้า นอกจากนี้ ประเด็น </a:t>
            </a:r>
            <a:r>
              <a:rPr lang="en-US" altLang="en-US" sz="1300" dirty="0">
                <a:solidFill>
                  <a:srgbClr val="F4F4F4">
                    <a:lumMod val="25000"/>
                  </a:srgbClr>
                </a:solidFill>
                <a:latin typeface="Noto Sans Thai" panose="020B0502040504020204" pitchFamily="34" charset="-34"/>
                <a:cs typeface="Noto Sans Thai" panose="020B0502040504020204"/>
              </a:rPr>
              <a:t>Transshipment</a:t>
            </a:r>
            <a:r>
              <a:rPr lang="th-TH" altLang="en-US" sz="1300" dirty="0">
                <a:solidFill>
                  <a:srgbClr val="F4F4F4">
                    <a:lumMod val="25000"/>
                  </a:srgbClr>
                </a:solidFill>
                <a:latin typeface="Noto Sans Thai" panose="020B0502040504020204" pitchFamily="34" charset="-34"/>
                <a:cs typeface="Noto Sans Thai" panose="020B0502040504020204"/>
              </a:rPr>
              <a:t> ยังเป็นอีกปัจจัยที่ต้องติดตามอย่างใกล้ชิด เนื่องจากอาจทำให้ตัวเลขการค้าเติบโตเร็วกว่าการผลิตจริงในประเทศ</a:t>
            </a:r>
            <a:endParaRPr lang="en-US" altLang="en-US" sz="1300" dirty="0">
              <a:solidFill>
                <a:srgbClr val="F4F4F4">
                  <a:lumMod val="25000"/>
                </a:srgbClr>
              </a:solidFill>
              <a:latin typeface="Noto Sans Thai" panose="020B0502040504020204" pitchFamily="34" charset="-34"/>
              <a:cs typeface="Noto Sans Thai" panose="020B0502040504020204"/>
            </a:endParaRPr>
          </a:p>
          <a:p>
            <a:pPr marL="128588" indent="-128588" algn="thaiDist" defTabSz="685800">
              <a:lnSpc>
                <a:spcPct val="120000"/>
              </a:lnSpc>
              <a:spcBef>
                <a:spcPts val="300"/>
              </a:spcBef>
              <a:buFont typeface="Arial" panose="020B0604020202020204" pitchFamily="34" charset="0"/>
              <a:buChar char="•"/>
            </a:pPr>
            <a:r>
              <a:rPr lang="en-US" altLang="en-US" sz="1300" dirty="0">
                <a:solidFill>
                  <a:srgbClr val="F4F4F4">
                    <a:lumMod val="25000"/>
                  </a:srgbClr>
                </a:solidFill>
                <a:latin typeface="Noto Sans Thai" panose="020B0502040504020204" pitchFamily="34" charset="-34"/>
                <a:cs typeface="Noto Sans Thai" panose="020B0502040504020204"/>
              </a:rPr>
              <a:t>GDP </a:t>
            </a:r>
            <a:r>
              <a:rPr lang="th-TH" altLang="en-US" sz="1300" dirty="0">
                <a:solidFill>
                  <a:srgbClr val="F4F4F4">
                    <a:lumMod val="25000"/>
                  </a:srgbClr>
                </a:solidFill>
                <a:latin typeface="Noto Sans Thai" panose="020B0502040504020204" pitchFamily="34" charset="-34"/>
                <a:cs typeface="Noto Sans Thai" panose="020B0502040504020204"/>
              </a:rPr>
              <a:t>ไทยไตรมาส 2 และไตรมาส 3 ปี 2026 อาจต้องเผชิญแรงกดดันมากกว่าคาด (โดยอาจขยายตัวเพียง 0.9</a:t>
            </a:r>
            <a:r>
              <a:rPr lang="en-US" altLang="en-US" sz="1300" dirty="0">
                <a:solidFill>
                  <a:srgbClr val="F4F4F4">
                    <a:lumMod val="25000"/>
                  </a:srgbClr>
                </a:solidFill>
                <a:latin typeface="Noto Sans Thai" panose="020B0502040504020204" pitchFamily="34" charset="-34"/>
                <a:cs typeface="Noto Sans Thai" panose="020B0502040504020204"/>
              </a:rPr>
              <a:t>% YoY) </a:t>
            </a:r>
            <a:r>
              <a:rPr lang="th-TH" altLang="en-US" sz="1300" dirty="0">
                <a:solidFill>
                  <a:srgbClr val="F4F4F4">
                    <a:lumMod val="25000"/>
                  </a:srgbClr>
                </a:solidFill>
                <a:latin typeface="Noto Sans Thai" panose="020B0502040504020204" pitchFamily="34" charset="-34"/>
                <a:cs typeface="Noto Sans Thai" panose="020B0502040504020204"/>
              </a:rPr>
              <a:t>โดยเฉพาะภาคการบริโภคไทยมีแนวโน้มถูกกดดันเพิ่มเติม อันเนื่องมาจากราคาพลังงานในประเทศที่ปรับตัวสูงขึ้น ซึ่งกำลังก่อให้เกิด </a:t>
            </a:r>
            <a:r>
              <a:rPr lang="en-US" altLang="en-US" sz="1300" dirty="0">
                <a:solidFill>
                  <a:srgbClr val="F4F4F4">
                    <a:lumMod val="25000"/>
                  </a:srgbClr>
                </a:solidFill>
                <a:latin typeface="Noto Sans Thai" panose="020B0502040504020204" pitchFamily="34" charset="-34"/>
                <a:cs typeface="Noto Sans Thai" panose="020B0502040504020204"/>
              </a:rPr>
              <a:t>Cost shock </a:t>
            </a:r>
            <a:r>
              <a:rPr lang="th-TH" altLang="en-US" sz="1300" dirty="0">
                <a:solidFill>
                  <a:srgbClr val="F4F4F4">
                    <a:lumMod val="25000"/>
                  </a:srgbClr>
                </a:solidFill>
                <a:latin typeface="Noto Sans Thai" panose="020B0502040504020204" pitchFamily="34" charset="-34"/>
                <a:cs typeface="Noto Sans Thai" panose="020B0502040504020204"/>
              </a:rPr>
              <a:t>ในวงกว้าง และมีแนวโน้มส่งผ่านไปยังราคาสินค้าและบริการหลายหมวด ทั้งอาหาร ค่าขนส่ง และสินค้าอุปโภคบริโภคในชีวิตประจำวัน ส่งผลให้ค่าครองชีพเร่งตัวขึ้นเร็วและบั่นทอนกำลังซื้อของภาคครัวเรือนเพิ่มเติม โดยเฉพาะในภาวะที่ระดับหนี้ครัวเรือนยังอยู่ในระดับสูง ในฝั่งภาคธุรกิจ การเพิ่มขึ้นของต้นทุนท่ามกลางอุปสงค์ที่ยังอ่อนแอ ทำให้การส่งผ่านต้นทุนไม่สามารถเกิดขึ้นได้อย่างสมบูรณ์ ส่งผลให้ </a:t>
            </a:r>
            <a:r>
              <a:rPr lang="en-US" altLang="en-US" sz="1300" dirty="0">
                <a:solidFill>
                  <a:srgbClr val="F4F4F4">
                    <a:lumMod val="25000"/>
                  </a:srgbClr>
                </a:solidFill>
                <a:latin typeface="Noto Sans Thai" panose="020B0502040504020204" pitchFamily="34" charset="-34"/>
                <a:cs typeface="Noto Sans Thai" panose="020B0502040504020204"/>
              </a:rPr>
              <a:t>Profit margin </a:t>
            </a:r>
            <a:r>
              <a:rPr lang="th-TH" altLang="en-US" sz="1300" dirty="0">
                <a:solidFill>
                  <a:srgbClr val="F4F4F4">
                    <a:lumMod val="25000"/>
                  </a:srgbClr>
                </a:solidFill>
                <a:latin typeface="Noto Sans Thai" panose="020B0502040504020204" pitchFamily="34" charset="-34"/>
                <a:cs typeface="Noto Sans Thai" panose="020B0502040504020204"/>
              </a:rPr>
              <a:t>ของภาคธุรกิจต้องเผชิญกับความท้าทายเพิ่มขึ้น และอาจเป็นการเพิ่มความเสี่ยงที่ภาคเอกชนจะชะลอการลงทุนในระยะสั้น ขณะเดียวกัน ภาคการท่องเที่ยวเองก็อาจได้รับผลกระทบจากต้นทุนการเดินทางที่สูงขึ้น โดยเฉพาะนักท่องเที่ยวระยะไกล ทั้งนี้ การเกิด </a:t>
            </a:r>
            <a:r>
              <a:rPr lang="en-US" altLang="en-US" sz="1300" dirty="0">
                <a:solidFill>
                  <a:srgbClr val="F4F4F4">
                    <a:lumMod val="25000"/>
                  </a:srgbClr>
                </a:solidFill>
                <a:latin typeface="Noto Sans Thai" panose="020B0502040504020204" pitchFamily="34" charset="-34"/>
                <a:cs typeface="Noto Sans Thai" panose="020B0502040504020204"/>
              </a:rPr>
              <a:t>Cost-push inflation </a:t>
            </a:r>
            <a:r>
              <a:rPr lang="th-TH" altLang="en-US" sz="1300" dirty="0">
                <a:solidFill>
                  <a:srgbClr val="F4F4F4">
                    <a:lumMod val="25000"/>
                  </a:srgbClr>
                </a:solidFill>
                <a:latin typeface="Noto Sans Thai" panose="020B0502040504020204" pitchFamily="34" charset="-34"/>
                <a:cs typeface="Noto Sans Thai" panose="020B0502040504020204"/>
              </a:rPr>
              <a:t>ภายใต้อุปสงค์ในประเทศที่ยังไม่แข็งแรง นับว่าเป็นการเพิ่มความเสี่ยงต่อเศรษฐกิจไทยให้มีลักษณะของการฟื้นตัวไม่ทั่วถึงต่อไป และอาจทำให้ </a:t>
            </a:r>
            <a:r>
              <a:rPr lang="en-US" altLang="en-US" sz="1300" dirty="0">
                <a:solidFill>
                  <a:srgbClr val="F4F4F4">
                    <a:lumMod val="25000"/>
                  </a:srgbClr>
                </a:solidFill>
                <a:latin typeface="Noto Sans Thai" panose="020B0502040504020204" pitchFamily="34" charset="-34"/>
                <a:cs typeface="Noto Sans Thai" panose="020B0502040504020204"/>
              </a:rPr>
              <a:t>GDP </a:t>
            </a:r>
            <a:r>
              <a:rPr lang="th-TH" altLang="en-US" sz="1300" dirty="0">
                <a:solidFill>
                  <a:srgbClr val="F4F4F4">
                    <a:lumMod val="25000"/>
                  </a:srgbClr>
                </a:solidFill>
                <a:latin typeface="Noto Sans Thai" panose="020B0502040504020204" pitchFamily="34" charset="-34"/>
                <a:cs typeface="Noto Sans Thai" panose="020B0502040504020204"/>
              </a:rPr>
              <a:t>ไทยปี 2026 ชะลอลงเหลือเพียง 1.4% (กรณีฐาน) โดยแรงกดดันหลักมาจากการชะลอตัวของภาคการบริโภคในประเทศที่อาจลดลงเหลือ 1.8% จากประมาณการเดิมที่ 2.6%</a:t>
            </a:r>
          </a:p>
          <a:p>
            <a:pPr marL="128588" indent="-128588" algn="thaiDist" defTabSz="685800">
              <a:lnSpc>
                <a:spcPct val="120000"/>
              </a:lnSpc>
              <a:spcBef>
                <a:spcPts val="300"/>
              </a:spcBef>
              <a:buFont typeface="Arial" panose="020B0604020202020204" pitchFamily="34" charset="0"/>
              <a:buChar char="•"/>
            </a:pPr>
            <a:r>
              <a:rPr lang="th-TH" altLang="en-US" sz="1300" dirty="0">
                <a:solidFill>
                  <a:srgbClr val="F4F4F4">
                    <a:lumMod val="25000"/>
                  </a:srgbClr>
                </a:solidFill>
                <a:latin typeface="Noto Sans Thai" panose="020B0502040504020204" pitchFamily="34" charset="-34"/>
                <a:cs typeface="Noto Sans Thai" panose="020B0502040504020204"/>
              </a:rPr>
              <a:t>แรงกดดันเงินเฟ้อในประเทศระลอกนี้เป็นที่น่ากังวล (แม้ในช่วง 3 เดือนแรกของปี 2026 อัตราเงินเฟ้อทั่วไปจะหดตัวอยู่ที่ 0.</a:t>
            </a:r>
            <a:r>
              <a:rPr lang="en-US" altLang="en-US" sz="1300" dirty="0">
                <a:solidFill>
                  <a:srgbClr val="F4F4F4">
                    <a:lumMod val="25000"/>
                  </a:srgbClr>
                </a:solidFill>
                <a:latin typeface="Noto Sans Thai" panose="020B0502040504020204" pitchFamily="34" charset="-34"/>
                <a:cs typeface="Noto Sans Thai" panose="020B0502040504020204"/>
              </a:rPr>
              <a:t>54% </a:t>
            </a:r>
            <a:r>
              <a:rPr lang="en-US" altLang="en-US" sz="1300" dirty="0" err="1">
                <a:solidFill>
                  <a:srgbClr val="F4F4F4">
                    <a:lumMod val="25000"/>
                  </a:srgbClr>
                </a:solidFill>
                <a:latin typeface="Noto Sans Thai" panose="020B0502040504020204" pitchFamily="34" charset="-34"/>
                <a:cs typeface="Noto Sans Thai" panose="020B0502040504020204"/>
              </a:rPr>
              <a:t>จากแรงกดดันด้าน</a:t>
            </a:r>
            <a:r>
              <a:rPr lang="th-TH" altLang="en-US" sz="1300" dirty="0">
                <a:solidFill>
                  <a:srgbClr val="F4F4F4">
                    <a:lumMod val="25000"/>
                  </a:srgbClr>
                </a:solidFill>
                <a:latin typeface="Noto Sans Thai" panose="020B0502040504020204" pitchFamily="34" charset="-34"/>
                <a:cs typeface="Noto Sans Thai" panose="020B0502040504020204"/>
              </a:rPr>
              <a:t>ราคาพลังงาน) เนื่องจากมีลักษณะเป็น </a:t>
            </a:r>
            <a:r>
              <a:rPr lang="en-US" altLang="en-US" sz="1300" dirty="0">
                <a:solidFill>
                  <a:srgbClr val="F4F4F4">
                    <a:lumMod val="25000"/>
                  </a:srgbClr>
                </a:solidFill>
                <a:latin typeface="Noto Sans Thai" panose="020B0502040504020204" pitchFamily="34" charset="-34"/>
                <a:cs typeface="Noto Sans Thai" panose="020B0502040504020204"/>
              </a:rPr>
              <a:t>Cost-push inflation </a:t>
            </a:r>
            <a:r>
              <a:rPr lang="th-TH" altLang="en-US" sz="1300" dirty="0">
                <a:solidFill>
                  <a:srgbClr val="F4F4F4">
                    <a:lumMod val="25000"/>
                  </a:srgbClr>
                </a:solidFill>
                <a:latin typeface="Noto Sans Thai" panose="020B0502040504020204" pitchFamily="34" charset="-34"/>
                <a:cs typeface="Noto Sans Thai" panose="020B0502040504020204"/>
              </a:rPr>
              <a:t>หรือภาวะเงินเฟ้อที่เกิดจากต้นทุนพลังงานที่สูงขึ้น ทำให้ต้นทุนการผลิตเพิ่มขึ้นตามไปด้วย ผู้ประกอบการอาจจำเป็นต้องปรับขึ้นราคาสินค้าและบริการ แม้ว่าอุปสงค์ในประเทศอาจไม่ได้เพิ่มขึ้นก็ตาม และอาจเป็นการกดดัน </a:t>
            </a:r>
            <a:r>
              <a:rPr lang="en-US" altLang="en-US" sz="1300" dirty="0">
                <a:solidFill>
                  <a:srgbClr val="F4F4F4">
                    <a:lumMod val="25000"/>
                  </a:srgbClr>
                </a:solidFill>
                <a:latin typeface="Noto Sans Thai" panose="020B0502040504020204" pitchFamily="34" charset="-34"/>
                <a:cs typeface="Noto Sans Thai" panose="020B0502040504020204"/>
              </a:rPr>
              <a:t>Margin</a:t>
            </a:r>
            <a:r>
              <a:rPr lang="th-TH" altLang="en-US" sz="1300" dirty="0">
                <a:solidFill>
                  <a:srgbClr val="F4F4F4">
                    <a:lumMod val="25000"/>
                  </a:srgbClr>
                </a:solidFill>
                <a:latin typeface="Noto Sans Thai" panose="020B0502040504020204" pitchFamily="34" charset="-34"/>
                <a:cs typeface="Noto Sans Thai" panose="020B0502040504020204"/>
              </a:rPr>
              <a:t> ของภาคธุรกิจในบางอุตสาหกรรมที่ผู้บริโภคมีความอ่อนไหวต่อราคา ทั้งนี้ ความรุนแรงของผลกระทบจากการขึ้นราคาน้ำมันจะขึ้นอยู่กับระยะเวลาที่ราคาน้ำมันทรงอยู่ในระดับสูง โดยเฉพาะการที่ราคาน้ำมันดีเซลทรงตัวสูง 2 เดือน อัตราเงินเฟ้อทั่วไปจะเพิ่มขึ้นราว 1.5% แต่หากยืดเยื้อ อัตราเงินเฟ้อทั่วไปอาจเร่งขึ้นถึง 2.9% </a:t>
            </a:r>
            <a:r>
              <a:rPr lang="th-TH" altLang="en-US" sz="1300" spc="-20" dirty="0">
                <a:solidFill>
                  <a:srgbClr val="F4F4F4">
                    <a:lumMod val="25000"/>
                  </a:srgbClr>
                </a:solidFill>
                <a:latin typeface="Noto Sans Thai" panose="020B0502040504020204" pitchFamily="34" charset="-34"/>
                <a:cs typeface="Noto Sans Thai" panose="020B0502040504020204"/>
              </a:rPr>
              <a:t>ส่วนอัตราดอกเบี้ยนโยบาย คาดว่า กนง. จะยังคงอัตราดอกเบี้ยนโยบายเหลือ 1.0</a:t>
            </a:r>
            <a:r>
              <a:rPr lang="en-US" altLang="en-US" sz="1300" spc="-20" dirty="0">
                <a:solidFill>
                  <a:srgbClr val="F4F4F4">
                    <a:lumMod val="25000"/>
                  </a:srgbClr>
                </a:solidFill>
                <a:latin typeface="Noto Sans Thai" panose="020B0502040504020204" pitchFamily="34" charset="-34"/>
                <a:cs typeface="Noto Sans Thai" panose="020B0502040504020204"/>
              </a:rPr>
              <a:t>% </a:t>
            </a:r>
            <a:r>
              <a:rPr lang="en-US" altLang="en-US" sz="1300" spc="-20" dirty="0" err="1">
                <a:solidFill>
                  <a:srgbClr val="F4F4F4">
                    <a:lumMod val="25000"/>
                  </a:srgbClr>
                </a:solidFill>
                <a:latin typeface="Noto Sans Thai" panose="020B0502040504020204" pitchFamily="34" charset="-34"/>
                <a:cs typeface="Noto Sans Thai" panose="020B0502040504020204"/>
              </a:rPr>
              <a:t>จนถึงสิ้นปี</a:t>
            </a:r>
            <a:r>
              <a:rPr lang="en-US" altLang="en-US" sz="1300" spc="-20" dirty="0">
                <a:solidFill>
                  <a:srgbClr val="F4F4F4">
                    <a:lumMod val="25000"/>
                  </a:srgbClr>
                </a:solidFill>
                <a:latin typeface="Noto Sans Thai" panose="020B0502040504020204" pitchFamily="34" charset="-34"/>
                <a:cs typeface="Noto Sans Thai" panose="020B0502040504020204"/>
              </a:rPr>
              <a:t> 2026 </a:t>
            </a:r>
            <a:r>
              <a:rPr lang="th-TH" altLang="en-US" sz="1300" spc="-20" dirty="0">
                <a:solidFill>
                  <a:srgbClr val="F4F4F4">
                    <a:lumMod val="25000"/>
                  </a:srgbClr>
                </a:solidFill>
                <a:latin typeface="Noto Sans Thai" panose="020B0502040504020204" pitchFamily="34" charset="-34"/>
                <a:cs typeface="Noto Sans Thai" panose="020B0502040504020204"/>
              </a:rPr>
              <a:t>ภายใต้การรักษา </a:t>
            </a:r>
            <a:r>
              <a:rPr lang="en-US" altLang="en-US" sz="1300" spc="-20" dirty="0">
                <a:solidFill>
                  <a:srgbClr val="F4F4F4">
                    <a:lumMod val="25000"/>
                  </a:srgbClr>
                </a:solidFill>
                <a:latin typeface="Noto Sans Thai" panose="020B0502040504020204" pitchFamily="34" charset="-34"/>
                <a:cs typeface="Noto Sans Thai" panose="020B0502040504020204"/>
              </a:rPr>
              <a:t>policy space </a:t>
            </a:r>
            <a:r>
              <a:rPr lang="th-TH" altLang="en-US" sz="1300" spc="-20" dirty="0">
                <a:solidFill>
                  <a:srgbClr val="F4F4F4">
                    <a:lumMod val="25000"/>
                  </a:srgbClr>
                </a:solidFill>
                <a:latin typeface="Noto Sans Thai" panose="020B0502040504020204" pitchFamily="34" charset="-34"/>
                <a:cs typeface="Noto Sans Thai" panose="020B0502040504020204"/>
              </a:rPr>
              <a:t>สำหรับความเสี่ยงที่อาจเกิดขึ้นในอนาคตเพิ่มเติม</a:t>
            </a:r>
          </a:p>
        </p:txBody>
      </p:sp>
      <p:sp>
        <p:nvSpPr>
          <p:cNvPr id="24" name="Text Placeholder 6">
            <a:extLst>
              <a:ext uri="{FF2B5EF4-FFF2-40B4-BE49-F238E27FC236}">
                <a16:creationId xmlns:a16="http://schemas.microsoft.com/office/drawing/2014/main" id="{99621ADC-4E6D-4115-9E77-633A0EE65873}"/>
              </a:ext>
            </a:extLst>
          </p:cNvPr>
          <p:cNvSpPr txBox="1">
            <a:spLocks/>
          </p:cNvSpPr>
          <p:nvPr/>
        </p:nvSpPr>
        <p:spPr>
          <a:xfrm>
            <a:off x="222420" y="6490803"/>
            <a:ext cx="3249546"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dirty="0">
                <a:solidFill>
                  <a:schemeClr val="tx1"/>
                </a:solidFill>
                <a:latin typeface="+mj-lt"/>
                <a:ea typeface="Tahoma" panose="020B0604030504040204" pitchFamily="34" charset="0"/>
                <a:cs typeface="+mn-cs"/>
              </a:rPr>
              <a:t>Sources: </a:t>
            </a:r>
            <a:r>
              <a:rPr lang="en-US" altLang="en-US" sz="900" dirty="0" err="1">
                <a:solidFill>
                  <a:schemeClr val="tx1"/>
                </a:solidFill>
                <a:latin typeface="+mj-lt"/>
                <a:ea typeface="Tahoma" panose="020B0604030504040204" pitchFamily="34" charset="0"/>
                <a:cs typeface="+mn-cs"/>
              </a:rPr>
              <a:t>Bualuang</a:t>
            </a:r>
            <a:r>
              <a:rPr lang="en-US" altLang="en-US" sz="900" dirty="0">
                <a:solidFill>
                  <a:schemeClr val="tx1"/>
                </a:solidFill>
                <a:latin typeface="+mj-lt"/>
                <a:ea typeface="Tahoma" panose="020B0604030504040204" pitchFamily="34" charset="0"/>
                <a:cs typeface="+mn-cs"/>
              </a:rPr>
              <a:t> Research</a:t>
            </a:r>
            <a:endParaRPr lang="en-US" sz="900" dirty="0">
              <a:solidFill>
                <a:schemeClr val="tx1"/>
              </a:solidFill>
              <a:latin typeface="+mj-lt"/>
              <a:ea typeface="Tahoma" panose="020B0604030504040204" pitchFamily="34" charset="0"/>
              <a:cs typeface="+mn-cs"/>
            </a:endParaRPr>
          </a:p>
        </p:txBody>
      </p:sp>
      <p:sp>
        <p:nvSpPr>
          <p:cNvPr id="25" name="Text Placeholder 4">
            <a:extLst>
              <a:ext uri="{FF2B5EF4-FFF2-40B4-BE49-F238E27FC236}">
                <a16:creationId xmlns:a16="http://schemas.microsoft.com/office/drawing/2014/main" id="{5C737D16-0FA3-4B6A-9510-FA91456494F6}"/>
              </a:ext>
            </a:extLst>
          </p:cNvPr>
          <p:cNvSpPr txBox="1">
            <a:spLocks/>
          </p:cNvSpPr>
          <p:nvPr/>
        </p:nvSpPr>
        <p:spPr>
          <a:xfrm>
            <a:off x="222420" y="4014500"/>
            <a:ext cx="3571817" cy="296238"/>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Aft>
                <a:spcPts val="450"/>
              </a:spcAft>
            </a:pPr>
            <a:r>
              <a:rPr lang="th-TH" altLang="en-US" b="1" dirty="0">
                <a:latin typeface="Noto Sans Thai" panose="020B0502040504020204" pitchFamily="34" charset="-34"/>
                <a:ea typeface="Tahoma" panose="020B0604030504040204" pitchFamily="34" charset="0"/>
                <a:cs typeface="Noto Sans Thai" panose="020B0502040504020204"/>
              </a:rPr>
              <a:t>ประมาณการ</a:t>
            </a:r>
            <a:r>
              <a:rPr lang="en-US" altLang="en-US" b="1" dirty="0">
                <a:latin typeface="Noto Sans Thai" panose="020B0502040504020204" pitchFamily="34" charset="-34"/>
                <a:ea typeface="Tahoma" panose="020B0604030504040204" pitchFamily="34" charset="0"/>
                <a:cs typeface="Noto Sans Thai" panose="020B0502040504020204"/>
              </a:rPr>
              <a:t> GDP </a:t>
            </a:r>
            <a:r>
              <a:rPr lang="en-US" altLang="en-US" b="1" dirty="0" err="1">
                <a:latin typeface="Noto Sans Thai" panose="020B0502040504020204" pitchFamily="34" charset="-34"/>
                <a:ea typeface="Tahoma" panose="020B0604030504040204" pitchFamily="34" charset="0"/>
                <a:cs typeface="Noto Sans Thai" panose="020B0502040504020204"/>
              </a:rPr>
              <a:t>QoQsa</a:t>
            </a:r>
            <a:r>
              <a:rPr lang="th-TH" altLang="en-US" b="1" dirty="0">
                <a:latin typeface="Noto Sans Thai" panose="020B0502040504020204" pitchFamily="34" charset="-34"/>
                <a:ea typeface="Tahoma" panose="020B0604030504040204" pitchFamily="34" charset="0"/>
                <a:cs typeface="Noto Sans Thai" panose="020B0502040504020204"/>
              </a:rPr>
              <a:t> รายไตรมาส</a:t>
            </a:r>
          </a:p>
        </p:txBody>
      </p:sp>
      <p:pic>
        <p:nvPicPr>
          <p:cNvPr id="4" name="Picture 3">
            <a:extLst>
              <a:ext uri="{FF2B5EF4-FFF2-40B4-BE49-F238E27FC236}">
                <a16:creationId xmlns:a16="http://schemas.microsoft.com/office/drawing/2014/main" id="{AE7BFDAA-2437-7EB5-CB58-3AC6D77114C3}"/>
              </a:ext>
            </a:extLst>
          </p:cNvPr>
          <p:cNvPicPr>
            <a:picLocks noChangeAspect="1"/>
          </p:cNvPicPr>
          <p:nvPr/>
        </p:nvPicPr>
        <p:blipFill>
          <a:blip r:embed="rId3"/>
          <a:stretch>
            <a:fillRect/>
          </a:stretch>
        </p:blipFill>
        <p:spPr>
          <a:xfrm>
            <a:off x="191896" y="1408592"/>
            <a:ext cx="3571816" cy="2539909"/>
          </a:xfrm>
          <a:prstGeom prst="rect">
            <a:avLst/>
          </a:prstGeom>
        </p:spPr>
      </p:pic>
      <p:pic>
        <p:nvPicPr>
          <p:cNvPr id="9" name="Picture 8">
            <a:extLst>
              <a:ext uri="{FF2B5EF4-FFF2-40B4-BE49-F238E27FC236}">
                <a16:creationId xmlns:a16="http://schemas.microsoft.com/office/drawing/2014/main" id="{A348C321-68F5-FFAA-1409-9269A1543B3F}"/>
              </a:ext>
            </a:extLst>
          </p:cNvPr>
          <p:cNvPicPr>
            <a:picLocks noChangeAspect="1"/>
          </p:cNvPicPr>
          <p:nvPr/>
        </p:nvPicPr>
        <p:blipFill rotWithShape="1">
          <a:blip r:embed="rId4"/>
          <a:srcRect l="818" t="3662" r="1810" b="2919"/>
          <a:stretch/>
        </p:blipFill>
        <p:spPr>
          <a:xfrm>
            <a:off x="191896" y="4310737"/>
            <a:ext cx="3571816" cy="2125229"/>
          </a:xfrm>
          <a:prstGeom prst="rect">
            <a:avLst/>
          </a:prstGeom>
        </p:spPr>
      </p:pic>
    </p:spTree>
    <p:extLst>
      <p:ext uri="{BB962C8B-B14F-4D97-AF65-F5344CB8AC3E}">
        <p14:creationId xmlns:p14="http://schemas.microsoft.com/office/powerpoint/2010/main" val="1566482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F2A684F1-3115-7F64-46C4-2952A2528969}"/>
              </a:ext>
            </a:extLst>
          </p:cNvPr>
          <p:cNvPicPr>
            <a:picLocks noChangeAspect="1"/>
          </p:cNvPicPr>
          <p:nvPr/>
        </p:nvPicPr>
        <p:blipFill rotWithShape="1">
          <a:blip r:embed="rId3"/>
          <a:srcRect t="18194" b="9780"/>
          <a:stretch/>
        </p:blipFill>
        <p:spPr>
          <a:xfrm>
            <a:off x="6060146" y="4476750"/>
            <a:ext cx="5103154" cy="2258495"/>
          </a:xfrm>
          <a:prstGeom prst="rect">
            <a:avLst/>
          </a:prstGeom>
        </p:spPr>
      </p:pic>
      <p:pic>
        <p:nvPicPr>
          <p:cNvPr id="8" name="Picture 7">
            <a:extLst>
              <a:ext uri="{FF2B5EF4-FFF2-40B4-BE49-F238E27FC236}">
                <a16:creationId xmlns:a16="http://schemas.microsoft.com/office/drawing/2014/main" id="{F967B073-276B-7807-99AD-61C587CC33A8}"/>
              </a:ext>
            </a:extLst>
          </p:cNvPr>
          <p:cNvPicPr>
            <a:picLocks noChangeAspect="1"/>
          </p:cNvPicPr>
          <p:nvPr/>
        </p:nvPicPr>
        <p:blipFill>
          <a:blip r:embed="rId4"/>
          <a:stretch>
            <a:fillRect/>
          </a:stretch>
        </p:blipFill>
        <p:spPr>
          <a:xfrm>
            <a:off x="307040" y="1303784"/>
            <a:ext cx="4544056" cy="4528362"/>
          </a:xfrm>
          <a:prstGeom prst="rect">
            <a:avLst/>
          </a:prstGeom>
        </p:spPr>
      </p:pic>
      <p:sp>
        <p:nvSpPr>
          <p:cNvPr id="30" name="TextBox 10">
            <a:extLst>
              <a:ext uri="{FF2B5EF4-FFF2-40B4-BE49-F238E27FC236}">
                <a16:creationId xmlns:a16="http://schemas.microsoft.com/office/drawing/2014/main" id="{01B9481D-6202-4BA7-93A9-5EA0DC09566A}"/>
              </a:ext>
            </a:extLst>
          </p:cNvPr>
          <p:cNvSpPr txBox="1">
            <a:spLocks noChangeArrowheads="1"/>
          </p:cNvSpPr>
          <p:nvPr/>
        </p:nvSpPr>
        <p:spPr bwMode="auto">
          <a:xfrm>
            <a:off x="12224505" y="5857662"/>
            <a:ext cx="112273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Arial" charset="0"/>
                <a:cs typeface="Angsana New" pitchFamily="18" charset="-34"/>
              </a:defRPr>
            </a:lvl1pPr>
            <a:lvl2pPr marL="742950" indent="-285750" eaLnBrk="0" hangingPunct="0">
              <a:defRPr sz="2800">
                <a:solidFill>
                  <a:schemeClr val="tx1"/>
                </a:solidFill>
                <a:latin typeface="Arial" charset="0"/>
                <a:cs typeface="Angsana New" pitchFamily="18" charset="-34"/>
              </a:defRPr>
            </a:lvl2pPr>
            <a:lvl3pPr marL="1143000" indent="-228600" eaLnBrk="0" hangingPunct="0">
              <a:defRPr sz="2800">
                <a:solidFill>
                  <a:schemeClr val="tx1"/>
                </a:solidFill>
                <a:latin typeface="Arial" charset="0"/>
                <a:cs typeface="Angsana New" pitchFamily="18" charset="-34"/>
              </a:defRPr>
            </a:lvl3pPr>
            <a:lvl4pPr marL="1600200" indent="-228600" eaLnBrk="0" hangingPunct="0">
              <a:defRPr sz="2800">
                <a:solidFill>
                  <a:schemeClr val="tx1"/>
                </a:solidFill>
                <a:latin typeface="Arial" charset="0"/>
                <a:cs typeface="Angsana New" pitchFamily="18" charset="-34"/>
              </a:defRPr>
            </a:lvl4pPr>
            <a:lvl5pPr marL="2057400" indent="-228600" eaLnBrk="0" hangingPunct="0">
              <a:defRPr sz="2800">
                <a:solidFill>
                  <a:schemeClr val="tx1"/>
                </a:solidFill>
                <a:latin typeface="Arial" charset="0"/>
                <a:cs typeface="Angsana New" pitchFamily="18" charset="-34"/>
              </a:defRPr>
            </a:lvl5pPr>
            <a:lvl6pPr marL="2514600" indent="-228600" algn="ctr" eaLnBrk="0" fontAlgn="base" hangingPunct="0">
              <a:spcBef>
                <a:spcPct val="0"/>
              </a:spcBef>
              <a:spcAft>
                <a:spcPct val="0"/>
              </a:spcAft>
              <a:defRPr sz="2800">
                <a:solidFill>
                  <a:schemeClr val="tx1"/>
                </a:solidFill>
                <a:latin typeface="Arial" charset="0"/>
                <a:cs typeface="Angsana New" pitchFamily="18" charset="-34"/>
              </a:defRPr>
            </a:lvl6pPr>
            <a:lvl7pPr marL="2971800" indent="-228600" algn="ctr" eaLnBrk="0" fontAlgn="base" hangingPunct="0">
              <a:spcBef>
                <a:spcPct val="0"/>
              </a:spcBef>
              <a:spcAft>
                <a:spcPct val="0"/>
              </a:spcAft>
              <a:defRPr sz="2800">
                <a:solidFill>
                  <a:schemeClr val="tx1"/>
                </a:solidFill>
                <a:latin typeface="Arial" charset="0"/>
                <a:cs typeface="Angsana New" pitchFamily="18" charset="-34"/>
              </a:defRPr>
            </a:lvl7pPr>
            <a:lvl8pPr marL="3429000" indent="-228600" algn="ctr" eaLnBrk="0" fontAlgn="base" hangingPunct="0">
              <a:spcBef>
                <a:spcPct val="0"/>
              </a:spcBef>
              <a:spcAft>
                <a:spcPct val="0"/>
              </a:spcAft>
              <a:defRPr sz="2800">
                <a:solidFill>
                  <a:schemeClr val="tx1"/>
                </a:solidFill>
                <a:latin typeface="Arial" charset="0"/>
                <a:cs typeface="Angsana New" pitchFamily="18" charset="-34"/>
              </a:defRPr>
            </a:lvl8pPr>
            <a:lvl9pPr marL="3886200" indent="-228600" algn="ctr" eaLnBrk="0" fontAlgn="base" hangingPunct="0">
              <a:spcBef>
                <a:spcPct val="0"/>
              </a:spcBef>
              <a:spcAft>
                <a:spcPct val="0"/>
              </a:spcAft>
              <a:defRPr sz="2800">
                <a:solidFill>
                  <a:schemeClr val="tx1"/>
                </a:solidFill>
                <a:latin typeface="Arial" charset="0"/>
                <a:cs typeface="Angsana New" pitchFamily="18" charset="-34"/>
              </a:defRPr>
            </a:lvl9pPr>
          </a:lstStyle>
          <a:p>
            <a:pPr algn="l" eaLnBrk="1" hangingPunct="1"/>
            <a:r>
              <a:rPr lang="en-US" sz="700" dirty="0" err="1">
                <a:solidFill>
                  <a:srgbClr val="4F81BD"/>
                </a:solidFill>
              </a:rPr>
              <a:t>Z_Request</a:t>
            </a:r>
            <a:r>
              <a:rPr lang="en-US" sz="700" dirty="0">
                <a:solidFill>
                  <a:srgbClr val="4F81BD"/>
                </a:solidFill>
              </a:rPr>
              <a:t>\ AIA \Monthly_21.xlsx</a:t>
            </a:r>
          </a:p>
          <a:p>
            <a:pPr algn="l" eaLnBrk="1" hangingPunct="1"/>
            <a:endParaRPr lang="en-US" sz="700" dirty="0">
              <a:solidFill>
                <a:srgbClr val="4F81BD"/>
              </a:solidFill>
            </a:endParaRPr>
          </a:p>
          <a:p>
            <a:pPr algn="l" eaLnBrk="1" hangingPunct="1"/>
            <a:r>
              <a:rPr lang="en-US" sz="700" dirty="0">
                <a:solidFill>
                  <a:srgbClr val="4F81BD"/>
                </a:solidFill>
              </a:rPr>
              <a:t>change D82, E82</a:t>
            </a:r>
          </a:p>
          <a:p>
            <a:pPr algn="l" eaLnBrk="1" hangingPunct="1"/>
            <a:endParaRPr lang="en-US" sz="700" dirty="0">
              <a:solidFill>
                <a:srgbClr val="4F81BD"/>
              </a:solidFill>
            </a:endParaRPr>
          </a:p>
          <a:p>
            <a:pPr algn="l" eaLnBrk="1" hangingPunct="1"/>
            <a:r>
              <a:rPr lang="en-US" sz="700" dirty="0">
                <a:solidFill>
                  <a:srgbClr val="4F81BD"/>
                </a:solidFill>
              </a:rPr>
              <a:t>R50 R40</a:t>
            </a:r>
          </a:p>
          <a:p>
            <a:pPr algn="l" eaLnBrk="1" hangingPunct="1"/>
            <a:r>
              <a:rPr lang="en-US" sz="700" dirty="0">
                <a:solidFill>
                  <a:srgbClr val="4F81BD"/>
                </a:solidFill>
              </a:rPr>
              <a:t>R90 R70</a:t>
            </a:r>
          </a:p>
          <a:p>
            <a:pPr algn="l" eaLnBrk="1" hangingPunct="1"/>
            <a:endParaRPr lang="en-US" sz="700" dirty="0">
              <a:solidFill>
                <a:srgbClr val="4F81BD"/>
              </a:solidFill>
            </a:endParaRPr>
          </a:p>
        </p:txBody>
      </p:sp>
      <p:sp>
        <p:nvSpPr>
          <p:cNvPr id="35" name="Title 44">
            <a:extLst>
              <a:ext uri="{FF2B5EF4-FFF2-40B4-BE49-F238E27FC236}">
                <a16:creationId xmlns:a16="http://schemas.microsoft.com/office/drawing/2014/main" id="{735B2823-4EA2-4BA9-AE9F-0EA66500E10D}"/>
              </a:ext>
            </a:extLst>
          </p:cNvPr>
          <p:cNvSpPr>
            <a:spLocks noGrp="1"/>
          </p:cNvSpPr>
          <p:nvPr>
            <p:ph type="title"/>
          </p:nvPr>
        </p:nvSpPr>
        <p:spPr>
          <a:xfrm>
            <a:off x="768352" y="500449"/>
            <a:ext cx="8364700" cy="580689"/>
          </a:xfrm>
          <a:noFill/>
          <a:ln>
            <a:noFill/>
          </a:ln>
        </p:spPr>
        <p:txBody>
          <a:bodyPr spcFirstLastPara="1" wrap="square" lIns="0" tIns="0" rIns="0" bIns="0" anchor="ctr" anchorCtr="0">
            <a:noAutofit/>
          </a:bodyPr>
          <a:lstStyle/>
          <a:p>
            <a:pPr>
              <a:spcBef>
                <a:spcPct val="20000"/>
              </a:spcBef>
            </a:pPr>
            <a:r>
              <a:rPr lang="th-TH" altLang="en-US" b="1" dirty="0">
                <a:latin typeface="Noto Sans Thai" panose="020B0502040504020204" pitchFamily="34" charset="-34"/>
                <a:ea typeface="Tahoma" panose="020B0604030504040204" pitchFamily="34" charset="0"/>
                <a:cs typeface="Noto Sans Thai" panose="020B0502040504020204" pitchFamily="34" charset="-34"/>
              </a:rPr>
              <a:t>สรุปตราสารทุนปี 202</a:t>
            </a:r>
            <a:r>
              <a:rPr lang="en-US" altLang="en-US" b="1" dirty="0">
                <a:latin typeface="Noto Sans Thai" panose="020B0502040504020204" pitchFamily="34" charset="-34"/>
                <a:ea typeface="Tahoma" panose="020B0604030504040204" pitchFamily="34" charset="0"/>
                <a:cs typeface="Noto Sans Thai" panose="020B0502040504020204" pitchFamily="34" charset="-34"/>
              </a:rPr>
              <a:t>6</a:t>
            </a:r>
            <a:br>
              <a:rPr lang="en-US" altLang="en-US" b="1" dirty="0">
                <a:latin typeface="Noto Sans Thai" panose="020B0502040504020204" pitchFamily="34" charset="-34"/>
                <a:ea typeface="Tahoma" panose="020B0604030504040204" pitchFamily="34" charset="0"/>
                <a:cs typeface="Noto Sans Thai" panose="020B0502040504020204" pitchFamily="34" charset="-34"/>
              </a:rPr>
            </a:br>
            <a:r>
              <a:rPr lang="en-US" altLang="en-US" sz="1800" b="1" dirty="0">
                <a:latin typeface="Noto Sans Thai" panose="020B0502040504020204" pitchFamily="34" charset="-34"/>
                <a:cs typeface="Noto Sans Thai" panose="020B0502040504020204"/>
              </a:rPr>
              <a:t>Sector performance (2026, </a:t>
            </a:r>
            <a:r>
              <a:rPr lang="en-US" altLang="en-US" sz="1800" b="1" dirty="0">
                <a:latin typeface="Noto Sans Thai" panose="020B0502040504020204" pitchFamily="34" charset="-34"/>
                <a:ea typeface="Tahoma" panose="020B0604030504040204" pitchFamily="34" charset="0"/>
                <a:cs typeface="+mn-cs"/>
              </a:rPr>
              <a:t>April </a:t>
            </a:r>
            <a:r>
              <a:rPr lang="th-TH" altLang="en-US" sz="1800" b="1" dirty="0">
                <a:latin typeface="Noto Sans Thai" panose="020B0502040504020204" pitchFamily="34" charset="-34"/>
                <a:cs typeface="Noto Sans Thai" panose="020B0502040504020204"/>
              </a:rPr>
              <a:t>202</a:t>
            </a:r>
            <a:r>
              <a:rPr lang="en-US" altLang="en-US" sz="1800" b="1" dirty="0">
                <a:latin typeface="Noto Sans Thai" panose="020B0502040504020204" pitchFamily="34" charset="-34"/>
                <a:cs typeface="Noto Sans Thai" panose="020B0502040504020204"/>
              </a:rPr>
              <a:t>6)</a:t>
            </a:r>
            <a:endParaRPr lang="th-TH" altLang="en-US" b="1" dirty="0">
              <a:latin typeface="Noto Sans Thai" panose="020B0502040504020204" pitchFamily="34" charset="-34"/>
              <a:ea typeface="Tahoma" panose="020B0604030504040204" pitchFamily="34" charset="0"/>
              <a:cs typeface="Noto Sans Thai" panose="020B0502040504020204" pitchFamily="34" charset="-34"/>
            </a:endParaRPr>
          </a:p>
        </p:txBody>
      </p:sp>
      <p:sp>
        <p:nvSpPr>
          <p:cNvPr id="29" name="Footer Placeholder 4">
            <a:extLst>
              <a:ext uri="{FF2B5EF4-FFF2-40B4-BE49-F238E27FC236}">
                <a16:creationId xmlns:a16="http://schemas.microsoft.com/office/drawing/2014/main" id="{50217258-F801-46C7-A42C-D03E04B60168}"/>
              </a:ext>
            </a:extLst>
          </p:cNvPr>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33" name="Rectangle 32">
            <a:extLst>
              <a:ext uri="{FF2B5EF4-FFF2-40B4-BE49-F238E27FC236}">
                <a16:creationId xmlns:a16="http://schemas.microsoft.com/office/drawing/2014/main" id="{9548985B-C523-48BC-89F7-C173F3C15387}"/>
              </a:ext>
            </a:extLst>
          </p:cNvPr>
          <p:cNvSpPr/>
          <p:nvPr/>
        </p:nvSpPr>
        <p:spPr>
          <a:xfrm>
            <a:off x="4940145" y="971203"/>
            <a:ext cx="7023243" cy="3400931"/>
          </a:xfrm>
          <a:prstGeom prst="rect">
            <a:avLst/>
          </a:prstGeom>
        </p:spPr>
        <p:txBody>
          <a:bodyPr wrap="square">
            <a:spAutoFit/>
          </a:bodyPr>
          <a:lstStyle/>
          <a:p>
            <a:pPr marL="117475" indent="-117475" algn="thaiDist" defTabSz="685800">
              <a:spcBef>
                <a:spcPts val="300"/>
              </a:spcBef>
              <a:buClr>
                <a:srgbClr val="F4F4F4">
                  <a:lumMod val="25000"/>
                </a:srgbClr>
              </a:buClr>
              <a:buFont typeface="Arial" panose="020B0604020202020204" pitchFamily="34" charset="0"/>
              <a:buChar char="•"/>
            </a:pP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ในเดือนเมษายน 2026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SET</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ปรับตัวขึ้นจากเดือนก่อน (+3.1%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MoM, +1</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8</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6</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YTD)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หลัง 1) ความไม่แน่นอนจากสงครามยังอยู่ในระดับสูง แม้เริ่มเห็นความพยายามเจรจา ท่าทีของทั้งสองฝ่ายยังคงมีลักษณะ “ต่อรอง-กดดัน” ควบคู่กัน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negotiation vs escalation rhetoric)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ทำให้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risk premium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ยังไม่หาย ราคาน้ำมันทรงตัวระดับสูง สะท้อน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war premium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ยังอยู่ โดย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Brent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เคลื่อนไหวเหนือ $100/</a:t>
            </a:r>
            <a:r>
              <a:rPr lang="en-US" altLang="en-US" sz="1050" dirty="0" err="1">
                <a:solidFill>
                  <a:srgbClr val="F4F4F4">
                    <a:lumMod val="25000"/>
                  </a:srgbClr>
                </a:solidFill>
                <a:latin typeface="Noto Sans Thai" panose="020B0502040504020204" pitchFamily="34" charset="-34"/>
                <a:ea typeface="Tahoma" panose="020B0604030504040204" pitchFamily="34" charset="0"/>
                <a:cs typeface="Noto Sans Thai" panose="020B0502040504020204"/>
              </a:rPr>
              <a:t>bbl</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2)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การส่งออกไทยเดือน มี.ค. 2026 ขยายตัวสูง 18.7%</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สวนทางกับที่คาดการณ์ว่าจะเห็นผลกระทบจากความขัดแย้งในตะวันออกกลาง โดยแม้ว่าการส่งออกไปยังตลาดดังกล่าวหดตัวแรงที่ -57.1%</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แต่กระทบภาพรวมการส่งออกไทยไม่มาก</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โดยการส่งออกสินค้าอิเล็กทรอนิกส์ยังขยายตัวสูงที่ 43.8%</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แม้ชะลอลงจากเดือนก่อนหน้า แต่ยังเป็นปัจจัยขับเคลื่อนหลักของการส่งออกไทย โดยสินค้าที่เกี่ยวเนื่องกับ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AI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และ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data center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ยังมีอุปสงค์ที่แข็งแกร่ง</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3</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ทิศทางการลงทุน/</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FDI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คาดยังเติบโตต่อเนื่อง บีโอไอ เผยยอดขอรับส่งเสริมการลงทุนไตรมาสแรก ปี 2569 ทะลุ 1 ล้านล้านบาท จากกว่า 600 โครงการ นำโดยอุตสาหกรรมดิจิทัลและอิเล็กทรอนิกส์ โดยไตรมาสแรก มีการยื่นขอรับส่งเสริมการลงทุนจำนวน 624 โครงการ มูลค่าเงินลงทุน 1,016,962 ล้านบาท เพิ่มขึ้น 2.4 เท่า เมื่อเทียบกับช่วงเดียวกันของปีก่อน</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4</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โครงการ “ไทยช่วยไทยพลัส” เตรียมเปิดลงทะเบียนในเดือนพ.ค. 2569 และเริ่มใช้สิทธิในเดือนมิ.ย. 2569 โดยรัฐสนับสนุนค่าใช้จ่าย 60% ขณะที่ประชาชนจ่าย 40% ผ่านแอป เป๋าตัง วงเงินรวม 4,000 บาท แบ่งใช้เดือนละ 1,000 บาท เป็นเวลา 4 เดือน ครอบคลุมประชาชนไทยอายุ 18 ปีขึ้นไปที่ไม่ถือบัตรสวัสดิการแห่งรัฐ ประเมินเป็นบวกต่อหุ้นค้าปลีกและสินค้าอุปโภคบริโภคในประเทศ จากแรงหนุนกำลังซื้อระยะสั้นที่เพิ่มขึ้น</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5)</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นายกฯ ยืนยันเดินหน้าโครงการ “แลนด์บริดจ์” ชุมพร–ระนอง มูลค่าลงทุน 1 ล้านล้านบาท เพื่อยกระดับโครงสร้างพื้นฐานด้านโลจิสติกส์และดึงเม็ดเงินลงทุนเข้าสู่ประเทศ โดยคาดว่าจะเสนอคณะรัฐมนตรีในช่วง มิ.ย.–ก.ค.นี้ และ 6</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ภาพรวมกำไรกลุ่มธนาคารใน 1</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Q26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อยู่ที่ 5.7 หมื่นล้านบาท สูงกว่าที่เราคาด 15% (และตลาดคาด 12%) จาก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cost/income ratio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ที่ดีกว่าคาด และรายได้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non-NII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ที่ดีกว่าคาด ทั้งในด้านของรายได้ค่าธรรมเนียมและกำไรจากเงินลงทุน  โดยกำไร 1</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Q26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ลดลง 2%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(NIM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ที่อ่อนตัวลง) แต่เพิ่มขึ้น 20% </a:t>
            </a:r>
            <a:r>
              <a:rPr lang="en-US" altLang="en-US" sz="1050" dirty="0" err="1">
                <a:solidFill>
                  <a:srgbClr val="F4F4F4">
                    <a:lumMod val="25000"/>
                  </a:srgbClr>
                </a:solidFill>
                <a:latin typeface="Noto Sans Thai" panose="020B0502040504020204" pitchFamily="34" charset="-34"/>
                <a:ea typeface="Tahoma" panose="020B0604030504040204" pitchFamily="34" charset="0"/>
                <a:cs typeface="Noto Sans Thai" panose="020B0502040504020204"/>
              </a:rPr>
              <a:t>QoQ</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ค่าใช้จ่ายดำเนินงานลดลง) ธนาคารที่รายงานกำไรเติบโต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นำโดย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KKP, KBANK, KTB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และ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TISCO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ในทางกลับกัน กำไรสุทธิของ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SCB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และ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BBL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กลับปรับลดลง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ขณะที่กำไรของ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TTB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ออกมาทรงตัว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a:t>
            </a:r>
          </a:p>
          <a:p>
            <a:pPr marL="117475" indent="-117475" algn="thaiDist" defTabSz="685800">
              <a:spcBef>
                <a:spcPts val="300"/>
              </a:spcBef>
              <a:buClr>
                <a:srgbClr val="F4F4F4">
                  <a:lumMod val="25000"/>
                </a:srgbClr>
              </a:buClr>
              <a:buFont typeface="Arial" panose="020B0604020202020204" pitchFamily="34" charset="0"/>
              <a:buChar char="•"/>
            </a:pP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ภาพรวม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SET earnings revision</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เดือนเมษายนปรับเพิ่มขึ้น +1.4% (จาก +0.9% ตั้งแต่ต้นปี) แต่แรงหนุนมาจากเพียงไม่กี่กลุ่ม ได้แก่ กลุ่มวัฏจักร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cyclical stocks)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ได้แก่ พลังงานและปิโตรเคมี ซึ่งได้ประโยชน์จากราคาสินค้าโภคภัณฑ์ที่ปรับตัวสูงขึ้น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commodity upcycle)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ทั้งค่าการกลั่น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GRM)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และส่วนต่างปิโตรเคมี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chemical spreads)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ขณะเดียวกัน กลุ่มอิเล็กทรอนิกส์ยังได้รับแรงหนุนจากอุปสงค์ด้าน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AI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และ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data center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ที่แข็งแกร่ง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AI-driven demand)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ในทางตรงกันข้าม กลุ่มที่มีความอ่อนไหวต่อต้นทุนพลังงาน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energy-sensitive sectors)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เริ่มเผชิญการปรับลดประมาณการกำไร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earnings downgrade)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อาทิ กลุ่มสายการบิน (</a:t>
            </a:r>
            <a:r>
              <a:rPr lang="en-US"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airlines) </a:t>
            </a: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รวมถึงกลุ่มที่เชื่อมโยงการบริโภคในประเทศ เช่น ค้าปลีก อสังหาริมทรัพย์ และการเงิน ซึ่งสะท้อนแรงกดดันจากต้นทุนพลังงานและค่าครองชีพที่เพิ่มขึ้น </a:t>
            </a:r>
          </a:p>
          <a:p>
            <a:pPr marL="117475" indent="-117475" algn="thaiDist" defTabSz="685800">
              <a:spcBef>
                <a:spcPts val="300"/>
              </a:spcBef>
              <a:buClr>
                <a:srgbClr val="F4F4F4">
                  <a:lumMod val="25000"/>
                </a:srgbClr>
              </a:buClr>
              <a:buFont typeface="Arial" panose="020B0604020202020204" pitchFamily="34" charset="0"/>
              <a:buChar char="•"/>
            </a:pPr>
            <a:r>
              <a:rPr lang="th-TH" altLang="en-US" sz="10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ทั้งนี้ นักลงทุนต่างชาติขายสุทธิเดือนเมษายนราว 2.4 พันล้านบาท (ทั้งปีซื้อสุทธิ 1.7 หมื่นล้านบาท เทียบปีที่แล้วขายสุทธิ 1.1 แสนล้านบาท)</a:t>
            </a:r>
          </a:p>
        </p:txBody>
      </p:sp>
      <p:sp>
        <p:nvSpPr>
          <p:cNvPr id="34" name="Text Placeholder 6">
            <a:extLst>
              <a:ext uri="{FF2B5EF4-FFF2-40B4-BE49-F238E27FC236}">
                <a16:creationId xmlns:a16="http://schemas.microsoft.com/office/drawing/2014/main" id="{18760BBE-D528-41CA-A866-0B01F9A73B3D}"/>
              </a:ext>
            </a:extLst>
          </p:cNvPr>
          <p:cNvSpPr txBox="1">
            <a:spLocks/>
          </p:cNvSpPr>
          <p:nvPr/>
        </p:nvSpPr>
        <p:spPr>
          <a:xfrm>
            <a:off x="437022" y="6114971"/>
            <a:ext cx="3249546"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dirty="0">
                <a:solidFill>
                  <a:schemeClr val="tx1"/>
                </a:solidFill>
                <a:latin typeface="+mn-lt"/>
                <a:ea typeface="Tahoma" panose="020B0604030504040204" pitchFamily="34" charset="0"/>
                <a:cs typeface="+mn-cs"/>
              </a:rPr>
              <a:t>Note: Closing price 30 April 2026</a:t>
            </a:r>
          </a:p>
          <a:p>
            <a:r>
              <a:rPr lang="en-US" sz="900" dirty="0">
                <a:solidFill>
                  <a:schemeClr val="tx1"/>
                </a:solidFill>
                <a:latin typeface="+mn-lt"/>
                <a:ea typeface="Tahoma" panose="020B0604030504040204" pitchFamily="34" charset="0"/>
                <a:cs typeface="+mn-cs"/>
              </a:rPr>
              <a:t>Source: Bloomberg</a:t>
            </a:r>
          </a:p>
        </p:txBody>
      </p:sp>
      <p:sp>
        <p:nvSpPr>
          <p:cNvPr id="10" name="Rectangle 14">
            <a:extLst>
              <a:ext uri="{FF2B5EF4-FFF2-40B4-BE49-F238E27FC236}">
                <a16:creationId xmlns:a16="http://schemas.microsoft.com/office/drawing/2014/main" id="{BE13227E-C5E4-3FE7-2136-721EEB274139}"/>
              </a:ext>
            </a:extLst>
          </p:cNvPr>
          <p:cNvSpPr>
            <a:spLocks noChangeArrowheads="1"/>
          </p:cNvSpPr>
          <p:nvPr/>
        </p:nvSpPr>
        <p:spPr bwMode="auto">
          <a:xfrm>
            <a:off x="2496042" y="2769634"/>
            <a:ext cx="2027405" cy="135491"/>
          </a:xfrm>
          <a:prstGeom prst="rect">
            <a:avLst/>
          </a:prstGeom>
          <a:noFill/>
          <a:ln w="952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endParaRPr lang="th-TH" altLang="en-US" sz="2800">
              <a:cs typeface="+mn-cs"/>
            </a:endParaRPr>
          </a:p>
        </p:txBody>
      </p:sp>
      <p:sp>
        <p:nvSpPr>
          <p:cNvPr id="28" name="Rectangle 14">
            <a:extLst>
              <a:ext uri="{FF2B5EF4-FFF2-40B4-BE49-F238E27FC236}">
                <a16:creationId xmlns:a16="http://schemas.microsoft.com/office/drawing/2014/main" id="{C85E4E6E-B1B5-2A9E-2C6F-4A137CA7D1DE}"/>
              </a:ext>
            </a:extLst>
          </p:cNvPr>
          <p:cNvSpPr>
            <a:spLocks noChangeArrowheads="1"/>
          </p:cNvSpPr>
          <p:nvPr/>
        </p:nvSpPr>
        <p:spPr bwMode="auto">
          <a:xfrm>
            <a:off x="241656" y="2923047"/>
            <a:ext cx="1837688" cy="420228"/>
          </a:xfrm>
          <a:prstGeom prst="rect">
            <a:avLst/>
          </a:prstGeom>
          <a:noFill/>
          <a:ln w="952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endParaRPr lang="th-TH" altLang="en-US" sz="2800">
              <a:cs typeface="+mn-cs"/>
            </a:endParaRPr>
          </a:p>
        </p:txBody>
      </p:sp>
      <p:sp>
        <p:nvSpPr>
          <p:cNvPr id="14" name="Text Box 25">
            <a:extLst>
              <a:ext uri="{FF2B5EF4-FFF2-40B4-BE49-F238E27FC236}">
                <a16:creationId xmlns:a16="http://schemas.microsoft.com/office/drawing/2014/main" id="{3C3F2B0E-9DC7-4379-9AE5-A46BA0E74BBC}"/>
              </a:ext>
            </a:extLst>
          </p:cNvPr>
          <p:cNvSpPr txBox="1">
            <a:spLocks noChangeArrowheads="1"/>
          </p:cNvSpPr>
          <p:nvPr/>
        </p:nvSpPr>
        <p:spPr bwMode="auto">
          <a:xfrm>
            <a:off x="8739422" y="4325265"/>
            <a:ext cx="2561920" cy="261867"/>
          </a:xfrm>
          <a:prstGeom prst="rect">
            <a:avLst/>
          </a:prstGeom>
          <a:solidFill>
            <a:schemeClr val="bg1"/>
          </a:solidFill>
          <a:ln>
            <a:noFill/>
          </a:ln>
        </p:spPr>
        <p:txBody>
          <a:bodyPr wrap="none" lIns="27432" tIns="27432" rIns="0" bIns="0" anchor="t" upright="1">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100" b="1" i="0" u="none" strike="noStrike" baseline="0" dirty="0">
                <a:solidFill>
                  <a:srgbClr val="000000"/>
                </a:solidFill>
                <a:latin typeface="BLS Text" panose="00000500000000000000" pitchFamily="2" charset="-34"/>
                <a:cs typeface="BLS Text" panose="00000500000000000000" pitchFamily="2" charset="-34"/>
              </a:rPr>
              <a:t>Regional indices performance (%M-M)</a:t>
            </a:r>
          </a:p>
        </p:txBody>
      </p:sp>
      <p:sp>
        <p:nvSpPr>
          <p:cNvPr id="15" name="Text Box 25">
            <a:extLst>
              <a:ext uri="{FF2B5EF4-FFF2-40B4-BE49-F238E27FC236}">
                <a16:creationId xmlns:a16="http://schemas.microsoft.com/office/drawing/2014/main" id="{6D685A45-1961-4DE5-BD24-75CE020EF2DC}"/>
              </a:ext>
            </a:extLst>
          </p:cNvPr>
          <p:cNvSpPr txBox="1">
            <a:spLocks noChangeArrowheads="1"/>
          </p:cNvSpPr>
          <p:nvPr/>
        </p:nvSpPr>
        <p:spPr bwMode="auto">
          <a:xfrm>
            <a:off x="5869646" y="4325265"/>
            <a:ext cx="2510495" cy="261867"/>
          </a:xfrm>
          <a:prstGeom prst="rect">
            <a:avLst/>
          </a:prstGeom>
          <a:solidFill>
            <a:schemeClr val="bg1"/>
          </a:solidFill>
          <a:ln>
            <a:noFill/>
          </a:ln>
        </p:spPr>
        <p:txBody>
          <a:bodyPr wrap="none" lIns="27432" tIns="27432" rIns="0" bIns="0" anchor="t" upright="1">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100" b="1" i="0" u="none" strike="noStrike" baseline="0" dirty="0">
                <a:solidFill>
                  <a:srgbClr val="000000"/>
                </a:solidFill>
                <a:latin typeface="BLS Text" panose="00000500000000000000" pitchFamily="2" charset="-34"/>
                <a:cs typeface="BLS Text" panose="00000500000000000000" pitchFamily="2" charset="-34"/>
              </a:rPr>
              <a:t>Regional indices performance (%YTD)</a:t>
            </a:r>
          </a:p>
        </p:txBody>
      </p:sp>
      <p:sp>
        <p:nvSpPr>
          <p:cNvPr id="55" name="Rectangle 15">
            <a:extLst>
              <a:ext uri="{FF2B5EF4-FFF2-40B4-BE49-F238E27FC236}">
                <a16:creationId xmlns:a16="http://schemas.microsoft.com/office/drawing/2014/main" id="{973E4E81-DD86-420C-A39E-7B5A382FC638}"/>
              </a:ext>
            </a:extLst>
          </p:cNvPr>
          <p:cNvSpPr>
            <a:spLocks noChangeArrowheads="1"/>
          </p:cNvSpPr>
          <p:nvPr/>
        </p:nvSpPr>
        <p:spPr bwMode="auto">
          <a:xfrm>
            <a:off x="5758769" y="4871483"/>
            <a:ext cx="2621372" cy="117368"/>
          </a:xfrm>
          <a:prstGeom prst="rect">
            <a:avLst/>
          </a:prstGeom>
          <a:noFill/>
          <a:ln w="952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endParaRPr lang="th-TH" altLang="en-US" sz="2800" dirty="0">
              <a:cs typeface="+mn-cs"/>
            </a:endParaRPr>
          </a:p>
        </p:txBody>
      </p:sp>
      <p:sp>
        <p:nvSpPr>
          <p:cNvPr id="18" name="Rectangle 15">
            <a:extLst>
              <a:ext uri="{FF2B5EF4-FFF2-40B4-BE49-F238E27FC236}">
                <a16:creationId xmlns:a16="http://schemas.microsoft.com/office/drawing/2014/main" id="{E5491055-0615-3902-7A4B-2858FBB507C3}"/>
              </a:ext>
            </a:extLst>
          </p:cNvPr>
          <p:cNvSpPr>
            <a:spLocks noChangeArrowheads="1"/>
          </p:cNvSpPr>
          <p:nvPr/>
        </p:nvSpPr>
        <p:spPr bwMode="auto">
          <a:xfrm>
            <a:off x="8581203" y="5777004"/>
            <a:ext cx="2879585" cy="117368"/>
          </a:xfrm>
          <a:prstGeom prst="rect">
            <a:avLst/>
          </a:prstGeom>
          <a:noFill/>
          <a:ln w="952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endParaRPr lang="th-TH" altLang="en-US" sz="2800" dirty="0">
              <a:cs typeface="+mn-cs"/>
            </a:endParaRPr>
          </a:p>
        </p:txBody>
      </p:sp>
      <p:sp>
        <p:nvSpPr>
          <p:cNvPr id="11" name="Rectangle 14">
            <a:extLst>
              <a:ext uri="{FF2B5EF4-FFF2-40B4-BE49-F238E27FC236}">
                <a16:creationId xmlns:a16="http://schemas.microsoft.com/office/drawing/2014/main" id="{64FD929E-63F5-9AFB-5992-28CBA72DF249}"/>
              </a:ext>
            </a:extLst>
          </p:cNvPr>
          <p:cNvSpPr>
            <a:spLocks noChangeArrowheads="1"/>
          </p:cNvSpPr>
          <p:nvPr/>
        </p:nvSpPr>
        <p:spPr bwMode="auto">
          <a:xfrm>
            <a:off x="2496042" y="3343275"/>
            <a:ext cx="2027405" cy="135491"/>
          </a:xfrm>
          <a:prstGeom prst="rect">
            <a:avLst/>
          </a:prstGeom>
          <a:noFill/>
          <a:ln w="952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endParaRPr lang="th-TH" altLang="en-US" sz="2800">
              <a:cs typeface="+mn-cs"/>
            </a:endParaRPr>
          </a:p>
        </p:txBody>
      </p:sp>
      <p:sp>
        <p:nvSpPr>
          <p:cNvPr id="12" name="Rectangle 14">
            <a:extLst>
              <a:ext uri="{FF2B5EF4-FFF2-40B4-BE49-F238E27FC236}">
                <a16:creationId xmlns:a16="http://schemas.microsoft.com/office/drawing/2014/main" id="{ADBC169E-E1F2-4AC4-82B1-8ECAAD9C86A0}"/>
              </a:ext>
            </a:extLst>
          </p:cNvPr>
          <p:cNvSpPr>
            <a:spLocks noChangeArrowheads="1"/>
          </p:cNvSpPr>
          <p:nvPr/>
        </p:nvSpPr>
        <p:spPr bwMode="auto">
          <a:xfrm>
            <a:off x="2496041" y="3633666"/>
            <a:ext cx="2027405" cy="135491"/>
          </a:xfrm>
          <a:prstGeom prst="rect">
            <a:avLst/>
          </a:prstGeom>
          <a:noFill/>
          <a:ln w="9525">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endParaRPr lang="th-TH" altLang="en-US" sz="2800">
              <a:cs typeface="+mn-cs"/>
            </a:endParaRPr>
          </a:p>
        </p:txBody>
      </p:sp>
    </p:spTree>
    <p:extLst>
      <p:ext uri="{BB962C8B-B14F-4D97-AF65-F5344CB8AC3E}">
        <p14:creationId xmlns:p14="http://schemas.microsoft.com/office/powerpoint/2010/main" val="1351137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numbers and lines&#10;&#10;Description automatically generated">
            <a:extLst>
              <a:ext uri="{FF2B5EF4-FFF2-40B4-BE49-F238E27FC236}">
                <a16:creationId xmlns:a16="http://schemas.microsoft.com/office/drawing/2014/main" id="{6830E688-60C4-E095-94FC-531BBF1E0A8E}"/>
              </a:ext>
            </a:extLst>
          </p:cNvPr>
          <p:cNvPicPr>
            <a:picLocks noChangeAspect="1"/>
          </p:cNvPicPr>
          <p:nvPr/>
        </p:nvPicPr>
        <p:blipFill>
          <a:blip r:embed="rId3"/>
          <a:stretch>
            <a:fillRect/>
          </a:stretch>
        </p:blipFill>
        <p:spPr>
          <a:xfrm>
            <a:off x="591239" y="3940064"/>
            <a:ext cx="4215384" cy="2529231"/>
          </a:xfrm>
          <a:prstGeom prst="rect">
            <a:avLst/>
          </a:prstGeom>
        </p:spPr>
      </p:pic>
      <p:sp>
        <p:nvSpPr>
          <p:cNvPr id="22" name="TextBox 10">
            <a:extLst>
              <a:ext uri="{FF2B5EF4-FFF2-40B4-BE49-F238E27FC236}">
                <a16:creationId xmlns:a16="http://schemas.microsoft.com/office/drawing/2014/main" id="{7461F56B-7A3E-4006-A579-4A86C1168EB8}"/>
              </a:ext>
            </a:extLst>
          </p:cNvPr>
          <p:cNvSpPr txBox="1">
            <a:spLocks noChangeArrowheads="1"/>
          </p:cNvSpPr>
          <p:nvPr/>
        </p:nvSpPr>
        <p:spPr bwMode="auto">
          <a:xfrm>
            <a:off x="12223732" y="5365284"/>
            <a:ext cx="1008112" cy="1492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r>
              <a:rPr lang="en-US" altLang="en-US" sz="700" dirty="0">
                <a:solidFill>
                  <a:srgbClr val="4F81BD"/>
                </a:solidFill>
              </a:rPr>
              <a:t>Econ\Aprket01\SET-FB-FS.xls </a:t>
            </a:r>
          </a:p>
          <a:p>
            <a:pPr eaLnBrk="1" hangingPunct="1">
              <a:spcBef>
                <a:spcPct val="0"/>
              </a:spcBef>
              <a:buFontTx/>
              <a:buNone/>
            </a:pPr>
            <a:endParaRPr lang="en-US" altLang="en-US" sz="700" dirty="0">
              <a:solidFill>
                <a:srgbClr val="4F81BD"/>
              </a:solidFill>
            </a:endParaRPr>
          </a:p>
          <a:p>
            <a:pPr eaLnBrk="1" hangingPunct="1">
              <a:spcBef>
                <a:spcPct val="0"/>
              </a:spcBef>
              <a:buFontTx/>
              <a:buNone/>
            </a:pPr>
            <a:r>
              <a:rPr lang="en-US" altLang="en-US" sz="700" dirty="0">
                <a:solidFill>
                  <a:srgbClr val="4F81BD"/>
                </a:solidFill>
              </a:rPr>
              <a:t>Sheet1</a:t>
            </a:r>
          </a:p>
          <a:p>
            <a:pPr eaLnBrk="1" hangingPunct="1">
              <a:spcBef>
                <a:spcPct val="0"/>
              </a:spcBef>
              <a:buFontTx/>
              <a:buNone/>
            </a:pPr>
            <a:r>
              <a:rPr lang="en-US" altLang="en-US" sz="700" dirty="0">
                <a:solidFill>
                  <a:srgbClr val="4F81BD"/>
                </a:solidFill>
              </a:rPr>
              <a:t>G335</a:t>
            </a:r>
          </a:p>
          <a:p>
            <a:pPr eaLnBrk="1" hangingPunct="1">
              <a:spcBef>
                <a:spcPct val="0"/>
              </a:spcBef>
              <a:buFontTx/>
              <a:buNone/>
            </a:pPr>
            <a:endParaRPr lang="en-US" altLang="en-US" sz="700" dirty="0">
              <a:solidFill>
                <a:srgbClr val="4F81BD"/>
              </a:solidFill>
            </a:endParaRPr>
          </a:p>
          <a:p>
            <a:pPr eaLnBrk="1" hangingPunct="1">
              <a:spcBef>
                <a:spcPct val="0"/>
              </a:spcBef>
              <a:buFontTx/>
              <a:buNone/>
            </a:pPr>
            <a:r>
              <a:rPr lang="en-US" altLang="en-US" sz="700" dirty="0" err="1">
                <a:solidFill>
                  <a:srgbClr val="4F81BD"/>
                </a:solidFill>
              </a:rPr>
              <a:t>ForeignStock</a:t>
            </a:r>
            <a:endParaRPr lang="en-US" altLang="en-US" sz="700" dirty="0">
              <a:solidFill>
                <a:srgbClr val="4F81BD"/>
              </a:solidFill>
            </a:endParaRPr>
          </a:p>
          <a:p>
            <a:pPr eaLnBrk="1" hangingPunct="1">
              <a:spcBef>
                <a:spcPct val="0"/>
              </a:spcBef>
              <a:buFontTx/>
              <a:buNone/>
            </a:pPr>
            <a:r>
              <a:rPr lang="en-US" altLang="en-US" sz="700" dirty="0">
                <a:solidFill>
                  <a:srgbClr val="4F81BD"/>
                </a:solidFill>
              </a:rPr>
              <a:t>DQ210</a:t>
            </a:r>
          </a:p>
          <a:p>
            <a:pPr eaLnBrk="1" hangingPunct="1">
              <a:spcBef>
                <a:spcPct val="0"/>
              </a:spcBef>
              <a:buFontTx/>
              <a:buNone/>
            </a:pPr>
            <a:endParaRPr lang="en-US" altLang="en-US" sz="700" dirty="0">
              <a:solidFill>
                <a:srgbClr val="4F81BD"/>
              </a:solidFill>
            </a:endParaRPr>
          </a:p>
          <a:p>
            <a:pPr eaLnBrk="1" hangingPunct="1">
              <a:spcBef>
                <a:spcPct val="0"/>
              </a:spcBef>
              <a:buFontTx/>
              <a:buNone/>
            </a:pPr>
            <a:r>
              <a:rPr lang="en-US" altLang="en-US" sz="700" dirty="0">
                <a:solidFill>
                  <a:srgbClr val="4F81BD"/>
                </a:solidFill>
              </a:rPr>
              <a:t>Foreign holding</a:t>
            </a:r>
          </a:p>
          <a:p>
            <a:pPr eaLnBrk="1" hangingPunct="1">
              <a:spcBef>
                <a:spcPct val="0"/>
              </a:spcBef>
              <a:buFontTx/>
              <a:buNone/>
            </a:pPr>
            <a:r>
              <a:rPr lang="en-US" altLang="en-US" sz="700" dirty="0">
                <a:solidFill>
                  <a:srgbClr val="4F81BD"/>
                </a:solidFill>
              </a:rPr>
              <a:t>SET-FB-FS</a:t>
            </a:r>
          </a:p>
          <a:p>
            <a:pPr eaLnBrk="1" hangingPunct="1">
              <a:spcBef>
                <a:spcPct val="0"/>
              </a:spcBef>
              <a:buFontTx/>
              <a:buNone/>
            </a:pPr>
            <a:r>
              <a:rPr lang="en-US" altLang="en-US" sz="700" dirty="0" err="1">
                <a:solidFill>
                  <a:srgbClr val="4F81BD"/>
                </a:solidFill>
              </a:rPr>
              <a:t>ForeignSET</a:t>
            </a:r>
            <a:endParaRPr lang="en-US" altLang="en-US" sz="700" dirty="0">
              <a:solidFill>
                <a:srgbClr val="4F81BD"/>
              </a:solidFill>
            </a:endParaRPr>
          </a:p>
          <a:p>
            <a:pPr eaLnBrk="1" hangingPunct="1">
              <a:spcBef>
                <a:spcPct val="0"/>
              </a:spcBef>
              <a:buFontTx/>
              <a:buNone/>
            </a:pPr>
            <a:endParaRPr lang="en-US" altLang="en-US" sz="700" dirty="0">
              <a:solidFill>
                <a:srgbClr val="4F81BD"/>
              </a:solidFill>
            </a:endParaRPr>
          </a:p>
        </p:txBody>
      </p:sp>
      <p:sp>
        <p:nvSpPr>
          <p:cNvPr id="26" name="Title 44">
            <a:extLst>
              <a:ext uri="{FF2B5EF4-FFF2-40B4-BE49-F238E27FC236}">
                <a16:creationId xmlns:a16="http://schemas.microsoft.com/office/drawing/2014/main" id="{B77F7B33-929A-41B0-905B-965A43E7AE19}"/>
              </a:ext>
            </a:extLst>
          </p:cNvPr>
          <p:cNvSpPr>
            <a:spLocks noGrp="1"/>
          </p:cNvSpPr>
          <p:nvPr>
            <p:ph type="title"/>
          </p:nvPr>
        </p:nvSpPr>
        <p:spPr>
          <a:xfrm>
            <a:off x="451486" y="490552"/>
            <a:ext cx="9643129" cy="495184"/>
          </a:xfrm>
          <a:noFill/>
          <a:ln>
            <a:noFill/>
          </a:ln>
        </p:spPr>
        <p:txBody>
          <a:bodyPr spcFirstLastPara="1" wrap="square" lIns="0" tIns="0" rIns="0" bIns="0" anchor="ctr" anchorCtr="0">
            <a:noAutofit/>
          </a:bodyPr>
          <a:lstStyle/>
          <a:p>
            <a:pPr>
              <a:spcBef>
                <a:spcPct val="20000"/>
              </a:spcBef>
            </a:pPr>
            <a:r>
              <a:rPr lang="th-TH" altLang="zh-CN" sz="2000" b="1" dirty="0">
                <a:latin typeface="Noto Sans Thai" panose="020B0502040504020204" pitchFamily="34" charset="-34"/>
                <a:ea typeface="Tahoma" panose="020B0604030504040204" pitchFamily="34" charset="0"/>
                <a:cs typeface="Noto Sans Thai" panose="020B0502040504020204" pitchFamily="34" charset="-34"/>
              </a:rPr>
              <a:t>กลยุทธ์การลงทุนตราสารทุนไทย </a:t>
            </a:r>
            <a:r>
              <a:rPr lang="en-US" sz="2000" b="1" dirty="0">
                <a:latin typeface="Noto Sans Thai" panose="020B0502040504020204" pitchFamily="34" charset="-34"/>
                <a:ea typeface="Tahoma" panose="020B0604030504040204" pitchFamily="34" charset="0"/>
                <a:cs typeface="Noto Sans Thai" panose="020B0502040504020204" pitchFamily="34" charset="-34"/>
              </a:rPr>
              <a:t>– </a:t>
            </a:r>
            <a:r>
              <a:rPr lang="th-TH" sz="2000" b="1" dirty="0">
                <a:latin typeface="Noto Sans Thai" panose="020B0502040504020204" pitchFamily="34" charset="-34"/>
                <a:ea typeface="Tahoma" panose="020B0604030504040204" pitchFamily="34" charset="0"/>
                <a:cs typeface="Noto Sans Thai" panose="020B0502040504020204" pitchFamily="34" charset="-34"/>
              </a:rPr>
              <a:t>ความเสี่ยงสงครามยังคงสร้างความผันผวนระยะสั้น</a:t>
            </a:r>
            <a:endParaRPr lang="th-TH" altLang="en-US" sz="2000" b="1" dirty="0">
              <a:latin typeface="Noto Sans Thai" panose="020B0502040504020204" pitchFamily="34" charset="-34"/>
              <a:ea typeface="Tahoma" panose="020B0604030504040204" pitchFamily="34" charset="0"/>
              <a:cs typeface="Noto Sans Thai" panose="020B0502040504020204" pitchFamily="34" charset="-34"/>
            </a:endParaRPr>
          </a:p>
        </p:txBody>
      </p:sp>
      <p:sp>
        <p:nvSpPr>
          <p:cNvPr id="21" name="Footer Placeholder 4">
            <a:extLst>
              <a:ext uri="{FF2B5EF4-FFF2-40B4-BE49-F238E27FC236}">
                <a16:creationId xmlns:a16="http://schemas.microsoft.com/office/drawing/2014/main" id="{60DB0726-0403-4166-843C-011DD0DE965B}"/>
              </a:ext>
            </a:extLst>
          </p:cNvPr>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23" name="Text Placeholder 6">
            <a:extLst>
              <a:ext uri="{FF2B5EF4-FFF2-40B4-BE49-F238E27FC236}">
                <a16:creationId xmlns:a16="http://schemas.microsoft.com/office/drawing/2014/main" id="{C35F3977-8651-4D22-B7DD-03581C5E819C}"/>
              </a:ext>
            </a:extLst>
          </p:cNvPr>
          <p:cNvSpPr txBox="1">
            <a:spLocks/>
          </p:cNvSpPr>
          <p:nvPr/>
        </p:nvSpPr>
        <p:spPr>
          <a:xfrm>
            <a:off x="757062" y="6526445"/>
            <a:ext cx="3249546"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dirty="0">
                <a:solidFill>
                  <a:schemeClr val="tx1"/>
                </a:solidFill>
                <a:latin typeface="+mn-lt"/>
                <a:ea typeface="Tahoma" panose="020B0604030504040204" pitchFamily="34" charset="0"/>
                <a:cs typeface="+mn-cs"/>
              </a:rPr>
              <a:t>Sources: </a:t>
            </a:r>
            <a:r>
              <a:rPr lang="en-US" altLang="en-US" sz="900" dirty="0">
                <a:solidFill>
                  <a:schemeClr val="tx1"/>
                </a:solidFill>
                <a:latin typeface="+mn-lt"/>
                <a:ea typeface="Tahoma" panose="020B0604030504040204" pitchFamily="34" charset="0"/>
                <a:cs typeface="+mn-cs"/>
              </a:rPr>
              <a:t>SET, </a:t>
            </a:r>
            <a:r>
              <a:rPr lang="en-US" altLang="en-US" sz="900" dirty="0" err="1">
                <a:solidFill>
                  <a:schemeClr val="tx1"/>
                </a:solidFill>
                <a:latin typeface="+mn-lt"/>
                <a:ea typeface="Tahoma" panose="020B0604030504040204" pitchFamily="34" charset="0"/>
                <a:cs typeface="+mn-cs"/>
              </a:rPr>
              <a:t>Bualuang</a:t>
            </a:r>
            <a:r>
              <a:rPr lang="en-US" altLang="en-US" sz="900" dirty="0">
                <a:solidFill>
                  <a:schemeClr val="tx1"/>
                </a:solidFill>
                <a:latin typeface="+mn-lt"/>
                <a:ea typeface="Tahoma" panose="020B0604030504040204" pitchFamily="34" charset="0"/>
                <a:cs typeface="+mn-cs"/>
              </a:rPr>
              <a:t> Research</a:t>
            </a:r>
            <a:endParaRPr lang="en-US" sz="900" dirty="0">
              <a:solidFill>
                <a:schemeClr val="tx1"/>
              </a:solidFill>
              <a:latin typeface="+mn-lt"/>
              <a:ea typeface="Tahoma" panose="020B0604030504040204" pitchFamily="34" charset="0"/>
              <a:cs typeface="+mn-cs"/>
            </a:endParaRPr>
          </a:p>
        </p:txBody>
      </p:sp>
      <p:sp>
        <p:nvSpPr>
          <p:cNvPr id="24" name="Text Placeholder 4">
            <a:extLst>
              <a:ext uri="{FF2B5EF4-FFF2-40B4-BE49-F238E27FC236}">
                <a16:creationId xmlns:a16="http://schemas.microsoft.com/office/drawing/2014/main" id="{75DAAFAA-A87B-4FE4-893F-1FB4B702AD89}"/>
              </a:ext>
            </a:extLst>
          </p:cNvPr>
          <p:cNvSpPr txBox="1">
            <a:spLocks/>
          </p:cNvSpPr>
          <p:nvPr/>
        </p:nvSpPr>
        <p:spPr>
          <a:xfrm>
            <a:off x="775325" y="3823366"/>
            <a:ext cx="5328002" cy="296238"/>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dirty="0">
                <a:latin typeface="Noto Sans Thai" panose="020B0502040504020204" pitchFamily="34" charset="-34"/>
                <a:cs typeface="Noto Sans Thai" panose="020B0502040504020204"/>
              </a:rPr>
              <a:t>Foreign net buy/sell in the stock market and SET index</a:t>
            </a:r>
          </a:p>
        </p:txBody>
      </p:sp>
      <p:sp>
        <p:nvSpPr>
          <p:cNvPr id="25" name="Text Placeholder 4">
            <a:extLst>
              <a:ext uri="{FF2B5EF4-FFF2-40B4-BE49-F238E27FC236}">
                <a16:creationId xmlns:a16="http://schemas.microsoft.com/office/drawing/2014/main" id="{4C3BF484-890A-43E2-AF9B-ECB7FB95E8E0}"/>
              </a:ext>
            </a:extLst>
          </p:cNvPr>
          <p:cNvSpPr txBox="1">
            <a:spLocks/>
          </p:cNvSpPr>
          <p:nvPr/>
        </p:nvSpPr>
        <p:spPr>
          <a:xfrm>
            <a:off x="6110304" y="3818009"/>
            <a:ext cx="5490457" cy="296238"/>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dirty="0">
                <a:latin typeface="Noto Sans Thai" panose="020B0502040504020204" pitchFamily="34" charset="-34"/>
                <a:cs typeface="Noto Sans Thai" panose="020B0502040504020204"/>
              </a:rPr>
              <a:t>Foreign holding in SET – </a:t>
            </a:r>
            <a:r>
              <a:rPr lang="th-TH" dirty="0">
                <a:latin typeface="Noto Sans Thai" panose="020B0502040504020204" pitchFamily="34" charset="-34"/>
                <a:cs typeface="Noto Sans Thai" panose="020B0502040504020204"/>
              </a:rPr>
              <a:t>อยู่ที่ระดับ 38</a:t>
            </a:r>
            <a:r>
              <a:rPr lang="en-US" dirty="0">
                <a:latin typeface="Noto Sans Thai" panose="020B0502040504020204" pitchFamily="34" charset="-34"/>
                <a:cs typeface="Noto Sans Thai" panose="020B0502040504020204"/>
              </a:rPr>
              <a:t>.</a:t>
            </a:r>
            <a:r>
              <a:rPr lang="th-TH" dirty="0">
                <a:latin typeface="Noto Sans Thai" panose="020B0502040504020204" pitchFamily="34" charset="-34"/>
                <a:cs typeface="Noto Sans Thai" panose="020B0502040504020204"/>
              </a:rPr>
              <a:t>8</a:t>
            </a:r>
            <a:r>
              <a:rPr lang="en-US" dirty="0">
                <a:latin typeface="Noto Sans Thai" panose="020B0502040504020204" pitchFamily="34" charset="-34"/>
                <a:cs typeface="Noto Sans Thai" panose="020B0502040504020204"/>
              </a:rPr>
              <a:t>% </a:t>
            </a:r>
            <a:r>
              <a:rPr lang="th-TH" dirty="0">
                <a:latin typeface="Noto Sans Thai" panose="020B0502040504020204" pitchFamily="34" charset="-34"/>
                <a:cs typeface="Noto Sans Thai" panose="020B0502040504020204"/>
              </a:rPr>
              <a:t>เทียบกับในช่วงสิบปีที่ผ่านมา</a:t>
            </a:r>
            <a:r>
              <a:rPr lang="en-US" dirty="0">
                <a:latin typeface="Noto Sans Thai" panose="020B0502040504020204" pitchFamily="34" charset="-34"/>
                <a:cs typeface="Noto Sans Thai" panose="020B0502040504020204"/>
              </a:rPr>
              <a:t> (26%-3</a:t>
            </a:r>
            <a:r>
              <a:rPr lang="th-TH" dirty="0">
                <a:latin typeface="Noto Sans Thai" panose="020B0502040504020204" pitchFamily="34" charset="-34"/>
                <a:cs typeface="Noto Sans Thai" panose="020B0502040504020204"/>
              </a:rPr>
              <a:t>9</a:t>
            </a:r>
            <a:r>
              <a:rPr lang="en-US" dirty="0">
                <a:latin typeface="Noto Sans Thai" panose="020B0502040504020204" pitchFamily="34" charset="-34"/>
                <a:cs typeface="Noto Sans Thai" panose="020B0502040504020204"/>
              </a:rPr>
              <a:t>%) </a:t>
            </a:r>
            <a:r>
              <a:rPr lang="th-TH" dirty="0">
                <a:latin typeface="Noto Sans Thai" panose="020B0502040504020204" pitchFamily="34" charset="-34"/>
                <a:cs typeface="Noto Sans Thai" panose="020B0502040504020204"/>
              </a:rPr>
              <a:t>ไม่รวม </a:t>
            </a:r>
            <a:r>
              <a:rPr lang="en-US" dirty="0">
                <a:latin typeface="Noto Sans Thai" panose="020B0502040504020204" pitchFamily="34" charset="-34"/>
                <a:cs typeface="Noto Sans Thai" panose="020B0502040504020204"/>
              </a:rPr>
              <a:t>DELTA </a:t>
            </a:r>
            <a:r>
              <a:rPr lang="th-TH" dirty="0">
                <a:latin typeface="Noto Sans Thai" panose="020B0502040504020204" pitchFamily="34" charset="-34"/>
                <a:cs typeface="Noto Sans Thai" panose="020B0502040504020204"/>
              </a:rPr>
              <a:t>อยู่ที่ 26.2</a:t>
            </a:r>
            <a:r>
              <a:rPr lang="en-US" dirty="0">
                <a:latin typeface="Noto Sans Thai" panose="020B0502040504020204" pitchFamily="34" charset="-34"/>
                <a:cs typeface="Noto Sans Thai" panose="020B0502040504020204"/>
              </a:rPr>
              <a:t>%</a:t>
            </a:r>
            <a:endParaRPr lang="th-TH" dirty="0">
              <a:latin typeface="Noto Sans Thai" panose="020B0502040504020204" pitchFamily="34" charset="-34"/>
              <a:cs typeface="Noto Sans Thai" panose="020B0502040504020204"/>
            </a:endParaRPr>
          </a:p>
        </p:txBody>
      </p:sp>
      <p:sp>
        <p:nvSpPr>
          <p:cNvPr id="42" name="Rectangle 41">
            <a:extLst>
              <a:ext uri="{FF2B5EF4-FFF2-40B4-BE49-F238E27FC236}">
                <a16:creationId xmlns:a16="http://schemas.microsoft.com/office/drawing/2014/main" id="{C9289D7B-1584-43E2-BD83-1C9627151966}"/>
              </a:ext>
            </a:extLst>
          </p:cNvPr>
          <p:cNvSpPr/>
          <p:nvPr/>
        </p:nvSpPr>
        <p:spPr>
          <a:xfrm>
            <a:off x="325821" y="919671"/>
            <a:ext cx="11571889" cy="2793072"/>
          </a:xfrm>
          <a:prstGeom prst="rect">
            <a:avLst/>
          </a:prstGeom>
        </p:spPr>
        <p:txBody>
          <a:bodyPr wrap="square">
            <a:spAutoFit/>
          </a:bodyPr>
          <a:lstStyle/>
          <a:p>
            <a:pPr marL="128588" indent="-128588" algn="thaiDist" defTabSz="685800">
              <a:spcBef>
                <a:spcPts val="300"/>
              </a:spcBef>
              <a:buFont typeface="Arial" panose="020B0604020202020204" pitchFamily="34" charset="0"/>
              <a:buChar char="•"/>
            </a:pPr>
            <a:r>
              <a:rPr lang="th-TH" altLang="en-US" sz="1200" dirty="0">
                <a:solidFill>
                  <a:srgbClr val="F4F4F4">
                    <a:lumMod val="25000"/>
                  </a:srgbClr>
                </a:solidFill>
                <a:latin typeface="Noto Sans Thai" panose="020B0502040504020204" pitchFamily="34" charset="-34"/>
                <a:cs typeface="Noto Sans Thai" panose="020B0502040504020204"/>
              </a:rPr>
              <a:t>ตลาดหุ้นไทยในเดือนพฤษภาคมคาดเคลื่อนไหวในกรอบ 1440–1530 จุด หลังช่วงปลายฤดูกาลประกาศงบ (</a:t>
            </a:r>
            <a:r>
              <a:rPr lang="en-US" altLang="en-US" sz="1200" dirty="0">
                <a:solidFill>
                  <a:srgbClr val="F4F4F4">
                    <a:lumMod val="25000"/>
                  </a:srgbClr>
                </a:solidFill>
                <a:latin typeface="Noto Sans Thai" panose="020B0502040504020204" pitchFamily="34" charset="-34"/>
                <a:cs typeface="Noto Sans Thai" panose="020B0502040504020204"/>
              </a:rPr>
              <a:t>late earnings season) </a:t>
            </a:r>
            <a:r>
              <a:rPr lang="th-TH" altLang="en-US" sz="1200" dirty="0">
                <a:solidFill>
                  <a:srgbClr val="F4F4F4">
                    <a:lumMod val="25000"/>
                  </a:srgbClr>
                </a:solidFill>
                <a:latin typeface="Noto Sans Thai" panose="020B0502040504020204" pitchFamily="34" charset="-34"/>
                <a:cs typeface="Noto Sans Thai" panose="020B0502040504020204"/>
              </a:rPr>
              <a:t>ตลาดจะเข้าสู่โหมดประเมินความจริง (</a:t>
            </a:r>
            <a:r>
              <a:rPr lang="en-US" altLang="en-US" sz="1200" dirty="0">
                <a:solidFill>
                  <a:srgbClr val="F4F4F4">
                    <a:lumMod val="25000"/>
                  </a:srgbClr>
                </a:solidFill>
                <a:latin typeface="Noto Sans Thai" panose="020B0502040504020204" pitchFamily="34" charset="-34"/>
                <a:cs typeface="Noto Sans Thai" panose="020B0502040504020204"/>
              </a:rPr>
              <a:t>reality check mode) </a:t>
            </a:r>
            <a:r>
              <a:rPr lang="th-TH" altLang="en-US" sz="1200" dirty="0">
                <a:solidFill>
                  <a:srgbClr val="F4F4F4">
                    <a:lumMod val="25000"/>
                  </a:srgbClr>
                </a:solidFill>
                <a:latin typeface="Noto Sans Thai" panose="020B0502040504020204" pitchFamily="34" charset="-34"/>
                <a:cs typeface="Noto Sans Thai" panose="020B0502040504020204"/>
              </a:rPr>
              <a:t>อย่างเต็มตัว โดยในเดือนพฤษภาคม นักลงทุนจะเริ่มให้น้ำหนักกับผลกระทบเชิงโครงสร้างจากสงครามและต้นทุนพลังงานต่อทิศทางกำไรไตรมาส 2 มากขึ้น หลังจากต้นทุนการผลิตและบรรจุภัณฑ์ (</a:t>
            </a:r>
            <a:r>
              <a:rPr lang="en-US" altLang="en-US" sz="1200" dirty="0">
                <a:solidFill>
                  <a:srgbClr val="F4F4F4">
                    <a:lumMod val="25000"/>
                  </a:srgbClr>
                </a:solidFill>
                <a:latin typeface="Noto Sans Thai" panose="020B0502040504020204" pitchFamily="34" charset="-34"/>
                <a:cs typeface="Noto Sans Thai" panose="020B0502040504020204"/>
              </a:rPr>
              <a:t>production &amp; packaging cost) </a:t>
            </a:r>
            <a:r>
              <a:rPr lang="th-TH" altLang="en-US" sz="1200" dirty="0">
                <a:solidFill>
                  <a:srgbClr val="F4F4F4">
                    <a:lumMod val="25000"/>
                  </a:srgbClr>
                </a:solidFill>
                <a:latin typeface="Noto Sans Thai" panose="020B0502040504020204" pitchFamily="34" charset="-34"/>
                <a:cs typeface="Noto Sans Thai" panose="020B0502040504020204"/>
              </a:rPr>
              <a:t>รวมถึงต้นทุนขนส่ง (</a:t>
            </a:r>
            <a:r>
              <a:rPr lang="en-US" altLang="en-US" sz="1200" dirty="0">
                <a:solidFill>
                  <a:srgbClr val="F4F4F4">
                    <a:lumMod val="25000"/>
                  </a:srgbClr>
                </a:solidFill>
                <a:latin typeface="Noto Sans Thai" panose="020B0502040504020204" pitchFamily="34" charset="-34"/>
                <a:cs typeface="Noto Sans Thai" panose="020B0502040504020204"/>
              </a:rPr>
              <a:t>logistics cost) </a:t>
            </a:r>
            <a:r>
              <a:rPr lang="th-TH" altLang="en-US" sz="1200" dirty="0">
                <a:solidFill>
                  <a:srgbClr val="F4F4F4">
                    <a:lumMod val="25000"/>
                  </a:srgbClr>
                </a:solidFill>
                <a:latin typeface="Noto Sans Thai" panose="020B0502040504020204" pitchFamily="34" charset="-34"/>
                <a:cs typeface="Noto Sans Thai" panose="020B0502040504020204"/>
              </a:rPr>
              <a:t>เริ่มถูกส่งผ่านเข้าสู่ระบบเศรษฐกิจจริง และมีแนวโน้มทวีความรุนแรงในไตรมาส 3</a:t>
            </a:r>
          </a:p>
          <a:p>
            <a:pPr marL="128588" indent="-128588" algn="thaiDist" defTabSz="685800">
              <a:spcBef>
                <a:spcPts val="300"/>
              </a:spcBef>
              <a:buFont typeface="Arial" panose="020B0604020202020204" pitchFamily="34" charset="0"/>
              <a:buChar char="•"/>
            </a:pPr>
            <a:r>
              <a:rPr lang="th-TH" altLang="en-US" sz="1200" dirty="0">
                <a:solidFill>
                  <a:srgbClr val="F4F4F4">
                    <a:lumMod val="25000"/>
                  </a:srgbClr>
                </a:solidFill>
                <a:latin typeface="Noto Sans Thai" panose="020B0502040504020204" pitchFamily="34" charset="-34"/>
                <a:cs typeface="Noto Sans Thai" panose="020B0502040504020204"/>
              </a:rPr>
              <a:t>แต่ </a:t>
            </a:r>
            <a:r>
              <a:rPr lang="en-US" altLang="en-US" sz="1200" dirty="0">
                <a:solidFill>
                  <a:srgbClr val="F4F4F4">
                    <a:lumMod val="25000"/>
                  </a:srgbClr>
                </a:solidFill>
                <a:latin typeface="Noto Sans Thai" panose="020B0502040504020204" pitchFamily="34" charset="-34"/>
                <a:cs typeface="Noto Sans Thai" panose="020B0502040504020204"/>
              </a:rPr>
              <a:t>Downside </a:t>
            </a:r>
            <a:r>
              <a:rPr lang="th-TH" altLang="en-US" sz="1200" dirty="0">
                <a:solidFill>
                  <a:srgbClr val="F4F4F4">
                    <a:lumMod val="25000"/>
                  </a:srgbClr>
                </a:solidFill>
                <a:latin typeface="Noto Sans Thai" panose="020B0502040504020204" pitchFamily="34" charset="-34"/>
                <a:cs typeface="Noto Sans Thai" panose="020B0502040504020204"/>
              </a:rPr>
              <a:t>จำกัดหลังทิศทางกำไรหุ้นขนาดใหญ่ยังแข็งแกร่ง แม้การปรับประมาณการกำไร (</a:t>
            </a:r>
            <a:r>
              <a:rPr lang="en-US" altLang="en-US" sz="1200" dirty="0">
                <a:solidFill>
                  <a:srgbClr val="F4F4F4">
                    <a:lumMod val="25000"/>
                  </a:srgbClr>
                </a:solidFill>
                <a:latin typeface="Noto Sans Thai" panose="020B0502040504020204" pitchFamily="34" charset="-34"/>
                <a:cs typeface="Noto Sans Thai" panose="020B0502040504020204"/>
              </a:rPr>
              <a:t>earnings revisions) </a:t>
            </a:r>
            <a:r>
              <a:rPr lang="th-TH" altLang="en-US" sz="1200" dirty="0">
                <a:solidFill>
                  <a:srgbClr val="F4F4F4">
                    <a:lumMod val="25000"/>
                  </a:srgbClr>
                </a:solidFill>
                <a:latin typeface="Noto Sans Thai" panose="020B0502040504020204" pitchFamily="34" charset="-34"/>
                <a:cs typeface="Noto Sans Thai" panose="020B0502040504020204"/>
              </a:rPr>
              <a:t>ในเดือนเมษายนปรับเพิ่มขึ้น +1.4% (จาก +0.9% ตั้งแต่ต้นปี) แต่แรงหนุนมาจากเพียงไม่กี่กลุ่ม ได้แก่ กลุ่มวัฏจักร (</a:t>
            </a:r>
            <a:r>
              <a:rPr lang="en-US" altLang="en-US" sz="1200" dirty="0">
                <a:solidFill>
                  <a:srgbClr val="F4F4F4">
                    <a:lumMod val="25000"/>
                  </a:srgbClr>
                </a:solidFill>
                <a:latin typeface="Noto Sans Thai" panose="020B0502040504020204" pitchFamily="34" charset="-34"/>
                <a:cs typeface="Noto Sans Thai" panose="020B0502040504020204"/>
              </a:rPr>
              <a:t>cyclical stocks) </a:t>
            </a:r>
            <a:r>
              <a:rPr lang="th-TH" altLang="en-US" sz="1200" dirty="0">
                <a:solidFill>
                  <a:srgbClr val="F4F4F4">
                    <a:lumMod val="25000"/>
                  </a:srgbClr>
                </a:solidFill>
                <a:latin typeface="Noto Sans Thai" panose="020B0502040504020204" pitchFamily="34" charset="-34"/>
                <a:cs typeface="Noto Sans Thai" panose="020B0502040504020204"/>
              </a:rPr>
              <a:t>ได้แก่ พลังงานและปิโตรเคมี ซึ่งได้ประโยชน์จากราคาสินค้าโภคภัณฑ์ที่ปรับตัวสูงขึ้น (</a:t>
            </a:r>
            <a:r>
              <a:rPr lang="en-US" altLang="en-US" sz="1200" dirty="0">
                <a:solidFill>
                  <a:srgbClr val="F4F4F4">
                    <a:lumMod val="25000"/>
                  </a:srgbClr>
                </a:solidFill>
                <a:latin typeface="Noto Sans Thai" panose="020B0502040504020204" pitchFamily="34" charset="-34"/>
                <a:cs typeface="Noto Sans Thai" panose="020B0502040504020204"/>
              </a:rPr>
              <a:t>commodity upcycle) </a:t>
            </a:r>
            <a:r>
              <a:rPr lang="th-TH" altLang="en-US" sz="1200" dirty="0">
                <a:solidFill>
                  <a:srgbClr val="F4F4F4">
                    <a:lumMod val="25000"/>
                  </a:srgbClr>
                </a:solidFill>
                <a:latin typeface="Noto Sans Thai" panose="020B0502040504020204" pitchFamily="34" charset="-34"/>
                <a:cs typeface="Noto Sans Thai" panose="020B0502040504020204"/>
              </a:rPr>
              <a:t>ทั้งค่าการกลั่น (</a:t>
            </a:r>
            <a:r>
              <a:rPr lang="en-US" altLang="en-US" sz="1200" dirty="0">
                <a:solidFill>
                  <a:srgbClr val="F4F4F4">
                    <a:lumMod val="25000"/>
                  </a:srgbClr>
                </a:solidFill>
                <a:latin typeface="Noto Sans Thai" panose="020B0502040504020204" pitchFamily="34" charset="-34"/>
                <a:cs typeface="Noto Sans Thai" panose="020B0502040504020204"/>
              </a:rPr>
              <a:t>GRM) </a:t>
            </a:r>
            <a:r>
              <a:rPr lang="th-TH" altLang="en-US" sz="1200" dirty="0">
                <a:solidFill>
                  <a:srgbClr val="F4F4F4">
                    <a:lumMod val="25000"/>
                  </a:srgbClr>
                </a:solidFill>
                <a:latin typeface="Noto Sans Thai" panose="020B0502040504020204" pitchFamily="34" charset="-34"/>
                <a:cs typeface="Noto Sans Thai" panose="020B0502040504020204"/>
              </a:rPr>
              <a:t>และส่วนต่างปิโตรเคมี (</a:t>
            </a:r>
            <a:r>
              <a:rPr lang="en-US" altLang="en-US" sz="1200" dirty="0">
                <a:solidFill>
                  <a:srgbClr val="F4F4F4">
                    <a:lumMod val="25000"/>
                  </a:srgbClr>
                </a:solidFill>
                <a:latin typeface="Noto Sans Thai" panose="020B0502040504020204" pitchFamily="34" charset="-34"/>
                <a:cs typeface="Noto Sans Thai" panose="020B0502040504020204"/>
              </a:rPr>
              <a:t>chemical spreads) </a:t>
            </a:r>
            <a:r>
              <a:rPr lang="th-TH" altLang="en-US" sz="1200" dirty="0">
                <a:solidFill>
                  <a:srgbClr val="F4F4F4">
                    <a:lumMod val="25000"/>
                  </a:srgbClr>
                </a:solidFill>
                <a:latin typeface="Noto Sans Thai" panose="020B0502040504020204" pitchFamily="34" charset="-34"/>
                <a:cs typeface="Noto Sans Thai" panose="020B0502040504020204"/>
              </a:rPr>
              <a:t>ขณะเดียวกัน กลุ่มอิเล็กทรอนิกส์ยังได้รับแรงหนุนจากอุปสงค์ด้าน </a:t>
            </a:r>
            <a:r>
              <a:rPr lang="en-US" altLang="en-US" sz="1200" dirty="0">
                <a:solidFill>
                  <a:srgbClr val="F4F4F4">
                    <a:lumMod val="25000"/>
                  </a:srgbClr>
                </a:solidFill>
                <a:latin typeface="Noto Sans Thai" panose="020B0502040504020204" pitchFamily="34" charset="-34"/>
                <a:cs typeface="Noto Sans Thai" panose="020B0502040504020204"/>
              </a:rPr>
              <a:t>AI </a:t>
            </a:r>
            <a:r>
              <a:rPr lang="th-TH" altLang="en-US" sz="1200" dirty="0">
                <a:solidFill>
                  <a:srgbClr val="F4F4F4">
                    <a:lumMod val="25000"/>
                  </a:srgbClr>
                </a:solidFill>
                <a:latin typeface="Noto Sans Thai" panose="020B0502040504020204" pitchFamily="34" charset="-34"/>
                <a:cs typeface="Noto Sans Thai" panose="020B0502040504020204"/>
              </a:rPr>
              <a:t>และ </a:t>
            </a:r>
            <a:r>
              <a:rPr lang="en-US" altLang="en-US" sz="1200" dirty="0">
                <a:solidFill>
                  <a:srgbClr val="F4F4F4">
                    <a:lumMod val="25000"/>
                  </a:srgbClr>
                </a:solidFill>
                <a:latin typeface="Noto Sans Thai" panose="020B0502040504020204" pitchFamily="34" charset="-34"/>
                <a:cs typeface="Noto Sans Thai" panose="020B0502040504020204"/>
              </a:rPr>
              <a:t>data center </a:t>
            </a:r>
            <a:r>
              <a:rPr lang="th-TH" altLang="en-US" sz="1200" dirty="0">
                <a:solidFill>
                  <a:srgbClr val="F4F4F4">
                    <a:lumMod val="25000"/>
                  </a:srgbClr>
                </a:solidFill>
                <a:latin typeface="Noto Sans Thai" panose="020B0502040504020204" pitchFamily="34" charset="-34"/>
                <a:cs typeface="Noto Sans Thai" panose="020B0502040504020204"/>
              </a:rPr>
              <a:t>ที่แข็งแกร่ง (</a:t>
            </a:r>
            <a:r>
              <a:rPr lang="en-US" altLang="en-US" sz="1200" dirty="0">
                <a:solidFill>
                  <a:srgbClr val="F4F4F4">
                    <a:lumMod val="25000"/>
                  </a:srgbClr>
                </a:solidFill>
                <a:latin typeface="Noto Sans Thai" panose="020B0502040504020204" pitchFamily="34" charset="-34"/>
                <a:cs typeface="Noto Sans Thai" panose="020B0502040504020204"/>
              </a:rPr>
              <a:t>AI-driven demand)</a:t>
            </a:r>
            <a:r>
              <a:rPr lang="th-TH" altLang="en-US" sz="1200" dirty="0">
                <a:solidFill>
                  <a:srgbClr val="F4F4F4">
                    <a:lumMod val="25000"/>
                  </a:srgbClr>
                </a:solidFill>
                <a:latin typeface="Noto Sans Thai" panose="020B0502040504020204" pitchFamily="34" charset="-34"/>
                <a:cs typeface="Noto Sans Thai" panose="020B0502040504020204"/>
              </a:rPr>
              <a:t> แต่หุ้นที่มีการปรับประมาณการกำไรขึ้นในช่วง 1 เดือนที่ผ่านมา คิดเป็นสัดส่วนสูงถึง 55.3% ของมูลค่าตลาด (</a:t>
            </a:r>
            <a:r>
              <a:rPr lang="en-US" altLang="en-US" sz="1200" dirty="0">
                <a:solidFill>
                  <a:srgbClr val="F4F4F4">
                    <a:lumMod val="25000"/>
                  </a:srgbClr>
                </a:solidFill>
                <a:latin typeface="Noto Sans Thai" panose="020B0502040504020204" pitchFamily="34" charset="-34"/>
                <a:cs typeface="Noto Sans Thai" panose="020B0502040504020204"/>
              </a:rPr>
              <a:t>market cap) </a:t>
            </a:r>
            <a:r>
              <a:rPr lang="th-TH" altLang="en-US" sz="1200" dirty="0">
                <a:solidFill>
                  <a:srgbClr val="F4F4F4">
                    <a:lumMod val="25000"/>
                  </a:srgbClr>
                </a:solidFill>
                <a:latin typeface="Noto Sans Thai" panose="020B0502040504020204" pitchFamily="34" charset="-34"/>
                <a:cs typeface="Noto Sans Thai" panose="020B0502040504020204"/>
              </a:rPr>
              <a:t>ของ </a:t>
            </a:r>
            <a:r>
              <a:rPr lang="en-US" altLang="en-US" sz="1200" dirty="0">
                <a:solidFill>
                  <a:srgbClr val="F4F4F4">
                    <a:lumMod val="25000"/>
                  </a:srgbClr>
                </a:solidFill>
                <a:latin typeface="Noto Sans Thai" panose="020B0502040504020204" pitchFamily="34" charset="-34"/>
                <a:cs typeface="Noto Sans Thai" panose="020B0502040504020204"/>
              </a:rPr>
              <a:t>SET </a:t>
            </a:r>
            <a:r>
              <a:rPr lang="th-TH" altLang="en-US" sz="1200" dirty="0">
                <a:solidFill>
                  <a:srgbClr val="F4F4F4">
                    <a:lumMod val="25000"/>
                  </a:srgbClr>
                </a:solidFill>
                <a:latin typeface="Noto Sans Thai" panose="020B0502040504020204" pitchFamily="34" charset="-34"/>
                <a:cs typeface="Noto Sans Thai" panose="020B0502040504020204"/>
              </a:rPr>
              <a:t>และหากพิจารณาหุ้นที่มีแนวโน้มกำไรไตรมาส 2 เติบโต </a:t>
            </a:r>
            <a:r>
              <a:rPr lang="en-US" altLang="en-US" sz="1200" dirty="0">
                <a:solidFill>
                  <a:srgbClr val="F4F4F4">
                    <a:lumMod val="25000"/>
                  </a:srgbClr>
                </a:solidFill>
                <a:latin typeface="Noto Sans Thai" panose="020B0502040504020204" pitchFamily="34" charset="-34"/>
                <a:cs typeface="Noto Sans Thai" panose="020B0502040504020204"/>
              </a:rPr>
              <a:t>YoY </a:t>
            </a:r>
            <a:r>
              <a:rPr lang="th-TH" altLang="en-US" sz="1200" dirty="0">
                <a:solidFill>
                  <a:srgbClr val="F4F4F4">
                    <a:lumMod val="25000"/>
                  </a:srgbClr>
                </a:solidFill>
                <a:latin typeface="Noto Sans Thai" panose="020B0502040504020204" pitchFamily="34" charset="-34"/>
                <a:cs typeface="Noto Sans Thai" panose="020B0502040504020204"/>
              </a:rPr>
              <a:t>จะครอบคลุมราว 48.8% ของ </a:t>
            </a:r>
            <a:r>
              <a:rPr lang="en-US" altLang="en-US" sz="1200" dirty="0">
                <a:solidFill>
                  <a:srgbClr val="F4F4F4">
                    <a:lumMod val="25000"/>
                  </a:srgbClr>
                </a:solidFill>
                <a:latin typeface="Noto Sans Thai" panose="020B0502040504020204" pitchFamily="34" charset="-34"/>
                <a:cs typeface="Noto Sans Thai" panose="020B0502040504020204"/>
              </a:rPr>
              <a:t>market cap</a:t>
            </a:r>
            <a:r>
              <a:rPr lang="th-TH" altLang="en-US" sz="1200" dirty="0">
                <a:solidFill>
                  <a:srgbClr val="F4F4F4">
                    <a:lumMod val="25000"/>
                  </a:srgbClr>
                </a:solidFill>
                <a:latin typeface="Noto Sans Thai" panose="020B0502040504020204" pitchFamily="34" charset="-34"/>
                <a:cs typeface="Noto Sans Thai" panose="020B0502040504020204"/>
              </a:rPr>
              <a:t> นำโดยหุ้นขนาดใหญ่ เช่น </a:t>
            </a:r>
            <a:r>
              <a:rPr lang="en-US" altLang="en-US" sz="1200" dirty="0">
                <a:solidFill>
                  <a:srgbClr val="F4F4F4">
                    <a:lumMod val="25000"/>
                  </a:srgbClr>
                </a:solidFill>
                <a:latin typeface="Noto Sans Thai" panose="020B0502040504020204" pitchFamily="34" charset="-34"/>
                <a:cs typeface="Noto Sans Thai" panose="020B0502040504020204"/>
              </a:rPr>
              <a:t>PTTGC ( </a:t>
            </a:r>
            <a:r>
              <a:rPr lang="th-TH" altLang="en-US" sz="1200" dirty="0">
                <a:solidFill>
                  <a:srgbClr val="F4F4F4">
                    <a:lumMod val="25000"/>
                  </a:srgbClr>
                </a:solidFill>
                <a:latin typeface="Noto Sans Thai" panose="020B0502040504020204" pitchFamily="34" charset="-34"/>
                <a:cs typeface="Noto Sans Thai" panose="020B0502040504020204"/>
              </a:rPr>
              <a:t>ปรับประมาณการกำไรขึ้น +77.3% ใน 1 เดือนที่ผ่านมา), </a:t>
            </a:r>
            <a:r>
              <a:rPr lang="en-US" altLang="en-US" sz="1200" dirty="0">
                <a:solidFill>
                  <a:srgbClr val="F4F4F4">
                    <a:lumMod val="25000"/>
                  </a:srgbClr>
                </a:solidFill>
                <a:latin typeface="Noto Sans Thai" panose="020B0502040504020204" pitchFamily="34" charset="-34"/>
                <a:cs typeface="Noto Sans Thai" panose="020B0502040504020204"/>
              </a:rPr>
              <a:t>TOP (+15.8%), PTTEP (+13.2%), SCC (+6.5%), DELTA (+3.9%), PTT (+2.4%), TRUE (+1.3%), GULF (+1.3%)</a:t>
            </a:r>
            <a:r>
              <a:rPr lang="th-TH" altLang="en-US" sz="1200" dirty="0">
                <a:solidFill>
                  <a:srgbClr val="F4F4F4">
                    <a:lumMod val="25000"/>
                  </a:srgbClr>
                </a:solidFill>
                <a:latin typeface="Noto Sans Thai" panose="020B0502040504020204" pitchFamily="34" charset="-34"/>
                <a:cs typeface="Noto Sans Thai" panose="020B0502040504020204"/>
              </a:rPr>
              <a:t> </a:t>
            </a:r>
          </a:p>
          <a:p>
            <a:pPr marL="128588" indent="-128588" algn="thaiDist" defTabSz="685800">
              <a:spcBef>
                <a:spcPts val="300"/>
              </a:spcBef>
              <a:buFont typeface="Arial" panose="020B0604020202020204" pitchFamily="34" charset="0"/>
              <a:buChar char="•"/>
            </a:pPr>
            <a:r>
              <a:rPr lang="th-TH" altLang="en-US" sz="1200" dirty="0">
                <a:solidFill>
                  <a:srgbClr val="F4F4F4">
                    <a:lumMod val="25000"/>
                  </a:srgbClr>
                </a:solidFill>
                <a:latin typeface="Noto Sans Thai" panose="020B0502040504020204" pitchFamily="34" charset="-34"/>
                <a:cs typeface="Noto Sans Thai" panose="020B0502040504020204"/>
              </a:rPr>
              <a:t>ทั้งนี้ นโยบายภาครัฐ (</a:t>
            </a:r>
            <a:r>
              <a:rPr lang="en-US" altLang="en-US" sz="1200" dirty="0">
                <a:solidFill>
                  <a:srgbClr val="F4F4F4">
                    <a:lumMod val="25000"/>
                  </a:srgbClr>
                </a:solidFill>
                <a:latin typeface="Noto Sans Thai" panose="020B0502040504020204" pitchFamily="34" charset="-34"/>
                <a:cs typeface="Noto Sans Thai" panose="020B0502040504020204"/>
              </a:rPr>
              <a:t>policy support) </a:t>
            </a:r>
            <a:r>
              <a:rPr lang="th-TH" altLang="en-US" sz="1200" dirty="0">
                <a:solidFill>
                  <a:srgbClr val="F4F4F4">
                    <a:lumMod val="25000"/>
                  </a:srgbClr>
                </a:solidFill>
                <a:latin typeface="Noto Sans Thai" panose="020B0502040504020204" pitchFamily="34" charset="-34"/>
                <a:cs typeface="Noto Sans Thai" panose="020B0502040504020204"/>
              </a:rPr>
              <a:t>จะเป็นตัวแปรหลักในการพยุงตลาด ท่ามกลางแรงกดดันจากต้นทุนพลังงานและการชะลอของกำไรในบางอุตสาหกรรม หลังเริ่มเห็นความชัดเจน ทั้งการเร่งดึงการลงทุนโดยตรงจากต่างประเทศ (</a:t>
            </a:r>
            <a:r>
              <a:rPr lang="en-US" altLang="en-US" sz="1200" dirty="0">
                <a:solidFill>
                  <a:srgbClr val="F4F4F4">
                    <a:lumMod val="25000"/>
                  </a:srgbClr>
                </a:solidFill>
                <a:latin typeface="Noto Sans Thai" panose="020B0502040504020204" pitchFamily="34" charset="-34"/>
                <a:cs typeface="Noto Sans Thai" panose="020B0502040504020204"/>
              </a:rPr>
              <a:t>FDI) </a:t>
            </a:r>
            <a:r>
              <a:rPr lang="th-TH" altLang="en-US" sz="1200" dirty="0">
                <a:solidFill>
                  <a:srgbClr val="F4F4F4">
                    <a:lumMod val="25000"/>
                  </a:srgbClr>
                </a:solidFill>
                <a:latin typeface="Noto Sans Thai" panose="020B0502040504020204" pitchFamily="34" charset="-34"/>
                <a:cs typeface="Noto Sans Thai" panose="020B0502040504020204"/>
              </a:rPr>
              <a:t>นำโดยอุตสาหกรรมดิจิทัลและอิเล็กทรอนิกส์ ขณะที่ โครงการ “ไทยช่วยไทยพลัส” เตรียมเปิดลงทะเบียนในเดือนพ.ค. 2569 และเริ่มใช้สิทธิในเดือนมิ.ย. 2569 โดยรัฐสนับสนุนค่าใช้จ่าย 60% ขณะที่ประชาชนจ่าย 40% ผ่านแอป เป๋าตัง วงเงินรวม 4,000 บาท แบ่งใช้เดือนละ 1,000 บาท เป็นเวลา 4 เดือน ครอบคลุมประชาชนไทยอายุ 18 ปีขึ้นไปที่ไม่ถือบัตรสวัสดิการแห่งรัฐ ประเมินเป็นบวกต่อหุ้นค้าปลีกและสินค้าอุปโภคบริโภคในประเทศ จากแรงหนุนกำลังซื้อระยะสั้นที่เพิ่มขึ้น ลดความเสี่ยงคุณภาสินทรพกลุ่มเปราะบาง</a:t>
            </a:r>
          </a:p>
          <a:p>
            <a:pPr marL="128588" indent="-128588" algn="thaiDist" defTabSz="685800">
              <a:spcBef>
                <a:spcPts val="300"/>
              </a:spcBef>
              <a:buFont typeface="Arial" panose="020B0604020202020204" pitchFamily="34" charset="0"/>
              <a:buChar char="•"/>
            </a:pPr>
            <a:r>
              <a:rPr lang="th-TH" altLang="en-US" sz="1200" dirty="0">
                <a:solidFill>
                  <a:srgbClr val="F4F4F4">
                    <a:lumMod val="25000"/>
                  </a:srgbClr>
                </a:solidFill>
                <a:latin typeface="Noto Sans Thai" panose="020B0502040504020204" pitchFamily="34" charset="-34"/>
                <a:cs typeface="Noto Sans Thai" panose="020B0502040504020204"/>
              </a:rPr>
              <a:t>ภายใต้บริบทดังกล่าว ธีมการลงทุนยังเน้น 5 กลุ่มหลัก ได้แก่เน้นกลุ่มทิศทางกำไรยังโต/ฟื้นเด่น –ความเสี่ยงผลกระทบต้นทุนพลังงานต่ำกว่า 5 ธีมหลัก ได้แก่ 1) ผู้ชนะจากภาวะอุปทานตึงตัวและวัฏจักรสินค้าโภคภัณฑ์รอบใหม่ </a:t>
            </a:r>
            <a:r>
              <a:rPr lang="en-US" altLang="en-US" sz="1200" dirty="0">
                <a:solidFill>
                  <a:srgbClr val="F4F4F4">
                    <a:lumMod val="25000"/>
                  </a:srgbClr>
                </a:solidFill>
                <a:latin typeface="Noto Sans Thai" panose="020B0502040504020204" pitchFamily="34" charset="-34"/>
                <a:cs typeface="Noto Sans Thai" panose="020B0502040504020204"/>
              </a:rPr>
              <a:t>chemical spread </a:t>
            </a:r>
            <a:r>
              <a:rPr lang="th-TH" altLang="en-US" sz="1200" dirty="0">
                <a:solidFill>
                  <a:srgbClr val="F4F4F4">
                    <a:lumMod val="25000"/>
                  </a:srgbClr>
                </a:solidFill>
                <a:latin typeface="Noto Sans Thai" panose="020B0502040504020204" pitchFamily="34" charset="-34"/>
                <a:cs typeface="Noto Sans Thai" panose="020B0502040504020204"/>
              </a:rPr>
              <a:t>ยืนสูง (“</a:t>
            </a:r>
            <a:r>
              <a:rPr lang="en-US" altLang="en-US" sz="1200" dirty="0">
                <a:solidFill>
                  <a:srgbClr val="F4F4F4">
                    <a:lumMod val="25000"/>
                  </a:srgbClr>
                </a:solidFill>
                <a:latin typeface="Noto Sans Thai" panose="020B0502040504020204" pitchFamily="34" charset="-34"/>
                <a:cs typeface="Noto Sans Thai" panose="020B0502040504020204"/>
              </a:rPr>
              <a:t>Supply disruption beneficiaries”) PTTGC, IVL</a:t>
            </a:r>
            <a:r>
              <a:rPr lang="th-TH" altLang="en-US" sz="1200" dirty="0">
                <a:solidFill>
                  <a:srgbClr val="F4F4F4">
                    <a:lumMod val="25000"/>
                  </a:srgbClr>
                </a:solidFill>
                <a:latin typeface="Noto Sans Thai" panose="020B0502040504020204" pitchFamily="34" charset="-34"/>
                <a:cs typeface="Noto Sans Thai" panose="020B0502040504020204"/>
              </a:rPr>
              <a:t> </a:t>
            </a:r>
            <a:r>
              <a:rPr lang="en-US" altLang="en-US" sz="1200" dirty="0">
                <a:solidFill>
                  <a:srgbClr val="F4F4F4">
                    <a:lumMod val="25000"/>
                  </a:srgbClr>
                </a:solidFill>
                <a:latin typeface="Noto Sans Thai" panose="020B0502040504020204" pitchFamily="34" charset="-34"/>
                <a:cs typeface="Noto Sans Thai" panose="020B0502040504020204"/>
              </a:rPr>
              <a:t>2) </a:t>
            </a:r>
            <a:r>
              <a:rPr lang="th-TH" altLang="en-US" sz="1200" dirty="0">
                <a:solidFill>
                  <a:srgbClr val="F4F4F4">
                    <a:lumMod val="25000"/>
                  </a:srgbClr>
                </a:solidFill>
                <a:latin typeface="Noto Sans Thai" panose="020B0502040504020204" pitchFamily="34" charset="-34"/>
                <a:cs typeface="Noto Sans Thai" panose="020B0502040504020204"/>
              </a:rPr>
              <a:t>วัฏจักรลงทุนโครงสร้างพื้นฐาน–</a:t>
            </a:r>
            <a:r>
              <a:rPr lang="en-US" altLang="en-US" sz="1200" dirty="0">
                <a:solidFill>
                  <a:srgbClr val="F4F4F4">
                    <a:lumMod val="25000"/>
                  </a:srgbClr>
                </a:solidFill>
                <a:latin typeface="Noto Sans Thai" panose="020B0502040504020204" pitchFamily="34" charset="-34"/>
                <a:cs typeface="Noto Sans Thai" panose="020B0502040504020204"/>
              </a:rPr>
              <a:t>Data Center </a:t>
            </a:r>
            <a:r>
              <a:rPr lang="th-TH" altLang="en-US" sz="1200" dirty="0">
                <a:solidFill>
                  <a:srgbClr val="F4F4F4">
                    <a:lumMod val="25000"/>
                  </a:srgbClr>
                </a:solidFill>
                <a:latin typeface="Noto Sans Thai" panose="020B0502040504020204" pitchFamily="34" charset="-34"/>
                <a:cs typeface="Noto Sans Thai" panose="020B0502040504020204"/>
              </a:rPr>
              <a:t>และเศรษฐกิจดิจิทัล (</a:t>
            </a:r>
            <a:r>
              <a:rPr lang="en-US" altLang="en-US" sz="1200" dirty="0">
                <a:solidFill>
                  <a:srgbClr val="F4F4F4">
                    <a:lumMod val="25000"/>
                  </a:srgbClr>
                </a:solidFill>
                <a:latin typeface="Noto Sans Thai" panose="020B0502040504020204" pitchFamily="34" charset="-34"/>
                <a:cs typeface="Noto Sans Thai" panose="020B0502040504020204"/>
              </a:rPr>
              <a:t>National infrastructure </a:t>
            </a:r>
            <a:r>
              <a:rPr lang="en-US" altLang="en-US" sz="1200" dirty="0" err="1">
                <a:solidFill>
                  <a:srgbClr val="F4F4F4">
                    <a:lumMod val="25000"/>
                  </a:srgbClr>
                </a:solidFill>
                <a:latin typeface="Noto Sans Thai" panose="020B0502040504020204" pitchFamily="34" charset="-34"/>
                <a:cs typeface="Noto Sans Thai" panose="020B0502040504020204"/>
              </a:rPr>
              <a:t>supercycle</a:t>
            </a:r>
            <a:r>
              <a:rPr lang="en-US" altLang="en-US" sz="1200" dirty="0">
                <a:solidFill>
                  <a:srgbClr val="F4F4F4">
                    <a:lumMod val="25000"/>
                  </a:srgbClr>
                </a:solidFill>
                <a:latin typeface="Noto Sans Thai" panose="020B0502040504020204" pitchFamily="34" charset="-34"/>
                <a:cs typeface="Noto Sans Thai" panose="020B0502040504020204"/>
              </a:rPr>
              <a:t>) </a:t>
            </a:r>
            <a:r>
              <a:rPr lang="th-TH" altLang="en-US" sz="1200" dirty="0">
                <a:solidFill>
                  <a:srgbClr val="F4F4F4">
                    <a:lumMod val="25000"/>
                  </a:srgbClr>
                </a:solidFill>
                <a:latin typeface="Noto Sans Thai" panose="020B0502040504020204" pitchFamily="34" charset="-34"/>
                <a:cs typeface="Noto Sans Thai" panose="020B0502040504020204"/>
              </a:rPr>
              <a:t>ผ่าน </a:t>
            </a:r>
            <a:r>
              <a:rPr lang="en-US" altLang="en-US" sz="1200" dirty="0">
                <a:solidFill>
                  <a:srgbClr val="F4F4F4">
                    <a:lumMod val="25000"/>
                  </a:srgbClr>
                </a:solidFill>
                <a:latin typeface="Noto Sans Thai" panose="020B0502040504020204" pitchFamily="34" charset="-34"/>
                <a:cs typeface="Noto Sans Thai" panose="020B0502040504020204"/>
              </a:rPr>
              <a:t>BOI fast pass </a:t>
            </a:r>
            <a:r>
              <a:rPr lang="th-TH" altLang="en-US" sz="1200" dirty="0">
                <a:solidFill>
                  <a:srgbClr val="F4F4F4">
                    <a:lumMod val="25000"/>
                  </a:srgbClr>
                </a:solidFill>
                <a:latin typeface="Noto Sans Thai" panose="020B0502040504020204" pitchFamily="34" charset="-34"/>
                <a:cs typeface="Noto Sans Thai" panose="020B0502040504020204"/>
              </a:rPr>
              <a:t>และ </a:t>
            </a:r>
            <a:r>
              <a:rPr lang="en-US" altLang="en-US" sz="1200" dirty="0">
                <a:solidFill>
                  <a:srgbClr val="F4F4F4">
                    <a:lumMod val="25000"/>
                  </a:srgbClr>
                </a:solidFill>
                <a:latin typeface="Noto Sans Thai" panose="020B0502040504020204" pitchFamily="34" charset="-34"/>
                <a:cs typeface="Noto Sans Thai" panose="020B0502040504020204"/>
              </a:rPr>
              <a:t>FDI </a:t>
            </a:r>
            <a:r>
              <a:rPr lang="th-TH" altLang="en-US" sz="1200" dirty="0">
                <a:solidFill>
                  <a:srgbClr val="F4F4F4">
                    <a:lumMod val="25000"/>
                  </a:srgbClr>
                </a:solidFill>
                <a:latin typeface="Noto Sans Thai" panose="020B0502040504020204" pitchFamily="34" charset="-34"/>
                <a:cs typeface="Noto Sans Thai" panose="020B0502040504020204"/>
              </a:rPr>
              <a:t>ที่เร่งตัว โดยเฉพาะ </a:t>
            </a:r>
            <a:r>
              <a:rPr lang="en-US" altLang="en-US" sz="1200" dirty="0">
                <a:solidFill>
                  <a:srgbClr val="F4F4F4">
                    <a:lumMod val="25000"/>
                  </a:srgbClr>
                </a:solidFill>
                <a:latin typeface="Noto Sans Thai" panose="020B0502040504020204" pitchFamily="34" charset="-34"/>
                <a:cs typeface="Noto Sans Thai" panose="020B0502040504020204"/>
              </a:rPr>
              <a:t>data center value chain </a:t>
            </a:r>
            <a:r>
              <a:rPr lang="th-TH" altLang="en-US" sz="1200" dirty="0">
                <a:solidFill>
                  <a:srgbClr val="F4F4F4">
                    <a:lumMod val="25000"/>
                  </a:srgbClr>
                </a:solidFill>
                <a:latin typeface="Noto Sans Thai" panose="020B0502040504020204" pitchFamily="34" charset="-34"/>
                <a:cs typeface="Noto Sans Thai" panose="020B0502040504020204"/>
              </a:rPr>
              <a:t>หนุนการเติบโตระยะกลาง–ยาว </a:t>
            </a:r>
            <a:r>
              <a:rPr lang="en-US" altLang="en-US" sz="1200" dirty="0">
                <a:solidFill>
                  <a:srgbClr val="F4F4F4">
                    <a:lumMod val="25000"/>
                  </a:srgbClr>
                </a:solidFill>
                <a:latin typeface="Noto Sans Thai" panose="020B0502040504020204" pitchFamily="34" charset="-34"/>
                <a:cs typeface="Noto Sans Thai" panose="020B0502040504020204"/>
              </a:rPr>
              <a:t>GULF, GUNKUL, TRUE, WHA, WHAUP</a:t>
            </a:r>
            <a:r>
              <a:rPr lang="th-TH" altLang="en-US" sz="1200" dirty="0">
                <a:solidFill>
                  <a:srgbClr val="F4F4F4">
                    <a:lumMod val="25000"/>
                  </a:srgbClr>
                </a:solidFill>
                <a:latin typeface="Noto Sans Thai" panose="020B0502040504020204" pitchFamily="34" charset="-34"/>
                <a:cs typeface="Noto Sans Thai" panose="020B0502040504020204"/>
              </a:rPr>
              <a:t> </a:t>
            </a:r>
            <a:r>
              <a:rPr lang="en-US" altLang="en-US" sz="1200" dirty="0">
                <a:solidFill>
                  <a:srgbClr val="F4F4F4">
                    <a:lumMod val="25000"/>
                  </a:srgbClr>
                </a:solidFill>
                <a:latin typeface="Noto Sans Thai" panose="020B0502040504020204" pitchFamily="34" charset="-34"/>
                <a:cs typeface="Noto Sans Thai" panose="020B0502040504020204"/>
              </a:rPr>
              <a:t>3) </a:t>
            </a:r>
            <a:r>
              <a:rPr lang="th-TH" altLang="en-US" sz="1200" dirty="0">
                <a:solidFill>
                  <a:srgbClr val="F4F4F4">
                    <a:lumMod val="25000"/>
                  </a:srgbClr>
                </a:solidFill>
                <a:latin typeface="Noto Sans Thai" panose="020B0502040504020204" pitchFamily="34" charset="-34"/>
                <a:cs typeface="Noto Sans Thai" panose="020B0502040504020204"/>
              </a:rPr>
              <a:t>กลุ่มกำไร/กระแสเงินสดแกร่ง-พึ่งพาเศรษฐกิจในประเทศผลกระทบสงครามต่ำ-สัดส่วนต้นทุนพลังงานต่ำ/ส่งผ่านต้นทุนได้ (</a:t>
            </a:r>
            <a:r>
              <a:rPr lang="en-US" altLang="en-US" sz="1200" dirty="0">
                <a:solidFill>
                  <a:srgbClr val="F4F4F4">
                    <a:lumMod val="25000"/>
                  </a:srgbClr>
                </a:solidFill>
                <a:latin typeface="Noto Sans Thai" panose="020B0502040504020204" pitchFamily="34" charset="-34"/>
                <a:cs typeface="Noto Sans Thai" panose="020B0502040504020204"/>
              </a:rPr>
              <a:t>pricing power)-</a:t>
            </a:r>
            <a:r>
              <a:rPr lang="th-TH" altLang="en-US" sz="1200" dirty="0">
                <a:solidFill>
                  <a:srgbClr val="F4F4F4">
                    <a:lumMod val="25000"/>
                  </a:srgbClr>
                </a:solidFill>
                <a:latin typeface="Noto Sans Thai" panose="020B0502040504020204" pitchFamily="34" charset="-34"/>
                <a:cs typeface="Noto Sans Thai" panose="020B0502040504020204"/>
              </a:rPr>
              <a:t>มาตรการรัฐฯ หนุนการฟื้นตัว (</a:t>
            </a:r>
            <a:r>
              <a:rPr lang="en-US" altLang="en-US" sz="1200" dirty="0">
                <a:solidFill>
                  <a:srgbClr val="F4F4F4">
                    <a:lumMod val="25000"/>
                  </a:srgbClr>
                </a:solidFill>
                <a:latin typeface="Noto Sans Thai" panose="020B0502040504020204" pitchFamily="34" charset="-34"/>
                <a:cs typeface="Noto Sans Thai" panose="020B0502040504020204"/>
              </a:rPr>
              <a:t>War-resilient domestic earnings with stimulus-driven upside) CPN, CPALL</a:t>
            </a:r>
            <a:r>
              <a:rPr lang="th-TH" altLang="en-US" sz="1200" dirty="0">
                <a:solidFill>
                  <a:srgbClr val="F4F4F4">
                    <a:lumMod val="25000"/>
                  </a:srgbClr>
                </a:solidFill>
                <a:latin typeface="Noto Sans Thai" panose="020B0502040504020204" pitchFamily="34" charset="-34"/>
                <a:cs typeface="Noto Sans Thai" panose="020B0502040504020204"/>
              </a:rPr>
              <a:t> </a:t>
            </a:r>
            <a:r>
              <a:rPr lang="en-US" altLang="en-US" sz="1200" dirty="0">
                <a:solidFill>
                  <a:srgbClr val="F4F4F4">
                    <a:lumMod val="25000"/>
                  </a:srgbClr>
                </a:solidFill>
                <a:latin typeface="Noto Sans Thai" panose="020B0502040504020204" pitchFamily="34" charset="-34"/>
                <a:cs typeface="Noto Sans Thai" panose="020B0502040504020204"/>
              </a:rPr>
              <a:t>4) </a:t>
            </a:r>
            <a:r>
              <a:rPr lang="th-TH" altLang="en-US" sz="1200" dirty="0">
                <a:solidFill>
                  <a:srgbClr val="F4F4F4">
                    <a:lumMod val="25000"/>
                  </a:srgbClr>
                </a:solidFill>
                <a:latin typeface="Noto Sans Thai" panose="020B0502040504020204" pitchFamily="34" charset="-34"/>
                <a:cs typeface="Noto Sans Thai" panose="020B0502040504020204"/>
              </a:rPr>
              <a:t>ผู้นำปันผลสูง-กำไรแข็งแกร่งจากธุรกิจบริหารความมั่งคั่ง (</a:t>
            </a:r>
            <a:r>
              <a:rPr lang="en-US" altLang="en-US" sz="1200" dirty="0">
                <a:solidFill>
                  <a:srgbClr val="F4F4F4">
                    <a:lumMod val="25000"/>
                  </a:srgbClr>
                </a:solidFill>
                <a:latin typeface="Noto Sans Thai" panose="020B0502040504020204" pitchFamily="34" charset="-34"/>
                <a:cs typeface="Noto Sans Thai" panose="020B0502040504020204"/>
              </a:rPr>
              <a:t>Wealth management) –</a:t>
            </a:r>
            <a:r>
              <a:rPr lang="th-TH" altLang="en-US" sz="1200" dirty="0">
                <a:solidFill>
                  <a:srgbClr val="F4F4F4">
                    <a:lumMod val="25000"/>
                  </a:srgbClr>
                </a:solidFill>
                <a:latin typeface="Noto Sans Thai" panose="020B0502040504020204" pitchFamily="34" charset="-34"/>
                <a:cs typeface="Noto Sans Thai" panose="020B0502040504020204"/>
              </a:rPr>
              <a:t>รับอานิสงส์ </a:t>
            </a:r>
            <a:r>
              <a:rPr lang="en-US" altLang="en-US" sz="1200" dirty="0">
                <a:solidFill>
                  <a:srgbClr val="F4F4F4">
                    <a:lumMod val="25000"/>
                  </a:srgbClr>
                </a:solidFill>
                <a:latin typeface="Noto Sans Thai" panose="020B0502040504020204" pitchFamily="34" charset="-34"/>
                <a:cs typeface="Noto Sans Thai" panose="020B0502040504020204"/>
              </a:rPr>
              <a:t>TISA </a:t>
            </a:r>
            <a:r>
              <a:rPr lang="th-TH" altLang="en-US" sz="1200" dirty="0">
                <a:solidFill>
                  <a:srgbClr val="F4F4F4">
                    <a:lumMod val="25000"/>
                  </a:srgbClr>
                </a:solidFill>
                <a:latin typeface="Noto Sans Thai" panose="020B0502040504020204" pitchFamily="34" charset="-34"/>
                <a:cs typeface="Noto Sans Thai" panose="020B0502040504020204"/>
              </a:rPr>
              <a:t>หนุนเงินทุนไหลเข้า (</a:t>
            </a:r>
            <a:r>
              <a:rPr lang="en-US" altLang="en-US" sz="1200" dirty="0">
                <a:solidFill>
                  <a:srgbClr val="F4F4F4">
                    <a:lumMod val="25000"/>
                  </a:srgbClr>
                </a:solidFill>
                <a:latin typeface="Noto Sans Thai" panose="020B0502040504020204" pitchFamily="34" charset="-34"/>
                <a:cs typeface="Noto Sans Thai" panose="020B0502040504020204"/>
              </a:rPr>
              <a:t>Dividend leaders with TISA-driven inflows) </a:t>
            </a:r>
            <a:r>
              <a:rPr lang="th-TH" altLang="en-US" sz="1200" dirty="0">
                <a:solidFill>
                  <a:srgbClr val="F4F4F4">
                    <a:lumMod val="25000"/>
                  </a:srgbClr>
                </a:solidFill>
                <a:latin typeface="Noto Sans Thai" panose="020B0502040504020204" pitchFamily="34" charset="-34"/>
                <a:cs typeface="Noto Sans Thai" panose="020B0502040504020204"/>
              </a:rPr>
              <a:t>เช่น </a:t>
            </a:r>
            <a:r>
              <a:rPr lang="en-US" altLang="en-US" sz="1200" dirty="0">
                <a:solidFill>
                  <a:srgbClr val="F4F4F4">
                    <a:lumMod val="25000"/>
                  </a:srgbClr>
                </a:solidFill>
                <a:latin typeface="Noto Sans Thai" panose="020B0502040504020204" pitchFamily="34" charset="-34"/>
                <a:cs typeface="Noto Sans Thai" panose="020B0502040504020204"/>
              </a:rPr>
              <a:t>KTB</a:t>
            </a:r>
            <a:r>
              <a:rPr lang="th-TH" altLang="en-US" sz="1200" dirty="0">
                <a:solidFill>
                  <a:srgbClr val="F4F4F4">
                    <a:lumMod val="25000"/>
                  </a:srgbClr>
                </a:solidFill>
                <a:latin typeface="Noto Sans Thai" panose="020B0502040504020204" pitchFamily="34" charset="-34"/>
                <a:cs typeface="Noto Sans Thai" panose="020B0502040504020204"/>
              </a:rPr>
              <a:t> </a:t>
            </a:r>
            <a:r>
              <a:rPr lang="en-US" altLang="en-US" sz="1200" dirty="0">
                <a:solidFill>
                  <a:srgbClr val="F4F4F4">
                    <a:lumMod val="25000"/>
                  </a:srgbClr>
                </a:solidFill>
                <a:latin typeface="Noto Sans Thai" panose="020B0502040504020204" pitchFamily="34" charset="-34"/>
                <a:cs typeface="Noto Sans Thai" panose="020B0502040504020204"/>
              </a:rPr>
              <a:t>5) </a:t>
            </a:r>
            <a:r>
              <a:rPr lang="th-TH" altLang="en-US" sz="1200" dirty="0">
                <a:solidFill>
                  <a:srgbClr val="F4F4F4">
                    <a:lumMod val="25000"/>
                  </a:srgbClr>
                </a:solidFill>
                <a:latin typeface="Noto Sans Thai" panose="020B0502040504020204" pitchFamily="34" charset="-34"/>
                <a:cs typeface="Noto Sans Thai" panose="020B0502040504020204"/>
              </a:rPr>
              <a:t>หุ้นที่ราคาปรับตัวลงแรงกว่าปัจจัยพื้นฐาน/มี </a:t>
            </a:r>
            <a:r>
              <a:rPr lang="en-US" altLang="en-US" sz="1200" dirty="0">
                <a:solidFill>
                  <a:srgbClr val="F4F4F4">
                    <a:lumMod val="25000"/>
                  </a:srgbClr>
                </a:solidFill>
                <a:latin typeface="Noto Sans Thai" panose="020B0502040504020204" pitchFamily="34" charset="-34"/>
                <a:cs typeface="Noto Sans Thai" panose="020B0502040504020204"/>
              </a:rPr>
              <a:t>catalyst </a:t>
            </a:r>
            <a:r>
              <a:rPr lang="th-TH" altLang="en-US" sz="1200" dirty="0">
                <a:solidFill>
                  <a:srgbClr val="F4F4F4">
                    <a:lumMod val="25000"/>
                  </a:srgbClr>
                </a:solidFill>
                <a:latin typeface="Noto Sans Thai" panose="020B0502040504020204" pitchFamily="34" charset="-34"/>
                <a:cs typeface="Noto Sans Thai" panose="020B0502040504020204"/>
              </a:rPr>
              <a:t>หนุนการฟื้นตัวหลังสงคราม (</a:t>
            </a:r>
            <a:r>
              <a:rPr lang="en-US" altLang="en-US" sz="1200" dirty="0">
                <a:solidFill>
                  <a:srgbClr val="F4F4F4">
                    <a:lumMod val="25000"/>
                  </a:srgbClr>
                </a:solidFill>
                <a:latin typeface="Noto Sans Thai" panose="020B0502040504020204" pitchFamily="34" charset="-34"/>
                <a:cs typeface="Noto Sans Thai" panose="020B0502040504020204"/>
              </a:rPr>
              <a:t>Over-penalized valuation &amp; post-war re-rating) BH, ITC</a:t>
            </a:r>
            <a:endParaRPr lang="th-TH" altLang="en-US" sz="1200" dirty="0">
              <a:solidFill>
                <a:srgbClr val="F4F4F4">
                  <a:lumMod val="25000"/>
                </a:srgbClr>
              </a:solidFill>
              <a:latin typeface="Noto Sans Thai" panose="020B0502040504020204" pitchFamily="34" charset="-34"/>
              <a:cs typeface="Noto Sans Thai" panose="020B0502040504020204"/>
            </a:endParaRPr>
          </a:p>
        </p:txBody>
      </p:sp>
      <p:pic>
        <p:nvPicPr>
          <p:cNvPr id="2" name="Picture 1">
            <a:extLst>
              <a:ext uri="{FF2B5EF4-FFF2-40B4-BE49-F238E27FC236}">
                <a16:creationId xmlns:a16="http://schemas.microsoft.com/office/drawing/2014/main" id="{599B5037-440B-C3BC-1A81-2DAF5A437D29}"/>
              </a:ext>
            </a:extLst>
          </p:cNvPr>
          <p:cNvPicPr>
            <a:picLocks noChangeAspect="1"/>
          </p:cNvPicPr>
          <p:nvPr/>
        </p:nvPicPr>
        <p:blipFill>
          <a:blip r:embed="rId4"/>
          <a:stretch>
            <a:fillRect/>
          </a:stretch>
        </p:blipFill>
        <p:spPr>
          <a:xfrm>
            <a:off x="6985005" y="4229759"/>
            <a:ext cx="4215384" cy="2257044"/>
          </a:xfrm>
          <a:prstGeom prst="rect">
            <a:avLst/>
          </a:prstGeom>
        </p:spPr>
      </p:pic>
    </p:spTree>
    <p:extLst>
      <p:ext uri="{BB962C8B-B14F-4D97-AF65-F5344CB8AC3E}">
        <p14:creationId xmlns:p14="http://schemas.microsoft.com/office/powerpoint/2010/main" val="384022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of a stock market&#10;&#10;Description automatically generated">
            <a:extLst>
              <a:ext uri="{FF2B5EF4-FFF2-40B4-BE49-F238E27FC236}">
                <a16:creationId xmlns:a16="http://schemas.microsoft.com/office/drawing/2014/main" id="{43A7DFC6-CAFA-89CD-CDEA-9FF4DB56F631}"/>
              </a:ext>
            </a:extLst>
          </p:cNvPr>
          <p:cNvPicPr>
            <a:picLocks noChangeAspect="1"/>
          </p:cNvPicPr>
          <p:nvPr/>
        </p:nvPicPr>
        <p:blipFill>
          <a:blip r:embed="rId3"/>
          <a:stretch>
            <a:fillRect/>
          </a:stretch>
        </p:blipFill>
        <p:spPr>
          <a:xfrm>
            <a:off x="7290680" y="1386608"/>
            <a:ext cx="4078927" cy="2378015"/>
          </a:xfrm>
          <a:prstGeom prst="rect">
            <a:avLst/>
          </a:prstGeom>
        </p:spPr>
      </p:pic>
      <p:pic>
        <p:nvPicPr>
          <p:cNvPr id="3" name="Picture 2" descr="A table of numbers and a number of numbers&#10;&#10;Description automatically generated with medium confidence">
            <a:extLst>
              <a:ext uri="{FF2B5EF4-FFF2-40B4-BE49-F238E27FC236}">
                <a16:creationId xmlns:a16="http://schemas.microsoft.com/office/drawing/2014/main" id="{3E525981-9288-6BB2-D544-9470F2311693}"/>
              </a:ext>
            </a:extLst>
          </p:cNvPr>
          <p:cNvPicPr>
            <a:picLocks noChangeAspect="1"/>
          </p:cNvPicPr>
          <p:nvPr/>
        </p:nvPicPr>
        <p:blipFill>
          <a:blip r:embed="rId4"/>
          <a:stretch>
            <a:fillRect/>
          </a:stretch>
        </p:blipFill>
        <p:spPr>
          <a:xfrm>
            <a:off x="809600" y="3286578"/>
            <a:ext cx="4508783" cy="3107177"/>
          </a:xfrm>
          <a:prstGeom prst="rect">
            <a:avLst/>
          </a:prstGeom>
        </p:spPr>
      </p:pic>
      <p:sp>
        <p:nvSpPr>
          <p:cNvPr id="13" name="TextBox 10">
            <a:extLst>
              <a:ext uri="{FF2B5EF4-FFF2-40B4-BE49-F238E27FC236}">
                <a16:creationId xmlns:a16="http://schemas.microsoft.com/office/drawing/2014/main" id="{2F454D21-B727-41FB-A297-5E14AA1DB702}"/>
              </a:ext>
            </a:extLst>
          </p:cNvPr>
          <p:cNvSpPr txBox="1">
            <a:spLocks noChangeArrowheads="1"/>
          </p:cNvSpPr>
          <p:nvPr/>
        </p:nvSpPr>
        <p:spPr bwMode="auto">
          <a:xfrm>
            <a:off x="12192000" y="6075330"/>
            <a:ext cx="964232"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r>
              <a:rPr lang="en-US" altLang="en-US" sz="700" dirty="0">
                <a:solidFill>
                  <a:srgbClr val="4F81BD"/>
                </a:solidFill>
              </a:rPr>
              <a:t>Econ\Aprket01\SET-Region.xls </a:t>
            </a:r>
          </a:p>
          <a:p>
            <a:pPr eaLnBrk="1" hangingPunct="1">
              <a:spcBef>
                <a:spcPct val="0"/>
              </a:spcBef>
              <a:buFontTx/>
              <a:buNone/>
            </a:pPr>
            <a:endParaRPr lang="en-US" altLang="en-US" sz="700" dirty="0">
              <a:solidFill>
                <a:srgbClr val="4F81BD"/>
              </a:solidFill>
            </a:endParaRPr>
          </a:p>
          <a:p>
            <a:pPr eaLnBrk="1" hangingPunct="1">
              <a:spcBef>
                <a:spcPct val="0"/>
              </a:spcBef>
              <a:buFontTx/>
              <a:buNone/>
            </a:pPr>
            <a:r>
              <a:rPr lang="en-US" altLang="en-US" sz="700" dirty="0">
                <a:solidFill>
                  <a:srgbClr val="4F81BD"/>
                </a:solidFill>
              </a:rPr>
              <a:t>Region</a:t>
            </a:r>
          </a:p>
          <a:p>
            <a:pPr eaLnBrk="1" hangingPunct="1">
              <a:spcBef>
                <a:spcPct val="0"/>
              </a:spcBef>
              <a:buFontTx/>
              <a:buNone/>
            </a:pPr>
            <a:r>
              <a:rPr lang="en-US" altLang="en-US" sz="700" dirty="0">
                <a:solidFill>
                  <a:srgbClr val="4F81BD"/>
                </a:solidFill>
              </a:rPr>
              <a:t>AK163</a:t>
            </a:r>
          </a:p>
          <a:p>
            <a:pPr eaLnBrk="1" hangingPunct="1">
              <a:spcBef>
                <a:spcPct val="0"/>
              </a:spcBef>
              <a:buFontTx/>
              <a:buNone/>
            </a:pPr>
            <a:r>
              <a:rPr lang="en-US" altLang="en-US" sz="700" dirty="0">
                <a:solidFill>
                  <a:srgbClr val="4F81BD"/>
                </a:solidFill>
              </a:rPr>
              <a:t>BS141</a:t>
            </a:r>
          </a:p>
          <a:p>
            <a:pPr eaLnBrk="1" hangingPunct="1">
              <a:spcBef>
                <a:spcPct val="0"/>
              </a:spcBef>
              <a:buFontTx/>
              <a:buNone/>
            </a:pPr>
            <a:r>
              <a:rPr lang="en-US" altLang="en-US" sz="700" dirty="0">
                <a:solidFill>
                  <a:srgbClr val="4F81BD"/>
                </a:solidFill>
              </a:rPr>
              <a:t>B219</a:t>
            </a:r>
          </a:p>
        </p:txBody>
      </p:sp>
      <p:sp>
        <p:nvSpPr>
          <p:cNvPr id="26" name="Title 44">
            <a:extLst>
              <a:ext uri="{FF2B5EF4-FFF2-40B4-BE49-F238E27FC236}">
                <a16:creationId xmlns:a16="http://schemas.microsoft.com/office/drawing/2014/main" id="{86A08F76-4FAD-49A9-B8D3-0A7257C688F0}"/>
              </a:ext>
            </a:extLst>
          </p:cNvPr>
          <p:cNvSpPr>
            <a:spLocks noGrp="1"/>
          </p:cNvSpPr>
          <p:nvPr>
            <p:ph type="title"/>
          </p:nvPr>
        </p:nvSpPr>
        <p:spPr>
          <a:xfrm>
            <a:off x="768352" y="494698"/>
            <a:ext cx="8364700" cy="495184"/>
          </a:xfrm>
          <a:noFill/>
          <a:ln>
            <a:noFill/>
          </a:ln>
        </p:spPr>
        <p:txBody>
          <a:bodyPr spcFirstLastPara="1" wrap="square" lIns="0" tIns="0" rIns="0" bIns="0" anchor="ctr" anchorCtr="0">
            <a:noAutofit/>
          </a:bodyPr>
          <a:lstStyle/>
          <a:p>
            <a:pPr>
              <a:spcBef>
                <a:spcPct val="20000"/>
              </a:spcBef>
            </a:pPr>
            <a:r>
              <a:rPr lang="th-TH" altLang="zh-CN" b="1" dirty="0">
                <a:latin typeface="Noto Sans Thai" panose="020B0502040504020204" pitchFamily="34" charset="-34"/>
                <a:ea typeface="Tahoma" panose="020B0604030504040204" pitchFamily="34" charset="0"/>
                <a:cs typeface="Noto Sans Thai" panose="020B0502040504020204" pitchFamily="34" charset="-34"/>
              </a:rPr>
              <a:t>กลยุทธ์การลงทุนตราสารทุนไทย </a:t>
            </a:r>
            <a:endParaRPr lang="th-TH" altLang="en-US" b="1" dirty="0">
              <a:latin typeface="Noto Sans Thai" panose="020B0502040504020204" pitchFamily="34" charset="-34"/>
              <a:ea typeface="Tahoma" panose="020B0604030504040204" pitchFamily="34" charset="0"/>
              <a:cs typeface="Noto Sans Thai" panose="020B0502040504020204" pitchFamily="34" charset="-34"/>
            </a:endParaRPr>
          </a:p>
        </p:txBody>
      </p:sp>
      <p:sp>
        <p:nvSpPr>
          <p:cNvPr id="20" name="Footer Placeholder 4">
            <a:extLst>
              <a:ext uri="{FF2B5EF4-FFF2-40B4-BE49-F238E27FC236}">
                <a16:creationId xmlns:a16="http://schemas.microsoft.com/office/drawing/2014/main" id="{06DBE15B-EAD6-4265-B33F-6C6C180FFF15}"/>
              </a:ext>
            </a:extLst>
          </p:cNvPr>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21" name="Text Placeholder 6">
            <a:extLst>
              <a:ext uri="{FF2B5EF4-FFF2-40B4-BE49-F238E27FC236}">
                <a16:creationId xmlns:a16="http://schemas.microsoft.com/office/drawing/2014/main" id="{8A073AF1-BBC3-4E12-AA5D-72057398F90C}"/>
              </a:ext>
            </a:extLst>
          </p:cNvPr>
          <p:cNvSpPr txBox="1">
            <a:spLocks/>
          </p:cNvSpPr>
          <p:nvPr/>
        </p:nvSpPr>
        <p:spPr>
          <a:xfrm>
            <a:off x="757062" y="6408812"/>
            <a:ext cx="3249546"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dirty="0">
                <a:solidFill>
                  <a:schemeClr val="tx1"/>
                </a:solidFill>
                <a:latin typeface="+mn-lt"/>
                <a:ea typeface="Tahoma" panose="020B0604030504040204" pitchFamily="34" charset="0"/>
                <a:cs typeface="+mn-cs"/>
              </a:rPr>
              <a:t>Sources: </a:t>
            </a:r>
            <a:r>
              <a:rPr lang="en-US" altLang="ja-JP" sz="900" dirty="0">
                <a:solidFill>
                  <a:schemeClr val="tx1"/>
                </a:solidFill>
                <a:latin typeface="+mn-lt"/>
                <a:ea typeface="Tahoma" panose="020B0604030504040204" pitchFamily="34" charset="0"/>
                <a:cs typeface="+mn-cs"/>
              </a:rPr>
              <a:t>Bloomberg, </a:t>
            </a:r>
            <a:r>
              <a:rPr lang="en-US" altLang="ja-JP" sz="900" dirty="0" err="1">
                <a:solidFill>
                  <a:schemeClr val="tx1"/>
                </a:solidFill>
                <a:latin typeface="+mn-lt"/>
                <a:ea typeface="Tahoma" panose="020B0604030504040204" pitchFamily="34" charset="0"/>
                <a:cs typeface="+mn-cs"/>
              </a:rPr>
              <a:t>Bualuang</a:t>
            </a:r>
            <a:r>
              <a:rPr lang="en-US" altLang="ja-JP" sz="900" dirty="0">
                <a:solidFill>
                  <a:schemeClr val="tx1"/>
                </a:solidFill>
                <a:latin typeface="+mn-lt"/>
                <a:ea typeface="Tahoma" panose="020B0604030504040204" pitchFamily="34" charset="0"/>
                <a:cs typeface="+mn-cs"/>
              </a:rPr>
              <a:t> Research</a:t>
            </a:r>
            <a:endParaRPr lang="en-US" altLang="en-US" sz="900" dirty="0">
              <a:solidFill>
                <a:schemeClr val="tx1"/>
              </a:solidFill>
              <a:latin typeface="+mn-lt"/>
              <a:ea typeface="Tahoma" panose="020B0604030504040204" pitchFamily="34" charset="0"/>
              <a:cs typeface="+mn-cs"/>
            </a:endParaRPr>
          </a:p>
        </p:txBody>
      </p:sp>
      <p:sp>
        <p:nvSpPr>
          <p:cNvPr id="22" name="Text Placeholder 4">
            <a:extLst>
              <a:ext uri="{FF2B5EF4-FFF2-40B4-BE49-F238E27FC236}">
                <a16:creationId xmlns:a16="http://schemas.microsoft.com/office/drawing/2014/main" id="{4C575B47-4BA2-4404-AC92-901C691F6949}"/>
              </a:ext>
            </a:extLst>
          </p:cNvPr>
          <p:cNvSpPr txBox="1">
            <a:spLocks/>
          </p:cNvSpPr>
          <p:nvPr/>
        </p:nvSpPr>
        <p:spPr>
          <a:xfrm>
            <a:off x="6594100" y="3812123"/>
            <a:ext cx="5339287" cy="429444"/>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Bef>
                <a:spcPct val="0"/>
              </a:spcBef>
            </a:pPr>
            <a:r>
              <a:rPr lang="en-US" altLang="en-US" b="1" dirty="0">
                <a:latin typeface="Noto Sans Thai" panose="020B0502040504020204" pitchFamily="34" charset="-34"/>
                <a:cs typeface="Noto Sans Thai" panose="020B0502040504020204"/>
              </a:rPr>
              <a:t>Forward Earnings yield gap of SET : </a:t>
            </a:r>
            <a:r>
              <a:rPr lang="th-TH" altLang="en-US" b="1" dirty="0">
                <a:latin typeface="Noto Sans Thai" panose="020B0502040504020204" pitchFamily="34" charset="-34"/>
                <a:cs typeface="Noto Sans Thai" panose="020B0502040504020204"/>
              </a:rPr>
              <a:t>เทียบกับอัตราผลตอบแทนพันธบัตรรัฐบาลไทย 10 ปี </a:t>
            </a:r>
            <a:r>
              <a:rPr lang="en-US" altLang="en-US" b="1" dirty="0">
                <a:latin typeface="Noto Sans Thai" panose="020B0502040504020204" pitchFamily="34" charset="-34"/>
                <a:cs typeface="Noto Sans Thai" panose="020B0502040504020204"/>
              </a:rPr>
              <a:t>earnings yield gap </a:t>
            </a:r>
            <a:r>
              <a:rPr lang="th-TH" altLang="en-US" b="1" dirty="0">
                <a:latin typeface="Noto Sans Thai" panose="020B0502040504020204" pitchFamily="34" charset="-34"/>
                <a:cs typeface="Noto Sans Thai" panose="020B0502040504020204"/>
              </a:rPr>
              <a:t>อยู่ที่ </a:t>
            </a:r>
            <a:r>
              <a:rPr lang="en-US" altLang="en-US" b="1" dirty="0">
                <a:latin typeface="Noto Sans Thai" panose="020B0502040504020204" pitchFamily="34" charset="-34"/>
                <a:cs typeface="Noto Sans Thai" panose="020B0502040504020204"/>
              </a:rPr>
              <a:t>4</a:t>
            </a:r>
            <a:r>
              <a:rPr lang="th-TH" altLang="en-US" b="1" dirty="0">
                <a:latin typeface="Noto Sans Thai" panose="020B0502040504020204" pitchFamily="34" charset="-34"/>
                <a:cs typeface="Noto Sans Thai" panose="020B0502040504020204"/>
              </a:rPr>
              <a:t>.37</a:t>
            </a:r>
            <a:r>
              <a:rPr lang="en-US" altLang="en-US" b="1" dirty="0">
                <a:latin typeface="Noto Sans Thai" panose="020B0502040504020204" pitchFamily="34" charset="-34"/>
                <a:cs typeface="Noto Sans Thai" panose="020B0502040504020204"/>
              </a:rPr>
              <a:t>%</a:t>
            </a:r>
            <a:r>
              <a:rPr lang="th-TH" altLang="en-US" b="1" dirty="0">
                <a:latin typeface="Noto Sans Thai" panose="020B0502040504020204" pitchFamily="34" charset="-34"/>
                <a:cs typeface="Noto Sans Thai" panose="020B0502040504020204"/>
              </a:rPr>
              <a:t> เทียบค่าเฉลี่ย 10 ปีที่ 3.9</a:t>
            </a:r>
            <a:r>
              <a:rPr lang="en-US" altLang="en-US" b="1" dirty="0">
                <a:latin typeface="Noto Sans Thai" panose="020B0502040504020204" pitchFamily="34" charset="-34"/>
                <a:cs typeface="Noto Sans Thai" panose="020B0502040504020204"/>
              </a:rPr>
              <a:t>%</a:t>
            </a:r>
            <a:r>
              <a:rPr lang="th-TH" altLang="en-US" b="1" dirty="0">
                <a:latin typeface="Noto Sans Thai" panose="020B0502040504020204" pitchFamily="34" charset="-34"/>
                <a:cs typeface="Noto Sans Thai" panose="020B0502040504020204"/>
              </a:rPr>
              <a:t> </a:t>
            </a:r>
            <a:endParaRPr lang="th-TH" altLang="en-US" dirty="0">
              <a:latin typeface="Noto Sans Thai" panose="020B0502040504020204" pitchFamily="34" charset="-34"/>
              <a:cs typeface="Noto Sans Thai" panose="020B0502040504020204"/>
            </a:endParaRPr>
          </a:p>
        </p:txBody>
      </p:sp>
      <p:sp>
        <p:nvSpPr>
          <p:cNvPr id="23" name="Text Placeholder 4">
            <a:extLst>
              <a:ext uri="{FF2B5EF4-FFF2-40B4-BE49-F238E27FC236}">
                <a16:creationId xmlns:a16="http://schemas.microsoft.com/office/drawing/2014/main" id="{FB38EEA9-F40F-4B89-8F46-320A87AAC369}"/>
              </a:ext>
            </a:extLst>
          </p:cNvPr>
          <p:cNvSpPr txBox="1">
            <a:spLocks/>
          </p:cNvSpPr>
          <p:nvPr/>
        </p:nvSpPr>
        <p:spPr>
          <a:xfrm>
            <a:off x="768352" y="2947548"/>
            <a:ext cx="5150822" cy="296238"/>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Bef>
                <a:spcPct val="0"/>
              </a:spcBef>
            </a:pPr>
            <a:r>
              <a:rPr lang="en-US" altLang="en-US" b="1" dirty="0">
                <a:latin typeface="Noto Sans Thai" panose="020B0502040504020204" pitchFamily="34" charset="-34"/>
                <a:cs typeface="+mn-cs"/>
              </a:rPr>
              <a:t>Regional valuation summary </a:t>
            </a:r>
          </a:p>
        </p:txBody>
      </p:sp>
      <p:sp>
        <p:nvSpPr>
          <p:cNvPr id="24" name="Rectangle 23">
            <a:extLst>
              <a:ext uri="{FF2B5EF4-FFF2-40B4-BE49-F238E27FC236}">
                <a16:creationId xmlns:a16="http://schemas.microsoft.com/office/drawing/2014/main" id="{8B91F930-2E7B-49DD-B30B-DE889509028D}"/>
              </a:ext>
            </a:extLst>
          </p:cNvPr>
          <p:cNvSpPr/>
          <p:nvPr/>
        </p:nvSpPr>
        <p:spPr>
          <a:xfrm>
            <a:off x="646894" y="1265035"/>
            <a:ext cx="5643738" cy="1461939"/>
          </a:xfrm>
          <a:prstGeom prst="rect">
            <a:avLst/>
          </a:prstGeom>
        </p:spPr>
        <p:txBody>
          <a:bodyPr wrap="square">
            <a:spAutoFit/>
          </a:bodyPr>
          <a:lstStyle/>
          <a:p>
            <a:pPr marL="214313" indent="-214313" defTabSz="685800">
              <a:lnSpc>
                <a:spcPct val="120000"/>
              </a:lnSpc>
              <a:spcBef>
                <a:spcPts val="300"/>
              </a:spcBef>
              <a:buClr>
                <a:srgbClr val="F4F4F4">
                  <a:lumMod val="25000"/>
                </a:srgbClr>
              </a:buClr>
              <a:buFont typeface="Arial" panose="020B0604020202020204" pitchFamily="34" charset="0"/>
              <a:buChar char="•"/>
            </a:pP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202</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6</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E PER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ของไทยที่ 15.3</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x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อยู่ต่ำกว่าค่าเฉลี่ยระยะยาว </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0</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.5</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SD,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ค่าเฉลี่ยระยะยาวของ </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SET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อยู่ที่ 16.</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7x)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ท่ามกลางความเสี่ยงเศรษฐกิจโลกชะลอตัว</a:t>
            </a:r>
            <a:endPar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a:p>
            <a:pPr marL="214313" indent="-214313" defTabSz="685800">
              <a:lnSpc>
                <a:spcPct val="120000"/>
              </a:lnSpc>
              <a:spcBef>
                <a:spcPts val="300"/>
              </a:spcBef>
              <a:buClr>
                <a:srgbClr val="F4F4F4">
                  <a:lumMod val="25000"/>
                </a:srgbClr>
              </a:buClr>
              <a:buFont typeface="Arial" panose="020B0604020202020204" pitchFamily="34" charset="0"/>
              <a:buChar char="•"/>
            </a:pP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PER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ของไทยเทียบกับ </a:t>
            </a:r>
            <a:r>
              <a:rPr lang="en-US" altLang="en-US" dirty="0" err="1">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Asean</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มาเลเซีย อินโดนีเซีย ฟิลลิปปินส์) ปี 2026</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E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 11</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8</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x</a:t>
            </a:r>
            <a:endPar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a:p>
            <a:pPr marL="214313" indent="-214313" defTabSz="685800">
              <a:lnSpc>
                <a:spcPct val="120000"/>
              </a:lnSpc>
              <a:spcBef>
                <a:spcPts val="300"/>
              </a:spcBef>
              <a:buClr>
                <a:srgbClr val="F4F4F4">
                  <a:lumMod val="25000"/>
                </a:srgbClr>
              </a:buClr>
              <a:buFont typeface="Arial" panose="020B0604020202020204" pitchFamily="34" charset="0"/>
              <a:buChar char="•"/>
              <a:tabLst>
                <a:tab pos="5426075" algn="l"/>
              </a:tabLst>
            </a:pP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Forward Earnings yield gap of SET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เทียบกับอัตราผลตอบแทนพันธบัตรรัฐบาลไทย 10 ปี</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earnings yield gap </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อยู่ที่ </a:t>
            </a:r>
            <a:r>
              <a:rPr lang="en-US"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4</a:t>
            </a:r>
            <a:r>
              <a:rPr lang="th-TH" altLang="en-US"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.37% เทียบค่าเฉลี่ย 10 ปีที่ 3.9% </a:t>
            </a:r>
          </a:p>
        </p:txBody>
      </p:sp>
      <p:sp>
        <p:nvSpPr>
          <p:cNvPr id="25" name="Text Placeholder 4">
            <a:extLst>
              <a:ext uri="{FF2B5EF4-FFF2-40B4-BE49-F238E27FC236}">
                <a16:creationId xmlns:a16="http://schemas.microsoft.com/office/drawing/2014/main" id="{0FE51C50-6720-4B79-B096-B46EFA45349D}"/>
              </a:ext>
            </a:extLst>
          </p:cNvPr>
          <p:cNvSpPr txBox="1">
            <a:spLocks/>
          </p:cNvSpPr>
          <p:nvPr/>
        </p:nvSpPr>
        <p:spPr>
          <a:xfrm>
            <a:off x="6605385" y="1039367"/>
            <a:ext cx="5328002" cy="328047"/>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Bef>
                <a:spcPct val="0"/>
              </a:spcBef>
            </a:pPr>
            <a:r>
              <a:rPr lang="en-US" altLang="en-US" b="1" dirty="0">
                <a:latin typeface="Noto Sans Thai" panose="020B0502040504020204" pitchFamily="34" charset="-34"/>
                <a:cs typeface="Noto Sans Thai" panose="020B0502040504020204"/>
              </a:rPr>
              <a:t>Forward PER of SET : </a:t>
            </a:r>
            <a:r>
              <a:rPr lang="en-US" altLang="en-US" sz="1400" dirty="0">
                <a:latin typeface="Noto Sans Thai" panose="020B0502040504020204" pitchFamily="34" charset="-34"/>
                <a:cs typeface="Noto Sans Thai" panose="020B0502040504020204"/>
              </a:rPr>
              <a:t>2025E PER </a:t>
            </a:r>
            <a:r>
              <a:rPr lang="th-TH" altLang="en-US" sz="1400" dirty="0">
                <a:latin typeface="Noto Sans Thai" panose="020B0502040504020204" pitchFamily="34" charset="-34"/>
                <a:cs typeface="Noto Sans Thai" panose="020B0502040504020204"/>
              </a:rPr>
              <a:t>ของไทยที่ 15.3</a:t>
            </a:r>
            <a:r>
              <a:rPr lang="en-US" altLang="en-US" sz="1400" dirty="0">
                <a:latin typeface="Noto Sans Thai" panose="020B0502040504020204" pitchFamily="34" charset="-34"/>
                <a:cs typeface="Noto Sans Thai" panose="020B0502040504020204"/>
              </a:rPr>
              <a:t>x (</a:t>
            </a:r>
            <a:r>
              <a:rPr lang="th-TH" altLang="en-US" sz="1400" dirty="0">
                <a:latin typeface="Noto Sans Thai" panose="020B0502040504020204" pitchFamily="34" charset="-34"/>
                <a:cs typeface="Noto Sans Thai" panose="020B0502040504020204"/>
              </a:rPr>
              <a:t>อยู่ต่ำกว่าค่าเฉลี่ยระยะยาว </a:t>
            </a:r>
            <a:r>
              <a:rPr lang="en-US" altLang="en-US" sz="1400" dirty="0">
                <a:latin typeface="Noto Sans Thai" panose="020B0502040504020204" pitchFamily="34" charset="-34"/>
                <a:cs typeface="Noto Sans Thai" panose="020B0502040504020204"/>
              </a:rPr>
              <a:t>0.</a:t>
            </a:r>
            <a:r>
              <a:rPr lang="th-TH" altLang="en-US" sz="1400" dirty="0">
                <a:latin typeface="Noto Sans Thai" panose="020B0502040504020204" pitchFamily="34" charset="-34"/>
                <a:cs typeface="Noto Sans Thai" panose="020B0502040504020204"/>
              </a:rPr>
              <a:t>5</a:t>
            </a:r>
            <a:r>
              <a:rPr lang="en-US" altLang="en-US" sz="1400" dirty="0">
                <a:latin typeface="Noto Sans Thai" panose="020B0502040504020204" pitchFamily="34" charset="-34"/>
                <a:cs typeface="Noto Sans Thai" panose="020B0502040504020204"/>
              </a:rPr>
              <a:t>SD, </a:t>
            </a:r>
            <a:r>
              <a:rPr lang="th-TH" altLang="en-US" sz="1400" dirty="0">
                <a:latin typeface="Noto Sans Thai" panose="020B0502040504020204" pitchFamily="34" charset="-34"/>
                <a:cs typeface="Noto Sans Thai" panose="020B0502040504020204"/>
              </a:rPr>
              <a:t>ค่าเฉลี่ยระยะยาวของ </a:t>
            </a:r>
            <a:r>
              <a:rPr lang="en-US" altLang="en-US" sz="1400" dirty="0">
                <a:latin typeface="Noto Sans Thai" panose="020B0502040504020204" pitchFamily="34" charset="-34"/>
                <a:cs typeface="Noto Sans Thai" panose="020B0502040504020204"/>
              </a:rPr>
              <a:t>SET </a:t>
            </a:r>
            <a:r>
              <a:rPr lang="th-TH" altLang="en-US" sz="1400" dirty="0">
                <a:latin typeface="Noto Sans Thai" panose="020B0502040504020204" pitchFamily="34" charset="-34"/>
                <a:cs typeface="Noto Sans Thai" panose="020B0502040504020204"/>
              </a:rPr>
              <a:t>อยู่ที่ 1</a:t>
            </a:r>
            <a:r>
              <a:rPr lang="en-US" altLang="en-US" sz="1400" dirty="0">
                <a:latin typeface="Noto Sans Thai" panose="020B0502040504020204" pitchFamily="34" charset="-34"/>
                <a:cs typeface="Noto Sans Thai" panose="020B0502040504020204"/>
              </a:rPr>
              <a:t>6</a:t>
            </a:r>
            <a:r>
              <a:rPr lang="th-TH" altLang="en-US" sz="1400" dirty="0">
                <a:latin typeface="Noto Sans Thai" panose="020B0502040504020204" pitchFamily="34" charset="-34"/>
                <a:cs typeface="Noto Sans Thai" panose="020B0502040504020204"/>
              </a:rPr>
              <a:t>.</a:t>
            </a:r>
            <a:r>
              <a:rPr lang="en-US" altLang="en-US" sz="1400" dirty="0">
                <a:latin typeface="Noto Sans Thai" panose="020B0502040504020204" pitchFamily="34" charset="-34"/>
                <a:cs typeface="Noto Sans Thai" panose="020B0502040504020204"/>
              </a:rPr>
              <a:t>7x)</a:t>
            </a:r>
            <a:endParaRPr lang="th-TH" altLang="en-US" dirty="0">
              <a:latin typeface="Noto Sans Thai" panose="020B0502040504020204" pitchFamily="34" charset="-34"/>
              <a:cs typeface="Noto Sans Thai" panose="020B0502040504020204"/>
            </a:endParaRPr>
          </a:p>
        </p:txBody>
      </p:sp>
      <p:sp>
        <p:nvSpPr>
          <p:cNvPr id="6" name="Rectangle 5">
            <a:extLst>
              <a:ext uri="{FF2B5EF4-FFF2-40B4-BE49-F238E27FC236}">
                <a16:creationId xmlns:a16="http://schemas.microsoft.com/office/drawing/2014/main" id="{7B50CCEA-52A5-B4D0-F1D1-7F820ECA3464}"/>
              </a:ext>
            </a:extLst>
          </p:cNvPr>
          <p:cNvSpPr/>
          <p:nvPr/>
        </p:nvSpPr>
        <p:spPr>
          <a:xfrm>
            <a:off x="692447" y="5091944"/>
            <a:ext cx="4685312" cy="127293"/>
          </a:xfrm>
          <a:prstGeom prst="rect">
            <a:avLst/>
          </a:prstGeom>
          <a:noFill/>
          <a:ln w="6350">
            <a:solidFill>
              <a:srgbClr val="FF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Noto Sans Thai" panose="020B0502040504020204" pitchFamily="34" charset="-34"/>
              <a:cs typeface="Noto Sans Thai" panose="020B0502040504020204" pitchFamily="34" charset="-34"/>
            </a:endParaRPr>
          </a:p>
        </p:txBody>
      </p:sp>
      <p:pic>
        <p:nvPicPr>
          <p:cNvPr id="11" name="Picture 10" descr="A graph of a stock market&#10;&#10;Description automatically generated">
            <a:extLst>
              <a:ext uri="{FF2B5EF4-FFF2-40B4-BE49-F238E27FC236}">
                <a16:creationId xmlns:a16="http://schemas.microsoft.com/office/drawing/2014/main" id="{64A0A81C-22FE-803E-CC3A-591CE3952D3C}"/>
              </a:ext>
            </a:extLst>
          </p:cNvPr>
          <p:cNvPicPr>
            <a:picLocks noChangeAspect="1"/>
          </p:cNvPicPr>
          <p:nvPr/>
        </p:nvPicPr>
        <p:blipFill>
          <a:blip r:embed="rId5"/>
          <a:stretch>
            <a:fillRect/>
          </a:stretch>
        </p:blipFill>
        <p:spPr>
          <a:xfrm>
            <a:off x="7385226" y="4302910"/>
            <a:ext cx="3984381" cy="2322894"/>
          </a:xfrm>
          <a:prstGeom prst="rect">
            <a:avLst/>
          </a:prstGeom>
        </p:spPr>
      </p:pic>
    </p:spTree>
    <p:extLst>
      <p:ext uri="{BB962C8B-B14F-4D97-AF65-F5344CB8AC3E}">
        <p14:creationId xmlns:p14="http://schemas.microsoft.com/office/powerpoint/2010/main" val="1566508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084D694-0022-44CF-B54A-B97011ACCC77}"/>
              </a:ext>
            </a:extLst>
          </p:cNvPr>
          <p:cNvSpPr txBox="1">
            <a:spLocks noChangeArrowheads="1"/>
          </p:cNvSpPr>
          <p:nvPr/>
        </p:nvSpPr>
        <p:spPr bwMode="auto">
          <a:xfrm>
            <a:off x="12194858" y="5815837"/>
            <a:ext cx="1008112"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ngsana New" panose="02020603050405020304" pitchFamily="18" charset="-34"/>
              </a:defRPr>
            </a:lvl1pPr>
            <a:lvl2pPr marL="742950" indent="-285750">
              <a:spcBef>
                <a:spcPct val="20000"/>
              </a:spcBef>
              <a:buChar char="–"/>
              <a:defRPr sz="2800">
                <a:solidFill>
                  <a:schemeClr val="tx1"/>
                </a:solidFill>
                <a:latin typeface="Arial" panose="020B0604020202020204" pitchFamily="34" charset="0"/>
                <a:cs typeface="Angsana New" panose="02020603050405020304" pitchFamily="18" charset="-34"/>
              </a:defRPr>
            </a:lvl2pPr>
            <a:lvl3pPr marL="1143000" indent="-228600">
              <a:spcBef>
                <a:spcPct val="20000"/>
              </a:spcBef>
              <a:buChar char="•"/>
              <a:defRPr sz="2400">
                <a:solidFill>
                  <a:schemeClr val="tx1"/>
                </a:solidFill>
                <a:latin typeface="Arial" panose="020B0604020202020204" pitchFamily="34" charset="0"/>
                <a:cs typeface="Angsana New" panose="02020603050405020304" pitchFamily="18" charset="-34"/>
              </a:defRPr>
            </a:lvl3pPr>
            <a:lvl4pPr marL="1600200" indent="-228600">
              <a:spcBef>
                <a:spcPct val="20000"/>
              </a:spcBef>
              <a:buChar char="–"/>
              <a:defRPr sz="2000">
                <a:solidFill>
                  <a:schemeClr val="tx1"/>
                </a:solidFill>
                <a:latin typeface="Arial" panose="020B0604020202020204" pitchFamily="34" charset="0"/>
                <a:cs typeface="Angsana New" panose="02020603050405020304" pitchFamily="18" charset="-34"/>
              </a:defRPr>
            </a:lvl4pPr>
            <a:lvl5pPr marL="2057400" indent="-228600">
              <a:spcBef>
                <a:spcPct val="20000"/>
              </a:spcBef>
              <a:buChar char="»"/>
              <a:defRPr sz="2000">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ngsana New" panose="02020603050405020304" pitchFamily="18" charset="-34"/>
              </a:defRPr>
            </a:lvl9pPr>
          </a:lstStyle>
          <a:p>
            <a:pPr eaLnBrk="1" hangingPunct="1">
              <a:spcBef>
                <a:spcPct val="0"/>
              </a:spcBef>
              <a:buFontTx/>
              <a:buNone/>
            </a:pPr>
            <a:r>
              <a:rPr lang="en-US" altLang="en-US" sz="700" dirty="0">
                <a:solidFill>
                  <a:srgbClr val="4F81BD"/>
                </a:solidFill>
              </a:rPr>
              <a:t>Econ\Aprket01\</a:t>
            </a:r>
            <a:r>
              <a:rPr lang="th-TH" altLang="en-US" sz="700" dirty="0">
                <a:solidFill>
                  <a:srgbClr val="4F81BD"/>
                </a:solidFill>
              </a:rPr>
              <a:t> </a:t>
            </a:r>
            <a:r>
              <a:rPr lang="en-US" altLang="en-US" sz="700" dirty="0">
                <a:solidFill>
                  <a:srgbClr val="4F81BD"/>
                </a:solidFill>
              </a:rPr>
              <a:t>Earn_Est1.xls </a:t>
            </a:r>
          </a:p>
          <a:p>
            <a:pPr eaLnBrk="1" hangingPunct="1">
              <a:spcBef>
                <a:spcPct val="0"/>
              </a:spcBef>
              <a:buFontTx/>
              <a:buNone/>
            </a:pPr>
            <a:r>
              <a:rPr lang="en-US" altLang="en-US" sz="700" dirty="0">
                <a:solidFill>
                  <a:srgbClr val="4F81BD"/>
                </a:solidFill>
              </a:rPr>
              <a:t>Region</a:t>
            </a:r>
          </a:p>
          <a:p>
            <a:pPr eaLnBrk="1" hangingPunct="1">
              <a:spcBef>
                <a:spcPct val="0"/>
              </a:spcBef>
              <a:buFontTx/>
              <a:buNone/>
            </a:pPr>
            <a:r>
              <a:rPr lang="en-US" altLang="en-US" sz="700" dirty="0">
                <a:solidFill>
                  <a:srgbClr val="4F81BD"/>
                </a:solidFill>
              </a:rPr>
              <a:t>C56</a:t>
            </a:r>
          </a:p>
          <a:p>
            <a:pPr eaLnBrk="1" hangingPunct="1">
              <a:spcBef>
                <a:spcPct val="0"/>
              </a:spcBef>
              <a:buFontTx/>
              <a:buNone/>
            </a:pPr>
            <a:endParaRPr lang="en-US" altLang="en-US" sz="700" dirty="0">
              <a:solidFill>
                <a:srgbClr val="4F81BD"/>
              </a:solidFill>
            </a:endParaRPr>
          </a:p>
          <a:p>
            <a:pPr eaLnBrk="1" hangingPunct="1">
              <a:spcBef>
                <a:spcPct val="0"/>
              </a:spcBef>
              <a:buFontTx/>
              <a:buNone/>
            </a:pPr>
            <a:r>
              <a:rPr lang="en-US" altLang="en-US" sz="700" dirty="0">
                <a:solidFill>
                  <a:srgbClr val="4F81BD"/>
                </a:solidFill>
              </a:rPr>
              <a:t>Econ\Aprket01\</a:t>
            </a:r>
            <a:r>
              <a:rPr lang="th-TH" altLang="en-US" sz="700" dirty="0">
                <a:solidFill>
                  <a:srgbClr val="4F81BD"/>
                </a:solidFill>
              </a:rPr>
              <a:t> </a:t>
            </a:r>
            <a:r>
              <a:rPr lang="en-US" altLang="en-US" sz="700" dirty="0">
                <a:solidFill>
                  <a:srgbClr val="4F81BD"/>
                </a:solidFill>
              </a:rPr>
              <a:t>PER-PBV.xls</a:t>
            </a:r>
          </a:p>
          <a:p>
            <a:pPr eaLnBrk="1" hangingPunct="1">
              <a:spcBef>
                <a:spcPct val="0"/>
              </a:spcBef>
              <a:buFontTx/>
              <a:buNone/>
            </a:pPr>
            <a:r>
              <a:rPr lang="en-US" altLang="en-US" sz="700" dirty="0">
                <a:solidFill>
                  <a:srgbClr val="4F81BD"/>
                </a:solidFill>
              </a:rPr>
              <a:t>Sheet1</a:t>
            </a:r>
          </a:p>
          <a:p>
            <a:pPr eaLnBrk="1" hangingPunct="1">
              <a:spcBef>
                <a:spcPct val="0"/>
              </a:spcBef>
              <a:buFontTx/>
              <a:buNone/>
            </a:pPr>
            <a:r>
              <a:rPr lang="en-US" altLang="en-US" sz="700" dirty="0">
                <a:solidFill>
                  <a:srgbClr val="4F81BD"/>
                </a:solidFill>
              </a:rPr>
              <a:t>CR110 </a:t>
            </a:r>
            <a:endParaRPr lang="th-TH" altLang="en-US" sz="700" dirty="0">
              <a:solidFill>
                <a:srgbClr val="4F81BD"/>
              </a:solidFill>
            </a:endParaRPr>
          </a:p>
        </p:txBody>
      </p:sp>
      <p:sp>
        <p:nvSpPr>
          <p:cNvPr id="20" name="Title 44">
            <a:extLst>
              <a:ext uri="{FF2B5EF4-FFF2-40B4-BE49-F238E27FC236}">
                <a16:creationId xmlns:a16="http://schemas.microsoft.com/office/drawing/2014/main" id="{200473DD-8EC3-4163-AF84-04C85ECE1895}"/>
              </a:ext>
            </a:extLst>
          </p:cNvPr>
          <p:cNvSpPr>
            <a:spLocks noGrp="1"/>
          </p:cNvSpPr>
          <p:nvPr>
            <p:ph type="title"/>
          </p:nvPr>
        </p:nvSpPr>
        <p:spPr>
          <a:xfrm>
            <a:off x="768352" y="522618"/>
            <a:ext cx="8364700" cy="495184"/>
          </a:xfrm>
          <a:noFill/>
          <a:ln>
            <a:noFill/>
          </a:ln>
        </p:spPr>
        <p:txBody>
          <a:bodyPr spcFirstLastPara="1" wrap="square" lIns="0" tIns="0" rIns="0" bIns="0" anchor="ctr" anchorCtr="0">
            <a:noAutofit/>
          </a:bodyPr>
          <a:lstStyle/>
          <a:p>
            <a:pPr>
              <a:spcBef>
                <a:spcPct val="20000"/>
              </a:spcBef>
            </a:pPr>
            <a:r>
              <a:rPr lang="th-TH" altLang="en-US" b="1" dirty="0">
                <a:latin typeface="Noto Sans Thai" panose="020B0502040504020204" pitchFamily="34" charset="-34"/>
                <a:ea typeface="Tahoma" panose="020B0604030504040204" pitchFamily="34" charset="0"/>
                <a:cs typeface="Noto Sans Thai" panose="020B0502040504020204" pitchFamily="34" charset="-34"/>
              </a:rPr>
              <a:t>ประมาณการกำไรโตปี 202</a:t>
            </a:r>
            <a:r>
              <a:rPr lang="en-US" altLang="en-US" b="1" dirty="0">
                <a:latin typeface="Noto Sans Thai" panose="020B0502040504020204" pitchFamily="34" charset="-34"/>
                <a:ea typeface="Tahoma" panose="020B0604030504040204" pitchFamily="34" charset="0"/>
                <a:cs typeface="Noto Sans Thai" panose="020B0502040504020204" pitchFamily="34" charset="-34"/>
              </a:rPr>
              <a:t>6</a:t>
            </a:r>
            <a:r>
              <a:rPr lang="th-TH" altLang="en-US" b="1" dirty="0">
                <a:latin typeface="Noto Sans Thai" panose="020B0502040504020204" pitchFamily="34" charset="-34"/>
                <a:ea typeface="Tahoma" panose="020B0604030504040204" pitchFamily="34" charset="0"/>
                <a:cs typeface="Noto Sans Thai" panose="020B0502040504020204" pitchFamily="34" charset="-34"/>
              </a:rPr>
              <a:t> </a:t>
            </a:r>
            <a:r>
              <a:rPr lang="en-US" altLang="en-US" b="1" dirty="0">
                <a:latin typeface="Noto Sans Thai" panose="020B0502040504020204" pitchFamily="34" charset="-34"/>
                <a:ea typeface="Tahoma" panose="020B0604030504040204" pitchFamily="34" charset="0"/>
                <a:cs typeface="Noto Sans Thai" panose="020B0502040504020204" pitchFamily="34" charset="-34"/>
              </a:rPr>
              <a:t>(consensus) </a:t>
            </a:r>
            <a:endParaRPr lang="th-TH" altLang="en-US" b="1" dirty="0">
              <a:latin typeface="Noto Sans Thai" panose="020B0502040504020204" pitchFamily="34" charset="-34"/>
              <a:ea typeface="Tahoma" panose="020B0604030504040204" pitchFamily="34" charset="0"/>
              <a:cs typeface="Noto Sans Thai" panose="020B0502040504020204" pitchFamily="34" charset="-34"/>
            </a:endParaRPr>
          </a:p>
        </p:txBody>
      </p:sp>
      <p:sp>
        <p:nvSpPr>
          <p:cNvPr id="13" name="Footer Placeholder 4">
            <a:extLst>
              <a:ext uri="{FF2B5EF4-FFF2-40B4-BE49-F238E27FC236}">
                <a16:creationId xmlns:a16="http://schemas.microsoft.com/office/drawing/2014/main" id="{5C5EE424-8418-4F21-AE35-0AFF4AE22469}"/>
              </a:ext>
            </a:extLst>
          </p:cNvPr>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14" name="Text Placeholder 6">
            <a:extLst>
              <a:ext uri="{FF2B5EF4-FFF2-40B4-BE49-F238E27FC236}">
                <a16:creationId xmlns:a16="http://schemas.microsoft.com/office/drawing/2014/main" id="{C8396BD3-A111-42AD-B953-DE6249C49CDD}"/>
              </a:ext>
            </a:extLst>
          </p:cNvPr>
          <p:cNvSpPr txBox="1">
            <a:spLocks/>
          </p:cNvSpPr>
          <p:nvPr/>
        </p:nvSpPr>
        <p:spPr>
          <a:xfrm>
            <a:off x="8827562" y="6620925"/>
            <a:ext cx="4061651" cy="303542"/>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900" dirty="0">
                <a:solidFill>
                  <a:schemeClr val="tx1"/>
                </a:solidFill>
                <a:latin typeface="+mn-lt"/>
                <a:ea typeface="Tahoma" panose="020B0604030504040204" pitchFamily="34" charset="0"/>
                <a:cs typeface="+mn-cs"/>
              </a:rPr>
              <a:t>Sources: </a:t>
            </a:r>
            <a:r>
              <a:rPr lang="en-US" altLang="en-US" sz="900" dirty="0">
                <a:solidFill>
                  <a:schemeClr val="tx1"/>
                </a:solidFill>
                <a:latin typeface="+mn-lt"/>
                <a:ea typeface="Tahoma" panose="020B0604030504040204" pitchFamily="34" charset="0"/>
                <a:cs typeface="+mn-cs"/>
              </a:rPr>
              <a:t>Bloomberg, </a:t>
            </a:r>
            <a:r>
              <a:rPr lang="en-US" altLang="en-US" sz="900" dirty="0" err="1">
                <a:solidFill>
                  <a:schemeClr val="tx1"/>
                </a:solidFill>
                <a:latin typeface="+mn-lt"/>
                <a:ea typeface="Tahoma" panose="020B0604030504040204" pitchFamily="34" charset="0"/>
                <a:cs typeface="+mn-cs"/>
              </a:rPr>
              <a:t>BoT</a:t>
            </a:r>
            <a:r>
              <a:rPr lang="en-US" altLang="en-US" sz="900" dirty="0">
                <a:solidFill>
                  <a:schemeClr val="tx1"/>
                </a:solidFill>
                <a:latin typeface="+mn-lt"/>
                <a:ea typeface="Tahoma" panose="020B0604030504040204" pitchFamily="34" charset="0"/>
                <a:cs typeface="+mn-cs"/>
              </a:rPr>
              <a:t>, </a:t>
            </a:r>
            <a:r>
              <a:rPr lang="en-US" altLang="en-US" sz="900" dirty="0" err="1">
                <a:solidFill>
                  <a:schemeClr val="tx1"/>
                </a:solidFill>
                <a:latin typeface="+mn-lt"/>
                <a:ea typeface="Tahoma" panose="020B0604030504040204" pitchFamily="34" charset="0"/>
                <a:cs typeface="+mn-cs"/>
              </a:rPr>
              <a:t>Bualuang</a:t>
            </a:r>
            <a:r>
              <a:rPr lang="en-US" altLang="en-US" sz="900" dirty="0">
                <a:solidFill>
                  <a:schemeClr val="tx1"/>
                </a:solidFill>
                <a:latin typeface="+mn-lt"/>
                <a:ea typeface="Tahoma" panose="020B0604030504040204" pitchFamily="34" charset="0"/>
                <a:cs typeface="+mn-cs"/>
              </a:rPr>
              <a:t> Research</a:t>
            </a:r>
            <a:endParaRPr lang="th-TH" altLang="en-US" sz="900" dirty="0">
              <a:solidFill>
                <a:schemeClr val="tx1"/>
              </a:solidFill>
              <a:latin typeface="+mn-lt"/>
              <a:ea typeface="Tahoma" panose="020B0604030504040204" pitchFamily="34" charset="0"/>
              <a:cs typeface="+mn-cs"/>
            </a:endParaRPr>
          </a:p>
        </p:txBody>
      </p:sp>
      <p:sp>
        <p:nvSpPr>
          <p:cNvPr id="15" name="Text Placeholder 4">
            <a:extLst>
              <a:ext uri="{FF2B5EF4-FFF2-40B4-BE49-F238E27FC236}">
                <a16:creationId xmlns:a16="http://schemas.microsoft.com/office/drawing/2014/main" id="{4BF7C1E0-4627-42C6-AF6C-B39B57F3F1E6}"/>
              </a:ext>
            </a:extLst>
          </p:cNvPr>
          <p:cNvSpPr txBox="1">
            <a:spLocks/>
          </p:cNvSpPr>
          <p:nvPr/>
        </p:nvSpPr>
        <p:spPr>
          <a:xfrm>
            <a:off x="629739" y="1133311"/>
            <a:ext cx="2660458" cy="1467686"/>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Bef>
                <a:spcPct val="0"/>
              </a:spcBef>
            </a:pPr>
            <a:r>
              <a:rPr lang="en-US" altLang="en-US" b="1" dirty="0">
                <a:latin typeface="Noto Sans Thai" panose="020B0502040504020204" pitchFamily="34" charset="-34"/>
                <a:cs typeface="Noto Sans Thai" panose="020B0502040504020204"/>
              </a:rPr>
              <a:t>SET EPS (consensus) </a:t>
            </a:r>
            <a:r>
              <a:rPr lang="en-US" altLang="en-US" dirty="0">
                <a:latin typeface="Noto Sans Thai" panose="020B0502040504020204" pitchFamily="34" charset="-34"/>
                <a:cs typeface="Noto Sans Thai" panose="020B0502040504020204"/>
              </a:rPr>
              <a:t>–</a:t>
            </a:r>
            <a:r>
              <a:rPr lang="th-TH" altLang="en-US" dirty="0">
                <a:latin typeface="Noto Sans Thai" panose="020B0502040504020204" pitchFamily="34" charset="-34"/>
                <a:cs typeface="Noto Sans Thai" panose="020B0502040504020204"/>
              </a:rPr>
              <a:t> เริ่มเห็นการปรับประมาณการณ์กำไรขึ้น +1.4% ใน 1 เดือนที่ผ่านมา นำโดยกลุ่มพลังงาน ปิโตรเคมี และอิเล็กทรอนิกส์ ขณะที่กลุ่มสายการบิน</a:t>
            </a:r>
            <a:r>
              <a:rPr lang="en-US" altLang="en-US" dirty="0">
                <a:latin typeface="Noto Sans Thai" panose="020B0502040504020204" pitchFamily="34" charset="-34"/>
                <a:cs typeface="Noto Sans Thai" panose="020B0502040504020204"/>
              </a:rPr>
              <a:t> </a:t>
            </a:r>
            <a:r>
              <a:rPr lang="th-TH" altLang="en-US" dirty="0">
                <a:latin typeface="Noto Sans Thai" panose="020B0502040504020204" pitchFamily="34" charset="-34"/>
                <a:cs typeface="Noto Sans Thai" panose="020B0502040504020204"/>
              </a:rPr>
              <a:t>รวมถึงกลุ่มที่เชื่อมโยงการบริโภคในประเทศ เช่น ค้าปลีก อสังหาริมทรัพย์ การเงินยังถูกปรับลง</a:t>
            </a:r>
          </a:p>
        </p:txBody>
      </p:sp>
      <p:sp>
        <p:nvSpPr>
          <p:cNvPr id="17" name="Text Placeholder 4">
            <a:extLst>
              <a:ext uri="{FF2B5EF4-FFF2-40B4-BE49-F238E27FC236}">
                <a16:creationId xmlns:a16="http://schemas.microsoft.com/office/drawing/2014/main" id="{C8244A83-2806-4414-9EC8-78B496F223C5}"/>
              </a:ext>
            </a:extLst>
          </p:cNvPr>
          <p:cNvSpPr txBox="1">
            <a:spLocks/>
          </p:cNvSpPr>
          <p:nvPr/>
        </p:nvSpPr>
        <p:spPr>
          <a:xfrm>
            <a:off x="7399906" y="1619250"/>
            <a:ext cx="4382519" cy="742950"/>
          </a:xfrm>
          <a:prstGeom prst="rect">
            <a:avLst/>
          </a:prstGeom>
        </p:spPr>
        <p:txBody>
          <a:bodyPr lIns="0" tIns="0" rIns="0" bIns="0" anchor="ct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chemeClr val="tx1"/>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spcBef>
                <a:spcPct val="0"/>
              </a:spcBef>
            </a:pPr>
            <a:r>
              <a:rPr lang="en-US" altLang="en-US" b="1" dirty="0">
                <a:latin typeface="Noto Sans Thai" panose="020B0502040504020204" pitchFamily="34" charset="-34"/>
                <a:cs typeface="Noto Sans Thai" panose="020B0502040504020204"/>
              </a:rPr>
              <a:t>SET EPS growth and GDP</a:t>
            </a:r>
            <a:r>
              <a:rPr lang="th-TH" altLang="en-US" b="1" dirty="0">
                <a:latin typeface="Noto Sans Thai" panose="020B0502040504020204" pitchFamily="34" charset="-34"/>
                <a:cs typeface="Noto Sans Thai" panose="020B0502040504020204"/>
              </a:rPr>
              <a:t> </a:t>
            </a:r>
            <a:r>
              <a:rPr lang="en-US" altLang="en-US" b="1" dirty="0">
                <a:latin typeface="Noto Sans Thai" panose="020B0502040504020204" pitchFamily="34" charset="-34"/>
                <a:cs typeface="Noto Sans Thai" panose="020B0502040504020204"/>
              </a:rPr>
              <a:t>–</a:t>
            </a:r>
            <a:r>
              <a:rPr lang="th-TH" altLang="en-US" b="1" dirty="0">
                <a:latin typeface="Noto Sans Thai" panose="020B0502040504020204" pitchFamily="34" charset="-34"/>
                <a:cs typeface="Noto Sans Thai" panose="020B0502040504020204"/>
              </a:rPr>
              <a:t> </a:t>
            </a:r>
            <a:r>
              <a:rPr lang="th-TH" altLang="en-US" sz="1400" dirty="0">
                <a:latin typeface="Noto Sans Thai" panose="020B0502040504020204" pitchFamily="34" charset="-34"/>
                <a:cs typeface="Noto Sans Thai" panose="020B0502040504020204"/>
              </a:rPr>
              <a:t>กำไรบริษัทคาดเติบโตในปี 2026 การลงทุนภาคเอกชนเป็นปัจจัยหนุนหลัก ในขณะที่สงครามยังคงเป็นปัจจัยเสี่ยงสำคัญ </a:t>
            </a:r>
          </a:p>
        </p:txBody>
      </p:sp>
      <p:sp>
        <p:nvSpPr>
          <p:cNvPr id="9" name="Rectangle 8">
            <a:extLst>
              <a:ext uri="{FF2B5EF4-FFF2-40B4-BE49-F238E27FC236}">
                <a16:creationId xmlns:a16="http://schemas.microsoft.com/office/drawing/2014/main" id="{3E10B654-7524-1264-4987-752DF8B3418A}"/>
              </a:ext>
            </a:extLst>
          </p:cNvPr>
          <p:cNvSpPr/>
          <p:nvPr/>
        </p:nvSpPr>
        <p:spPr>
          <a:xfrm>
            <a:off x="12769340" y="4689809"/>
            <a:ext cx="239746" cy="1799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rgbClr val="000000"/>
              </a:solidFill>
            </a:endParaRPr>
          </a:p>
        </p:txBody>
      </p:sp>
      <p:sp>
        <p:nvSpPr>
          <p:cNvPr id="10" name="Rectangle 9">
            <a:extLst>
              <a:ext uri="{FF2B5EF4-FFF2-40B4-BE49-F238E27FC236}">
                <a16:creationId xmlns:a16="http://schemas.microsoft.com/office/drawing/2014/main" id="{9CC75395-8E95-5E69-80AD-71AA177767DE}"/>
              </a:ext>
            </a:extLst>
          </p:cNvPr>
          <p:cNvSpPr/>
          <p:nvPr/>
        </p:nvSpPr>
        <p:spPr>
          <a:xfrm>
            <a:off x="12514637" y="3873045"/>
            <a:ext cx="239746" cy="1799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rgbClr val="000000"/>
              </a:solidFill>
            </a:endParaRPr>
          </a:p>
        </p:txBody>
      </p:sp>
      <p:sp>
        <p:nvSpPr>
          <p:cNvPr id="21" name="Rectangle 20">
            <a:extLst>
              <a:ext uri="{FF2B5EF4-FFF2-40B4-BE49-F238E27FC236}">
                <a16:creationId xmlns:a16="http://schemas.microsoft.com/office/drawing/2014/main" id="{AA110E68-7328-DEED-803D-2025D64EF2C1}"/>
              </a:ext>
            </a:extLst>
          </p:cNvPr>
          <p:cNvSpPr/>
          <p:nvPr/>
        </p:nvSpPr>
        <p:spPr>
          <a:xfrm>
            <a:off x="12477480" y="4227383"/>
            <a:ext cx="239746" cy="1799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rgbClr val="000000"/>
              </a:solidFill>
            </a:endParaRPr>
          </a:p>
        </p:txBody>
      </p:sp>
      <p:sp>
        <p:nvSpPr>
          <p:cNvPr id="3" name="Rectangle 2">
            <a:extLst>
              <a:ext uri="{FF2B5EF4-FFF2-40B4-BE49-F238E27FC236}">
                <a16:creationId xmlns:a16="http://schemas.microsoft.com/office/drawing/2014/main" id="{96218DDA-FF46-BD6B-66FF-412E38620303}"/>
              </a:ext>
            </a:extLst>
          </p:cNvPr>
          <p:cNvSpPr/>
          <p:nvPr/>
        </p:nvSpPr>
        <p:spPr>
          <a:xfrm>
            <a:off x="12658653" y="4420126"/>
            <a:ext cx="239746" cy="1799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rgbClr val="000000"/>
              </a:solidFill>
            </a:endParaRPr>
          </a:p>
        </p:txBody>
      </p:sp>
      <p:sp>
        <p:nvSpPr>
          <p:cNvPr id="25" name="TextBox 24">
            <a:extLst>
              <a:ext uri="{FF2B5EF4-FFF2-40B4-BE49-F238E27FC236}">
                <a16:creationId xmlns:a16="http://schemas.microsoft.com/office/drawing/2014/main" id="{81642CBA-5BA5-D6CE-393D-99F334CE78E7}"/>
              </a:ext>
            </a:extLst>
          </p:cNvPr>
          <p:cNvSpPr txBox="1"/>
          <p:nvPr/>
        </p:nvSpPr>
        <p:spPr>
          <a:xfrm>
            <a:off x="525868" y="2815395"/>
            <a:ext cx="1678122" cy="253916"/>
          </a:xfrm>
          <a:prstGeom prst="rect">
            <a:avLst/>
          </a:prstGeom>
          <a:noFill/>
        </p:spPr>
        <p:txBody>
          <a:bodyPr wrap="square">
            <a:spAutoFit/>
          </a:bodyPr>
          <a:lstStyle/>
          <a:p>
            <a:r>
              <a:rPr lang="en-US" sz="1050" b="1" dirty="0">
                <a:solidFill>
                  <a:schemeClr val="accent1"/>
                </a:solidFill>
                <a:cs typeface="Noto Sans Thai" panose="020B0502040504020204"/>
              </a:rPr>
              <a:t>EPS forecast revision</a:t>
            </a:r>
            <a:endParaRPr lang="en-US" sz="1050" dirty="0">
              <a:solidFill>
                <a:schemeClr val="accent1"/>
              </a:solidFill>
            </a:endParaRPr>
          </a:p>
        </p:txBody>
      </p:sp>
      <p:pic>
        <p:nvPicPr>
          <p:cNvPr id="4" name="Picture 3">
            <a:extLst>
              <a:ext uri="{FF2B5EF4-FFF2-40B4-BE49-F238E27FC236}">
                <a16:creationId xmlns:a16="http://schemas.microsoft.com/office/drawing/2014/main" id="{F108160F-BE26-EE3D-FF88-76FBC9670E24}"/>
              </a:ext>
            </a:extLst>
          </p:cNvPr>
          <p:cNvPicPr>
            <a:picLocks noChangeAspect="1"/>
          </p:cNvPicPr>
          <p:nvPr/>
        </p:nvPicPr>
        <p:blipFill>
          <a:blip r:embed="rId3"/>
          <a:stretch>
            <a:fillRect/>
          </a:stretch>
        </p:blipFill>
        <p:spPr>
          <a:xfrm>
            <a:off x="7422368" y="2291744"/>
            <a:ext cx="4139893" cy="4052337"/>
          </a:xfrm>
          <a:prstGeom prst="rect">
            <a:avLst/>
          </a:prstGeom>
        </p:spPr>
      </p:pic>
      <p:pic>
        <p:nvPicPr>
          <p:cNvPr id="19" name="Picture 18" descr="A table of numbers with different colored squares&#10;&#10;Description automatically generated with medium confidence">
            <a:extLst>
              <a:ext uri="{FF2B5EF4-FFF2-40B4-BE49-F238E27FC236}">
                <a16:creationId xmlns:a16="http://schemas.microsoft.com/office/drawing/2014/main" id="{7309FCE6-0D65-C22C-8B2D-595AA9E3A3D7}"/>
              </a:ext>
            </a:extLst>
          </p:cNvPr>
          <p:cNvPicPr>
            <a:picLocks noChangeAspect="1"/>
          </p:cNvPicPr>
          <p:nvPr/>
        </p:nvPicPr>
        <p:blipFill rotWithShape="1">
          <a:blip r:embed="rId4">
            <a:extLst>
              <a:ext uri="{28A0092B-C50C-407E-A947-70E740481C1C}">
                <a14:useLocalDpi xmlns:a14="http://schemas.microsoft.com/office/drawing/2010/main" val="0"/>
              </a:ext>
            </a:extLst>
          </a:blip>
          <a:srcRect r="24471"/>
          <a:stretch/>
        </p:blipFill>
        <p:spPr>
          <a:xfrm>
            <a:off x="548548" y="3087143"/>
            <a:ext cx="6531262" cy="3541912"/>
          </a:xfrm>
          <a:prstGeom prst="rect">
            <a:avLst/>
          </a:prstGeom>
        </p:spPr>
      </p:pic>
      <p:pic>
        <p:nvPicPr>
          <p:cNvPr id="24" name="Picture 23" descr="A graph of different colored lines&#10;&#10;Description automatically generated">
            <a:extLst>
              <a:ext uri="{FF2B5EF4-FFF2-40B4-BE49-F238E27FC236}">
                <a16:creationId xmlns:a16="http://schemas.microsoft.com/office/drawing/2014/main" id="{DB411081-8673-EE4E-69A1-0FB06181ABC4}"/>
              </a:ext>
            </a:extLst>
          </p:cNvPr>
          <p:cNvPicPr>
            <a:picLocks noChangeAspect="1"/>
          </p:cNvPicPr>
          <p:nvPr/>
        </p:nvPicPr>
        <p:blipFill>
          <a:blip r:embed="rId5"/>
          <a:stretch>
            <a:fillRect/>
          </a:stretch>
        </p:blipFill>
        <p:spPr>
          <a:xfrm>
            <a:off x="3287186" y="951734"/>
            <a:ext cx="3792624" cy="2087817"/>
          </a:xfrm>
          <a:prstGeom prst="rect">
            <a:avLst/>
          </a:prstGeom>
        </p:spPr>
      </p:pic>
      <p:sp>
        <p:nvSpPr>
          <p:cNvPr id="5" name="Rectangle 4">
            <a:extLst>
              <a:ext uri="{FF2B5EF4-FFF2-40B4-BE49-F238E27FC236}">
                <a16:creationId xmlns:a16="http://schemas.microsoft.com/office/drawing/2014/main" id="{347ECF59-960A-DCE9-93A3-4149C71B5E3C}"/>
              </a:ext>
            </a:extLst>
          </p:cNvPr>
          <p:cNvSpPr/>
          <p:nvPr/>
        </p:nvSpPr>
        <p:spPr>
          <a:xfrm>
            <a:off x="10729945" y="3981230"/>
            <a:ext cx="256884" cy="2058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accent3">
                  <a:lumMod val="75000"/>
                </a:schemeClr>
              </a:solidFill>
            </a:endParaRPr>
          </a:p>
        </p:txBody>
      </p:sp>
      <p:sp>
        <p:nvSpPr>
          <p:cNvPr id="2" name="Rectangle 1">
            <a:extLst>
              <a:ext uri="{FF2B5EF4-FFF2-40B4-BE49-F238E27FC236}">
                <a16:creationId xmlns:a16="http://schemas.microsoft.com/office/drawing/2014/main" id="{0ED59CD0-4AB1-8B86-FA56-CB7FDEAC75A0}"/>
              </a:ext>
            </a:extLst>
          </p:cNvPr>
          <p:cNvSpPr/>
          <p:nvPr/>
        </p:nvSpPr>
        <p:spPr>
          <a:xfrm>
            <a:off x="10618335" y="3940196"/>
            <a:ext cx="537253" cy="2445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accent3">
                    <a:lumMod val="75000"/>
                  </a:schemeClr>
                </a:solidFill>
              </a:rPr>
              <a:t>1.4</a:t>
            </a:r>
          </a:p>
        </p:txBody>
      </p:sp>
      <p:sp>
        <p:nvSpPr>
          <p:cNvPr id="26" name="Rectangle 25">
            <a:extLst>
              <a:ext uri="{FF2B5EF4-FFF2-40B4-BE49-F238E27FC236}">
                <a16:creationId xmlns:a16="http://schemas.microsoft.com/office/drawing/2014/main" id="{96EF496D-5F30-715F-6ADA-29980FCB58F7}"/>
              </a:ext>
            </a:extLst>
          </p:cNvPr>
          <p:cNvSpPr/>
          <p:nvPr/>
        </p:nvSpPr>
        <p:spPr>
          <a:xfrm>
            <a:off x="10754675" y="4634169"/>
            <a:ext cx="449087" cy="1590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rgbClr val="000000"/>
              </a:solidFill>
            </a:endParaRPr>
          </a:p>
        </p:txBody>
      </p:sp>
      <p:sp>
        <p:nvSpPr>
          <p:cNvPr id="8" name="Rectangle 7">
            <a:extLst>
              <a:ext uri="{FF2B5EF4-FFF2-40B4-BE49-F238E27FC236}">
                <a16:creationId xmlns:a16="http://schemas.microsoft.com/office/drawing/2014/main" id="{7D95161A-144E-D960-5648-AF451F3326F6}"/>
              </a:ext>
            </a:extLst>
          </p:cNvPr>
          <p:cNvSpPr/>
          <p:nvPr/>
        </p:nvSpPr>
        <p:spPr>
          <a:xfrm>
            <a:off x="10870751" y="4666375"/>
            <a:ext cx="444031" cy="2445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2">
                    <a:lumMod val="25000"/>
                  </a:schemeClr>
                </a:solidFill>
              </a:rPr>
              <a:t>5.9</a:t>
            </a:r>
          </a:p>
        </p:txBody>
      </p:sp>
      <p:sp>
        <p:nvSpPr>
          <p:cNvPr id="22" name="Rectangle 21">
            <a:extLst>
              <a:ext uri="{FF2B5EF4-FFF2-40B4-BE49-F238E27FC236}">
                <a16:creationId xmlns:a16="http://schemas.microsoft.com/office/drawing/2014/main" id="{117DF610-9D90-AD4F-E9C0-DA0C5DA14A17}"/>
              </a:ext>
            </a:extLst>
          </p:cNvPr>
          <p:cNvSpPr/>
          <p:nvPr/>
        </p:nvSpPr>
        <p:spPr>
          <a:xfrm flipH="1">
            <a:off x="10649233" y="4557637"/>
            <a:ext cx="427797" cy="2228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2">
                    <a:lumMod val="25000"/>
                  </a:schemeClr>
                </a:solidFill>
              </a:rPr>
              <a:t>12.7</a:t>
            </a:r>
          </a:p>
        </p:txBody>
      </p:sp>
      <p:sp>
        <p:nvSpPr>
          <p:cNvPr id="6" name="Rectangle 5">
            <a:extLst>
              <a:ext uri="{FF2B5EF4-FFF2-40B4-BE49-F238E27FC236}">
                <a16:creationId xmlns:a16="http://schemas.microsoft.com/office/drawing/2014/main" id="{DF6E6BB3-FC12-0E9A-01A0-79B94CCD00B5}"/>
              </a:ext>
            </a:extLst>
          </p:cNvPr>
          <p:cNvSpPr/>
          <p:nvPr/>
        </p:nvSpPr>
        <p:spPr>
          <a:xfrm>
            <a:off x="10928712" y="3688331"/>
            <a:ext cx="296637" cy="127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rgbClr val="000000"/>
              </a:solidFill>
            </a:endParaRPr>
          </a:p>
        </p:txBody>
      </p:sp>
      <p:sp>
        <p:nvSpPr>
          <p:cNvPr id="12" name="Rectangle 11">
            <a:extLst>
              <a:ext uri="{FF2B5EF4-FFF2-40B4-BE49-F238E27FC236}">
                <a16:creationId xmlns:a16="http://schemas.microsoft.com/office/drawing/2014/main" id="{30A0672A-37EF-478F-5A27-7EE612803142}"/>
              </a:ext>
            </a:extLst>
          </p:cNvPr>
          <p:cNvSpPr/>
          <p:nvPr/>
        </p:nvSpPr>
        <p:spPr>
          <a:xfrm>
            <a:off x="10843210" y="3645914"/>
            <a:ext cx="537253" cy="2445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accent3">
                    <a:lumMod val="75000"/>
                  </a:schemeClr>
                </a:solidFill>
              </a:rPr>
              <a:t>2.0</a:t>
            </a:r>
          </a:p>
        </p:txBody>
      </p:sp>
      <p:pic>
        <p:nvPicPr>
          <p:cNvPr id="27" name="Picture 26">
            <a:extLst>
              <a:ext uri="{FF2B5EF4-FFF2-40B4-BE49-F238E27FC236}">
                <a16:creationId xmlns:a16="http://schemas.microsoft.com/office/drawing/2014/main" id="{4FFC98D7-25A4-E360-D9DF-744B4ED5176D}"/>
              </a:ext>
            </a:extLst>
          </p:cNvPr>
          <p:cNvPicPr>
            <a:picLocks noChangeAspect="1"/>
          </p:cNvPicPr>
          <p:nvPr/>
        </p:nvPicPr>
        <p:blipFill rotWithShape="1">
          <a:blip r:embed="rId3"/>
          <a:srcRect l="86010" t="63317" r="10413" b="34964"/>
          <a:stretch/>
        </p:blipFill>
        <p:spPr>
          <a:xfrm>
            <a:off x="10754675" y="4831109"/>
            <a:ext cx="203575" cy="95800"/>
          </a:xfrm>
          <a:prstGeom prst="rect">
            <a:avLst/>
          </a:prstGeom>
        </p:spPr>
      </p:pic>
      <p:pic>
        <p:nvPicPr>
          <p:cNvPr id="28" name="Picture 27">
            <a:extLst>
              <a:ext uri="{FF2B5EF4-FFF2-40B4-BE49-F238E27FC236}">
                <a16:creationId xmlns:a16="http://schemas.microsoft.com/office/drawing/2014/main" id="{CA6A2392-8286-73C1-1C52-B48542551E34}"/>
              </a:ext>
            </a:extLst>
          </p:cNvPr>
          <p:cNvPicPr>
            <a:picLocks noChangeAspect="1"/>
          </p:cNvPicPr>
          <p:nvPr/>
        </p:nvPicPr>
        <p:blipFill rotWithShape="1">
          <a:blip r:embed="rId3"/>
          <a:srcRect l="86010" t="63317" r="10413" b="34964"/>
          <a:stretch/>
        </p:blipFill>
        <p:spPr>
          <a:xfrm>
            <a:off x="10754675" y="4781530"/>
            <a:ext cx="203575" cy="95800"/>
          </a:xfrm>
          <a:prstGeom prst="rect">
            <a:avLst/>
          </a:prstGeom>
        </p:spPr>
      </p:pic>
    </p:spTree>
    <p:extLst>
      <p:ext uri="{BB962C8B-B14F-4D97-AF65-F5344CB8AC3E}">
        <p14:creationId xmlns:p14="http://schemas.microsoft.com/office/powerpoint/2010/main" val="197226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txBox="1">
            <a:spLocks/>
          </p:cNvSpPr>
          <p:nvPr/>
        </p:nvSpPr>
        <p:spPr>
          <a:xfrm>
            <a:off x="592" y="6703857"/>
            <a:ext cx="2938051" cy="156487"/>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50" b="1" i="0" u="none" strike="noStrike" cap="none" spc="38">
                <a:solidFill>
                  <a:schemeClr val="bg1">
                    <a:lumMod val="50000"/>
                  </a:schemeClr>
                </a:solidFill>
                <a:latin typeface="Tahoma" panose="020B0604030504040204" pitchFamily="34" charset="0"/>
                <a:ea typeface="Tahoma" panose="020B0604030504040204" pitchFamily="34" charset="0"/>
                <a:cs typeface="Tahoma" panose="020B060403050404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342900"/>
            <a:r>
              <a:rPr lang="en-US" sz="900" kern="800" dirty="0">
                <a:solidFill>
                  <a:srgbClr val="A7A8A9"/>
                </a:solidFill>
              </a:rPr>
              <a:t>Private &amp; Confidential For Institutional Only</a:t>
            </a:r>
          </a:p>
        </p:txBody>
      </p:sp>
      <p:sp>
        <p:nvSpPr>
          <p:cNvPr id="13" name="Title 44">
            <a:extLst>
              <a:ext uri="{FF2B5EF4-FFF2-40B4-BE49-F238E27FC236}">
                <a16:creationId xmlns:a16="http://schemas.microsoft.com/office/drawing/2014/main" id="{E908E41C-C232-4BDA-BFFD-9D784F6515E7}"/>
              </a:ext>
            </a:extLst>
          </p:cNvPr>
          <p:cNvSpPr>
            <a:spLocks noGrp="1"/>
          </p:cNvSpPr>
          <p:nvPr>
            <p:ph type="title"/>
          </p:nvPr>
        </p:nvSpPr>
        <p:spPr>
          <a:xfrm>
            <a:off x="768352" y="494202"/>
            <a:ext cx="8364700" cy="495184"/>
          </a:xfrm>
          <a:noFill/>
          <a:ln>
            <a:noFill/>
          </a:ln>
        </p:spPr>
        <p:txBody>
          <a:bodyPr spcFirstLastPara="1" wrap="square" lIns="0" tIns="0" rIns="0" bIns="0" anchor="ctr" anchorCtr="0">
            <a:noAutofit/>
          </a:bodyPr>
          <a:lstStyle/>
          <a:p>
            <a:pPr>
              <a:spcBef>
                <a:spcPct val="20000"/>
              </a:spcBef>
            </a:pPr>
            <a:r>
              <a:rPr lang="th-TH" altLang="en-US" b="1" dirty="0">
                <a:latin typeface="Noto Sans Thai" panose="020B0502040504020204" pitchFamily="34" charset="-34"/>
                <a:ea typeface="Tahoma" panose="020B0604030504040204" pitchFamily="34" charset="0"/>
                <a:cs typeface="Noto Sans Thai" panose="020B0502040504020204" pitchFamily="34" charset="-34"/>
              </a:rPr>
              <a:t>กลยุทธ์การบริหารพอร์ต</a:t>
            </a:r>
          </a:p>
        </p:txBody>
      </p:sp>
      <p:sp>
        <p:nvSpPr>
          <p:cNvPr id="20" name="TextBox 19">
            <a:extLst>
              <a:ext uri="{FF2B5EF4-FFF2-40B4-BE49-F238E27FC236}">
                <a16:creationId xmlns:a16="http://schemas.microsoft.com/office/drawing/2014/main" id="{98D99B4A-3B2F-434E-B12E-2755C0C6EB2A}"/>
              </a:ext>
            </a:extLst>
          </p:cNvPr>
          <p:cNvSpPr txBox="1">
            <a:spLocks noChangeArrowheads="1"/>
          </p:cNvSpPr>
          <p:nvPr/>
        </p:nvSpPr>
        <p:spPr bwMode="auto">
          <a:xfrm>
            <a:off x="6383708" y="1939625"/>
            <a:ext cx="5026761" cy="4502771"/>
          </a:xfrm>
          <a:prstGeom prst="rect">
            <a:avLst/>
          </a:prstGeom>
          <a:solidFill>
            <a:srgbClr val="F3DAE1"/>
          </a:solidFill>
          <a:ln>
            <a:noFill/>
          </a:ln>
        </p:spPr>
        <p:txBody>
          <a:bodyPr wrap="square">
            <a:spAutoFit/>
          </a:bodyPr>
          <a:lstStyle>
            <a:defPPr>
              <a:defRPr lang="en-US"/>
            </a:defPPr>
            <a:lvl1pPr marL="171450" indent="-171450">
              <a:lnSpc>
                <a:spcPct val="150000"/>
              </a:lnSpc>
              <a:spcBef>
                <a:spcPts val="300"/>
              </a:spcBef>
              <a:spcAft>
                <a:spcPts val="300"/>
              </a:spcAft>
              <a:buClr>
                <a:srgbClr val="002060"/>
              </a:buClr>
              <a:buChar char="•"/>
              <a:defRPr sz="900">
                <a:solidFill>
                  <a:srgbClr val="002060"/>
                </a:solidFill>
                <a:latin typeface="Tahoma" panose="020B0604030504040204" pitchFamily="34" charset="0"/>
                <a:cs typeface="Tahoma" panose="020B0604030504040204" pitchFamily="34" charset="0"/>
              </a:defRPr>
            </a:lvl1pPr>
            <a:lvl2pPr marL="742950" indent="-285750">
              <a:spcBef>
                <a:spcPct val="20000"/>
              </a:spcBef>
              <a:buChar char="–"/>
              <a:defRPr sz="2800">
                <a:latin typeface="Arial" panose="020B0604020202020204" pitchFamily="34" charset="0"/>
                <a:cs typeface="Angsana New" panose="02020603050405020304" pitchFamily="18" charset="-34"/>
              </a:defRPr>
            </a:lvl2pPr>
            <a:lvl3pPr marL="1143000" indent="-228600">
              <a:spcBef>
                <a:spcPct val="20000"/>
              </a:spcBef>
              <a:buChar char="•"/>
              <a:defRPr sz="2400">
                <a:latin typeface="Arial" panose="020B0604020202020204" pitchFamily="34" charset="0"/>
                <a:cs typeface="Angsana New" panose="02020603050405020304" pitchFamily="18" charset="-34"/>
              </a:defRPr>
            </a:lvl3pPr>
            <a:lvl4pPr marL="1600200" indent="-228600">
              <a:spcBef>
                <a:spcPct val="20000"/>
              </a:spcBef>
              <a:buChar char="–"/>
              <a:defRPr sz="2000">
                <a:latin typeface="Arial" panose="020B0604020202020204" pitchFamily="34" charset="0"/>
                <a:cs typeface="Angsana New" panose="02020603050405020304" pitchFamily="18" charset="-34"/>
              </a:defRPr>
            </a:lvl4pPr>
            <a:lvl5pPr marL="2057400" indent="-228600">
              <a:spcBef>
                <a:spcPct val="20000"/>
              </a:spcBef>
              <a:buChar char="»"/>
              <a:defRPr sz="2000">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9pPr>
          </a:lstStyle>
          <a:p>
            <a:pPr marL="128588" indent="-128588" algn="thaiDist" defTabSz="685800">
              <a:lnSpc>
                <a:spcPct val="120000"/>
              </a:lnSpc>
              <a:spcAft>
                <a:spcPts val="0"/>
              </a:spcAft>
              <a:buClr>
                <a:srgbClr val="F4F4F4">
                  <a:lumMod val="25000"/>
                </a:srgbClr>
              </a:buClr>
            </a:pP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จำนวนนักท่องเที่ยวคาดลดลงเหลือ 30.4 ล้านราย (ลดลง 5%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จาก 33.0 ล้านคนในปี 2025 ผลกระทบของสงคราม</a:t>
            </a:r>
            <a:endPar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a:p>
            <a:pPr marL="128588" indent="-128588" algn="thaiDist" defTabSz="685800">
              <a:lnSpc>
                <a:spcPct val="120000"/>
              </a:lnSpc>
              <a:spcAft>
                <a:spcPts val="0"/>
              </a:spcAft>
              <a:buClr>
                <a:srgbClr val="F4F4F4">
                  <a:lumMod val="25000"/>
                </a:srgbClr>
              </a:buClr>
            </a:pP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ความเสี่ยงที่การปรับลดอัตราดอกเบี้ยจะล่าช้ามีแนวโน้มเพิ่มขึ้น จากผลกระทบของสงครามที่ทำให้ราคาพลังงานปรับสูงขึ้น และอาจหนุนเงินเฟ้อในระยะสั้น ส่งผลให้ธนาคารกลางสหรัฐฯ (</a:t>
            </a:r>
            <a:r>
              <a:rPr lang="en-US"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Fed) </a:t>
            </a: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อาจจำเป็นต้องคงดอกเบี้ยในระดับสูงเป็นเวลานานขึ้น (</a:t>
            </a:r>
            <a:r>
              <a:rPr lang="en-US"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higher for longer) </a:t>
            </a: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หรือในกรณีเลวร้ายอาจกลับมาใช้นโยบายเข้มงวดมากขึ้น (</a:t>
            </a:r>
            <a:r>
              <a:rPr lang="en-US"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higher policy rate) </a:t>
            </a:r>
            <a:endPar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a:p>
            <a:pPr marL="128588" indent="-128588" algn="thaiDist" defTabSz="685800">
              <a:lnSpc>
                <a:spcPct val="120000"/>
              </a:lnSpc>
              <a:spcAft>
                <a:spcPts val="0"/>
              </a:spcAft>
              <a:buClr>
                <a:srgbClr val="F4F4F4">
                  <a:lumMod val="25000"/>
                </a:srgbClr>
              </a:buClr>
            </a:pP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ความเสี่ยงความขัดแย้งระหว่างรัสเซีย–ยูเครน และอิสราเอล–อิหร่าน ที่หากยืดเยื้อ อาจเพิ่มความเสี่ยงเงินเฟ้อ เพิ่มความเสี่ยง </a:t>
            </a:r>
            <a:r>
              <a:rPr lang="en-US"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stagflation </a:t>
            </a: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a:t>
            </a:r>
          </a:p>
          <a:p>
            <a:pPr marL="128588" indent="-128588" algn="thaiDist" defTabSz="685800">
              <a:lnSpc>
                <a:spcPct val="120000"/>
              </a:lnSpc>
              <a:spcAft>
                <a:spcPts val="0"/>
              </a:spcAft>
              <a:buClr>
                <a:srgbClr val="F4F4F4">
                  <a:lumMod val="25000"/>
                </a:srgbClr>
              </a:buClr>
            </a:pP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ความเสี่ยงด้านเงินเฟ้อจากต้นทุน (</a:t>
            </a:r>
            <a:r>
              <a:rPr lang="en-US"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cost-push inflation) </a:t>
            </a: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มีแนวโน้มเร่งตัวขึ้น หลังราคาน้ำมันดีเซลปรับขึ้นเหนือ 40 บาท/ลิตร จาก 29.94 ก่อนหน้า ขณะที่ต้นทุนค่าครองชีพอื่นๆ โดยเฉพาะราคาอาหารเริ่มทยอยปรับสูงขึ้น ส่งผลให้แรงกดดันด้านค่าครองชีพเพิ่มขึ้น และอาจเป็นปัจจัยลบต่อกำลังซื้อภายในประเทศในระยะถัดไป</a:t>
            </a:r>
          </a:p>
          <a:p>
            <a:pPr marL="128588" indent="-128588" algn="thaiDist" defTabSz="685800">
              <a:lnSpc>
                <a:spcPct val="120000"/>
              </a:lnSpc>
              <a:spcAft>
                <a:spcPts val="0"/>
              </a:spcAft>
              <a:buClr>
                <a:srgbClr val="F4F4F4">
                  <a:lumMod val="25000"/>
                </a:srgbClr>
              </a:buClr>
            </a:pP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หนี้ครัวเรือนยังอยู่ในระดับสูง อาจกดดันการบริโภคในประเทศ และอาจลดทอนแรงหนุนจากมาตรการภาครัฐฯ</a:t>
            </a:r>
          </a:p>
          <a:p>
            <a:pPr marL="128588" indent="-128588" algn="thaiDist" defTabSz="685800">
              <a:lnSpc>
                <a:spcPct val="120000"/>
              </a:lnSpc>
              <a:spcAft>
                <a:spcPts val="0"/>
              </a:spcAft>
              <a:buClr>
                <a:srgbClr val="F4F4F4">
                  <a:lumMod val="25000"/>
                </a:srgbClr>
              </a:buClr>
            </a:pP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ความเสี่ยงการคลังเพิ่มขึ้น หลังรัฐบาลมีแผนกู้เงิน 5 แสนล้านบาท (พ.ร.ก.กู้เงิน) อาจดันหนี้สาธารณะใกล้แตะ 75% ต่อ </a:t>
            </a:r>
            <a:r>
              <a:rPr lang="en-US"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GDP</a:t>
            </a: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จากราว 64-66</a:t>
            </a:r>
            <a:r>
              <a:rPr lang="en-US"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t>
            </a:r>
            <a:r>
              <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ในปัจจุบัน เพิ่มความเสี่ยงทางการคลังและหนี้ครัวเรือนอย่างสูง หากกู้เพื่อแจกโดยไม่สร้างรายได้หรือขีดความสามารถในการแข่งขัน จะนำไปสู่ "วิกฤตการคลัง" เพราะเศรษฐกิจโตต่ำแต่หนี้สูงขึ้น ท่ามกลางภาวะเงินเฟ้อและความขัดแย้งในตะวันออกกลางที่ส่งผลต่อต้นทุนพลังงาน</a:t>
            </a:r>
          </a:p>
          <a:p>
            <a:pPr marL="128588" indent="-128588" algn="thaiDist" defTabSz="685800">
              <a:lnSpc>
                <a:spcPct val="120000"/>
              </a:lnSpc>
              <a:spcAft>
                <a:spcPts val="0"/>
              </a:spcAft>
              <a:buClr>
                <a:srgbClr val="F4F4F4">
                  <a:lumMod val="25000"/>
                </a:srgbClr>
              </a:buClr>
            </a:pPr>
            <a:endPar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a:p>
            <a:pPr marL="128588" indent="-128588" algn="thaiDist" defTabSz="685800">
              <a:lnSpc>
                <a:spcPct val="120000"/>
              </a:lnSpc>
              <a:spcAft>
                <a:spcPts val="0"/>
              </a:spcAft>
              <a:buClr>
                <a:srgbClr val="F4F4F4">
                  <a:lumMod val="25000"/>
                </a:srgbClr>
              </a:buClr>
            </a:pPr>
            <a:endPar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a:p>
            <a:pPr marL="128588" indent="-128588" algn="thaiDist" defTabSz="685800">
              <a:lnSpc>
                <a:spcPct val="120000"/>
              </a:lnSpc>
              <a:spcAft>
                <a:spcPts val="0"/>
              </a:spcAft>
              <a:buClr>
                <a:srgbClr val="F4F4F4">
                  <a:lumMod val="25000"/>
                </a:srgbClr>
              </a:buClr>
            </a:pPr>
            <a:endPar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a:p>
            <a:pPr marL="128588" indent="-128588" algn="thaiDist" defTabSz="685800">
              <a:lnSpc>
                <a:spcPct val="120000"/>
              </a:lnSpc>
              <a:spcAft>
                <a:spcPts val="0"/>
              </a:spcAft>
              <a:buClr>
                <a:srgbClr val="F4F4F4">
                  <a:lumMod val="25000"/>
                </a:srgbClr>
              </a:buClr>
            </a:pPr>
            <a:endPar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a:p>
            <a:pPr marL="128588" indent="-128588" algn="thaiDist" defTabSz="685800">
              <a:lnSpc>
                <a:spcPct val="120000"/>
              </a:lnSpc>
              <a:spcAft>
                <a:spcPts val="0"/>
              </a:spcAft>
              <a:buClr>
                <a:srgbClr val="F4F4F4">
                  <a:lumMod val="25000"/>
                </a:srgbClr>
              </a:buClr>
            </a:pPr>
            <a:endParaRPr lang="th-TH" altLang="en-US" sz="115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p:txBody>
      </p:sp>
      <p:sp>
        <p:nvSpPr>
          <p:cNvPr id="21" name="Rectangle 20">
            <a:extLst>
              <a:ext uri="{FF2B5EF4-FFF2-40B4-BE49-F238E27FC236}">
                <a16:creationId xmlns:a16="http://schemas.microsoft.com/office/drawing/2014/main" id="{0EC2F39C-B24A-444E-8BD8-650D7E0EE19F}"/>
              </a:ext>
            </a:extLst>
          </p:cNvPr>
          <p:cNvSpPr>
            <a:spLocks noChangeArrowheads="1"/>
          </p:cNvSpPr>
          <p:nvPr/>
        </p:nvSpPr>
        <p:spPr bwMode="auto">
          <a:xfrm>
            <a:off x="842866" y="1943032"/>
            <a:ext cx="4887074" cy="4535016"/>
          </a:xfrm>
          <a:prstGeom prst="rect">
            <a:avLst/>
          </a:prstGeom>
          <a:solidFill>
            <a:srgbClr val="D2F7E0"/>
          </a:solidFill>
          <a:ln>
            <a:noFill/>
          </a:ln>
        </p:spPr>
        <p:txBody>
          <a:bodyPr wrap="none" anchor="ctr"/>
          <a:lstStyle/>
          <a:p>
            <a:pPr>
              <a:spcBef>
                <a:spcPct val="0"/>
              </a:spcBef>
            </a:pPr>
            <a:endParaRPr lang="th-TH" altLang="en-US" sz="1200">
              <a:latin typeface="Tahoma" panose="020B0604030504040204" pitchFamily="34" charset="0"/>
              <a:ea typeface="Tahoma" panose="020B0604030504040204" pitchFamily="34" charset="0"/>
              <a:cs typeface="+mn-cs"/>
            </a:endParaRPr>
          </a:p>
        </p:txBody>
      </p:sp>
      <p:sp>
        <p:nvSpPr>
          <p:cNvPr id="23" name="TextBox 8">
            <a:extLst>
              <a:ext uri="{FF2B5EF4-FFF2-40B4-BE49-F238E27FC236}">
                <a16:creationId xmlns:a16="http://schemas.microsoft.com/office/drawing/2014/main" id="{C1D3365F-8EA8-4221-922C-55F04603FF3E}"/>
              </a:ext>
            </a:extLst>
          </p:cNvPr>
          <p:cNvSpPr txBox="1">
            <a:spLocks noChangeArrowheads="1"/>
          </p:cNvSpPr>
          <p:nvPr/>
        </p:nvSpPr>
        <p:spPr bwMode="auto">
          <a:xfrm>
            <a:off x="842865" y="1568670"/>
            <a:ext cx="4888063" cy="402585"/>
          </a:xfrm>
          <a:prstGeom prst="rect">
            <a:avLst/>
          </a:prstGeom>
          <a:solidFill>
            <a:srgbClr val="D2F7E0"/>
          </a:solidFill>
          <a:ln>
            <a:noFill/>
          </a:ln>
        </p:spPr>
        <p:txBody>
          <a:bodyPr/>
          <a:lstStyle>
            <a:defPPr>
              <a:defRPr lang="en-US"/>
            </a:defPPr>
            <a:lvl1pPr marL="185738" indent="-185738" algn="ctr">
              <a:lnSpc>
                <a:spcPct val="130000"/>
              </a:lnSpc>
              <a:spcBef>
                <a:spcPts val="500"/>
              </a:spcBef>
              <a:spcAft>
                <a:spcPts val="500"/>
              </a:spcAft>
              <a:buFontTx/>
              <a:buNone/>
              <a:defRPr b="1" u="sng">
                <a:solidFill>
                  <a:srgbClr val="002060"/>
                </a:solidFill>
                <a:latin typeface="Tahoma" panose="020B0604030504040204" pitchFamily="34" charset="0"/>
                <a:cs typeface="Tahoma" panose="020B0604030504040204" pitchFamily="34" charset="0"/>
              </a:defRPr>
            </a:lvl1pPr>
            <a:lvl2pPr marL="742950" indent="-285750">
              <a:spcBef>
                <a:spcPct val="20000"/>
              </a:spcBef>
              <a:buChar char="–"/>
              <a:defRPr sz="2800">
                <a:latin typeface="Arial" panose="020B0604020202020204" pitchFamily="34" charset="0"/>
                <a:cs typeface="Angsana New" panose="02020603050405020304" pitchFamily="18" charset="-34"/>
              </a:defRPr>
            </a:lvl2pPr>
            <a:lvl3pPr marL="1143000" indent="-228600">
              <a:spcBef>
                <a:spcPct val="20000"/>
              </a:spcBef>
              <a:buChar char="•"/>
              <a:defRPr sz="2400">
                <a:latin typeface="Arial" panose="020B0604020202020204" pitchFamily="34" charset="0"/>
                <a:cs typeface="Angsana New" panose="02020603050405020304" pitchFamily="18" charset="-34"/>
              </a:defRPr>
            </a:lvl3pPr>
            <a:lvl4pPr marL="1600200" indent="-228600">
              <a:spcBef>
                <a:spcPct val="20000"/>
              </a:spcBef>
              <a:buChar char="–"/>
              <a:defRPr sz="2000">
                <a:latin typeface="Arial" panose="020B0604020202020204" pitchFamily="34" charset="0"/>
                <a:cs typeface="Angsana New" panose="02020603050405020304" pitchFamily="18" charset="-34"/>
              </a:defRPr>
            </a:lvl4pPr>
            <a:lvl5pPr marL="2057400" indent="-228600">
              <a:spcBef>
                <a:spcPct val="20000"/>
              </a:spcBef>
              <a:buChar char="»"/>
              <a:defRPr sz="2000">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9pPr>
          </a:lstStyle>
          <a:p>
            <a:r>
              <a:rPr lang="th-TH" altLang="en-US" sz="1600" dirty="0">
                <a:solidFill>
                  <a:schemeClr val="tx1"/>
                </a:solidFill>
                <a:latin typeface="Noto Sans Thai" panose="020B0502040504020204" pitchFamily="34" charset="-34"/>
                <a:ea typeface="Tahoma" panose="020B0604030504040204" pitchFamily="34" charset="0"/>
                <a:cs typeface="Noto Sans Thai" panose="020B0502040504020204"/>
              </a:rPr>
              <a:t>ปัจจัยบวก</a:t>
            </a:r>
          </a:p>
        </p:txBody>
      </p:sp>
      <p:sp>
        <p:nvSpPr>
          <p:cNvPr id="24" name="TextBox 8">
            <a:extLst>
              <a:ext uri="{FF2B5EF4-FFF2-40B4-BE49-F238E27FC236}">
                <a16:creationId xmlns:a16="http://schemas.microsoft.com/office/drawing/2014/main" id="{883D6EF9-FC0F-46C6-B844-261A18FB8861}"/>
              </a:ext>
            </a:extLst>
          </p:cNvPr>
          <p:cNvSpPr txBox="1">
            <a:spLocks noChangeArrowheads="1"/>
          </p:cNvSpPr>
          <p:nvPr/>
        </p:nvSpPr>
        <p:spPr bwMode="auto">
          <a:xfrm>
            <a:off x="6383708" y="1552845"/>
            <a:ext cx="5026762" cy="402585"/>
          </a:xfrm>
          <a:prstGeom prst="rect">
            <a:avLst/>
          </a:prstGeom>
          <a:solidFill>
            <a:srgbClr val="F3DAE1"/>
          </a:solidFill>
          <a:ln>
            <a:noFill/>
          </a:ln>
        </p:spPr>
        <p:txBody>
          <a:bodyPr/>
          <a:lstStyle>
            <a:defPPr>
              <a:defRPr lang="en-US"/>
            </a:defPPr>
            <a:lvl1pPr marL="185738" indent="-185738" algn="ctr">
              <a:lnSpc>
                <a:spcPct val="130000"/>
              </a:lnSpc>
              <a:spcBef>
                <a:spcPts val="500"/>
              </a:spcBef>
              <a:spcAft>
                <a:spcPts val="500"/>
              </a:spcAft>
              <a:buFontTx/>
              <a:buNone/>
              <a:defRPr b="1" u="sng">
                <a:solidFill>
                  <a:srgbClr val="002060"/>
                </a:solidFill>
                <a:latin typeface="Tahoma" panose="020B0604030504040204" pitchFamily="34" charset="0"/>
                <a:cs typeface="Tahoma" panose="020B0604030504040204" pitchFamily="34" charset="0"/>
              </a:defRPr>
            </a:lvl1pPr>
            <a:lvl2pPr marL="742950" indent="-285750">
              <a:spcBef>
                <a:spcPct val="20000"/>
              </a:spcBef>
              <a:buChar char="–"/>
              <a:defRPr sz="2800">
                <a:latin typeface="Arial" panose="020B0604020202020204" pitchFamily="34" charset="0"/>
                <a:cs typeface="Angsana New" panose="02020603050405020304" pitchFamily="18" charset="-34"/>
              </a:defRPr>
            </a:lvl2pPr>
            <a:lvl3pPr marL="1143000" indent="-228600">
              <a:spcBef>
                <a:spcPct val="20000"/>
              </a:spcBef>
              <a:buChar char="•"/>
              <a:defRPr sz="2400">
                <a:latin typeface="Arial" panose="020B0604020202020204" pitchFamily="34" charset="0"/>
                <a:cs typeface="Angsana New" panose="02020603050405020304" pitchFamily="18" charset="-34"/>
              </a:defRPr>
            </a:lvl3pPr>
            <a:lvl4pPr marL="1600200" indent="-228600">
              <a:spcBef>
                <a:spcPct val="20000"/>
              </a:spcBef>
              <a:buChar char="–"/>
              <a:defRPr sz="2000">
                <a:latin typeface="Arial" panose="020B0604020202020204" pitchFamily="34" charset="0"/>
                <a:cs typeface="Angsana New" panose="02020603050405020304" pitchFamily="18" charset="-34"/>
              </a:defRPr>
            </a:lvl4pPr>
            <a:lvl5pPr marL="2057400" indent="-228600">
              <a:spcBef>
                <a:spcPct val="20000"/>
              </a:spcBef>
              <a:buChar char="»"/>
              <a:defRPr sz="2000">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9pPr>
          </a:lstStyle>
          <a:p>
            <a:r>
              <a:rPr lang="th-TH" altLang="en-US" sz="1600" dirty="0">
                <a:solidFill>
                  <a:schemeClr val="tx1"/>
                </a:solidFill>
                <a:latin typeface="Noto Sans Thai" panose="020B0502040504020204" pitchFamily="34" charset="-34"/>
                <a:ea typeface="Tahoma" panose="020B0604030504040204" pitchFamily="34" charset="0"/>
                <a:cs typeface="Noto Sans Thai" panose="020B0502040504020204"/>
              </a:rPr>
              <a:t>ปัจจัยลบ</a:t>
            </a:r>
          </a:p>
        </p:txBody>
      </p:sp>
      <p:sp>
        <p:nvSpPr>
          <p:cNvPr id="25" name="Cross 24">
            <a:extLst>
              <a:ext uri="{FF2B5EF4-FFF2-40B4-BE49-F238E27FC236}">
                <a16:creationId xmlns:a16="http://schemas.microsoft.com/office/drawing/2014/main" id="{F2A79A07-40A6-4332-9C90-897C5483FC92}"/>
              </a:ext>
            </a:extLst>
          </p:cNvPr>
          <p:cNvSpPr/>
          <p:nvPr/>
        </p:nvSpPr>
        <p:spPr>
          <a:xfrm>
            <a:off x="581921" y="1334447"/>
            <a:ext cx="655980" cy="682730"/>
          </a:xfrm>
          <a:prstGeom prst="plus">
            <a:avLst>
              <a:gd name="adj" fmla="val 32810"/>
            </a:avLst>
          </a:prstGeom>
          <a:solidFill>
            <a:srgbClr val="56C27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A7C6B086-DA69-434B-BFD6-3E48375114D2}"/>
              </a:ext>
            </a:extLst>
          </p:cNvPr>
          <p:cNvSpPr/>
          <p:nvPr/>
        </p:nvSpPr>
        <p:spPr>
          <a:xfrm>
            <a:off x="11099210" y="1652827"/>
            <a:ext cx="622517" cy="218036"/>
          </a:xfrm>
          <a:prstGeom prst="rect">
            <a:avLst/>
          </a:prstGeom>
          <a:solidFill>
            <a:srgbClr val="E6437B"/>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 name="TextBox 8">
            <a:extLst>
              <a:ext uri="{FF2B5EF4-FFF2-40B4-BE49-F238E27FC236}">
                <a16:creationId xmlns:a16="http://schemas.microsoft.com/office/drawing/2014/main" id="{F4ACF8E0-D9AF-E6DA-356C-14C8786F2B9A}"/>
              </a:ext>
            </a:extLst>
          </p:cNvPr>
          <p:cNvSpPr txBox="1">
            <a:spLocks noChangeArrowheads="1"/>
          </p:cNvSpPr>
          <p:nvPr/>
        </p:nvSpPr>
        <p:spPr bwMode="auto">
          <a:xfrm>
            <a:off x="910900" y="1901657"/>
            <a:ext cx="4814782" cy="4347344"/>
          </a:xfrm>
          <a:prstGeom prst="rect">
            <a:avLst/>
          </a:prstGeom>
          <a:noFill/>
          <a:ln>
            <a:noFill/>
          </a:ln>
        </p:spPr>
        <p:txBody>
          <a:bodyPr wrap="square">
            <a:spAutoFit/>
          </a:bodyPr>
          <a:lstStyle>
            <a:defPPr>
              <a:defRPr lang="en-US"/>
            </a:defPPr>
            <a:lvl1pPr marL="171450" indent="-171450">
              <a:lnSpc>
                <a:spcPct val="150000"/>
              </a:lnSpc>
              <a:spcBef>
                <a:spcPts val="300"/>
              </a:spcBef>
              <a:spcAft>
                <a:spcPts val="300"/>
              </a:spcAft>
              <a:buClr>
                <a:srgbClr val="002060"/>
              </a:buClr>
              <a:buChar char="•"/>
              <a:defRPr sz="900">
                <a:solidFill>
                  <a:srgbClr val="002060"/>
                </a:solidFill>
                <a:latin typeface="Tahoma" panose="020B0604030504040204" pitchFamily="34" charset="0"/>
                <a:cs typeface="Tahoma" panose="020B0604030504040204" pitchFamily="34" charset="0"/>
              </a:defRPr>
            </a:lvl1pPr>
            <a:lvl2pPr marL="742950" indent="-285750">
              <a:spcBef>
                <a:spcPct val="20000"/>
              </a:spcBef>
              <a:buChar char="–"/>
              <a:defRPr sz="2800">
                <a:latin typeface="Arial" panose="020B0604020202020204" pitchFamily="34" charset="0"/>
                <a:cs typeface="Angsana New" panose="02020603050405020304" pitchFamily="18" charset="-34"/>
              </a:defRPr>
            </a:lvl2pPr>
            <a:lvl3pPr marL="1143000" indent="-228600">
              <a:spcBef>
                <a:spcPct val="20000"/>
              </a:spcBef>
              <a:buChar char="•"/>
              <a:defRPr sz="2400">
                <a:latin typeface="Arial" panose="020B0604020202020204" pitchFamily="34" charset="0"/>
                <a:cs typeface="Angsana New" panose="02020603050405020304" pitchFamily="18" charset="-34"/>
              </a:defRPr>
            </a:lvl3pPr>
            <a:lvl4pPr marL="1600200" indent="-228600">
              <a:spcBef>
                <a:spcPct val="20000"/>
              </a:spcBef>
              <a:buChar char="–"/>
              <a:defRPr sz="2000">
                <a:latin typeface="Arial" panose="020B0604020202020204" pitchFamily="34" charset="0"/>
                <a:cs typeface="Angsana New" panose="02020603050405020304" pitchFamily="18" charset="-34"/>
              </a:defRPr>
            </a:lvl4pPr>
            <a:lvl5pPr marL="2057400" indent="-228600">
              <a:spcBef>
                <a:spcPct val="20000"/>
              </a:spcBef>
              <a:buChar char="»"/>
              <a:defRPr sz="2000">
                <a:latin typeface="Arial" panose="020B0604020202020204" pitchFamily="34" charset="0"/>
                <a:cs typeface="Angsana New" panose="02020603050405020304" pitchFamily="18" charset="-34"/>
              </a:defRPr>
            </a:lvl5pPr>
            <a:lvl6pPr marL="25146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6pPr>
            <a:lvl7pPr marL="29718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7pPr>
            <a:lvl8pPr marL="34290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8pPr>
            <a:lvl9pPr marL="3886200" indent="-228600" eaLnBrk="0" fontAlgn="base" hangingPunct="0">
              <a:spcBef>
                <a:spcPct val="20000"/>
              </a:spcBef>
              <a:spcAft>
                <a:spcPct val="0"/>
              </a:spcAft>
              <a:buChar char="»"/>
              <a:defRPr sz="2000">
                <a:latin typeface="Arial" panose="020B0604020202020204" pitchFamily="34" charset="0"/>
                <a:cs typeface="Angsana New" panose="02020603050405020304" pitchFamily="18" charset="-34"/>
              </a:defRPr>
            </a:lvl9pPr>
          </a:lstStyle>
          <a:p>
            <a:pPr marL="128588" indent="-128588" algn="thaiDist" defTabSz="685800">
              <a:lnSpc>
                <a:spcPct val="120000"/>
              </a:lnSpc>
              <a:spcAft>
                <a:spcPts val="0"/>
              </a:spcAft>
              <a:buClr>
                <a:srgbClr val="F4F4F4">
                  <a:lumMod val="25000"/>
                </a:srgbClr>
              </a:buClr>
            </a:pP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การเร่งตัวของการลงทุนโดยตรงจากต่างประเทศ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FDI)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สะท้อนผ่านยอดคำขอส่งเสริมการลงทุนของ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BOI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ในไตรมาส 1</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Q26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ที่ทะลุ 1 ล้านล้านบาท เพิ่มขึ้น 2.4 เท่า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โดยกระจุกตัวในอุตสาหกรรมดิจิทัล/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data center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อิเล็กทรอนิกส์ ซึ่งเป็น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new S-curve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ของเศรษฐกิจไทย คาดจะแปลงเม็ดเงินลงทุน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approved investment)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ไปสู่การลงทุนจริง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real capex deployment)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ในช่วง 1–2 ปีข้างหน้า ส่งผลให้ความต้องการใช้ไฟฟ้า พื้นที่นิคม และสาธารณูปโภคเพิ่มขึ้นอย่างมีนัยสำคัญ </a:t>
            </a:r>
          </a:p>
          <a:p>
            <a:pPr marL="128588" indent="-128588" algn="thaiDist" defTabSz="685800">
              <a:lnSpc>
                <a:spcPct val="120000"/>
              </a:lnSpc>
              <a:spcAft>
                <a:spcPts val="0"/>
              </a:spcAft>
              <a:buClr>
                <a:srgbClr val="F4F4F4">
                  <a:lumMod val="25000"/>
                </a:srgbClr>
              </a:buClr>
            </a:pP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รัฐบาลเคาะวาระแห่งชาติด้านพลังงาน หนุนประชาชนติดตั้ง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Solar Rooftop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เต็มสูบ สั่ง กพช.รับซื้อไฟส่วนเกินเข้าสู่ระบบในอัตรา 2.20 บาท/หน่วย นำร่อง 500 เมกะวัตต์ พร้อมสั่ง 3 การไฟฟ้าฯ ปฏิรูปขั้นตอนขออนุญาตผ่าน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One Stop Service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ติดตั้งจบภายใน 7-30 วัน</a:t>
            </a:r>
          </a:p>
          <a:p>
            <a:pPr marL="128588" indent="-128588" algn="thaiDist" defTabSz="685800">
              <a:lnSpc>
                <a:spcPct val="120000"/>
              </a:lnSpc>
              <a:spcAft>
                <a:spcPts val="0"/>
              </a:spcAft>
              <a:buClr>
                <a:srgbClr val="F4F4F4">
                  <a:lumMod val="25000"/>
                </a:srgbClr>
              </a:buClr>
            </a:pP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ตัวเลขการส่งออกสินค้าอิเล็กทรอนิกส์ของไทยเติบโตสูงถึง +43.8%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เดือนมี.ค. สะท้อนอุปสงค์จาก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AI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และ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data center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ในตลาดโลก นำโดยเครื่องคอมพิวเตอร์และอุปกรณ์ (ขยายตัว 29.3%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หรือขยายตัว 37.4%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MoM)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ส่วนประกอบคอมพิวเตอร์ (ขยายตัว 189.7%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หรือขยายตัว 44.4%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MoM)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เครื่องโทรศัพท์และอุปกรณ์ (ขยายตัว 179.7%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หรือขยายตัว 30.2%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MoM)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รวมถึงเซมิคอนดักเตอร์ (ขยายตัว 14%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YoY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หรือขยายตัว 18.1%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MoM)</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หนุนการส่งออกไทย</a:t>
            </a:r>
            <a:endPar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a:p>
            <a:pPr marL="128588" indent="-128588" algn="thaiDist" defTabSz="685800">
              <a:lnSpc>
                <a:spcPct val="120000"/>
              </a:lnSpc>
              <a:spcAft>
                <a:spcPts val="0"/>
              </a:spcAft>
              <a:buClr>
                <a:srgbClr val="F4F4F4">
                  <a:lumMod val="25000"/>
                </a:srgbClr>
              </a:buClr>
            </a:pP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ความตึงเครียดด้านภูมิรัฐศาสตร์ส่งผลให้กำลังการผลิตปิโตรเคมีทั่วโลกราว 20% ได้รับผลกระทบจากการหยุดซ่อมฉุกเฉิน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force majeure)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และข้อจำกัดด้านวัตถุดิบ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feedstock shortage)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ทำให้ฝั่งอุปทานต้องใช้เวลาในฟื้นฟู ส่งผลให้ส่วนต่างราคาปิโตรเคมี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chemical spreads)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ยังคงยืนในระดับสูงต่อเนื่องในปี 2026 </a:t>
            </a:r>
          </a:p>
          <a:p>
            <a:pPr marL="128588" indent="-128588" algn="thaiDist" defTabSz="685800">
              <a:lnSpc>
                <a:spcPct val="120000"/>
              </a:lnSpc>
              <a:spcAft>
                <a:spcPts val="0"/>
              </a:spcAft>
              <a:buClr>
                <a:srgbClr val="F4F4F4">
                  <a:lumMod val="25000"/>
                </a:srgbClr>
              </a:buClr>
            </a:pP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มาตรการ “ไทยช่วยไทยพลัส” จะช่วยจำกัด </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downside </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โดยเปิดลงทะเบียน พ.ค. 2026 และเริ่มใช้ มิ.ย. 2026 รัฐสนับสนุน 60% วงเงิน 4,000 บาท/คน (เดือนละ 1,000 บาท นาน 4 เดือน) มาตรการนี้จะช่วยเพิ่มสภาพคล่องฐานราก กระตุ้นกำลังซื้อระยะสั้น และลดแรงกดดันภาระหนี้</a:t>
            </a:r>
          </a:p>
          <a:p>
            <a:pPr marL="128588" indent="-128588" algn="thaiDist" defTabSz="685800">
              <a:lnSpc>
                <a:spcPct val="120000"/>
              </a:lnSpc>
              <a:spcAft>
                <a:spcPts val="0"/>
              </a:spcAft>
              <a:buClr>
                <a:srgbClr val="F4F4F4">
                  <a:lumMod val="25000"/>
                </a:srgbClr>
              </a:buClr>
            </a:pP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อัตราดอกเบี้ยนโยบายยังอยู่ในระดับต่ำต่อเนื่อง ประเมินดอกเบี้ยธปท. คงอยู่ที่ 1</a:t>
            </a:r>
            <a:r>
              <a:rPr lang="en-US"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a:t>
            </a:r>
            <a:r>
              <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 ในปี</a:t>
            </a:r>
            <a:r>
              <a:rPr lang="th-TH" altLang="en-US" sz="1100">
                <a:solidFill>
                  <a:srgbClr val="F4F4F4">
                    <a:lumMod val="25000"/>
                  </a:srgbClr>
                </a:solidFill>
                <a:latin typeface="Noto Sans Thai" panose="020B0502040504020204" pitchFamily="34" charset="-34"/>
                <a:ea typeface="Tahoma" panose="020B0604030504040204" pitchFamily="34" charset="0"/>
                <a:cs typeface="Noto Sans Thai" panose="020B0502040504020204"/>
              </a:rPr>
              <a:t>นี้ ช่วยพยุงเศรษฐกิจ</a:t>
            </a:r>
            <a:endParaRPr lang="th-TH" altLang="en-US" sz="1100" dirty="0">
              <a:solidFill>
                <a:srgbClr val="F4F4F4">
                  <a:lumMod val="25000"/>
                </a:srgbClr>
              </a:solidFill>
              <a:latin typeface="Noto Sans Thai" panose="020B0502040504020204" pitchFamily="34" charset="-34"/>
              <a:ea typeface="Tahoma" panose="020B0604030504040204" pitchFamily="34" charset="0"/>
              <a:cs typeface="Noto Sans Thai" panose="020B0502040504020204"/>
            </a:endParaRPr>
          </a:p>
        </p:txBody>
      </p:sp>
    </p:spTree>
    <p:extLst>
      <p:ext uri="{BB962C8B-B14F-4D97-AF65-F5344CB8AC3E}">
        <p14:creationId xmlns:p14="http://schemas.microsoft.com/office/powerpoint/2010/main" val="991800587"/>
      </p:ext>
    </p:extLst>
  </p:cSld>
  <p:clrMapOvr>
    <a:masterClrMapping/>
  </p:clrMapOvr>
</p:sld>
</file>

<file path=ppt/theme/theme1.xml><?xml version="1.0" encoding="utf-8"?>
<a:theme xmlns:a="http://schemas.openxmlformats.org/drawingml/2006/main" name="UOB Slide Master">
  <a:themeElements>
    <a:clrScheme name="Custom 5">
      <a:dk1>
        <a:srgbClr val="005EB8"/>
      </a:dk1>
      <a:lt1>
        <a:srgbClr val="FFFFFF"/>
      </a:lt1>
      <a:dk2>
        <a:srgbClr val="015DB7"/>
      </a:dk2>
      <a:lt2>
        <a:srgbClr val="F4F4F4"/>
      </a:lt2>
      <a:accent1>
        <a:srgbClr val="005DB7"/>
      </a:accent1>
      <a:accent2>
        <a:srgbClr val="E4407A"/>
      </a:accent2>
      <a:accent3>
        <a:srgbClr val="333333"/>
      </a:accent3>
      <a:accent4>
        <a:srgbClr val="67CF9C"/>
      </a:accent4>
      <a:accent5>
        <a:srgbClr val="5C4AE7"/>
      </a:accent5>
      <a:accent6>
        <a:srgbClr val="FEA057"/>
      </a:accent6>
      <a:hlink>
        <a:srgbClr val="015DB7"/>
      </a:hlink>
      <a:folHlink>
        <a:srgbClr val="E4407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OB Slide Master" id="{2C44A55F-D873-2A4E-8689-BEB342F34DDC}" vid="{5E38E18D-F00D-D749-9EB8-F9848A74B1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65516E44F5A94DAD46AD71F5A9BB98" ma:contentTypeVersion="12" ma:contentTypeDescription="Create a new document." ma:contentTypeScope="" ma:versionID="38bc55cfac0c5eef556855b7a03b46d9">
  <xsd:schema xmlns:xsd="http://www.w3.org/2001/XMLSchema" xmlns:xs="http://www.w3.org/2001/XMLSchema" xmlns:p="http://schemas.microsoft.com/office/2006/metadata/properties" xmlns:ns2="e97e43a6-9750-42f9-a69d-5c0e2bae3286" xmlns:ns3="66144113-a1ad-410f-85e9-255786b9de6c" targetNamespace="http://schemas.microsoft.com/office/2006/metadata/properties" ma:root="true" ma:fieldsID="0bfcf86f4234958da937a1c91be49332" ns2:_="" ns3:_="">
    <xsd:import namespace="e97e43a6-9750-42f9-a69d-5c0e2bae3286"/>
    <xsd:import namespace="66144113-a1ad-410f-85e9-255786b9de6c"/>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7e43a6-9750-42f9-a69d-5c0e2bae32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363a20ff-4278-4508-93e3-3b98580be657"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6144113-a1ad-410f-85e9-255786b9de6c"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20e79b1b-c7e9-4f6b-abda-53650ab2aac2}" ma:internalName="TaxCatchAll" ma:showField="CatchAllData" ma:web="66144113-a1ad-410f-85e9-255786b9de6c">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97e43a6-9750-42f9-a69d-5c0e2bae3286">
      <Terms xmlns="http://schemas.microsoft.com/office/infopath/2007/PartnerControls"/>
    </lcf76f155ced4ddcb4097134ff3c332f>
    <TaxCatchAll xmlns="66144113-a1ad-410f-85e9-255786b9de6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BF66B9-7871-4893-ACE9-2ED01ADDE7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7e43a6-9750-42f9-a69d-5c0e2bae3286"/>
    <ds:schemaRef ds:uri="66144113-a1ad-410f-85e9-255786b9de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1EBD8C-D772-4774-A4CD-A846EC102CB2}">
  <ds:schemaRefs>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66144113-a1ad-410f-85e9-255786b9de6c"/>
    <ds:schemaRef ds:uri="e97e43a6-9750-42f9-a69d-5c0e2bae3286"/>
    <ds:schemaRef ds:uri="http://purl.org/dc/elements/1.1/"/>
    <ds:schemaRef ds:uri="http://www.w3.org/XML/1998/namespace"/>
    <ds:schemaRef ds:uri="http://purl.org/dc/terms/"/>
  </ds:schemaRefs>
</ds:datastoreItem>
</file>

<file path=customXml/itemProps3.xml><?xml version="1.0" encoding="utf-8"?>
<ds:datastoreItem xmlns:ds="http://schemas.openxmlformats.org/officeDocument/2006/customXml" ds:itemID="{C4FA124A-EAEF-4E75-B73D-561DDE550F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UOB Slide Master</Template>
  <TotalTime>33800</TotalTime>
  <Words>5475</Words>
  <Application>Microsoft Office PowerPoint</Application>
  <PresentationFormat>Widescreen</PresentationFormat>
  <Paragraphs>161</Paragraphs>
  <Slides>11</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Links</vt:lpstr>
      </vt:variant>
      <vt:variant>
        <vt:i4>7</vt:i4>
      </vt:variant>
      <vt:variant>
        <vt:lpstr>Slide Titles</vt:lpstr>
      </vt:variant>
      <vt:variant>
        <vt:i4>11</vt:i4>
      </vt:variant>
    </vt:vector>
  </HeadingPairs>
  <TitlesOfParts>
    <vt:vector size="24" baseType="lpstr">
      <vt:lpstr>Arial</vt:lpstr>
      <vt:lpstr>BLS Text</vt:lpstr>
      <vt:lpstr>Calibri</vt:lpstr>
      <vt:lpstr>Noto Sans Thai</vt:lpstr>
      <vt:lpstr>Tahoma</vt:lpstr>
      <vt:lpstr>UOB Slide Master</vt:lpstr>
      <vt:lpstr>file:///\\Dfsho01\re_share\ECON\Morgan%20Stanley%20Forecast.xlsx!Thai!R102C41:R117C49</vt:lpstr>
      <vt:lpstr>file:///\\Dfsho01\re_share\ECON\Morgan%20Stanley%20Forecast.xlsx!Global%20GDP%20Forecast!%5bMorgan%20Stanley%20Forecast.xlsx%5dGlobal%20GDP%20Forecast%20Chart%20498</vt:lpstr>
      <vt:lpstr>file:///\\Dfsho01\re_share\Wealth\Econ_Data\Request.xlsx!UOB_L!R9C29:R30C34</vt:lpstr>
      <vt:lpstr>file:///\\Dfsho01\re_share\ECON\Morgan%20Stanley%20Forecast.xlsx!Global%20GDP%20Forecast!%5bMorgan%20Stanley%20Forecast.xlsx%5dGlobal%20GDP%20Forecast%20Chart%20498-1</vt:lpstr>
      <vt:lpstr>file:///\\Dfsho01\re_share\Wealth\Econ_Data\Request.xlsx!UOB_L!R35C29:R43C34</vt:lpstr>
      <vt:lpstr>file:///\\Dfsho01\re_share\ECON\Morgan%20Stanley%20Forecast.xlsx!Global%20GDP%20Forecast!%5bMorgan%20Stanley%20Forecast.xlsx%5dGlobal%20GDP%20Forecast%20Chart%20316</vt:lpstr>
      <vt:lpstr>file:///\\Dfsho01\re_share\Wealth\Econ_Data\Request.xlsx!UOB_L!R49C29:R60C34</vt:lpstr>
      <vt:lpstr>สรุปภาวะเศรษฐกิจและมุมมองการลงทุน</vt:lpstr>
      <vt:lpstr>ประมาณการอัตราการเติบโตทางเศรษฐกิจ</vt:lpstr>
      <vt:lpstr>PowerPoint Presentation</vt:lpstr>
      <vt:lpstr>ยูโรโซน: เศรษฐกิจไตรมาส 1 ปี 2026 ขยายตัวต่ำกว่าคาด ความขัดแย้งภูมิรัฐศาสตร์จะจำกัดการฟื้นตัวในไตรมาส 2</vt:lpstr>
      <vt:lpstr>จีน: เศรษฐกิจไตรมาส 1 ปี 2026 ฟื้นตัวตามคาด อาจเห็นการขยายตัวในอัตราที่ชะลอตัวในไตรมาส 2</vt:lpstr>
      <vt:lpstr>ไทย: GDP ไตรมาส 2 เปราะบางชัดขึ้นจากต้นทุนพลังงานและปัญหาเชิงโครงสร้างสะสม</vt:lpstr>
      <vt:lpstr>สรุปตราสารทุนปี 2026 Sector performance (2026, April 2026)</vt:lpstr>
      <vt:lpstr>กลยุทธ์การลงทุนตราสารทุนไทย – ความเสี่ยงสงครามยังคงสร้างความผันผวนระยะสั้น</vt:lpstr>
      <vt:lpstr>กลยุทธ์การลงทุนตราสารทุนไทย </vt:lpstr>
      <vt:lpstr>ประมาณการกำไรโตปี 2026 (consensus) </vt:lpstr>
      <vt:lpstr>กลยุทธ์การบริหารพอร์ต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Sarah Teh</dc:creator>
  <cp:lastModifiedBy>Sunithi Sup-Adulchai</cp:lastModifiedBy>
  <cp:revision>1200</cp:revision>
  <cp:lastPrinted>2023-08-07T03:05:28Z</cp:lastPrinted>
  <dcterms:created xsi:type="dcterms:W3CDTF">2022-06-30T06:16:47Z</dcterms:created>
  <dcterms:modified xsi:type="dcterms:W3CDTF">2026-05-05T03:00:25Z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0x0101001265516E44F5A94DAD46AD71F5A9BB98</vt:lpwstr>
  </property>
</Properties>
</file>