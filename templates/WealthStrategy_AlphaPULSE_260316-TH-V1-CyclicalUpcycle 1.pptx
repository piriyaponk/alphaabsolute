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410" r:id="rId2"/>
    <p:sldId id="549" r:id="rId3"/>
    <p:sldId id="546" r:id="rId4"/>
    <p:sldId id="550" r:id="rId5"/>
    <p:sldId id="557" r:id="rId6"/>
    <p:sldId id="559" r:id="rId7"/>
    <p:sldId id="551" r:id="rId8"/>
    <p:sldId id="554" r:id="rId9"/>
    <p:sldId id="555" r:id="rId10"/>
    <p:sldId id="558" r:id="rId11"/>
    <p:sldId id="553" r:id="rId12"/>
    <p:sldId id="556" r:id="rId13"/>
    <p:sldId id="353" r:id="rId14"/>
    <p:sldId id="354" r:id="rId15"/>
  </p:sldIdLst>
  <p:sldSz cx="6858000" cy="9144000" type="screen4x3"/>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20" userDrawn="1">
          <p15:clr>
            <a:srgbClr val="A4A3A4"/>
          </p15:clr>
        </p15:guide>
        <p15:guide id="2" pos="2160">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A17D3D"/>
    <a:srgbClr val="F2F2F2"/>
    <a:srgbClr val="AC1D3F"/>
    <a:srgbClr val="1C3765"/>
    <a:srgbClr val="A6A6A6"/>
    <a:srgbClr val="215968"/>
    <a:srgbClr val="162A4C"/>
    <a:srgbClr val="2D7A8F"/>
    <a:srgbClr val="358D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14" autoAdjust="0"/>
    <p:restoredTop sz="96349" autoAdjust="0"/>
  </p:normalViewPr>
  <p:slideViewPr>
    <p:cSldViewPr>
      <p:cViewPr>
        <p:scale>
          <a:sx n="90" d="100"/>
          <a:sy n="90" d="100"/>
        </p:scale>
        <p:origin x="1260" y="-246"/>
      </p:cViewPr>
      <p:guideLst>
        <p:guide orient="horz" pos="5420"/>
        <p:guide pos="2160"/>
      </p:guideLst>
    </p:cSldViewPr>
  </p:slideViewPr>
  <p:notesTextViewPr>
    <p:cViewPr>
      <p:scale>
        <a:sx n="150" d="100"/>
        <a:sy n="150" d="100"/>
      </p:scale>
      <p:origin x="0" y="0"/>
    </p:cViewPr>
  </p:notesTextViewPr>
  <p:notesViewPr>
    <p:cSldViewPr>
      <p:cViewPr varScale="1">
        <p:scale>
          <a:sx n="75" d="100"/>
          <a:sy n="75" d="100"/>
        </p:scale>
        <p:origin x="-4020" y="-8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6"/>
            <a:ext cx="2949533" cy="496427"/>
          </a:xfrm>
          <a:prstGeom prst="rect">
            <a:avLst/>
          </a:prstGeom>
        </p:spPr>
        <p:txBody>
          <a:bodyPr vert="horz" lIns="88249" tIns="44125" rIns="88249" bIns="44125" rtlCol="0"/>
          <a:lstStyle>
            <a:lvl1pPr algn="l">
              <a:defRPr sz="1200"/>
            </a:lvl1pPr>
          </a:lstStyle>
          <a:p>
            <a:endParaRPr lang="en-US"/>
          </a:p>
        </p:txBody>
      </p:sp>
      <p:sp>
        <p:nvSpPr>
          <p:cNvPr id="3" name="Date Placeholder 2"/>
          <p:cNvSpPr>
            <a:spLocks noGrp="1"/>
          </p:cNvSpPr>
          <p:nvPr>
            <p:ph type="dt" idx="1"/>
          </p:nvPr>
        </p:nvSpPr>
        <p:spPr>
          <a:xfrm>
            <a:off x="3856146" y="6"/>
            <a:ext cx="2949532" cy="496427"/>
          </a:xfrm>
          <a:prstGeom prst="rect">
            <a:avLst/>
          </a:prstGeom>
        </p:spPr>
        <p:txBody>
          <a:bodyPr vert="horz" lIns="88249" tIns="44125" rIns="88249" bIns="44125" rtlCol="0"/>
          <a:lstStyle>
            <a:lvl1pPr algn="r">
              <a:defRPr sz="1200"/>
            </a:lvl1pPr>
          </a:lstStyle>
          <a:p>
            <a:fld id="{E0B721B7-C9AF-4FEC-A17C-5AA640F24497}" type="datetimeFigureOut">
              <a:rPr lang="en-US" smtClean="0"/>
              <a:t>23-Mar-26</a:t>
            </a:fld>
            <a:endParaRPr lang="en-US"/>
          </a:p>
        </p:txBody>
      </p:sp>
      <p:sp>
        <p:nvSpPr>
          <p:cNvPr id="4" name="Slide Image Placeholder 3"/>
          <p:cNvSpPr>
            <a:spLocks noGrp="1" noRot="1" noChangeAspect="1"/>
          </p:cNvSpPr>
          <p:nvPr>
            <p:ph type="sldImg" idx="2"/>
          </p:nvPr>
        </p:nvSpPr>
        <p:spPr>
          <a:xfrm>
            <a:off x="2006600" y="746125"/>
            <a:ext cx="2794000" cy="3725863"/>
          </a:xfrm>
          <a:prstGeom prst="rect">
            <a:avLst/>
          </a:prstGeom>
          <a:noFill/>
          <a:ln w="12700">
            <a:solidFill>
              <a:prstClr val="black"/>
            </a:solidFill>
          </a:ln>
        </p:spPr>
        <p:txBody>
          <a:bodyPr vert="horz" lIns="88249" tIns="44125" rIns="88249" bIns="44125" rtlCol="0" anchor="ctr"/>
          <a:lstStyle/>
          <a:p>
            <a:endParaRPr lang="en-US"/>
          </a:p>
        </p:txBody>
      </p:sp>
      <p:sp>
        <p:nvSpPr>
          <p:cNvPr id="5" name="Notes Placeholder 4"/>
          <p:cNvSpPr>
            <a:spLocks noGrp="1"/>
          </p:cNvSpPr>
          <p:nvPr>
            <p:ph type="body" sz="quarter" idx="3"/>
          </p:nvPr>
        </p:nvSpPr>
        <p:spPr>
          <a:xfrm>
            <a:off x="681480" y="4720684"/>
            <a:ext cx="5445760" cy="4472471"/>
          </a:xfrm>
          <a:prstGeom prst="rect">
            <a:avLst/>
          </a:prstGeom>
        </p:spPr>
        <p:txBody>
          <a:bodyPr vert="horz" lIns="88249" tIns="44125" rIns="88249" bIns="4412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6" y="9441374"/>
            <a:ext cx="2949533" cy="496427"/>
          </a:xfrm>
          <a:prstGeom prst="rect">
            <a:avLst/>
          </a:prstGeom>
        </p:spPr>
        <p:txBody>
          <a:bodyPr vert="horz" lIns="88249" tIns="44125" rIns="88249" bIns="44125" rtlCol="0" anchor="b"/>
          <a:lstStyle>
            <a:lvl1pPr algn="l">
              <a:defRPr sz="1200"/>
            </a:lvl1pPr>
          </a:lstStyle>
          <a:p>
            <a:endParaRPr lang="en-US"/>
          </a:p>
        </p:txBody>
      </p:sp>
      <p:sp>
        <p:nvSpPr>
          <p:cNvPr id="7" name="Slide Number Placeholder 6"/>
          <p:cNvSpPr>
            <a:spLocks noGrp="1"/>
          </p:cNvSpPr>
          <p:nvPr>
            <p:ph type="sldNum" sz="quarter" idx="5"/>
          </p:nvPr>
        </p:nvSpPr>
        <p:spPr>
          <a:xfrm>
            <a:off x="3856146" y="9441374"/>
            <a:ext cx="2949532" cy="496427"/>
          </a:xfrm>
          <a:prstGeom prst="rect">
            <a:avLst/>
          </a:prstGeom>
        </p:spPr>
        <p:txBody>
          <a:bodyPr vert="horz" lIns="88249" tIns="44125" rIns="88249" bIns="44125" rtlCol="0" anchor="b"/>
          <a:lstStyle>
            <a:lvl1pPr algn="r">
              <a:defRPr sz="1200"/>
            </a:lvl1pPr>
          </a:lstStyle>
          <a:p>
            <a:fld id="{2CD61325-C3CE-4DCC-9429-B8D45AC53B9F}" type="slidenum">
              <a:rPr lang="en-US" smtClean="0"/>
              <a:t>‹#›</a:t>
            </a:fld>
            <a:endParaRPr lang="en-US"/>
          </a:p>
        </p:txBody>
      </p:sp>
    </p:spTree>
    <p:extLst>
      <p:ext uri="{BB962C8B-B14F-4D97-AF65-F5344CB8AC3E}">
        <p14:creationId xmlns:p14="http://schemas.microsoft.com/office/powerpoint/2010/main" val="100085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1</a:t>
            </a:fld>
            <a:endParaRPr lang="en-US"/>
          </a:p>
        </p:txBody>
      </p:sp>
    </p:spTree>
    <p:extLst>
      <p:ext uri="{BB962C8B-B14F-4D97-AF65-F5344CB8AC3E}">
        <p14:creationId xmlns:p14="http://schemas.microsoft.com/office/powerpoint/2010/main" val="301543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2</a:t>
            </a:fld>
            <a:endParaRPr lang="x-none"/>
          </a:p>
        </p:txBody>
      </p:sp>
    </p:spTree>
    <p:extLst>
      <p:ext uri="{BB962C8B-B14F-4D97-AF65-F5344CB8AC3E}">
        <p14:creationId xmlns:p14="http://schemas.microsoft.com/office/powerpoint/2010/main" val="3283282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3</a:t>
            </a:fld>
            <a:endParaRPr lang="x-none"/>
          </a:p>
        </p:txBody>
      </p:sp>
    </p:spTree>
    <p:extLst>
      <p:ext uri="{BB962C8B-B14F-4D97-AF65-F5344CB8AC3E}">
        <p14:creationId xmlns:p14="http://schemas.microsoft.com/office/powerpoint/2010/main" val="2616626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4</a:t>
            </a:fld>
            <a:endParaRPr lang="x-none"/>
          </a:p>
        </p:txBody>
      </p:sp>
    </p:spTree>
    <p:extLst>
      <p:ext uri="{BB962C8B-B14F-4D97-AF65-F5344CB8AC3E}">
        <p14:creationId xmlns:p14="http://schemas.microsoft.com/office/powerpoint/2010/main" val="10814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5</a:t>
            </a:fld>
            <a:endParaRPr lang="x-none"/>
          </a:p>
        </p:txBody>
      </p:sp>
    </p:spTree>
    <p:extLst>
      <p:ext uri="{BB962C8B-B14F-4D97-AF65-F5344CB8AC3E}">
        <p14:creationId xmlns:p14="http://schemas.microsoft.com/office/powerpoint/2010/main" val="2483032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6</a:t>
            </a:fld>
            <a:endParaRPr lang="x-none"/>
          </a:p>
        </p:txBody>
      </p:sp>
    </p:spTree>
    <p:extLst>
      <p:ext uri="{BB962C8B-B14F-4D97-AF65-F5344CB8AC3E}">
        <p14:creationId xmlns:p14="http://schemas.microsoft.com/office/powerpoint/2010/main" val="615106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7</a:t>
            </a:fld>
            <a:endParaRPr lang="x-none"/>
          </a:p>
        </p:txBody>
      </p:sp>
    </p:spTree>
    <p:extLst>
      <p:ext uri="{BB962C8B-B14F-4D97-AF65-F5344CB8AC3E}">
        <p14:creationId xmlns:p14="http://schemas.microsoft.com/office/powerpoint/2010/main" val="269398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8</a:t>
            </a:fld>
            <a:endParaRPr lang="x-none"/>
          </a:p>
        </p:txBody>
      </p:sp>
    </p:spTree>
    <p:extLst>
      <p:ext uri="{BB962C8B-B14F-4D97-AF65-F5344CB8AC3E}">
        <p14:creationId xmlns:p14="http://schemas.microsoft.com/office/powerpoint/2010/main" val="1201813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9</a:t>
            </a:fld>
            <a:endParaRPr lang="x-none"/>
          </a:p>
        </p:txBody>
      </p:sp>
    </p:spTree>
    <p:extLst>
      <p:ext uri="{BB962C8B-B14F-4D97-AF65-F5344CB8AC3E}">
        <p14:creationId xmlns:p14="http://schemas.microsoft.com/office/powerpoint/2010/main" val="1468037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10</a:t>
            </a:fld>
            <a:endParaRPr lang="x-none"/>
          </a:p>
        </p:txBody>
      </p:sp>
    </p:spTree>
    <p:extLst>
      <p:ext uri="{BB962C8B-B14F-4D97-AF65-F5344CB8AC3E}">
        <p14:creationId xmlns:p14="http://schemas.microsoft.com/office/powerpoint/2010/main" val="2458982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11</a:t>
            </a:fld>
            <a:endParaRPr lang="x-none"/>
          </a:p>
        </p:txBody>
      </p:sp>
    </p:spTree>
    <p:extLst>
      <p:ext uri="{BB962C8B-B14F-4D97-AF65-F5344CB8AC3E}">
        <p14:creationId xmlns:p14="http://schemas.microsoft.com/office/powerpoint/2010/main" val="1851688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12</a:t>
            </a:fld>
            <a:endParaRPr lang="x-none"/>
          </a:p>
        </p:txBody>
      </p:sp>
    </p:spTree>
    <p:extLst>
      <p:ext uri="{BB962C8B-B14F-4D97-AF65-F5344CB8AC3E}">
        <p14:creationId xmlns:p14="http://schemas.microsoft.com/office/powerpoint/2010/main" val="15783247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D61325-C3CE-4DCC-9429-B8D45AC53B9F}" type="slidenum">
              <a:rPr lang="en-US" smtClean="0"/>
              <a:t>13</a:t>
            </a:fld>
            <a:endParaRPr lang="en-US"/>
          </a:p>
        </p:txBody>
      </p:sp>
    </p:spTree>
    <p:extLst>
      <p:ext uri="{BB962C8B-B14F-4D97-AF65-F5344CB8AC3E}">
        <p14:creationId xmlns:p14="http://schemas.microsoft.com/office/powerpoint/2010/main" val="83720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047A014-A296-4BC7-B627-8AC2C71DC79A}" type="datetime1">
              <a:rPr lang="en-US" smtClean="0"/>
              <a:t>23-Mar-26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5813307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DB215-8979-4C4B-8BFF-594D56AA267D}" type="datetime1">
              <a:rPr lang="en-US" smtClean="0"/>
              <a:t>23-Mar-26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975940730"/>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CDC7C3-8DAC-42B5-992E-67718E4C44E5}" type="datetime1">
              <a:rPr lang="en-US" smtClean="0"/>
              <a:t>23-Mar-26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83853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22C08-459E-4CD8-B5EB-31D4A04C5811}" type="datetime1">
              <a:rPr lang="en-US" smtClean="0"/>
              <a:t>23-Mar-26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348761962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2B8B4D-A61B-4297-B86B-E166B5F5EE8D}" type="datetime1">
              <a:rPr lang="en-US" smtClean="0"/>
              <a:t>23-Mar-26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63373745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1687B9-2387-4B48-9744-8FAC5A1118EE}" type="datetime1">
              <a:rPr lang="en-US" smtClean="0"/>
              <a:t>23-Mar-26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19670914"/>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5B9114-7087-471F-AF84-A0410930461A}" type="datetime1">
              <a:rPr lang="en-US" smtClean="0"/>
              <a:t>23-Mar-26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8396679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F0D1AB-4ECA-4B83-BD72-A342722AC28A}" type="datetime1">
              <a:rPr lang="en-US" smtClean="0"/>
              <a:t>23-Mar-26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544862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E8CDB0-7FCC-4FCC-8459-EB9C4EEE4A94}" type="datetime1">
              <a:rPr lang="en-US" smtClean="0"/>
              <a:t>23-Mar-26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74542708"/>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A88985-0A44-49F4-87FE-C728C8ADB646}" type="datetime1">
              <a:rPr lang="en-US" smtClean="0"/>
              <a:t>23-Mar-26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37131110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488951"/>
            <a:ext cx="1157288" cy="10401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488951"/>
            <a:ext cx="3357563" cy="10401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6D9C90-B8D6-4F33-9BC1-9F057637A2EC}" type="datetime1">
              <a:rPr lang="en-US" smtClean="0"/>
              <a:t>23-Mar-26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97748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0A8762D2-009C-48A5-857B-14D015A0005E}" type="datetime1">
              <a:rPr lang="en-US" smtClean="0"/>
              <a:t>23-Mar-26</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10452F14-DDA8-46AC-9FFA-A749C5B763D3}" type="slidenum">
              <a:rPr lang="en-US" smtClean="0"/>
              <a:t>‹#›</a:t>
            </a:fld>
            <a:endParaRPr lang="en-US"/>
          </a:p>
        </p:txBody>
      </p:sp>
      <p:sp>
        <p:nvSpPr>
          <p:cNvPr id="7" name="TextBox 6">
            <a:extLst>
              <a:ext uri="{FF2B5EF4-FFF2-40B4-BE49-F238E27FC236}">
                <a16:creationId xmlns:a16="http://schemas.microsoft.com/office/drawing/2014/main" id="{5A981C10-AEFA-B2EB-219B-8A42B27A49D4}"/>
              </a:ext>
            </a:extLst>
          </p:cNvPr>
          <p:cNvSpPr txBox="1"/>
          <p:nvPr userDrawn="1"/>
        </p:nvSpPr>
        <p:spPr>
          <a:xfrm>
            <a:off x="5373216" y="8821052"/>
            <a:ext cx="1440160" cy="215444"/>
          </a:xfrm>
          <a:prstGeom prst="rect">
            <a:avLst/>
          </a:prstGeom>
          <a:noFill/>
        </p:spPr>
        <p:txBody>
          <a:bodyPr wrap="square">
            <a:spAutoFit/>
          </a:bodyPr>
          <a:lstStyle/>
          <a:p>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Wealth Strategy </a:t>
            </a:r>
            <a:fld id="{10452F14-DDA8-46AC-9FFA-A749C5B763D3}" type="slidenum">
              <a:rPr lang="en-US" sz="800" b="0" smtClean="0">
                <a:solidFill>
                  <a:schemeClr val="bg1">
                    <a:lumMod val="50000"/>
                  </a:schemeClr>
                </a:solidFill>
                <a:latin typeface="Arial" panose="020B0604020202020204" pitchFamily="34" charset="0"/>
                <a:cs typeface="Arial" panose="020B0604020202020204" pitchFamily="34" charset="0"/>
              </a:rPr>
              <a:pPr/>
              <a:t>‹#›</a:t>
            </a:fld>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endParaRPr lang="en-US" sz="800" b="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198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image" Target="../media/image1.png"/><Relationship Id="rId7"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image" Target="../media/image2.png"/><Relationship Id="rId4" Type="http://schemas.microsoft.com/office/2007/relationships/hdphoto" Target="../media/hdphoto1.wdp"/><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em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1.png"/><Relationship Id="rId7" Type="http://schemas.openxmlformats.org/officeDocument/2006/relationships/image" Target="../media/image10.emf"/><Relationship Id="rId12" Type="http://schemas.openxmlformats.org/officeDocument/2006/relationships/image" Target="../media/image15.emf"/><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microsoft.com/office/2007/relationships/hdphoto" Target="../media/hdphoto2.wdp"/><Relationship Id="rId11" Type="http://schemas.openxmlformats.org/officeDocument/2006/relationships/image" Target="../media/image14.emf"/><Relationship Id="rId5" Type="http://schemas.openxmlformats.org/officeDocument/2006/relationships/image" Target="../media/image7.png"/><Relationship Id="rId10" Type="http://schemas.openxmlformats.org/officeDocument/2006/relationships/image" Target="../media/image13.emf"/><Relationship Id="rId4" Type="http://schemas.microsoft.com/office/2007/relationships/hdphoto" Target="../media/hdphoto1.wdp"/><Relationship Id="rId9" Type="http://schemas.openxmlformats.org/officeDocument/2006/relationships/image" Target="../media/image12.emf"/></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emf"/><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image" Target="../media/image1.png"/><Relationship Id="rId7" Type="http://schemas.openxmlformats.org/officeDocument/2006/relationships/image" Target="../media/image19.emf"/><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21.em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2.emf"/><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png"/><Relationship Id="rId7" Type="http://schemas.openxmlformats.org/officeDocument/2006/relationships/image" Target="../media/image23.emf"/><Relationship Id="rId12" Type="http://schemas.openxmlformats.org/officeDocument/2006/relationships/image" Target="../media/image28.emf"/><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microsoft.com/office/2007/relationships/hdphoto" Target="../media/hdphoto2.wdp"/><Relationship Id="rId11" Type="http://schemas.openxmlformats.org/officeDocument/2006/relationships/image" Target="../media/image27.emf"/><Relationship Id="rId5" Type="http://schemas.openxmlformats.org/officeDocument/2006/relationships/image" Target="../media/image7.png"/><Relationship Id="rId10" Type="http://schemas.openxmlformats.org/officeDocument/2006/relationships/image" Target="../media/image26.emf"/><Relationship Id="rId4" Type="http://schemas.microsoft.com/office/2007/relationships/hdphoto" Target="../media/hdphoto1.wdp"/><Relationship Id="rId9" Type="http://schemas.openxmlformats.org/officeDocument/2006/relationships/image" Target="../media/image25.emf"/></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1.png"/><Relationship Id="rId7" Type="http://schemas.openxmlformats.org/officeDocument/2006/relationships/image" Target="../media/image29.emf"/><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7.png"/><Relationship Id="rId10" Type="http://schemas.openxmlformats.org/officeDocument/2006/relationships/image" Target="../media/image5.emf"/><Relationship Id="rId4" Type="http://schemas.microsoft.com/office/2007/relationships/hdphoto" Target="../media/hdphoto1.wdp"/><Relationship Id="rId9" Type="http://schemas.openxmlformats.org/officeDocument/2006/relationships/image" Target="../media/image4.emf"/></Relationships>
</file>

<file path=ppt/slides/_rels/slide12.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image" Target="../media/image1.png"/><Relationship Id="rId7" Type="http://schemas.openxmlformats.org/officeDocument/2006/relationships/image" Target="../media/image30.emf"/><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emf"/></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3959"/>
          <a:stretch/>
        </p:blipFill>
        <p:spPr>
          <a:xfrm>
            <a:off x="0" y="0"/>
            <a:ext cx="6858000" cy="9144000"/>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49508"/>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41334"/>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26" name="TextBox 25">
            <a:extLst>
              <a:ext uri="{FF2B5EF4-FFF2-40B4-BE49-F238E27FC236}">
                <a16:creationId xmlns:a16="http://schemas.microsoft.com/office/drawing/2014/main" id="{5999F6F0-82E9-12DE-4CF8-661B374D7BDF}"/>
              </a:ext>
            </a:extLst>
          </p:cNvPr>
          <p:cNvSpPr txBox="1"/>
          <p:nvPr/>
        </p:nvSpPr>
        <p:spPr>
          <a:xfrm>
            <a:off x="3212976"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8 ก.พ.</a:t>
            </a:r>
          </a:p>
        </p:txBody>
      </p:sp>
      <p:sp>
        <p:nvSpPr>
          <p:cNvPr id="27" name="TextBox 26">
            <a:extLst>
              <a:ext uri="{FF2B5EF4-FFF2-40B4-BE49-F238E27FC236}">
                <a16:creationId xmlns:a16="http://schemas.microsoft.com/office/drawing/2014/main" id="{F8D73585-35FB-F0D5-2763-F6BB3312E8F0}"/>
              </a:ext>
            </a:extLst>
          </p:cNvPr>
          <p:cNvSpPr txBox="1"/>
          <p:nvPr/>
        </p:nvSpPr>
        <p:spPr>
          <a:xfrm>
            <a:off x="3872662" y="2653338"/>
            <a:ext cx="878577"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มี.ค.- ต้น เม.ย.</a:t>
            </a:r>
          </a:p>
        </p:txBody>
      </p:sp>
      <p:sp>
        <p:nvSpPr>
          <p:cNvPr id="28" name="TextBox 27">
            <a:extLst>
              <a:ext uri="{FF2B5EF4-FFF2-40B4-BE49-F238E27FC236}">
                <a16:creationId xmlns:a16="http://schemas.microsoft.com/office/drawing/2014/main" id="{4CEC07A3-D6A0-E1B2-370E-DB8B4F43D9B9}"/>
              </a:ext>
            </a:extLst>
          </p:cNvPr>
          <p:cNvSpPr txBox="1"/>
          <p:nvPr/>
        </p:nvSpPr>
        <p:spPr>
          <a:xfrm>
            <a:off x="4731749" y="2655699"/>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เม.ย.</a:t>
            </a:r>
          </a:p>
        </p:txBody>
      </p:sp>
      <p:sp>
        <p:nvSpPr>
          <p:cNvPr id="29" name="TextBox 28">
            <a:extLst>
              <a:ext uri="{FF2B5EF4-FFF2-40B4-BE49-F238E27FC236}">
                <a16:creationId xmlns:a16="http://schemas.microsoft.com/office/drawing/2014/main" id="{3010FF72-72AB-A1E4-8365-3636CBE05B6A}"/>
              </a:ext>
            </a:extLst>
          </p:cNvPr>
          <p:cNvSpPr txBox="1"/>
          <p:nvPr/>
        </p:nvSpPr>
        <p:spPr>
          <a:xfrm>
            <a:off x="5511409" y="2649965"/>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41334"/>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37439"/>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4" name="TextBox 33">
            <a:extLst>
              <a:ext uri="{FF2B5EF4-FFF2-40B4-BE49-F238E27FC236}">
                <a16:creationId xmlns:a16="http://schemas.microsoft.com/office/drawing/2014/main" id="{7E062017-FAEE-96BF-D26F-89DCC0880C8E}"/>
              </a:ext>
            </a:extLst>
          </p:cNvPr>
          <p:cNvSpPr txBox="1"/>
          <p:nvPr/>
        </p:nvSpPr>
        <p:spPr>
          <a:xfrm>
            <a:off x="3072457" y="2661863"/>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เลือกตั้ง</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667080"/>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658083"/>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38" name="TextBox 37">
            <a:extLst>
              <a:ext uri="{FF2B5EF4-FFF2-40B4-BE49-F238E27FC236}">
                <a16:creationId xmlns:a16="http://schemas.microsoft.com/office/drawing/2014/main" id="{BFC4648D-0610-3B7B-438F-BDB5A8586805}"/>
              </a:ext>
            </a:extLst>
          </p:cNvPr>
          <p:cNvSpPr txBox="1"/>
          <p:nvPr/>
        </p:nvSpPr>
        <p:spPr>
          <a:xfrm>
            <a:off x="5509560" y="2658083"/>
            <a:ext cx="1125089"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รัฐบาลใหม่</a:t>
            </a:r>
          </a:p>
        </p:txBody>
      </p:sp>
      <p:sp>
        <p:nvSpPr>
          <p:cNvPr id="24" name="TextBox 23">
            <a:extLst>
              <a:ext uri="{FF2B5EF4-FFF2-40B4-BE49-F238E27FC236}">
                <a16:creationId xmlns:a16="http://schemas.microsoft.com/office/drawing/2014/main" id="{8C8CCC20-1C5E-6125-6A36-E7FC910AC4BE}"/>
              </a:ext>
            </a:extLst>
          </p:cNvPr>
          <p:cNvSpPr txBox="1"/>
          <p:nvPr/>
        </p:nvSpPr>
        <p:spPr>
          <a:xfrm>
            <a:off x="5517232" y="454697"/>
            <a:ext cx="1196244" cy="246221"/>
          </a:xfrm>
          <a:prstGeom prst="rect">
            <a:avLst/>
          </a:prstGeom>
          <a:noFill/>
        </p:spPr>
        <p:txBody>
          <a:bodyPr wrap="square" rtlCol="0">
            <a:spAutoFit/>
          </a:bodyPr>
          <a:lstStyle/>
          <a:p>
            <a:r>
              <a:rPr lang="en-US" sz="1000" b="1" dirty="0">
                <a:solidFill>
                  <a:schemeClr val="tx2"/>
                </a:solidFill>
                <a:latin typeface="BLS Bold" panose="00000800000000000000" pitchFamily="50" charset="-34"/>
                <a:cs typeface="BLS Bold" panose="00000800000000000000" pitchFamily="50" charset="-34"/>
              </a:rPr>
              <a:t>March 16, 2026</a:t>
            </a:r>
          </a:p>
        </p:txBody>
      </p:sp>
      <p:pic>
        <p:nvPicPr>
          <p:cNvPr id="40" name="Picture 2">
            <a:extLst>
              <a:ext uri="{FF2B5EF4-FFF2-40B4-BE49-F238E27FC236}">
                <a16:creationId xmlns:a16="http://schemas.microsoft.com/office/drawing/2014/main" id="{D40CF1FE-6670-0F86-7CBF-4A474C22E170}"/>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218" y="194588"/>
            <a:ext cx="1725613"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41">
            <a:extLst>
              <a:ext uri="{FF2B5EF4-FFF2-40B4-BE49-F238E27FC236}">
                <a16:creationId xmlns:a16="http://schemas.microsoft.com/office/drawing/2014/main" id="{E1F831D5-46CB-EB78-341D-EACF1E4B4898}"/>
              </a:ext>
            </a:extLst>
          </p:cNvPr>
          <p:cNvSpPr txBox="1"/>
          <p:nvPr/>
        </p:nvSpPr>
        <p:spPr>
          <a:xfrm>
            <a:off x="1162281" y="138550"/>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44" name="TextBox 43">
            <a:extLst>
              <a:ext uri="{FF2B5EF4-FFF2-40B4-BE49-F238E27FC236}">
                <a16:creationId xmlns:a16="http://schemas.microsoft.com/office/drawing/2014/main" id="{7D94CCD9-3CD7-7EBD-08D1-4EDC6069CD8F}"/>
              </a:ext>
            </a:extLst>
          </p:cNvPr>
          <p:cNvSpPr txBox="1"/>
          <p:nvPr/>
        </p:nvSpPr>
        <p:spPr>
          <a:xfrm>
            <a:off x="259758" y="539552"/>
            <a:ext cx="4825426" cy="1015663"/>
          </a:xfrm>
          <a:prstGeom prst="rect">
            <a:avLst/>
          </a:prstGeom>
          <a:noFill/>
        </p:spPr>
        <p:txBody>
          <a:bodyPr wrap="square" rtlCol="0">
            <a:spAutoFit/>
          </a:bodyPr>
          <a:lstStyle/>
          <a:p>
            <a:r>
              <a:rPr lang="el-GR" sz="6000" dirty="0">
                <a:solidFill>
                  <a:schemeClr val="accent3">
                    <a:lumMod val="75000"/>
                  </a:schemeClr>
                </a:solidFill>
                <a:latin typeface="BLS Condensed Bold" pitchFamily="2" charset="-34"/>
                <a:ea typeface="Tahoma" pitchFamily="34" charset="0"/>
                <a:cs typeface="BLS Condensed Bold" pitchFamily="2" charset="-34"/>
              </a:rPr>
              <a:t>α</a:t>
            </a:r>
            <a:r>
              <a:rPr lang="en-US" sz="3600" dirty="0" err="1">
                <a:latin typeface="BLS Condensed Bold" pitchFamily="2" charset="-34"/>
                <a:ea typeface="Tahoma" pitchFamily="34" charset="0"/>
                <a:cs typeface="BLS Condensed Bold" pitchFamily="2" charset="-34"/>
              </a:rPr>
              <a:t>lpha</a:t>
            </a:r>
            <a:r>
              <a:rPr lang="en-US" sz="3600" dirty="0">
                <a:latin typeface="BLS Condensed Bold" pitchFamily="2" charset="-34"/>
                <a:ea typeface="Tahoma" pitchFamily="34" charset="0"/>
                <a:cs typeface="BLS Condensed Bold" pitchFamily="2" charset="-34"/>
              </a:rPr>
              <a:t> </a:t>
            </a:r>
            <a:r>
              <a:rPr lang="en-US" sz="3200" dirty="0">
                <a:latin typeface="BLS Condensed Bold" pitchFamily="2" charset="-34"/>
                <a:ea typeface="Tahoma" pitchFamily="34" charset="0"/>
                <a:cs typeface="BLS Condensed Bold" pitchFamily="2" charset="-34"/>
              </a:rPr>
              <a:t>PULSE </a:t>
            </a:r>
            <a:r>
              <a:rPr lang="en-US" sz="2800" b="1" dirty="0">
                <a:solidFill>
                  <a:schemeClr val="tx1">
                    <a:lumMod val="65000"/>
                    <a:lumOff val="35000"/>
                  </a:schemeClr>
                </a:solidFill>
                <a:latin typeface="BLS Condensed "/>
                <a:ea typeface="Tahoma" pitchFamily="34" charset="0"/>
                <a:cs typeface="BLS Condensed Bold" pitchFamily="2" charset="-34"/>
              </a:rPr>
              <a:t>|</a:t>
            </a:r>
            <a:r>
              <a:rPr lang="en-GB" sz="3000" dirty="0">
                <a:solidFill>
                  <a:srgbClr val="DB002A"/>
                </a:solidFill>
                <a:latin typeface="BLS Condensed Bold" pitchFamily="2" charset="-34"/>
                <a:ea typeface="Tahoma" pitchFamily="34" charset="0"/>
                <a:cs typeface="BLS Condensed Bold" pitchFamily="2" charset="-34"/>
              </a:rPr>
              <a:t> </a:t>
            </a:r>
            <a:r>
              <a:rPr lang="en-US" sz="2400" dirty="0">
                <a:solidFill>
                  <a:schemeClr val="bg1">
                    <a:lumMod val="50000"/>
                  </a:schemeClr>
                </a:solidFill>
                <a:latin typeface="BLS Condensed Bold" pitchFamily="2" charset="-34"/>
                <a:ea typeface="Tahoma" pitchFamily="34" charset="0"/>
                <a:cs typeface="BLS Condensed Bold" pitchFamily="2" charset="-34"/>
              </a:rPr>
              <a:t>W</a:t>
            </a:r>
            <a:r>
              <a:rPr lang="en-GB" sz="2400" dirty="0" err="1">
                <a:solidFill>
                  <a:schemeClr val="bg1">
                    <a:lumMod val="50000"/>
                  </a:schemeClr>
                </a:solidFill>
                <a:latin typeface="BLS Condensed Bold" pitchFamily="2" charset="-34"/>
                <a:ea typeface="Tahoma" pitchFamily="34" charset="0"/>
                <a:cs typeface="BLS Condensed Bold" pitchFamily="2" charset="-34"/>
              </a:rPr>
              <a:t>eekly</a:t>
            </a:r>
            <a:r>
              <a:rPr lang="en-GB" sz="2400" dirty="0">
                <a:solidFill>
                  <a:schemeClr val="bg1">
                    <a:lumMod val="50000"/>
                  </a:schemeClr>
                </a:solidFill>
                <a:latin typeface="BLS Condensed Bold" pitchFamily="2" charset="-34"/>
                <a:ea typeface="Tahoma" pitchFamily="34" charset="0"/>
                <a:cs typeface="BLS Condensed Bold" pitchFamily="2" charset="-34"/>
              </a:rPr>
              <a:t> strategy</a:t>
            </a:r>
            <a:endParaRPr lang="en-GB" sz="2000" dirty="0">
              <a:solidFill>
                <a:schemeClr val="bg1">
                  <a:lumMod val="50000"/>
                </a:schemeClr>
              </a:solidFill>
              <a:latin typeface="BLS Condensed Bold" pitchFamily="2" charset="-34"/>
              <a:ea typeface="Tahoma" pitchFamily="34" charset="0"/>
              <a:cs typeface="BLS Condensed Bold" pitchFamily="2" charset="-34"/>
            </a:endParaRPr>
          </a:p>
        </p:txBody>
      </p:sp>
      <p:sp>
        <p:nvSpPr>
          <p:cNvPr id="45" name="TextBox 44">
            <a:extLst>
              <a:ext uri="{FF2B5EF4-FFF2-40B4-BE49-F238E27FC236}">
                <a16:creationId xmlns:a16="http://schemas.microsoft.com/office/drawing/2014/main" id="{EDDE772F-3591-A6B2-8675-AD72CCBF567B}"/>
              </a:ext>
            </a:extLst>
          </p:cNvPr>
          <p:cNvSpPr txBox="1"/>
          <p:nvPr/>
        </p:nvSpPr>
        <p:spPr>
          <a:xfrm>
            <a:off x="106587" y="1450975"/>
            <a:ext cx="6857999" cy="353943"/>
          </a:xfrm>
          <a:prstGeom prst="rect">
            <a:avLst/>
          </a:prstGeom>
          <a:noFill/>
          <a:ln>
            <a:noFill/>
          </a:ln>
        </p:spPr>
        <p:txBody>
          <a:bodyPr wrap="square" rtlCol="0">
            <a:spAutoFit/>
          </a:bodyPr>
          <a:lstStyle/>
          <a:p>
            <a:r>
              <a:rPr lang="en-US" altLang="en-US" sz="1700" b="1" dirty="0">
                <a:solidFill>
                  <a:schemeClr val="tx2"/>
                </a:solidFill>
                <a:latin typeface="BLS Condensed" pitchFamily="2" charset="-34"/>
                <a:ea typeface="Tahoma" pitchFamily="34" charset="0"/>
                <a:cs typeface="BLS Condensed" pitchFamily="2" charset="-34"/>
              </a:rPr>
              <a:t>The Next</a:t>
            </a:r>
            <a:r>
              <a:rPr lang="th-TH" altLang="en-US" sz="1700" b="1" dirty="0">
                <a:solidFill>
                  <a:schemeClr val="tx2"/>
                </a:solidFill>
                <a:latin typeface="BLS Condensed" pitchFamily="2" charset="-34"/>
                <a:ea typeface="Tahoma" pitchFamily="34" charset="0"/>
                <a:cs typeface="BLS Condensed" pitchFamily="2" charset="-34"/>
              </a:rPr>
              <a:t> </a:t>
            </a:r>
            <a:r>
              <a:rPr lang="en-US" altLang="en-US" sz="1700" b="1" dirty="0">
                <a:solidFill>
                  <a:schemeClr val="tx2"/>
                </a:solidFill>
                <a:latin typeface="BLS Condensed" pitchFamily="2" charset="-34"/>
                <a:ea typeface="Tahoma" pitchFamily="34" charset="0"/>
                <a:cs typeface="BLS Condensed" pitchFamily="2" charset="-34"/>
              </a:rPr>
              <a:t>Cyclical Upcycle |</a:t>
            </a:r>
            <a:r>
              <a:rPr lang="th-TH" altLang="en-US" sz="1700" b="1" dirty="0">
                <a:solidFill>
                  <a:schemeClr val="tx2"/>
                </a:solidFill>
                <a:latin typeface="BLS Condensed" pitchFamily="2" charset="-34"/>
                <a:ea typeface="Tahoma" pitchFamily="34" charset="0"/>
                <a:cs typeface="BLS Condensed" pitchFamily="2" charset="-34"/>
              </a:rPr>
              <a:t> รอบขาขึ้นของหุ้นวัฏจักรไทย</a:t>
            </a:r>
            <a:r>
              <a:rPr lang="en-US" altLang="en-US" sz="1700" b="1" dirty="0">
                <a:solidFill>
                  <a:schemeClr val="tx2"/>
                </a:solidFill>
                <a:latin typeface="BLS Condensed" pitchFamily="2" charset="-34"/>
                <a:ea typeface="Tahoma" pitchFamily="34" charset="0"/>
                <a:cs typeface="BLS Condensed" pitchFamily="2" charset="-34"/>
              </a:rPr>
              <a:t>?</a:t>
            </a:r>
          </a:p>
        </p:txBody>
      </p:sp>
      <p:sp>
        <p:nvSpPr>
          <p:cNvPr id="47" name="TextBox 46">
            <a:extLst>
              <a:ext uri="{FF2B5EF4-FFF2-40B4-BE49-F238E27FC236}">
                <a16:creationId xmlns:a16="http://schemas.microsoft.com/office/drawing/2014/main" id="{C9066BA8-BE99-5985-B984-4F43D0AC32DB}"/>
              </a:ext>
            </a:extLst>
          </p:cNvPr>
          <p:cNvSpPr txBox="1"/>
          <p:nvPr/>
        </p:nvSpPr>
        <p:spPr>
          <a:xfrm>
            <a:off x="4293096" y="7903239"/>
            <a:ext cx="2471462" cy="923330"/>
          </a:xfrm>
          <a:prstGeom prst="rect">
            <a:avLst/>
          </a:prstGeom>
          <a:noFill/>
          <a:ln>
            <a:noFill/>
          </a:ln>
        </p:spPr>
        <p:txBody>
          <a:bodyPr wrap="square" rtlCol="0">
            <a:spAutoFit/>
          </a:bodyPr>
          <a:lstStyle/>
          <a:p>
            <a:pPr algn="r"/>
            <a:r>
              <a:rPr lang="en-US" sz="900" b="1" dirty="0">
                <a:solidFill>
                  <a:schemeClr val="accent5">
                    <a:lumMod val="75000"/>
                  </a:schemeClr>
                </a:solidFill>
                <a:latin typeface="BLS Condensed" pitchFamily="2" charset="-34"/>
                <a:ea typeface="Tahoma" pitchFamily="34" charset="0"/>
                <a:cs typeface="BLS Condensed" pitchFamily="2" charset="-34"/>
              </a:rPr>
              <a:t>Wealth Research</a:t>
            </a:r>
            <a:endParaRPr lang="en-US" sz="500" dirty="0">
              <a:solidFill>
                <a:schemeClr val="tx1">
                  <a:lumMod val="95000"/>
                  <a:lumOff val="5000"/>
                </a:schemeClr>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พิริยพล  คงวาณิช</a:t>
            </a:r>
            <a:endParaRPr lang="en-US" sz="7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นักกลยุทธ์/ผู้จัดการกองทุน/</a:t>
            </a:r>
            <a:endParaRPr lang="en-US" sz="5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นักวิเคราะห์การลงทุนปัจจัยพื้นฐานด้านหลักทรัพย์</a:t>
            </a:r>
          </a:p>
          <a:p>
            <a:pPr algn="r"/>
            <a:r>
              <a:rPr lang="en-US" sz="500" dirty="0">
                <a:solidFill>
                  <a:srgbClr val="404040"/>
                </a:solidFill>
                <a:latin typeface="BLS Condensed" pitchFamily="2" charset="-34"/>
                <a:ea typeface="Tahoma" pitchFamily="34" charset="0"/>
                <a:cs typeface="BLS Condensed" pitchFamily="2" charset="-34"/>
              </a:rPr>
              <a:t>Piriyapon.kon@bualuang.co.th</a:t>
            </a:r>
          </a:p>
          <a:p>
            <a:pPr algn="r"/>
            <a:r>
              <a:rPr lang="en-US" sz="500" dirty="0">
                <a:solidFill>
                  <a:schemeClr val="accent5">
                    <a:lumMod val="75000"/>
                  </a:schemeClr>
                </a:solidFill>
                <a:latin typeface="BLS Condensed" pitchFamily="2" charset="-34"/>
                <a:ea typeface="Tahoma" pitchFamily="34" charset="0"/>
                <a:cs typeface="BLS Condensed" pitchFamily="2" charset="-34"/>
              </a:rPr>
              <a:t>+66 2 618 1333</a:t>
            </a:r>
            <a:endParaRPr lang="en-US" sz="7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อิทธิ สุตัณฑวิบูลย์ </a:t>
            </a:r>
          </a:p>
          <a:p>
            <a:pPr algn="r"/>
            <a:r>
              <a:rPr lang="th-TH" sz="500" dirty="0">
                <a:solidFill>
                  <a:srgbClr val="404040"/>
                </a:solidFill>
                <a:latin typeface="BLS Condensed" pitchFamily="2" charset="-34"/>
                <a:ea typeface="Tahoma" pitchFamily="34" charset="0"/>
                <a:cs typeface="BLS Condensed" pitchFamily="2" charset="-34"/>
              </a:rPr>
              <a:t>ผู้ช่วยนักวิเคราะห์</a:t>
            </a:r>
            <a:endParaRPr lang="en-US" sz="5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cxnSp>
        <p:nvCxnSpPr>
          <p:cNvPr id="48" name="Straight Connector 47">
            <a:extLst>
              <a:ext uri="{FF2B5EF4-FFF2-40B4-BE49-F238E27FC236}">
                <a16:creationId xmlns:a16="http://schemas.microsoft.com/office/drawing/2014/main" id="{DB442B00-E779-9C8E-61D1-873917185A99}"/>
              </a:ext>
            </a:extLst>
          </p:cNvPr>
          <p:cNvCxnSpPr/>
          <p:nvPr/>
        </p:nvCxnSpPr>
        <p:spPr>
          <a:xfrm>
            <a:off x="4437360" y="7851412"/>
            <a:ext cx="2232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CFB5291-3F9E-F04A-57ED-EC8540FF0A70}"/>
              </a:ext>
            </a:extLst>
          </p:cNvPr>
          <p:cNvSpPr txBox="1"/>
          <p:nvPr/>
        </p:nvSpPr>
        <p:spPr>
          <a:xfrm>
            <a:off x="4039911" y="1838921"/>
            <a:ext cx="2848745" cy="246221"/>
          </a:xfrm>
          <a:prstGeom prst="rect">
            <a:avLst/>
          </a:prstGeom>
          <a:noFill/>
        </p:spPr>
        <p:txBody>
          <a:bodyPr wrap="square" rtlCol="0">
            <a:spAutoFit/>
          </a:bodyPr>
          <a:lstStyle/>
          <a:p>
            <a:r>
              <a:rPr lang="en-US" sz="1000" b="1" dirty="0">
                <a:solidFill>
                  <a:schemeClr val="tx2"/>
                </a:solidFill>
                <a:latin typeface="BLS Bold" panose="00000800000000000000" pitchFamily="2" charset="-34"/>
                <a:cs typeface="BLS Bold" panose="00000800000000000000" pitchFamily="2" charset="-34"/>
              </a:rPr>
              <a:t>SET target: 1560</a:t>
            </a:r>
          </a:p>
        </p:txBody>
      </p:sp>
      <p:cxnSp>
        <p:nvCxnSpPr>
          <p:cNvPr id="51" name="Straight Connector 50">
            <a:extLst>
              <a:ext uri="{FF2B5EF4-FFF2-40B4-BE49-F238E27FC236}">
                <a16:creationId xmlns:a16="http://schemas.microsoft.com/office/drawing/2014/main" id="{AA859AB4-FEB7-E719-3157-D4109949119E}"/>
              </a:ext>
            </a:extLst>
          </p:cNvPr>
          <p:cNvCxnSpPr>
            <a:cxnSpLocks/>
          </p:cNvCxnSpPr>
          <p:nvPr/>
        </p:nvCxnSpPr>
        <p:spPr>
          <a:xfrm>
            <a:off x="4008212" y="2092837"/>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CD14692-5E72-A147-72A0-450B7B453809}"/>
              </a:ext>
            </a:extLst>
          </p:cNvPr>
          <p:cNvSpPr txBox="1"/>
          <p:nvPr/>
        </p:nvSpPr>
        <p:spPr>
          <a:xfrm>
            <a:off x="4018706" y="2108920"/>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Weekly PULSE: </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859779"/>
            <a:ext cx="3711820" cy="7230056"/>
          </a:xfrm>
          <a:prstGeom prst="rect">
            <a:avLst/>
          </a:prstGeom>
          <a:solidFill>
            <a:schemeClr val="accent5">
              <a:lumMod val="20000"/>
              <a:lumOff val="80000"/>
            </a:schemeClr>
          </a:solidFill>
          <a:ln>
            <a:noFill/>
          </a:ln>
        </p:spPr>
        <p:txBody>
          <a:bodyPr wrap="square" rtlCol="0">
            <a:spAutoFit/>
          </a:bodyPr>
          <a:lstStyle/>
          <a:p>
            <a:pPr algn="thaiDist">
              <a:lnSpc>
                <a:spcPct val="120000"/>
              </a:lnSpc>
              <a:spcBef>
                <a:spcPts val="400"/>
              </a:spcBef>
              <a:buSzPct val="120000"/>
            </a:pPr>
            <a:r>
              <a:rPr lang="th-TH" sz="810" b="1" dirty="0">
                <a:solidFill>
                  <a:schemeClr val="tx1">
                    <a:lumMod val="65000"/>
                    <a:lumOff val="35000"/>
                  </a:schemeClr>
                </a:solidFill>
                <a:latin typeface="BLS Text" panose="00000500000000000000" pitchFamily="2" charset="-34"/>
                <a:cs typeface="BLS Text" pitchFamily="2" charset="-34"/>
              </a:rPr>
              <a:t>ตลาดหุ้นไทยยังผันผวนต่อ</a:t>
            </a:r>
            <a:r>
              <a:rPr lang="en-US" sz="810" b="1" dirty="0">
                <a:solidFill>
                  <a:schemeClr val="tx1">
                    <a:lumMod val="65000"/>
                    <a:lumOff val="35000"/>
                  </a:schemeClr>
                </a:solidFill>
                <a:latin typeface="BLS Text" panose="00000500000000000000" pitchFamily="2" charset="-34"/>
                <a:cs typeface="BLS Text" pitchFamily="2" charset="-34"/>
              </a:rPr>
              <a:t> </a:t>
            </a:r>
            <a:r>
              <a:rPr lang="th-TH" sz="810" b="1" dirty="0">
                <a:solidFill>
                  <a:schemeClr val="tx1">
                    <a:lumMod val="65000"/>
                    <a:lumOff val="35000"/>
                  </a:schemeClr>
                </a:solidFill>
                <a:latin typeface="BLS Text" panose="00000500000000000000" pitchFamily="2" charset="-34"/>
                <a:cs typeface="BLS Text" pitchFamily="2" charset="-34"/>
              </a:rPr>
              <a:t>แต่จะเริ่มน้อยลง หลังผ่านภาวะขายรุนแรงเกินไประยะสั้น (</a:t>
            </a:r>
            <a:r>
              <a:rPr lang="en-US" sz="810" b="1" dirty="0">
                <a:solidFill>
                  <a:schemeClr val="tx1">
                    <a:lumMod val="65000"/>
                    <a:lumOff val="35000"/>
                  </a:schemeClr>
                </a:solidFill>
                <a:latin typeface="BLS Text" panose="00000500000000000000" pitchFamily="2" charset="-34"/>
                <a:cs typeface="BLS Text" pitchFamily="2" charset="-34"/>
              </a:rPr>
              <a:t>selling climax): </a:t>
            </a:r>
            <a:r>
              <a:rPr lang="th-TH" sz="810" dirty="0">
                <a:solidFill>
                  <a:schemeClr val="tx1">
                    <a:lumMod val="65000"/>
                    <a:lumOff val="35000"/>
                  </a:schemeClr>
                </a:solidFill>
                <a:latin typeface="BLS Text" panose="00000500000000000000" pitchFamily="2" charset="-34"/>
                <a:cs typeface="BLS Text" pitchFamily="2" charset="-34"/>
              </a:rPr>
              <a:t>สัดส่วนจำนวนหุ้นที่ทำจุดต่ำสุดในรอบ 4 สัปดาห์</a:t>
            </a:r>
            <a:r>
              <a:rPr lang="en-US" sz="810" dirty="0">
                <a:solidFill>
                  <a:schemeClr val="tx1">
                    <a:lumMod val="65000"/>
                    <a:lumOff val="35000"/>
                  </a:schemeClr>
                </a:solidFill>
                <a:latin typeface="BLS Text" panose="00000500000000000000" pitchFamily="2" charset="-34"/>
                <a:cs typeface="BLS Text" pitchFamily="2" charset="-34"/>
              </a:rPr>
              <a:t> (</a:t>
            </a:r>
            <a:r>
              <a:rPr lang="th-TH" sz="810" dirty="0">
                <a:solidFill>
                  <a:schemeClr val="tx1">
                    <a:lumMod val="65000"/>
                    <a:lumOff val="35000"/>
                  </a:schemeClr>
                </a:solidFill>
                <a:latin typeface="BLS Text" panose="00000500000000000000" pitchFamily="2" charset="-34"/>
                <a:cs typeface="BLS Text" pitchFamily="2" charset="-34"/>
              </a:rPr>
              <a:t>4-</a:t>
            </a:r>
            <a:r>
              <a:rPr lang="en-US" sz="810" dirty="0">
                <a:solidFill>
                  <a:schemeClr val="tx1">
                    <a:lumMod val="65000"/>
                    <a:lumOff val="35000"/>
                  </a:schemeClr>
                </a:solidFill>
                <a:latin typeface="BLS Text" panose="00000500000000000000" pitchFamily="2" charset="-34"/>
                <a:cs typeface="BLS Text" pitchFamily="2" charset="-34"/>
              </a:rPr>
              <a:t>week lows)</a:t>
            </a:r>
            <a:r>
              <a:rPr lang="th-TH" sz="810" dirty="0">
                <a:solidFill>
                  <a:schemeClr val="tx1">
                    <a:lumMod val="65000"/>
                    <a:lumOff val="35000"/>
                  </a:schemeClr>
                </a:solidFill>
                <a:latin typeface="BLS Text" panose="00000500000000000000" pitchFamily="2" charset="-34"/>
                <a:cs typeface="BLS Text" pitchFamily="2" charset="-34"/>
              </a:rPr>
              <a:t> พุ่งสูงสุดในรอบ 8 เดือน สะท้อนภาวะการหลีกเลี่ยงความเสี่ยงอย่างมาก (</a:t>
            </a:r>
            <a:r>
              <a:rPr lang="en-US" sz="810" dirty="0">
                <a:solidFill>
                  <a:schemeClr val="tx1">
                    <a:lumMod val="65000"/>
                    <a:lumOff val="35000"/>
                  </a:schemeClr>
                </a:solidFill>
                <a:latin typeface="BLS Text" panose="00000500000000000000" pitchFamily="2" charset="-34"/>
                <a:cs typeface="BLS Text" pitchFamily="2" charset="-34"/>
              </a:rPr>
              <a:t>overly risk-off condition) </a:t>
            </a:r>
            <a:r>
              <a:rPr lang="th-TH" sz="810" dirty="0">
                <a:solidFill>
                  <a:schemeClr val="tx1">
                    <a:lumMod val="65000"/>
                    <a:lumOff val="35000"/>
                  </a:schemeClr>
                </a:solidFill>
                <a:latin typeface="BLS Text" panose="00000500000000000000" pitchFamily="2" charset="-34"/>
                <a:cs typeface="BLS Text" pitchFamily="2" charset="-34"/>
              </a:rPr>
              <a:t>และบ่งชี้ถึงระดับการถือครองหุ้นที่ต่ำกว่าปกติ (</a:t>
            </a:r>
            <a:r>
              <a:rPr lang="en-US" sz="810" dirty="0">
                <a:solidFill>
                  <a:schemeClr val="tx1">
                    <a:lumMod val="65000"/>
                    <a:lumOff val="35000"/>
                  </a:schemeClr>
                </a:solidFill>
                <a:latin typeface="BLS Text" panose="00000500000000000000" pitchFamily="2" charset="-34"/>
                <a:cs typeface="BLS Text" pitchFamily="2" charset="-34"/>
              </a:rPr>
              <a:t>under-owned positioning) </a:t>
            </a:r>
            <a:r>
              <a:rPr lang="th-TH" sz="810" dirty="0">
                <a:solidFill>
                  <a:schemeClr val="tx1">
                    <a:lumMod val="65000"/>
                    <a:lumOff val="35000"/>
                  </a:schemeClr>
                </a:solidFill>
                <a:latin typeface="BLS Text" panose="00000500000000000000" pitchFamily="2" charset="-34"/>
                <a:cs typeface="BLS Text" pitchFamily="2" charset="-34"/>
              </a:rPr>
              <a:t>ส่งสัญญาณตลาดมีแนวโน้มเคลื่อนไหวในกรอบ หลังแรงขายจากการลดความเสี่ยงของนักลงทุน (</a:t>
            </a:r>
            <a:r>
              <a:rPr lang="en-US" sz="810" dirty="0">
                <a:solidFill>
                  <a:schemeClr val="tx1">
                    <a:lumMod val="65000"/>
                    <a:lumOff val="35000"/>
                  </a:schemeClr>
                </a:solidFill>
                <a:latin typeface="BLS Text" panose="00000500000000000000" pitchFamily="2" charset="-34"/>
                <a:cs typeface="BLS Text" pitchFamily="2" charset="-34"/>
              </a:rPr>
              <a:t>de-risking flow) </a:t>
            </a:r>
            <a:r>
              <a:rPr lang="th-TH" sz="810" dirty="0">
                <a:solidFill>
                  <a:schemeClr val="tx1">
                    <a:lumMod val="65000"/>
                    <a:lumOff val="35000"/>
                  </a:schemeClr>
                </a:solidFill>
                <a:latin typeface="BLS Text" panose="00000500000000000000" pitchFamily="2" charset="-34"/>
                <a:cs typeface="BLS Text" pitchFamily="2" charset="-34"/>
              </a:rPr>
              <a:t>เริ่มชะลอ</a:t>
            </a:r>
          </a:p>
          <a:p>
            <a:pPr algn="thaiDist">
              <a:lnSpc>
                <a:spcPct val="120000"/>
              </a:lnSpc>
              <a:spcBef>
                <a:spcPts val="400"/>
              </a:spcBef>
              <a:buSzPct val="120000"/>
            </a:pPr>
            <a:r>
              <a:rPr lang="th-TH" sz="810" b="1" dirty="0">
                <a:solidFill>
                  <a:schemeClr val="tx1">
                    <a:lumMod val="65000"/>
                    <a:lumOff val="35000"/>
                  </a:schemeClr>
                </a:solidFill>
                <a:latin typeface="BLS Text" panose="00000500000000000000" pitchFamily="2" charset="-34"/>
                <a:cs typeface="BLS Text" pitchFamily="2" charset="-34"/>
              </a:rPr>
              <a:t>ตลาดหุ้นไทยมักเข้าสู่วงจรปรับมูลค่าเพิ่ม (</a:t>
            </a:r>
            <a:r>
              <a:rPr lang="en-US" sz="810" b="1" dirty="0">
                <a:solidFill>
                  <a:schemeClr val="tx1">
                    <a:lumMod val="65000"/>
                    <a:lumOff val="35000"/>
                  </a:schemeClr>
                </a:solidFill>
                <a:latin typeface="BLS Text" panose="00000500000000000000" pitchFamily="2" charset="-34"/>
                <a:cs typeface="BLS Text" pitchFamily="2" charset="-34"/>
              </a:rPr>
              <a:t>Valuation re-rating cycle) </a:t>
            </a:r>
            <a:r>
              <a:rPr lang="th-TH" sz="810" b="1" dirty="0">
                <a:solidFill>
                  <a:schemeClr val="tx1">
                    <a:lumMod val="65000"/>
                    <a:lumOff val="35000"/>
                  </a:schemeClr>
                </a:solidFill>
                <a:latin typeface="BLS Text" panose="00000500000000000000" pitchFamily="2" charset="-34"/>
                <a:cs typeface="BLS Text" pitchFamily="2" charset="-34"/>
              </a:rPr>
              <a:t>หลังการผลิตโลกทยอยฟื้น</a:t>
            </a:r>
            <a:r>
              <a:rPr lang="en-US" sz="810" b="1" dirty="0">
                <a:solidFill>
                  <a:schemeClr val="tx1">
                    <a:lumMod val="65000"/>
                    <a:lumOff val="35000"/>
                  </a:schemeClr>
                </a:solidFill>
                <a:latin typeface="BLS Text" panose="00000500000000000000" pitchFamily="2" charset="-34"/>
                <a:cs typeface="BLS Text" pitchFamily="2" charset="-34"/>
              </a:rPr>
              <a:t>:</a:t>
            </a:r>
            <a:r>
              <a:rPr lang="th-TH" sz="810" b="1" dirty="0">
                <a:solidFill>
                  <a:schemeClr val="tx1">
                    <a:lumMod val="65000"/>
                    <a:lumOff val="35000"/>
                  </a:schemeClr>
                </a:solidFill>
                <a:latin typeface="BLS Text" panose="00000500000000000000" pitchFamily="2" charset="-34"/>
                <a:cs typeface="BLS Text" pitchFamily="2" charset="-34"/>
              </a:rPr>
              <a:t> </a:t>
            </a:r>
            <a:r>
              <a:rPr lang="th-TH" sz="810" dirty="0">
                <a:solidFill>
                  <a:schemeClr val="tx1">
                    <a:lumMod val="65000"/>
                    <a:lumOff val="35000"/>
                  </a:schemeClr>
                </a:solidFill>
                <a:latin typeface="BLS Text" panose="00000500000000000000" pitchFamily="2" charset="-34"/>
                <a:cs typeface="BLS Text" pitchFamily="2" charset="-34"/>
              </a:rPr>
              <a:t>หากประเมินทิศทางกำไร อัตราผลตอบแทนจากส่วนของผู้ถือหุ้น (</a:t>
            </a:r>
            <a:r>
              <a:rPr lang="en-US" sz="810" dirty="0">
                <a:solidFill>
                  <a:schemeClr val="tx1">
                    <a:lumMod val="65000"/>
                    <a:lumOff val="35000"/>
                  </a:schemeClr>
                </a:solidFill>
                <a:latin typeface="BLS Text" panose="00000500000000000000" pitchFamily="2" charset="-34"/>
                <a:cs typeface="BLS Text" pitchFamily="2" charset="-34"/>
              </a:rPr>
              <a:t>ROE) </a:t>
            </a:r>
            <a:r>
              <a:rPr lang="th-TH" sz="810" dirty="0">
                <a:solidFill>
                  <a:schemeClr val="tx1">
                    <a:lumMod val="65000"/>
                    <a:lumOff val="35000"/>
                  </a:schemeClr>
                </a:solidFill>
                <a:latin typeface="BLS Text" panose="00000500000000000000" pitchFamily="2" charset="-34"/>
                <a:cs typeface="BLS Text" pitchFamily="2" charset="-34"/>
              </a:rPr>
              <a:t>รวมถึงการประเมินมูลค่า (</a:t>
            </a:r>
            <a:r>
              <a:rPr lang="en-US" sz="810" dirty="0">
                <a:solidFill>
                  <a:schemeClr val="tx1">
                    <a:lumMod val="65000"/>
                    <a:lumOff val="35000"/>
                  </a:schemeClr>
                </a:solidFill>
                <a:latin typeface="BLS Text" panose="00000500000000000000" pitchFamily="2" charset="-34"/>
                <a:cs typeface="BLS Text" pitchFamily="2" charset="-34"/>
              </a:rPr>
              <a:t>Valuation) </a:t>
            </a:r>
            <a:r>
              <a:rPr lang="th-TH" sz="810" dirty="0">
                <a:solidFill>
                  <a:schemeClr val="tx1">
                    <a:lumMod val="65000"/>
                    <a:lumOff val="35000"/>
                  </a:schemeClr>
                </a:solidFill>
                <a:latin typeface="BLS Text" panose="00000500000000000000" pitchFamily="2" charset="-34"/>
                <a:cs typeface="BLS Text" pitchFamily="2" charset="-34"/>
              </a:rPr>
              <a:t>ของหุ้นไทย มักสัมพันธ์กับวงจรภาคการผลิตโลกอย่างมาก หลังสัดส่วนกำไรของ </a:t>
            </a:r>
            <a:r>
              <a:rPr lang="en-US" sz="810" dirty="0">
                <a:solidFill>
                  <a:schemeClr val="tx1">
                    <a:lumMod val="65000"/>
                    <a:lumOff val="35000"/>
                  </a:schemeClr>
                </a:solidFill>
                <a:latin typeface="BLS Text" panose="00000500000000000000" pitchFamily="2" charset="-34"/>
                <a:cs typeface="BLS Text" pitchFamily="2" charset="-34"/>
              </a:rPr>
              <a:t>SET </a:t>
            </a:r>
            <a:r>
              <a:rPr lang="th-TH" sz="810" dirty="0">
                <a:solidFill>
                  <a:schemeClr val="tx1">
                    <a:lumMod val="65000"/>
                    <a:lumOff val="35000"/>
                  </a:schemeClr>
                </a:solidFill>
                <a:latin typeface="BLS Text" panose="00000500000000000000" pitchFamily="2" charset="-34"/>
                <a:cs typeface="BLS Text" pitchFamily="2" charset="-34"/>
              </a:rPr>
              <a:t>มาจากกลุ่มเชื่อมโยงเศรษฐกิจโลก (</a:t>
            </a:r>
            <a:r>
              <a:rPr lang="en-US" sz="810" dirty="0">
                <a:solidFill>
                  <a:schemeClr val="tx1">
                    <a:lumMod val="65000"/>
                    <a:lumOff val="35000"/>
                  </a:schemeClr>
                </a:solidFill>
                <a:latin typeface="BLS Text" panose="00000500000000000000" pitchFamily="2" charset="-34"/>
                <a:cs typeface="BLS Text" pitchFamily="2" charset="-34"/>
              </a:rPr>
              <a:t>Global play) </a:t>
            </a:r>
            <a:r>
              <a:rPr lang="th-TH" sz="810" dirty="0">
                <a:solidFill>
                  <a:schemeClr val="tx1">
                    <a:lumMod val="65000"/>
                    <a:lumOff val="35000"/>
                  </a:schemeClr>
                </a:solidFill>
                <a:latin typeface="BLS Text" panose="00000500000000000000" pitchFamily="2" charset="-34"/>
                <a:cs typeface="BLS Text" pitchFamily="2" charset="-34"/>
              </a:rPr>
              <a:t>ทั้งพลังงานไม่รวมโรงไฟฟ้า ปิโตรเคมี แพคเกจจิ้ง เป็นต้น คิดเป็นราว 28% หรือเกือบ 1 ใน 3 ของกำไรทั้งหมดปี 2026 ในช่วงวงจรภาคการผลิตโลกขยายตัว สะท้อนผ่านดัชนีภาคการผลิตสหรัฐฯ (</a:t>
            </a:r>
            <a:r>
              <a:rPr lang="en-US" sz="810" dirty="0">
                <a:solidFill>
                  <a:schemeClr val="tx1">
                    <a:lumMod val="65000"/>
                    <a:lumOff val="35000"/>
                  </a:schemeClr>
                </a:solidFill>
                <a:latin typeface="BLS Text" panose="00000500000000000000" pitchFamily="2" charset="-34"/>
                <a:cs typeface="BLS Text" pitchFamily="2" charset="-34"/>
              </a:rPr>
              <a:t>US ISM manufacturing PMI) </a:t>
            </a:r>
            <a:r>
              <a:rPr lang="th-TH" sz="810" dirty="0">
                <a:solidFill>
                  <a:schemeClr val="tx1">
                    <a:lumMod val="65000"/>
                    <a:lumOff val="35000"/>
                  </a:schemeClr>
                </a:solidFill>
                <a:latin typeface="BLS Text" panose="00000500000000000000" pitchFamily="2" charset="-34"/>
                <a:cs typeface="BLS Text" pitchFamily="2" charset="-34"/>
              </a:rPr>
              <a:t>ในอดีต ทั้ง 4 ช่วง ทั้งปี 2009-2011, ปี 2013-2014, ปี 2016-2018 และครึ่งปีหลังของปี 2020-2021 มักเห็นทิศทางกำไร และอัตราผลตอบแทนจากส่วนของผู้ถือหุ้น (</a:t>
            </a:r>
            <a:r>
              <a:rPr lang="en-US" sz="810" dirty="0">
                <a:solidFill>
                  <a:schemeClr val="tx1">
                    <a:lumMod val="65000"/>
                    <a:lumOff val="35000"/>
                  </a:schemeClr>
                </a:solidFill>
                <a:latin typeface="BLS Text" panose="00000500000000000000" pitchFamily="2" charset="-34"/>
                <a:cs typeface="BLS Text" pitchFamily="2" charset="-34"/>
              </a:rPr>
              <a:t>ROE) </a:t>
            </a:r>
            <a:r>
              <a:rPr lang="th-TH" sz="810" dirty="0">
                <a:solidFill>
                  <a:schemeClr val="tx1">
                    <a:lumMod val="65000"/>
                    <a:lumOff val="35000"/>
                  </a:schemeClr>
                </a:solidFill>
                <a:latin typeface="BLS Text" panose="00000500000000000000" pitchFamily="2" charset="-34"/>
                <a:cs typeface="BLS Text" pitchFamily="2" charset="-34"/>
              </a:rPr>
              <a:t>ของ </a:t>
            </a:r>
            <a:r>
              <a:rPr lang="en-US" sz="810" dirty="0">
                <a:solidFill>
                  <a:schemeClr val="tx1">
                    <a:lumMod val="65000"/>
                    <a:lumOff val="35000"/>
                  </a:schemeClr>
                </a:solidFill>
                <a:latin typeface="BLS Text" panose="00000500000000000000" pitchFamily="2" charset="-34"/>
                <a:cs typeface="BLS Text" pitchFamily="2" charset="-34"/>
              </a:rPr>
              <a:t>SET </a:t>
            </a:r>
            <a:r>
              <a:rPr lang="th-TH" sz="810" dirty="0">
                <a:solidFill>
                  <a:schemeClr val="tx1">
                    <a:lumMod val="65000"/>
                    <a:lumOff val="35000"/>
                  </a:schemeClr>
                </a:solidFill>
                <a:latin typeface="BLS Text" panose="00000500000000000000" pitchFamily="2" charset="-34"/>
                <a:cs typeface="BLS Text" pitchFamily="2" charset="-34"/>
              </a:rPr>
              <a:t>ขยายตัวเช่นกัน ก่อนจะตามมาด้วยวงจรปรับมูลค่าเพิ่มครั้งใหม่ (</a:t>
            </a:r>
            <a:r>
              <a:rPr lang="en-US" sz="810" dirty="0">
                <a:solidFill>
                  <a:schemeClr val="tx1">
                    <a:lumMod val="65000"/>
                    <a:lumOff val="35000"/>
                  </a:schemeClr>
                </a:solidFill>
                <a:latin typeface="BLS Text" panose="00000500000000000000" pitchFamily="2" charset="-34"/>
                <a:cs typeface="BLS Text" pitchFamily="2" charset="-34"/>
              </a:rPr>
              <a:t>Valuation re-rating cycle) </a:t>
            </a:r>
            <a:r>
              <a:rPr lang="th-TH" sz="810" dirty="0">
                <a:solidFill>
                  <a:schemeClr val="tx1">
                    <a:lumMod val="65000"/>
                    <a:lumOff val="35000"/>
                  </a:schemeClr>
                </a:solidFill>
                <a:latin typeface="BLS Text" panose="00000500000000000000" pitchFamily="2" charset="-34"/>
                <a:cs typeface="BLS Text" pitchFamily="2" charset="-34"/>
              </a:rPr>
              <a:t>หรือการปรับระดับ </a:t>
            </a:r>
            <a:r>
              <a:rPr lang="en-US" sz="810" dirty="0">
                <a:solidFill>
                  <a:schemeClr val="tx1">
                    <a:lumMod val="65000"/>
                    <a:lumOff val="35000"/>
                  </a:schemeClr>
                </a:solidFill>
                <a:latin typeface="BLS Text" panose="00000500000000000000" pitchFamily="2" charset="-34"/>
                <a:cs typeface="BLS Text" pitchFamily="2" charset="-34"/>
              </a:rPr>
              <a:t>PER </a:t>
            </a:r>
            <a:r>
              <a:rPr lang="th-TH" sz="810" dirty="0">
                <a:solidFill>
                  <a:schemeClr val="tx1">
                    <a:lumMod val="65000"/>
                    <a:lumOff val="35000"/>
                  </a:schemeClr>
                </a:solidFill>
                <a:latin typeface="BLS Text" panose="00000500000000000000" pitchFamily="2" charset="-34"/>
                <a:cs typeface="BLS Text" pitchFamily="2" charset="-34"/>
              </a:rPr>
              <a:t>ขึ้น ในอดีตมักเห็นการปรับขึ้นเฉลี่ย 1-1.5</a:t>
            </a:r>
            <a:r>
              <a:rPr lang="en-US" sz="810" dirty="0">
                <a:solidFill>
                  <a:schemeClr val="tx1">
                    <a:lumMod val="65000"/>
                    <a:lumOff val="35000"/>
                  </a:schemeClr>
                </a:solidFill>
                <a:latin typeface="BLS Text" panose="00000500000000000000" pitchFamily="2" charset="-34"/>
                <a:cs typeface="BLS Text" pitchFamily="2" charset="-34"/>
              </a:rPr>
              <a:t>SD</a:t>
            </a:r>
            <a:endParaRPr lang="th-TH" sz="810"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810" b="1" dirty="0">
                <a:solidFill>
                  <a:schemeClr val="tx1">
                    <a:lumMod val="65000"/>
                    <a:lumOff val="35000"/>
                  </a:schemeClr>
                </a:solidFill>
                <a:latin typeface="BLS Text" panose="00000500000000000000" pitchFamily="2" charset="-34"/>
                <a:cs typeface="BLS Text" pitchFamily="2" charset="-34"/>
              </a:rPr>
              <a:t>กลุ่มหุ้นวัฏจักรจะเป็นแรงหนุนสำคัญ</a:t>
            </a:r>
            <a:r>
              <a:rPr lang="en-US" sz="810" b="1" dirty="0">
                <a:solidFill>
                  <a:schemeClr val="tx1">
                    <a:lumMod val="65000"/>
                    <a:lumOff val="35000"/>
                  </a:schemeClr>
                </a:solidFill>
                <a:latin typeface="BLS Text" panose="00000500000000000000" pitchFamily="2" charset="-34"/>
                <a:cs typeface="BLS Text" pitchFamily="2" charset="-34"/>
              </a:rPr>
              <a:t>:</a:t>
            </a:r>
            <a:r>
              <a:rPr lang="th-TH" sz="810" b="1" dirty="0">
                <a:solidFill>
                  <a:schemeClr val="tx1">
                    <a:lumMod val="65000"/>
                    <a:lumOff val="35000"/>
                  </a:schemeClr>
                </a:solidFill>
                <a:latin typeface="BLS Text" panose="00000500000000000000" pitchFamily="2" charset="-34"/>
                <a:cs typeface="BLS Text" pitchFamily="2" charset="-34"/>
              </a:rPr>
              <a:t> </a:t>
            </a:r>
            <a:r>
              <a:rPr lang="th-TH" sz="810" dirty="0">
                <a:solidFill>
                  <a:schemeClr val="tx1">
                    <a:lumMod val="65000"/>
                    <a:lumOff val="35000"/>
                  </a:schemeClr>
                </a:solidFill>
                <a:latin typeface="BLS Text" panose="00000500000000000000" pitchFamily="2" charset="-34"/>
                <a:cs typeface="BLS Text" pitchFamily="2" charset="-34"/>
              </a:rPr>
              <a:t>สัดส่วนกำไรของหุ้นพลังงาน และปิโตรในช่วงภาคการผลิตโลกขยายตัวเพิ่มขึ้นมาอยู่ที่ 36% ของกำไรทั้งหมด เทียบค่าเฉลี่ยระยะยาวที่ 28% ทิศทางกำไร และ </a:t>
            </a:r>
            <a:r>
              <a:rPr lang="en-US" sz="810" dirty="0">
                <a:solidFill>
                  <a:schemeClr val="tx1">
                    <a:lumMod val="65000"/>
                    <a:lumOff val="35000"/>
                  </a:schemeClr>
                </a:solidFill>
                <a:latin typeface="BLS Text" panose="00000500000000000000" pitchFamily="2" charset="-34"/>
                <a:cs typeface="BLS Text" pitchFamily="2" charset="-34"/>
              </a:rPr>
              <a:t>ROE </a:t>
            </a:r>
            <a:r>
              <a:rPr lang="th-TH" sz="810" dirty="0">
                <a:solidFill>
                  <a:schemeClr val="tx1">
                    <a:lumMod val="65000"/>
                    <a:lumOff val="35000"/>
                  </a:schemeClr>
                </a:solidFill>
                <a:latin typeface="BLS Text" panose="00000500000000000000" pitchFamily="2" charset="-34"/>
                <a:cs typeface="BLS Text" pitchFamily="2" charset="-34"/>
              </a:rPr>
              <a:t>ของกลุ่มพลังงานต้นน้ำ โรงกลั่น และปิโตรฯ มักเข้าสู่ขาขึ้น กลุ่มพลังงานต้นน้ำ </a:t>
            </a:r>
            <a:r>
              <a:rPr lang="en-US" sz="810" dirty="0">
                <a:solidFill>
                  <a:schemeClr val="tx1">
                    <a:lumMod val="65000"/>
                    <a:lumOff val="35000"/>
                  </a:schemeClr>
                </a:solidFill>
                <a:latin typeface="BLS Text" panose="00000500000000000000" pitchFamily="2" charset="-34"/>
                <a:cs typeface="BLS Text" pitchFamily="2" charset="-34"/>
              </a:rPr>
              <a:t>PTTEP </a:t>
            </a:r>
            <a:r>
              <a:rPr lang="th-TH" sz="810" dirty="0">
                <a:solidFill>
                  <a:schemeClr val="tx1">
                    <a:lumMod val="65000"/>
                    <a:lumOff val="35000"/>
                  </a:schemeClr>
                </a:solidFill>
                <a:latin typeface="BLS Text" panose="00000500000000000000" pitchFamily="2" charset="-34"/>
                <a:cs typeface="BLS Text" pitchFamily="2" charset="-34"/>
              </a:rPr>
              <a:t>ได้แรงหนุนจากราคาน้ำมันที่มักปรับขึ้นอย่างน้อย 10-15 ดอลลาร์ต่อบาร์เรล หรือราว 0.5 </a:t>
            </a:r>
            <a:r>
              <a:rPr lang="en-US" sz="810" dirty="0">
                <a:solidFill>
                  <a:schemeClr val="tx1">
                    <a:lumMod val="65000"/>
                    <a:lumOff val="35000"/>
                  </a:schemeClr>
                </a:solidFill>
                <a:latin typeface="BLS Text" panose="00000500000000000000" pitchFamily="2" charset="-34"/>
                <a:cs typeface="BLS Text" pitchFamily="2" charset="-34"/>
              </a:rPr>
              <a:t>SD</a:t>
            </a:r>
            <a:r>
              <a:rPr lang="th-TH" sz="810" dirty="0">
                <a:solidFill>
                  <a:schemeClr val="tx1">
                    <a:lumMod val="65000"/>
                    <a:lumOff val="35000"/>
                  </a:schemeClr>
                </a:solidFill>
                <a:latin typeface="BLS Text" panose="00000500000000000000" pitchFamily="2" charset="-34"/>
                <a:cs typeface="BLS Text" pitchFamily="2" charset="-34"/>
              </a:rPr>
              <a:t> ขึ้นอยู่กับสถานการณ์อุปสงค์-อุปทานแต่ละรอบ เช่นเดียวกับกลุ่มโรงกลั่น </a:t>
            </a:r>
            <a:r>
              <a:rPr lang="en-US" sz="810" dirty="0">
                <a:solidFill>
                  <a:schemeClr val="tx1">
                    <a:lumMod val="65000"/>
                    <a:lumOff val="35000"/>
                  </a:schemeClr>
                </a:solidFill>
                <a:latin typeface="BLS Text" panose="00000500000000000000" pitchFamily="2" charset="-34"/>
                <a:cs typeface="BLS Text" pitchFamily="2" charset="-34"/>
              </a:rPr>
              <a:t>TOP, SPRC </a:t>
            </a:r>
            <a:r>
              <a:rPr lang="th-TH" sz="810" dirty="0">
                <a:solidFill>
                  <a:schemeClr val="tx1">
                    <a:lumMod val="65000"/>
                    <a:lumOff val="35000"/>
                  </a:schemeClr>
                </a:solidFill>
                <a:latin typeface="BLS Text" panose="00000500000000000000" pitchFamily="2" charset="-34"/>
                <a:cs typeface="BLS Text" pitchFamily="2" charset="-34"/>
              </a:rPr>
              <a:t>ที่ค่าการกลั่นมักปรับขึ้นอย่างน้อย 3 ดอลลาร์ต่อบาร์เรล หรือราว 1 </a:t>
            </a:r>
            <a:r>
              <a:rPr lang="en-US" sz="810" dirty="0">
                <a:solidFill>
                  <a:schemeClr val="tx1">
                    <a:lumMod val="65000"/>
                    <a:lumOff val="35000"/>
                  </a:schemeClr>
                </a:solidFill>
                <a:latin typeface="BLS Text" panose="00000500000000000000" pitchFamily="2" charset="-34"/>
                <a:cs typeface="BLS Text" pitchFamily="2" charset="-34"/>
              </a:rPr>
              <a:t>SD</a:t>
            </a:r>
            <a:r>
              <a:rPr lang="th-TH" sz="810" dirty="0">
                <a:solidFill>
                  <a:schemeClr val="tx1">
                    <a:lumMod val="65000"/>
                    <a:lumOff val="35000"/>
                  </a:schemeClr>
                </a:solidFill>
                <a:latin typeface="BLS Text" panose="00000500000000000000" pitchFamily="2" charset="-34"/>
                <a:cs typeface="BLS Text" pitchFamily="2" charset="-34"/>
              </a:rPr>
              <a:t> </a:t>
            </a:r>
            <a:r>
              <a:rPr lang="th-TH" sz="810" u="sng" dirty="0">
                <a:solidFill>
                  <a:schemeClr val="tx1">
                    <a:lumMod val="65000"/>
                    <a:lumOff val="35000"/>
                  </a:schemeClr>
                </a:solidFill>
                <a:latin typeface="BLS Text" panose="00000500000000000000" pitchFamily="2" charset="-34"/>
                <a:cs typeface="BLS Text" pitchFamily="2" charset="-34"/>
              </a:rPr>
              <a:t>สำหรับกลุ่มปิโตรฯ อย่าง </a:t>
            </a:r>
            <a:r>
              <a:rPr lang="en-US" sz="810" u="sng" dirty="0">
                <a:solidFill>
                  <a:schemeClr val="tx1">
                    <a:lumMod val="65000"/>
                    <a:lumOff val="35000"/>
                  </a:schemeClr>
                </a:solidFill>
                <a:latin typeface="BLS Text" panose="00000500000000000000" pitchFamily="2" charset="-34"/>
                <a:cs typeface="BLS Text" pitchFamily="2" charset="-34"/>
              </a:rPr>
              <a:t>PTTGC, SCC </a:t>
            </a:r>
            <a:r>
              <a:rPr lang="th-TH" sz="810" u="sng" dirty="0">
                <a:solidFill>
                  <a:schemeClr val="tx1">
                    <a:lumMod val="65000"/>
                    <a:lumOff val="35000"/>
                  </a:schemeClr>
                </a:solidFill>
                <a:latin typeface="BLS Text" panose="00000500000000000000" pitchFamily="2" charset="-34"/>
                <a:cs typeface="BLS Text" pitchFamily="2" charset="-34"/>
              </a:rPr>
              <a:t>ส่วนต่าง </a:t>
            </a:r>
            <a:r>
              <a:rPr lang="en-US" sz="810" u="sng" dirty="0">
                <a:solidFill>
                  <a:schemeClr val="tx1">
                    <a:lumMod val="65000"/>
                    <a:lumOff val="35000"/>
                  </a:schemeClr>
                </a:solidFill>
                <a:latin typeface="BLS Text" panose="00000500000000000000" pitchFamily="2" charset="-34"/>
                <a:cs typeface="BLS Text" pitchFamily="2" charset="-34"/>
              </a:rPr>
              <a:t>HDPE </a:t>
            </a:r>
            <a:r>
              <a:rPr lang="th-TH" sz="810" u="sng" dirty="0">
                <a:solidFill>
                  <a:schemeClr val="tx1">
                    <a:lumMod val="65000"/>
                    <a:lumOff val="35000"/>
                  </a:schemeClr>
                </a:solidFill>
                <a:latin typeface="BLS Text" panose="00000500000000000000" pitchFamily="2" charset="-34"/>
                <a:cs typeface="BLS Text" pitchFamily="2" charset="-34"/>
              </a:rPr>
              <a:t>มักปรับขึ้นอย่างน้อย 80-100 ดอลลาร์ต่อตัน หรือราว 1 </a:t>
            </a:r>
            <a:r>
              <a:rPr lang="en-US" sz="810" u="sng" dirty="0">
                <a:solidFill>
                  <a:schemeClr val="tx1">
                    <a:lumMod val="65000"/>
                    <a:lumOff val="35000"/>
                  </a:schemeClr>
                </a:solidFill>
                <a:latin typeface="BLS Text" panose="00000500000000000000" pitchFamily="2" charset="-34"/>
                <a:cs typeface="BLS Text" pitchFamily="2" charset="-34"/>
              </a:rPr>
              <a:t>SD </a:t>
            </a:r>
            <a:r>
              <a:rPr lang="th-TH" sz="810" dirty="0">
                <a:solidFill>
                  <a:schemeClr val="tx1">
                    <a:lumMod val="65000"/>
                    <a:lumOff val="35000"/>
                  </a:schemeClr>
                </a:solidFill>
                <a:latin typeface="BLS Text" panose="00000500000000000000" pitchFamily="2" charset="-34"/>
                <a:cs typeface="BLS Text" pitchFamily="2" charset="-34"/>
              </a:rPr>
              <a:t>ขณะที่ </a:t>
            </a:r>
            <a:r>
              <a:rPr lang="en-US" sz="810" dirty="0">
                <a:solidFill>
                  <a:schemeClr val="tx1">
                    <a:lumMod val="65000"/>
                    <a:lumOff val="35000"/>
                  </a:schemeClr>
                </a:solidFill>
                <a:latin typeface="BLS Text" panose="00000500000000000000" pitchFamily="2" charset="-34"/>
                <a:cs typeface="BLS Text" pitchFamily="2" charset="-34"/>
              </a:rPr>
              <a:t>IVL </a:t>
            </a:r>
            <a:r>
              <a:rPr lang="th-TH" sz="810" dirty="0">
                <a:solidFill>
                  <a:schemeClr val="tx1">
                    <a:lumMod val="65000"/>
                    <a:lumOff val="35000"/>
                  </a:schemeClr>
                </a:solidFill>
                <a:latin typeface="BLS Text" panose="00000500000000000000" pitchFamily="2" charset="-34"/>
                <a:cs typeface="BLS Text" pitchFamily="2" charset="-34"/>
              </a:rPr>
              <a:t>ส่วนต่าง </a:t>
            </a:r>
            <a:r>
              <a:rPr lang="en-US" sz="810" dirty="0">
                <a:solidFill>
                  <a:schemeClr val="tx1">
                    <a:lumMod val="65000"/>
                    <a:lumOff val="35000"/>
                  </a:schemeClr>
                </a:solidFill>
                <a:latin typeface="BLS Text" panose="00000500000000000000" pitchFamily="2" charset="-34"/>
                <a:cs typeface="BLS Text" pitchFamily="2" charset="-34"/>
              </a:rPr>
              <a:t>PET (west) </a:t>
            </a:r>
            <a:r>
              <a:rPr lang="th-TH" sz="810" dirty="0">
                <a:solidFill>
                  <a:schemeClr val="tx1">
                    <a:lumMod val="65000"/>
                    <a:lumOff val="35000"/>
                  </a:schemeClr>
                </a:solidFill>
                <a:latin typeface="BLS Text" panose="00000500000000000000" pitchFamily="2" charset="-34"/>
                <a:cs typeface="BLS Text" pitchFamily="2" charset="-34"/>
              </a:rPr>
              <a:t>มักปรับขึ้นแรงกว่า โดยขึ้นเฉลี่ยราว 120-150 ดอลลาร์ต่อตัน หรือราว 2 </a:t>
            </a:r>
            <a:r>
              <a:rPr lang="en-US" sz="810" dirty="0">
                <a:solidFill>
                  <a:schemeClr val="tx1">
                    <a:lumMod val="65000"/>
                    <a:lumOff val="35000"/>
                  </a:schemeClr>
                </a:solidFill>
                <a:latin typeface="BLS Text" panose="00000500000000000000" pitchFamily="2" charset="-34"/>
                <a:cs typeface="BLS Text" pitchFamily="2" charset="-34"/>
              </a:rPr>
              <a:t>SD </a:t>
            </a:r>
            <a:r>
              <a:rPr lang="th-TH" sz="810" dirty="0">
                <a:solidFill>
                  <a:schemeClr val="tx1">
                    <a:lumMod val="65000"/>
                    <a:lumOff val="35000"/>
                  </a:schemeClr>
                </a:solidFill>
                <a:latin typeface="BLS Text" panose="00000500000000000000" pitchFamily="2" charset="-34"/>
                <a:cs typeface="BLS Text" pitchFamily="2" charset="-34"/>
              </a:rPr>
              <a:t>ในแง่ </a:t>
            </a:r>
            <a:r>
              <a:rPr lang="en-US" sz="810" dirty="0">
                <a:solidFill>
                  <a:schemeClr val="tx1">
                    <a:lumMod val="65000"/>
                    <a:lumOff val="35000"/>
                  </a:schemeClr>
                </a:solidFill>
                <a:latin typeface="BLS Text" panose="00000500000000000000" pitchFamily="2" charset="-34"/>
                <a:cs typeface="BLS Text" pitchFamily="2" charset="-34"/>
              </a:rPr>
              <a:t>Valuations </a:t>
            </a:r>
            <a:r>
              <a:rPr lang="th-TH" sz="810" dirty="0">
                <a:solidFill>
                  <a:schemeClr val="tx1">
                    <a:lumMod val="65000"/>
                    <a:lumOff val="35000"/>
                  </a:schemeClr>
                </a:solidFill>
                <a:latin typeface="BLS Text" panose="00000500000000000000" pitchFamily="2" charset="-34"/>
                <a:cs typeface="BLS Text" pitchFamily="2" charset="-34"/>
              </a:rPr>
              <a:t>กลุ่มพลังงานและปิโตรฯ เห็นการปรับมูลค่าเพิ่มเช่นกัน โดยเฉลี่ยปรับ </a:t>
            </a:r>
            <a:r>
              <a:rPr lang="en-US" sz="810" dirty="0">
                <a:solidFill>
                  <a:schemeClr val="tx1">
                    <a:lumMod val="65000"/>
                    <a:lumOff val="35000"/>
                  </a:schemeClr>
                </a:solidFill>
                <a:latin typeface="BLS Text" panose="00000500000000000000" pitchFamily="2" charset="-34"/>
                <a:cs typeface="BLS Text" pitchFamily="2" charset="-34"/>
              </a:rPr>
              <a:t>PBV </a:t>
            </a:r>
            <a:r>
              <a:rPr lang="th-TH" sz="810" dirty="0">
                <a:solidFill>
                  <a:schemeClr val="tx1">
                    <a:lumMod val="65000"/>
                    <a:lumOff val="35000"/>
                  </a:schemeClr>
                </a:solidFill>
                <a:latin typeface="BLS Text" panose="00000500000000000000" pitchFamily="2" charset="-34"/>
                <a:cs typeface="BLS Text" pitchFamily="2" charset="-34"/>
              </a:rPr>
              <a:t>ขึ้นราว 1-1.5 </a:t>
            </a:r>
            <a:r>
              <a:rPr lang="en-US" sz="810" dirty="0">
                <a:solidFill>
                  <a:schemeClr val="tx1">
                    <a:lumMod val="65000"/>
                    <a:lumOff val="35000"/>
                  </a:schemeClr>
                </a:solidFill>
                <a:latin typeface="BLS Text" panose="00000500000000000000" pitchFamily="2" charset="-34"/>
                <a:cs typeface="BLS Text" pitchFamily="2" charset="-34"/>
              </a:rPr>
              <a:t>SD</a:t>
            </a:r>
            <a:r>
              <a:rPr lang="th-TH" sz="810" dirty="0">
                <a:solidFill>
                  <a:schemeClr val="tx1">
                    <a:lumMod val="65000"/>
                    <a:lumOff val="35000"/>
                  </a:schemeClr>
                </a:solidFill>
                <a:latin typeface="BLS Text" panose="00000500000000000000" pitchFamily="2" charset="-34"/>
                <a:cs typeface="BLS Text" pitchFamily="2" charset="-34"/>
              </a:rPr>
              <a:t> </a:t>
            </a:r>
            <a:r>
              <a:rPr lang="en-US" sz="810" dirty="0">
                <a:solidFill>
                  <a:schemeClr val="tx1">
                    <a:lumMod val="65000"/>
                    <a:lumOff val="35000"/>
                  </a:schemeClr>
                </a:solidFill>
                <a:latin typeface="BLS Text" panose="00000500000000000000" pitchFamily="2" charset="-34"/>
                <a:cs typeface="BLS Text" pitchFamily="2" charset="-34"/>
              </a:rPr>
              <a:t> </a:t>
            </a:r>
            <a:endParaRPr lang="th-TH" sz="810"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en-US" sz="810" b="1" dirty="0">
                <a:solidFill>
                  <a:schemeClr val="tx1">
                    <a:lumMod val="65000"/>
                    <a:lumOff val="35000"/>
                  </a:schemeClr>
                </a:solidFill>
                <a:latin typeface="BLS Text" panose="00000500000000000000" pitchFamily="2" charset="-34"/>
                <a:cs typeface="BLS Text" pitchFamily="2" charset="-34"/>
              </a:rPr>
              <a:t>Sensitivity</a:t>
            </a:r>
            <a:r>
              <a:rPr lang="th-TH" sz="810" b="1" dirty="0">
                <a:solidFill>
                  <a:schemeClr val="tx1">
                    <a:lumMod val="65000"/>
                    <a:lumOff val="35000"/>
                  </a:schemeClr>
                </a:solidFill>
                <a:latin typeface="BLS Text" panose="00000500000000000000" pitchFamily="2" charset="-34"/>
                <a:cs typeface="BLS Text" pitchFamily="2" charset="-34"/>
              </a:rPr>
              <a:t> ของราคาและกำไรแต่ละกลุ่ม</a:t>
            </a:r>
            <a:r>
              <a:rPr lang="en-US" sz="810" b="1" dirty="0">
                <a:solidFill>
                  <a:schemeClr val="tx1">
                    <a:lumMod val="65000"/>
                    <a:lumOff val="35000"/>
                  </a:schemeClr>
                </a:solidFill>
                <a:latin typeface="BLS Text" panose="00000500000000000000" pitchFamily="2" charset="-34"/>
                <a:cs typeface="BLS Text" pitchFamily="2" charset="-34"/>
              </a:rPr>
              <a:t>:</a:t>
            </a:r>
            <a:r>
              <a:rPr lang="th-TH" sz="810" b="1" dirty="0">
                <a:solidFill>
                  <a:schemeClr val="tx1">
                    <a:lumMod val="65000"/>
                    <a:lumOff val="35000"/>
                  </a:schemeClr>
                </a:solidFill>
                <a:latin typeface="BLS Text" panose="00000500000000000000" pitchFamily="2" charset="-34"/>
                <a:cs typeface="BLS Text" pitchFamily="2" charset="-34"/>
              </a:rPr>
              <a:t> </a:t>
            </a:r>
            <a:r>
              <a:rPr lang="th-TH" sz="810" dirty="0">
                <a:solidFill>
                  <a:schemeClr val="tx1">
                    <a:lumMod val="65000"/>
                    <a:lumOff val="35000"/>
                  </a:schemeClr>
                </a:solidFill>
                <a:latin typeface="BLS Text" panose="00000500000000000000" pitchFamily="2" charset="-34"/>
                <a:cs typeface="BLS Text" pitchFamily="2" charset="-34"/>
              </a:rPr>
              <a:t>วงจรการผลิตโลก ผ่าน </a:t>
            </a:r>
            <a:r>
              <a:rPr lang="en-US" sz="810" dirty="0">
                <a:solidFill>
                  <a:schemeClr val="tx1">
                    <a:lumMod val="65000"/>
                    <a:lumOff val="35000"/>
                  </a:schemeClr>
                </a:solidFill>
                <a:latin typeface="BLS Text" panose="00000500000000000000" pitchFamily="2" charset="-34"/>
                <a:cs typeface="BLS Text" pitchFamily="2" charset="-34"/>
              </a:rPr>
              <a:t>US</a:t>
            </a:r>
            <a:r>
              <a:rPr lang="th-TH" sz="810" dirty="0">
                <a:solidFill>
                  <a:schemeClr val="tx1">
                    <a:lumMod val="65000"/>
                    <a:lumOff val="35000"/>
                  </a:schemeClr>
                </a:solidFill>
                <a:latin typeface="BLS Text" panose="00000500000000000000" pitchFamily="2" charset="-34"/>
                <a:cs typeface="BLS Text" pitchFamily="2" charset="-34"/>
              </a:rPr>
              <a:t> </a:t>
            </a:r>
            <a:r>
              <a:rPr lang="en-US" sz="810" dirty="0">
                <a:solidFill>
                  <a:schemeClr val="tx1">
                    <a:lumMod val="65000"/>
                    <a:lumOff val="35000"/>
                  </a:schemeClr>
                </a:solidFill>
                <a:latin typeface="BLS Text" panose="00000500000000000000" pitchFamily="2" charset="-34"/>
                <a:cs typeface="BLS Text" pitchFamily="2" charset="-34"/>
              </a:rPr>
              <a:t>ISM manufacturing PMI </a:t>
            </a:r>
            <a:r>
              <a:rPr lang="th-TH" sz="810" dirty="0">
                <a:solidFill>
                  <a:schemeClr val="tx1">
                    <a:lumMod val="65000"/>
                    <a:lumOff val="35000"/>
                  </a:schemeClr>
                </a:solidFill>
                <a:latin typeface="BLS Text" panose="00000500000000000000" pitchFamily="2" charset="-34"/>
                <a:cs typeface="BLS Text" pitchFamily="2" charset="-34"/>
              </a:rPr>
              <a:t>มีแนวโน้มฟื้นตัวต่อเนื่อง หลัง </a:t>
            </a:r>
            <a:r>
              <a:rPr lang="en-US" sz="810" dirty="0">
                <a:solidFill>
                  <a:schemeClr val="tx1">
                    <a:lumMod val="65000"/>
                    <a:lumOff val="35000"/>
                  </a:schemeClr>
                </a:solidFill>
                <a:latin typeface="BLS Text" panose="00000500000000000000" pitchFamily="2" charset="-34"/>
                <a:cs typeface="BLS Text" pitchFamily="2" charset="-34"/>
              </a:rPr>
              <a:t>leading indicator </a:t>
            </a:r>
            <a:r>
              <a:rPr lang="th-TH" sz="810" dirty="0">
                <a:solidFill>
                  <a:schemeClr val="tx1">
                    <a:lumMod val="65000"/>
                    <a:lumOff val="35000"/>
                  </a:schemeClr>
                </a:solidFill>
                <a:latin typeface="BLS Text" panose="00000500000000000000" pitchFamily="2" charset="-34"/>
                <a:cs typeface="BLS Text" pitchFamily="2" charset="-34"/>
              </a:rPr>
              <a:t>อย่าง ดัชนียอดคำสั่งซื้อใหม่ </a:t>
            </a:r>
            <a:r>
              <a:rPr lang="en-US" sz="810" dirty="0">
                <a:solidFill>
                  <a:schemeClr val="tx1">
                    <a:lumMod val="65000"/>
                    <a:lumOff val="35000"/>
                  </a:schemeClr>
                </a:solidFill>
                <a:latin typeface="BLS Text" panose="00000500000000000000" pitchFamily="2" charset="-34"/>
                <a:cs typeface="BLS Text" pitchFamily="2" charset="-34"/>
              </a:rPr>
              <a:t>US PMI new order </a:t>
            </a:r>
            <a:r>
              <a:rPr lang="th-TH" sz="810" dirty="0">
                <a:solidFill>
                  <a:schemeClr val="tx1">
                    <a:lumMod val="65000"/>
                    <a:lumOff val="35000"/>
                  </a:schemeClr>
                </a:solidFill>
                <a:latin typeface="BLS Text" panose="00000500000000000000" pitchFamily="2" charset="-34"/>
                <a:cs typeface="BLS Text" pitchFamily="2" charset="-34"/>
              </a:rPr>
              <a:t>กลับมาขยายตัวทำจุดสูงสุดในรอบ 4 ปี  คาดหนุนทิศทางค่าการกลั่น และส่วนต่างปิโตรฯ ทยอยฟื้นตัวต่อ ทั้งนี้ เราประเมิน </a:t>
            </a:r>
            <a:r>
              <a:rPr lang="en-US" sz="810" dirty="0">
                <a:solidFill>
                  <a:schemeClr val="tx1">
                    <a:lumMod val="65000"/>
                    <a:lumOff val="35000"/>
                  </a:schemeClr>
                </a:solidFill>
                <a:latin typeface="BLS Text" panose="00000500000000000000" pitchFamily="2" charset="-34"/>
                <a:cs typeface="BLS Text" pitchFamily="2" charset="-34"/>
              </a:rPr>
              <a:t>sensitivity</a:t>
            </a:r>
            <a:r>
              <a:rPr lang="th-TH" sz="810" dirty="0">
                <a:solidFill>
                  <a:schemeClr val="tx1">
                    <a:lumMod val="65000"/>
                    <a:lumOff val="35000"/>
                  </a:schemeClr>
                </a:solidFill>
                <a:latin typeface="BLS Text" panose="00000500000000000000" pitchFamily="2" charset="-34"/>
                <a:cs typeface="BLS Text" pitchFamily="2" charset="-34"/>
              </a:rPr>
              <a:t> หากค่าการกลั่น และส่วนต่างปิโตรฯ เพิ่มขึ้นทุกๆ 10% จะหนุนกำไรปี 2026 ของ </a:t>
            </a:r>
            <a:r>
              <a:rPr lang="en-US" sz="810" dirty="0">
                <a:solidFill>
                  <a:schemeClr val="tx1">
                    <a:lumMod val="65000"/>
                    <a:lumOff val="35000"/>
                  </a:schemeClr>
                </a:solidFill>
                <a:latin typeface="BLS Text" panose="00000500000000000000" pitchFamily="2" charset="-34"/>
                <a:cs typeface="BLS Text" pitchFamily="2" charset="-34"/>
              </a:rPr>
              <a:t>TOP </a:t>
            </a:r>
            <a:r>
              <a:rPr lang="th-TH" sz="810" dirty="0">
                <a:solidFill>
                  <a:schemeClr val="tx1">
                    <a:lumMod val="65000"/>
                    <a:lumOff val="35000"/>
                  </a:schemeClr>
                </a:solidFill>
                <a:latin typeface="BLS Text" panose="00000500000000000000" pitchFamily="2" charset="-34"/>
                <a:cs typeface="BLS Text" pitchFamily="2" charset="-34"/>
              </a:rPr>
              <a:t>ราว 12%, </a:t>
            </a:r>
            <a:r>
              <a:rPr lang="en-US" sz="810" dirty="0">
                <a:solidFill>
                  <a:schemeClr val="tx1">
                    <a:lumMod val="65000"/>
                    <a:lumOff val="35000"/>
                  </a:schemeClr>
                </a:solidFill>
                <a:latin typeface="BLS Text" panose="00000500000000000000" pitchFamily="2" charset="-34"/>
                <a:cs typeface="BLS Text" pitchFamily="2" charset="-34"/>
              </a:rPr>
              <a:t>SPRC 36%, PTTGC 30%, SCC 21% </a:t>
            </a:r>
            <a:r>
              <a:rPr lang="th-TH" sz="810" dirty="0">
                <a:solidFill>
                  <a:schemeClr val="tx1">
                    <a:lumMod val="65000"/>
                    <a:lumOff val="35000"/>
                  </a:schemeClr>
                </a:solidFill>
                <a:latin typeface="BLS Text" panose="00000500000000000000" pitchFamily="2" charset="-34"/>
                <a:cs typeface="BLS Text" pitchFamily="2" charset="-34"/>
              </a:rPr>
              <a:t>และ </a:t>
            </a:r>
            <a:r>
              <a:rPr lang="en-US" sz="810" dirty="0">
                <a:solidFill>
                  <a:schemeClr val="tx1">
                    <a:lumMod val="65000"/>
                    <a:lumOff val="35000"/>
                  </a:schemeClr>
                </a:solidFill>
                <a:latin typeface="BLS Text" panose="00000500000000000000" pitchFamily="2" charset="-34"/>
                <a:cs typeface="BLS Text" pitchFamily="2" charset="-34"/>
              </a:rPr>
              <a:t>IVL 20% </a:t>
            </a:r>
          </a:p>
          <a:p>
            <a:pPr algn="thaiDist">
              <a:lnSpc>
                <a:spcPct val="120000"/>
              </a:lnSpc>
              <a:spcBef>
                <a:spcPts val="400"/>
              </a:spcBef>
              <a:buSzPct val="120000"/>
            </a:pPr>
            <a:r>
              <a:rPr lang="th-TH" sz="810" b="1" dirty="0">
                <a:solidFill>
                  <a:schemeClr val="tx1">
                    <a:lumMod val="65000"/>
                    <a:lumOff val="35000"/>
                  </a:schemeClr>
                </a:solidFill>
                <a:latin typeface="BLS Text" panose="00000500000000000000" pitchFamily="2" charset="-34"/>
                <a:cs typeface="BLS Text" pitchFamily="2" charset="-34"/>
              </a:rPr>
              <a:t>จุดเริ่มรอบขาขึ้นใหม่ของหุ้นวัฏจักรไทย</a:t>
            </a:r>
            <a:r>
              <a:rPr lang="en-US" sz="810" b="1" dirty="0">
                <a:solidFill>
                  <a:schemeClr val="tx1">
                    <a:lumMod val="65000"/>
                    <a:lumOff val="35000"/>
                  </a:schemeClr>
                </a:solidFill>
                <a:latin typeface="BLS Text" panose="00000500000000000000" pitchFamily="2" charset="-34"/>
                <a:cs typeface="BLS Text" pitchFamily="2" charset="-34"/>
              </a:rPr>
              <a:t>:</a:t>
            </a:r>
            <a:r>
              <a:rPr lang="th-TH" sz="810" b="1" dirty="0">
                <a:solidFill>
                  <a:schemeClr val="tx1">
                    <a:lumMod val="65000"/>
                    <a:lumOff val="35000"/>
                  </a:schemeClr>
                </a:solidFill>
                <a:latin typeface="BLS Text" panose="00000500000000000000" pitchFamily="2" charset="-34"/>
                <a:cs typeface="BLS Text" pitchFamily="2" charset="-34"/>
              </a:rPr>
              <a:t> </a:t>
            </a:r>
            <a:r>
              <a:rPr lang="th-TH" sz="810" u="sng" dirty="0">
                <a:solidFill>
                  <a:schemeClr val="tx1">
                    <a:lumMod val="65000"/>
                    <a:lumOff val="35000"/>
                  </a:schemeClr>
                </a:solidFill>
                <a:latin typeface="BLS Text" panose="00000500000000000000" pitchFamily="2" charset="-34"/>
                <a:cs typeface="BLS Text" pitchFamily="2" charset="-34"/>
              </a:rPr>
              <a:t>เราชอบกลุ่มปิโตรฯ โดยเฉพาะสาย </a:t>
            </a:r>
            <a:r>
              <a:rPr lang="en-US" sz="810" u="sng" dirty="0">
                <a:solidFill>
                  <a:schemeClr val="tx1">
                    <a:lumMod val="65000"/>
                    <a:lumOff val="35000"/>
                  </a:schemeClr>
                </a:solidFill>
                <a:latin typeface="BLS Text" panose="00000500000000000000" pitchFamily="2" charset="-34"/>
                <a:cs typeface="BLS Text" pitchFamily="2" charset="-34"/>
              </a:rPr>
              <a:t>HDPE </a:t>
            </a:r>
            <a:r>
              <a:rPr lang="th-TH" sz="810" u="sng" dirty="0">
                <a:solidFill>
                  <a:schemeClr val="tx1">
                    <a:lumMod val="65000"/>
                    <a:lumOff val="35000"/>
                  </a:schemeClr>
                </a:solidFill>
                <a:latin typeface="BLS Text" panose="00000500000000000000" pitchFamily="2" charset="-34"/>
                <a:cs typeface="BLS Text" pitchFamily="2" charset="-34"/>
              </a:rPr>
              <a:t>อย่าง </a:t>
            </a:r>
            <a:r>
              <a:rPr lang="en-US" sz="810" u="sng" dirty="0">
                <a:solidFill>
                  <a:schemeClr val="tx1">
                    <a:lumMod val="65000"/>
                    <a:lumOff val="35000"/>
                  </a:schemeClr>
                </a:solidFill>
                <a:latin typeface="BLS Text" panose="00000500000000000000" pitchFamily="2" charset="-34"/>
                <a:cs typeface="BLS Text" pitchFamily="2" charset="-34"/>
              </a:rPr>
              <a:t>PTTGC</a:t>
            </a:r>
            <a:r>
              <a:rPr lang="en-US" sz="810" dirty="0">
                <a:solidFill>
                  <a:schemeClr val="tx1">
                    <a:lumMod val="65000"/>
                    <a:lumOff val="35000"/>
                  </a:schemeClr>
                </a:solidFill>
                <a:latin typeface="BLS Text" panose="00000500000000000000" pitchFamily="2" charset="-34"/>
                <a:cs typeface="BLS Text" pitchFamily="2" charset="-34"/>
              </a:rPr>
              <a:t> </a:t>
            </a:r>
            <a:r>
              <a:rPr lang="th-TH" sz="810" dirty="0">
                <a:solidFill>
                  <a:schemeClr val="tx1">
                    <a:lumMod val="65000"/>
                    <a:lumOff val="35000"/>
                  </a:schemeClr>
                </a:solidFill>
                <a:latin typeface="BLS Text" panose="00000500000000000000" pitchFamily="2" charset="-34"/>
                <a:cs typeface="BLS Text" pitchFamily="2" charset="-34"/>
              </a:rPr>
              <a:t>จากความเสี่ยงต่อผลตอบแทน (</a:t>
            </a:r>
            <a:r>
              <a:rPr lang="en-US" sz="810" dirty="0">
                <a:solidFill>
                  <a:schemeClr val="tx1">
                    <a:lumMod val="65000"/>
                    <a:lumOff val="35000"/>
                  </a:schemeClr>
                </a:solidFill>
                <a:latin typeface="BLS Text" panose="00000500000000000000" pitchFamily="2" charset="-34"/>
                <a:cs typeface="BLS Text" pitchFamily="2" charset="-34"/>
              </a:rPr>
              <a:t>risk-reward) </a:t>
            </a:r>
            <a:r>
              <a:rPr lang="th-TH" sz="810" dirty="0">
                <a:solidFill>
                  <a:schemeClr val="tx1">
                    <a:lumMod val="65000"/>
                    <a:lumOff val="35000"/>
                  </a:schemeClr>
                </a:solidFill>
                <a:latin typeface="BLS Text" panose="00000500000000000000" pitchFamily="2" charset="-34"/>
                <a:cs typeface="BLS Text" pitchFamily="2" charset="-34"/>
              </a:rPr>
              <a:t>ที่คุ้มค่าที่สุด ความเสี่ยงอุปทานส่วนเพิ่มยังอยู่ในระดับต่ำ ส่วนต่างผลิตภัณฑ์หลักอย่าง </a:t>
            </a:r>
            <a:r>
              <a:rPr lang="en-US" sz="810" dirty="0">
                <a:solidFill>
                  <a:schemeClr val="tx1">
                    <a:lumMod val="65000"/>
                    <a:lumOff val="35000"/>
                  </a:schemeClr>
                </a:solidFill>
                <a:latin typeface="BLS Text" panose="00000500000000000000" pitchFamily="2" charset="-34"/>
                <a:cs typeface="BLS Text" pitchFamily="2" charset="-34"/>
              </a:rPr>
              <a:t>HDPE</a:t>
            </a:r>
            <a:r>
              <a:rPr lang="th-TH" sz="810" dirty="0">
                <a:solidFill>
                  <a:schemeClr val="tx1">
                    <a:lumMod val="65000"/>
                    <a:lumOff val="35000"/>
                  </a:schemeClr>
                </a:solidFill>
                <a:latin typeface="BLS Text" panose="00000500000000000000" pitchFamily="2" charset="-34"/>
                <a:cs typeface="BLS Text" pitchFamily="2" charset="-34"/>
              </a:rPr>
              <a:t> อยู่ต่ำกว่าจุดคุ้มทุน (</a:t>
            </a:r>
            <a:r>
              <a:rPr lang="en-US" sz="810" dirty="0">
                <a:solidFill>
                  <a:schemeClr val="tx1">
                    <a:lumMod val="65000"/>
                    <a:lumOff val="35000"/>
                  </a:schemeClr>
                </a:solidFill>
                <a:latin typeface="BLS Text" panose="00000500000000000000" pitchFamily="2" charset="-34"/>
                <a:cs typeface="BLS Text" pitchFamily="2" charset="-34"/>
              </a:rPr>
              <a:t>Breakeven)</a:t>
            </a:r>
            <a:r>
              <a:rPr lang="th-TH" sz="810" dirty="0">
                <a:solidFill>
                  <a:schemeClr val="tx1">
                    <a:lumMod val="65000"/>
                    <a:lumOff val="35000"/>
                  </a:schemeClr>
                </a:solidFill>
                <a:latin typeface="BLS Text" panose="00000500000000000000" pitchFamily="2" charset="-34"/>
                <a:cs typeface="BLS Text" pitchFamily="2" charset="-34"/>
              </a:rPr>
              <a:t> จะลดการขยายการผลิตใหม่ นโยบาย “</a:t>
            </a:r>
            <a:r>
              <a:rPr lang="en-US" sz="810" dirty="0">
                <a:solidFill>
                  <a:schemeClr val="tx1">
                    <a:lumMod val="65000"/>
                    <a:lumOff val="35000"/>
                  </a:schemeClr>
                </a:solidFill>
                <a:latin typeface="BLS Text" panose="00000500000000000000" pitchFamily="2" charset="-34"/>
                <a:cs typeface="BLS Text" pitchFamily="2" charset="-34"/>
              </a:rPr>
              <a:t>Anti-involution” </a:t>
            </a:r>
            <a:r>
              <a:rPr lang="th-TH" sz="810" dirty="0">
                <a:solidFill>
                  <a:schemeClr val="tx1">
                    <a:lumMod val="65000"/>
                    <a:lumOff val="35000"/>
                  </a:schemeClr>
                </a:solidFill>
                <a:latin typeface="BLS Text" panose="00000500000000000000" pitchFamily="2" charset="-34"/>
                <a:cs typeface="BLS Text" pitchFamily="2" charset="-34"/>
              </a:rPr>
              <a:t>ของจีน ญี่ปุ่น และเกาหลีใต้ จะจำกัดปัญหากำลังการผลิตส่วนเกินเพิ่มเติม ระดับ </a:t>
            </a:r>
            <a:r>
              <a:rPr lang="en-US" sz="810" dirty="0">
                <a:solidFill>
                  <a:schemeClr val="tx1">
                    <a:lumMod val="65000"/>
                    <a:lumOff val="35000"/>
                  </a:schemeClr>
                </a:solidFill>
                <a:latin typeface="BLS Text" panose="00000500000000000000" pitchFamily="2" charset="-34"/>
                <a:cs typeface="BLS Text" pitchFamily="2" charset="-34"/>
              </a:rPr>
              <a:t>Valuations</a:t>
            </a:r>
            <a:r>
              <a:rPr lang="th-TH" sz="810" dirty="0">
                <a:solidFill>
                  <a:schemeClr val="tx1">
                    <a:lumMod val="65000"/>
                    <a:lumOff val="35000"/>
                  </a:schemeClr>
                </a:solidFill>
                <a:latin typeface="BLS Text" panose="00000500000000000000" pitchFamily="2" charset="-34"/>
                <a:cs typeface="BLS Text" pitchFamily="2" charset="-34"/>
              </a:rPr>
              <a:t> ยังถูกมากใกล้เคียงกับระดับต่ำสุดในช่วงวิกฤตปี 2008 ขณะที่ วงจรการผลิตโลกขาขึ้นจะเป็นแรงส่งอุปสงค์ขยายตัว หนุนทิศทางกำไร</a:t>
            </a:r>
            <a:r>
              <a:rPr lang="en-US" sz="810" dirty="0">
                <a:solidFill>
                  <a:schemeClr val="tx1">
                    <a:lumMod val="65000"/>
                    <a:lumOff val="35000"/>
                  </a:schemeClr>
                </a:solidFill>
                <a:latin typeface="BLS Text" panose="00000500000000000000" pitchFamily="2" charset="-34"/>
                <a:cs typeface="BLS Text" pitchFamily="2" charset="-34"/>
              </a:rPr>
              <a:t> </a:t>
            </a:r>
            <a:r>
              <a:rPr lang="th-TH" sz="810" dirty="0">
                <a:solidFill>
                  <a:schemeClr val="tx1">
                    <a:lumMod val="65000"/>
                    <a:lumOff val="35000"/>
                  </a:schemeClr>
                </a:solidFill>
                <a:latin typeface="BLS Text" panose="00000500000000000000" pitchFamily="2" charset="-34"/>
                <a:cs typeface="BLS Text" pitchFamily="2" charset="-34"/>
              </a:rPr>
              <a:t>และมีโอกาสเห็นการปรับ </a:t>
            </a:r>
            <a:r>
              <a:rPr lang="en-US" sz="810" dirty="0">
                <a:solidFill>
                  <a:schemeClr val="tx1">
                    <a:lumMod val="65000"/>
                    <a:lumOff val="35000"/>
                  </a:schemeClr>
                </a:solidFill>
                <a:latin typeface="BLS Text" panose="00000500000000000000" pitchFamily="2" charset="-34"/>
                <a:cs typeface="BLS Text" pitchFamily="2" charset="-34"/>
              </a:rPr>
              <a:t>PBV </a:t>
            </a:r>
            <a:r>
              <a:rPr lang="th-TH" sz="810" dirty="0">
                <a:solidFill>
                  <a:schemeClr val="tx1">
                    <a:lumMod val="65000"/>
                    <a:lumOff val="35000"/>
                  </a:schemeClr>
                </a:solidFill>
                <a:latin typeface="BLS Text" panose="00000500000000000000" pitchFamily="2" charset="-34"/>
                <a:cs typeface="BLS Text" pitchFamily="2" charset="-34"/>
              </a:rPr>
              <a:t>เพิ่มขึ้น </a:t>
            </a:r>
            <a:endParaRPr lang="en-US" sz="810"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810" u="sng" dirty="0">
                <a:solidFill>
                  <a:schemeClr val="tx1">
                    <a:lumMod val="65000"/>
                    <a:lumOff val="35000"/>
                  </a:schemeClr>
                </a:solidFill>
                <a:latin typeface="BLS Text" panose="00000500000000000000" pitchFamily="2" charset="-34"/>
                <a:cs typeface="BLS Text" pitchFamily="2" charset="-34"/>
              </a:rPr>
              <a:t>หากอิง </a:t>
            </a:r>
            <a:r>
              <a:rPr lang="en-US" sz="810" u="sng" dirty="0">
                <a:solidFill>
                  <a:schemeClr val="tx1">
                    <a:lumMod val="65000"/>
                    <a:lumOff val="35000"/>
                  </a:schemeClr>
                </a:solidFill>
                <a:latin typeface="BLS Text" panose="00000500000000000000" pitchFamily="2" charset="-34"/>
                <a:cs typeface="BLS Text" pitchFamily="2" charset="-34"/>
              </a:rPr>
              <a:t>Valuation re-rating cycle </a:t>
            </a:r>
            <a:r>
              <a:rPr lang="th-TH" sz="810" u="sng" dirty="0">
                <a:solidFill>
                  <a:schemeClr val="tx1">
                    <a:lumMod val="65000"/>
                    <a:lumOff val="35000"/>
                  </a:schemeClr>
                </a:solidFill>
                <a:latin typeface="BLS Text" panose="00000500000000000000" pitchFamily="2" charset="-34"/>
                <a:cs typeface="BLS Text" pitchFamily="2" charset="-34"/>
              </a:rPr>
              <a:t>ในอดีต มีโอกาสที่ </a:t>
            </a:r>
            <a:r>
              <a:rPr lang="en-US" sz="810" u="sng" dirty="0">
                <a:solidFill>
                  <a:schemeClr val="tx1">
                    <a:lumMod val="65000"/>
                    <a:lumOff val="35000"/>
                  </a:schemeClr>
                </a:solidFill>
                <a:latin typeface="BLS Text" panose="00000500000000000000" pitchFamily="2" charset="-34"/>
                <a:cs typeface="BLS Text" pitchFamily="2" charset="-34"/>
              </a:rPr>
              <a:t>PTTGC </a:t>
            </a:r>
            <a:r>
              <a:rPr lang="th-TH" sz="810" u="sng" dirty="0">
                <a:solidFill>
                  <a:schemeClr val="tx1">
                    <a:lumMod val="65000"/>
                    <a:lumOff val="35000"/>
                  </a:schemeClr>
                </a:solidFill>
                <a:latin typeface="BLS Text" panose="00000500000000000000" pitchFamily="2" charset="-34"/>
                <a:cs typeface="BLS Text" pitchFamily="2" charset="-34"/>
              </a:rPr>
              <a:t>จะถูก </a:t>
            </a:r>
            <a:r>
              <a:rPr lang="en-US" sz="810" u="sng" dirty="0">
                <a:solidFill>
                  <a:schemeClr val="tx1">
                    <a:lumMod val="65000"/>
                    <a:lumOff val="35000"/>
                  </a:schemeClr>
                </a:solidFill>
                <a:latin typeface="BLS Text" panose="00000500000000000000" pitchFamily="2" charset="-34"/>
                <a:cs typeface="BLS Text" pitchFamily="2" charset="-34"/>
              </a:rPr>
              <a:t>re-rate PBV </a:t>
            </a:r>
            <a:r>
              <a:rPr lang="th-TH" sz="810" u="sng" dirty="0">
                <a:solidFill>
                  <a:schemeClr val="tx1">
                    <a:lumMod val="65000"/>
                    <a:lumOff val="35000"/>
                  </a:schemeClr>
                </a:solidFill>
                <a:latin typeface="BLS Text" panose="00000500000000000000" pitchFamily="2" charset="-34"/>
                <a:cs typeface="BLS Text" pitchFamily="2" charset="-34"/>
              </a:rPr>
              <a:t>ขึ้น กลับขึ้นมาซื้อขายที่ระดับ -1</a:t>
            </a:r>
            <a:r>
              <a:rPr lang="en-US" sz="810" u="sng" dirty="0">
                <a:solidFill>
                  <a:schemeClr val="tx1">
                    <a:lumMod val="65000"/>
                    <a:lumOff val="35000"/>
                  </a:schemeClr>
                </a:solidFill>
                <a:latin typeface="BLS Text" panose="00000500000000000000" pitchFamily="2" charset="-34"/>
                <a:cs typeface="BLS Text" pitchFamily="2" charset="-34"/>
              </a:rPr>
              <a:t>SD </a:t>
            </a:r>
            <a:r>
              <a:rPr lang="th-TH" sz="810" u="sng" dirty="0">
                <a:solidFill>
                  <a:schemeClr val="tx1">
                    <a:lumMod val="65000"/>
                    <a:lumOff val="35000"/>
                  </a:schemeClr>
                </a:solidFill>
                <a:latin typeface="BLS Text" panose="00000500000000000000" pitchFamily="2" charset="-34"/>
                <a:cs typeface="BLS Text" pitchFamily="2" charset="-34"/>
              </a:rPr>
              <a:t>จากระดับ -1.5</a:t>
            </a:r>
            <a:r>
              <a:rPr lang="en-US" sz="810" u="sng" dirty="0">
                <a:solidFill>
                  <a:schemeClr val="tx1">
                    <a:lumMod val="65000"/>
                    <a:lumOff val="35000"/>
                  </a:schemeClr>
                </a:solidFill>
                <a:latin typeface="BLS Text" panose="00000500000000000000" pitchFamily="2" charset="-34"/>
                <a:cs typeface="BLS Text" pitchFamily="2" charset="-34"/>
              </a:rPr>
              <a:t>SD </a:t>
            </a:r>
            <a:r>
              <a:rPr lang="th-TH" sz="810" u="sng" dirty="0">
                <a:solidFill>
                  <a:schemeClr val="tx1">
                    <a:lumMod val="65000"/>
                    <a:lumOff val="35000"/>
                  </a:schemeClr>
                </a:solidFill>
                <a:latin typeface="BLS Text" panose="00000500000000000000" pitchFamily="2" charset="-34"/>
                <a:cs typeface="BLS Text" pitchFamily="2" charset="-34"/>
              </a:rPr>
              <a:t>ในปัจจุบัน และอาจทำให้ </a:t>
            </a:r>
            <a:r>
              <a:rPr lang="en-US" sz="810" u="sng" dirty="0">
                <a:solidFill>
                  <a:schemeClr val="tx1">
                    <a:lumMod val="65000"/>
                    <a:lumOff val="35000"/>
                  </a:schemeClr>
                </a:solidFill>
                <a:latin typeface="BLS Text" panose="00000500000000000000" pitchFamily="2" charset="-34"/>
                <a:cs typeface="BLS Text" pitchFamily="2" charset="-34"/>
              </a:rPr>
              <a:t>Target price </a:t>
            </a:r>
            <a:r>
              <a:rPr lang="th-TH" sz="810" u="sng" dirty="0">
                <a:solidFill>
                  <a:schemeClr val="tx1">
                    <a:lumMod val="65000"/>
                    <a:lumOff val="35000"/>
                  </a:schemeClr>
                </a:solidFill>
                <a:latin typeface="BLS Text" panose="00000500000000000000" pitchFamily="2" charset="-34"/>
                <a:cs typeface="BLS Text" pitchFamily="2" charset="-34"/>
              </a:rPr>
              <a:t>ของ </a:t>
            </a:r>
            <a:r>
              <a:rPr lang="en-US" sz="810" u="sng" dirty="0">
                <a:solidFill>
                  <a:schemeClr val="tx1">
                    <a:lumMod val="65000"/>
                    <a:lumOff val="35000"/>
                  </a:schemeClr>
                </a:solidFill>
                <a:latin typeface="BLS Text" panose="00000500000000000000" pitchFamily="2" charset="-34"/>
                <a:cs typeface="BLS Text" pitchFamily="2" charset="-34"/>
              </a:rPr>
              <a:t>PTTGC </a:t>
            </a:r>
            <a:r>
              <a:rPr lang="th-TH" sz="810" u="sng" dirty="0">
                <a:solidFill>
                  <a:schemeClr val="tx1">
                    <a:lumMod val="65000"/>
                    <a:lumOff val="35000"/>
                  </a:schemeClr>
                </a:solidFill>
                <a:latin typeface="BLS Text" panose="00000500000000000000" pitchFamily="2" charset="-34"/>
                <a:cs typeface="BLS Text" pitchFamily="2" charset="-34"/>
              </a:rPr>
              <a:t>มาอยู่ที่ 41 บาท</a:t>
            </a:r>
            <a:r>
              <a:rPr lang="en-US" sz="810" u="sng" dirty="0">
                <a:solidFill>
                  <a:schemeClr val="tx1">
                    <a:lumMod val="65000"/>
                    <a:lumOff val="35000"/>
                  </a:schemeClr>
                </a:solidFill>
                <a:latin typeface="BLS Text" panose="00000500000000000000" pitchFamily="2" charset="-34"/>
                <a:cs typeface="BLS Text" pitchFamily="2" charset="-34"/>
              </a:rPr>
              <a:t> </a:t>
            </a:r>
            <a:r>
              <a:rPr lang="th-TH" sz="810" dirty="0">
                <a:solidFill>
                  <a:schemeClr val="tx1">
                    <a:lumMod val="65000"/>
                    <a:lumOff val="35000"/>
                  </a:schemeClr>
                </a:solidFill>
                <a:latin typeface="BLS Text" panose="00000500000000000000" pitchFamily="2" charset="-34"/>
                <a:cs typeface="BLS Text" pitchFamily="2" charset="-34"/>
              </a:rPr>
              <a:t>ขณะที่ หากสงครามคลี่คลาย </a:t>
            </a:r>
            <a:r>
              <a:rPr lang="en-US" sz="810" dirty="0">
                <a:solidFill>
                  <a:schemeClr val="tx1">
                    <a:lumMod val="65000"/>
                    <a:lumOff val="35000"/>
                  </a:schemeClr>
                </a:solidFill>
                <a:latin typeface="BLS Text" panose="00000500000000000000" pitchFamily="2" charset="-34"/>
                <a:cs typeface="BLS Text" pitchFamily="2" charset="-34"/>
              </a:rPr>
              <a:t>SCC </a:t>
            </a:r>
            <a:r>
              <a:rPr lang="th-TH" sz="810" dirty="0">
                <a:solidFill>
                  <a:schemeClr val="tx1">
                    <a:lumMod val="65000"/>
                    <a:lumOff val="35000"/>
                  </a:schemeClr>
                </a:solidFill>
                <a:latin typeface="BLS Text" panose="00000500000000000000" pitchFamily="2" charset="-34"/>
                <a:cs typeface="BLS Text" pitchFamily="2" charset="-34"/>
              </a:rPr>
              <a:t>อาจกลับมาซื้อขายที่ระดับ -1.5</a:t>
            </a:r>
            <a:r>
              <a:rPr lang="en-US" sz="810" dirty="0">
                <a:solidFill>
                  <a:schemeClr val="tx1">
                    <a:lumMod val="65000"/>
                    <a:lumOff val="35000"/>
                  </a:schemeClr>
                </a:solidFill>
                <a:latin typeface="BLS Text" panose="00000500000000000000" pitchFamily="2" charset="-34"/>
                <a:cs typeface="BLS Text" pitchFamily="2" charset="-34"/>
              </a:rPr>
              <a:t>SD </a:t>
            </a:r>
            <a:r>
              <a:rPr lang="th-TH" sz="810" dirty="0">
                <a:solidFill>
                  <a:schemeClr val="tx1">
                    <a:lumMod val="65000"/>
                    <a:lumOff val="35000"/>
                  </a:schemeClr>
                </a:solidFill>
                <a:latin typeface="BLS Text" panose="00000500000000000000" pitchFamily="2" charset="-34"/>
                <a:cs typeface="BLS Text" pitchFamily="2" charset="-34"/>
              </a:rPr>
              <a:t>และอาจทำให้ </a:t>
            </a:r>
            <a:r>
              <a:rPr lang="en-US" sz="810" dirty="0">
                <a:solidFill>
                  <a:schemeClr val="tx1">
                    <a:lumMod val="65000"/>
                    <a:lumOff val="35000"/>
                  </a:schemeClr>
                </a:solidFill>
                <a:latin typeface="BLS Text" panose="00000500000000000000" pitchFamily="2" charset="-34"/>
                <a:cs typeface="BLS Text" pitchFamily="2" charset="-34"/>
              </a:rPr>
              <a:t>Target price </a:t>
            </a:r>
            <a:r>
              <a:rPr lang="th-TH" sz="810" dirty="0">
                <a:solidFill>
                  <a:schemeClr val="tx1">
                    <a:lumMod val="65000"/>
                    <a:lumOff val="35000"/>
                  </a:schemeClr>
                </a:solidFill>
                <a:latin typeface="BLS Text" panose="00000500000000000000" pitchFamily="2" charset="-34"/>
                <a:cs typeface="BLS Text" pitchFamily="2" charset="-34"/>
              </a:rPr>
              <a:t>มาอยู่ที่ 233 บาท</a:t>
            </a:r>
          </a:p>
        </p:txBody>
      </p:sp>
      <p:cxnSp>
        <p:nvCxnSpPr>
          <p:cNvPr id="3" name="Straight Connector 2">
            <a:extLst>
              <a:ext uri="{FF2B5EF4-FFF2-40B4-BE49-F238E27FC236}">
                <a16:creationId xmlns:a16="http://schemas.microsoft.com/office/drawing/2014/main" id="{3FB7FD5E-C2F4-696F-9623-665905EA508D}"/>
              </a:ext>
            </a:extLst>
          </p:cNvPr>
          <p:cNvCxnSpPr/>
          <p:nvPr/>
        </p:nvCxnSpPr>
        <p:spPr>
          <a:xfrm>
            <a:off x="2161884" y="410050"/>
            <a:ext cx="0" cy="230832"/>
          </a:xfrm>
          <a:prstGeom prst="line">
            <a:avLst/>
          </a:prstGeom>
          <a:ln w="3175">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492222F-6A22-6060-8AE7-28693619881E}"/>
              </a:ext>
            </a:extLst>
          </p:cNvPr>
          <p:cNvSpPr txBox="1"/>
          <p:nvPr/>
        </p:nvSpPr>
        <p:spPr>
          <a:xfrm>
            <a:off x="2161884" y="337471"/>
            <a:ext cx="1411131" cy="369332"/>
          </a:xfrm>
          <a:prstGeom prst="rect">
            <a:avLst/>
          </a:prstGeom>
          <a:noFill/>
        </p:spPr>
        <p:txBody>
          <a:bodyPr wrap="square" rtlCol="0">
            <a:spAutoFit/>
          </a:bodyPr>
          <a:lstStyle/>
          <a:p>
            <a:r>
              <a:rPr lang="en-US" sz="900" b="1" dirty="0">
                <a:solidFill>
                  <a:schemeClr val="accent3">
                    <a:lumMod val="50000"/>
                  </a:schemeClr>
                </a:solidFill>
                <a:latin typeface="Arial" pitchFamily="34" charset="0"/>
                <a:cs typeface="Arial" pitchFamily="34" charset="0"/>
              </a:rPr>
              <a:t>Data-driven</a:t>
            </a:r>
            <a:endParaRPr lang="th-TH" sz="900" b="1" dirty="0">
              <a:solidFill>
                <a:schemeClr val="accent3">
                  <a:lumMod val="50000"/>
                </a:schemeClr>
              </a:solidFill>
              <a:latin typeface="Arial" pitchFamily="34" charset="0"/>
              <a:cs typeface="Arial" pitchFamily="34" charset="0"/>
            </a:endParaRPr>
          </a:p>
          <a:p>
            <a:r>
              <a:rPr lang="en-US" sz="900" b="1" dirty="0">
                <a:solidFill>
                  <a:schemeClr val="tx2">
                    <a:lumMod val="50000"/>
                  </a:schemeClr>
                </a:solidFill>
                <a:latin typeface="Arial" pitchFamily="34" charset="0"/>
                <a:cs typeface="Arial" pitchFamily="34" charset="0"/>
              </a:rPr>
              <a:t>RESEARCH</a:t>
            </a:r>
          </a:p>
        </p:txBody>
      </p:sp>
      <p:cxnSp>
        <p:nvCxnSpPr>
          <p:cNvPr id="59" name="Straight Connector 58">
            <a:extLst>
              <a:ext uri="{FF2B5EF4-FFF2-40B4-BE49-F238E27FC236}">
                <a16:creationId xmlns:a16="http://schemas.microsoft.com/office/drawing/2014/main" id="{11C7C5D5-EAE4-B3E6-9DF7-E15CEA3E4EEB}"/>
              </a:ext>
            </a:extLst>
          </p:cNvPr>
          <p:cNvCxnSpPr>
            <a:cxnSpLocks/>
          </p:cNvCxnSpPr>
          <p:nvPr/>
        </p:nvCxnSpPr>
        <p:spPr>
          <a:xfrm>
            <a:off x="4008212" y="5004048"/>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41A465B-AFF2-BD30-A3C3-2B78B03168F9}"/>
              </a:ext>
            </a:extLst>
          </p:cNvPr>
          <p:cNvSpPr txBox="1"/>
          <p:nvPr/>
        </p:nvSpPr>
        <p:spPr>
          <a:xfrm>
            <a:off x="4018706" y="5004048"/>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Cyclical upcycle playlist </a:t>
            </a:r>
            <a:r>
              <a:rPr lang="th-TH" sz="900" dirty="0">
                <a:solidFill>
                  <a:srgbClr val="A17D3D"/>
                </a:solidFill>
                <a:latin typeface="BLS Condensed" pitchFamily="2" charset="-34"/>
                <a:ea typeface="Tahoma" pitchFamily="34" charset="0"/>
                <a:cs typeface="BLS Condensed" pitchFamily="2" charset="-34"/>
              </a:rPr>
              <a:t>– </a:t>
            </a:r>
            <a:r>
              <a:rPr lang="en-US" sz="900" dirty="0">
                <a:solidFill>
                  <a:srgbClr val="A17D3D"/>
                </a:solidFill>
                <a:latin typeface="BLS Condensed" pitchFamily="2" charset="-34"/>
                <a:ea typeface="Tahoma" pitchFamily="34" charset="0"/>
                <a:cs typeface="BLS Condensed" pitchFamily="2" charset="-34"/>
              </a:rPr>
              <a:t>Fundamental picks </a:t>
            </a:r>
          </a:p>
        </p:txBody>
      </p:sp>
      <p:pic>
        <p:nvPicPr>
          <p:cNvPr id="10" name="Picture 9">
            <a:extLst>
              <a:ext uri="{FF2B5EF4-FFF2-40B4-BE49-F238E27FC236}">
                <a16:creationId xmlns:a16="http://schemas.microsoft.com/office/drawing/2014/main" id="{C5AF3B5F-AE7F-105B-D2EC-80F1A7B40267}"/>
              </a:ext>
            </a:extLst>
          </p:cNvPr>
          <p:cNvPicPr>
            <a:picLocks noChangeAspect="1"/>
          </p:cNvPicPr>
          <p:nvPr/>
        </p:nvPicPr>
        <p:blipFill>
          <a:blip r:embed="rId6"/>
          <a:stretch>
            <a:fillRect/>
          </a:stretch>
        </p:blipFill>
        <p:spPr>
          <a:xfrm>
            <a:off x="4437360" y="5289432"/>
            <a:ext cx="2015976" cy="1298385"/>
          </a:xfrm>
          <a:prstGeom prst="rect">
            <a:avLst/>
          </a:prstGeom>
        </p:spPr>
      </p:pic>
      <p:pic>
        <p:nvPicPr>
          <p:cNvPr id="11" name="Picture 10">
            <a:extLst>
              <a:ext uri="{FF2B5EF4-FFF2-40B4-BE49-F238E27FC236}">
                <a16:creationId xmlns:a16="http://schemas.microsoft.com/office/drawing/2014/main" id="{1596C229-849D-3E2C-8946-457C8313721D}"/>
              </a:ext>
            </a:extLst>
          </p:cNvPr>
          <p:cNvPicPr>
            <a:picLocks noChangeAspect="1"/>
          </p:cNvPicPr>
          <p:nvPr/>
        </p:nvPicPr>
        <p:blipFill>
          <a:blip r:embed="rId7"/>
          <a:stretch>
            <a:fillRect/>
          </a:stretch>
        </p:blipFill>
        <p:spPr>
          <a:xfrm>
            <a:off x="4149079" y="6594238"/>
            <a:ext cx="1152129" cy="1194958"/>
          </a:xfrm>
          <a:prstGeom prst="rect">
            <a:avLst/>
          </a:prstGeom>
        </p:spPr>
      </p:pic>
      <p:pic>
        <p:nvPicPr>
          <p:cNvPr id="12" name="Picture 11">
            <a:extLst>
              <a:ext uri="{FF2B5EF4-FFF2-40B4-BE49-F238E27FC236}">
                <a16:creationId xmlns:a16="http://schemas.microsoft.com/office/drawing/2014/main" id="{15904040-8253-2A53-38C5-7079D596F8BD}"/>
              </a:ext>
            </a:extLst>
          </p:cNvPr>
          <p:cNvPicPr>
            <a:picLocks noChangeAspect="1"/>
          </p:cNvPicPr>
          <p:nvPr/>
        </p:nvPicPr>
        <p:blipFill>
          <a:blip r:embed="rId8"/>
          <a:stretch>
            <a:fillRect/>
          </a:stretch>
        </p:blipFill>
        <p:spPr>
          <a:xfrm>
            <a:off x="5373216" y="6594237"/>
            <a:ext cx="1082047" cy="1197443"/>
          </a:xfrm>
          <a:prstGeom prst="rect">
            <a:avLst/>
          </a:prstGeom>
        </p:spPr>
      </p:pic>
      <p:sp>
        <p:nvSpPr>
          <p:cNvPr id="13" name="Rectangle 12">
            <a:extLst>
              <a:ext uri="{FF2B5EF4-FFF2-40B4-BE49-F238E27FC236}">
                <a16:creationId xmlns:a16="http://schemas.microsoft.com/office/drawing/2014/main" id="{DDB61ADF-17D4-FE4E-03AB-14A54E3D4C81}"/>
              </a:ext>
            </a:extLst>
          </p:cNvPr>
          <p:cNvSpPr/>
          <p:nvPr/>
        </p:nvSpPr>
        <p:spPr>
          <a:xfrm>
            <a:off x="4089100" y="7519071"/>
            <a:ext cx="2468880" cy="133473"/>
          </a:xfrm>
          <a:prstGeom prst="rect">
            <a:avLst/>
          </a:prstGeom>
          <a:noFill/>
          <a:ln w="9525">
            <a:solidFill>
              <a:schemeClr val="accent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screenshot of a graph&#10;&#10;Description automatically generated">
            <a:extLst>
              <a:ext uri="{FF2B5EF4-FFF2-40B4-BE49-F238E27FC236}">
                <a16:creationId xmlns:a16="http://schemas.microsoft.com/office/drawing/2014/main" id="{CA39294F-C954-029B-22C4-0BB4435D98F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008212" y="2304826"/>
            <a:ext cx="2755536" cy="2639495"/>
          </a:xfrm>
          <a:prstGeom prst="rect">
            <a:avLst/>
          </a:prstGeom>
        </p:spPr>
      </p:pic>
    </p:spTree>
    <p:extLst>
      <p:ext uri="{BB962C8B-B14F-4D97-AF65-F5344CB8AC3E}">
        <p14:creationId xmlns:p14="http://schemas.microsoft.com/office/powerpoint/2010/main" val="5081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1" name="TextBox 10">
            <a:extLst>
              <a:ext uri="{FF2B5EF4-FFF2-40B4-BE49-F238E27FC236}">
                <a16:creationId xmlns:a16="http://schemas.microsoft.com/office/drawing/2014/main" id="{587A51FD-234D-74A3-AB90-E06E76DB5907}"/>
              </a:ext>
            </a:extLst>
          </p:cNvPr>
          <p:cNvSpPr txBox="1"/>
          <p:nvPr/>
        </p:nvSpPr>
        <p:spPr>
          <a:xfrm>
            <a:off x="3464359" y="1691680"/>
            <a:ext cx="3188101" cy="904863"/>
          </a:xfrm>
          <a:prstGeom prst="rect">
            <a:avLst/>
          </a:prstGeom>
          <a:noFill/>
          <a:ln>
            <a:noFill/>
          </a:ln>
        </p:spPr>
        <p:txBody>
          <a:bodyPr wrap="square" rtlCol="0">
            <a:spAutoFit/>
          </a:bodyPr>
          <a:lstStyle/>
          <a:p>
            <a:pPr algn="thaiDist">
              <a:lnSpc>
                <a:spcPct val="120000"/>
              </a:lnSpc>
              <a:spcBef>
                <a:spcPts val="600"/>
              </a:spcBef>
              <a:buSzPct val="120000"/>
            </a:pPr>
            <a:r>
              <a:rPr lang="th-TH" sz="1100" dirty="0">
                <a:solidFill>
                  <a:schemeClr val="tx1">
                    <a:lumMod val="65000"/>
                    <a:lumOff val="35000"/>
                  </a:schemeClr>
                </a:solidFill>
                <a:latin typeface="BLS Text" pitchFamily="2" charset="-34"/>
                <a:cs typeface="BLS Text" pitchFamily="2" charset="-34"/>
              </a:rPr>
              <a:t>ระดับการถือครองหุ้นที่ต่ำกว่าปกติ (</a:t>
            </a:r>
            <a:r>
              <a:rPr lang="en-US" sz="1100" dirty="0">
                <a:solidFill>
                  <a:schemeClr val="tx1">
                    <a:lumMod val="65000"/>
                    <a:lumOff val="35000"/>
                  </a:schemeClr>
                </a:solidFill>
                <a:latin typeface="BLS Text" pitchFamily="2" charset="-34"/>
                <a:cs typeface="BLS Text" pitchFamily="2" charset="-34"/>
              </a:rPr>
              <a:t>under-owned positioning) </a:t>
            </a:r>
            <a:r>
              <a:rPr lang="th-TH" sz="1100" dirty="0">
                <a:solidFill>
                  <a:schemeClr val="tx1">
                    <a:lumMod val="65000"/>
                    <a:lumOff val="35000"/>
                  </a:schemeClr>
                </a:solidFill>
                <a:latin typeface="BLS Text" pitchFamily="2" charset="-34"/>
                <a:cs typeface="BLS Text" pitchFamily="2" charset="-34"/>
              </a:rPr>
              <a:t>ส่งสัญญาณตลาดมีแนวโน้มเคลื่อนไหวในกรอบ หลังแรงขายจากการลดความเสี่ยงของนักลงทุน (</a:t>
            </a:r>
            <a:r>
              <a:rPr lang="en-US" sz="1100" dirty="0">
                <a:solidFill>
                  <a:schemeClr val="tx1">
                    <a:lumMod val="65000"/>
                    <a:lumOff val="35000"/>
                  </a:schemeClr>
                </a:solidFill>
                <a:latin typeface="BLS Text" pitchFamily="2" charset="-34"/>
                <a:cs typeface="BLS Text" pitchFamily="2" charset="-34"/>
              </a:rPr>
              <a:t>de-risking flow) </a:t>
            </a:r>
            <a:r>
              <a:rPr lang="th-TH" sz="1100" dirty="0">
                <a:solidFill>
                  <a:schemeClr val="tx1">
                    <a:lumMod val="65000"/>
                    <a:lumOff val="35000"/>
                  </a:schemeClr>
                </a:solidFill>
                <a:latin typeface="BLS Text" pitchFamily="2" charset="-34"/>
                <a:cs typeface="BLS Text" pitchFamily="2" charset="-34"/>
              </a:rPr>
              <a:t>เริ่มชะลอ</a:t>
            </a:r>
          </a:p>
        </p:txBody>
      </p:sp>
      <p:sp>
        <p:nvSpPr>
          <p:cNvPr id="3" name="TextBox 2">
            <a:extLst>
              <a:ext uri="{FF2B5EF4-FFF2-40B4-BE49-F238E27FC236}">
                <a16:creationId xmlns:a16="http://schemas.microsoft.com/office/drawing/2014/main" id="{A2337C7F-D9EB-382A-679E-902F566DB0C2}"/>
              </a:ext>
            </a:extLst>
          </p:cNvPr>
          <p:cNvSpPr txBox="1"/>
          <p:nvPr/>
        </p:nvSpPr>
        <p:spPr>
          <a:xfrm>
            <a:off x="319628" y="1691680"/>
            <a:ext cx="3095782" cy="904863"/>
          </a:xfrm>
          <a:prstGeom prst="rect">
            <a:avLst/>
          </a:prstGeom>
          <a:noFill/>
          <a:ln>
            <a:noFill/>
          </a:ln>
        </p:spPr>
        <p:txBody>
          <a:bodyPr wrap="square" rtlCol="0">
            <a:spAutoFit/>
          </a:bodyPr>
          <a:lstStyle/>
          <a:p>
            <a:pPr algn="thaiDist">
              <a:lnSpc>
                <a:spcPct val="120000"/>
              </a:lnSpc>
              <a:spcBef>
                <a:spcPts val="600"/>
              </a:spcBef>
              <a:buSzPct val="120000"/>
            </a:pPr>
            <a:r>
              <a:rPr lang="th-TH" sz="1100" dirty="0">
                <a:solidFill>
                  <a:schemeClr val="tx1">
                    <a:lumMod val="65000"/>
                    <a:lumOff val="35000"/>
                  </a:schemeClr>
                </a:solidFill>
                <a:latin typeface="BLS Text" pitchFamily="2" charset="-34"/>
                <a:cs typeface="BLS Text" pitchFamily="2" charset="-34"/>
              </a:rPr>
              <a:t>สัดส่วนจำนวนหุ้นที่ทำจุดต่ำสุดในรอบ 4 สัปดาห์ (4-</a:t>
            </a:r>
            <a:r>
              <a:rPr lang="en-US" sz="1100" dirty="0">
                <a:solidFill>
                  <a:schemeClr val="tx1">
                    <a:lumMod val="65000"/>
                    <a:lumOff val="35000"/>
                  </a:schemeClr>
                </a:solidFill>
                <a:latin typeface="BLS Text" pitchFamily="2" charset="-34"/>
                <a:cs typeface="BLS Text" pitchFamily="2" charset="-34"/>
              </a:rPr>
              <a:t>week lows) </a:t>
            </a:r>
            <a:r>
              <a:rPr lang="th-TH" sz="1100" dirty="0">
                <a:solidFill>
                  <a:schemeClr val="tx1">
                    <a:lumMod val="65000"/>
                    <a:lumOff val="35000"/>
                  </a:schemeClr>
                </a:solidFill>
                <a:latin typeface="BLS Text" pitchFamily="2" charset="-34"/>
                <a:cs typeface="BLS Text" pitchFamily="2" charset="-34"/>
              </a:rPr>
              <a:t>พุ่งสูงสุดในรอบ 8 เดือน สะท้อนภาวะการหลีกเลี่ยงความเสี่ยงอย่างมาก (</a:t>
            </a:r>
            <a:r>
              <a:rPr lang="en-US" sz="1100" dirty="0">
                <a:solidFill>
                  <a:schemeClr val="tx1">
                    <a:lumMod val="65000"/>
                    <a:lumOff val="35000"/>
                  </a:schemeClr>
                </a:solidFill>
                <a:latin typeface="BLS Text" pitchFamily="2" charset="-34"/>
                <a:cs typeface="BLS Text" pitchFamily="2" charset="-34"/>
              </a:rPr>
              <a:t>overly risk-off condition)</a:t>
            </a:r>
            <a:r>
              <a:rPr lang="th-TH" sz="1100" dirty="0">
                <a:solidFill>
                  <a:schemeClr val="tx1">
                    <a:lumMod val="65000"/>
                    <a:lumOff val="35000"/>
                  </a:schemeClr>
                </a:solidFill>
                <a:latin typeface="BLS Text" pitchFamily="2" charset="-34"/>
                <a:cs typeface="BLS Text" pitchFamily="2" charset="-34"/>
              </a:rPr>
              <a:t> และบ่งชี้ถึง</a:t>
            </a: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2" name="TextBox 1">
            <a:extLst>
              <a:ext uri="{FF2B5EF4-FFF2-40B4-BE49-F238E27FC236}">
                <a16:creationId xmlns:a16="http://schemas.microsoft.com/office/drawing/2014/main" id="{DF7710F9-7B03-D47B-016D-DB8140DA5BDC}"/>
              </a:ext>
            </a:extLst>
          </p:cNvPr>
          <p:cNvSpPr txBox="1"/>
          <p:nvPr/>
        </p:nvSpPr>
        <p:spPr>
          <a:xfrm>
            <a:off x="188640" y="899592"/>
            <a:ext cx="6344324" cy="707886"/>
          </a:xfrm>
          <a:prstGeom prst="rect">
            <a:avLst/>
          </a:prstGeom>
          <a:noFill/>
        </p:spPr>
        <p:txBody>
          <a:bodyPr wrap="square">
            <a:spAutoFit/>
          </a:bodyPr>
          <a:lstStyle/>
          <a:p>
            <a:pPr algn="r"/>
            <a:r>
              <a:rPr lang="th-TH" altLang="en-US" sz="2000" dirty="0">
                <a:solidFill>
                  <a:schemeClr val="accent2"/>
                </a:solidFill>
                <a:latin typeface="BLS Condensed Bold" panose="00000800000000000000" pitchFamily="2" charset="-34"/>
                <a:ea typeface="Tahoma" pitchFamily="34" charset="0"/>
                <a:cs typeface="BLS Condensed Bold" panose="00000800000000000000" pitchFamily="2" charset="-34"/>
              </a:rPr>
              <a:t>ตลาดหุ้นไทย ยังผันผวนต่อแต่จะเริ่มน้อยลง </a:t>
            </a:r>
          </a:p>
          <a:p>
            <a:pPr algn="r"/>
            <a:r>
              <a:rPr lang="th-TH" altLang="en-US" sz="2000" dirty="0">
                <a:solidFill>
                  <a:schemeClr val="accent2"/>
                </a:solidFill>
                <a:latin typeface="BLS Condensed Bold" panose="00000800000000000000" pitchFamily="2" charset="-34"/>
                <a:ea typeface="Tahoma" pitchFamily="34" charset="0"/>
                <a:cs typeface="BLS Condensed Bold" panose="00000800000000000000" pitchFamily="2" charset="-34"/>
              </a:rPr>
              <a:t>หลังผ่านภาวะขายรุนแรงเกินไประยะสั้น (</a:t>
            </a:r>
            <a:r>
              <a:rPr lang="en-US" altLang="en-US" sz="2000" dirty="0">
                <a:solidFill>
                  <a:schemeClr val="accent2"/>
                </a:solidFill>
                <a:latin typeface="BLS Condensed Bold" panose="00000800000000000000" pitchFamily="2" charset="-34"/>
                <a:ea typeface="Tahoma" pitchFamily="34" charset="0"/>
                <a:cs typeface="BLS Condensed Bold" panose="00000800000000000000" pitchFamily="2" charset="-34"/>
              </a:rPr>
              <a:t>selling climax) </a:t>
            </a:r>
            <a:endParaRPr lang="th-TH" altLang="en-US" sz="2000" dirty="0">
              <a:solidFill>
                <a:schemeClr val="accent2"/>
              </a:solidFill>
              <a:latin typeface="BLS Condensed Bold" panose="00000800000000000000" pitchFamily="2" charset="-34"/>
              <a:ea typeface="Tahoma" pitchFamily="34" charset="0"/>
              <a:cs typeface="BLS Condensed Bold" panose="00000800000000000000" pitchFamily="2" charset="-34"/>
            </a:endParaRPr>
          </a:p>
        </p:txBody>
      </p:sp>
      <p:pic>
        <p:nvPicPr>
          <p:cNvPr id="5" name="Picture 4">
            <a:extLst>
              <a:ext uri="{FF2B5EF4-FFF2-40B4-BE49-F238E27FC236}">
                <a16:creationId xmlns:a16="http://schemas.microsoft.com/office/drawing/2014/main" id="{EDD52D3B-D28C-D2CD-26D8-A32FA39ABD78}"/>
              </a:ext>
            </a:extLst>
          </p:cNvPr>
          <p:cNvPicPr>
            <a:picLocks noChangeAspect="1"/>
          </p:cNvPicPr>
          <p:nvPr/>
        </p:nvPicPr>
        <p:blipFill>
          <a:blip r:embed="rId7"/>
          <a:stretch>
            <a:fillRect/>
          </a:stretch>
        </p:blipFill>
        <p:spPr>
          <a:xfrm>
            <a:off x="159792" y="2860996"/>
            <a:ext cx="6492667" cy="5536457"/>
          </a:xfrm>
          <a:prstGeom prst="rect">
            <a:avLst/>
          </a:prstGeom>
        </p:spPr>
      </p:pic>
      <p:sp>
        <p:nvSpPr>
          <p:cNvPr id="16" name="TextBox 15">
            <a:extLst>
              <a:ext uri="{FF2B5EF4-FFF2-40B4-BE49-F238E27FC236}">
                <a16:creationId xmlns:a16="http://schemas.microsoft.com/office/drawing/2014/main" id="{5BC5EC73-C158-4522-8EA3-0470D38883B7}"/>
              </a:ext>
            </a:extLst>
          </p:cNvPr>
          <p:cNvSpPr txBox="1">
            <a:spLocks noChangeArrowheads="1"/>
          </p:cNvSpPr>
          <p:nvPr/>
        </p:nvSpPr>
        <p:spPr bwMode="auto">
          <a:xfrm>
            <a:off x="382301" y="8347774"/>
            <a:ext cx="31090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600" dirty="0">
                <a:solidFill>
                  <a:srgbClr val="404040"/>
                </a:solidFill>
                <a:latin typeface="BLS Condensed" pitchFamily="2" charset="-34"/>
                <a:cs typeface="BLS Condensed" pitchFamily="2" charset="-34"/>
              </a:rPr>
              <a:t>Source: Bloomberg,</a:t>
            </a:r>
            <a:r>
              <a:rPr lang="th-TH" sz="600" dirty="0">
                <a:solidFill>
                  <a:srgbClr val="404040"/>
                </a:solidFill>
                <a:latin typeface="BLS Condensed" pitchFamily="2" charset="-34"/>
                <a:cs typeface="BLS Condensed" pitchFamily="2" charset="-34"/>
              </a:rPr>
              <a:t> </a:t>
            </a:r>
            <a:r>
              <a:rPr lang="en-US" sz="600" dirty="0" err="1">
                <a:solidFill>
                  <a:srgbClr val="404040"/>
                </a:solidFill>
                <a:latin typeface="BLS Condensed" pitchFamily="2" charset="-34"/>
                <a:cs typeface="BLS Condensed" pitchFamily="2" charset="-34"/>
              </a:rPr>
              <a:t>Bualuang</a:t>
            </a:r>
            <a:r>
              <a:rPr lang="en-US" sz="600" dirty="0">
                <a:solidFill>
                  <a:srgbClr val="404040"/>
                </a:solidFill>
                <a:latin typeface="BLS Condensed" pitchFamily="2" charset="-34"/>
                <a:cs typeface="BLS Condensed" pitchFamily="2" charset="-34"/>
              </a:rPr>
              <a:t> Research </a:t>
            </a:r>
          </a:p>
        </p:txBody>
      </p:sp>
      <p:cxnSp>
        <p:nvCxnSpPr>
          <p:cNvPr id="20" name="Straight Connector 19">
            <a:extLst>
              <a:ext uri="{FF2B5EF4-FFF2-40B4-BE49-F238E27FC236}">
                <a16:creationId xmlns:a16="http://schemas.microsoft.com/office/drawing/2014/main" id="{F4915A1D-57DC-D3FB-CC72-71B4C0BD42F1}"/>
              </a:ext>
            </a:extLst>
          </p:cNvPr>
          <p:cNvCxnSpPr>
            <a:cxnSpLocks/>
          </p:cNvCxnSpPr>
          <p:nvPr/>
        </p:nvCxnSpPr>
        <p:spPr>
          <a:xfrm>
            <a:off x="320593" y="834777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33E61F7-A4F8-38AC-7EB6-235EDE72E434}"/>
              </a:ext>
            </a:extLst>
          </p:cNvPr>
          <p:cNvSpPr txBox="1"/>
          <p:nvPr/>
        </p:nvSpPr>
        <p:spPr>
          <a:xfrm>
            <a:off x="4513221" y="4716016"/>
            <a:ext cx="2084131" cy="461665"/>
          </a:xfrm>
          <a:prstGeom prst="rect">
            <a:avLst/>
          </a:prstGeom>
          <a:noFill/>
        </p:spPr>
        <p:txBody>
          <a:bodyPr wrap="square">
            <a:spAutoFit/>
          </a:bodyPr>
          <a:lstStyle/>
          <a:p>
            <a:pPr algn="r"/>
            <a:r>
              <a:rPr lang="th-TH" altLang="en-US" sz="12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สัดส่วนจำนวนหุ้นที่ราคา</a:t>
            </a:r>
          </a:p>
          <a:p>
            <a:pPr algn="r"/>
            <a:r>
              <a:rPr lang="th-TH" altLang="en-US" sz="12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ทำจุดต่ำสุดในรอบ 4 สัปดาห์</a:t>
            </a:r>
            <a:endParaRPr lang="en-US" altLang="en-US" sz="12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endParaRPr>
          </a:p>
        </p:txBody>
      </p:sp>
      <p:sp>
        <p:nvSpPr>
          <p:cNvPr id="21" name="TextBox 20">
            <a:extLst>
              <a:ext uri="{FF2B5EF4-FFF2-40B4-BE49-F238E27FC236}">
                <a16:creationId xmlns:a16="http://schemas.microsoft.com/office/drawing/2014/main" id="{5286F27D-2B3D-7FF8-CA34-8F868C06EC64}"/>
              </a:ext>
            </a:extLst>
          </p:cNvPr>
          <p:cNvSpPr txBox="1"/>
          <p:nvPr/>
        </p:nvSpPr>
        <p:spPr>
          <a:xfrm>
            <a:off x="4992305" y="6280447"/>
            <a:ext cx="1605047" cy="307777"/>
          </a:xfrm>
          <a:prstGeom prst="rect">
            <a:avLst/>
          </a:prstGeom>
          <a:noFill/>
        </p:spPr>
        <p:txBody>
          <a:bodyPr wrap="square">
            <a:spAutoFit/>
          </a:bodyPr>
          <a:lstStyle/>
          <a:p>
            <a:pPr algn="r"/>
            <a:r>
              <a:rPr lang="en-US" altLang="en-US" sz="14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VIX index</a:t>
            </a:r>
          </a:p>
        </p:txBody>
      </p:sp>
      <p:sp>
        <p:nvSpPr>
          <p:cNvPr id="8" name="TextBox 7">
            <a:extLst>
              <a:ext uri="{FF2B5EF4-FFF2-40B4-BE49-F238E27FC236}">
                <a16:creationId xmlns:a16="http://schemas.microsoft.com/office/drawing/2014/main" id="{7452BD30-B07B-167E-7B30-987CF50B75D0}"/>
              </a:ext>
            </a:extLst>
          </p:cNvPr>
          <p:cNvSpPr txBox="1"/>
          <p:nvPr/>
        </p:nvSpPr>
        <p:spPr>
          <a:xfrm>
            <a:off x="286492" y="2636669"/>
            <a:ext cx="5302747"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1</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สัดส่วนจำนวนหุ้นที่ทำจุดต่ำสุดในรอบ 4 สัปดาห์ (4-</a:t>
            </a:r>
            <a:r>
              <a:rPr lang="en-US" sz="800" b="1" dirty="0">
                <a:solidFill>
                  <a:schemeClr val="tx1">
                    <a:lumMod val="95000"/>
                    <a:lumOff val="5000"/>
                  </a:schemeClr>
                </a:solidFill>
                <a:latin typeface="BLS Condensed" pitchFamily="2" charset="-34"/>
                <a:ea typeface="Tahoma" pitchFamily="34" charset="0"/>
                <a:cs typeface="BLS Condensed" pitchFamily="2" charset="-34"/>
              </a:rPr>
              <a:t>week lows) </a:t>
            </a:r>
            <a:r>
              <a:rPr lang="th-TH" sz="800" b="1" dirty="0">
                <a:solidFill>
                  <a:schemeClr val="tx1">
                    <a:lumMod val="95000"/>
                    <a:lumOff val="5000"/>
                  </a:schemeClr>
                </a:solidFill>
                <a:latin typeface="BLS Condensed" pitchFamily="2" charset="-34"/>
                <a:ea typeface="Tahoma" pitchFamily="34" charset="0"/>
                <a:cs typeface="BLS Condensed" pitchFamily="2" charset="-34"/>
              </a:rPr>
              <a:t>พุ่งสูงสุดในรอบ 8 เดือน </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13" name="Straight Connector 12">
            <a:extLst>
              <a:ext uri="{FF2B5EF4-FFF2-40B4-BE49-F238E27FC236}">
                <a16:creationId xmlns:a16="http://schemas.microsoft.com/office/drawing/2014/main" id="{9A60492C-0973-F9C4-35C6-172E035FE8A3}"/>
              </a:ext>
            </a:extLst>
          </p:cNvPr>
          <p:cNvCxnSpPr/>
          <p:nvPr/>
        </p:nvCxnSpPr>
        <p:spPr>
          <a:xfrm>
            <a:off x="305146" y="262778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2697B5F-EBA9-B3DC-AF20-217CEDAA4EFB}"/>
              </a:ext>
            </a:extLst>
          </p:cNvPr>
          <p:cNvSpPr txBox="1"/>
          <p:nvPr/>
        </p:nvSpPr>
        <p:spPr>
          <a:xfrm>
            <a:off x="5177881" y="2968079"/>
            <a:ext cx="1419471" cy="307777"/>
          </a:xfrm>
          <a:prstGeom prst="rect">
            <a:avLst/>
          </a:prstGeom>
          <a:noFill/>
        </p:spPr>
        <p:txBody>
          <a:bodyPr wrap="square">
            <a:spAutoFit/>
          </a:bodyPr>
          <a:lstStyle/>
          <a:p>
            <a:pPr algn="r"/>
            <a:r>
              <a:rPr lang="en-US" altLang="en-US" sz="14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SET index</a:t>
            </a:r>
          </a:p>
        </p:txBody>
      </p:sp>
    </p:spTree>
    <p:extLst>
      <p:ext uri="{BB962C8B-B14F-4D97-AF65-F5344CB8AC3E}">
        <p14:creationId xmlns:p14="http://schemas.microsoft.com/office/powerpoint/2010/main" val="67192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6" name="TextBox 15">
            <a:extLst>
              <a:ext uri="{FF2B5EF4-FFF2-40B4-BE49-F238E27FC236}">
                <a16:creationId xmlns:a16="http://schemas.microsoft.com/office/drawing/2014/main" id="{5BC5EC73-C158-4522-8EA3-0470D38883B7}"/>
              </a:ext>
            </a:extLst>
          </p:cNvPr>
          <p:cNvSpPr txBox="1">
            <a:spLocks noChangeArrowheads="1"/>
          </p:cNvSpPr>
          <p:nvPr/>
        </p:nvSpPr>
        <p:spPr bwMode="auto">
          <a:xfrm>
            <a:off x="382301" y="8532440"/>
            <a:ext cx="31090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600" dirty="0">
                <a:solidFill>
                  <a:srgbClr val="404040"/>
                </a:solidFill>
                <a:latin typeface="BLS Condensed" pitchFamily="2" charset="-34"/>
                <a:cs typeface="BLS Condensed" pitchFamily="2" charset="-34"/>
              </a:rPr>
              <a:t>Source: Bloomberg,</a:t>
            </a:r>
            <a:r>
              <a:rPr lang="th-TH" sz="600" dirty="0">
                <a:solidFill>
                  <a:srgbClr val="404040"/>
                </a:solidFill>
                <a:latin typeface="BLS Condensed" pitchFamily="2" charset="-34"/>
                <a:cs typeface="BLS Condensed" pitchFamily="2" charset="-34"/>
              </a:rPr>
              <a:t> </a:t>
            </a:r>
            <a:r>
              <a:rPr lang="en-US" sz="600" dirty="0" err="1">
                <a:solidFill>
                  <a:srgbClr val="404040"/>
                </a:solidFill>
                <a:latin typeface="BLS Condensed" pitchFamily="2" charset="-34"/>
                <a:cs typeface="BLS Condensed" pitchFamily="2" charset="-34"/>
              </a:rPr>
              <a:t>Bualuang</a:t>
            </a:r>
            <a:r>
              <a:rPr lang="en-US" sz="600" dirty="0">
                <a:solidFill>
                  <a:srgbClr val="404040"/>
                </a:solidFill>
                <a:latin typeface="BLS Condensed" pitchFamily="2" charset="-34"/>
                <a:cs typeface="BLS Condensed" pitchFamily="2" charset="-34"/>
              </a:rPr>
              <a:t> Research </a:t>
            </a:r>
          </a:p>
        </p:txBody>
      </p:sp>
      <p:cxnSp>
        <p:nvCxnSpPr>
          <p:cNvPr id="20" name="Straight Connector 19">
            <a:extLst>
              <a:ext uri="{FF2B5EF4-FFF2-40B4-BE49-F238E27FC236}">
                <a16:creationId xmlns:a16="http://schemas.microsoft.com/office/drawing/2014/main" id="{F4915A1D-57DC-D3FB-CC72-71B4C0BD42F1}"/>
              </a:ext>
            </a:extLst>
          </p:cNvPr>
          <p:cNvCxnSpPr>
            <a:cxnSpLocks/>
          </p:cNvCxnSpPr>
          <p:nvPr/>
        </p:nvCxnSpPr>
        <p:spPr>
          <a:xfrm>
            <a:off x="320593" y="8532440"/>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9BFC3EC-F4A9-AEDA-D303-4410E9323D02}"/>
              </a:ext>
            </a:extLst>
          </p:cNvPr>
          <p:cNvSpPr txBox="1"/>
          <p:nvPr/>
        </p:nvSpPr>
        <p:spPr>
          <a:xfrm>
            <a:off x="188640" y="911786"/>
            <a:ext cx="6344324" cy="923330"/>
          </a:xfrm>
          <a:prstGeom prst="rect">
            <a:avLst/>
          </a:prstGeom>
          <a:noFill/>
        </p:spPr>
        <p:txBody>
          <a:bodyPr wrap="square">
            <a:spAutoFit/>
          </a:bodyPr>
          <a:lstStyle/>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ตลาดหุ้นไทยมักเข้าสู่</a:t>
            </a:r>
          </a:p>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วงจรปรับมูลค่าเพิ่ม (</a:t>
            </a:r>
            <a:r>
              <a:rPr lang="en-US" altLang="en-US" dirty="0">
                <a:solidFill>
                  <a:schemeClr val="accent2"/>
                </a:solidFill>
                <a:latin typeface="BLS Condensed Bold" panose="00000800000000000000" pitchFamily="2" charset="-34"/>
                <a:ea typeface="Tahoma" pitchFamily="34" charset="0"/>
                <a:cs typeface="BLS Condensed Bold" panose="00000800000000000000" pitchFamily="2" charset="-34"/>
              </a:rPr>
              <a:t>Valuation re-rating cycle) </a:t>
            </a:r>
            <a:endPar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endParaRPr>
          </a:p>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หลังการผลิตโลกทยอยฟื้น</a:t>
            </a:r>
            <a:endParaRPr lang="en-US" altLang="en-US" dirty="0">
              <a:solidFill>
                <a:schemeClr val="accent4"/>
              </a:solidFill>
              <a:latin typeface="BLS Condensed Bold" panose="00000800000000000000" pitchFamily="2" charset="-34"/>
              <a:ea typeface="Tahoma" pitchFamily="34" charset="0"/>
              <a:cs typeface="BLS Condensed Bold" panose="00000800000000000000" pitchFamily="2" charset="-34"/>
            </a:endParaRPr>
          </a:p>
        </p:txBody>
      </p:sp>
      <p:sp>
        <p:nvSpPr>
          <p:cNvPr id="7" name="TextBox 6">
            <a:extLst>
              <a:ext uri="{FF2B5EF4-FFF2-40B4-BE49-F238E27FC236}">
                <a16:creationId xmlns:a16="http://schemas.microsoft.com/office/drawing/2014/main" id="{976B5C9E-A6CB-8CAE-03B8-7D22718E584A}"/>
              </a:ext>
            </a:extLst>
          </p:cNvPr>
          <p:cNvSpPr txBox="1"/>
          <p:nvPr/>
        </p:nvSpPr>
        <p:spPr>
          <a:xfrm>
            <a:off x="3464359" y="1835696"/>
            <a:ext cx="3188101" cy="830997"/>
          </a:xfrm>
          <a:prstGeom prst="rect">
            <a:avLst/>
          </a:prstGeom>
          <a:noFill/>
          <a:ln>
            <a:noFill/>
          </a:ln>
        </p:spPr>
        <p:txBody>
          <a:bodyPr wrap="square" rtlCol="0">
            <a:spAutoFit/>
          </a:bodyPr>
          <a:lstStyle/>
          <a:p>
            <a:pPr algn="thaiDist">
              <a:lnSpc>
                <a:spcPct val="120000"/>
              </a:lnSpc>
              <a:spcBef>
                <a:spcPts val="600"/>
              </a:spcBef>
              <a:buSzPct val="120000"/>
            </a:pPr>
            <a:r>
              <a:rPr lang="en-US" sz="1000" dirty="0">
                <a:solidFill>
                  <a:schemeClr val="tx1">
                    <a:lumMod val="65000"/>
                    <a:lumOff val="35000"/>
                  </a:schemeClr>
                </a:solidFill>
                <a:latin typeface="BLS Text" pitchFamily="2" charset="-34"/>
                <a:cs typeface="BLS Text" pitchFamily="2" charset="-34"/>
              </a:rPr>
              <a:t>manufacturing PMI)</a:t>
            </a:r>
            <a:r>
              <a:rPr lang="th-TH" sz="1000" dirty="0">
                <a:solidFill>
                  <a:schemeClr val="tx1">
                    <a:lumMod val="65000"/>
                    <a:lumOff val="35000"/>
                  </a:schemeClr>
                </a:solidFill>
                <a:latin typeface="BLS Text" pitchFamily="2" charset="-34"/>
                <a:cs typeface="BLS Text" pitchFamily="2" charset="-34"/>
              </a:rPr>
              <a:t> ในอดีต ทั้ง 4 ช่วง ทั้งปี 2009-2011, ปี 2013-2014, ปี 2016-2018 และครึ่งปีหลังของปี 2020-2021 มักเห็นทิศทางกำไร และอัตราผลตอบแทนจากส่วนของผู้ถือหุ้น (</a:t>
            </a:r>
            <a:r>
              <a:rPr lang="en-US" sz="1000" dirty="0">
                <a:solidFill>
                  <a:schemeClr val="tx1">
                    <a:lumMod val="65000"/>
                    <a:lumOff val="35000"/>
                  </a:schemeClr>
                </a:solidFill>
                <a:latin typeface="BLS Text" pitchFamily="2" charset="-34"/>
                <a:cs typeface="BLS Text" pitchFamily="2" charset="-34"/>
              </a:rPr>
              <a:t>ROE) </a:t>
            </a:r>
            <a:r>
              <a:rPr lang="th-TH" sz="1000" dirty="0">
                <a:solidFill>
                  <a:schemeClr val="tx1">
                    <a:lumMod val="65000"/>
                    <a:lumOff val="35000"/>
                  </a:schemeClr>
                </a:solidFill>
                <a:latin typeface="BLS Text" pitchFamily="2" charset="-34"/>
                <a:cs typeface="BLS Text" pitchFamily="2" charset="-34"/>
              </a:rPr>
              <a:t>ของ </a:t>
            </a:r>
            <a:r>
              <a:rPr lang="en-US" sz="1000" dirty="0">
                <a:solidFill>
                  <a:schemeClr val="tx1">
                    <a:lumMod val="65000"/>
                    <a:lumOff val="35000"/>
                  </a:schemeClr>
                </a:solidFill>
                <a:latin typeface="BLS Text" pitchFamily="2" charset="-34"/>
                <a:cs typeface="BLS Text" pitchFamily="2" charset="-34"/>
              </a:rPr>
              <a:t>SET </a:t>
            </a:r>
            <a:r>
              <a:rPr lang="th-TH" sz="1000" dirty="0">
                <a:solidFill>
                  <a:schemeClr val="tx1">
                    <a:lumMod val="65000"/>
                    <a:lumOff val="35000"/>
                  </a:schemeClr>
                </a:solidFill>
                <a:latin typeface="BLS Text" pitchFamily="2" charset="-34"/>
                <a:cs typeface="BLS Text" pitchFamily="2" charset="-34"/>
              </a:rPr>
              <a:t>ขยายตัวเช่นกัน </a:t>
            </a:r>
          </a:p>
        </p:txBody>
      </p:sp>
      <p:sp>
        <p:nvSpPr>
          <p:cNvPr id="9" name="TextBox 8">
            <a:extLst>
              <a:ext uri="{FF2B5EF4-FFF2-40B4-BE49-F238E27FC236}">
                <a16:creationId xmlns:a16="http://schemas.microsoft.com/office/drawing/2014/main" id="{7F0E0049-F914-8FCF-8D71-9FBC04845A5D}"/>
              </a:ext>
            </a:extLst>
          </p:cNvPr>
          <p:cNvSpPr txBox="1"/>
          <p:nvPr/>
        </p:nvSpPr>
        <p:spPr>
          <a:xfrm>
            <a:off x="319628" y="1835696"/>
            <a:ext cx="3095782" cy="1015663"/>
          </a:xfrm>
          <a:prstGeom prst="rect">
            <a:avLst/>
          </a:prstGeom>
          <a:noFill/>
          <a:ln>
            <a:noFill/>
          </a:ln>
        </p:spPr>
        <p:txBody>
          <a:bodyPr wrap="square" rtlCol="0">
            <a:spAutoFit/>
          </a:bodyPr>
          <a:lstStyle/>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หากประเมินทิศทางกำไร อัตราผลตอบแทนจากส่วนของผู้ถือหุ้น (</a:t>
            </a:r>
            <a:r>
              <a:rPr lang="en-US" sz="1000" dirty="0">
                <a:solidFill>
                  <a:schemeClr val="tx1">
                    <a:lumMod val="65000"/>
                    <a:lumOff val="35000"/>
                  </a:schemeClr>
                </a:solidFill>
                <a:latin typeface="BLS Text" pitchFamily="2" charset="-34"/>
                <a:cs typeface="BLS Text" pitchFamily="2" charset="-34"/>
              </a:rPr>
              <a:t>ROE) </a:t>
            </a:r>
            <a:r>
              <a:rPr lang="th-TH" sz="1000" dirty="0">
                <a:solidFill>
                  <a:schemeClr val="tx1">
                    <a:lumMod val="65000"/>
                    <a:lumOff val="35000"/>
                  </a:schemeClr>
                </a:solidFill>
                <a:latin typeface="BLS Text" pitchFamily="2" charset="-34"/>
                <a:cs typeface="BLS Text" pitchFamily="2" charset="-34"/>
              </a:rPr>
              <a:t>รวมถึงการประเมินมูลค่า (</a:t>
            </a:r>
            <a:r>
              <a:rPr lang="en-US" sz="1000" dirty="0">
                <a:solidFill>
                  <a:schemeClr val="tx1">
                    <a:lumMod val="65000"/>
                    <a:lumOff val="35000"/>
                  </a:schemeClr>
                </a:solidFill>
                <a:latin typeface="BLS Text" pitchFamily="2" charset="-34"/>
                <a:cs typeface="BLS Text" pitchFamily="2" charset="-34"/>
              </a:rPr>
              <a:t>Valuation) </a:t>
            </a:r>
            <a:r>
              <a:rPr lang="th-TH" sz="1000" dirty="0">
                <a:solidFill>
                  <a:schemeClr val="tx1">
                    <a:lumMod val="65000"/>
                    <a:lumOff val="35000"/>
                  </a:schemeClr>
                </a:solidFill>
                <a:latin typeface="BLS Text" pitchFamily="2" charset="-34"/>
                <a:cs typeface="BLS Text" pitchFamily="2" charset="-34"/>
              </a:rPr>
              <a:t>ของหุ้นไทย มักสัมพันธ์กับวงจรภาคการผลิตโลกอย่างมาก ในช่วงวงจรภาคการผลิตโลกขยายตัว สะท้อนผ่านดัชนีภาคการผลิตสหรัฐฯ (</a:t>
            </a:r>
            <a:r>
              <a:rPr lang="en-US" sz="1000" dirty="0">
                <a:solidFill>
                  <a:schemeClr val="tx1">
                    <a:lumMod val="65000"/>
                    <a:lumOff val="35000"/>
                  </a:schemeClr>
                </a:solidFill>
                <a:latin typeface="BLS Text" pitchFamily="2" charset="-34"/>
                <a:cs typeface="BLS Text" pitchFamily="2" charset="-34"/>
              </a:rPr>
              <a:t>US ISM</a:t>
            </a:r>
            <a:endParaRPr lang="th-TH" sz="1000" dirty="0">
              <a:solidFill>
                <a:schemeClr val="tx1">
                  <a:lumMod val="65000"/>
                  <a:lumOff val="35000"/>
                </a:schemeClr>
              </a:solidFill>
              <a:latin typeface="BLS Text" pitchFamily="2" charset="-34"/>
              <a:cs typeface="BLS Text" pitchFamily="2" charset="-34"/>
            </a:endParaRPr>
          </a:p>
        </p:txBody>
      </p:sp>
      <p:pic>
        <p:nvPicPr>
          <p:cNvPr id="23" name="Picture 22">
            <a:extLst>
              <a:ext uri="{FF2B5EF4-FFF2-40B4-BE49-F238E27FC236}">
                <a16:creationId xmlns:a16="http://schemas.microsoft.com/office/drawing/2014/main" id="{96F0FABE-7CFD-D4C2-FED2-2C2D82051D7A}"/>
              </a:ext>
            </a:extLst>
          </p:cNvPr>
          <p:cNvPicPr>
            <a:picLocks noChangeAspect="1"/>
          </p:cNvPicPr>
          <p:nvPr/>
        </p:nvPicPr>
        <p:blipFill>
          <a:blip r:embed="rId7"/>
          <a:stretch>
            <a:fillRect/>
          </a:stretch>
        </p:blipFill>
        <p:spPr>
          <a:xfrm>
            <a:off x="468046" y="2987824"/>
            <a:ext cx="6057298" cy="5494777"/>
          </a:xfrm>
          <a:prstGeom prst="rect">
            <a:avLst/>
          </a:prstGeom>
        </p:spPr>
      </p:pic>
      <p:sp>
        <p:nvSpPr>
          <p:cNvPr id="17" name="TextBox 16">
            <a:extLst>
              <a:ext uri="{FF2B5EF4-FFF2-40B4-BE49-F238E27FC236}">
                <a16:creationId xmlns:a16="http://schemas.microsoft.com/office/drawing/2014/main" id="{FB6FF603-2FDD-F531-DCD5-78BF648B8566}"/>
              </a:ext>
            </a:extLst>
          </p:cNvPr>
          <p:cNvSpPr txBox="1"/>
          <p:nvPr/>
        </p:nvSpPr>
        <p:spPr>
          <a:xfrm>
            <a:off x="4957756" y="3184684"/>
            <a:ext cx="1419471" cy="523220"/>
          </a:xfrm>
          <a:prstGeom prst="rect">
            <a:avLst/>
          </a:prstGeom>
          <a:noFill/>
        </p:spPr>
        <p:txBody>
          <a:bodyPr wrap="square">
            <a:spAutoFit/>
          </a:bodyPr>
          <a:lstStyle/>
          <a:p>
            <a:pPr algn="r"/>
            <a:r>
              <a:rPr lang="th-TH" altLang="en-US" sz="14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ดัชนีภาค</a:t>
            </a:r>
          </a:p>
          <a:p>
            <a:pPr algn="r"/>
            <a:r>
              <a:rPr lang="th-TH" altLang="en-US" sz="14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การผลิตสหรัฐฯ</a:t>
            </a:r>
            <a:endParaRPr lang="en-US" altLang="en-US" sz="14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endParaRPr>
          </a:p>
        </p:txBody>
      </p:sp>
      <p:sp>
        <p:nvSpPr>
          <p:cNvPr id="15" name="TextBox 14">
            <a:extLst>
              <a:ext uri="{FF2B5EF4-FFF2-40B4-BE49-F238E27FC236}">
                <a16:creationId xmlns:a16="http://schemas.microsoft.com/office/drawing/2014/main" id="{B65DCF85-E889-D428-21F8-7E6FD930ACD0}"/>
              </a:ext>
            </a:extLst>
          </p:cNvPr>
          <p:cNvSpPr txBox="1"/>
          <p:nvPr/>
        </p:nvSpPr>
        <p:spPr>
          <a:xfrm>
            <a:off x="4293096" y="4480247"/>
            <a:ext cx="2084131" cy="307777"/>
          </a:xfrm>
          <a:prstGeom prst="rect">
            <a:avLst/>
          </a:prstGeom>
          <a:noFill/>
        </p:spPr>
        <p:txBody>
          <a:bodyPr wrap="square">
            <a:spAutoFit/>
          </a:bodyPr>
          <a:lstStyle/>
          <a:p>
            <a:pPr algn="r"/>
            <a:r>
              <a:rPr lang="th-TH" altLang="en-US" sz="14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ประมาณการณ์กำไร</a:t>
            </a:r>
            <a:r>
              <a:rPr lang="en-US" altLang="en-US" sz="14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 SET</a:t>
            </a:r>
          </a:p>
        </p:txBody>
      </p:sp>
      <p:sp>
        <p:nvSpPr>
          <p:cNvPr id="22" name="TextBox 21">
            <a:extLst>
              <a:ext uri="{FF2B5EF4-FFF2-40B4-BE49-F238E27FC236}">
                <a16:creationId xmlns:a16="http://schemas.microsoft.com/office/drawing/2014/main" id="{4F12739D-AB08-D22D-5460-34182DE9075C}"/>
              </a:ext>
            </a:extLst>
          </p:cNvPr>
          <p:cNvSpPr txBox="1"/>
          <p:nvPr/>
        </p:nvSpPr>
        <p:spPr>
          <a:xfrm>
            <a:off x="4772180" y="6136431"/>
            <a:ext cx="1605047" cy="307777"/>
          </a:xfrm>
          <a:prstGeom prst="rect">
            <a:avLst/>
          </a:prstGeom>
          <a:noFill/>
        </p:spPr>
        <p:txBody>
          <a:bodyPr wrap="square">
            <a:spAutoFit/>
          </a:bodyPr>
          <a:lstStyle/>
          <a:p>
            <a:pPr algn="r"/>
            <a:r>
              <a:rPr lang="th-TH" altLang="en-US" sz="14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ประมาณการณ์</a:t>
            </a:r>
            <a:r>
              <a:rPr lang="en-US" altLang="en-US" sz="14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 ROE</a:t>
            </a:r>
          </a:p>
        </p:txBody>
      </p:sp>
      <p:cxnSp>
        <p:nvCxnSpPr>
          <p:cNvPr id="13" name="Straight Connector 12">
            <a:extLst>
              <a:ext uri="{FF2B5EF4-FFF2-40B4-BE49-F238E27FC236}">
                <a16:creationId xmlns:a16="http://schemas.microsoft.com/office/drawing/2014/main" id="{9A60492C-0973-F9C4-35C6-172E035FE8A3}"/>
              </a:ext>
            </a:extLst>
          </p:cNvPr>
          <p:cNvCxnSpPr/>
          <p:nvPr/>
        </p:nvCxnSpPr>
        <p:spPr>
          <a:xfrm>
            <a:off x="305146" y="2843808"/>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452BD30-B07B-167E-7B30-987CF50B75D0}"/>
              </a:ext>
            </a:extLst>
          </p:cNvPr>
          <p:cNvSpPr txBox="1"/>
          <p:nvPr/>
        </p:nvSpPr>
        <p:spPr>
          <a:xfrm>
            <a:off x="286492" y="2852693"/>
            <a:ext cx="5302747"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2</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ดัชนีภาคการผลิตสหรัฐฯ และทิศทางกำไร และอัตราผลตอบแทนจากส่วนของผู้ถือหุ้น (</a:t>
            </a:r>
            <a:r>
              <a:rPr lang="en-US" sz="800" b="1" dirty="0">
                <a:solidFill>
                  <a:schemeClr val="tx1">
                    <a:lumMod val="95000"/>
                    <a:lumOff val="5000"/>
                  </a:schemeClr>
                </a:solidFill>
                <a:latin typeface="BLS Condensed" pitchFamily="2" charset="-34"/>
                <a:ea typeface="Tahoma" pitchFamily="34" charset="0"/>
                <a:cs typeface="BLS Condensed" pitchFamily="2" charset="-34"/>
              </a:rPr>
              <a:t>ROE) </a:t>
            </a:r>
            <a:r>
              <a:rPr lang="th-TH" sz="800" b="1" dirty="0">
                <a:solidFill>
                  <a:schemeClr val="tx1">
                    <a:lumMod val="95000"/>
                    <a:lumOff val="5000"/>
                  </a:schemeClr>
                </a:solidFill>
                <a:latin typeface="BLS Condensed" pitchFamily="2" charset="-34"/>
                <a:ea typeface="Tahoma" pitchFamily="34" charset="0"/>
                <a:cs typeface="BLS Condensed" pitchFamily="2" charset="-34"/>
              </a:rPr>
              <a:t>ของ </a:t>
            </a:r>
            <a:r>
              <a:rPr lang="en-US" sz="800" b="1" dirty="0">
                <a:solidFill>
                  <a:schemeClr val="tx1">
                    <a:lumMod val="95000"/>
                    <a:lumOff val="5000"/>
                  </a:schemeClr>
                </a:solidFill>
                <a:latin typeface="BLS Condensed" pitchFamily="2" charset="-34"/>
                <a:ea typeface="Tahoma" pitchFamily="34" charset="0"/>
                <a:cs typeface="BLS Condensed" pitchFamily="2" charset="-34"/>
              </a:rPr>
              <a:t>SET </a:t>
            </a:r>
          </a:p>
        </p:txBody>
      </p:sp>
    </p:spTree>
    <p:extLst>
      <p:ext uri="{BB962C8B-B14F-4D97-AF65-F5344CB8AC3E}">
        <p14:creationId xmlns:p14="http://schemas.microsoft.com/office/powerpoint/2010/main" val="2710134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6" name="TextBox 15">
            <a:extLst>
              <a:ext uri="{FF2B5EF4-FFF2-40B4-BE49-F238E27FC236}">
                <a16:creationId xmlns:a16="http://schemas.microsoft.com/office/drawing/2014/main" id="{5BC5EC73-C158-4522-8EA3-0470D38883B7}"/>
              </a:ext>
            </a:extLst>
          </p:cNvPr>
          <p:cNvSpPr txBox="1">
            <a:spLocks noChangeArrowheads="1"/>
          </p:cNvSpPr>
          <p:nvPr/>
        </p:nvSpPr>
        <p:spPr bwMode="auto">
          <a:xfrm>
            <a:off x="382301" y="8532440"/>
            <a:ext cx="31090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600" dirty="0">
                <a:solidFill>
                  <a:srgbClr val="404040"/>
                </a:solidFill>
                <a:latin typeface="BLS Condensed" pitchFamily="2" charset="-34"/>
                <a:cs typeface="BLS Condensed" pitchFamily="2" charset="-34"/>
              </a:rPr>
              <a:t>Source: Bloomberg,</a:t>
            </a:r>
            <a:r>
              <a:rPr lang="th-TH" sz="600" dirty="0">
                <a:solidFill>
                  <a:srgbClr val="404040"/>
                </a:solidFill>
                <a:latin typeface="BLS Condensed" pitchFamily="2" charset="-34"/>
                <a:cs typeface="BLS Condensed" pitchFamily="2" charset="-34"/>
              </a:rPr>
              <a:t> </a:t>
            </a:r>
            <a:r>
              <a:rPr lang="en-US" sz="600" dirty="0" err="1">
                <a:solidFill>
                  <a:srgbClr val="404040"/>
                </a:solidFill>
                <a:latin typeface="BLS Condensed" pitchFamily="2" charset="-34"/>
                <a:cs typeface="BLS Condensed" pitchFamily="2" charset="-34"/>
              </a:rPr>
              <a:t>Bualuang</a:t>
            </a:r>
            <a:r>
              <a:rPr lang="en-US" sz="600" dirty="0">
                <a:solidFill>
                  <a:srgbClr val="404040"/>
                </a:solidFill>
                <a:latin typeface="BLS Condensed" pitchFamily="2" charset="-34"/>
                <a:cs typeface="BLS Condensed" pitchFamily="2" charset="-34"/>
              </a:rPr>
              <a:t> Research </a:t>
            </a:r>
          </a:p>
        </p:txBody>
      </p:sp>
      <p:cxnSp>
        <p:nvCxnSpPr>
          <p:cNvPr id="20" name="Straight Connector 19">
            <a:extLst>
              <a:ext uri="{FF2B5EF4-FFF2-40B4-BE49-F238E27FC236}">
                <a16:creationId xmlns:a16="http://schemas.microsoft.com/office/drawing/2014/main" id="{F4915A1D-57DC-D3FB-CC72-71B4C0BD42F1}"/>
              </a:ext>
            </a:extLst>
          </p:cNvPr>
          <p:cNvCxnSpPr>
            <a:cxnSpLocks/>
          </p:cNvCxnSpPr>
          <p:nvPr/>
        </p:nvCxnSpPr>
        <p:spPr>
          <a:xfrm>
            <a:off x="320593" y="8532440"/>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9BFC3EC-F4A9-AEDA-D303-4410E9323D02}"/>
              </a:ext>
            </a:extLst>
          </p:cNvPr>
          <p:cNvSpPr txBox="1"/>
          <p:nvPr/>
        </p:nvSpPr>
        <p:spPr>
          <a:xfrm>
            <a:off x="188640" y="899592"/>
            <a:ext cx="6344324" cy="830997"/>
          </a:xfrm>
          <a:prstGeom prst="rect">
            <a:avLst/>
          </a:prstGeom>
          <a:noFill/>
        </p:spPr>
        <p:txBody>
          <a:bodyPr wrap="square">
            <a:spAutoFit/>
          </a:bodyPr>
          <a:lstStyle/>
          <a:p>
            <a:pPr algn="r"/>
            <a:r>
              <a:rPr lang="th-TH" altLang="en-US" sz="1600" dirty="0">
                <a:solidFill>
                  <a:schemeClr val="accent2"/>
                </a:solidFill>
                <a:latin typeface="BLS Condensed Bold" panose="00000800000000000000" pitchFamily="2" charset="-34"/>
                <a:ea typeface="Tahoma" pitchFamily="34" charset="0"/>
                <a:cs typeface="BLS Condensed Bold" panose="00000800000000000000" pitchFamily="2" charset="-34"/>
              </a:rPr>
              <a:t>สัดส่วนกำไรของ </a:t>
            </a:r>
            <a:r>
              <a:rPr lang="en-US" altLang="en-US" sz="1600" dirty="0">
                <a:solidFill>
                  <a:schemeClr val="accent2"/>
                </a:solidFill>
                <a:latin typeface="BLS Condensed Bold" panose="00000800000000000000" pitchFamily="2" charset="-34"/>
                <a:ea typeface="Tahoma" pitchFamily="34" charset="0"/>
                <a:cs typeface="BLS Condensed Bold" panose="00000800000000000000" pitchFamily="2" charset="-34"/>
              </a:rPr>
              <a:t>SET </a:t>
            </a:r>
            <a:r>
              <a:rPr lang="th-TH" altLang="en-US" sz="1600" dirty="0">
                <a:solidFill>
                  <a:schemeClr val="accent2"/>
                </a:solidFill>
                <a:latin typeface="BLS Condensed Bold" panose="00000800000000000000" pitchFamily="2" charset="-34"/>
                <a:ea typeface="Tahoma" pitchFamily="34" charset="0"/>
                <a:cs typeface="BLS Condensed Bold" panose="00000800000000000000" pitchFamily="2" charset="-34"/>
              </a:rPr>
              <a:t>มาจากกลุ่มเชื่อมโยงเศรษฐกิจโลก (</a:t>
            </a:r>
            <a:r>
              <a:rPr lang="en-US" altLang="en-US" sz="1600" dirty="0">
                <a:solidFill>
                  <a:schemeClr val="accent2"/>
                </a:solidFill>
                <a:latin typeface="BLS Condensed Bold" panose="00000800000000000000" pitchFamily="2" charset="-34"/>
                <a:ea typeface="Tahoma" pitchFamily="34" charset="0"/>
                <a:cs typeface="BLS Condensed Bold" panose="00000800000000000000" pitchFamily="2" charset="-34"/>
              </a:rPr>
              <a:t>Global play) </a:t>
            </a:r>
            <a:endParaRPr lang="th-TH" altLang="en-US" sz="1600" dirty="0">
              <a:solidFill>
                <a:schemeClr val="accent2"/>
              </a:solidFill>
              <a:latin typeface="BLS Condensed Bold" panose="00000800000000000000" pitchFamily="2" charset="-34"/>
              <a:ea typeface="Tahoma" pitchFamily="34" charset="0"/>
              <a:cs typeface="BLS Condensed Bold" panose="00000800000000000000" pitchFamily="2" charset="-34"/>
            </a:endParaRPr>
          </a:p>
          <a:p>
            <a:pPr algn="r"/>
            <a:r>
              <a:rPr lang="th-TH" altLang="en-US" sz="1600" dirty="0">
                <a:solidFill>
                  <a:schemeClr val="accent2"/>
                </a:solidFill>
                <a:latin typeface="BLS Condensed Bold" panose="00000800000000000000" pitchFamily="2" charset="-34"/>
                <a:ea typeface="Tahoma" pitchFamily="34" charset="0"/>
                <a:cs typeface="BLS Condensed Bold" panose="00000800000000000000" pitchFamily="2" charset="-34"/>
              </a:rPr>
              <a:t>ทั้งพลังงานไม่รวมโรงไฟฟ้า ปิโตรเคมี แพคเกจจิ้ง เป็นต้น คิดเป็นราว 28% </a:t>
            </a:r>
            <a:endParaRPr lang="en-US" altLang="en-US" sz="1600" dirty="0">
              <a:solidFill>
                <a:schemeClr val="accent2"/>
              </a:solidFill>
              <a:latin typeface="BLS Condensed Bold" panose="00000800000000000000" pitchFamily="2" charset="-34"/>
              <a:ea typeface="Tahoma" pitchFamily="34" charset="0"/>
              <a:cs typeface="BLS Condensed Bold" panose="00000800000000000000" pitchFamily="2" charset="-34"/>
            </a:endParaRPr>
          </a:p>
          <a:p>
            <a:pPr algn="r"/>
            <a:r>
              <a:rPr lang="th-TH" altLang="en-US" sz="1600" dirty="0">
                <a:solidFill>
                  <a:schemeClr val="accent2"/>
                </a:solidFill>
                <a:latin typeface="BLS Condensed Bold" panose="00000800000000000000" pitchFamily="2" charset="-34"/>
                <a:ea typeface="Tahoma" pitchFamily="34" charset="0"/>
                <a:cs typeface="BLS Condensed Bold" panose="00000800000000000000" pitchFamily="2" charset="-34"/>
              </a:rPr>
              <a:t>หรือเกือบ 1 ใน 3 ของกำไรทั้งหมดปี 2026 </a:t>
            </a:r>
            <a:endParaRPr lang="en-US" altLang="en-US" sz="1600" dirty="0">
              <a:solidFill>
                <a:schemeClr val="accent4"/>
              </a:solidFill>
              <a:latin typeface="BLS Condensed Bold" panose="00000800000000000000" pitchFamily="2" charset="-34"/>
              <a:ea typeface="Tahoma" pitchFamily="34" charset="0"/>
              <a:cs typeface="BLS Condensed Bold" panose="00000800000000000000" pitchFamily="2" charset="-34"/>
            </a:endParaRPr>
          </a:p>
        </p:txBody>
      </p:sp>
      <p:pic>
        <p:nvPicPr>
          <p:cNvPr id="5" name="Picture 4">
            <a:extLst>
              <a:ext uri="{FF2B5EF4-FFF2-40B4-BE49-F238E27FC236}">
                <a16:creationId xmlns:a16="http://schemas.microsoft.com/office/drawing/2014/main" id="{799300BE-525D-BE4D-EAB5-A282DD2024FE}"/>
              </a:ext>
            </a:extLst>
          </p:cNvPr>
          <p:cNvPicPr>
            <a:picLocks noChangeAspect="1"/>
          </p:cNvPicPr>
          <p:nvPr/>
        </p:nvPicPr>
        <p:blipFill>
          <a:blip r:embed="rId7"/>
          <a:stretch>
            <a:fillRect/>
          </a:stretch>
        </p:blipFill>
        <p:spPr>
          <a:xfrm>
            <a:off x="4221088" y="2441121"/>
            <a:ext cx="2210538" cy="2126499"/>
          </a:xfrm>
          <a:prstGeom prst="rect">
            <a:avLst/>
          </a:prstGeom>
        </p:spPr>
      </p:pic>
      <p:sp>
        <p:nvSpPr>
          <p:cNvPr id="7" name="TextBox 6">
            <a:extLst>
              <a:ext uri="{FF2B5EF4-FFF2-40B4-BE49-F238E27FC236}">
                <a16:creationId xmlns:a16="http://schemas.microsoft.com/office/drawing/2014/main" id="{976B5C9E-A6CB-8CAE-03B8-7D22718E584A}"/>
              </a:ext>
            </a:extLst>
          </p:cNvPr>
          <p:cNvSpPr txBox="1"/>
          <p:nvPr/>
        </p:nvSpPr>
        <p:spPr>
          <a:xfrm>
            <a:off x="3464359" y="1763688"/>
            <a:ext cx="3188101" cy="461665"/>
          </a:xfrm>
          <a:prstGeom prst="rect">
            <a:avLst/>
          </a:prstGeom>
          <a:noFill/>
          <a:ln>
            <a:noFill/>
          </a:ln>
        </p:spPr>
        <p:txBody>
          <a:bodyPr wrap="square" rtlCol="0">
            <a:spAutoFit/>
          </a:bodyPr>
          <a:lstStyle/>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a:t>
            </a:r>
            <a:r>
              <a:rPr lang="en-US" sz="1000" dirty="0">
                <a:solidFill>
                  <a:schemeClr val="tx1">
                    <a:lumMod val="65000"/>
                    <a:lumOff val="35000"/>
                  </a:schemeClr>
                </a:solidFill>
                <a:latin typeface="BLS Text" pitchFamily="2" charset="-34"/>
                <a:cs typeface="BLS Text" pitchFamily="2" charset="-34"/>
              </a:rPr>
              <a:t>Valuation re-rating cycle) </a:t>
            </a:r>
            <a:r>
              <a:rPr lang="th-TH" sz="1000" dirty="0">
                <a:solidFill>
                  <a:schemeClr val="tx1">
                    <a:lumMod val="65000"/>
                    <a:lumOff val="35000"/>
                  </a:schemeClr>
                </a:solidFill>
                <a:latin typeface="BLS Text" pitchFamily="2" charset="-34"/>
                <a:cs typeface="BLS Text" pitchFamily="2" charset="-34"/>
              </a:rPr>
              <a:t>หรือการปรับระดับ </a:t>
            </a:r>
            <a:r>
              <a:rPr lang="en-US" sz="1000" dirty="0">
                <a:solidFill>
                  <a:schemeClr val="tx1">
                    <a:lumMod val="65000"/>
                    <a:lumOff val="35000"/>
                  </a:schemeClr>
                </a:solidFill>
                <a:latin typeface="BLS Text" pitchFamily="2" charset="-34"/>
                <a:cs typeface="BLS Text" pitchFamily="2" charset="-34"/>
              </a:rPr>
              <a:t>PER </a:t>
            </a:r>
            <a:r>
              <a:rPr lang="th-TH" sz="1000" dirty="0">
                <a:solidFill>
                  <a:schemeClr val="tx1">
                    <a:lumMod val="65000"/>
                    <a:lumOff val="35000"/>
                  </a:schemeClr>
                </a:solidFill>
                <a:latin typeface="BLS Text" pitchFamily="2" charset="-34"/>
                <a:cs typeface="BLS Text" pitchFamily="2" charset="-34"/>
              </a:rPr>
              <a:t>ขึ้น ในอดีตมักเห็นการปรับขึ้นเฉลี่ยราว 1-1.5</a:t>
            </a:r>
            <a:r>
              <a:rPr lang="en-US" sz="1000" dirty="0">
                <a:solidFill>
                  <a:schemeClr val="tx1">
                    <a:lumMod val="65000"/>
                    <a:lumOff val="35000"/>
                  </a:schemeClr>
                </a:solidFill>
                <a:latin typeface="BLS Text" pitchFamily="2" charset="-34"/>
                <a:cs typeface="BLS Text" pitchFamily="2" charset="-34"/>
              </a:rPr>
              <a:t>SD</a:t>
            </a:r>
            <a:endParaRPr lang="th-TH" sz="1000" dirty="0">
              <a:solidFill>
                <a:schemeClr val="tx1">
                  <a:lumMod val="65000"/>
                  <a:lumOff val="35000"/>
                </a:schemeClr>
              </a:solidFill>
              <a:latin typeface="BLS Text" pitchFamily="2" charset="-34"/>
              <a:cs typeface="BLS Text" pitchFamily="2" charset="-34"/>
            </a:endParaRPr>
          </a:p>
        </p:txBody>
      </p:sp>
      <p:sp>
        <p:nvSpPr>
          <p:cNvPr id="9" name="TextBox 8">
            <a:extLst>
              <a:ext uri="{FF2B5EF4-FFF2-40B4-BE49-F238E27FC236}">
                <a16:creationId xmlns:a16="http://schemas.microsoft.com/office/drawing/2014/main" id="{7F0E0049-F914-8FCF-8D71-9FBC04845A5D}"/>
              </a:ext>
            </a:extLst>
          </p:cNvPr>
          <p:cNvSpPr txBox="1"/>
          <p:nvPr/>
        </p:nvSpPr>
        <p:spPr>
          <a:xfrm>
            <a:off x="319628" y="1763688"/>
            <a:ext cx="3095782" cy="646331"/>
          </a:xfrm>
          <a:prstGeom prst="rect">
            <a:avLst/>
          </a:prstGeom>
          <a:noFill/>
          <a:ln>
            <a:noFill/>
          </a:ln>
        </p:spPr>
        <p:txBody>
          <a:bodyPr wrap="square" rtlCol="0">
            <a:spAutoFit/>
          </a:bodyPr>
          <a:lstStyle/>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ในช่วงวงจรภาคการผลิตโลกขยายตัวในอดีต หลังทิศทางกำไร และอัตราผลตอบแทนจากส่วนของผู้ถือหุ้น (</a:t>
            </a:r>
            <a:r>
              <a:rPr lang="en-US" sz="1000" dirty="0">
                <a:solidFill>
                  <a:schemeClr val="tx1">
                    <a:lumMod val="65000"/>
                    <a:lumOff val="35000"/>
                  </a:schemeClr>
                </a:solidFill>
                <a:latin typeface="BLS Text" pitchFamily="2" charset="-34"/>
                <a:cs typeface="BLS Text" pitchFamily="2" charset="-34"/>
              </a:rPr>
              <a:t>ROE) </a:t>
            </a:r>
            <a:r>
              <a:rPr lang="th-TH" sz="1000" dirty="0">
                <a:solidFill>
                  <a:schemeClr val="tx1">
                    <a:lumMod val="65000"/>
                    <a:lumOff val="35000"/>
                  </a:schemeClr>
                </a:solidFill>
                <a:latin typeface="BLS Text" pitchFamily="2" charset="-34"/>
                <a:cs typeface="BLS Text" pitchFamily="2" charset="-34"/>
              </a:rPr>
              <a:t>ของ </a:t>
            </a:r>
            <a:r>
              <a:rPr lang="en-US" sz="1000" dirty="0">
                <a:solidFill>
                  <a:schemeClr val="tx1">
                    <a:lumMod val="65000"/>
                    <a:lumOff val="35000"/>
                  </a:schemeClr>
                </a:solidFill>
                <a:latin typeface="BLS Text" pitchFamily="2" charset="-34"/>
                <a:cs typeface="BLS Text" pitchFamily="2" charset="-34"/>
              </a:rPr>
              <a:t>SET </a:t>
            </a:r>
            <a:r>
              <a:rPr lang="th-TH" sz="1000" dirty="0">
                <a:solidFill>
                  <a:schemeClr val="tx1">
                    <a:lumMod val="65000"/>
                    <a:lumOff val="35000"/>
                  </a:schemeClr>
                </a:solidFill>
                <a:latin typeface="BLS Text" pitchFamily="2" charset="-34"/>
                <a:cs typeface="BLS Text" pitchFamily="2" charset="-34"/>
              </a:rPr>
              <a:t>ดีขึ้น จะตามมาด้วยวงจรปรับมูลค่าเพิ่มครั้งใหม่ </a:t>
            </a:r>
          </a:p>
        </p:txBody>
      </p:sp>
      <p:pic>
        <p:nvPicPr>
          <p:cNvPr id="4" name="Picture 3">
            <a:extLst>
              <a:ext uri="{FF2B5EF4-FFF2-40B4-BE49-F238E27FC236}">
                <a16:creationId xmlns:a16="http://schemas.microsoft.com/office/drawing/2014/main" id="{2B80CB8D-A7FE-9C8D-CBDD-49606697ED4A}"/>
              </a:ext>
            </a:extLst>
          </p:cNvPr>
          <p:cNvPicPr>
            <a:picLocks noChangeAspect="1"/>
          </p:cNvPicPr>
          <p:nvPr/>
        </p:nvPicPr>
        <p:blipFill>
          <a:blip r:embed="rId8"/>
          <a:stretch>
            <a:fillRect/>
          </a:stretch>
        </p:blipFill>
        <p:spPr>
          <a:xfrm>
            <a:off x="332656" y="4758878"/>
            <a:ext cx="3013013" cy="1901354"/>
          </a:xfrm>
          <a:prstGeom prst="rect">
            <a:avLst/>
          </a:prstGeom>
        </p:spPr>
      </p:pic>
      <p:pic>
        <p:nvPicPr>
          <p:cNvPr id="21" name="Picture 20">
            <a:extLst>
              <a:ext uri="{FF2B5EF4-FFF2-40B4-BE49-F238E27FC236}">
                <a16:creationId xmlns:a16="http://schemas.microsoft.com/office/drawing/2014/main" id="{FDC634ED-D6B2-A248-37B4-6815ADE46541}"/>
              </a:ext>
            </a:extLst>
          </p:cNvPr>
          <p:cNvPicPr>
            <a:picLocks noChangeAspect="1"/>
          </p:cNvPicPr>
          <p:nvPr/>
        </p:nvPicPr>
        <p:blipFill>
          <a:blip r:embed="rId9"/>
          <a:stretch>
            <a:fillRect/>
          </a:stretch>
        </p:blipFill>
        <p:spPr>
          <a:xfrm>
            <a:off x="3404978" y="4758878"/>
            <a:ext cx="3109043" cy="1896785"/>
          </a:xfrm>
          <a:prstGeom prst="rect">
            <a:avLst/>
          </a:prstGeom>
        </p:spPr>
      </p:pic>
      <p:pic>
        <p:nvPicPr>
          <p:cNvPr id="27" name="Picture 26">
            <a:extLst>
              <a:ext uri="{FF2B5EF4-FFF2-40B4-BE49-F238E27FC236}">
                <a16:creationId xmlns:a16="http://schemas.microsoft.com/office/drawing/2014/main" id="{6F65D695-A964-FBAD-5EA9-F5252DC3D876}"/>
              </a:ext>
            </a:extLst>
          </p:cNvPr>
          <p:cNvPicPr>
            <a:picLocks noChangeAspect="1"/>
          </p:cNvPicPr>
          <p:nvPr/>
        </p:nvPicPr>
        <p:blipFill>
          <a:blip r:embed="rId10"/>
          <a:stretch>
            <a:fillRect/>
          </a:stretch>
        </p:blipFill>
        <p:spPr>
          <a:xfrm>
            <a:off x="212159" y="6763408"/>
            <a:ext cx="3216841" cy="1708616"/>
          </a:xfrm>
          <a:prstGeom prst="rect">
            <a:avLst/>
          </a:prstGeom>
        </p:spPr>
      </p:pic>
      <p:pic>
        <p:nvPicPr>
          <p:cNvPr id="28" name="Picture 27">
            <a:extLst>
              <a:ext uri="{FF2B5EF4-FFF2-40B4-BE49-F238E27FC236}">
                <a16:creationId xmlns:a16="http://schemas.microsoft.com/office/drawing/2014/main" id="{3C0EB6DD-BD82-941E-0CA0-9E572B9346B5}"/>
              </a:ext>
            </a:extLst>
          </p:cNvPr>
          <p:cNvPicPr>
            <a:picLocks noChangeAspect="1"/>
          </p:cNvPicPr>
          <p:nvPr/>
        </p:nvPicPr>
        <p:blipFill>
          <a:blip r:embed="rId11"/>
          <a:stretch>
            <a:fillRect/>
          </a:stretch>
        </p:blipFill>
        <p:spPr>
          <a:xfrm>
            <a:off x="3464360" y="6763407"/>
            <a:ext cx="3044422" cy="1708615"/>
          </a:xfrm>
          <a:prstGeom prst="rect">
            <a:avLst/>
          </a:prstGeom>
        </p:spPr>
      </p:pic>
      <p:pic>
        <p:nvPicPr>
          <p:cNvPr id="15" name="Picture 14">
            <a:extLst>
              <a:ext uri="{FF2B5EF4-FFF2-40B4-BE49-F238E27FC236}">
                <a16:creationId xmlns:a16="http://schemas.microsoft.com/office/drawing/2014/main" id="{AC4D8FA0-6EB5-0976-A81F-66F6A790BAE6}"/>
              </a:ext>
            </a:extLst>
          </p:cNvPr>
          <p:cNvPicPr>
            <a:picLocks noChangeAspect="1"/>
          </p:cNvPicPr>
          <p:nvPr/>
        </p:nvPicPr>
        <p:blipFill>
          <a:blip r:embed="rId12"/>
          <a:stretch>
            <a:fillRect/>
          </a:stretch>
        </p:blipFill>
        <p:spPr>
          <a:xfrm>
            <a:off x="347114" y="2535844"/>
            <a:ext cx="3585942" cy="1941865"/>
          </a:xfrm>
          <a:prstGeom prst="rect">
            <a:avLst/>
          </a:prstGeom>
        </p:spPr>
      </p:pic>
      <p:cxnSp>
        <p:nvCxnSpPr>
          <p:cNvPr id="13" name="Straight Connector 12">
            <a:extLst>
              <a:ext uri="{FF2B5EF4-FFF2-40B4-BE49-F238E27FC236}">
                <a16:creationId xmlns:a16="http://schemas.microsoft.com/office/drawing/2014/main" id="{9A60492C-0973-F9C4-35C6-172E035FE8A3}"/>
              </a:ext>
            </a:extLst>
          </p:cNvPr>
          <p:cNvCxnSpPr/>
          <p:nvPr/>
        </p:nvCxnSpPr>
        <p:spPr>
          <a:xfrm>
            <a:off x="305146" y="2411760"/>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452BD30-B07B-167E-7B30-987CF50B75D0}"/>
              </a:ext>
            </a:extLst>
          </p:cNvPr>
          <p:cNvSpPr txBox="1"/>
          <p:nvPr/>
        </p:nvSpPr>
        <p:spPr>
          <a:xfrm>
            <a:off x="286492" y="2420645"/>
            <a:ext cx="5302747"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3</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สัดส่วนกำไรของ </a:t>
            </a:r>
            <a:r>
              <a:rPr lang="en-US" sz="800" b="1" dirty="0">
                <a:solidFill>
                  <a:schemeClr val="tx1">
                    <a:lumMod val="95000"/>
                    <a:lumOff val="5000"/>
                  </a:schemeClr>
                </a:solidFill>
                <a:latin typeface="BLS Condensed" pitchFamily="2" charset="-34"/>
                <a:ea typeface="Tahoma" pitchFamily="34" charset="0"/>
                <a:cs typeface="BLS Condensed" pitchFamily="2" charset="-34"/>
              </a:rPr>
              <a:t>SET</a:t>
            </a:r>
          </a:p>
        </p:txBody>
      </p:sp>
      <p:cxnSp>
        <p:nvCxnSpPr>
          <p:cNvPr id="2" name="Straight Connector 1">
            <a:extLst>
              <a:ext uri="{FF2B5EF4-FFF2-40B4-BE49-F238E27FC236}">
                <a16:creationId xmlns:a16="http://schemas.microsoft.com/office/drawing/2014/main" id="{527EDDA0-4A88-4FFD-0FD0-F6262FA4568F}"/>
              </a:ext>
            </a:extLst>
          </p:cNvPr>
          <p:cNvCxnSpPr/>
          <p:nvPr/>
        </p:nvCxnSpPr>
        <p:spPr>
          <a:xfrm>
            <a:off x="320593" y="4572000"/>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9DD875A-2AE0-7A4F-02FF-576D44A254C6}"/>
              </a:ext>
            </a:extLst>
          </p:cNvPr>
          <p:cNvCxnSpPr/>
          <p:nvPr/>
        </p:nvCxnSpPr>
        <p:spPr>
          <a:xfrm>
            <a:off x="316511" y="6612690"/>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9636E9F-47A1-F36E-F716-438505E921F7}"/>
              </a:ext>
            </a:extLst>
          </p:cNvPr>
          <p:cNvSpPr txBox="1"/>
          <p:nvPr/>
        </p:nvSpPr>
        <p:spPr>
          <a:xfrm>
            <a:off x="297857" y="6621575"/>
            <a:ext cx="6271391"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5: Valuation re-rating cycle </a:t>
            </a:r>
            <a:r>
              <a:rPr lang="th-TH" sz="800" b="1" dirty="0">
                <a:solidFill>
                  <a:schemeClr val="tx1">
                    <a:lumMod val="95000"/>
                    <a:lumOff val="5000"/>
                  </a:schemeClr>
                </a:solidFill>
                <a:latin typeface="BLS Condensed" pitchFamily="2" charset="-34"/>
                <a:ea typeface="Tahoma" pitchFamily="34" charset="0"/>
                <a:cs typeface="BLS Condensed" pitchFamily="2" charset="-34"/>
              </a:rPr>
              <a:t>มักเห็นการปรับระดับ </a:t>
            </a:r>
            <a:r>
              <a:rPr lang="en-US" sz="800" b="1" dirty="0">
                <a:solidFill>
                  <a:schemeClr val="tx1">
                    <a:lumMod val="95000"/>
                    <a:lumOff val="5000"/>
                  </a:schemeClr>
                </a:solidFill>
                <a:latin typeface="BLS Condensed" pitchFamily="2" charset="-34"/>
                <a:ea typeface="Tahoma" pitchFamily="34" charset="0"/>
                <a:cs typeface="BLS Condensed" pitchFamily="2" charset="-34"/>
              </a:rPr>
              <a:t>PER</a:t>
            </a:r>
            <a:r>
              <a:rPr lang="th-TH" sz="800" b="1" dirty="0">
                <a:solidFill>
                  <a:schemeClr val="tx1">
                    <a:lumMod val="95000"/>
                    <a:lumOff val="5000"/>
                  </a:schemeClr>
                </a:solidFill>
                <a:latin typeface="BLS Condensed" pitchFamily="2" charset="-34"/>
                <a:ea typeface="Tahoma" pitchFamily="34" charset="0"/>
                <a:cs typeface="BLS Condensed" pitchFamily="2" charset="-34"/>
              </a:rPr>
              <a:t>/</a:t>
            </a:r>
            <a:r>
              <a:rPr lang="en-US" sz="800" b="1" dirty="0">
                <a:solidFill>
                  <a:schemeClr val="tx1">
                    <a:lumMod val="95000"/>
                    <a:lumOff val="5000"/>
                  </a:schemeClr>
                </a:solidFill>
                <a:latin typeface="BLS Condensed" pitchFamily="2" charset="-34"/>
                <a:ea typeface="Tahoma" pitchFamily="34" charset="0"/>
                <a:cs typeface="BLS Condensed" pitchFamily="2" charset="-34"/>
              </a:rPr>
              <a:t>PBV </a:t>
            </a:r>
            <a:r>
              <a:rPr lang="th-TH" sz="800" b="1" dirty="0">
                <a:solidFill>
                  <a:schemeClr val="tx1">
                    <a:lumMod val="95000"/>
                    <a:lumOff val="5000"/>
                  </a:schemeClr>
                </a:solidFill>
                <a:latin typeface="BLS Condensed" pitchFamily="2" charset="-34"/>
                <a:ea typeface="Tahoma" pitchFamily="34" charset="0"/>
                <a:cs typeface="BLS Condensed" pitchFamily="2" charset="-34"/>
              </a:rPr>
              <a:t>ขึ้นเฉลี่ยอย่างน้อย 1-1.5</a:t>
            </a:r>
            <a:r>
              <a:rPr lang="en-US" sz="800" b="1" dirty="0">
                <a:solidFill>
                  <a:schemeClr val="tx1">
                    <a:lumMod val="95000"/>
                    <a:lumOff val="5000"/>
                  </a:schemeClr>
                </a:solidFill>
                <a:latin typeface="BLS Condensed" pitchFamily="2" charset="-34"/>
                <a:ea typeface="Tahoma" pitchFamily="34" charset="0"/>
                <a:cs typeface="BLS Condensed" pitchFamily="2" charset="-34"/>
              </a:rPr>
              <a:t>SD</a:t>
            </a:r>
          </a:p>
        </p:txBody>
      </p:sp>
      <p:sp>
        <p:nvSpPr>
          <p:cNvPr id="3" name="TextBox 2">
            <a:extLst>
              <a:ext uri="{FF2B5EF4-FFF2-40B4-BE49-F238E27FC236}">
                <a16:creationId xmlns:a16="http://schemas.microsoft.com/office/drawing/2014/main" id="{9DD68776-8F09-707A-BE72-3C15AA82332B}"/>
              </a:ext>
            </a:extLst>
          </p:cNvPr>
          <p:cNvSpPr txBox="1"/>
          <p:nvPr/>
        </p:nvSpPr>
        <p:spPr>
          <a:xfrm>
            <a:off x="301939" y="4580885"/>
            <a:ext cx="6271391"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4</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ความสัมพันธ์ระหว่างทิศทางกำไร-</a:t>
            </a:r>
            <a:r>
              <a:rPr lang="en-US" sz="800" b="1" dirty="0">
                <a:solidFill>
                  <a:schemeClr val="tx1">
                    <a:lumMod val="95000"/>
                    <a:lumOff val="5000"/>
                  </a:schemeClr>
                </a:solidFill>
                <a:latin typeface="BLS Condensed" pitchFamily="2" charset="-34"/>
                <a:ea typeface="Tahoma" pitchFamily="34" charset="0"/>
                <a:cs typeface="BLS Condensed" pitchFamily="2" charset="-34"/>
              </a:rPr>
              <a:t>ROE</a:t>
            </a:r>
            <a:r>
              <a:rPr lang="th-TH" sz="800" b="1" dirty="0">
                <a:solidFill>
                  <a:schemeClr val="tx1">
                    <a:lumMod val="95000"/>
                    <a:lumOff val="5000"/>
                  </a:schemeClr>
                </a:solidFill>
                <a:latin typeface="BLS Condensed" pitchFamily="2" charset="-34"/>
                <a:ea typeface="Tahoma" pitchFamily="34" charset="0"/>
                <a:cs typeface="BLS Condensed" pitchFamily="2" charset="-34"/>
              </a:rPr>
              <a:t> ของ</a:t>
            </a:r>
            <a:r>
              <a:rPr lang="en-US" sz="800" b="1" dirty="0">
                <a:solidFill>
                  <a:schemeClr val="tx1">
                    <a:lumMod val="95000"/>
                    <a:lumOff val="5000"/>
                  </a:schemeClr>
                </a:solidFill>
                <a:latin typeface="BLS Condensed" pitchFamily="2" charset="-34"/>
                <a:ea typeface="Tahoma" pitchFamily="34" charset="0"/>
                <a:cs typeface="BLS Condensed" pitchFamily="2" charset="-34"/>
              </a:rPr>
              <a:t> SET </a:t>
            </a:r>
            <a:r>
              <a:rPr lang="th-TH" sz="800" b="1" dirty="0">
                <a:solidFill>
                  <a:schemeClr val="tx1">
                    <a:lumMod val="95000"/>
                    <a:lumOff val="5000"/>
                  </a:schemeClr>
                </a:solidFill>
                <a:latin typeface="BLS Condensed" pitchFamily="2" charset="-34"/>
                <a:ea typeface="Tahoma" pitchFamily="34" charset="0"/>
                <a:cs typeface="BLS Condensed" pitchFamily="2" charset="-34"/>
              </a:rPr>
              <a:t>กับ</a:t>
            </a:r>
            <a:r>
              <a:rPr lang="en-US" sz="800" b="1" dirty="0">
                <a:solidFill>
                  <a:schemeClr val="tx1">
                    <a:lumMod val="95000"/>
                    <a:lumOff val="5000"/>
                  </a:schemeClr>
                </a:solidFill>
                <a:latin typeface="BLS Condensed" pitchFamily="2" charset="-34"/>
                <a:ea typeface="Tahoma" pitchFamily="34" charset="0"/>
                <a:cs typeface="BLS Condensed" pitchFamily="2" charset="-34"/>
              </a:rPr>
              <a:t> Valuations</a:t>
            </a:r>
            <a:r>
              <a:rPr lang="th-TH" sz="800" b="1" dirty="0">
                <a:solidFill>
                  <a:schemeClr val="tx1">
                    <a:lumMod val="95000"/>
                    <a:lumOff val="5000"/>
                  </a:schemeClr>
                </a:solidFill>
                <a:latin typeface="BLS Condensed" pitchFamily="2" charset="-34"/>
                <a:ea typeface="Tahoma" pitchFamily="34" charset="0"/>
                <a:cs typeface="BLS Condensed" pitchFamily="2" charset="-34"/>
              </a:rPr>
              <a:t> – ทิศทางกำไร/</a:t>
            </a:r>
            <a:r>
              <a:rPr lang="en-US" sz="800" b="1" dirty="0">
                <a:solidFill>
                  <a:schemeClr val="tx1">
                    <a:lumMod val="95000"/>
                    <a:lumOff val="5000"/>
                  </a:schemeClr>
                </a:solidFill>
                <a:latin typeface="BLS Condensed" pitchFamily="2" charset="-34"/>
                <a:ea typeface="Tahoma" pitchFamily="34" charset="0"/>
                <a:cs typeface="BLS Condensed" pitchFamily="2" charset="-34"/>
              </a:rPr>
              <a:t>ROE </a:t>
            </a:r>
            <a:r>
              <a:rPr lang="th-TH" sz="800" b="1" dirty="0">
                <a:solidFill>
                  <a:schemeClr val="tx1">
                    <a:lumMod val="95000"/>
                    <a:lumOff val="5000"/>
                  </a:schemeClr>
                </a:solidFill>
                <a:latin typeface="BLS Condensed" pitchFamily="2" charset="-34"/>
                <a:ea typeface="Tahoma" pitchFamily="34" charset="0"/>
                <a:cs typeface="BLS Condensed" pitchFamily="2" charset="-34"/>
              </a:rPr>
              <a:t>ขาขึ้นมักหนุน</a:t>
            </a:r>
            <a:r>
              <a:rPr lang="en-US" sz="800" b="1" dirty="0">
                <a:solidFill>
                  <a:schemeClr val="tx1">
                    <a:lumMod val="95000"/>
                    <a:lumOff val="5000"/>
                  </a:schemeClr>
                </a:solidFill>
                <a:latin typeface="BLS Condensed" pitchFamily="2" charset="-34"/>
                <a:ea typeface="Tahoma" pitchFamily="34" charset="0"/>
                <a:cs typeface="BLS Condensed" pitchFamily="2" charset="-34"/>
              </a:rPr>
              <a:t> Valuation re-rating cycle </a:t>
            </a:r>
            <a:r>
              <a:rPr lang="th-TH" sz="800" b="1" dirty="0">
                <a:solidFill>
                  <a:schemeClr val="tx1">
                    <a:lumMod val="95000"/>
                    <a:lumOff val="5000"/>
                  </a:schemeClr>
                </a:solidFill>
                <a:latin typeface="BLS Condensed" pitchFamily="2" charset="-34"/>
                <a:ea typeface="Tahoma" pitchFamily="34" charset="0"/>
                <a:cs typeface="BLS Condensed" pitchFamily="2" charset="-34"/>
              </a:rPr>
              <a:t>หรือการปรับระดับ </a:t>
            </a:r>
            <a:r>
              <a:rPr lang="en-US" sz="800" b="1" dirty="0">
                <a:solidFill>
                  <a:schemeClr val="tx1">
                    <a:lumMod val="95000"/>
                    <a:lumOff val="5000"/>
                  </a:schemeClr>
                </a:solidFill>
                <a:latin typeface="BLS Condensed" pitchFamily="2" charset="-34"/>
                <a:ea typeface="Tahoma" pitchFamily="34" charset="0"/>
                <a:cs typeface="BLS Condensed" pitchFamily="2" charset="-34"/>
              </a:rPr>
              <a:t>PER/PBV </a:t>
            </a:r>
            <a:r>
              <a:rPr lang="th-TH" sz="800" b="1" dirty="0">
                <a:solidFill>
                  <a:schemeClr val="tx1">
                    <a:lumMod val="95000"/>
                    <a:lumOff val="5000"/>
                  </a:schemeClr>
                </a:solidFill>
                <a:latin typeface="BLS Condensed" pitchFamily="2" charset="-34"/>
                <a:ea typeface="Tahoma" pitchFamily="34" charset="0"/>
                <a:cs typeface="BLS Condensed" pitchFamily="2" charset="-34"/>
              </a:rPr>
              <a:t>ขึ้น </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spTree>
    <p:extLst>
      <p:ext uri="{BB962C8B-B14F-4D97-AF65-F5344CB8AC3E}">
        <p14:creationId xmlns:p14="http://schemas.microsoft.com/office/powerpoint/2010/main" val="2956934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7" name="TextBox 6">
            <a:extLst>
              <a:ext uri="{FF2B5EF4-FFF2-40B4-BE49-F238E27FC236}">
                <a16:creationId xmlns:a16="http://schemas.microsoft.com/office/drawing/2014/main" id="{976B5C9E-A6CB-8CAE-03B8-7D22718E584A}"/>
              </a:ext>
            </a:extLst>
          </p:cNvPr>
          <p:cNvSpPr txBox="1"/>
          <p:nvPr/>
        </p:nvSpPr>
        <p:spPr>
          <a:xfrm>
            <a:off x="3464359" y="899592"/>
            <a:ext cx="3188101" cy="7786747"/>
          </a:xfrm>
          <a:prstGeom prst="rect">
            <a:avLst/>
          </a:prstGeom>
          <a:noFill/>
          <a:ln>
            <a:noFill/>
          </a:ln>
        </p:spPr>
        <p:txBody>
          <a:bodyPr wrap="square" rtlCol="0">
            <a:spAutoFit/>
          </a:bodyPr>
          <a:lstStyle/>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เมื่อกำไรและ </a:t>
            </a:r>
            <a:r>
              <a:rPr lang="en-US" sz="1000" dirty="0">
                <a:solidFill>
                  <a:schemeClr val="tx1">
                    <a:lumMod val="65000"/>
                    <a:lumOff val="35000"/>
                  </a:schemeClr>
                </a:solidFill>
                <a:latin typeface="BLS Text" pitchFamily="2" charset="-34"/>
                <a:cs typeface="BLS Text" pitchFamily="2" charset="-34"/>
              </a:rPr>
              <a:t>ROE </a:t>
            </a:r>
            <a:r>
              <a:rPr lang="th-TH" sz="1000" dirty="0">
                <a:solidFill>
                  <a:schemeClr val="tx1">
                    <a:lumMod val="65000"/>
                    <a:lumOff val="35000"/>
                  </a:schemeClr>
                </a:solidFill>
                <a:latin typeface="BLS Text" pitchFamily="2" charset="-34"/>
                <a:cs typeface="BLS Text" pitchFamily="2" charset="-34"/>
              </a:rPr>
              <a:t>ของตลาดเข้าสู่ช่วงขาขึ้น ตลาดหุ้นมักเข้าสู่ระยะที่เรียกว่า “</a:t>
            </a:r>
            <a:r>
              <a:rPr lang="en-US" sz="1000" dirty="0">
                <a:solidFill>
                  <a:schemeClr val="tx1">
                    <a:lumMod val="65000"/>
                    <a:lumOff val="35000"/>
                  </a:schemeClr>
                </a:solidFill>
                <a:latin typeface="BLS Text" pitchFamily="2" charset="-34"/>
                <a:cs typeface="BLS Text" pitchFamily="2" charset="-34"/>
              </a:rPr>
              <a:t>valuation re-rating phase” </a:t>
            </a:r>
            <a:r>
              <a:rPr lang="th-TH" sz="1000" dirty="0">
                <a:solidFill>
                  <a:schemeClr val="tx1">
                    <a:lumMod val="65000"/>
                    <a:lumOff val="35000"/>
                  </a:schemeClr>
                </a:solidFill>
                <a:latin typeface="BLS Text" pitchFamily="2" charset="-34"/>
                <a:cs typeface="BLS Text" pitchFamily="2" charset="-34"/>
              </a:rPr>
              <a:t>ซึ่งในเชิงทฤษฎีสามารถอธิบายได้ผ่านกลไกของ </a:t>
            </a:r>
            <a:r>
              <a:rPr lang="en-US" sz="1000" dirty="0">
                <a:solidFill>
                  <a:schemeClr val="tx1">
                    <a:lumMod val="65000"/>
                    <a:lumOff val="35000"/>
                  </a:schemeClr>
                </a:solidFill>
                <a:latin typeface="BLS Text" pitchFamily="2" charset="-34"/>
                <a:cs typeface="BLS Text" pitchFamily="2" charset="-34"/>
              </a:rPr>
              <a:t>multiple expansion </a:t>
            </a:r>
            <a:r>
              <a:rPr lang="th-TH" sz="1000" dirty="0">
                <a:solidFill>
                  <a:schemeClr val="tx1">
                    <a:lumMod val="65000"/>
                    <a:lumOff val="35000"/>
                  </a:schemeClr>
                </a:solidFill>
                <a:latin typeface="BLS Text" pitchFamily="2" charset="-34"/>
                <a:cs typeface="BLS Text" pitchFamily="2" charset="-34"/>
              </a:rPr>
              <a:t>กล่าวคือ เมื่อแนวโน้มกำไรมีความชัดเจนมากขึ้น ความไม่แน่นอน (</a:t>
            </a:r>
            <a:r>
              <a:rPr lang="en-US" sz="1000" dirty="0">
                <a:solidFill>
                  <a:schemeClr val="tx1">
                    <a:lumMod val="65000"/>
                    <a:lumOff val="35000"/>
                  </a:schemeClr>
                </a:solidFill>
                <a:latin typeface="BLS Text" pitchFamily="2" charset="-34"/>
                <a:cs typeface="BLS Text" pitchFamily="2" charset="-34"/>
              </a:rPr>
              <a:t>earnings uncertainty) </a:t>
            </a:r>
            <a:r>
              <a:rPr lang="th-TH" sz="1000" dirty="0">
                <a:solidFill>
                  <a:schemeClr val="tx1">
                    <a:lumMod val="65000"/>
                    <a:lumOff val="35000"/>
                  </a:schemeClr>
                </a:solidFill>
                <a:latin typeface="BLS Text" pitchFamily="2" charset="-34"/>
                <a:cs typeface="BLS Text" pitchFamily="2" charset="-34"/>
              </a:rPr>
              <a:t>จะลดลง ส่งผลให้ </a:t>
            </a:r>
            <a:r>
              <a:rPr lang="en-US" sz="1000" dirty="0">
                <a:solidFill>
                  <a:schemeClr val="tx1">
                    <a:lumMod val="65000"/>
                    <a:lumOff val="35000"/>
                  </a:schemeClr>
                </a:solidFill>
                <a:latin typeface="BLS Text" pitchFamily="2" charset="-34"/>
                <a:cs typeface="BLS Text" pitchFamily="2" charset="-34"/>
              </a:rPr>
              <a:t>equity risk premium </a:t>
            </a:r>
            <a:r>
              <a:rPr lang="th-TH" sz="1000" dirty="0">
                <a:solidFill>
                  <a:schemeClr val="tx1">
                    <a:lumMod val="65000"/>
                    <a:lumOff val="35000"/>
                  </a:schemeClr>
                </a:solidFill>
                <a:latin typeface="BLS Text" pitchFamily="2" charset="-34"/>
                <a:cs typeface="BLS Text" pitchFamily="2" charset="-34"/>
              </a:rPr>
              <a:t>ของตลาดลดลง และนักลงทุนยอมให้ระดับ </a:t>
            </a:r>
            <a:r>
              <a:rPr lang="en-US" sz="1000" dirty="0">
                <a:solidFill>
                  <a:schemeClr val="tx1">
                    <a:lumMod val="65000"/>
                    <a:lumOff val="35000"/>
                  </a:schemeClr>
                </a:solidFill>
                <a:latin typeface="BLS Text" pitchFamily="2" charset="-34"/>
                <a:cs typeface="BLS Text" pitchFamily="2" charset="-34"/>
              </a:rPr>
              <a:t>PER (Price-to-Earnings Ratio) </a:t>
            </a:r>
            <a:r>
              <a:rPr lang="th-TH" sz="1000" dirty="0">
                <a:solidFill>
                  <a:schemeClr val="tx1">
                    <a:lumMod val="65000"/>
                    <a:lumOff val="35000"/>
                  </a:schemeClr>
                </a:solidFill>
                <a:latin typeface="BLS Text" pitchFamily="2" charset="-34"/>
                <a:cs typeface="BLS Text" pitchFamily="2" charset="-34"/>
              </a:rPr>
              <a:t>สูงขึ้น ภายใต้กลไกดังกล่าว การฟื้นตัวของกำไรไม่ได้ส่งผลเพียงต่อ </a:t>
            </a:r>
            <a:r>
              <a:rPr lang="en-US" sz="1000" dirty="0">
                <a:solidFill>
                  <a:schemeClr val="tx1">
                    <a:lumMod val="65000"/>
                    <a:lumOff val="35000"/>
                  </a:schemeClr>
                </a:solidFill>
                <a:latin typeface="BLS Text" pitchFamily="2" charset="-34"/>
                <a:cs typeface="BLS Text" pitchFamily="2" charset="-34"/>
              </a:rPr>
              <a:t>earnings growth </a:t>
            </a:r>
            <a:r>
              <a:rPr lang="th-TH" sz="1000" dirty="0">
                <a:solidFill>
                  <a:schemeClr val="tx1">
                    <a:lumMod val="65000"/>
                    <a:lumOff val="35000"/>
                  </a:schemeClr>
                </a:solidFill>
                <a:latin typeface="BLS Text" pitchFamily="2" charset="-34"/>
                <a:cs typeface="BLS Text" pitchFamily="2" charset="-34"/>
              </a:rPr>
              <a:t>เท่านั้น แต่ยังนำไปสู่ การปรับเพิ่มของ </a:t>
            </a:r>
            <a:r>
              <a:rPr lang="en-US" sz="1000" dirty="0">
                <a:solidFill>
                  <a:schemeClr val="tx1">
                    <a:lumMod val="65000"/>
                    <a:lumOff val="35000"/>
                  </a:schemeClr>
                </a:solidFill>
                <a:latin typeface="BLS Text" pitchFamily="2" charset="-34"/>
                <a:cs typeface="BLS Text" pitchFamily="2" charset="-34"/>
              </a:rPr>
              <a:t>valuation multiple </a:t>
            </a:r>
            <a:r>
              <a:rPr lang="th-TH" sz="1000" dirty="0">
                <a:solidFill>
                  <a:schemeClr val="tx1">
                    <a:lumMod val="65000"/>
                    <a:lumOff val="35000"/>
                  </a:schemeClr>
                </a:solidFill>
                <a:latin typeface="BLS Text" pitchFamily="2" charset="-34"/>
                <a:cs typeface="BLS Text" pitchFamily="2" charset="-34"/>
              </a:rPr>
              <a:t>ของตลาดด้วย</a:t>
            </a: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จากหลักฐานเชิงสถิติในอดีต พบว่าในช่วงที่ตลาดเข้าสู่วงจร </a:t>
            </a:r>
            <a:r>
              <a:rPr lang="en-US" sz="1000" dirty="0">
                <a:solidFill>
                  <a:schemeClr val="tx1">
                    <a:lumMod val="65000"/>
                    <a:lumOff val="35000"/>
                  </a:schemeClr>
                </a:solidFill>
                <a:latin typeface="BLS Text" pitchFamily="2" charset="-34"/>
                <a:cs typeface="BLS Text" pitchFamily="2" charset="-34"/>
              </a:rPr>
              <a:t>valuation re-rating </a:t>
            </a:r>
            <a:r>
              <a:rPr lang="th-TH" sz="1000" dirty="0">
                <a:solidFill>
                  <a:schemeClr val="tx1">
                    <a:lumMod val="65000"/>
                    <a:lumOff val="35000"/>
                  </a:schemeClr>
                </a:solidFill>
                <a:latin typeface="BLS Text" pitchFamily="2" charset="-34"/>
                <a:cs typeface="BLS Text" pitchFamily="2" charset="-34"/>
              </a:rPr>
              <a:t>ระดับ </a:t>
            </a:r>
            <a:r>
              <a:rPr lang="en-US" sz="1000" dirty="0">
                <a:solidFill>
                  <a:schemeClr val="tx1">
                    <a:lumMod val="65000"/>
                    <a:lumOff val="35000"/>
                  </a:schemeClr>
                </a:solidFill>
                <a:latin typeface="BLS Text" pitchFamily="2" charset="-34"/>
                <a:cs typeface="BLS Text" pitchFamily="2" charset="-34"/>
              </a:rPr>
              <a:t>PER </a:t>
            </a:r>
            <a:r>
              <a:rPr lang="th-TH" sz="1000" dirty="0">
                <a:solidFill>
                  <a:schemeClr val="tx1">
                    <a:lumMod val="65000"/>
                    <a:lumOff val="35000"/>
                  </a:schemeClr>
                </a:solidFill>
                <a:latin typeface="BLS Text" pitchFamily="2" charset="-34"/>
                <a:cs typeface="BLS Text" pitchFamily="2" charset="-34"/>
              </a:rPr>
              <a:t>ของตลาดหุ้นไทยมักปรับเพิ่มขึ้นเฉลี่ยประมาณ 1–1.5 ส่วนเบี่ยงเบนมาตรฐาน (</a:t>
            </a:r>
            <a:r>
              <a:rPr lang="en-US" sz="1000" dirty="0">
                <a:solidFill>
                  <a:schemeClr val="tx1">
                    <a:lumMod val="65000"/>
                    <a:lumOff val="35000"/>
                  </a:schemeClr>
                </a:solidFill>
                <a:latin typeface="BLS Text" pitchFamily="2" charset="-34"/>
                <a:cs typeface="BLS Text" pitchFamily="2" charset="-34"/>
              </a:rPr>
              <a:t>standard deviations) </a:t>
            </a:r>
            <a:r>
              <a:rPr lang="th-TH" sz="1000" dirty="0">
                <a:solidFill>
                  <a:schemeClr val="tx1">
                    <a:lumMod val="65000"/>
                    <a:lumOff val="35000"/>
                  </a:schemeClr>
                </a:solidFill>
                <a:latin typeface="BLS Text" pitchFamily="2" charset="-34"/>
                <a:cs typeface="BLS Text" pitchFamily="2" charset="-34"/>
              </a:rPr>
              <a:t>จากระดับก่อนหน้าวัฏจักรฟื้นตัว </a:t>
            </a: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ดังนั้น การฟื้นตัวของภาคการผลิตโลกจึงทำหน้าที่เป็น </a:t>
            </a:r>
            <a:r>
              <a:rPr lang="en-US" sz="1000" dirty="0">
                <a:solidFill>
                  <a:schemeClr val="tx1">
                    <a:lumMod val="65000"/>
                    <a:lumOff val="35000"/>
                  </a:schemeClr>
                </a:solidFill>
                <a:latin typeface="BLS Text" pitchFamily="2" charset="-34"/>
                <a:cs typeface="BLS Text" pitchFamily="2" charset="-34"/>
              </a:rPr>
              <a:t>leading catalyst </a:t>
            </a:r>
            <a:r>
              <a:rPr lang="th-TH" sz="1000" dirty="0">
                <a:solidFill>
                  <a:schemeClr val="tx1">
                    <a:lumMod val="65000"/>
                    <a:lumOff val="35000"/>
                  </a:schemeClr>
                </a:solidFill>
                <a:latin typeface="BLS Text" pitchFamily="2" charset="-34"/>
                <a:cs typeface="BLS Text" pitchFamily="2" charset="-34"/>
              </a:rPr>
              <a:t>ที่กระตุ้นทั้ง </a:t>
            </a:r>
            <a:r>
              <a:rPr lang="en-US" sz="1000" dirty="0">
                <a:solidFill>
                  <a:schemeClr val="tx1">
                    <a:lumMod val="65000"/>
                    <a:lumOff val="35000"/>
                  </a:schemeClr>
                </a:solidFill>
                <a:latin typeface="BLS Text" pitchFamily="2" charset="-34"/>
                <a:cs typeface="BLS Text" pitchFamily="2" charset="-34"/>
              </a:rPr>
              <a:t>earnings cycle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valuation cycle </a:t>
            </a:r>
            <a:r>
              <a:rPr lang="th-TH" sz="1000" dirty="0">
                <a:solidFill>
                  <a:schemeClr val="tx1">
                    <a:lumMod val="65000"/>
                    <a:lumOff val="35000"/>
                  </a:schemeClr>
                </a:solidFill>
                <a:latin typeface="BLS Text" pitchFamily="2" charset="-34"/>
                <a:cs typeface="BLS Text" pitchFamily="2" charset="-34"/>
              </a:rPr>
              <a:t>ของตลาดหุ้นไทยพร้อมกัน ส่งผลให้ตลาดเข้าสู่ช่วงของ </a:t>
            </a:r>
            <a:r>
              <a:rPr lang="en-US" sz="1000" dirty="0">
                <a:solidFill>
                  <a:schemeClr val="tx1">
                    <a:lumMod val="65000"/>
                    <a:lumOff val="35000"/>
                  </a:schemeClr>
                </a:solidFill>
                <a:latin typeface="BLS Text" pitchFamily="2" charset="-34"/>
                <a:cs typeface="BLS Text" pitchFamily="2" charset="-34"/>
              </a:rPr>
              <a:t>Valuation Re-rating Cycle </a:t>
            </a:r>
            <a:r>
              <a:rPr lang="th-TH" sz="1000" dirty="0">
                <a:solidFill>
                  <a:schemeClr val="tx1">
                    <a:lumMod val="65000"/>
                    <a:lumOff val="35000"/>
                  </a:schemeClr>
                </a:solidFill>
                <a:latin typeface="BLS Text" pitchFamily="2" charset="-34"/>
                <a:cs typeface="BLS Text" pitchFamily="2" charset="-34"/>
              </a:rPr>
              <a:t>อย่างเป็นระบบ ซึ่งเป็นช่วงที่ผลตอบแทนของตลาดมักเร่งตัวขึ้นมากกว่าการเติบโตของกำไรเพียงอย่างเดียว.</a:t>
            </a:r>
            <a:endParaRPr lang="en-US" sz="1000" dirty="0">
              <a:solidFill>
                <a:schemeClr val="tx1">
                  <a:lumMod val="65000"/>
                  <a:lumOff val="35000"/>
                </a:schemeClr>
              </a:solidFill>
              <a:latin typeface="BLS Text" pitchFamily="2" charset="-34"/>
              <a:cs typeface="BLS Text" pitchFamily="2" charset="-34"/>
            </a:endParaRPr>
          </a:p>
          <a:p>
            <a:pPr algn="thaiDist">
              <a:lnSpc>
                <a:spcPct val="120000"/>
              </a:lnSpc>
              <a:spcBef>
                <a:spcPts val="600"/>
              </a:spcBef>
              <a:buSzPct val="120000"/>
            </a:pPr>
            <a:r>
              <a:rPr lang="th-TH" sz="1000" b="1" dirty="0">
                <a:solidFill>
                  <a:schemeClr val="tx1">
                    <a:lumMod val="65000"/>
                    <a:lumOff val="35000"/>
                  </a:schemeClr>
                </a:solidFill>
                <a:latin typeface="BLS Text" panose="00000500000000000000" pitchFamily="2" charset="-34"/>
                <a:cs typeface="BLS Text" pitchFamily="2" charset="-34"/>
              </a:rPr>
              <a:t>วงจรการผลิตโลกมีแนวโน้มเข้าสู่ช่วงฟื้นตัวต่อเนื่องในระยะข้างหน้า</a:t>
            </a:r>
            <a:r>
              <a:rPr lang="en-US" sz="1000" b="1" dirty="0">
                <a:solidFill>
                  <a:schemeClr val="tx1">
                    <a:lumMod val="65000"/>
                    <a:lumOff val="35000"/>
                  </a:schemeClr>
                </a:solidFill>
                <a:latin typeface="BLS Text" pitchFamily="2" charset="-34"/>
                <a:cs typeface="BLS Text" pitchFamily="2" charset="-34"/>
              </a:rPr>
              <a:t>:</a:t>
            </a:r>
            <a:r>
              <a:rPr lang="th-TH" sz="1000" b="1" dirty="0">
                <a:solidFill>
                  <a:schemeClr val="tx1">
                    <a:lumMod val="65000"/>
                    <a:lumOff val="35000"/>
                  </a:schemeClr>
                </a:solidFill>
                <a:latin typeface="BLS Text" pitchFamily="2" charset="-34"/>
                <a:cs typeface="BLS Text" pitchFamily="2" charset="-34"/>
              </a:rPr>
              <a:t> </a:t>
            </a:r>
            <a:r>
              <a:rPr lang="th-TH" sz="1000" dirty="0">
                <a:solidFill>
                  <a:schemeClr val="tx1">
                    <a:lumMod val="65000"/>
                    <a:lumOff val="35000"/>
                  </a:schemeClr>
                </a:solidFill>
                <a:latin typeface="BLS Text" pitchFamily="2" charset="-34"/>
                <a:cs typeface="BLS Text" pitchFamily="2" charset="-34"/>
              </a:rPr>
              <a:t>โดยตัวชี้วัดสำคัญอย่าง </a:t>
            </a:r>
            <a:r>
              <a:rPr lang="en-US" sz="1000" dirty="0">
                <a:solidFill>
                  <a:schemeClr val="tx1">
                    <a:lumMod val="65000"/>
                    <a:lumOff val="35000"/>
                  </a:schemeClr>
                </a:solidFill>
                <a:latin typeface="BLS Text" pitchFamily="2" charset="-34"/>
                <a:cs typeface="BLS Text" pitchFamily="2" charset="-34"/>
              </a:rPr>
              <a:t>US</a:t>
            </a:r>
            <a:r>
              <a:rPr lang="th-TH" sz="1000" dirty="0">
                <a:solidFill>
                  <a:schemeClr val="tx1">
                    <a:lumMod val="65000"/>
                    <a:lumOff val="35000"/>
                  </a:schemeClr>
                </a:solidFill>
                <a:latin typeface="BLS Text" pitchFamily="2" charset="-34"/>
                <a:cs typeface="BLS Text" pitchFamily="2" charset="-34"/>
              </a:rPr>
              <a:t> </a:t>
            </a:r>
            <a:r>
              <a:rPr lang="en-US" sz="1000" dirty="0">
                <a:solidFill>
                  <a:schemeClr val="tx1">
                    <a:lumMod val="65000"/>
                    <a:lumOff val="35000"/>
                  </a:schemeClr>
                </a:solidFill>
                <a:latin typeface="BLS Text" pitchFamily="2" charset="-34"/>
                <a:cs typeface="BLS Text" pitchFamily="2" charset="-34"/>
              </a:rPr>
              <a:t>ISM Manufacturing PMI </a:t>
            </a:r>
            <a:r>
              <a:rPr lang="th-TH" sz="1000" dirty="0">
                <a:solidFill>
                  <a:schemeClr val="tx1">
                    <a:lumMod val="65000"/>
                    <a:lumOff val="35000"/>
                  </a:schemeClr>
                </a:solidFill>
                <a:latin typeface="BLS Text" pitchFamily="2" charset="-34"/>
                <a:cs typeface="BLS Text" pitchFamily="2" charset="-34"/>
              </a:rPr>
              <a:t>เริ่มส่งสัญญาณผ่านจุดต่ำของวัฏจักรแล้ว หลังจากอยู่ในช่วงชะลอตัวต่อเนื่องราว 2–3 ปี ซึ่งสอดคล้องกับรูปแบบในอดีตที่ดัชนีภาคการผลิตของสหรัฐมักใช้เวลาประมาณ 2–3 ปีในช่วง </a:t>
            </a:r>
            <a:r>
              <a:rPr lang="en-US" sz="1000" dirty="0">
                <a:solidFill>
                  <a:schemeClr val="tx1">
                    <a:lumMod val="65000"/>
                    <a:lumOff val="35000"/>
                  </a:schemeClr>
                </a:solidFill>
                <a:latin typeface="BLS Text" pitchFamily="2" charset="-34"/>
                <a:cs typeface="BLS Text" pitchFamily="2" charset="-34"/>
              </a:rPr>
              <a:t>downcycle </a:t>
            </a:r>
            <a:r>
              <a:rPr lang="th-TH" sz="1000" dirty="0">
                <a:solidFill>
                  <a:schemeClr val="tx1">
                    <a:lumMod val="65000"/>
                    <a:lumOff val="35000"/>
                  </a:schemeClr>
                </a:solidFill>
                <a:latin typeface="BLS Text" pitchFamily="2" charset="-34"/>
                <a:cs typeface="BLS Text" pitchFamily="2" charset="-34"/>
              </a:rPr>
              <a:t>ก่อนเริ่มฟื้นตัวสู่รอบขยายตัวใหม่ ปัจจัยสนับสนุนสำคัญในรอบนี้คือ ดัชนียอดคำสั่งซื้อใหม่ (</a:t>
            </a:r>
            <a:r>
              <a:rPr lang="en-US" sz="1000" dirty="0">
                <a:solidFill>
                  <a:schemeClr val="tx1">
                    <a:lumMod val="65000"/>
                    <a:lumOff val="35000"/>
                  </a:schemeClr>
                </a:solidFill>
                <a:latin typeface="BLS Text" pitchFamily="2" charset="-34"/>
                <a:cs typeface="BLS Text" pitchFamily="2" charset="-34"/>
              </a:rPr>
              <a:t>US PMI New Orders) </a:t>
            </a:r>
            <a:r>
              <a:rPr lang="th-TH" sz="1000" dirty="0">
                <a:solidFill>
                  <a:schemeClr val="tx1">
                    <a:lumMod val="65000"/>
                    <a:lumOff val="35000"/>
                  </a:schemeClr>
                </a:solidFill>
                <a:latin typeface="BLS Text" pitchFamily="2" charset="-34"/>
                <a:cs typeface="BLS Text" pitchFamily="2" charset="-34"/>
              </a:rPr>
              <a:t>ซึ่งถือเป็นหนึ่งใน </a:t>
            </a:r>
            <a:r>
              <a:rPr lang="en-US" sz="1000" dirty="0">
                <a:solidFill>
                  <a:schemeClr val="tx1">
                    <a:lumMod val="65000"/>
                    <a:lumOff val="35000"/>
                  </a:schemeClr>
                </a:solidFill>
                <a:latin typeface="BLS Text" pitchFamily="2" charset="-34"/>
                <a:cs typeface="BLS Text" pitchFamily="2" charset="-34"/>
              </a:rPr>
              <a:t>leading indicator </a:t>
            </a:r>
            <a:r>
              <a:rPr lang="th-TH" sz="1000" dirty="0">
                <a:solidFill>
                  <a:schemeClr val="tx1">
                    <a:lumMod val="65000"/>
                    <a:lumOff val="35000"/>
                  </a:schemeClr>
                </a:solidFill>
                <a:latin typeface="BLS Text" pitchFamily="2" charset="-34"/>
                <a:cs typeface="BLS Text" pitchFamily="2" charset="-34"/>
              </a:rPr>
              <a:t>ของกิจกรรมภาคการผลิตโลก ได้เริ่มฟื้นตัวตั้งแต่ช่วงปลาย 3</a:t>
            </a:r>
            <a:r>
              <a:rPr lang="en-US" sz="1000" dirty="0">
                <a:solidFill>
                  <a:schemeClr val="tx1">
                    <a:lumMod val="65000"/>
                    <a:lumOff val="35000"/>
                  </a:schemeClr>
                </a:solidFill>
                <a:latin typeface="BLS Text" pitchFamily="2" charset="-34"/>
                <a:cs typeface="BLS Text" pitchFamily="2" charset="-34"/>
              </a:rPr>
              <a:t>Q25 </a:t>
            </a:r>
            <a:r>
              <a:rPr lang="th-TH" sz="1000" dirty="0">
                <a:solidFill>
                  <a:schemeClr val="tx1">
                    <a:lumMod val="65000"/>
                    <a:lumOff val="35000"/>
                  </a:schemeClr>
                </a:solidFill>
                <a:latin typeface="BLS Text" pitchFamily="2" charset="-34"/>
                <a:cs typeface="BLS Text" pitchFamily="2" charset="-34"/>
              </a:rPr>
              <a:t>และล่าสุดกลับมาขยายตัวเหนือระดับ 50 พร้อมทำระดับสูงสุดในรอบ ประมาณ 4 ปี สะท้อนว่าอุปสงค์ในภาคอุตสาหกรรมเริ่มฟื้นตัวจากฐานที่ต่ำ</a:t>
            </a:r>
          </a:p>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ในเชิงโครงสร้างของวัฏจักร </a:t>
            </a:r>
            <a:r>
              <a:rPr lang="en-US" sz="1000" b="1" dirty="0">
                <a:solidFill>
                  <a:schemeClr val="tx1">
                    <a:lumMod val="65000"/>
                    <a:lumOff val="35000"/>
                  </a:schemeClr>
                </a:solidFill>
                <a:latin typeface="BLS Text" pitchFamily="2" charset="-34"/>
                <a:cs typeface="BLS Text" pitchFamily="2" charset="-34"/>
              </a:rPr>
              <a:t>New Orders Index </a:t>
            </a:r>
            <a:r>
              <a:rPr lang="th-TH" sz="1000" b="1" dirty="0">
                <a:solidFill>
                  <a:schemeClr val="tx1">
                    <a:lumMod val="65000"/>
                    <a:lumOff val="35000"/>
                  </a:schemeClr>
                </a:solidFill>
                <a:latin typeface="BLS Text" pitchFamily="2" charset="-34"/>
                <a:cs typeface="BLS Text" pitchFamily="2" charset="-34"/>
              </a:rPr>
              <a:t>มักนำทิศทาง </a:t>
            </a:r>
            <a:r>
              <a:rPr lang="en-US" sz="1000" b="1" dirty="0">
                <a:solidFill>
                  <a:schemeClr val="tx1">
                    <a:lumMod val="65000"/>
                    <a:lumOff val="35000"/>
                  </a:schemeClr>
                </a:solidFill>
                <a:latin typeface="BLS Text" pitchFamily="2" charset="-34"/>
                <a:cs typeface="BLS Text" pitchFamily="2" charset="-34"/>
              </a:rPr>
              <a:t>US Manufacturing PMI </a:t>
            </a:r>
            <a:r>
              <a:rPr lang="th-TH" sz="1000" b="1" dirty="0">
                <a:solidFill>
                  <a:schemeClr val="tx1">
                    <a:lumMod val="65000"/>
                    <a:lumOff val="35000"/>
                  </a:schemeClr>
                </a:solidFill>
                <a:latin typeface="BLS Text" pitchFamily="2" charset="-34"/>
                <a:cs typeface="BLS Text" pitchFamily="2" charset="-34"/>
              </a:rPr>
              <a:t>ประมาณ 1–3 ไตรมาส เนื่องจากคำสั่งซื้อใหม่เป็นจุดเริ่มต้นของกระบวนการผลิต (</a:t>
            </a:r>
            <a:r>
              <a:rPr lang="en-US" sz="1000" b="1" dirty="0">
                <a:solidFill>
                  <a:schemeClr val="tx1">
                    <a:lumMod val="65000"/>
                    <a:lumOff val="35000"/>
                  </a:schemeClr>
                </a:solidFill>
                <a:latin typeface="BLS Text" pitchFamily="2" charset="-34"/>
                <a:cs typeface="BLS Text" pitchFamily="2" charset="-34"/>
              </a:rPr>
              <a:t>production pipeline) </a:t>
            </a:r>
            <a:r>
              <a:rPr lang="th-TH" sz="1000" dirty="0">
                <a:solidFill>
                  <a:schemeClr val="tx1">
                    <a:lumMod val="65000"/>
                    <a:lumOff val="35000"/>
                  </a:schemeClr>
                </a:solidFill>
                <a:latin typeface="BLS Text" pitchFamily="2" charset="-34"/>
                <a:cs typeface="BLS Text" pitchFamily="2" charset="-34"/>
              </a:rPr>
              <a:t>ก่อนที่จะสะท้อนผ่านระดับการผลิต การจ้างงาน และการใช้กำลังการผลิตในภายหลัง ข้อมูลในอดีตยังชี้ว่าการฟื้นตัวของดัชนี </a:t>
            </a:r>
            <a:r>
              <a:rPr lang="en-US" sz="1000" dirty="0">
                <a:solidFill>
                  <a:schemeClr val="tx1">
                    <a:lumMod val="65000"/>
                    <a:lumOff val="35000"/>
                  </a:schemeClr>
                </a:solidFill>
                <a:latin typeface="BLS Text" pitchFamily="2" charset="-34"/>
                <a:cs typeface="BLS Text" pitchFamily="2" charset="-34"/>
              </a:rPr>
              <a:t>New Orders </a:t>
            </a:r>
            <a:r>
              <a:rPr lang="th-TH" sz="1000" dirty="0">
                <a:solidFill>
                  <a:schemeClr val="tx1">
                    <a:lumMod val="65000"/>
                    <a:lumOff val="35000"/>
                  </a:schemeClr>
                </a:solidFill>
                <a:latin typeface="BLS Text" pitchFamily="2" charset="-34"/>
                <a:cs typeface="BLS Text" pitchFamily="2" charset="-34"/>
              </a:rPr>
              <a:t>ทั้งในสหรัฐและจีน มักเป็นสัญญาณนำของการฟื้นตัวของ</a:t>
            </a:r>
          </a:p>
        </p:txBody>
      </p:sp>
      <p:sp>
        <p:nvSpPr>
          <p:cNvPr id="9" name="TextBox 8">
            <a:extLst>
              <a:ext uri="{FF2B5EF4-FFF2-40B4-BE49-F238E27FC236}">
                <a16:creationId xmlns:a16="http://schemas.microsoft.com/office/drawing/2014/main" id="{7F0E0049-F914-8FCF-8D71-9FBC04845A5D}"/>
              </a:ext>
            </a:extLst>
          </p:cNvPr>
          <p:cNvSpPr txBox="1"/>
          <p:nvPr/>
        </p:nvSpPr>
        <p:spPr>
          <a:xfrm>
            <a:off x="319628" y="899592"/>
            <a:ext cx="3095782" cy="7817525"/>
          </a:xfrm>
          <a:prstGeom prst="rect">
            <a:avLst/>
          </a:prstGeom>
          <a:noFill/>
          <a:ln>
            <a:noFill/>
          </a:ln>
        </p:spPr>
        <p:txBody>
          <a:bodyPr wrap="square" rtlCol="0">
            <a:spAutoFit/>
          </a:bodyPr>
          <a:lstStyle/>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ตลาดหุ้นไทยมักเข้าสู่วงจรการปรับมูลค่าเพิ่ม (</a:t>
            </a:r>
            <a:r>
              <a:rPr lang="en-US" sz="1000" b="1" dirty="0">
                <a:solidFill>
                  <a:schemeClr val="tx1">
                    <a:lumMod val="65000"/>
                    <a:lumOff val="35000"/>
                  </a:schemeClr>
                </a:solidFill>
                <a:latin typeface="BLS Text" pitchFamily="2" charset="-34"/>
                <a:cs typeface="BLS Text" pitchFamily="2" charset="-34"/>
              </a:rPr>
              <a:t>Valuation Re-rating Cycle) </a:t>
            </a:r>
            <a:r>
              <a:rPr lang="th-TH" sz="1000" b="1" dirty="0">
                <a:solidFill>
                  <a:schemeClr val="tx1">
                    <a:lumMod val="65000"/>
                    <a:lumOff val="35000"/>
                  </a:schemeClr>
                </a:solidFill>
                <a:latin typeface="BLS Text" pitchFamily="2" charset="-34"/>
                <a:cs typeface="BLS Text" pitchFamily="2" charset="-34"/>
              </a:rPr>
              <a:t>ภายหลังการฟื้นตัวของวัฏจักรภาคการผลิตโลก </a:t>
            </a:r>
            <a:r>
              <a:rPr lang="th-TH" sz="1000" dirty="0">
                <a:solidFill>
                  <a:schemeClr val="tx1">
                    <a:lumMod val="65000"/>
                    <a:lumOff val="35000"/>
                  </a:schemeClr>
                </a:solidFill>
                <a:latin typeface="BLS Text" pitchFamily="2" charset="-34"/>
                <a:cs typeface="BLS Text" pitchFamily="2" charset="-34"/>
              </a:rPr>
              <a:t>สะท้อนลักษณะเชิงโครงสร้างของเศรษฐกิจไทยที่มีความเปิดต่อการค้า (</a:t>
            </a:r>
            <a:r>
              <a:rPr lang="en-US" sz="1000" dirty="0">
                <a:solidFill>
                  <a:schemeClr val="tx1">
                    <a:lumMod val="65000"/>
                    <a:lumOff val="35000"/>
                  </a:schemeClr>
                </a:solidFill>
                <a:latin typeface="BLS Text" pitchFamily="2" charset="-34"/>
                <a:cs typeface="BLS Text" pitchFamily="2" charset="-34"/>
              </a:rPr>
              <a:t>trade-open economy) </a:t>
            </a:r>
            <a:r>
              <a:rPr lang="th-TH" sz="1000" dirty="0">
                <a:solidFill>
                  <a:schemeClr val="tx1">
                    <a:lumMod val="65000"/>
                    <a:lumOff val="35000"/>
                  </a:schemeClr>
                </a:solidFill>
                <a:latin typeface="BLS Text" pitchFamily="2" charset="-34"/>
                <a:cs typeface="BLS Text" pitchFamily="2" charset="-34"/>
              </a:rPr>
              <a:t>และพึ่งพาอุปสงค์จากต่างประเทศในระดับสูง เมื่อพิจารณาทั้งในเชิงทฤษฎีและเชิงประจักษ์ (</a:t>
            </a:r>
            <a:r>
              <a:rPr lang="en-US" sz="1000" dirty="0">
                <a:solidFill>
                  <a:schemeClr val="tx1">
                    <a:lumMod val="65000"/>
                    <a:lumOff val="35000"/>
                  </a:schemeClr>
                </a:solidFill>
                <a:latin typeface="BLS Text" pitchFamily="2" charset="-34"/>
                <a:cs typeface="BLS Text" pitchFamily="2" charset="-34"/>
              </a:rPr>
              <a:t>theoretical and empirical perspective) </a:t>
            </a:r>
            <a:r>
              <a:rPr lang="th-TH" sz="1000" dirty="0">
                <a:solidFill>
                  <a:schemeClr val="tx1">
                    <a:lumMod val="65000"/>
                    <a:lumOff val="35000"/>
                  </a:schemeClr>
                </a:solidFill>
                <a:latin typeface="BLS Text" pitchFamily="2" charset="-34"/>
                <a:cs typeface="BLS Text" pitchFamily="2" charset="-34"/>
              </a:rPr>
              <a:t>จะพบว่าทิศทาง กำไรของบริษัทจดทะเบียน (</a:t>
            </a:r>
            <a:r>
              <a:rPr lang="en-US" sz="1000" dirty="0">
                <a:solidFill>
                  <a:schemeClr val="tx1">
                    <a:lumMod val="65000"/>
                    <a:lumOff val="35000"/>
                  </a:schemeClr>
                </a:solidFill>
                <a:latin typeface="BLS Text" pitchFamily="2" charset="-34"/>
                <a:cs typeface="BLS Text" pitchFamily="2" charset="-34"/>
              </a:rPr>
              <a:t>earnings cycle), </a:t>
            </a:r>
            <a:r>
              <a:rPr lang="th-TH" sz="1000" dirty="0">
                <a:solidFill>
                  <a:schemeClr val="tx1">
                    <a:lumMod val="65000"/>
                    <a:lumOff val="35000"/>
                  </a:schemeClr>
                </a:solidFill>
                <a:latin typeface="BLS Text" pitchFamily="2" charset="-34"/>
                <a:cs typeface="BLS Text" pitchFamily="2" charset="-34"/>
              </a:rPr>
              <a:t>อัตราผลตอบแทนจากส่วนของผู้ถือหุ้น (</a:t>
            </a:r>
            <a:r>
              <a:rPr lang="en-US" sz="1000" dirty="0">
                <a:solidFill>
                  <a:schemeClr val="tx1">
                    <a:lumMod val="65000"/>
                    <a:lumOff val="35000"/>
                  </a:schemeClr>
                </a:solidFill>
                <a:latin typeface="BLS Text" pitchFamily="2" charset="-34"/>
                <a:cs typeface="BLS Text" pitchFamily="2" charset="-34"/>
              </a:rPr>
              <a:t>Return on Equity: ROE) </a:t>
            </a:r>
            <a:r>
              <a:rPr lang="th-TH" sz="1000" dirty="0">
                <a:solidFill>
                  <a:schemeClr val="tx1">
                    <a:lumMod val="65000"/>
                    <a:lumOff val="35000"/>
                  </a:schemeClr>
                </a:solidFill>
                <a:latin typeface="BLS Text" pitchFamily="2" charset="-34"/>
                <a:cs typeface="BLS Text" pitchFamily="2" charset="-34"/>
              </a:rPr>
              <a:t>และระดับ การประเมินมูลค่า (</a:t>
            </a:r>
            <a:r>
              <a:rPr lang="en-US" sz="1000" dirty="0">
                <a:solidFill>
                  <a:schemeClr val="tx1">
                    <a:lumMod val="65000"/>
                    <a:lumOff val="35000"/>
                  </a:schemeClr>
                </a:solidFill>
                <a:latin typeface="BLS Text" pitchFamily="2" charset="-34"/>
                <a:cs typeface="BLS Text" pitchFamily="2" charset="-34"/>
              </a:rPr>
              <a:t>valuation multiple) </a:t>
            </a:r>
            <a:r>
              <a:rPr lang="th-TH" sz="1000" dirty="0">
                <a:solidFill>
                  <a:schemeClr val="tx1">
                    <a:lumMod val="65000"/>
                    <a:lumOff val="35000"/>
                  </a:schemeClr>
                </a:solidFill>
                <a:latin typeface="BLS Text" pitchFamily="2" charset="-34"/>
                <a:cs typeface="BLS Text" pitchFamily="2" charset="-34"/>
              </a:rPr>
              <a:t>ของตลาดหุ้นไทย มีความสัมพันธ์อย่างมีนัยสำคัญกับวัฏจักรของภาคการผลิตโลก โดยตัวชี้วัดที่สะท้อนวัฏจักรดังกล่าวได้ชัดเจนคือ ดัชนีภาคการผลิตสหรัฐฯ (</a:t>
            </a:r>
            <a:r>
              <a:rPr lang="en-US" sz="1000" dirty="0">
                <a:solidFill>
                  <a:schemeClr val="tx1">
                    <a:lumMod val="65000"/>
                    <a:lumOff val="35000"/>
                  </a:schemeClr>
                </a:solidFill>
                <a:latin typeface="BLS Text" pitchFamily="2" charset="-34"/>
                <a:cs typeface="BLS Text" pitchFamily="2" charset="-34"/>
              </a:rPr>
              <a:t>US ISM Manufacturing PMI) </a:t>
            </a:r>
            <a:r>
              <a:rPr lang="th-TH" sz="1000" dirty="0">
                <a:solidFill>
                  <a:schemeClr val="tx1">
                    <a:lumMod val="65000"/>
                    <a:lumOff val="35000"/>
                  </a:schemeClr>
                </a:solidFill>
                <a:latin typeface="BLS Text" pitchFamily="2" charset="-34"/>
                <a:cs typeface="BLS Text" pitchFamily="2" charset="-34"/>
              </a:rPr>
              <a:t>ซึ่งมักถูกใช้เป็น </a:t>
            </a:r>
            <a:r>
              <a:rPr lang="en-US" sz="1000" dirty="0">
                <a:solidFill>
                  <a:schemeClr val="tx1">
                    <a:lumMod val="65000"/>
                    <a:lumOff val="35000"/>
                  </a:schemeClr>
                </a:solidFill>
                <a:latin typeface="BLS Text" pitchFamily="2" charset="-34"/>
                <a:cs typeface="BLS Text" pitchFamily="2" charset="-34"/>
              </a:rPr>
              <a:t>proxy </a:t>
            </a:r>
            <a:r>
              <a:rPr lang="th-TH" sz="1000" dirty="0">
                <a:solidFill>
                  <a:schemeClr val="tx1">
                    <a:lumMod val="65000"/>
                    <a:lumOff val="35000"/>
                  </a:schemeClr>
                </a:solidFill>
                <a:latin typeface="BLS Text" pitchFamily="2" charset="-34"/>
                <a:cs typeface="BLS Text" pitchFamily="2" charset="-34"/>
              </a:rPr>
              <a:t>ของ </a:t>
            </a:r>
            <a:r>
              <a:rPr lang="en-US" sz="1000" dirty="0">
                <a:solidFill>
                  <a:schemeClr val="tx1">
                    <a:lumMod val="65000"/>
                    <a:lumOff val="35000"/>
                  </a:schemeClr>
                </a:solidFill>
                <a:latin typeface="BLS Text" pitchFamily="2" charset="-34"/>
                <a:cs typeface="BLS Text" pitchFamily="2" charset="-34"/>
              </a:rPr>
              <a:t>global industrial cycle </a:t>
            </a:r>
            <a:r>
              <a:rPr lang="th-TH" sz="1000" dirty="0">
                <a:solidFill>
                  <a:schemeClr val="tx1">
                    <a:lumMod val="65000"/>
                    <a:lumOff val="35000"/>
                  </a:schemeClr>
                </a:solidFill>
                <a:latin typeface="BLS Text" pitchFamily="2" charset="-34"/>
                <a:cs typeface="BLS Text" pitchFamily="2" charset="-34"/>
              </a:rPr>
              <a:t>และทิศทางการค้าโลก</a:t>
            </a:r>
          </a:p>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ในเชิงโครงสร้างกำไร (</a:t>
            </a:r>
            <a:r>
              <a:rPr lang="en-US" sz="1000" b="1" dirty="0">
                <a:solidFill>
                  <a:schemeClr val="tx1">
                    <a:lumMod val="65000"/>
                    <a:lumOff val="35000"/>
                  </a:schemeClr>
                </a:solidFill>
                <a:latin typeface="BLS Text" pitchFamily="2" charset="-34"/>
                <a:cs typeface="BLS Text" pitchFamily="2" charset="-34"/>
              </a:rPr>
              <a:t>earnings composition) </a:t>
            </a:r>
            <a:r>
              <a:rPr lang="th-TH" sz="1000" b="1" dirty="0">
                <a:solidFill>
                  <a:schemeClr val="tx1">
                    <a:lumMod val="65000"/>
                    <a:lumOff val="35000"/>
                  </a:schemeClr>
                </a:solidFill>
                <a:latin typeface="BLS Text" pitchFamily="2" charset="-34"/>
                <a:cs typeface="BLS Text" pitchFamily="2" charset="-34"/>
              </a:rPr>
              <a:t>ตลาดหุ้นไทยมีสัดส่วนกำไรจาก กลุ่มธุรกิจที่เชื่อมโยงกับเศรษฐกิจโลก (</a:t>
            </a:r>
            <a:r>
              <a:rPr lang="en-US" sz="1000" b="1" dirty="0">
                <a:solidFill>
                  <a:schemeClr val="tx1">
                    <a:lumMod val="65000"/>
                    <a:lumOff val="35000"/>
                  </a:schemeClr>
                </a:solidFill>
                <a:latin typeface="BLS Text" pitchFamily="2" charset="-34"/>
                <a:cs typeface="BLS Text" pitchFamily="2" charset="-34"/>
              </a:rPr>
              <a:t>global-linked sectors) </a:t>
            </a:r>
            <a:r>
              <a:rPr lang="th-TH" sz="1000" b="1" dirty="0">
                <a:solidFill>
                  <a:schemeClr val="tx1">
                    <a:lumMod val="65000"/>
                    <a:lumOff val="35000"/>
                  </a:schemeClr>
                </a:solidFill>
                <a:latin typeface="BLS Text" pitchFamily="2" charset="-34"/>
                <a:cs typeface="BLS Text" pitchFamily="2" charset="-34"/>
              </a:rPr>
              <a:t>ในระดับสูง </a:t>
            </a:r>
            <a:r>
              <a:rPr lang="th-TH" sz="1000" dirty="0">
                <a:solidFill>
                  <a:schemeClr val="tx1">
                    <a:lumMod val="65000"/>
                    <a:lumOff val="35000"/>
                  </a:schemeClr>
                </a:solidFill>
                <a:latin typeface="BLS Text" pitchFamily="2" charset="-34"/>
                <a:cs typeface="BLS Text" pitchFamily="2" charset="-34"/>
              </a:rPr>
              <a:t>โดยกลุ่มพลังงาน (ไม่รวมโรงไฟฟ้า), ปิโตรเคมี อิเล็กทรอนิกส์ และบรรจุภัณฑ์ รวมกันคิดเป็นประมาณ 28% ของกำไรตลาดในปี 2026 หรือเกือบ หนึ่งในสามของกำไรทั้งหมด โครงสร้างดังกล่าวทำให้กำไรของตลาดหุ้นไทยมีลักษณะ </a:t>
            </a:r>
            <a:r>
              <a:rPr lang="en-US" sz="1000" dirty="0">
                <a:solidFill>
                  <a:schemeClr val="tx1">
                    <a:lumMod val="65000"/>
                    <a:lumOff val="35000"/>
                  </a:schemeClr>
                </a:solidFill>
                <a:latin typeface="BLS Text" pitchFamily="2" charset="-34"/>
                <a:cs typeface="BLS Text" pitchFamily="2" charset="-34"/>
              </a:rPr>
              <a:t>pro-cyclical </a:t>
            </a:r>
            <a:r>
              <a:rPr lang="th-TH" sz="1000" dirty="0">
                <a:solidFill>
                  <a:schemeClr val="tx1">
                    <a:lumMod val="65000"/>
                    <a:lumOff val="35000"/>
                  </a:schemeClr>
                </a:solidFill>
                <a:latin typeface="BLS Text" pitchFamily="2" charset="-34"/>
                <a:cs typeface="BLS Text" pitchFamily="2" charset="-34"/>
              </a:rPr>
              <a:t>ต่อวัฏจักรการผลิตโลก กล่าวคือ เมื่อกิจกรรมทางเศรษฐกิจและการผลิตทั่วโลกเข้าสู่ช่วงขยายตัว ความต้องการสินค้าโภคภัณฑ์ พลังงาน และสินค้าอุตสาหกรรมจะเพิ่มขึ้น ส่งผลให้รายได้และอัตรากำไรของบริษัทในกลุ่ม </a:t>
            </a:r>
            <a:r>
              <a:rPr lang="en-US" sz="1000" dirty="0">
                <a:solidFill>
                  <a:schemeClr val="tx1">
                    <a:lumMod val="65000"/>
                    <a:lumOff val="35000"/>
                  </a:schemeClr>
                </a:solidFill>
                <a:latin typeface="BLS Text" pitchFamily="2" charset="-34"/>
                <a:cs typeface="BLS Text" pitchFamily="2" charset="-34"/>
              </a:rPr>
              <a:t>global play </a:t>
            </a:r>
            <a:r>
              <a:rPr lang="th-TH" sz="1000" dirty="0">
                <a:solidFill>
                  <a:schemeClr val="tx1">
                    <a:lumMod val="65000"/>
                    <a:lumOff val="35000"/>
                  </a:schemeClr>
                </a:solidFill>
                <a:latin typeface="BLS Text" pitchFamily="2" charset="-34"/>
                <a:cs typeface="BLS Text" pitchFamily="2" charset="-34"/>
              </a:rPr>
              <a:t>ปรับตัวดีขึ้น และผลักดันให้ </a:t>
            </a:r>
            <a:r>
              <a:rPr lang="en-US" sz="1000" dirty="0">
                <a:solidFill>
                  <a:schemeClr val="tx1">
                    <a:lumMod val="65000"/>
                    <a:lumOff val="35000"/>
                  </a:schemeClr>
                </a:solidFill>
                <a:latin typeface="BLS Text" pitchFamily="2" charset="-34"/>
                <a:cs typeface="BLS Text" pitchFamily="2" charset="-34"/>
              </a:rPr>
              <a:t>earnings growth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ROE </a:t>
            </a:r>
            <a:r>
              <a:rPr lang="th-TH" sz="1000" dirty="0">
                <a:solidFill>
                  <a:schemeClr val="tx1">
                    <a:lumMod val="65000"/>
                    <a:lumOff val="35000"/>
                  </a:schemeClr>
                </a:solidFill>
                <a:latin typeface="BLS Text" pitchFamily="2" charset="-34"/>
                <a:cs typeface="BLS Text" pitchFamily="2" charset="-34"/>
              </a:rPr>
              <a:t>ของตลาดหุ้นไทยขยายตัวตามวัฏจักรเศรษฐกิจโลก</a:t>
            </a: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จากข้อมูลเชิงประจักษ์ในอดีตสะท้อนความสัมพันธ์ดังกล่าวอย่างชัดเจน โดยในช่วงที่ภาคการผลิตโลกเข้าสู่ภาวะขยายตัว เช่น ช่วงปี 2009–2011 หลังวิกฤติการเงินโลก, ปี 2013–2014, ปี 2016–2018 และครึ่งหลังของปี 2020–2021 ดัชนี </a:t>
            </a:r>
            <a:r>
              <a:rPr lang="en-US" sz="1000" dirty="0">
                <a:solidFill>
                  <a:schemeClr val="tx1">
                    <a:lumMod val="65000"/>
                    <a:lumOff val="35000"/>
                  </a:schemeClr>
                </a:solidFill>
                <a:latin typeface="BLS Text" pitchFamily="2" charset="-34"/>
                <a:cs typeface="BLS Text" pitchFamily="2" charset="-34"/>
              </a:rPr>
              <a:t>US ISM Manufacturing PMI </a:t>
            </a:r>
            <a:r>
              <a:rPr lang="th-TH" sz="1000" dirty="0">
                <a:solidFill>
                  <a:schemeClr val="tx1">
                    <a:lumMod val="65000"/>
                    <a:lumOff val="35000"/>
                  </a:schemeClr>
                </a:solidFill>
                <a:latin typeface="BLS Text" pitchFamily="2" charset="-34"/>
                <a:cs typeface="BLS Text" pitchFamily="2" charset="-34"/>
              </a:rPr>
              <a:t>ปรับตัวขึ้นสู่ระดับเหนือ 50 ซึ่งเป็นระดับที่สะท้อนการขยายตัวของกิจกรรมการผลิตโลก ในช่วงเวลาเดียวกันมักเห็น กำไรของตลาดหุ้นไทยและ </a:t>
            </a:r>
            <a:r>
              <a:rPr lang="en-US" sz="1000" dirty="0">
                <a:solidFill>
                  <a:schemeClr val="tx1">
                    <a:lumMod val="65000"/>
                    <a:lumOff val="35000"/>
                  </a:schemeClr>
                </a:solidFill>
                <a:latin typeface="BLS Text" pitchFamily="2" charset="-34"/>
                <a:cs typeface="BLS Text" pitchFamily="2" charset="-34"/>
              </a:rPr>
              <a:t>ROE </a:t>
            </a:r>
            <a:r>
              <a:rPr lang="th-TH" sz="1000" dirty="0">
                <a:solidFill>
                  <a:schemeClr val="tx1">
                    <a:lumMod val="65000"/>
                    <a:lumOff val="35000"/>
                  </a:schemeClr>
                </a:solidFill>
                <a:latin typeface="BLS Text" pitchFamily="2" charset="-34"/>
                <a:cs typeface="BLS Text" pitchFamily="2" charset="-34"/>
              </a:rPr>
              <a:t>ของ </a:t>
            </a:r>
            <a:r>
              <a:rPr lang="en-US" sz="1000" dirty="0">
                <a:solidFill>
                  <a:schemeClr val="tx1">
                    <a:lumMod val="65000"/>
                    <a:lumOff val="35000"/>
                  </a:schemeClr>
                </a:solidFill>
                <a:latin typeface="BLS Text" pitchFamily="2" charset="-34"/>
                <a:cs typeface="BLS Text" pitchFamily="2" charset="-34"/>
              </a:rPr>
              <a:t>SET </a:t>
            </a:r>
            <a:r>
              <a:rPr lang="th-TH" sz="1000" dirty="0">
                <a:solidFill>
                  <a:schemeClr val="tx1">
                    <a:lumMod val="65000"/>
                    <a:lumOff val="35000"/>
                  </a:schemeClr>
                </a:solidFill>
                <a:latin typeface="BLS Text" pitchFamily="2" charset="-34"/>
                <a:cs typeface="BLS Text" pitchFamily="2" charset="-34"/>
              </a:rPr>
              <a:t>ฟื้นตัวในทิศทางเดียวกัน ซึ่งสะท้อนกลไก </a:t>
            </a:r>
            <a:r>
              <a:rPr lang="en-US" sz="1000" dirty="0">
                <a:solidFill>
                  <a:schemeClr val="tx1">
                    <a:lumMod val="65000"/>
                    <a:lumOff val="35000"/>
                  </a:schemeClr>
                </a:solidFill>
                <a:latin typeface="BLS Text" pitchFamily="2" charset="-34"/>
                <a:cs typeface="BLS Text" pitchFamily="2" charset="-34"/>
              </a:rPr>
              <a:t>earnings transmission </a:t>
            </a:r>
            <a:r>
              <a:rPr lang="th-TH" sz="1000" dirty="0">
                <a:solidFill>
                  <a:schemeClr val="tx1">
                    <a:lumMod val="65000"/>
                    <a:lumOff val="35000"/>
                  </a:schemeClr>
                </a:solidFill>
                <a:latin typeface="BLS Text" pitchFamily="2" charset="-34"/>
                <a:cs typeface="BLS Text" pitchFamily="2" charset="-34"/>
              </a:rPr>
              <a:t>จาก </a:t>
            </a:r>
            <a:r>
              <a:rPr lang="en-US" sz="1000" dirty="0">
                <a:solidFill>
                  <a:schemeClr val="tx1">
                    <a:lumMod val="65000"/>
                    <a:lumOff val="35000"/>
                  </a:schemeClr>
                </a:solidFill>
                <a:latin typeface="BLS Text" pitchFamily="2" charset="-34"/>
                <a:cs typeface="BLS Text" pitchFamily="2" charset="-34"/>
              </a:rPr>
              <a:t>global industrial cycle </a:t>
            </a:r>
            <a:r>
              <a:rPr lang="th-TH" sz="1000" dirty="0">
                <a:solidFill>
                  <a:schemeClr val="tx1">
                    <a:lumMod val="65000"/>
                    <a:lumOff val="35000"/>
                  </a:schemeClr>
                </a:solidFill>
                <a:latin typeface="BLS Text" pitchFamily="2" charset="-34"/>
                <a:cs typeface="BLS Text" pitchFamily="2" charset="-34"/>
              </a:rPr>
              <a:t>สู่ตลาดทุนไทย</a:t>
            </a:r>
          </a:p>
        </p:txBody>
      </p:sp>
    </p:spTree>
    <p:extLst>
      <p:ext uri="{BB962C8B-B14F-4D97-AF65-F5344CB8AC3E}">
        <p14:creationId xmlns:p14="http://schemas.microsoft.com/office/powerpoint/2010/main" val="3959674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9" name="TextBox 8">
            <a:extLst>
              <a:ext uri="{FF2B5EF4-FFF2-40B4-BE49-F238E27FC236}">
                <a16:creationId xmlns:a16="http://schemas.microsoft.com/office/drawing/2014/main" id="{7F0E0049-F914-8FCF-8D71-9FBC04845A5D}"/>
              </a:ext>
            </a:extLst>
          </p:cNvPr>
          <p:cNvSpPr txBox="1"/>
          <p:nvPr/>
        </p:nvSpPr>
        <p:spPr>
          <a:xfrm>
            <a:off x="319628" y="899592"/>
            <a:ext cx="3095782" cy="5232202"/>
          </a:xfrm>
          <a:prstGeom prst="rect">
            <a:avLst/>
          </a:prstGeom>
          <a:noFill/>
          <a:ln>
            <a:noFill/>
          </a:ln>
        </p:spPr>
        <p:txBody>
          <a:bodyPr wrap="square" rtlCol="0">
            <a:spAutoFit/>
          </a:bodyPr>
          <a:lstStyle/>
          <a:p>
            <a:pPr algn="thaiDist">
              <a:lnSpc>
                <a:spcPct val="120000"/>
              </a:lnSpc>
              <a:spcBef>
                <a:spcPts val="600"/>
              </a:spcBef>
              <a:buSzPct val="120000"/>
            </a:pPr>
            <a:r>
              <a:rPr lang="en-US" sz="1000" dirty="0">
                <a:solidFill>
                  <a:schemeClr val="tx1">
                    <a:lumMod val="65000"/>
                    <a:lumOff val="35000"/>
                  </a:schemeClr>
                </a:solidFill>
                <a:latin typeface="BLS Text" pitchFamily="2" charset="-34"/>
                <a:cs typeface="BLS Text" pitchFamily="2" charset="-34"/>
              </a:rPr>
              <a:t>global industrial cycle </a:t>
            </a:r>
            <a:r>
              <a:rPr lang="th-TH" sz="1000" dirty="0">
                <a:solidFill>
                  <a:schemeClr val="tx1">
                    <a:lumMod val="65000"/>
                    <a:lumOff val="35000"/>
                  </a:schemeClr>
                </a:solidFill>
                <a:latin typeface="BLS Text" pitchFamily="2" charset="-34"/>
                <a:cs typeface="BLS Text" pitchFamily="2" charset="-34"/>
              </a:rPr>
              <a:t>และการค้าโลก โดยในรอบล่าสุดดัชนีดังกล่าวของทั้งสองประเทศเริ่มปรับตัวขึ้นพร้อมกันตั้งแต่ปลายปี 2025 ซึ่งโดยปกติจะส่งผ่านไปสู่การฟื้นตัวของภาคการผลิตโลกในช่วง 1–3 ไตรมาสถัดมา หรือประมาณช่วงกลางปี 2026</a:t>
            </a:r>
          </a:p>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อีกหนึ่งตัวชี้วัดที่สะท้อนการเข้าสู่ช่วงต้นของวัฏจักรคือ สัดส่วน </a:t>
            </a:r>
            <a:r>
              <a:rPr lang="en-US" sz="1000" b="1" dirty="0">
                <a:solidFill>
                  <a:schemeClr val="tx1">
                    <a:lumMod val="65000"/>
                    <a:lumOff val="35000"/>
                  </a:schemeClr>
                </a:solidFill>
                <a:latin typeface="BLS Text" pitchFamily="2" charset="-34"/>
                <a:cs typeface="BLS Text" pitchFamily="2" charset="-34"/>
              </a:rPr>
              <a:t>Inventory </a:t>
            </a:r>
            <a:r>
              <a:rPr lang="th-TH" sz="1000" b="1" dirty="0">
                <a:solidFill>
                  <a:schemeClr val="tx1">
                    <a:lumMod val="65000"/>
                    <a:lumOff val="35000"/>
                  </a:schemeClr>
                </a:solidFill>
                <a:latin typeface="BLS Text" pitchFamily="2" charset="-34"/>
                <a:cs typeface="BLS Text" pitchFamily="2" charset="-34"/>
              </a:rPr>
              <a:t>ต่อ </a:t>
            </a:r>
            <a:r>
              <a:rPr lang="en-US" sz="1000" b="1" dirty="0">
                <a:solidFill>
                  <a:schemeClr val="tx1">
                    <a:lumMod val="65000"/>
                    <a:lumOff val="35000"/>
                  </a:schemeClr>
                </a:solidFill>
                <a:latin typeface="BLS Text" pitchFamily="2" charset="-34"/>
                <a:cs typeface="BLS Text" pitchFamily="2" charset="-34"/>
              </a:rPr>
              <a:t>New Orders </a:t>
            </a:r>
            <a:r>
              <a:rPr lang="th-TH" sz="1000" b="1" dirty="0">
                <a:solidFill>
                  <a:schemeClr val="tx1">
                    <a:lumMod val="65000"/>
                    <a:lumOff val="35000"/>
                  </a:schemeClr>
                </a:solidFill>
                <a:latin typeface="BLS Text" pitchFamily="2" charset="-34"/>
                <a:cs typeface="BLS Text" pitchFamily="2" charset="-34"/>
              </a:rPr>
              <a:t>ของภาคการผลิตสหรัฐ (</a:t>
            </a:r>
            <a:r>
              <a:rPr lang="en-US" sz="1000" b="1" dirty="0">
                <a:solidFill>
                  <a:schemeClr val="tx1">
                    <a:lumMod val="65000"/>
                    <a:lumOff val="35000"/>
                  </a:schemeClr>
                </a:solidFill>
                <a:latin typeface="BLS Text" pitchFamily="2" charset="-34"/>
                <a:cs typeface="BLS Text" pitchFamily="2" charset="-34"/>
              </a:rPr>
              <a:t>US PMI Inventory/New Orders ratio) </a:t>
            </a:r>
            <a:r>
              <a:rPr lang="th-TH" sz="1000" dirty="0">
                <a:solidFill>
                  <a:schemeClr val="tx1">
                    <a:lumMod val="65000"/>
                    <a:lumOff val="35000"/>
                  </a:schemeClr>
                </a:solidFill>
                <a:latin typeface="BLS Text" pitchFamily="2" charset="-34"/>
                <a:cs typeface="BLS Text" pitchFamily="2" charset="-34"/>
              </a:rPr>
              <a:t>ซึ่งปัจจุบันอยู่ใกล้ระดับต่ำสุดในรอบหลายปี หากไม่นับช่วงวิกฤติทางเศรษฐกิจในอดีต ภาวะดังกล่าวสะท้อนว่า ระดับสินค้าคงคลังในภาคอุตสาหกรรมอยู่ในระดับต่ำเมื่อเทียบกับคำสั่งซื้อใหม่ ซึ่งโดยทั่วไปจะนำไปสู่กระบวนการ </a:t>
            </a:r>
            <a:r>
              <a:rPr lang="en-US" sz="1000" dirty="0">
                <a:solidFill>
                  <a:schemeClr val="tx1">
                    <a:lumMod val="65000"/>
                    <a:lumOff val="35000"/>
                  </a:schemeClr>
                </a:solidFill>
                <a:latin typeface="BLS Text" pitchFamily="2" charset="-34"/>
                <a:cs typeface="BLS Text" pitchFamily="2" charset="-34"/>
              </a:rPr>
              <a:t>inventory rebuilding cycle </a:t>
            </a:r>
            <a:r>
              <a:rPr lang="th-TH" sz="1000" dirty="0">
                <a:solidFill>
                  <a:schemeClr val="tx1">
                    <a:lumMod val="65000"/>
                    <a:lumOff val="35000"/>
                  </a:schemeClr>
                </a:solidFill>
                <a:latin typeface="BLS Text" pitchFamily="2" charset="-34"/>
                <a:cs typeface="BLS Text" pitchFamily="2" charset="-34"/>
              </a:rPr>
              <a:t>หรือการเร่งผลิตเพื่อเติมสต็อกในระยะถัดไป กลไกนี้มักเป็นตัวเร่งให้กิจกรรมการผลิตและการค้าโลกฟื้นตัวอย่างมีนัยสำคัญ</a:t>
            </a:r>
          </a:p>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จากรูปแบบในอดีต เมื่อ </a:t>
            </a:r>
            <a:r>
              <a:rPr lang="en-US" sz="1000" b="1" dirty="0">
                <a:solidFill>
                  <a:schemeClr val="tx1">
                    <a:lumMod val="65000"/>
                    <a:lumOff val="35000"/>
                  </a:schemeClr>
                </a:solidFill>
                <a:latin typeface="BLS Text" pitchFamily="2" charset="-34"/>
                <a:cs typeface="BLS Text" pitchFamily="2" charset="-34"/>
              </a:rPr>
              <a:t>US Manufacturing PMI </a:t>
            </a:r>
            <a:r>
              <a:rPr lang="th-TH" sz="1000" b="1" dirty="0">
                <a:solidFill>
                  <a:schemeClr val="tx1">
                    <a:lumMod val="65000"/>
                    <a:lumOff val="35000"/>
                  </a:schemeClr>
                </a:solidFill>
                <a:latin typeface="BLS Text" pitchFamily="2" charset="-34"/>
                <a:cs typeface="BLS Text" pitchFamily="2" charset="-34"/>
              </a:rPr>
              <a:t>เริ่มฟื้นตัวหลังผ่านช่วง </a:t>
            </a:r>
            <a:r>
              <a:rPr lang="en-US" sz="1000" b="1" dirty="0">
                <a:solidFill>
                  <a:schemeClr val="tx1">
                    <a:lumMod val="65000"/>
                    <a:lumOff val="35000"/>
                  </a:schemeClr>
                </a:solidFill>
                <a:latin typeface="BLS Text" pitchFamily="2" charset="-34"/>
                <a:cs typeface="BLS Text" pitchFamily="2" charset="-34"/>
              </a:rPr>
              <a:t>downcycle </a:t>
            </a:r>
            <a:r>
              <a:rPr lang="th-TH" sz="1000" b="1" dirty="0">
                <a:solidFill>
                  <a:schemeClr val="tx1">
                    <a:lumMod val="65000"/>
                    <a:lumOff val="35000"/>
                  </a:schemeClr>
                </a:solidFill>
                <a:latin typeface="BLS Text" pitchFamily="2" charset="-34"/>
                <a:cs typeface="BLS Text" pitchFamily="2" charset="-34"/>
              </a:rPr>
              <a:t>ยาว 2–3 ปี </a:t>
            </a:r>
            <a:r>
              <a:rPr lang="th-TH" sz="1000" dirty="0">
                <a:solidFill>
                  <a:schemeClr val="tx1">
                    <a:lumMod val="65000"/>
                    <a:lumOff val="35000"/>
                  </a:schemeClr>
                </a:solidFill>
                <a:latin typeface="BLS Text" pitchFamily="2" charset="-34"/>
                <a:cs typeface="BLS Text" pitchFamily="2" charset="-34"/>
              </a:rPr>
              <a:t>มักตามมาด้วยการฟื้นตัวของอุปสงค์พลังงาน วัตถุดิบอุตสาหกรรม และสินค้า </a:t>
            </a:r>
            <a:r>
              <a:rPr lang="en-US" sz="1000" dirty="0">
                <a:solidFill>
                  <a:schemeClr val="tx1">
                    <a:lumMod val="65000"/>
                    <a:lumOff val="35000"/>
                  </a:schemeClr>
                </a:solidFill>
                <a:latin typeface="BLS Text" pitchFamily="2" charset="-34"/>
                <a:cs typeface="BLS Text" pitchFamily="2" charset="-34"/>
              </a:rPr>
              <a:t>intermediate goods </a:t>
            </a:r>
            <a:r>
              <a:rPr lang="th-TH" sz="1000" dirty="0">
                <a:solidFill>
                  <a:schemeClr val="tx1">
                    <a:lumMod val="65000"/>
                    <a:lumOff val="35000"/>
                  </a:schemeClr>
                </a:solidFill>
                <a:latin typeface="BLS Text" pitchFamily="2" charset="-34"/>
                <a:cs typeface="BLS Text" pitchFamily="2" charset="-34"/>
              </a:rPr>
              <a:t>ส่งผลให้ราคาสินค้าโภคภัณฑ์ รวมถึง ค่าการกลั่นและส่วนต่างปิโตรเคมี มีแนวโน้มปรับตัวดีขึ้นตามวัฏจักรการผลิตโลก ดังนั้น การที่ </a:t>
            </a:r>
            <a:r>
              <a:rPr lang="en-US" sz="1000" dirty="0">
                <a:solidFill>
                  <a:schemeClr val="tx1">
                    <a:lumMod val="65000"/>
                    <a:lumOff val="35000"/>
                  </a:schemeClr>
                </a:solidFill>
                <a:latin typeface="BLS Text" pitchFamily="2" charset="-34"/>
                <a:cs typeface="BLS Text" pitchFamily="2" charset="-34"/>
              </a:rPr>
              <a:t>New Orders </a:t>
            </a:r>
            <a:r>
              <a:rPr lang="th-TH" sz="1000" dirty="0">
                <a:solidFill>
                  <a:schemeClr val="tx1">
                    <a:lumMod val="65000"/>
                    <a:lumOff val="35000"/>
                  </a:schemeClr>
                </a:solidFill>
                <a:latin typeface="BLS Text" pitchFamily="2" charset="-34"/>
                <a:cs typeface="BLS Text" pitchFamily="2" charset="-34"/>
              </a:rPr>
              <a:t>ของทั้งสหรัฐและจีนเริ่มฟื้นตัวพร้อมกัน จึงเป็นสัญญาณสำคัญที่บ่งชี้ว่า </a:t>
            </a:r>
            <a:r>
              <a:rPr lang="en-US" sz="1000" dirty="0">
                <a:solidFill>
                  <a:schemeClr val="tx1">
                    <a:lumMod val="65000"/>
                    <a:lumOff val="35000"/>
                  </a:schemeClr>
                </a:solidFill>
                <a:latin typeface="BLS Text" pitchFamily="2" charset="-34"/>
                <a:cs typeface="BLS Text" pitchFamily="2" charset="-34"/>
              </a:rPr>
              <a:t>global industrial cycle </a:t>
            </a:r>
            <a:r>
              <a:rPr lang="th-TH" sz="1000" dirty="0">
                <a:solidFill>
                  <a:schemeClr val="tx1">
                    <a:lumMod val="65000"/>
                    <a:lumOff val="35000"/>
                  </a:schemeClr>
                </a:solidFill>
                <a:latin typeface="BLS Text" pitchFamily="2" charset="-34"/>
                <a:cs typeface="BLS Text" pitchFamily="2" charset="-34"/>
              </a:rPr>
              <a:t>กำลังเข้าสู่ช่วงต้นของการฟื้นตัว และมีแนวโน้มสนับสนุนการฟื้นตัวของภาคการผลิตโลกในช่วง กลางปี 2026 เป็นต้นไป ซึ่งจะเป็นแรงหนุนสำคัญต่อกลุ่มหุ้นวัฏจักร โดยเฉพาะพลังงาน โรงกลั่น และปิโตรเคมี</a:t>
            </a:r>
          </a:p>
        </p:txBody>
      </p:sp>
      <p:sp>
        <p:nvSpPr>
          <p:cNvPr id="2" name="TextBox 1">
            <a:extLst>
              <a:ext uri="{FF2B5EF4-FFF2-40B4-BE49-F238E27FC236}">
                <a16:creationId xmlns:a16="http://schemas.microsoft.com/office/drawing/2014/main" id="{29FA6835-658A-733F-6B3E-672737074CA7}"/>
              </a:ext>
            </a:extLst>
          </p:cNvPr>
          <p:cNvSpPr txBox="1">
            <a:spLocks noChangeArrowheads="1"/>
          </p:cNvSpPr>
          <p:nvPr/>
        </p:nvSpPr>
        <p:spPr bwMode="auto">
          <a:xfrm>
            <a:off x="3575234" y="2875166"/>
            <a:ext cx="31090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600" dirty="0">
                <a:solidFill>
                  <a:srgbClr val="404040"/>
                </a:solidFill>
                <a:latin typeface="BLS Condensed" pitchFamily="2" charset="-34"/>
                <a:cs typeface="BLS Condensed" pitchFamily="2" charset="-34"/>
              </a:rPr>
              <a:t>Source: Bloomberg,</a:t>
            </a:r>
            <a:r>
              <a:rPr lang="th-TH" sz="600" dirty="0">
                <a:solidFill>
                  <a:srgbClr val="404040"/>
                </a:solidFill>
                <a:latin typeface="BLS Condensed" pitchFamily="2" charset="-34"/>
                <a:cs typeface="BLS Condensed" pitchFamily="2" charset="-34"/>
              </a:rPr>
              <a:t> </a:t>
            </a:r>
            <a:r>
              <a:rPr lang="en-US" sz="600" dirty="0" err="1">
                <a:solidFill>
                  <a:srgbClr val="404040"/>
                </a:solidFill>
                <a:latin typeface="BLS Condensed" pitchFamily="2" charset="-34"/>
                <a:cs typeface="BLS Condensed" pitchFamily="2" charset="-34"/>
              </a:rPr>
              <a:t>Bualuang</a:t>
            </a:r>
            <a:r>
              <a:rPr lang="en-US" sz="600" dirty="0">
                <a:solidFill>
                  <a:srgbClr val="404040"/>
                </a:solidFill>
                <a:latin typeface="BLS Condensed" pitchFamily="2" charset="-34"/>
                <a:cs typeface="BLS Condensed" pitchFamily="2" charset="-34"/>
              </a:rPr>
              <a:t> Research </a:t>
            </a:r>
          </a:p>
        </p:txBody>
      </p:sp>
      <p:cxnSp>
        <p:nvCxnSpPr>
          <p:cNvPr id="3" name="Straight Connector 2">
            <a:extLst>
              <a:ext uri="{FF2B5EF4-FFF2-40B4-BE49-F238E27FC236}">
                <a16:creationId xmlns:a16="http://schemas.microsoft.com/office/drawing/2014/main" id="{DA45AD92-F35E-7043-89BE-9B0960518475}"/>
              </a:ext>
            </a:extLst>
          </p:cNvPr>
          <p:cNvCxnSpPr/>
          <p:nvPr/>
        </p:nvCxnSpPr>
        <p:spPr>
          <a:xfrm>
            <a:off x="3588275" y="2874288"/>
            <a:ext cx="3096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1129FA1-3D62-78A5-9056-56373255FFED}"/>
              </a:ext>
            </a:extLst>
          </p:cNvPr>
          <p:cNvSpPr txBox="1">
            <a:spLocks noChangeArrowheads="1"/>
          </p:cNvSpPr>
          <p:nvPr/>
        </p:nvSpPr>
        <p:spPr bwMode="auto">
          <a:xfrm>
            <a:off x="340308" y="8389302"/>
            <a:ext cx="31090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600" dirty="0">
                <a:solidFill>
                  <a:srgbClr val="404040"/>
                </a:solidFill>
                <a:latin typeface="BLS Condensed" pitchFamily="2" charset="-34"/>
                <a:cs typeface="BLS Condensed" pitchFamily="2" charset="-34"/>
              </a:rPr>
              <a:t>Source: Bloomberg,</a:t>
            </a:r>
            <a:r>
              <a:rPr lang="th-TH" sz="600" dirty="0">
                <a:solidFill>
                  <a:srgbClr val="404040"/>
                </a:solidFill>
                <a:latin typeface="BLS Condensed" pitchFamily="2" charset="-34"/>
                <a:cs typeface="BLS Condensed" pitchFamily="2" charset="-34"/>
              </a:rPr>
              <a:t> </a:t>
            </a:r>
            <a:r>
              <a:rPr lang="en-US" sz="600" dirty="0" err="1">
                <a:solidFill>
                  <a:srgbClr val="404040"/>
                </a:solidFill>
                <a:latin typeface="BLS Condensed" pitchFamily="2" charset="-34"/>
                <a:cs typeface="BLS Condensed" pitchFamily="2" charset="-34"/>
              </a:rPr>
              <a:t>Bualuang</a:t>
            </a:r>
            <a:r>
              <a:rPr lang="en-US" sz="600" dirty="0">
                <a:solidFill>
                  <a:srgbClr val="404040"/>
                </a:solidFill>
                <a:latin typeface="BLS Condensed" pitchFamily="2" charset="-34"/>
                <a:cs typeface="BLS Condensed" pitchFamily="2" charset="-34"/>
              </a:rPr>
              <a:t> Research </a:t>
            </a:r>
          </a:p>
        </p:txBody>
      </p:sp>
      <p:cxnSp>
        <p:nvCxnSpPr>
          <p:cNvPr id="14" name="Straight Connector 13">
            <a:extLst>
              <a:ext uri="{FF2B5EF4-FFF2-40B4-BE49-F238E27FC236}">
                <a16:creationId xmlns:a16="http://schemas.microsoft.com/office/drawing/2014/main" id="{50C8C75D-AFC0-9050-4DC5-184CD9E31755}"/>
              </a:ext>
            </a:extLst>
          </p:cNvPr>
          <p:cNvCxnSpPr/>
          <p:nvPr/>
        </p:nvCxnSpPr>
        <p:spPr>
          <a:xfrm>
            <a:off x="353349" y="8388424"/>
            <a:ext cx="3096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264FE5E1-A886-871B-F1E8-E84AFBEFBC92}"/>
              </a:ext>
            </a:extLst>
          </p:cNvPr>
          <p:cNvPicPr>
            <a:picLocks noChangeAspect="1"/>
          </p:cNvPicPr>
          <p:nvPr/>
        </p:nvPicPr>
        <p:blipFill>
          <a:blip r:embed="rId7"/>
          <a:stretch>
            <a:fillRect/>
          </a:stretch>
        </p:blipFill>
        <p:spPr>
          <a:xfrm>
            <a:off x="300828" y="6324063"/>
            <a:ext cx="3114582" cy="1992353"/>
          </a:xfrm>
          <a:prstGeom prst="rect">
            <a:avLst/>
          </a:prstGeom>
        </p:spPr>
      </p:pic>
      <p:cxnSp>
        <p:nvCxnSpPr>
          <p:cNvPr id="15" name="Straight Connector 14">
            <a:extLst>
              <a:ext uri="{FF2B5EF4-FFF2-40B4-BE49-F238E27FC236}">
                <a16:creationId xmlns:a16="http://schemas.microsoft.com/office/drawing/2014/main" id="{04D15145-A96A-82AE-2679-EFD5C80B4FA5}"/>
              </a:ext>
            </a:extLst>
          </p:cNvPr>
          <p:cNvCxnSpPr/>
          <p:nvPr/>
        </p:nvCxnSpPr>
        <p:spPr>
          <a:xfrm>
            <a:off x="387614" y="6084168"/>
            <a:ext cx="3096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9261438-D236-27AD-F7AC-75FD0E915DC3}"/>
              </a:ext>
            </a:extLst>
          </p:cNvPr>
          <p:cNvSpPr txBox="1"/>
          <p:nvPr/>
        </p:nvSpPr>
        <p:spPr>
          <a:xfrm>
            <a:off x="328212" y="6084747"/>
            <a:ext cx="3218843"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6</a:t>
            </a:r>
            <a:r>
              <a:rPr lang="en-US" sz="800" b="1" dirty="0">
                <a:solidFill>
                  <a:schemeClr val="tx1">
                    <a:lumMod val="95000"/>
                    <a:lumOff val="5000"/>
                  </a:schemeClr>
                </a:solidFill>
                <a:latin typeface="BLS Condensed" pitchFamily="2" charset="-34"/>
                <a:ea typeface="Tahoma" pitchFamily="34" charset="0"/>
                <a:cs typeface="BLS Condensed" pitchFamily="2" charset="-34"/>
              </a:rPr>
              <a:t>:</a:t>
            </a:r>
            <a:r>
              <a:rPr lang="th-TH" sz="800" b="1" dirty="0">
                <a:solidFill>
                  <a:schemeClr val="tx1">
                    <a:lumMod val="95000"/>
                    <a:lumOff val="5000"/>
                  </a:schemeClr>
                </a:solidFill>
                <a:latin typeface="BLS Condensed" pitchFamily="2" charset="-34"/>
                <a:ea typeface="Tahoma" pitchFamily="34" charset="0"/>
                <a:cs typeface="BLS Condensed" pitchFamily="2" charset="-34"/>
              </a:rPr>
              <a:t> </a:t>
            </a:r>
            <a:r>
              <a:rPr lang="en-US" sz="800" b="1" dirty="0">
                <a:solidFill>
                  <a:schemeClr val="tx1">
                    <a:lumMod val="95000"/>
                    <a:lumOff val="5000"/>
                  </a:schemeClr>
                </a:solidFill>
                <a:latin typeface="BLS Condensed" pitchFamily="2" charset="-34"/>
                <a:ea typeface="Tahoma" pitchFamily="34" charset="0"/>
                <a:cs typeface="BLS Condensed" pitchFamily="2" charset="-34"/>
              </a:rPr>
              <a:t>US Manufacturing PMI </a:t>
            </a:r>
            <a:r>
              <a:rPr lang="th-TH" sz="800" b="1" dirty="0">
                <a:solidFill>
                  <a:schemeClr val="tx1">
                    <a:lumMod val="95000"/>
                    <a:lumOff val="5000"/>
                  </a:schemeClr>
                </a:solidFill>
                <a:latin typeface="BLS Condensed" pitchFamily="2" charset="-34"/>
                <a:ea typeface="Tahoma" pitchFamily="34" charset="0"/>
                <a:cs typeface="BLS Condensed" pitchFamily="2" charset="-34"/>
              </a:rPr>
              <a:t>และ </a:t>
            </a:r>
            <a:r>
              <a:rPr lang="en-US" sz="800" b="1" dirty="0">
                <a:solidFill>
                  <a:schemeClr val="tx1">
                    <a:lumMod val="95000"/>
                    <a:lumOff val="5000"/>
                  </a:schemeClr>
                </a:solidFill>
                <a:latin typeface="BLS Condensed" pitchFamily="2" charset="-34"/>
                <a:ea typeface="Tahoma" pitchFamily="34" charset="0"/>
                <a:cs typeface="BLS Condensed" pitchFamily="2" charset="-34"/>
              </a:rPr>
              <a:t>New order </a:t>
            </a:r>
          </a:p>
        </p:txBody>
      </p:sp>
      <p:pic>
        <p:nvPicPr>
          <p:cNvPr id="22" name="Picture 21">
            <a:extLst>
              <a:ext uri="{FF2B5EF4-FFF2-40B4-BE49-F238E27FC236}">
                <a16:creationId xmlns:a16="http://schemas.microsoft.com/office/drawing/2014/main" id="{288638D5-5139-423D-A2EF-776A405C9902}"/>
              </a:ext>
            </a:extLst>
          </p:cNvPr>
          <p:cNvPicPr>
            <a:picLocks noChangeAspect="1"/>
          </p:cNvPicPr>
          <p:nvPr/>
        </p:nvPicPr>
        <p:blipFill>
          <a:blip r:embed="rId8"/>
          <a:stretch>
            <a:fillRect/>
          </a:stretch>
        </p:blipFill>
        <p:spPr>
          <a:xfrm>
            <a:off x="3547056" y="1093137"/>
            <a:ext cx="3234926" cy="1709143"/>
          </a:xfrm>
          <a:prstGeom prst="rect">
            <a:avLst/>
          </a:prstGeom>
        </p:spPr>
      </p:pic>
      <p:cxnSp>
        <p:nvCxnSpPr>
          <p:cNvPr id="4" name="Straight Connector 3">
            <a:extLst>
              <a:ext uri="{FF2B5EF4-FFF2-40B4-BE49-F238E27FC236}">
                <a16:creationId xmlns:a16="http://schemas.microsoft.com/office/drawing/2014/main" id="{0B023E6C-A5F0-FAB8-C7A6-7637E2F9362B}"/>
              </a:ext>
            </a:extLst>
          </p:cNvPr>
          <p:cNvCxnSpPr/>
          <p:nvPr/>
        </p:nvCxnSpPr>
        <p:spPr>
          <a:xfrm>
            <a:off x="3622540" y="930072"/>
            <a:ext cx="3096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27F4293-A2FD-9340-70F1-AC47880DE874}"/>
              </a:ext>
            </a:extLst>
          </p:cNvPr>
          <p:cNvSpPr txBox="1"/>
          <p:nvPr/>
        </p:nvSpPr>
        <p:spPr>
          <a:xfrm>
            <a:off x="3563138" y="930651"/>
            <a:ext cx="3218843"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7:</a:t>
            </a:r>
            <a:r>
              <a:rPr lang="th-TH" sz="800" b="1" dirty="0">
                <a:solidFill>
                  <a:schemeClr val="tx1">
                    <a:lumMod val="95000"/>
                    <a:lumOff val="5000"/>
                  </a:schemeClr>
                </a:solidFill>
                <a:latin typeface="BLS Condensed" pitchFamily="2" charset="-34"/>
                <a:ea typeface="Tahoma" pitchFamily="34" charset="0"/>
                <a:cs typeface="BLS Condensed" pitchFamily="2" charset="-34"/>
              </a:rPr>
              <a:t> </a:t>
            </a:r>
            <a:r>
              <a:rPr lang="en-US" sz="800" b="1" dirty="0">
                <a:solidFill>
                  <a:schemeClr val="tx1">
                    <a:lumMod val="95000"/>
                    <a:lumOff val="5000"/>
                  </a:schemeClr>
                </a:solidFill>
                <a:latin typeface="BLS Condensed" pitchFamily="2" charset="-34"/>
                <a:ea typeface="Tahoma" pitchFamily="34" charset="0"/>
                <a:cs typeface="BLS Condensed" pitchFamily="2" charset="-34"/>
              </a:rPr>
              <a:t>US PMI inventory</a:t>
            </a:r>
            <a:r>
              <a:rPr lang="th-TH" sz="800" b="1" dirty="0">
                <a:solidFill>
                  <a:schemeClr val="tx1">
                    <a:lumMod val="95000"/>
                    <a:lumOff val="5000"/>
                  </a:schemeClr>
                </a:solidFill>
                <a:latin typeface="BLS Condensed" pitchFamily="2" charset="-34"/>
                <a:ea typeface="Tahoma" pitchFamily="34" charset="0"/>
                <a:cs typeface="BLS Condensed" pitchFamily="2" charset="-34"/>
              </a:rPr>
              <a:t> เทียบ </a:t>
            </a:r>
            <a:r>
              <a:rPr lang="en-US" sz="800" b="1" dirty="0">
                <a:solidFill>
                  <a:schemeClr val="tx1">
                    <a:lumMod val="95000"/>
                    <a:lumOff val="5000"/>
                  </a:schemeClr>
                </a:solidFill>
                <a:latin typeface="BLS Condensed" pitchFamily="2" charset="-34"/>
                <a:ea typeface="Tahoma" pitchFamily="34" charset="0"/>
                <a:cs typeface="BLS Condensed" pitchFamily="2" charset="-34"/>
              </a:rPr>
              <a:t>new orders ratio </a:t>
            </a:r>
            <a:r>
              <a:rPr lang="th-TH" sz="800" b="1" dirty="0">
                <a:solidFill>
                  <a:schemeClr val="tx1">
                    <a:lumMod val="95000"/>
                    <a:lumOff val="5000"/>
                  </a:schemeClr>
                </a:solidFill>
                <a:latin typeface="BLS Condensed" pitchFamily="2" charset="-34"/>
                <a:ea typeface="Tahoma" pitchFamily="34" charset="0"/>
                <a:cs typeface="BLS Condensed" pitchFamily="2" charset="-34"/>
              </a:rPr>
              <a:t>ต่ำสุดในรอบหลายปี </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sp>
        <p:nvSpPr>
          <p:cNvPr id="23" name="TextBox 22">
            <a:extLst>
              <a:ext uri="{FF2B5EF4-FFF2-40B4-BE49-F238E27FC236}">
                <a16:creationId xmlns:a16="http://schemas.microsoft.com/office/drawing/2014/main" id="{5BA21417-F599-4085-B6E1-B96B052B04D2}"/>
              </a:ext>
            </a:extLst>
          </p:cNvPr>
          <p:cNvSpPr txBox="1">
            <a:spLocks noChangeArrowheads="1"/>
          </p:cNvSpPr>
          <p:nvPr/>
        </p:nvSpPr>
        <p:spPr bwMode="auto">
          <a:xfrm>
            <a:off x="3575233" y="5035406"/>
            <a:ext cx="31090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600" dirty="0">
                <a:solidFill>
                  <a:srgbClr val="404040"/>
                </a:solidFill>
                <a:latin typeface="BLS Condensed" pitchFamily="2" charset="-34"/>
                <a:cs typeface="BLS Condensed" pitchFamily="2" charset="-34"/>
              </a:rPr>
              <a:t>Source: Bloomberg,</a:t>
            </a:r>
            <a:r>
              <a:rPr lang="th-TH" sz="600" dirty="0">
                <a:solidFill>
                  <a:srgbClr val="404040"/>
                </a:solidFill>
                <a:latin typeface="BLS Condensed" pitchFamily="2" charset="-34"/>
                <a:cs typeface="BLS Condensed" pitchFamily="2" charset="-34"/>
              </a:rPr>
              <a:t> </a:t>
            </a:r>
            <a:r>
              <a:rPr lang="en-US" sz="600" dirty="0" err="1">
                <a:solidFill>
                  <a:srgbClr val="404040"/>
                </a:solidFill>
                <a:latin typeface="BLS Condensed" pitchFamily="2" charset="-34"/>
                <a:cs typeface="BLS Condensed" pitchFamily="2" charset="-34"/>
              </a:rPr>
              <a:t>Bualuang</a:t>
            </a:r>
            <a:r>
              <a:rPr lang="en-US" sz="600" dirty="0">
                <a:solidFill>
                  <a:srgbClr val="404040"/>
                </a:solidFill>
                <a:latin typeface="BLS Condensed" pitchFamily="2" charset="-34"/>
                <a:cs typeface="BLS Condensed" pitchFamily="2" charset="-34"/>
              </a:rPr>
              <a:t> Research </a:t>
            </a:r>
          </a:p>
        </p:txBody>
      </p:sp>
      <p:cxnSp>
        <p:nvCxnSpPr>
          <p:cNvPr id="24" name="Straight Connector 23">
            <a:extLst>
              <a:ext uri="{FF2B5EF4-FFF2-40B4-BE49-F238E27FC236}">
                <a16:creationId xmlns:a16="http://schemas.microsoft.com/office/drawing/2014/main" id="{3C35FB74-7224-3994-E731-3317BF2F67AC}"/>
              </a:ext>
            </a:extLst>
          </p:cNvPr>
          <p:cNvCxnSpPr/>
          <p:nvPr/>
        </p:nvCxnSpPr>
        <p:spPr>
          <a:xfrm>
            <a:off x="3588274" y="5034528"/>
            <a:ext cx="3096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7194F65-CCF9-6FB0-8B26-544C7AB37EE2}"/>
              </a:ext>
            </a:extLst>
          </p:cNvPr>
          <p:cNvCxnSpPr/>
          <p:nvPr/>
        </p:nvCxnSpPr>
        <p:spPr>
          <a:xfrm>
            <a:off x="3622539" y="3075652"/>
            <a:ext cx="3096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2A55F6A-0581-4EB1-50EB-6238F60A05D7}"/>
              </a:ext>
            </a:extLst>
          </p:cNvPr>
          <p:cNvSpPr txBox="1"/>
          <p:nvPr/>
        </p:nvSpPr>
        <p:spPr>
          <a:xfrm>
            <a:off x="3563137" y="3076231"/>
            <a:ext cx="3218843"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8:</a:t>
            </a:r>
            <a:r>
              <a:rPr lang="th-TH" sz="800" b="1" dirty="0">
                <a:solidFill>
                  <a:schemeClr val="tx1">
                    <a:lumMod val="95000"/>
                    <a:lumOff val="5000"/>
                  </a:schemeClr>
                </a:solidFill>
                <a:latin typeface="BLS Condensed" pitchFamily="2" charset="-34"/>
                <a:ea typeface="Tahoma" pitchFamily="34" charset="0"/>
                <a:cs typeface="BLS Condensed" pitchFamily="2" charset="-34"/>
              </a:rPr>
              <a:t> </a:t>
            </a:r>
            <a:r>
              <a:rPr lang="en-US" sz="800" b="1" dirty="0">
                <a:solidFill>
                  <a:schemeClr val="tx1">
                    <a:lumMod val="95000"/>
                    <a:lumOff val="5000"/>
                  </a:schemeClr>
                </a:solidFill>
                <a:latin typeface="BLS Condensed" pitchFamily="2" charset="-34"/>
                <a:ea typeface="Tahoma" pitchFamily="34" charset="0"/>
                <a:cs typeface="BLS Condensed" pitchFamily="2" charset="-34"/>
              </a:rPr>
              <a:t>US Manufacturing PMI cycle</a:t>
            </a:r>
          </a:p>
        </p:txBody>
      </p:sp>
      <p:pic>
        <p:nvPicPr>
          <p:cNvPr id="28" name="Picture 27">
            <a:extLst>
              <a:ext uri="{FF2B5EF4-FFF2-40B4-BE49-F238E27FC236}">
                <a16:creationId xmlns:a16="http://schemas.microsoft.com/office/drawing/2014/main" id="{E100DF21-7A3F-3350-CF16-119020F78B10}"/>
              </a:ext>
            </a:extLst>
          </p:cNvPr>
          <p:cNvPicPr>
            <a:picLocks noChangeAspect="1"/>
          </p:cNvPicPr>
          <p:nvPr/>
        </p:nvPicPr>
        <p:blipFill>
          <a:blip r:embed="rId9"/>
          <a:stretch>
            <a:fillRect/>
          </a:stretch>
        </p:blipFill>
        <p:spPr>
          <a:xfrm>
            <a:off x="3619467" y="3275856"/>
            <a:ext cx="3064807" cy="1693705"/>
          </a:xfrm>
          <a:prstGeom prst="rect">
            <a:avLst/>
          </a:prstGeom>
        </p:spPr>
      </p:pic>
      <p:sp>
        <p:nvSpPr>
          <p:cNvPr id="7" name="TextBox 6">
            <a:extLst>
              <a:ext uri="{FF2B5EF4-FFF2-40B4-BE49-F238E27FC236}">
                <a16:creationId xmlns:a16="http://schemas.microsoft.com/office/drawing/2014/main" id="{66D76E7D-FA91-B05D-9D9F-22D30B9C6775}"/>
              </a:ext>
            </a:extLst>
          </p:cNvPr>
          <p:cNvSpPr txBox="1"/>
          <p:nvPr/>
        </p:nvSpPr>
        <p:spPr>
          <a:xfrm>
            <a:off x="3464359" y="5220072"/>
            <a:ext cx="3188101" cy="3493264"/>
          </a:xfrm>
          <a:prstGeom prst="rect">
            <a:avLst/>
          </a:prstGeom>
          <a:noFill/>
          <a:ln>
            <a:noFill/>
          </a:ln>
        </p:spPr>
        <p:txBody>
          <a:bodyPr wrap="square" rtlCol="0">
            <a:spAutoFit/>
          </a:bodyPr>
          <a:lstStyle/>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การฟื้นตัวของภาคการผลิตในรอบนี้ไม่ได้จำกัดอยู่เพียงสหรัฐฯ แต่เป็นการฟื้นตัวในลักษณะ </a:t>
            </a:r>
            <a:r>
              <a:rPr lang="en-US" sz="1000" b="1" dirty="0">
                <a:solidFill>
                  <a:schemeClr val="tx1">
                    <a:lumMod val="65000"/>
                    <a:lumOff val="35000"/>
                  </a:schemeClr>
                </a:solidFill>
                <a:latin typeface="BLS Text" pitchFamily="2" charset="-34"/>
                <a:cs typeface="BLS Text" pitchFamily="2" charset="-34"/>
              </a:rPr>
              <a:t>broad-based </a:t>
            </a:r>
            <a:r>
              <a:rPr lang="th-TH" sz="1000" b="1" dirty="0">
                <a:solidFill>
                  <a:schemeClr val="tx1">
                    <a:lumMod val="65000"/>
                    <a:lumOff val="35000"/>
                  </a:schemeClr>
                </a:solidFill>
                <a:latin typeface="BLS Text" pitchFamily="2" charset="-34"/>
                <a:cs typeface="BLS Text" pitchFamily="2" charset="-34"/>
              </a:rPr>
              <a:t>ทั่วโลก </a:t>
            </a:r>
            <a:r>
              <a:rPr lang="th-TH" sz="1000" dirty="0">
                <a:solidFill>
                  <a:schemeClr val="tx1">
                    <a:lumMod val="65000"/>
                    <a:lumOff val="35000"/>
                  </a:schemeClr>
                </a:solidFill>
                <a:latin typeface="BLS Text" pitchFamily="2" charset="-34"/>
                <a:cs typeface="BLS Text" pitchFamily="2" charset="-34"/>
              </a:rPr>
              <a:t>โดยสะท้อนผ่านดัชนี </a:t>
            </a:r>
            <a:r>
              <a:rPr lang="en-US" sz="1000" dirty="0">
                <a:solidFill>
                  <a:schemeClr val="tx1">
                    <a:lumMod val="65000"/>
                    <a:lumOff val="35000"/>
                  </a:schemeClr>
                </a:solidFill>
                <a:latin typeface="BLS Text" pitchFamily="2" charset="-34"/>
                <a:cs typeface="BLS Text" pitchFamily="2" charset="-34"/>
              </a:rPr>
              <a:t>Global PMI New Orders </a:t>
            </a:r>
            <a:r>
              <a:rPr lang="th-TH" sz="1000" dirty="0">
                <a:solidFill>
                  <a:schemeClr val="tx1">
                    <a:lumMod val="65000"/>
                    <a:lumOff val="35000"/>
                  </a:schemeClr>
                </a:solidFill>
                <a:latin typeface="BLS Text" pitchFamily="2" charset="-34"/>
                <a:cs typeface="BLS Text" pitchFamily="2" charset="-34"/>
              </a:rPr>
              <a:t>ที่ปรับตัวดีขึ้นพร้อมกันในหลายภูมิภาค และหลายอุตสาหกรรมกลับเข้าสู่ระดับขยายตัว (เหนือ 50) ขณะเดียวกัน โมเมนตัมระยะสั้น (3 เดือน) เป็นบวกในวงกว้าง สะท้อนว่าอุปสงค์กำลังเร่งตัวขึ้นอย่างพร้อมเพรียง ซึ่งโดยปกติจะเป็นสัญญาณของการเข้าสู่ช่วงต้นของวัฏจักรการผลิตใหม่ (</a:t>
            </a:r>
            <a:r>
              <a:rPr lang="en-US" sz="1000" dirty="0">
                <a:solidFill>
                  <a:schemeClr val="tx1">
                    <a:lumMod val="65000"/>
                    <a:lumOff val="35000"/>
                  </a:schemeClr>
                </a:solidFill>
                <a:latin typeface="BLS Text" pitchFamily="2" charset="-34"/>
                <a:cs typeface="BLS Text" pitchFamily="2" charset="-34"/>
              </a:rPr>
              <a:t>early-cycle recovery) </a:t>
            </a: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ภายใต้ภาพดังกล่าว กลุ่มปิโตรเคมีถือเป็นหนึ่งในกลุ่มที่ตอบสนองต่อวัฏจักรนี้เร็วที่สุด โดยล่าสุด </a:t>
            </a:r>
            <a:r>
              <a:rPr lang="en-US" sz="1000" dirty="0">
                <a:solidFill>
                  <a:schemeClr val="tx1">
                    <a:lumMod val="65000"/>
                    <a:lumOff val="35000"/>
                  </a:schemeClr>
                </a:solidFill>
                <a:latin typeface="BLS Text" pitchFamily="2" charset="-34"/>
                <a:cs typeface="BLS Text" pitchFamily="2" charset="-34"/>
              </a:rPr>
              <a:t>PMI New Orders </a:t>
            </a:r>
            <a:r>
              <a:rPr lang="th-TH" sz="1000" dirty="0">
                <a:solidFill>
                  <a:schemeClr val="tx1">
                    <a:lumMod val="65000"/>
                    <a:lumOff val="35000"/>
                  </a:schemeClr>
                </a:solidFill>
                <a:latin typeface="BLS Text" pitchFamily="2" charset="-34"/>
                <a:cs typeface="BLS Text" pitchFamily="2" charset="-34"/>
              </a:rPr>
              <a:t>ของกลุ่ม </a:t>
            </a:r>
            <a:r>
              <a:rPr lang="en-US" sz="1000" dirty="0">
                <a:solidFill>
                  <a:schemeClr val="tx1">
                    <a:lumMod val="65000"/>
                    <a:lumOff val="35000"/>
                  </a:schemeClr>
                </a:solidFill>
                <a:latin typeface="BLS Text" pitchFamily="2" charset="-34"/>
                <a:cs typeface="BLS Text" pitchFamily="2" charset="-34"/>
              </a:rPr>
              <a:t>Chemical </a:t>
            </a:r>
            <a:r>
              <a:rPr lang="th-TH" sz="1000" dirty="0">
                <a:solidFill>
                  <a:schemeClr val="tx1">
                    <a:lumMod val="65000"/>
                    <a:lumOff val="35000"/>
                  </a:schemeClr>
                </a:solidFill>
                <a:latin typeface="BLS Text" pitchFamily="2" charset="-34"/>
                <a:cs typeface="BLS Text" pitchFamily="2" charset="-34"/>
              </a:rPr>
              <a:t>พลิกกลับขึ้นมายืนเหนือระดับ 50 จากที่อยู่ในโซนหดตัวก่อนหน้า สะท้อนการฟื้นตัวของอุปสงค์ในห่วงโซ่อุตสาหกรรมปลายน้ำ เมื่อผสานกับภาวะอุปทานที่ยังตึงตัวและ </a:t>
            </a:r>
            <a:r>
              <a:rPr lang="en-US" sz="1000" dirty="0">
                <a:solidFill>
                  <a:schemeClr val="tx1">
                    <a:lumMod val="65000"/>
                    <a:lumOff val="35000"/>
                  </a:schemeClr>
                </a:solidFill>
                <a:latin typeface="BLS Text" pitchFamily="2" charset="-34"/>
                <a:cs typeface="BLS Text" pitchFamily="2" charset="-34"/>
              </a:rPr>
              <a:t>spread </a:t>
            </a:r>
            <a:r>
              <a:rPr lang="th-TH" sz="1000" dirty="0">
                <a:solidFill>
                  <a:schemeClr val="tx1">
                    <a:lumMod val="65000"/>
                    <a:lumOff val="35000"/>
                  </a:schemeClr>
                </a:solidFill>
                <a:latin typeface="BLS Text" pitchFamily="2" charset="-34"/>
                <a:cs typeface="BLS Text" pitchFamily="2" charset="-34"/>
              </a:rPr>
              <a:t>ที่อยู่ในระดับต่ำก่อนหน้า จึงมีโอกาสเห็นการขยายตัวของ </a:t>
            </a:r>
            <a:r>
              <a:rPr lang="en-US" sz="1000" dirty="0">
                <a:solidFill>
                  <a:schemeClr val="tx1">
                    <a:lumMod val="65000"/>
                    <a:lumOff val="35000"/>
                  </a:schemeClr>
                </a:solidFill>
                <a:latin typeface="BLS Text" pitchFamily="2" charset="-34"/>
                <a:cs typeface="BLS Text" pitchFamily="2" charset="-34"/>
              </a:rPr>
              <a:t>margin </a:t>
            </a:r>
            <a:r>
              <a:rPr lang="th-TH" sz="1000" dirty="0">
                <a:solidFill>
                  <a:schemeClr val="tx1">
                    <a:lumMod val="65000"/>
                    <a:lumOff val="35000"/>
                  </a:schemeClr>
                </a:solidFill>
                <a:latin typeface="BLS Text" pitchFamily="2" charset="-34"/>
                <a:cs typeface="BLS Text" pitchFamily="2" charset="-34"/>
              </a:rPr>
              <a:t>ในระยะถัดไป นำไปสู่การฟื้นตัวของกำไรและ </a:t>
            </a:r>
            <a:r>
              <a:rPr lang="en-US" sz="1000" dirty="0">
                <a:solidFill>
                  <a:schemeClr val="tx1">
                    <a:lumMod val="65000"/>
                    <a:lumOff val="35000"/>
                  </a:schemeClr>
                </a:solidFill>
                <a:latin typeface="BLS Text" pitchFamily="2" charset="-34"/>
                <a:cs typeface="BLS Text" pitchFamily="2" charset="-34"/>
              </a:rPr>
              <a:t>valuation </a:t>
            </a:r>
            <a:r>
              <a:rPr lang="th-TH" sz="1000" dirty="0">
                <a:solidFill>
                  <a:schemeClr val="tx1">
                    <a:lumMod val="65000"/>
                    <a:lumOff val="35000"/>
                  </a:schemeClr>
                </a:solidFill>
                <a:latin typeface="BLS Text" pitchFamily="2" charset="-34"/>
                <a:cs typeface="BLS Text" pitchFamily="2" charset="-34"/>
              </a:rPr>
              <a:t>ตามวัฏจักรการผลิตโลกที่กำลังกลับมาอีกครั้ง</a:t>
            </a:r>
          </a:p>
        </p:txBody>
      </p:sp>
    </p:spTree>
    <p:extLst>
      <p:ext uri="{BB962C8B-B14F-4D97-AF65-F5344CB8AC3E}">
        <p14:creationId xmlns:p14="http://schemas.microsoft.com/office/powerpoint/2010/main" val="803161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2" name="TextBox 1">
            <a:extLst>
              <a:ext uri="{FF2B5EF4-FFF2-40B4-BE49-F238E27FC236}">
                <a16:creationId xmlns:a16="http://schemas.microsoft.com/office/drawing/2014/main" id="{DF7710F9-7B03-D47B-016D-DB8140DA5BDC}"/>
              </a:ext>
            </a:extLst>
          </p:cNvPr>
          <p:cNvSpPr txBox="1"/>
          <p:nvPr/>
        </p:nvSpPr>
        <p:spPr>
          <a:xfrm>
            <a:off x="188640" y="827584"/>
            <a:ext cx="6344324" cy="923330"/>
          </a:xfrm>
          <a:prstGeom prst="rect">
            <a:avLst/>
          </a:prstGeom>
          <a:noFill/>
        </p:spPr>
        <p:txBody>
          <a:bodyPr wrap="square">
            <a:spAutoFit/>
          </a:bodyPr>
          <a:lstStyle/>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กลุ่มหุ้นวัฏจักรจะเป็นแรงหนุนสำคัญ</a:t>
            </a:r>
            <a:endParaRPr lang="en-US" altLang="en-US" dirty="0">
              <a:solidFill>
                <a:schemeClr val="accent2"/>
              </a:solidFill>
              <a:latin typeface="BLS Condensed Bold" panose="00000800000000000000" pitchFamily="2" charset="-34"/>
              <a:ea typeface="Tahoma" pitchFamily="34" charset="0"/>
              <a:cs typeface="BLS Condensed Bold" panose="00000800000000000000" pitchFamily="2" charset="-34"/>
            </a:endParaRPr>
          </a:p>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ทิศทางกำไร และ </a:t>
            </a:r>
            <a:r>
              <a:rPr lang="en-US" altLang="en-US" dirty="0">
                <a:solidFill>
                  <a:schemeClr val="accent2"/>
                </a:solidFill>
                <a:latin typeface="BLS Condensed Bold" panose="00000800000000000000" pitchFamily="2" charset="-34"/>
                <a:ea typeface="Tahoma" pitchFamily="34" charset="0"/>
                <a:cs typeface="BLS Condensed Bold" panose="00000800000000000000" pitchFamily="2" charset="-34"/>
              </a:rPr>
              <a:t>ROE </a:t>
            </a: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ของกลุ่มพลังงานต้นน้ำ โรงกลั่น และปิโตรฯ </a:t>
            </a:r>
            <a:endParaRPr lang="en-US" altLang="en-US" dirty="0">
              <a:solidFill>
                <a:schemeClr val="accent2"/>
              </a:solidFill>
              <a:latin typeface="BLS Condensed Bold" panose="00000800000000000000" pitchFamily="2" charset="-34"/>
              <a:ea typeface="Tahoma" pitchFamily="34" charset="0"/>
              <a:cs typeface="BLS Condensed Bold" panose="00000800000000000000" pitchFamily="2" charset="-34"/>
            </a:endParaRPr>
          </a:p>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มักเข้าสู่ขาขึ้น </a:t>
            </a:r>
          </a:p>
        </p:txBody>
      </p:sp>
      <p:pic>
        <p:nvPicPr>
          <p:cNvPr id="4" name="Picture 3">
            <a:extLst>
              <a:ext uri="{FF2B5EF4-FFF2-40B4-BE49-F238E27FC236}">
                <a16:creationId xmlns:a16="http://schemas.microsoft.com/office/drawing/2014/main" id="{3374D814-D365-8C3D-981D-FA22E227B69B}"/>
              </a:ext>
            </a:extLst>
          </p:cNvPr>
          <p:cNvPicPr>
            <a:picLocks noChangeAspect="1"/>
          </p:cNvPicPr>
          <p:nvPr/>
        </p:nvPicPr>
        <p:blipFill>
          <a:blip r:embed="rId7"/>
          <a:stretch>
            <a:fillRect/>
          </a:stretch>
        </p:blipFill>
        <p:spPr>
          <a:xfrm>
            <a:off x="144860" y="1979712"/>
            <a:ext cx="3284140" cy="1973645"/>
          </a:xfrm>
          <a:prstGeom prst="rect">
            <a:avLst/>
          </a:prstGeom>
        </p:spPr>
      </p:pic>
      <p:pic>
        <p:nvPicPr>
          <p:cNvPr id="23" name="Picture 22">
            <a:extLst>
              <a:ext uri="{FF2B5EF4-FFF2-40B4-BE49-F238E27FC236}">
                <a16:creationId xmlns:a16="http://schemas.microsoft.com/office/drawing/2014/main" id="{0EA1CA7E-3798-307A-E8BD-24153BFAE2EC}"/>
              </a:ext>
            </a:extLst>
          </p:cNvPr>
          <p:cNvPicPr>
            <a:picLocks noChangeAspect="1"/>
          </p:cNvPicPr>
          <p:nvPr/>
        </p:nvPicPr>
        <p:blipFill>
          <a:blip r:embed="rId8"/>
          <a:stretch>
            <a:fillRect/>
          </a:stretch>
        </p:blipFill>
        <p:spPr>
          <a:xfrm>
            <a:off x="3573860" y="2196445"/>
            <a:ext cx="3075293" cy="1464809"/>
          </a:xfrm>
          <a:prstGeom prst="rect">
            <a:avLst/>
          </a:prstGeom>
        </p:spPr>
      </p:pic>
      <p:sp>
        <p:nvSpPr>
          <p:cNvPr id="16" name="TextBox 15">
            <a:extLst>
              <a:ext uri="{FF2B5EF4-FFF2-40B4-BE49-F238E27FC236}">
                <a16:creationId xmlns:a16="http://schemas.microsoft.com/office/drawing/2014/main" id="{5BC5EC73-C158-4522-8EA3-0470D38883B7}"/>
              </a:ext>
            </a:extLst>
          </p:cNvPr>
          <p:cNvSpPr txBox="1">
            <a:spLocks noChangeArrowheads="1"/>
          </p:cNvSpPr>
          <p:nvPr/>
        </p:nvSpPr>
        <p:spPr bwMode="auto">
          <a:xfrm>
            <a:off x="382301" y="8419782"/>
            <a:ext cx="31090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600" dirty="0">
                <a:solidFill>
                  <a:srgbClr val="404040"/>
                </a:solidFill>
                <a:latin typeface="BLS Condensed" pitchFamily="2" charset="-34"/>
                <a:cs typeface="BLS Condensed" pitchFamily="2" charset="-34"/>
              </a:rPr>
              <a:t>Source: Bloomberg,</a:t>
            </a:r>
            <a:r>
              <a:rPr lang="th-TH" sz="600" dirty="0">
                <a:solidFill>
                  <a:srgbClr val="404040"/>
                </a:solidFill>
                <a:latin typeface="BLS Condensed" pitchFamily="2" charset="-34"/>
                <a:cs typeface="BLS Condensed" pitchFamily="2" charset="-34"/>
              </a:rPr>
              <a:t> </a:t>
            </a:r>
            <a:r>
              <a:rPr lang="en-US" sz="600" dirty="0" err="1">
                <a:solidFill>
                  <a:srgbClr val="404040"/>
                </a:solidFill>
                <a:latin typeface="BLS Condensed" pitchFamily="2" charset="-34"/>
                <a:cs typeface="BLS Condensed" pitchFamily="2" charset="-34"/>
              </a:rPr>
              <a:t>Bualuang</a:t>
            </a:r>
            <a:r>
              <a:rPr lang="en-US" sz="600" dirty="0">
                <a:solidFill>
                  <a:srgbClr val="404040"/>
                </a:solidFill>
                <a:latin typeface="BLS Condensed" pitchFamily="2" charset="-34"/>
                <a:cs typeface="BLS Condensed" pitchFamily="2" charset="-34"/>
              </a:rPr>
              <a:t> Research </a:t>
            </a:r>
          </a:p>
        </p:txBody>
      </p:sp>
      <p:cxnSp>
        <p:nvCxnSpPr>
          <p:cNvPr id="20" name="Straight Connector 19">
            <a:extLst>
              <a:ext uri="{FF2B5EF4-FFF2-40B4-BE49-F238E27FC236}">
                <a16:creationId xmlns:a16="http://schemas.microsoft.com/office/drawing/2014/main" id="{F4915A1D-57DC-D3FB-CC72-71B4C0BD42F1}"/>
              </a:ext>
            </a:extLst>
          </p:cNvPr>
          <p:cNvCxnSpPr>
            <a:cxnSpLocks/>
          </p:cNvCxnSpPr>
          <p:nvPr/>
        </p:nvCxnSpPr>
        <p:spPr>
          <a:xfrm>
            <a:off x="320593" y="8419782"/>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51DCB690-99C0-5BC4-6732-289D310D74DC}"/>
              </a:ext>
            </a:extLst>
          </p:cNvPr>
          <p:cNvPicPr>
            <a:picLocks noChangeAspect="1"/>
          </p:cNvPicPr>
          <p:nvPr/>
        </p:nvPicPr>
        <p:blipFill>
          <a:blip r:embed="rId9"/>
          <a:stretch>
            <a:fillRect/>
          </a:stretch>
        </p:blipFill>
        <p:spPr>
          <a:xfrm>
            <a:off x="382300" y="4142277"/>
            <a:ext cx="6397225" cy="4230669"/>
          </a:xfrm>
          <a:prstGeom prst="rect">
            <a:avLst/>
          </a:prstGeom>
        </p:spPr>
      </p:pic>
      <p:sp>
        <p:nvSpPr>
          <p:cNvPr id="28" name="TextBox 27">
            <a:extLst>
              <a:ext uri="{FF2B5EF4-FFF2-40B4-BE49-F238E27FC236}">
                <a16:creationId xmlns:a16="http://schemas.microsoft.com/office/drawing/2014/main" id="{978A0FCD-09CC-A414-44BE-3B01A19B1920}"/>
              </a:ext>
            </a:extLst>
          </p:cNvPr>
          <p:cNvSpPr txBox="1"/>
          <p:nvPr/>
        </p:nvSpPr>
        <p:spPr>
          <a:xfrm>
            <a:off x="4910720" y="4310390"/>
            <a:ext cx="1419471" cy="461665"/>
          </a:xfrm>
          <a:prstGeom prst="rect">
            <a:avLst/>
          </a:prstGeom>
          <a:noFill/>
        </p:spPr>
        <p:txBody>
          <a:bodyPr wrap="square">
            <a:spAutoFit/>
          </a:bodyPr>
          <a:lstStyle/>
          <a:p>
            <a:pPr algn="r"/>
            <a:r>
              <a:rPr lang="th-TH" altLang="en-US" sz="12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ดัชนีภาค</a:t>
            </a:r>
          </a:p>
          <a:p>
            <a:pPr algn="r"/>
            <a:r>
              <a:rPr lang="th-TH" altLang="en-US" sz="12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การผลิตสหรัฐฯ</a:t>
            </a:r>
            <a:endParaRPr lang="en-US" altLang="en-US" sz="12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endParaRPr>
          </a:p>
        </p:txBody>
      </p:sp>
      <p:sp>
        <p:nvSpPr>
          <p:cNvPr id="29" name="TextBox 28">
            <a:extLst>
              <a:ext uri="{FF2B5EF4-FFF2-40B4-BE49-F238E27FC236}">
                <a16:creationId xmlns:a16="http://schemas.microsoft.com/office/drawing/2014/main" id="{CD6EE6C4-597F-6DB9-6562-E977D344FDBF}"/>
              </a:ext>
            </a:extLst>
          </p:cNvPr>
          <p:cNvSpPr txBox="1"/>
          <p:nvPr/>
        </p:nvSpPr>
        <p:spPr>
          <a:xfrm>
            <a:off x="4725144" y="5652120"/>
            <a:ext cx="1605047" cy="430887"/>
          </a:xfrm>
          <a:prstGeom prst="rect">
            <a:avLst/>
          </a:prstGeom>
          <a:noFill/>
        </p:spPr>
        <p:txBody>
          <a:bodyPr wrap="square">
            <a:spAutoFit/>
          </a:bodyPr>
          <a:lstStyle/>
          <a:p>
            <a:pPr algn="r"/>
            <a:r>
              <a:rPr lang="th-TH"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ประมาณการณ์</a:t>
            </a:r>
            <a:r>
              <a:rPr lang="en-US"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 </a:t>
            </a:r>
            <a:r>
              <a:rPr lang="th-TH"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กำไร-</a:t>
            </a:r>
            <a:r>
              <a:rPr lang="en-US"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ROE</a:t>
            </a:r>
          </a:p>
          <a:p>
            <a:pPr algn="r"/>
            <a:r>
              <a:rPr lang="th-TH"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กลุ่มพลังงาน</a:t>
            </a:r>
            <a:endParaRPr lang="en-US"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endParaRPr>
          </a:p>
        </p:txBody>
      </p:sp>
      <p:sp>
        <p:nvSpPr>
          <p:cNvPr id="8" name="TextBox 7">
            <a:extLst>
              <a:ext uri="{FF2B5EF4-FFF2-40B4-BE49-F238E27FC236}">
                <a16:creationId xmlns:a16="http://schemas.microsoft.com/office/drawing/2014/main" id="{7452BD30-B07B-167E-7B30-987CF50B75D0}"/>
              </a:ext>
            </a:extLst>
          </p:cNvPr>
          <p:cNvSpPr txBox="1"/>
          <p:nvPr/>
        </p:nvSpPr>
        <p:spPr>
          <a:xfrm>
            <a:off x="286492" y="1844581"/>
            <a:ext cx="6126480"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9: </a:t>
            </a:r>
            <a:r>
              <a:rPr lang="th-TH" sz="800" b="1" dirty="0">
                <a:solidFill>
                  <a:schemeClr val="tx1">
                    <a:lumMod val="95000"/>
                    <a:lumOff val="5000"/>
                  </a:schemeClr>
                </a:solidFill>
                <a:latin typeface="BLS Condensed" pitchFamily="2" charset="-34"/>
                <a:ea typeface="Tahoma" pitchFamily="34" charset="0"/>
                <a:cs typeface="BLS Condensed" pitchFamily="2" charset="-34"/>
              </a:rPr>
              <a:t>สัดส่วนกำไรของหุ้นพลังงาน และปิโตรในช่วงภาคการผลิตโลกขยายตัวเพิ่มขึ้นอยู่เฉลี่ยที่ 36% ของกำไรทั้งหมด เทียบค่าเฉลี่ยระยะยาวที่ 28% </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13" name="Straight Connector 12">
            <a:extLst>
              <a:ext uri="{FF2B5EF4-FFF2-40B4-BE49-F238E27FC236}">
                <a16:creationId xmlns:a16="http://schemas.microsoft.com/office/drawing/2014/main" id="{9A60492C-0973-F9C4-35C6-172E035FE8A3}"/>
              </a:ext>
            </a:extLst>
          </p:cNvPr>
          <p:cNvCxnSpPr/>
          <p:nvPr/>
        </p:nvCxnSpPr>
        <p:spPr>
          <a:xfrm>
            <a:off x="305146" y="1835696"/>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FA0CDCD0-A19A-B854-601F-BC7F7DC4C4BA}"/>
              </a:ext>
            </a:extLst>
          </p:cNvPr>
          <p:cNvSpPr txBox="1"/>
          <p:nvPr/>
        </p:nvSpPr>
        <p:spPr>
          <a:xfrm>
            <a:off x="4725144" y="6915665"/>
            <a:ext cx="1605047" cy="430887"/>
          </a:xfrm>
          <a:prstGeom prst="rect">
            <a:avLst/>
          </a:prstGeom>
          <a:noFill/>
        </p:spPr>
        <p:txBody>
          <a:bodyPr wrap="square">
            <a:spAutoFit/>
          </a:bodyPr>
          <a:lstStyle/>
          <a:p>
            <a:pPr algn="r"/>
            <a:r>
              <a:rPr lang="th-TH"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ประมาณการณ์</a:t>
            </a:r>
            <a:r>
              <a:rPr lang="en-US"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 </a:t>
            </a:r>
            <a:r>
              <a:rPr lang="th-TH"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กำไร-</a:t>
            </a:r>
            <a:r>
              <a:rPr lang="en-US"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ROE</a:t>
            </a:r>
          </a:p>
          <a:p>
            <a:pPr algn="r"/>
            <a:r>
              <a:rPr lang="th-TH"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กลุ่มปิโตรฯ</a:t>
            </a:r>
            <a:endParaRPr lang="en-US"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A1A249D0-0F96-FF7F-688D-9AE36E9F5FEE}"/>
              </a:ext>
            </a:extLst>
          </p:cNvPr>
          <p:cNvSpPr txBox="1"/>
          <p:nvPr/>
        </p:nvSpPr>
        <p:spPr>
          <a:xfrm>
            <a:off x="286492" y="3996516"/>
            <a:ext cx="6126480"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10: </a:t>
            </a:r>
            <a:r>
              <a:rPr lang="th-TH" sz="800" b="1" dirty="0">
                <a:solidFill>
                  <a:schemeClr val="tx1">
                    <a:lumMod val="95000"/>
                    <a:lumOff val="5000"/>
                  </a:schemeClr>
                </a:solidFill>
                <a:latin typeface="BLS Condensed" pitchFamily="2" charset="-34"/>
                <a:ea typeface="Tahoma" pitchFamily="34" charset="0"/>
                <a:cs typeface="BLS Condensed" pitchFamily="2" charset="-34"/>
              </a:rPr>
              <a:t>ดัชนีภาคการผลิตสหรัฐฯ และทิศทางกำไร และอัตราผลตอบแทนจากส่วนของผู้ถือหุ้น (</a:t>
            </a:r>
            <a:r>
              <a:rPr lang="en-US" sz="800" b="1" dirty="0">
                <a:solidFill>
                  <a:schemeClr val="tx1">
                    <a:lumMod val="95000"/>
                    <a:lumOff val="5000"/>
                  </a:schemeClr>
                </a:solidFill>
                <a:latin typeface="BLS Condensed" pitchFamily="2" charset="-34"/>
                <a:ea typeface="Tahoma" pitchFamily="34" charset="0"/>
                <a:cs typeface="BLS Condensed" pitchFamily="2" charset="-34"/>
              </a:rPr>
              <a:t>ROE) </a:t>
            </a:r>
            <a:r>
              <a:rPr lang="th-TH" sz="800" b="1" dirty="0">
                <a:solidFill>
                  <a:schemeClr val="tx1">
                    <a:lumMod val="95000"/>
                    <a:lumOff val="5000"/>
                  </a:schemeClr>
                </a:solidFill>
                <a:latin typeface="BLS Condensed" pitchFamily="2" charset="-34"/>
                <a:ea typeface="Tahoma" pitchFamily="34" charset="0"/>
                <a:cs typeface="BLS Condensed" pitchFamily="2" charset="-34"/>
              </a:rPr>
              <a:t>ของกลุ่มพลังงานต้นน้ำ โรงกลั่น และปิโตรฯ </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14" name="Straight Connector 13">
            <a:extLst>
              <a:ext uri="{FF2B5EF4-FFF2-40B4-BE49-F238E27FC236}">
                <a16:creationId xmlns:a16="http://schemas.microsoft.com/office/drawing/2014/main" id="{A0380C90-F904-5925-925C-40655E7ED52F}"/>
              </a:ext>
            </a:extLst>
          </p:cNvPr>
          <p:cNvCxnSpPr/>
          <p:nvPr/>
        </p:nvCxnSpPr>
        <p:spPr>
          <a:xfrm>
            <a:off x="305146" y="3987631"/>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3106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6" name="TextBox 15">
            <a:extLst>
              <a:ext uri="{FF2B5EF4-FFF2-40B4-BE49-F238E27FC236}">
                <a16:creationId xmlns:a16="http://schemas.microsoft.com/office/drawing/2014/main" id="{5BC5EC73-C158-4522-8EA3-0470D38883B7}"/>
              </a:ext>
            </a:extLst>
          </p:cNvPr>
          <p:cNvSpPr txBox="1">
            <a:spLocks noChangeArrowheads="1"/>
          </p:cNvSpPr>
          <p:nvPr/>
        </p:nvSpPr>
        <p:spPr bwMode="auto">
          <a:xfrm>
            <a:off x="382301" y="8419782"/>
            <a:ext cx="31090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600" dirty="0">
                <a:solidFill>
                  <a:srgbClr val="404040"/>
                </a:solidFill>
                <a:latin typeface="BLS Condensed" pitchFamily="2" charset="-34"/>
                <a:cs typeface="BLS Condensed" pitchFamily="2" charset="-34"/>
              </a:rPr>
              <a:t>Source: Bloomberg,</a:t>
            </a:r>
            <a:r>
              <a:rPr lang="th-TH" sz="600" dirty="0">
                <a:solidFill>
                  <a:srgbClr val="404040"/>
                </a:solidFill>
                <a:latin typeface="BLS Condensed" pitchFamily="2" charset="-34"/>
                <a:cs typeface="BLS Condensed" pitchFamily="2" charset="-34"/>
              </a:rPr>
              <a:t> </a:t>
            </a:r>
            <a:r>
              <a:rPr lang="en-US" sz="600" dirty="0" err="1">
                <a:solidFill>
                  <a:srgbClr val="404040"/>
                </a:solidFill>
                <a:latin typeface="BLS Condensed" pitchFamily="2" charset="-34"/>
                <a:cs typeface="BLS Condensed" pitchFamily="2" charset="-34"/>
              </a:rPr>
              <a:t>Bualuang</a:t>
            </a:r>
            <a:r>
              <a:rPr lang="en-US" sz="600" dirty="0">
                <a:solidFill>
                  <a:srgbClr val="404040"/>
                </a:solidFill>
                <a:latin typeface="BLS Condensed" pitchFamily="2" charset="-34"/>
                <a:cs typeface="BLS Condensed" pitchFamily="2" charset="-34"/>
              </a:rPr>
              <a:t> Research </a:t>
            </a:r>
          </a:p>
        </p:txBody>
      </p:sp>
      <p:cxnSp>
        <p:nvCxnSpPr>
          <p:cNvPr id="20" name="Straight Connector 19">
            <a:extLst>
              <a:ext uri="{FF2B5EF4-FFF2-40B4-BE49-F238E27FC236}">
                <a16:creationId xmlns:a16="http://schemas.microsoft.com/office/drawing/2014/main" id="{F4915A1D-57DC-D3FB-CC72-71B4C0BD42F1}"/>
              </a:ext>
            </a:extLst>
          </p:cNvPr>
          <p:cNvCxnSpPr>
            <a:cxnSpLocks/>
          </p:cNvCxnSpPr>
          <p:nvPr/>
        </p:nvCxnSpPr>
        <p:spPr>
          <a:xfrm>
            <a:off x="320593" y="8419782"/>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D233359-C1F4-6278-0D20-221437E155DD}"/>
              </a:ext>
            </a:extLst>
          </p:cNvPr>
          <p:cNvSpPr txBox="1"/>
          <p:nvPr/>
        </p:nvSpPr>
        <p:spPr>
          <a:xfrm>
            <a:off x="188640" y="840358"/>
            <a:ext cx="6344324" cy="923330"/>
          </a:xfrm>
          <a:prstGeom prst="rect">
            <a:avLst/>
          </a:prstGeom>
          <a:noFill/>
        </p:spPr>
        <p:txBody>
          <a:bodyPr wrap="square">
            <a:spAutoFit/>
          </a:bodyPr>
          <a:lstStyle/>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ในวงจรการผลิตโลกขาขึ้น </a:t>
            </a:r>
          </a:p>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ราคาน้ำมัน-ค่าการกลั่น-ส่วนต่างปิโตรฯ มักปรับขึ้น</a:t>
            </a:r>
          </a:p>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หนุนกำไร-</a:t>
            </a:r>
            <a:r>
              <a:rPr lang="en-US" altLang="en-US" dirty="0">
                <a:solidFill>
                  <a:schemeClr val="accent2"/>
                </a:solidFill>
                <a:latin typeface="BLS Condensed Bold" panose="00000800000000000000" pitchFamily="2" charset="-34"/>
                <a:ea typeface="Tahoma" pitchFamily="34" charset="0"/>
                <a:cs typeface="BLS Condensed Bold" panose="00000800000000000000" pitchFamily="2" charset="-34"/>
              </a:rPr>
              <a:t>ROE</a:t>
            </a: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 กลุ่มพลังงานต้นน้ำ โรงกลั่น และปิโตรฯ</a:t>
            </a:r>
          </a:p>
        </p:txBody>
      </p:sp>
      <p:pic>
        <p:nvPicPr>
          <p:cNvPr id="5" name="Picture 4">
            <a:extLst>
              <a:ext uri="{FF2B5EF4-FFF2-40B4-BE49-F238E27FC236}">
                <a16:creationId xmlns:a16="http://schemas.microsoft.com/office/drawing/2014/main" id="{0E236006-EA1E-A769-5C07-67D72563E4FE}"/>
              </a:ext>
            </a:extLst>
          </p:cNvPr>
          <p:cNvPicPr>
            <a:picLocks noChangeAspect="1"/>
          </p:cNvPicPr>
          <p:nvPr/>
        </p:nvPicPr>
        <p:blipFill>
          <a:blip r:embed="rId7"/>
          <a:stretch>
            <a:fillRect/>
          </a:stretch>
        </p:blipFill>
        <p:spPr>
          <a:xfrm>
            <a:off x="188640" y="2049339"/>
            <a:ext cx="6552728" cy="6289074"/>
          </a:xfrm>
          <a:prstGeom prst="rect">
            <a:avLst/>
          </a:prstGeom>
        </p:spPr>
      </p:pic>
      <p:sp>
        <p:nvSpPr>
          <p:cNvPr id="7" name="TextBox 6">
            <a:extLst>
              <a:ext uri="{FF2B5EF4-FFF2-40B4-BE49-F238E27FC236}">
                <a16:creationId xmlns:a16="http://schemas.microsoft.com/office/drawing/2014/main" id="{4BD3F856-C039-EC25-1AEE-59D099F49A80}"/>
              </a:ext>
            </a:extLst>
          </p:cNvPr>
          <p:cNvSpPr txBox="1"/>
          <p:nvPr/>
        </p:nvSpPr>
        <p:spPr>
          <a:xfrm>
            <a:off x="4797152" y="2191534"/>
            <a:ext cx="1419471" cy="461665"/>
          </a:xfrm>
          <a:prstGeom prst="rect">
            <a:avLst/>
          </a:prstGeom>
          <a:noFill/>
        </p:spPr>
        <p:txBody>
          <a:bodyPr wrap="square">
            <a:spAutoFit/>
          </a:bodyPr>
          <a:lstStyle/>
          <a:p>
            <a:pPr algn="r"/>
            <a:r>
              <a:rPr lang="th-TH" altLang="en-US" sz="12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ดัชนีภาค</a:t>
            </a:r>
          </a:p>
          <a:p>
            <a:pPr algn="r"/>
            <a:r>
              <a:rPr lang="th-TH" altLang="en-US" sz="12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การผลิตสหรัฐฯ</a:t>
            </a:r>
            <a:endParaRPr lang="en-US" altLang="en-US" sz="12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endParaRPr>
          </a:p>
        </p:txBody>
      </p:sp>
      <p:sp>
        <p:nvSpPr>
          <p:cNvPr id="29" name="TextBox 28">
            <a:extLst>
              <a:ext uri="{FF2B5EF4-FFF2-40B4-BE49-F238E27FC236}">
                <a16:creationId xmlns:a16="http://schemas.microsoft.com/office/drawing/2014/main" id="{CD6EE6C4-597F-6DB9-6562-E977D344FDBF}"/>
              </a:ext>
            </a:extLst>
          </p:cNvPr>
          <p:cNvSpPr txBox="1"/>
          <p:nvPr/>
        </p:nvSpPr>
        <p:spPr>
          <a:xfrm>
            <a:off x="4920479" y="3563888"/>
            <a:ext cx="1296144" cy="769441"/>
          </a:xfrm>
          <a:prstGeom prst="rect">
            <a:avLst/>
          </a:prstGeom>
          <a:noFill/>
        </p:spPr>
        <p:txBody>
          <a:bodyPr wrap="square">
            <a:spAutoFit/>
          </a:bodyPr>
          <a:lstStyle/>
          <a:p>
            <a:pPr algn="r"/>
            <a:r>
              <a:rPr lang="th-TH"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ประมาณการณ์กำไรกลุ่มพลังงาน</a:t>
            </a:r>
          </a:p>
          <a:p>
            <a:pPr algn="r"/>
            <a:r>
              <a:rPr lang="th-TH"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ราคาน้ำมัน</a:t>
            </a:r>
          </a:p>
          <a:p>
            <a:pPr algn="r"/>
            <a:endParaRPr lang="en-US"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endParaRPr>
          </a:p>
        </p:txBody>
      </p:sp>
      <p:sp>
        <p:nvSpPr>
          <p:cNvPr id="11" name="TextBox 10">
            <a:extLst>
              <a:ext uri="{FF2B5EF4-FFF2-40B4-BE49-F238E27FC236}">
                <a16:creationId xmlns:a16="http://schemas.microsoft.com/office/drawing/2014/main" id="{5EECC307-BDC0-F607-1775-3711AA839B42}"/>
              </a:ext>
            </a:extLst>
          </p:cNvPr>
          <p:cNvSpPr txBox="1"/>
          <p:nvPr/>
        </p:nvSpPr>
        <p:spPr>
          <a:xfrm>
            <a:off x="4920479" y="4881904"/>
            <a:ext cx="1296144" cy="769441"/>
          </a:xfrm>
          <a:prstGeom prst="rect">
            <a:avLst/>
          </a:prstGeom>
          <a:noFill/>
        </p:spPr>
        <p:txBody>
          <a:bodyPr wrap="square">
            <a:spAutoFit/>
          </a:bodyPr>
          <a:lstStyle/>
          <a:p>
            <a:pPr algn="r"/>
            <a:r>
              <a:rPr lang="th-TH"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ประมาณการณ์กำไรกลุ่มพลังงาน</a:t>
            </a:r>
          </a:p>
          <a:p>
            <a:pPr algn="r"/>
            <a:r>
              <a:rPr lang="th-TH"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ค่าการกลั่น</a:t>
            </a:r>
          </a:p>
          <a:p>
            <a:pPr algn="r"/>
            <a:endParaRPr lang="en-US"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endParaRPr>
          </a:p>
        </p:txBody>
      </p:sp>
      <p:sp>
        <p:nvSpPr>
          <p:cNvPr id="15" name="TextBox 14">
            <a:extLst>
              <a:ext uri="{FF2B5EF4-FFF2-40B4-BE49-F238E27FC236}">
                <a16:creationId xmlns:a16="http://schemas.microsoft.com/office/drawing/2014/main" id="{BB30677C-6862-9749-9643-87BB99AC36C6}"/>
              </a:ext>
            </a:extLst>
          </p:cNvPr>
          <p:cNvSpPr txBox="1"/>
          <p:nvPr/>
        </p:nvSpPr>
        <p:spPr>
          <a:xfrm>
            <a:off x="4920479" y="6477926"/>
            <a:ext cx="1296144" cy="600164"/>
          </a:xfrm>
          <a:prstGeom prst="rect">
            <a:avLst/>
          </a:prstGeom>
          <a:noFill/>
        </p:spPr>
        <p:txBody>
          <a:bodyPr wrap="square">
            <a:spAutoFit/>
          </a:bodyPr>
          <a:lstStyle/>
          <a:p>
            <a:pPr algn="r"/>
            <a:r>
              <a:rPr lang="th-TH"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ประมาณการณ์กำไรกลุ่มปิโตรฯ</a:t>
            </a:r>
          </a:p>
          <a:p>
            <a:pPr algn="r"/>
            <a:r>
              <a:rPr lang="en-US" altLang="en-US" sz="1100" dirty="0">
                <a:solidFill>
                  <a:schemeClr val="tx1">
                    <a:lumMod val="75000"/>
                    <a:lumOff val="25000"/>
                  </a:schemeClr>
                </a:solidFill>
                <a:latin typeface="BLS Condensed Bold" panose="00000800000000000000" pitchFamily="2" charset="-34"/>
                <a:ea typeface="Tahoma" pitchFamily="34" charset="0"/>
                <a:cs typeface="BLS Condensed Bold" panose="00000800000000000000" pitchFamily="2" charset="-34"/>
              </a:rPr>
              <a:t>HDPE spread</a:t>
            </a:r>
          </a:p>
        </p:txBody>
      </p:sp>
      <p:sp>
        <p:nvSpPr>
          <p:cNvPr id="9" name="TextBox 8">
            <a:extLst>
              <a:ext uri="{FF2B5EF4-FFF2-40B4-BE49-F238E27FC236}">
                <a16:creationId xmlns:a16="http://schemas.microsoft.com/office/drawing/2014/main" id="{A1A249D0-0F96-FF7F-688D-9AE36E9F5FEE}"/>
              </a:ext>
            </a:extLst>
          </p:cNvPr>
          <p:cNvSpPr txBox="1"/>
          <p:nvPr/>
        </p:nvSpPr>
        <p:spPr>
          <a:xfrm>
            <a:off x="286492" y="1916589"/>
            <a:ext cx="6126480"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11: </a:t>
            </a:r>
            <a:r>
              <a:rPr lang="th-TH" sz="800" b="1" dirty="0">
                <a:solidFill>
                  <a:schemeClr val="tx1">
                    <a:lumMod val="95000"/>
                    <a:lumOff val="5000"/>
                  </a:schemeClr>
                </a:solidFill>
                <a:latin typeface="BLS Condensed" pitchFamily="2" charset="-34"/>
                <a:ea typeface="Tahoma" pitchFamily="34" charset="0"/>
                <a:cs typeface="BLS Condensed" pitchFamily="2" charset="-34"/>
              </a:rPr>
              <a:t>ดัชนีภาคการผลิตสหรัฐฯ และราคาน้ำมัน-ค่าการกลั่น-ส่วนต่างปิโตรฯ </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14" name="Straight Connector 13">
            <a:extLst>
              <a:ext uri="{FF2B5EF4-FFF2-40B4-BE49-F238E27FC236}">
                <a16:creationId xmlns:a16="http://schemas.microsoft.com/office/drawing/2014/main" id="{A0380C90-F904-5925-925C-40655E7ED52F}"/>
              </a:ext>
            </a:extLst>
          </p:cNvPr>
          <p:cNvCxnSpPr/>
          <p:nvPr/>
        </p:nvCxnSpPr>
        <p:spPr>
          <a:xfrm>
            <a:off x="305146" y="190770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1050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6" name="TextBox 15">
            <a:extLst>
              <a:ext uri="{FF2B5EF4-FFF2-40B4-BE49-F238E27FC236}">
                <a16:creationId xmlns:a16="http://schemas.microsoft.com/office/drawing/2014/main" id="{5BC5EC73-C158-4522-8EA3-0470D38883B7}"/>
              </a:ext>
            </a:extLst>
          </p:cNvPr>
          <p:cNvSpPr txBox="1">
            <a:spLocks noChangeArrowheads="1"/>
          </p:cNvSpPr>
          <p:nvPr/>
        </p:nvSpPr>
        <p:spPr bwMode="auto">
          <a:xfrm>
            <a:off x="382301" y="8419782"/>
            <a:ext cx="31090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600" dirty="0">
                <a:solidFill>
                  <a:srgbClr val="404040"/>
                </a:solidFill>
                <a:latin typeface="BLS Condensed" pitchFamily="2" charset="-34"/>
                <a:cs typeface="BLS Condensed" pitchFamily="2" charset="-34"/>
              </a:rPr>
              <a:t>Source: Bloomberg,</a:t>
            </a:r>
            <a:r>
              <a:rPr lang="th-TH" sz="600" dirty="0">
                <a:solidFill>
                  <a:srgbClr val="404040"/>
                </a:solidFill>
                <a:latin typeface="BLS Condensed" pitchFamily="2" charset="-34"/>
                <a:cs typeface="BLS Condensed" pitchFamily="2" charset="-34"/>
              </a:rPr>
              <a:t> </a:t>
            </a:r>
            <a:r>
              <a:rPr lang="en-US" sz="600" dirty="0" err="1">
                <a:solidFill>
                  <a:srgbClr val="404040"/>
                </a:solidFill>
                <a:latin typeface="BLS Condensed" pitchFamily="2" charset="-34"/>
                <a:cs typeface="BLS Condensed" pitchFamily="2" charset="-34"/>
              </a:rPr>
              <a:t>Bualuang</a:t>
            </a:r>
            <a:r>
              <a:rPr lang="en-US" sz="600" dirty="0">
                <a:solidFill>
                  <a:srgbClr val="404040"/>
                </a:solidFill>
                <a:latin typeface="BLS Condensed" pitchFamily="2" charset="-34"/>
                <a:cs typeface="BLS Condensed" pitchFamily="2" charset="-34"/>
              </a:rPr>
              <a:t> Research </a:t>
            </a:r>
          </a:p>
        </p:txBody>
      </p:sp>
      <p:cxnSp>
        <p:nvCxnSpPr>
          <p:cNvPr id="20" name="Straight Connector 19">
            <a:extLst>
              <a:ext uri="{FF2B5EF4-FFF2-40B4-BE49-F238E27FC236}">
                <a16:creationId xmlns:a16="http://schemas.microsoft.com/office/drawing/2014/main" id="{F4915A1D-57DC-D3FB-CC72-71B4C0BD42F1}"/>
              </a:ext>
            </a:extLst>
          </p:cNvPr>
          <p:cNvCxnSpPr>
            <a:cxnSpLocks/>
          </p:cNvCxnSpPr>
          <p:nvPr/>
        </p:nvCxnSpPr>
        <p:spPr>
          <a:xfrm>
            <a:off x="320593" y="8419782"/>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639C630-D4AA-BD52-1BBE-37760FA9A13C}"/>
              </a:ext>
            </a:extLst>
          </p:cNvPr>
          <p:cNvSpPr txBox="1"/>
          <p:nvPr/>
        </p:nvSpPr>
        <p:spPr>
          <a:xfrm>
            <a:off x="188640" y="840358"/>
            <a:ext cx="6344324" cy="923330"/>
          </a:xfrm>
          <a:prstGeom prst="rect">
            <a:avLst/>
          </a:prstGeom>
          <a:noFill/>
        </p:spPr>
        <p:txBody>
          <a:bodyPr wrap="square">
            <a:spAutoFit/>
          </a:bodyPr>
          <a:lstStyle/>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ราคาน้ำมัน-ค่าการกลั่น-ส่วนต่างปิโตรฯ ขาขึ้น </a:t>
            </a:r>
          </a:p>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หนุนกลุ่มพลังงานต้นน้ำ โรงกลั่น และปิโตรฯ </a:t>
            </a:r>
          </a:p>
          <a:p>
            <a:pPr algn="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เข้าสู่วงจรปรับมูลค่าเพิ่มครั้งใหม่ </a:t>
            </a:r>
            <a:r>
              <a:rPr lang="en-US" altLang="en-US" dirty="0">
                <a:solidFill>
                  <a:schemeClr val="accent2"/>
                </a:solidFill>
                <a:latin typeface="BLS Condensed Bold" panose="00000800000000000000" pitchFamily="2" charset="-34"/>
                <a:ea typeface="Tahoma" pitchFamily="34" charset="0"/>
                <a:cs typeface="BLS Condensed Bold" panose="00000800000000000000" pitchFamily="2" charset="-34"/>
              </a:rPr>
              <a:t>(Valuation re-rating cycle) </a:t>
            </a:r>
            <a:endPar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endParaRPr>
          </a:p>
        </p:txBody>
      </p:sp>
      <p:pic>
        <p:nvPicPr>
          <p:cNvPr id="13" name="Picture 12">
            <a:extLst>
              <a:ext uri="{FF2B5EF4-FFF2-40B4-BE49-F238E27FC236}">
                <a16:creationId xmlns:a16="http://schemas.microsoft.com/office/drawing/2014/main" id="{43E15FEE-11EC-40EB-7EF5-D08169F76439}"/>
              </a:ext>
            </a:extLst>
          </p:cNvPr>
          <p:cNvPicPr>
            <a:picLocks noChangeAspect="1"/>
          </p:cNvPicPr>
          <p:nvPr/>
        </p:nvPicPr>
        <p:blipFill>
          <a:blip r:embed="rId7"/>
          <a:stretch>
            <a:fillRect/>
          </a:stretch>
        </p:blipFill>
        <p:spPr>
          <a:xfrm>
            <a:off x="159793" y="1961771"/>
            <a:ext cx="3269207" cy="1891759"/>
          </a:xfrm>
          <a:prstGeom prst="rect">
            <a:avLst/>
          </a:prstGeom>
        </p:spPr>
      </p:pic>
      <p:pic>
        <p:nvPicPr>
          <p:cNvPr id="17" name="Picture 16">
            <a:extLst>
              <a:ext uri="{FF2B5EF4-FFF2-40B4-BE49-F238E27FC236}">
                <a16:creationId xmlns:a16="http://schemas.microsoft.com/office/drawing/2014/main" id="{D2E3A979-7FC0-B09B-B2FB-AB76ED0AE17A}"/>
              </a:ext>
            </a:extLst>
          </p:cNvPr>
          <p:cNvPicPr>
            <a:picLocks noChangeAspect="1"/>
          </p:cNvPicPr>
          <p:nvPr/>
        </p:nvPicPr>
        <p:blipFill>
          <a:blip r:embed="rId8"/>
          <a:stretch>
            <a:fillRect/>
          </a:stretch>
        </p:blipFill>
        <p:spPr>
          <a:xfrm>
            <a:off x="3523083" y="1961771"/>
            <a:ext cx="3175124" cy="1891760"/>
          </a:xfrm>
          <a:prstGeom prst="rect">
            <a:avLst/>
          </a:prstGeom>
        </p:spPr>
      </p:pic>
      <p:pic>
        <p:nvPicPr>
          <p:cNvPr id="23" name="Picture 22">
            <a:extLst>
              <a:ext uri="{FF2B5EF4-FFF2-40B4-BE49-F238E27FC236}">
                <a16:creationId xmlns:a16="http://schemas.microsoft.com/office/drawing/2014/main" id="{3D57B945-330B-D1AC-5E40-79341ADBA115}"/>
              </a:ext>
            </a:extLst>
          </p:cNvPr>
          <p:cNvPicPr>
            <a:picLocks noChangeAspect="1"/>
          </p:cNvPicPr>
          <p:nvPr/>
        </p:nvPicPr>
        <p:blipFill>
          <a:blip r:embed="rId9"/>
          <a:stretch>
            <a:fillRect/>
          </a:stretch>
        </p:blipFill>
        <p:spPr>
          <a:xfrm>
            <a:off x="159793" y="4239814"/>
            <a:ext cx="3269207" cy="1831538"/>
          </a:xfrm>
          <a:prstGeom prst="rect">
            <a:avLst/>
          </a:prstGeom>
        </p:spPr>
      </p:pic>
      <p:pic>
        <p:nvPicPr>
          <p:cNvPr id="24" name="Picture 23">
            <a:extLst>
              <a:ext uri="{FF2B5EF4-FFF2-40B4-BE49-F238E27FC236}">
                <a16:creationId xmlns:a16="http://schemas.microsoft.com/office/drawing/2014/main" id="{3CA70F31-1524-C861-866F-A4739A14BEF6}"/>
              </a:ext>
            </a:extLst>
          </p:cNvPr>
          <p:cNvPicPr>
            <a:picLocks noChangeAspect="1"/>
          </p:cNvPicPr>
          <p:nvPr/>
        </p:nvPicPr>
        <p:blipFill>
          <a:blip r:embed="rId10"/>
          <a:stretch>
            <a:fillRect/>
          </a:stretch>
        </p:blipFill>
        <p:spPr>
          <a:xfrm>
            <a:off x="3523083" y="4239814"/>
            <a:ext cx="3175124" cy="1822763"/>
          </a:xfrm>
          <a:prstGeom prst="rect">
            <a:avLst/>
          </a:prstGeom>
        </p:spPr>
      </p:pic>
      <p:sp>
        <p:nvSpPr>
          <p:cNvPr id="9" name="TextBox 8">
            <a:extLst>
              <a:ext uri="{FF2B5EF4-FFF2-40B4-BE49-F238E27FC236}">
                <a16:creationId xmlns:a16="http://schemas.microsoft.com/office/drawing/2014/main" id="{A1A249D0-0F96-FF7F-688D-9AE36E9F5FEE}"/>
              </a:ext>
            </a:extLst>
          </p:cNvPr>
          <p:cNvSpPr txBox="1"/>
          <p:nvPr/>
        </p:nvSpPr>
        <p:spPr>
          <a:xfrm>
            <a:off x="286492" y="1826641"/>
            <a:ext cx="6126480"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12: </a:t>
            </a:r>
            <a:r>
              <a:rPr lang="th-TH" sz="800" b="1" dirty="0">
                <a:solidFill>
                  <a:schemeClr val="tx1">
                    <a:lumMod val="95000"/>
                    <a:lumOff val="5000"/>
                  </a:schemeClr>
                </a:solidFill>
                <a:latin typeface="BLS Condensed" pitchFamily="2" charset="-34"/>
                <a:ea typeface="Tahoma" pitchFamily="34" charset="0"/>
                <a:cs typeface="BLS Condensed" pitchFamily="2" charset="-34"/>
              </a:rPr>
              <a:t>กลุ่มพลังงานและปิโตรฯ มักเห็นการปรับมูลค่าเพิ่มเช่นกัน โดยเฉลี่ยปรับ </a:t>
            </a:r>
            <a:r>
              <a:rPr lang="en-US" sz="800" b="1" dirty="0">
                <a:solidFill>
                  <a:schemeClr val="tx1">
                    <a:lumMod val="95000"/>
                    <a:lumOff val="5000"/>
                  </a:schemeClr>
                </a:solidFill>
                <a:latin typeface="BLS Condensed" pitchFamily="2" charset="-34"/>
                <a:ea typeface="Tahoma" pitchFamily="34" charset="0"/>
                <a:cs typeface="BLS Condensed" pitchFamily="2" charset="-34"/>
              </a:rPr>
              <a:t>PBV </a:t>
            </a:r>
            <a:r>
              <a:rPr lang="th-TH" sz="800" b="1" dirty="0">
                <a:solidFill>
                  <a:schemeClr val="tx1">
                    <a:lumMod val="95000"/>
                    <a:lumOff val="5000"/>
                  </a:schemeClr>
                </a:solidFill>
                <a:latin typeface="BLS Condensed" pitchFamily="2" charset="-34"/>
                <a:ea typeface="Tahoma" pitchFamily="34" charset="0"/>
                <a:cs typeface="BLS Condensed" pitchFamily="2" charset="-34"/>
              </a:rPr>
              <a:t>ขึ้นราว 1-1.5 </a:t>
            </a:r>
            <a:r>
              <a:rPr lang="en-US" sz="800" b="1" dirty="0">
                <a:solidFill>
                  <a:schemeClr val="tx1">
                    <a:lumMod val="95000"/>
                    <a:lumOff val="5000"/>
                  </a:schemeClr>
                </a:solidFill>
                <a:latin typeface="BLS Condensed" pitchFamily="2" charset="-34"/>
                <a:ea typeface="Tahoma" pitchFamily="34" charset="0"/>
                <a:cs typeface="BLS Condensed" pitchFamily="2" charset="-34"/>
              </a:rPr>
              <a:t>SD </a:t>
            </a:r>
          </a:p>
        </p:txBody>
      </p:sp>
      <p:cxnSp>
        <p:nvCxnSpPr>
          <p:cNvPr id="14" name="Straight Connector 13">
            <a:extLst>
              <a:ext uri="{FF2B5EF4-FFF2-40B4-BE49-F238E27FC236}">
                <a16:creationId xmlns:a16="http://schemas.microsoft.com/office/drawing/2014/main" id="{A0380C90-F904-5925-925C-40655E7ED52F}"/>
              </a:ext>
            </a:extLst>
          </p:cNvPr>
          <p:cNvCxnSpPr/>
          <p:nvPr/>
        </p:nvCxnSpPr>
        <p:spPr>
          <a:xfrm>
            <a:off x="305146" y="1817756"/>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0A36DEFD-A6A5-CDB9-9524-B9F9071641B9}"/>
              </a:ext>
            </a:extLst>
          </p:cNvPr>
          <p:cNvPicPr>
            <a:picLocks noChangeAspect="1"/>
          </p:cNvPicPr>
          <p:nvPr/>
        </p:nvPicPr>
        <p:blipFill>
          <a:blip r:embed="rId11"/>
          <a:stretch>
            <a:fillRect/>
          </a:stretch>
        </p:blipFill>
        <p:spPr>
          <a:xfrm>
            <a:off x="159793" y="6483529"/>
            <a:ext cx="3269207" cy="1832887"/>
          </a:xfrm>
          <a:prstGeom prst="rect">
            <a:avLst/>
          </a:prstGeom>
        </p:spPr>
      </p:pic>
      <p:pic>
        <p:nvPicPr>
          <p:cNvPr id="30" name="Picture 29">
            <a:extLst>
              <a:ext uri="{FF2B5EF4-FFF2-40B4-BE49-F238E27FC236}">
                <a16:creationId xmlns:a16="http://schemas.microsoft.com/office/drawing/2014/main" id="{524E9C50-E98C-36C6-72C8-430D66FE6866}"/>
              </a:ext>
            </a:extLst>
          </p:cNvPr>
          <p:cNvPicPr>
            <a:picLocks noChangeAspect="1"/>
          </p:cNvPicPr>
          <p:nvPr/>
        </p:nvPicPr>
        <p:blipFill>
          <a:blip r:embed="rId12"/>
          <a:stretch>
            <a:fillRect/>
          </a:stretch>
        </p:blipFill>
        <p:spPr>
          <a:xfrm>
            <a:off x="3523083" y="6483529"/>
            <a:ext cx="3175125" cy="1822761"/>
          </a:xfrm>
          <a:prstGeom prst="rect">
            <a:avLst/>
          </a:prstGeom>
        </p:spPr>
      </p:pic>
      <p:sp>
        <p:nvSpPr>
          <p:cNvPr id="21" name="TextBox 20">
            <a:extLst>
              <a:ext uri="{FF2B5EF4-FFF2-40B4-BE49-F238E27FC236}">
                <a16:creationId xmlns:a16="http://schemas.microsoft.com/office/drawing/2014/main" id="{4DEBEF7E-9019-4160-F2B7-F3D01950E4C3}"/>
              </a:ext>
            </a:extLst>
          </p:cNvPr>
          <p:cNvSpPr txBox="1"/>
          <p:nvPr/>
        </p:nvSpPr>
        <p:spPr>
          <a:xfrm>
            <a:off x="286492" y="3932813"/>
            <a:ext cx="6235106" cy="33855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1</a:t>
            </a:r>
            <a:r>
              <a:rPr lang="en-US" sz="800" b="1" dirty="0">
                <a:solidFill>
                  <a:schemeClr val="tx1">
                    <a:lumMod val="95000"/>
                    <a:lumOff val="5000"/>
                  </a:schemeClr>
                </a:solidFill>
                <a:latin typeface="BLS Condensed" pitchFamily="2" charset="-34"/>
                <a:ea typeface="Tahoma" pitchFamily="34" charset="0"/>
                <a:cs typeface="BLS Condensed" pitchFamily="2" charset="-34"/>
              </a:rPr>
              <a:t>3: </a:t>
            </a:r>
            <a:r>
              <a:rPr lang="th-TH" sz="800" b="1" dirty="0">
                <a:solidFill>
                  <a:schemeClr val="tx1">
                    <a:lumMod val="95000"/>
                    <a:lumOff val="5000"/>
                  </a:schemeClr>
                </a:solidFill>
                <a:latin typeface="BLS Condensed" pitchFamily="2" charset="-34"/>
                <a:ea typeface="Tahoma" pitchFamily="34" charset="0"/>
                <a:cs typeface="BLS Condensed" pitchFamily="2" charset="-34"/>
              </a:rPr>
              <a:t>กลุ่มพลังงานต้นน้ำ </a:t>
            </a:r>
            <a:r>
              <a:rPr lang="en-US" sz="800" b="1" dirty="0">
                <a:solidFill>
                  <a:schemeClr val="tx1">
                    <a:lumMod val="95000"/>
                    <a:lumOff val="5000"/>
                  </a:schemeClr>
                </a:solidFill>
                <a:latin typeface="BLS Condensed" pitchFamily="2" charset="-34"/>
                <a:ea typeface="Tahoma" pitchFamily="34" charset="0"/>
                <a:cs typeface="BLS Condensed" pitchFamily="2" charset="-34"/>
              </a:rPr>
              <a:t>PTTEP </a:t>
            </a:r>
            <a:r>
              <a:rPr lang="th-TH" sz="800" b="1" dirty="0">
                <a:solidFill>
                  <a:schemeClr val="tx1">
                    <a:lumMod val="95000"/>
                    <a:lumOff val="5000"/>
                  </a:schemeClr>
                </a:solidFill>
                <a:latin typeface="BLS Condensed" pitchFamily="2" charset="-34"/>
                <a:ea typeface="Tahoma" pitchFamily="34" charset="0"/>
                <a:cs typeface="BLS Condensed" pitchFamily="2" charset="-34"/>
              </a:rPr>
              <a:t>ได้แรงหนุนจากราคาน้ำมันที่มักปรับขึ้นอย่างน้อย 10-15 ดอลลาร์ต่อบาร์เรล หรืออย่างน้อย 0.5 </a:t>
            </a:r>
            <a:r>
              <a:rPr lang="en-US" sz="800" b="1" dirty="0">
                <a:solidFill>
                  <a:schemeClr val="tx1">
                    <a:lumMod val="95000"/>
                    <a:lumOff val="5000"/>
                  </a:schemeClr>
                </a:solidFill>
                <a:latin typeface="BLS Condensed" pitchFamily="2" charset="-34"/>
                <a:ea typeface="Tahoma" pitchFamily="34" charset="0"/>
                <a:cs typeface="BLS Condensed" pitchFamily="2" charset="-34"/>
              </a:rPr>
              <a:t>SD </a:t>
            </a:r>
            <a:r>
              <a:rPr lang="th-TH" sz="800" b="1" dirty="0">
                <a:solidFill>
                  <a:schemeClr val="tx1">
                    <a:lumMod val="95000"/>
                    <a:lumOff val="5000"/>
                  </a:schemeClr>
                </a:solidFill>
                <a:latin typeface="BLS Condensed" pitchFamily="2" charset="-34"/>
                <a:ea typeface="Tahoma" pitchFamily="34" charset="0"/>
                <a:cs typeface="BLS Condensed" pitchFamily="2" charset="-34"/>
              </a:rPr>
              <a:t>ขึ้นอยู่กับสถานการณ์อุปสงค์-อุปทานแต่ละรอบ เช่นเดียวกับกลุ่มโรงกลั่น </a:t>
            </a:r>
            <a:r>
              <a:rPr lang="en-US" sz="800" b="1" dirty="0">
                <a:solidFill>
                  <a:schemeClr val="tx1">
                    <a:lumMod val="95000"/>
                    <a:lumOff val="5000"/>
                  </a:schemeClr>
                </a:solidFill>
                <a:latin typeface="BLS Condensed" pitchFamily="2" charset="-34"/>
                <a:ea typeface="Tahoma" pitchFamily="34" charset="0"/>
                <a:cs typeface="BLS Condensed" pitchFamily="2" charset="-34"/>
              </a:rPr>
              <a:t>TOP, SPRC </a:t>
            </a:r>
            <a:r>
              <a:rPr lang="th-TH" sz="800" b="1" dirty="0">
                <a:solidFill>
                  <a:schemeClr val="tx1">
                    <a:lumMod val="95000"/>
                    <a:lumOff val="5000"/>
                  </a:schemeClr>
                </a:solidFill>
                <a:latin typeface="BLS Condensed" pitchFamily="2" charset="-34"/>
                <a:ea typeface="Tahoma" pitchFamily="34" charset="0"/>
                <a:cs typeface="BLS Condensed" pitchFamily="2" charset="-34"/>
              </a:rPr>
              <a:t>ที่ค่าการกลั่นมักปรับขึ้นอย่างน้อย 3 ดอลลาร์ต่อบาร์เรล หรืออย่างน้อย 1 </a:t>
            </a:r>
            <a:r>
              <a:rPr lang="en-US" sz="800" b="1" dirty="0">
                <a:solidFill>
                  <a:schemeClr val="tx1">
                    <a:lumMod val="95000"/>
                    <a:lumOff val="5000"/>
                  </a:schemeClr>
                </a:solidFill>
                <a:latin typeface="BLS Condensed" pitchFamily="2" charset="-34"/>
                <a:ea typeface="Tahoma" pitchFamily="34" charset="0"/>
                <a:cs typeface="BLS Condensed" pitchFamily="2" charset="-34"/>
              </a:rPr>
              <a:t>SD</a:t>
            </a:r>
          </a:p>
        </p:txBody>
      </p:sp>
      <p:cxnSp>
        <p:nvCxnSpPr>
          <p:cNvPr id="22" name="Straight Connector 21">
            <a:extLst>
              <a:ext uri="{FF2B5EF4-FFF2-40B4-BE49-F238E27FC236}">
                <a16:creationId xmlns:a16="http://schemas.microsoft.com/office/drawing/2014/main" id="{70480C46-7AD9-4D6E-532F-109F4CBF2DD4}"/>
              </a:ext>
            </a:extLst>
          </p:cNvPr>
          <p:cNvCxnSpPr/>
          <p:nvPr/>
        </p:nvCxnSpPr>
        <p:spPr>
          <a:xfrm>
            <a:off x="305146" y="3923928"/>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47E10E0-EB07-6F2B-1E73-8F3AA345E5CC}"/>
              </a:ext>
            </a:extLst>
          </p:cNvPr>
          <p:cNvSpPr txBox="1"/>
          <p:nvPr/>
        </p:nvSpPr>
        <p:spPr>
          <a:xfrm>
            <a:off x="305146" y="6138294"/>
            <a:ext cx="6235106" cy="33855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1</a:t>
            </a:r>
            <a:r>
              <a:rPr lang="en-US" sz="800" b="1" dirty="0">
                <a:solidFill>
                  <a:schemeClr val="tx1">
                    <a:lumMod val="95000"/>
                    <a:lumOff val="5000"/>
                  </a:schemeClr>
                </a:solidFill>
                <a:latin typeface="BLS Condensed" pitchFamily="2" charset="-34"/>
                <a:ea typeface="Tahoma" pitchFamily="34" charset="0"/>
                <a:cs typeface="BLS Condensed" pitchFamily="2" charset="-34"/>
              </a:rPr>
              <a:t>4: </a:t>
            </a:r>
            <a:r>
              <a:rPr lang="th-TH" sz="800" b="1" dirty="0">
                <a:solidFill>
                  <a:schemeClr val="tx1">
                    <a:lumMod val="95000"/>
                    <a:lumOff val="5000"/>
                  </a:schemeClr>
                </a:solidFill>
                <a:latin typeface="BLS Condensed" pitchFamily="2" charset="-34"/>
                <a:ea typeface="Tahoma" pitchFamily="34" charset="0"/>
                <a:cs typeface="BLS Condensed" pitchFamily="2" charset="-34"/>
              </a:rPr>
              <a:t>กลุ่มปิโตรฯ อย่าง </a:t>
            </a:r>
            <a:r>
              <a:rPr lang="en-US" sz="800" b="1" dirty="0">
                <a:solidFill>
                  <a:schemeClr val="tx1">
                    <a:lumMod val="95000"/>
                    <a:lumOff val="5000"/>
                  </a:schemeClr>
                </a:solidFill>
                <a:latin typeface="BLS Condensed" pitchFamily="2" charset="-34"/>
                <a:ea typeface="Tahoma" pitchFamily="34" charset="0"/>
                <a:cs typeface="BLS Condensed" pitchFamily="2" charset="-34"/>
              </a:rPr>
              <a:t>PTTGC, SCC </a:t>
            </a:r>
            <a:r>
              <a:rPr lang="th-TH" sz="800" b="1" dirty="0">
                <a:solidFill>
                  <a:schemeClr val="tx1">
                    <a:lumMod val="95000"/>
                    <a:lumOff val="5000"/>
                  </a:schemeClr>
                </a:solidFill>
                <a:latin typeface="BLS Condensed" pitchFamily="2" charset="-34"/>
                <a:ea typeface="Tahoma" pitchFamily="34" charset="0"/>
                <a:cs typeface="BLS Condensed" pitchFamily="2" charset="-34"/>
              </a:rPr>
              <a:t>ส่วนต่าง </a:t>
            </a:r>
            <a:r>
              <a:rPr lang="en-US" sz="800" b="1" dirty="0">
                <a:solidFill>
                  <a:schemeClr val="tx1">
                    <a:lumMod val="95000"/>
                    <a:lumOff val="5000"/>
                  </a:schemeClr>
                </a:solidFill>
                <a:latin typeface="BLS Condensed" pitchFamily="2" charset="-34"/>
                <a:ea typeface="Tahoma" pitchFamily="34" charset="0"/>
                <a:cs typeface="BLS Condensed" pitchFamily="2" charset="-34"/>
              </a:rPr>
              <a:t>HDPE </a:t>
            </a:r>
            <a:r>
              <a:rPr lang="th-TH" sz="800" b="1" dirty="0">
                <a:solidFill>
                  <a:schemeClr val="tx1">
                    <a:lumMod val="95000"/>
                    <a:lumOff val="5000"/>
                  </a:schemeClr>
                </a:solidFill>
                <a:latin typeface="BLS Condensed" pitchFamily="2" charset="-34"/>
                <a:ea typeface="Tahoma" pitchFamily="34" charset="0"/>
                <a:cs typeface="BLS Condensed" pitchFamily="2" charset="-34"/>
              </a:rPr>
              <a:t>มักปรับขึ้นอย่างน้อย 80-100 ดอลลาร์ต่อตัน หรืออย่างน้อย 1 </a:t>
            </a:r>
            <a:r>
              <a:rPr lang="en-US" sz="800" b="1" dirty="0">
                <a:solidFill>
                  <a:schemeClr val="tx1">
                    <a:lumMod val="95000"/>
                    <a:lumOff val="5000"/>
                  </a:schemeClr>
                </a:solidFill>
                <a:latin typeface="BLS Condensed" pitchFamily="2" charset="-34"/>
                <a:ea typeface="Tahoma" pitchFamily="34" charset="0"/>
                <a:cs typeface="BLS Condensed" pitchFamily="2" charset="-34"/>
              </a:rPr>
              <a:t>SD </a:t>
            </a:r>
            <a:r>
              <a:rPr lang="th-TH" sz="800" b="1" dirty="0">
                <a:solidFill>
                  <a:schemeClr val="tx1">
                    <a:lumMod val="95000"/>
                    <a:lumOff val="5000"/>
                  </a:schemeClr>
                </a:solidFill>
                <a:latin typeface="BLS Condensed" pitchFamily="2" charset="-34"/>
                <a:ea typeface="Tahoma" pitchFamily="34" charset="0"/>
                <a:cs typeface="BLS Condensed" pitchFamily="2" charset="-34"/>
              </a:rPr>
              <a:t>ขณะที่ </a:t>
            </a:r>
            <a:r>
              <a:rPr lang="en-US" sz="800" b="1" dirty="0">
                <a:solidFill>
                  <a:schemeClr val="tx1">
                    <a:lumMod val="95000"/>
                    <a:lumOff val="5000"/>
                  </a:schemeClr>
                </a:solidFill>
                <a:latin typeface="BLS Condensed" pitchFamily="2" charset="-34"/>
                <a:ea typeface="Tahoma" pitchFamily="34" charset="0"/>
                <a:cs typeface="BLS Condensed" pitchFamily="2" charset="-34"/>
              </a:rPr>
              <a:t>IVL </a:t>
            </a:r>
            <a:r>
              <a:rPr lang="th-TH" sz="800" b="1" dirty="0">
                <a:solidFill>
                  <a:schemeClr val="tx1">
                    <a:lumMod val="95000"/>
                    <a:lumOff val="5000"/>
                  </a:schemeClr>
                </a:solidFill>
                <a:latin typeface="BLS Condensed" pitchFamily="2" charset="-34"/>
                <a:ea typeface="Tahoma" pitchFamily="34" charset="0"/>
                <a:cs typeface="BLS Condensed" pitchFamily="2" charset="-34"/>
              </a:rPr>
              <a:t>ส่วนต่าง </a:t>
            </a:r>
            <a:r>
              <a:rPr lang="en-US" sz="800" b="1" dirty="0">
                <a:solidFill>
                  <a:schemeClr val="tx1">
                    <a:lumMod val="95000"/>
                    <a:lumOff val="5000"/>
                  </a:schemeClr>
                </a:solidFill>
                <a:latin typeface="BLS Condensed" pitchFamily="2" charset="-34"/>
                <a:ea typeface="Tahoma" pitchFamily="34" charset="0"/>
                <a:cs typeface="BLS Condensed" pitchFamily="2" charset="-34"/>
              </a:rPr>
              <a:t>PET (west) </a:t>
            </a:r>
            <a:r>
              <a:rPr lang="th-TH" sz="800" b="1" dirty="0">
                <a:solidFill>
                  <a:schemeClr val="tx1">
                    <a:lumMod val="95000"/>
                    <a:lumOff val="5000"/>
                  </a:schemeClr>
                </a:solidFill>
                <a:latin typeface="BLS Condensed" pitchFamily="2" charset="-34"/>
                <a:ea typeface="Tahoma" pitchFamily="34" charset="0"/>
                <a:cs typeface="BLS Condensed" pitchFamily="2" charset="-34"/>
              </a:rPr>
              <a:t>มักปรับขึ้นแรงกว่า โดยขึ้นเฉลี่ยราว 120-150 ดอลลาร์ต่อตัน หรืออย่างน้อย 2 </a:t>
            </a:r>
            <a:r>
              <a:rPr lang="en-US" sz="800" b="1" dirty="0">
                <a:solidFill>
                  <a:schemeClr val="tx1">
                    <a:lumMod val="95000"/>
                    <a:lumOff val="5000"/>
                  </a:schemeClr>
                </a:solidFill>
                <a:latin typeface="BLS Condensed" pitchFamily="2" charset="-34"/>
                <a:ea typeface="Tahoma" pitchFamily="34" charset="0"/>
                <a:cs typeface="BLS Condensed" pitchFamily="2" charset="-34"/>
              </a:rPr>
              <a:t>SD </a:t>
            </a:r>
          </a:p>
        </p:txBody>
      </p:sp>
      <p:cxnSp>
        <p:nvCxnSpPr>
          <p:cNvPr id="26" name="Straight Connector 25">
            <a:extLst>
              <a:ext uri="{FF2B5EF4-FFF2-40B4-BE49-F238E27FC236}">
                <a16:creationId xmlns:a16="http://schemas.microsoft.com/office/drawing/2014/main" id="{2EF04C14-20B3-8819-8E2A-90D61988BCCD}"/>
              </a:ext>
            </a:extLst>
          </p:cNvPr>
          <p:cNvCxnSpPr/>
          <p:nvPr/>
        </p:nvCxnSpPr>
        <p:spPr>
          <a:xfrm>
            <a:off x="323800" y="6129409"/>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0747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7" name="TextBox 6">
            <a:extLst>
              <a:ext uri="{FF2B5EF4-FFF2-40B4-BE49-F238E27FC236}">
                <a16:creationId xmlns:a16="http://schemas.microsoft.com/office/drawing/2014/main" id="{976B5C9E-A6CB-8CAE-03B8-7D22718E584A}"/>
              </a:ext>
            </a:extLst>
          </p:cNvPr>
          <p:cNvSpPr txBox="1"/>
          <p:nvPr/>
        </p:nvSpPr>
        <p:spPr>
          <a:xfrm>
            <a:off x="3464359" y="899592"/>
            <a:ext cx="3188101" cy="6863417"/>
          </a:xfrm>
          <a:prstGeom prst="rect">
            <a:avLst/>
          </a:prstGeom>
          <a:noFill/>
          <a:ln>
            <a:noFill/>
          </a:ln>
        </p:spPr>
        <p:txBody>
          <a:bodyPr wrap="square" rtlCol="0">
            <a:spAutoFit/>
          </a:bodyPr>
          <a:lstStyle/>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ขณะที่กลุ่ม โรงกลั่น อย่าง </a:t>
            </a:r>
            <a:r>
              <a:rPr lang="en-US" sz="1000" dirty="0">
                <a:solidFill>
                  <a:schemeClr val="tx1">
                    <a:lumMod val="65000"/>
                    <a:lumOff val="35000"/>
                  </a:schemeClr>
                </a:solidFill>
                <a:latin typeface="BLS Text" pitchFamily="2" charset="-34"/>
                <a:cs typeface="BLS Text" pitchFamily="2" charset="-34"/>
              </a:rPr>
              <a:t>TOP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SPRC </a:t>
            </a:r>
            <a:r>
              <a:rPr lang="th-TH" sz="1000" dirty="0">
                <a:solidFill>
                  <a:schemeClr val="tx1">
                    <a:lumMod val="65000"/>
                    <a:lumOff val="35000"/>
                  </a:schemeClr>
                </a:solidFill>
                <a:latin typeface="BLS Text" pitchFamily="2" charset="-34"/>
                <a:cs typeface="BLS Text" pitchFamily="2" charset="-34"/>
              </a:rPr>
              <a:t>มักได้อานิสงส์จาก ค่าการกลั่น (</a:t>
            </a:r>
            <a:r>
              <a:rPr lang="en-US" sz="1000" dirty="0">
                <a:solidFill>
                  <a:schemeClr val="tx1">
                    <a:lumMod val="65000"/>
                    <a:lumOff val="35000"/>
                  </a:schemeClr>
                </a:solidFill>
                <a:latin typeface="BLS Text" pitchFamily="2" charset="-34"/>
                <a:cs typeface="BLS Text" pitchFamily="2" charset="-34"/>
              </a:rPr>
              <a:t>GRM) </a:t>
            </a:r>
            <a:r>
              <a:rPr lang="th-TH" sz="1000" dirty="0">
                <a:solidFill>
                  <a:schemeClr val="tx1">
                    <a:lumMod val="65000"/>
                    <a:lumOff val="35000"/>
                  </a:schemeClr>
                </a:solidFill>
                <a:latin typeface="BLS Text" pitchFamily="2" charset="-34"/>
                <a:cs typeface="BLS Text" pitchFamily="2" charset="-34"/>
              </a:rPr>
              <a:t>ที่ปรับขึ้นอย่างน้อยราว 3 ดอลลาร์ต่อบาร์เรล หรือประมาณ 1 </a:t>
            </a:r>
            <a:r>
              <a:rPr lang="en-US" sz="1000" dirty="0">
                <a:solidFill>
                  <a:schemeClr val="tx1">
                    <a:lumMod val="65000"/>
                    <a:lumOff val="35000"/>
                  </a:schemeClr>
                </a:solidFill>
                <a:latin typeface="BLS Text" pitchFamily="2" charset="-34"/>
                <a:cs typeface="BLS Text" pitchFamily="2" charset="-34"/>
              </a:rPr>
              <a:t>SD </a:t>
            </a:r>
            <a:r>
              <a:rPr lang="th-TH" sz="1000" dirty="0">
                <a:solidFill>
                  <a:schemeClr val="tx1">
                    <a:lumMod val="65000"/>
                    <a:lumOff val="35000"/>
                  </a:schemeClr>
                </a:solidFill>
                <a:latin typeface="BLS Text" pitchFamily="2" charset="-34"/>
                <a:cs typeface="BLS Text" pitchFamily="2" charset="-34"/>
              </a:rPr>
              <a:t>ส่วนกลุ่ม ปิโตรเคมี เช่น </a:t>
            </a:r>
            <a:r>
              <a:rPr lang="en-US" sz="1000" dirty="0">
                <a:solidFill>
                  <a:schemeClr val="tx1">
                    <a:lumMod val="65000"/>
                    <a:lumOff val="35000"/>
                  </a:schemeClr>
                </a:solidFill>
                <a:latin typeface="BLS Text" pitchFamily="2" charset="-34"/>
                <a:cs typeface="BLS Text" pitchFamily="2" charset="-34"/>
              </a:rPr>
              <a:t>PTTGC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SCC </a:t>
            </a:r>
            <a:r>
              <a:rPr lang="th-TH" sz="1000" dirty="0">
                <a:solidFill>
                  <a:schemeClr val="tx1">
                    <a:lumMod val="65000"/>
                    <a:lumOff val="35000"/>
                  </a:schemeClr>
                </a:solidFill>
                <a:latin typeface="BLS Text" pitchFamily="2" charset="-34"/>
                <a:cs typeface="BLS Text" pitchFamily="2" charset="-34"/>
              </a:rPr>
              <a:t>มักได้แรงหนุนจาก </a:t>
            </a:r>
            <a:r>
              <a:rPr lang="en-US" sz="1000" dirty="0">
                <a:solidFill>
                  <a:schemeClr val="tx1">
                    <a:lumMod val="65000"/>
                    <a:lumOff val="35000"/>
                  </a:schemeClr>
                </a:solidFill>
                <a:latin typeface="BLS Text" pitchFamily="2" charset="-34"/>
                <a:cs typeface="BLS Text" pitchFamily="2" charset="-34"/>
              </a:rPr>
              <a:t>HDPE spread </a:t>
            </a:r>
            <a:r>
              <a:rPr lang="th-TH" sz="1000" dirty="0">
                <a:solidFill>
                  <a:schemeClr val="tx1">
                    <a:lumMod val="65000"/>
                    <a:lumOff val="35000"/>
                  </a:schemeClr>
                </a:solidFill>
                <a:latin typeface="BLS Text" pitchFamily="2" charset="-34"/>
                <a:cs typeface="BLS Text" pitchFamily="2" charset="-34"/>
              </a:rPr>
              <a:t>ที่ฟื้นขึ้นอย่างน้อย 80–100 ดอลลาร์ต่อตัน หรือราว 1 </a:t>
            </a:r>
            <a:r>
              <a:rPr lang="en-US" sz="1000" dirty="0">
                <a:solidFill>
                  <a:schemeClr val="tx1">
                    <a:lumMod val="65000"/>
                    <a:lumOff val="35000"/>
                  </a:schemeClr>
                </a:solidFill>
                <a:latin typeface="BLS Text" pitchFamily="2" charset="-34"/>
                <a:cs typeface="BLS Text" pitchFamily="2" charset="-34"/>
              </a:rPr>
              <a:t>SD </a:t>
            </a:r>
            <a:r>
              <a:rPr lang="th-TH" sz="1000" dirty="0">
                <a:solidFill>
                  <a:schemeClr val="tx1">
                    <a:lumMod val="65000"/>
                    <a:lumOff val="35000"/>
                  </a:schemeClr>
                </a:solidFill>
                <a:latin typeface="BLS Text" pitchFamily="2" charset="-34"/>
                <a:cs typeface="BLS Text" pitchFamily="2" charset="-34"/>
              </a:rPr>
              <a:t>ขณะที่ </a:t>
            </a:r>
            <a:r>
              <a:rPr lang="en-US" sz="1000" dirty="0">
                <a:solidFill>
                  <a:schemeClr val="tx1">
                    <a:lumMod val="65000"/>
                    <a:lumOff val="35000"/>
                  </a:schemeClr>
                </a:solidFill>
                <a:latin typeface="BLS Text" pitchFamily="2" charset="-34"/>
                <a:cs typeface="BLS Text" pitchFamily="2" charset="-34"/>
              </a:rPr>
              <a:t>IVL </a:t>
            </a:r>
            <a:r>
              <a:rPr lang="th-TH" sz="1000" dirty="0">
                <a:solidFill>
                  <a:schemeClr val="tx1">
                    <a:lumMod val="65000"/>
                    <a:lumOff val="35000"/>
                  </a:schemeClr>
                </a:solidFill>
                <a:latin typeface="BLS Text" pitchFamily="2" charset="-34"/>
                <a:cs typeface="BLS Text" pitchFamily="2" charset="-34"/>
              </a:rPr>
              <a:t>ซึ่งมี </a:t>
            </a:r>
            <a:r>
              <a:rPr lang="en-US" sz="1000" dirty="0">
                <a:solidFill>
                  <a:schemeClr val="tx1">
                    <a:lumMod val="65000"/>
                    <a:lumOff val="35000"/>
                  </a:schemeClr>
                </a:solidFill>
                <a:latin typeface="BLS Text" pitchFamily="2" charset="-34"/>
                <a:cs typeface="BLS Text" pitchFamily="2" charset="-34"/>
              </a:rPr>
              <a:t>leverage </a:t>
            </a:r>
            <a:r>
              <a:rPr lang="th-TH" sz="1000" dirty="0">
                <a:solidFill>
                  <a:schemeClr val="tx1">
                    <a:lumMod val="65000"/>
                    <a:lumOff val="35000"/>
                  </a:schemeClr>
                </a:solidFill>
                <a:latin typeface="BLS Text" pitchFamily="2" charset="-34"/>
                <a:cs typeface="BLS Text" pitchFamily="2" charset="-34"/>
              </a:rPr>
              <a:t>ต่อสายผลิตภัณฑ์ </a:t>
            </a:r>
            <a:r>
              <a:rPr lang="en-US" sz="1000" dirty="0">
                <a:solidFill>
                  <a:schemeClr val="tx1">
                    <a:lumMod val="65000"/>
                    <a:lumOff val="35000"/>
                  </a:schemeClr>
                </a:solidFill>
                <a:latin typeface="BLS Text" pitchFamily="2" charset="-34"/>
                <a:cs typeface="BLS Text" pitchFamily="2" charset="-34"/>
              </a:rPr>
              <a:t>PET </a:t>
            </a:r>
            <a:r>
              <a:rPr lang="th-TH" sz="1000" dirty="0">
                <a:solidFill>
                  <a:schemeClr val="tx1">
                    <a:lumMod val="65000"/>
                    <a:lumOff val="35000"/>
                  </a:schemeClr>
                </a:solidFill>
                <a:latin typeface="BLS Text" pitchFamily="2" charset="-34"/>
                <a:cs typeface="BLS Text" pitchFamily="2" charset="-34"/>
              </a:rPr>
              <a:t>สูงกว่า มักเห็น </a:t>
            </a:r>
            <a:r>
              <a:rPr lang="en-US" sz="1000" dirty="0">
                <a:solidFill>
                  <a:schemeClr val="tx1">
                    <a:lumMod val="65000"/>
                    <a:lumOff val="35000"/>
                  </a:schemeClr>
                </a:solidFill>
                <a:latin typeface="BLS Text" pitchFamily="2" charset="-34"/>
                <a:cs typeface="BLS Text" pitchFamily="2" charset="-34"/>
              </a:rPr>
              <a:t>PET spread (West) </a:t>
            </a:r>
            <a:r>
              <a:rPr lang="th-TH" sz="1000" dirty="0">
                <a:solidFill>
                  <a:schemeClr val="tx1">
                    <a:lumMod val="65000"/>
                    <a:lumOff val="35000"/>
                  </a:schemeClr>
                </a:solidFill>
                <a:latin typeface="BLS Text" pitchFamily="2" charset="-34"/>
                <a:cs typeface="BLS Text" pitchFamily="2" charset="-34"/>
              </a:rPr>
              <a:t>ฟื้นตัวแรงกว่า โดยเฉลี่ยราว 120–150 ดอลลาร์ต่อตัน หรือประมาณ 2 </a:t>
            </a:r>
            <a:r>
              <a:rPr lang="en-US" sz="1000" dirty="0">
                <a:solidFill>
                  <a:schemeClr val="tx1">
                    <a:lumMod val="65000"/>
                    <a:lumOff val="35000"/>
                  </a:schemeClr>
                </a:solidFill>
                <a:latin typeface="BLS Text" pitchFamily="2" charset="-34"/>
                <a:cs typeface="BLS Text" pitchFamily="2" charset="-34"/>
              </a:rPr>
              <a:t>SD</a:t>
            </a:r>
            <a:endParaRPr lang="th-TH" sz="1000" dirty="0">
              <a:solidFill>
                <a:schemeClr val="tx1">
                  <a:lumMod val="65000"/>
                  <a:lumOff val="35000"/>
                </a:schemeClr>
              </a:solidFill>
              <a:latin typeface="BLS Text" pitchFamily="2" charset="-34"/>
              <a:cs typeface="BLS Text" pitchFamily="2" charset="-34"/>
            </a:endParaRP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ความสำคัญของรอบนี้จึงไม่ได้อยู่เพียงที่ “กำไรฟื้น” แต่คือ </a:t>
            </a:r>
            <a:r>
              <a:rPr lang="en-US" sz="1000" dirty="0">
                <a:solidFill>
                  <a:schemeClr val="tx1">
                    <a:lumMod val="65000"/>
                    <a:lumOff val="35000"/>
                  </a:schemeClr>
                </a:solidFill>
                <a:latin typeface="BLS Text" pitchFamily="2" charset="-34"/>
                <a:cs typeface="BLS Text" pitchFamily="2" charset="-34"/>
              </a:rPr>
              <a:t>sensitivity </a:t>
            </a:r>
            <a:r>
              <a:rPr lang="th-TH" sz="1000" dirty="0">
                <a:solidFill>
                  <a:schemeClr val="tx1">
                    <a:lumMod val="65000"/>
                    <a:lumOff val="35000"/>
                  </a:schemeClr>
                </a:solidFill>
                <a:latin typeface="BLS Text" pitchFamily="2" charset="-34"/>
                <a:cs typeface="BLS Text" pitchFamily="2" charset="-34"/>
              </a:rPr>
              <a:t>ของกำไรที่เร่งตัวสูงกว่าตลาด หากสมมติให้ ค่าการกลั่นและส่วนต่างปิโตรเคมีเพิ่มขึ้นทุก 10% จะหนุนกำไรปี 2026 ของ </a:t>
            </a:r>
            <a:r>
              <a:rPr lang="en-US" sz="1000" dirty="0">
                <a:solidFill>
                  <a:schemeClr val="tx1">
                    <a:lumMod val="65000"/>
                    <a:lumOff val="35000"/>
                  </a:schemeClr>
                </a:solidFill>
                <a:latin typeface="BLS Text" pitchFamily="2" charset="-34"/>
                <a:cs typeface="BLS Text" pitchFamily="2" charset="-34"/>
              </a:rPr>
              <a:t>TOP </a:t>
            </a:r>
            <a:r>
              <a:rPr lang="th-TH" sz="1000" dirty="0">
                <a:solidFill>
                  <a:schemeClr val="tx1">
                    <a:lumMod val="65000"/>
                    <a:lumOff val="35000"/>
                  </a:schemeClr>
                </a:solidFill>
                <a:latin typeface="BLS Text" pitchFamily="2" charset="-34"/>
                <a:cs typeface="BLS Text" pitchFamily="2" charset="-34"/>
              </a:rPr>
              <a:t>ราว 12%, </a:t>
            </a:r>
            <a:r>
              <a:rPr lang="en-US" sz="1000" dirty="0">
                <a:solidFill>
                  <a:schemeClr val="tx1">
                    <a:lumMod val="65000"/>
                    <a:lumOff val="35000"/>
                  </a:schemeClr>
                </a:solidFill>
                <a:latin typeface="BLS Text" pitchFamily="2" charset="-34"/>
                <a:cs typeface="BLS Text" pitchFamily="2" charset="-34"/>
              </a:rPr>
              <a:t>SPRC 36%, PTTGC 30%, SCC 21%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IVL 20% </a:t>
            </a:r>
            <a:r>
              <a:rPr lang="th-TH" sz="1000" dirty="0">
                <a:solidFill>
                  <a:schemeClr val="tx1">
                    <a:lumMod val="65000"/>
                    <a:lumOff val="35000"/>
                  </a:schemeClr>
                </a:solidFill>
                <a:latin typeface="BLS Text" pitchFamily="2" charset="-34"/>
                <a:cs typeface="BLS Text" pitchFamily="2" charset="-34"/>
              </a:rPr>
              <a:t>สะท้อนว่ากลุ่มนี้มีลักษณะเป็น </a:t>
            </a:r>
            <a:r>
              <a:rPr lang="en-US" sz="1000" dirty="0">
                <a:solidFill>
                  <a:schemeClr val="tx1">
                    <a:lumMod val="65000"/>
                    <a:lumOff val="35000"/>
                  </a:schemeClr>
                </a:solidFill>
                <a:latin typeface="BLS Text" pitchFamily="2" charset="-34"/>
                <a:cs typeface="BLS Text" pitchFamily="2" charset="-34"/>
              </a:rPr>
              <a:t>high-beta earnings plays </a:t>
            </a:r>
            <a:r>
              <a:rPr lang="th-TH" sz="1000" dirty="0">
                <a:solidFill>
                  <a:schemeClr val="tx1">
                    <a:lumMod val="65000"/>
                    <a:lumOff val="35000"/>
                  </a:schemeClr>
                </a:solidFill>
                <a:latin typeface="BLS Text" pitchFamily="2" charset="-34"/>
                <a:cs typeface="BLS Text" pitchFamily="2" charset="-34"/>
              </a:rPr>
              <a:t>ต่อการฟื้นตัวของภาคการผลิตโลก กล่าวอีกนัยหนึ่ง เมื่อวงจรโลกพลิกขึ้น หุ้นวัฏจักรไม่ได้เพียง “ฟื้นตามตลาด” แต่มีแนวโน้มเป็น </a:t>
            </a:r>
            <a:r>
              <a:rPr lang="en-US" sz="1000" dirty="0">
                <a:solidFill>
                  <a:schemeClr val="tx1">
                    <a:lumMod val="65000"/>
                    <a:lumOff val="35000"/>
                  </a:schemeClr>
                </a:solidFill>
                <a:latin typeface="BLS Text" pitchFamily="2" charset="-34"/>
                <a:cs typeface="BLS Text" pitchFamily="2" charset="-34"/>
              </a:rPr>
              <a:t>earnings accelerator </a:t>
            </a:r>
            <a:r>
              <a:rPr lang="th-TH" sz="1000" dirty="0">
                <a:solidFill>
                  <a:schemeClr val="tx1">
                    <a:lumMod val="65000"/>
                    <a:lumOff val="35000"/>
                  </a:schemeClr>
                </a:solidFill>
                <a:latin typeface="BLS Text" pitchFamily="2" charset="-34"/>
                <a:cs typeface="BLS Text" pitchFamily="2" charset="-34"/>
              </a:rPr>
              <a:t>ที่ช่วยดันโมเมนตัมกำไรของตลาดโดยรวมให้ชัดขึ้น</a:t>
            </a:r>
          </a:p>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นอกจากการฟื้นตัวของกำไรแล้ว หุ้นกลุ่มพลังงานและปิโตรเคมียังมักเข้าสู่ วงจรการปรับมูลค่าเพิ่ม (</a:t>
            </a:r>
            <a:r>
              <a:rPr lang="en-US" sz="1000" b="1" dirty="0">
                <a:solidFill>
                  <a:schemeClr val="tx1">
                    <a:lumMod val="65000"/>
                    <a:lumOff val="35000"/>
                  </a:schemeClr>
                </a:solidFill>
                <a:latin typeface="BLS Text" pitchFamily="2" charset="-34"/>
                <a:cs typeface="BLS Text" pitchFamily="2" charset="-34"/>
              </a:rPr>
              <a:t>valuation re-rating) </a:t>
            </a:r>
            <a:r>
              <a:rPr lang="th-TH" sz="1000" b="1" dirty="0">
                <a:solidFill>
                  <a:schemeClr val="tx1">
                    <a:lumMod val="65000"/>
                    <a:lumOff val="35000"/>
                  </a:schemeClr>
                </a:solidFill>
                <a:latin typeface="BLS Text" pitchFamily="2" charset="-34"/>
                <a:cs typeface="BLS Text" pitchFamily="2" charset="-34"/>
              </a:rPr>
              <a:t>ควบคู่กันไปด้วย </a:t>
            </a:r>
            <a:r>
              <a:rPr lang="th-TH" sz="1000" dirty="0">
                <a:solidFill>
                  <a:schemeClr val="tx1">
                    <a:lumMod val="65000"/>
                    <a:lumOff val="35000"/>
                  </a:schemeClr>
                </a:solidFill>
                <a:latin typeface="BLS Text" pitchFamily="2" charset="-34"/>
                <a:cs typeface="BLS Text" pitchFamily="2" charset="-34"/>
              </a:rPr>
              <a:t>เพราะเมื่อกำไรและ </a:t>
            </a:r>
            <a:r>
              <a:rPr lang="en-US" sz="1000" dirty="0">
                <a:solidFill>
                  <a:schemeClr val="tx1">
                    <a:lumMod val="65000"/>
                    <a:lumOff val="35000"/>
                  </a:schemeClr>
                </a:solidFill>
                <a:latin typeface="BLS Text" pitchFamily="2" charset="-34"/>
                <a:cs typeface="BLS Text" pitchFamily="2" charset="-34"/>
              </a:rPr>
              <a:t>ROE </a:t>
            </a:r>
            <a:r>
              <a:rPr lang="th-TH" sz="1000" dirty="0">
                <a:solidFill>
                  <a:schemeClr val="tx1">
                    <a:lumMod val="65000"/>
                    <a:lumOff val="35000"/>
                  </a:schemeClr>
                </a:solidFill>
                <a:latin typeface="BLS Text" pitchFamily="2" charset="-34"/>
                <a:cs typeface="BLS Text" pitchFamily="2" charset="-34"/>
              </a:rPr>
              <a:t>เริ่มฟื้น ความไม่แน่นอนของวัฏจักรจะลดลง นักลงทุนจึงยอมให้ </a:t>
            </a:r>
            <a:r>
              <a:rPr lang="en-US" sz="1000" dirty="0">
                <a:solidFill>
                  <a:schemeClr val="tx1">
                    <a:lumMod val="65000"/>
                    <a:lumOff val="35000"/>
                  </a:schemeClr>
                </a:solidFill>
                <a:latin typeface="BLS Text" pitchFamily="2" charset="-34"/>
                <a:cs typeface="BLS Text" pitchFamily="2" charset="-34"/>
              </a:rPr>
              <a:t>valuation multiple </a:t>
            </a:r>
            <a:r>
              <a:rPr lang="th-TH" sz="1000" dirty="0">
                <a:solidFill>
                  <a:schemeClr val="tx1">
                    <a:lumMod val="65000"/>
                    <a:lumOff val="35000"/>
                  </a:schemeClr>
                </a:solidFill>
                <a:latin typeface="BLS Text" pitchFamily="2" charset="-34"/>
                <a:cs typeface="BLS Text" pitchFamily="2" charset="-34"/>
              </a:rPr>
              <a:t>สูงขึ้น ภายใต้กรอบนี้ ในอดีตกลุ่ม </a:t>
            </a:r>
            <a:r>
              <a:rPr lang="en-US" sz="1000" dirty="0">
                <a:solidFill>
                  <a:schemeClr val="tx1">
                    <a:lumMod val="65000"/>
                    <a:lumOff val="35000"/>
                  </a:schemeClr>
                </a:solidFill>
                <a:latin typeface="BLS Text" pitchFamily="2" charset="-34"/>
                <a:cs typeface="BLS Text" pitchFamily="2" charset="-34"/>
              </a:rPr>
              <a:t>SETENERG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SETPETRO </a:t>
            </a:r>
            <a:r>
              <a:rPr lang="th-TH" sz="1000" dirty="0">
                <a:solidFill>
                  <a:schemeClr val="tx1">
                    <a:lumMod val="65000"/>
                    <a:lumOff val="35000"/>
                  </a:schemeClr>
                </a:solidFill>
                <a:latin typeface="BLS Text" pitchFamily="2" charset="-34"/>
                <a:cs typeface="BLS Text" pitchFamily="2" charset="-34"/>
              </a:rPr>
              <a:t>มักเห็น </a:t>
            </a:r>
            <a:r>
              <a:rPr lang="en-US" sz="1000" dirty="0">
                <a:solidFill>
                  <a:schemeClr val="tx1">
                    <a:lumMod val="65000"/>
                    <a:lumOff val="35000"/>
                  </a:schemeClr>
                </a:solidFill>
                <a:latin typeface="BLS Text" pitchFamily="2" charset="-34"/>
                <a:cs typeface="BLS Text" pitchFamily="2" charset="-34"/>
              </a:rPr>
              <a:t>forward PBV </a:t>
            </a:r>
            <a:r>
              <a:rPr lang="th-TH" sz="1000" dirty="0">
                <a:solidFill>
                  <a:schemeClr val="tx1">
                    <a:lumMod val="65000"/>
                    <a:lumOff val="35000"/>
                  </a:schemeClr>
                </a:solidFill>
                <a:latin typeface="BLS Text" pitchFamily="2" charset="-34"/>
                <a:cs typeface="BLS Text" pitchFamily="2" charset="-34"/>
              </a:rPr>
              <a:t>ปรับขึ้นเฉลี่ยราว 1–1.5 </a:t>
            </a:r>
            <a:r>
              <a:rPr lang="en-US" sz="1000" dirty="0">
                <a:solidFill>
                  <a:schemeClr val="tx1">
                    <a:lumMod val="65000"/>
                    <a:lumOff val="35000"/>
                  </a:schemeClr>
                </a:solidFill>
                <a:latin typeface="BLS Text" pitchFamily="2" charset="-34"/>
                <a:cs typeface="BLS Text" pitchFamily="2" charset="-34"/>
              </a:rPr>
              <a:t>SD </a:t>
            </a:r>
            <a:r>
              <a:rPr lang="th-TH" sz="1000" dirty="0">
                <a:solidFill>
                  <a:schemeClr val="tx1">
                    <a:lumMod val="65000"/>
                    <a:lumOff val="35000"/>
                  </a:schemeClr>
                </a:solidFill>
                <a:latin typeface="BLS Text" pitchFamily="2" charset="-34"/>
                <a:cs typeface="BLS Text" pitchFamily="2" charset="-34"/>
              </a:rPr>
              <a:t>ในช่วง </a:t>
            </a:r>
            <a:r>
              <a:rPr lang="en-US" sz="1000" dirty="0">
                <a:solidFill>
                  <a:schemeClr val="tx1">
                    <a:lumMod val="65000"/>
                    <a:lumOff val="35000"/>
                  </a:schemeClr>
                </a:solidFill>
                <a:latin typeface="BLS Text" pitchFamily="2" charset="-34"/>
                <a:cs typeface="BLS Text" pitchFamily="2" charset="-34"/>
              </a:rPr>
              <a:t>manufacturing upcycle </a:t>
            </a:r>
            <a:r>
              <a:rPr lang="th-TH" sz="1000" dirty="0">
                <a:solidFill>
                  <a:schemeClr val="tx1">
                    <a:lumMod val="65000"/>
                    <a:lumOff val="35000"/>
                  </a:schemeClr>
                </a:solidFill>
                <a:latin typeface="BLS Text" pitchFamily="2" charset="-34"/>
                <a:cs typeface="BLS Text" pitchFamily="2" charset="-34"/>
              </a:rPr>
              <a:t>ซึ่งสอดคล้องกับแนวคิดของ </a:t>
            </a:r>
            <a:r>
              <a:rPr lang="en-US" sz="1000" dirty="0">
                <a:solidFill>
                  <a:schemeClr val="tx1">
                    <a:lumMod val="65000"/>
                    <a:lumOff val="35000"/>
                  </a:schemeClr>
                </a:solidFill>
                <a:latin typeface="BLS Text" pitchFamily="2" charset="-34"/>
                <a:cs typeface="BLS Text" pitchFamily="2" charset="-34"/>
              </a:rPr>
              <a:t>multiple expansion </a:t>
            </a:r>
            <a:r>
              <a:rPr lang="th-TH" sz="1000" dirty="0">
                <a:solidFill>
                  <a:schemeClr val="tx1">
                    <a:lumMod val="65000"/>
                    <a:lumOff val="35000"/>
                  </a:schemeClr>
                </a:solidFill>
                <a:latin typeface="BLS Text" pitchFamily="2" charset="-34"/>
                <a:cs typeface="BLS Text" pitchFamily="2" charset="-34"/>
              </a:rPr>
              <a:t>นั่นคือ ตลาดไม่ได้เพียง </a:t>
            </a:r>
            <a:r>
              <a:rPr lang="en-US" sz="1000" dirty="0">
                <a:solidFill>
                  <a:schemeClr val="tx1">
                    <a:lumMod val="65000"/>
                    <a:lumOff val="35000"/>
                  </a:schemeClr>
                </a:solidFill>
                <a:latin typeface="BLS Text" pitchFamily="2" charset="-34"/>
                <a:cs typeface="BLS Text" pitchFamily="2" charset="-34"/>
              </a:rPr>
              <a:t>reprice </a:t>
            </a:r>
            <a:r>
              <a:rPr lang="th-TH" sz="1000" dirty="0">
                <a:solidFill>
                  <a:schemeClr val="tx1">
                    <a:lumMod val="65000"/>
                    <a:lumOff val="35000"/>
                  </a:schemeClr>
                </a:solidFill>
                <a:latin typeface="BLS Text" pitchFamily="2" charset="-34"/>
                <a:cs typeface="BLS Text" pitchFamily="2" charset="-34"/>
              </a:rPr>
              <a:t>จาก </a:t>
            </a:r>
            <a:r>
              <a:rPr lang="en-US" sz="1000" dirty="0">
                <a:solidFill>
                  <a:schemeClr val="tx1">
                    <a:lumMod val="65000"/>
                    <a:lumOff val="35000"/>
                  </a:schemeClr>
                </a:solidFill>
                <a:latin typeface="BLS Text" pitchFamily="2" charset="-34"/>
                <a:cs typeface="BLS Text" pitchFamily="2" charset="-34"/>
              </a:rPr>
              <a:t>earnings recovery </a:t>
            </a:r>
            <a:r>
              <a:rPr lang="th-TH" sz="1000" dirty="0">
                <a:solidFill>
                  <a:schemeClr val="tx1">
                    <a:lumMod val="65000"/>
                    <a:lumOff val="35000"/>
                  </a:schemeClr>
                </a:solidFill>
                <a:latin typeface="BLS Text" pitchFamily="2" charset="-34"/>
                <a:cs typeface="BLS Text" pitchFamily="2" charset="-34"/>
              </a:rPr>
              <a:t>แต่ </a:t>
            </a:r>
            <a:r>
              <a:rPr lang="en-US" sz="1000" dirty="0">
                <a:solidFill>
                  <a:schemeClr val="tx1">
                    <a:lumMod val="65000"/>
                    <a:lumOff val="35000"/>
                  </a:schemeClr>
                </a:solidFill>
                <a:latin typeface="BLS Text" pitchFamily="2" charset="-34"/>
                <a:cs typeface="BLS Text" pitchFamily="2" charset="-34"/>
              </a:rPr>
              <a:t>reprice </a:t>
            </a:r>
            <a:r>
              <a:rPr lang="th-TH" sz="1000" dirty="0">
                <a:solidFill>
                  <a:schemeClr val="tx1">
                    <a:lumMod val="65000"/>
                    <a:lumOff val="35000"/>
                  </a:schemeClr>
                </a:solidFill>
                <a:latin typeface="BLS Text" pitchFamily="2" charset="-34"/>
                <a:cs typeface="BLS Text" pitchFamily="2" charset="-34"/>
              </a:rPr>
              <a:t>จากการที่นักลงทุนเริ่ม </a:t>
            </a:r>
            <a:r>
              <a:rPr lang="en-US" sz="1000" dirty="0">
                <a:solidFill>
                  <a:schemeClr val="tx1">
                    <a:lumMod val="65000"/>
                    <a:lumOff val="35000"/>
                  </a:schemeClr>
                </a:solidFill>
                <a:latin typeface="BLS Text" pitchFamily="2" charset="-34"/>
                <a:cs typeface="BLS Text" pitchFamily="2" charset="-34"/>
              </a:rPr>
              <a:t>discount </a:t>
            </a:r>
            <a:r>
              <a:rPr lang="th-TH" sz="1000" dirty="0">
                <a:solidFill>
                  <a:schemeClr val="tx1">
                    <a:lumMod val="65000"/>
                    <a:lumOff val="35000"/>
                  </a:schemeClr>
                </a:solidFill>
                <a:latin typeface="BLS Text" pitchFamily="2" charset="-34"/>
                <a:cs typeface="BLS Text" pitchFamily="2" charset="-34"/>
              </a:rPr>
              <a:t>วัฏจักรใหม่ของผลตอบแทนต่อทุนที่ดีขึ้นด้วย ดังนั้น หาก </a:t>
            </a:r>
            <a:r>
              <a:rPr lang="en-US" sz="1000" dirty="0">
                <a:solidFill>
                  <a:schemeClr val="tx1">
                    <a:lumMod val="65000"/>
                    <a:lumOff val="35000"/>
                  </a:schemeClr>
                </a:solidFill>
                <a:latin typeface="BLS Text" pitchFamily="2" charset="-34"/>
                <a:cs typeface="BLS Text" pitchFamily="2" charset="-34"/>
              </a:rPr>
              <a:t>US ISM Manufacturing PMI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New Orders </a:t>
            </a:r>
            <a:r>
              <a:rPr lang="th-TH" sz="1000" dirty="0">
                <a:solidFill>
                  <a:schemeClr val="tx1">
                    <a:lumMod val="65000"/>
                    <a:lumOff val="35000"/>
                  </a:schemeClr>
                </a:solidFill>
                <a:latin typeface="BLS Text" pitchFamily="2" charset="-34"/>
                <a:cs typeface="BLS Text" pitchFamily="2" charset="-34"/>
              </a:rPr>
              <a:t>ยังอยู่ในแนวโน้มฟื้นตัวต่อ กลุ่มพลังงาน–ปิโตรเคมีมีแนวโน้มเป็นทั้ง กำไรนำตลาด (</a:t>
            </a:r>
            <a:r>
              <a:rPr lang="en-US" sz="1000" dirty="0">
                <a:solidFill>
                  <a:schemeClr val="tx1">
                    <a:lumMod val="65000"/>
                    <a:lumOff val="35000"/>
                  </a:schemeClr>
                </a:solidFill>
                <a:latin typeface="BLS Text" pitchFamily="2" charset="-34"/>
                <a:cs typeface="BLS Text" pitchFamily="2" charset="-34"/>
              </a:rPr>
              <a:t>earnings leader) </a:t>
            </a:r>
            <a:r>
              <a:rPr lang="th-TH" sz="1000" dirty="0">
                <a:solidFill>
                  <a:schemeClr val="tx1">
                    <a:lumMod val="65000"/>
                    <a:lumOff val="35000"/>
                  </a:schemeClr>
                </a:solidFill>
                <a:latin typeface="BLS Text" pitchFamily="2" charset="-34"/>
                <a:cs typeface="BLS Text" pitchFamily="2" charset="-34"/>
              </a:rPr>
              <a:t>และ การปรับมูลค่านำตลาด (</a:t>
            </a:r>
            <a:r>
              <a:rPr lang="en-US" sz="1000" dirty="0">
                <a:solidFill>
                  <a:schemeClr val="tx1">
                    <a:lumMod val="65000"/>
                    <a:lumOff val="35000"/>
                  </a:schemeClr>
                </a:solidFill>
                <a:latin typeface="BLS Text" pitchFamily="2" charset="-34"/>
                <a:cs typeface="BLS Text" pitchFamily="2" charset="-34"/>
              </a:rPr>
              <a:t>valuation leader) </a:t>
            </a:r>
            <a:r>
              <a:rPr lang="th-TH" sz="1000" dirty="0">
                <a:solidFill>
                  <a:schemeClr val="tx1">
                    <a:lumMod val="65000"/>
                    <a:lumOff val="35000"/>
                  </a:schemeClr>
                </a:solidFill>
                <a:latin typeface="BLS Text" pitchFamily="2" charset="-34"/>
                <a:cs typeface="BLS Text" pitchFamily="2" charset="-34"/>
              </a:rPr>
              <a:t>ในรอบนี้พร้อมกัน</a:t>
            </a:r>
          </a:p>
          <a:p>
            <a:pPr algn="thaiDist">
              <a:lnSpc>
                <a:spcPct val="120000"/>
              </a:lnSpc>
              <a:spcBef>
                <a:spcPts val="600"/>
              </a:spcBef>
              <a:buSzPct val="120000"/>
            </a:pPr>
            <a:endParaRPr lang="th-TH" sz="1000" dirty="0">
              <a:solidFill>
                <a:schemeClr val="tx1">
                  <a:lumMod val="65000"/>
                  <a:lumOff val="35000"/>
                </a:schemeClr>
              </a:solidFill>
              <a:latin typeface="BLS Text" pitchFamily="2" charset="-34"/>
              <a:cs typeface="BLS Text" pitchFamily="2" charset="-34"/>
            </a:endParaRPr>
          </a:p>
          <a:p>
            <a:pPr algn="thaiDist">
              <a:lnSpc>
                <a:spcPct val="120000"/>
              </a:lnSpc>
              <a:spcBef>
                <a:spcPts val="600"/>
              </a:spcBef>
              <a:buSzPct val="120000"/>
            </a:pPr>
            <a:endParaRPr lang="th-TH" sz="1000" b="1" dirty="0">
              <a:solidFill>
                <a:schemeClr val="tx1">
                  <a:lumMod val="65000"/>
                  <a:lumOff val="35000"/>
                </a:schemeClr>
              </a:solidFill>
              <a:latin typeface="BLS Text" pitchFamily="2" charset="-34"/>
              <a:cs typeface="BLS Text" pitchFamily="2" charset="-34"/>
            </a:endParaRPr>
          </a:p>
        </p:txBody>
      </p:sp>
      <p:sp>
        <p:nvSpPr>
          <p:cNvPr id="9" name="TextBox 8">
            <a:extLst>
              <a:ext uri="{FF2B5EF4-FFF2-40B4-BE49-F238E27FC236}">
                <a16:creationId xmlns:a16="http://schemas.microsoft.com/office/drawing/2014/main" id="{7F0E0049-F914-8FCF-8D71-9FBC04845A5D}"/>
              </a:ext>
            </a:extLst>
          </p:cNvPr>
          <p:cNvSpPr txBox="1"/>
          <p:nvPr/>
        </p:nvSpPr>
        <p:spPr>
          <a:xfrm>
            <a:off x="319628" y="899592"/>
            <a:ext cx="3095782" cy="7817525"/>
          </a:xfrm>
          <a:prstGeom prst="rect">
            <a:avLst/>
          </a:prstGeom>
          <a:noFill/>
          <a:ln>
            <a:noFill/>
          </a:ln>
        </p:spPr>
        <p:txBody>
          <a:bodyPr wrap="square" rtlCol="0">
            <a:spAutoFit/>
          </a:bodyPr>
          <a:lstStyle/>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กลุ่มหุ้นวัฏจักรจะเป็นแรงขับเคลื่อนสำคัญของตลาดในรอบการฟื้นตัวของภาคการผลิตโลก เนื่องจากโครงสร้างกำไรของตลาดหุ้นไทยมีความอ่อนไหวต่อ </a:t>
            </a:r>
            <a:r>
              <a:rPr lang="en-US" sz="1000" b="1" dirty="0">
                <a:solidFill>
                  <a:schemeClr val="tx1">
                    <a:lumMod val="65000"/>
                    <a:lumOff val="35000"/>
                  </a:schemeClr>
                </a:solidFill>
                <a:latin typeface="BLS Text" pitchFamily="2" charset="-34"/>
                <a:cs typeface="BLS Text" pitchFamily="2" charset="-34"/>
              </a:rPr>
              <a:t>global manufacturing cycle </a:t>
            </a:r>
            <a:r>
              <a:rPr lang="th-TH" sz="1000" b="1" dirty="0">
                <a:solidFill>
                  <a:schemeClr val="tx1">
                    <a:lumMod val="65000"/>
                    <a:lumOff val="35000"/>
                  </a:schemeClr>
                </a:solidFill>
                <a:latin typeface="BLS Text" pitchFamily="2" charset="-34"/>
                <a:cs typeface="BLS Text" pitchFamily="2" charset="-34"/>
              </a:rPr>
              <a:t>ค่อนข้างสูง </a:t>
            </a:r>
            <a:r>
              <a:rPr lang="th-TH" sz="1000" dirty="0">
                <a:solidFill>
                  <a:schemeClr val="tx1">
                    <a:lumMod val="65000"/>
                    <a:lumOff val="35000"/>
                  </a:schemeClr>
                </a:solidFill>
                <a:latin typeface="BLS Text" pitchFamily="2" charset="-34"/>
                <a:cs typeface="BLS Text" pitchFamily="2" charset="-34"/>
              </a:rPr>
              <a:t>กล่าวคือ เมื่อภาคการผลิตโลกเริ่มเข้าสู่ช่วงขยายตัว อุปสงค์ต่อพลังงาน วัตถุดิบอุตสาหกรรม และสินค้า </a:t>
            </a:r>
            <a:r>
              <a:rPr lang="en-US" sz="1000" dirty="0">
                <a:solidFill>
                  <a:schemeClr val="tx1">
                    <a:lumMod val="65000"/>
                    <a:lumOff val="35000"/>
                  </a:schemeClr>
                </a:solidFill>
                <a:latin typeface="BLS Text" pitchFamily="2" charset="-34"/>
                <a:cs typeface="BLS Text" pitchFamily="2" charset="-34"/>
              </a:rPr>
              <a:t>intermediate goods </a:t>
            </a:r>
            <a:r>
              <a:rPr lang="th-TH" sz="1000" dirty="0">
                <a:solidFill>
                  <a:schemeClr val="tx1">
                    <a:lumMod val="65000"/>
                    <a:lumOff val="35000"/>
                  </a:schemeClr>
                </a:solidFill>
                <a:latin typeface="BLS Text" pitchFamily="2" charset="-34"/>
                <a:cs typeface="BLS Text" pitchFamily="2" charset="-34"/>
              </a:rPr>
              <a:t>มักฟื้นตัวตาม ส่งผลให้ทั้ง </a:t>
            </a:r>
            <a:r>
              <a:rPr lang="en-US" sz="1000" dirty="0">
                <a:solidFill>
                  <a:schemeClr val="tx1">
                    <a:lumMod val="65000"/>
                    <a:lumOff val="35000"/>
                  </a:schemeClr>
                </a:solidFill>
                <a:latin typeface="BLS Text" pitchFamily="2" charset="-34"/>
                <a:cs typeface="BLS Text" pitchFamily="2" charset="-34"/>
              </a:rPr>
              <a:t>price realization, spread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operating leverage </a:t>
            </a:r>
            <a:r>
              <a:rPr lang="th-TH" sz="1000" dirty="0">
                <a:solidFill>
                  <a:schemeClr val="tx1">
                    <a:lumMod val="65000"/>
                    <a:lumOff val="35000"/>
                  </a:schemeClr>
                </a:solidFill>
                <a:latin typeface="BLS Text" pitchFamily="2" charset="-34"/>
                <a:cs typeface="BLS Text" pitchFamily="2" charset="-34"/>
              </a:rPr>
              <a:t>ของหุ้นในกลุ่มพลังงาน–ปิโตรเคมีปรับดีขึ้นพร้อมกัน ในเชิงสถิติ สัดส่วนกำไรของกลุ่ม </a:t>
            </a:r>
            <a:r>
              <a:rPr lang="en-US" sz="1000" dirty="0">
                <a:solidFill>
                  <a:schemeClr val="tx1">
                    <a:lumMod val="65000"/>
                    <a:lumOff val="35000"/>
                  </a:schemeClr>
                </a:solidFill>
                <a:latin typeface="BLS Text" pitchFamily="2" charset="-34"/>
                <a:cs typeface="BLS Text" pitchFamily="2" charset="-34"/>
              </a:rPr>
              <a:t>Energy-Chemical </a:t>
            </a:r>
            <a:r>
              <a:rPr lang="th-TH" sz="1000" dirty="0">
                <a:solidFill>
                  <a:schemeClr val="tx1">
                    <a:lumMod val="65000"/>
                    <a:lumOff val="35000"/>
                  </a:schemeClr>
                </a:solidFill>
                <a:latin typeface="BLS Text" pitchFamily="2" charset="-34"/>
                <a:cs typeface="BLS Text" pitchFamily="2" charset="-34"/>
              </a:rPr>
              <a:t>ต่อกำไรรวมของตลาดในช่วง </a:t>
            </a:r>
            <a:r>
              <a:rPr lang="en-US" sz="1000" dirty="0">
                <a:solidFill>
                  <a:schemeClr val="tx1">
                    <a:lumMod val="65000"/>
                    <a:lumOff val="35000"/>
                  </a:schemeClr>
                </a:solidFill>
                <a:latin typeface="BLS Text" pitchFamily="2" charset="-34"/>
                <a:cs typeface="BLS Text" pitchFamily="2" charset="-34"/>
              </a:rPr>
              <a:t>manufacturing upcycles </a:t>
            </a:r>
            <a:r>
              <a:rPr lang="th-TH" sz="1000" dirty="0">
                <a:solidFill>
                  <a:schemeClr val="tx1">
                    <a:lumMod val="65000"/>
                    <a:lumOff val="35000"/>
                  </a:schemeClr>
                </a:solidFill>
                <a:latin typeface="BLS Text" pitchFamily="2" charset="-34"/>
                <a:cs typeface="BLS Text" pitchFamily="2" charset="-34"/>
              </a:rPr>
              <a:t>เพิ่มขึ้นมาอยู่ที่เฉลี่ย 35.9% เทียบกับค่าเฉลี่ยทุกวัฏจักรที่ 28.4% หรือกล่าวได้ว่า ในช่วงที่ภาคการผลิตโลกเป็นขาขึ้น กลุ่มนี้จะมีน้ำหนักกำไรเพิ่มขึ้นมาอยู่ราว หนึ่งในสามของกำไรตลาด และบางรอบสามารถเร่งขึ้นได้ถึง 41–45% ของกำไรรวม สะท้อนบทบาทของหุ้นวัฏจักรในฐานะ </a:t>
            </a:r>
            <a:r>
              <a:rPr lang="en-US" sz="1000" dirty="0">
                <a:solidFill>
                  <a:schemeClr val="tx1">
                    <a:lumMod val="65000"/>
                    <a:lumOff val="35000"/>
                  </a:schemeClr>
                </a:solidFill>
                <a:latin typeface="BLS Text" pitchFamily="2" charset="-34"/>
                <a:cs typeface="BLS Text" pitchFamily="2" charset="-34"/>
              </a:rPr>
              <a:t>earnings leadership </a:t>
            </a:r>
            <a:r>
              <a:rPr lang="th-TH" sz="1000" dirty="0">
                <a:solidFill>
                  <a:schemeClr val="tx1">
                    <a:lumMod val="65000"/>
                    <a:lumOff val="35000"/>
                  </a:schemeClr>
                </a:solidFill>
                <a:latin typeface="BLS Text" pitchFamily="2" charset="-34"/>
                <a:cs typeface="BLS Text" pitchFamily="2" charset="-34"/>
              </a:rPr>
              <a:t>ของตลาดอย่างชัดเจน</a:t>
            </a:r>
          </a:p>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ในเชิงกลไก กำไรของหุ้นกลุ่มนี้มักฟื้นตัวผ่าน 3 ช่องทางหลัก ได้แก่ 1) การฟื้นตัวของราคาสินค้าโภคภัณฑ์และผลิตภัณฑ์ปลายน้ำ, 2) การขยายตัวของ </a:t>
            </a:r>
            <a:r>
              <a:rPr lang="en-US" sz="1000" b="1" dirty="0">
                <a:solidFill>
                  <a:schemeClr val="tx1">
                    <a:lumMod val="65000"/>
                    <a:lumOff val="35000"/>
                  </a:schemeClr>
                </a:solidFill>
                <a:latin typeface="BLS Text" pitchFamily="2" charset="-34"/>
                <a:cs typeface="BLS Text" pitchFamily="2" charset="-34"/>
              </a:rPr>
              <a:t>spread </a:t>
            </a:r>
            <a:r>
              <a:rPr lang="th-TH" sz="1000" b="1" dirty="0">
                <a:solidFill>
                  <a:schemeClr val="tx1">
                    <a:lumMod val="65000"/>
                    <a:lumOff val="35000"/>
                  </a:schemeClr>
                </a:solidFill>
                <a:latin typeface="BLS Text" pitchFamily="2" charset="-34"/>
                <a:cs typeface="BLS Text" pitchFamily="2" charset="-34"/>
              </a:rPr>
              <a:t>หรือ </a:t>
            </a:r>
            <a:r>
              <a:rPr lang="en-US" sz="1000" b="1" dirty="0">
                <a:solidFill>
                  <a:schemeClr val="tx1">
                    <a:lumMod val="65000"/>
                    <a:lumOff val="35000"/>
                  </a:schemeClr>
                </a:solidFill>
                <a:latin typeface="BLS Text" pitchFamily="2" charset="-34"/>
                <a:cs typeface="BLS Text" pitchFamily="2" charset="-34"/>
              </a:rPr>
              <a:t>margin </a:t>
            </a:r>
            <a:r>
              <a:rPr lang="th-TH" sz="1000" b="1" dirty="0">
                <a:solidFill>
                  <a:schemeClr val="tx1">
                    <a:lumMod val="65000"/>
                    <a:lumOff val="35000"/>
                  </a:schemeClr>
                </a:solidFill>
                <a:latin typeface="BLS Text" pitchFamily="2" charset="-34"/>
                <a:cs typeface="BLS Text" pitchFamily="2" charset="-34"/>
              </a:rPr>
              <a:t>ตามอุปสงค์อุตสาหกรรม, และ 3) การเร่งตัวของ </a:t>
            </a:r>
            <a:r>
              <a:rPr lang="en-US" sz="1000" b="1" dirty="0">
                <a:solidFill>
                  <a:schemeClr val="tx1">
                    <a:lumMod val="65000"/>
                    <a:lumOff val="35000"/>
                  </a:schemeClr>
                </a:solidFill>
                <a:latin typeface="BLS Text" pitchFamily="2" charset="-34"/>
                <a:cs typeface="BLS Text" pitchFamily="2" charset="-34"/>
              </a:rPr>
              <a:t>ROE </a:t>
            </a:r>
            <a:r>
              <a:rPr lang="th-TH" sz="1000" b="1" dirty="0">
                <a:solidFill>
                  <a:schemeClr val="tx1">
                    <a:lumMod val="65000"/>
                    <a:lumOff val="35000"/>
                  </a:schemeClr>
                </a:solidFill>
                <a:latin typeface="BLS Text" pitchFamily="2" charset="-34"/>
                <a:cs typeface="BLS Text" pitchFamily="2" charset="-34"/>
              </a:rPr>
              <a:t>จาก </a:t>
            </a:r>
            <a:r>
              <a:rPr lang="en-US" sz="1000" b="1" dirty="0">
                <a:solidFill>
                  <a:schemeClr val="tx1">
                    <a:lumMod val="65000"/>
                    <a:lumOff val="35000"/>
                  </a:schemeClr>
                </a:solidFill>
                <a:latin typeface="BLS Text" pitchFamily="2" charset="-34"/>
                <a:cs typeface="BLS Text" pitchFamily="2" charset="-34"/>
              </a:rPr>
              <a:t>operating leverage </a:t>
            </a:r>
            <a:r>
              <a:rPr lang="th-TH" sz="1000" dirty="0">
                <a:solidFill>
                  <a:schemeClr val="tx1">
                    <a:lumMod val="65000"/>
                    <a:lumOff val="35000"/>
                  </a:schemeClr>
                </a:solidFill>
                <a:latin typeface="BLS Text" pitchFamily="2" charset="-34"/>
                <a:cs typeface="BLS Text" pitchFamily="2" charset="-34"/>
              </a:rPr>
              <a:t>โดยข้อมูลในอดีตชี้ว่า ในช่วงที่ภาคการผลิตโลกขยายตัว </a:t>
            </a:r>
            <a:r>
              <a:rPr lang="en-US" sz="1000" dirty="0">
                <a:solidFill>
                  <a:schemeClr val="tx1">
                    <a:lumMod val="65000"/>
                    <a:lumOff val="35000"/>
                  </a:schemeClr>
                </a:solidFill>
                <a:latin typeface="BLS Text" pitchFamily="2" charset="-34"/>
                <a:cs typeface="BLS Text" pitchFamily="2" charset="-34"/>
              </a:rPr>
              <a:t>ROE </a:t>
            </a:r>
            <a:r>
              <a:rPr lang="th-TH" sz="1000" dirty="0">
                <a:solidFill>
                  <a:schemeClr val="tx1">
                    <a:lumMod val="65000"/>
                    <a:lumOff val="35000"/>
                  </a:schemeClr>
                </a:solidFill>
                <a:latin typeface="BLS Text" pitchFamily="2" charset="-34"/>
                <a:cs typeface="BLS Text" pitchFamily="2" charset="-34"/>
              </a:rPr>
              <a:t>ของ </a:t>
            </a:r>
            <a:r>
              <a:rPr lang="en-US" sz="1000" dirty="0">
                <a:solidFill>
                  <a:schemeClr val="tx1">
                    <a:lumMod val="65000"/>
                    <a:lumOff val="35000"/>
                  </a:schemeClr>
                </a:solidFill>
                <a:latin typeface="BLS Text" pitchFamily="2" charset="-34"/>
                <a:cs typeface="BLS Text" pitchFamily="2" charset="-34"/>
              </a:rPr>
              <a:t>SET </a:t>
            </a:r>
            <a:r>
              <a:rPr lang="th-TH" sz="1000" dirty="0">
                <a:solidFill>
                  <a:schemeClr val="tx1">
                    <a:lumMod val="65000"/>
                    <a:lumOff val="35000"/>
                  </a:schemeClr>
                </a:solidFill>
                <a:latin typeface="BLS Text" pitchFamily="2" charset="-34"/>
                <a:cs typeface="BLS Text" pitchFamily="2" charset="-34"/>
              </a:rPr>
              <a:t>มักเพิ่มขึ้นมาอยู่ที่เฉลี่ย 10.8% เทียบกับค่าเฉลี่ยทุกวัฏจักรที่ 10.0% ขณะที่ </a:t>
            </a:r>
            <a:r>
              <a:rPr lang="en-US" sz="1000" dirty="0">
                <a:solidFill>
                  <a:schemeClr val="tx1">
                    <a:lumMod val="65000"/>
                    <a:lumOff val="35000"/>
                  </a:schemeClr>
                </a:solidFill>
                <a:latin typeface="BLS Text" pitchFamily="2" charset="-34"/>
                <a:cs typeface="BLS Text" pitchFamily="2" charset="-34"/>
              </a:rPr>
              <a:t>EBIT margin </a:t>
            </a:r>
            <a:r>
              <a:rPr lang="th-TH" sz="1000" dirty="0">
                <a:solidFill>
                  <a:schemeClr val="tx1">
                    <a:lumMod val="65000"/>
                    <a:lumOff val="35000"/>
                  </a:schemeClr>
                </a:solidFill>
                <a:latin typeface="BLS Text" pitchFamily="2" charset="-34"/>
                <a:cs typeface="BLS Text" pitchFamily="2" charset="-34"/>
              </a:rPr>
              <a:t>ของ </a:t>
            </a:r>
            <a:r>
              <a:rPr lang="en-US" sz="1000" dirty="0">
                <a:solidFill>
                  <a:schemeClr val="tx1">
                    <a:lumMod val="65000"/>
                    <a:lumOff val="35000"/>
                  </a:schemeClr>
                </a:solidFill>
                <a:latin typeface="BLS Text" pitchFamily="2" charset="-34"/>
                <a:cs typeface="BLS Text" pitchFamily="2" charset="-34"/>
              </a:rPr>
              <a:t>SET </a:t>
            </a:r>
            <a:r>
              <a:rPr lang="th-TH" sz="1000" dirty="0">
                <a:solidFill>
                  <a:schemeClr val="tx1">
                    <a:lumMod val="65000"/>
                    <a:lumOff val="35000"/>
                  </a:schemeClr>
                </a:solidFill>
                <a:latin typeface="BLS Text" pitchFamily="2" charset="-34"/>
                <a:cs typeface="BLS Text" pitchFamily="2" charset="-34"/>
              </a:rPr>
              <a:t>ในช่วงดังกล่าวอยู่ที่เฉลี่ย 10.0% เทียบกับค่าเฉลี่ยทุกวัฏจักรที่ 9.2% สะท้อนว่าเมื่อ </a:t>
            </a:r>
            <a:r>
              <a:rPr lang="en-US" sz="1000" dirty="0">
                <a:solidFill>
                  <a:schemeClr val="tx1">
                    <a:lumMod val="65000"/>
                    <a:lumOff val="35000"/>
                  </a:schemeClr>
                </a:solidFill>
                <a:latin typeface="BLS Text" pitchFamily="2" charset="-34"/>
                <a:cs typeface="BLS Text" pitchFamily="2" charset="-34"/>
              </a:rPr>
              <a:t>global cycle </a:t>
            </a:r>
            <a:r>
              <a:rPr lang="th-TH" sz="1000" dirty="0">
                <a:solidFill>
                  <a:schemeClr val="tx1">
                    <a:lumMod val="65000"/>
                    <a:lumOff val="35000"/>
                  </a:schemeClr>
                </a:solidFill>
                <a:latin typeface="BLS Text" pitchFamily="2" charset="-34"/>
                <a:cs typeface="BLS Text" pitchFamily="2" charset="-34"/>
              </a:rPr>
              <a:t>ฟื้น ตลาดไทยไม่ได้ฟื้นเพียงในมิติของกำไร แต่ฟื้นในเชิง </a:t>
            </a:r>
            <a:r>
              <a:rPr lang="en-US" sz="1000" dirty="0">
                <a:solidFill>
                  <a:schemeClr val="tx1">
                    <a:lumMod val="65000"/>
                    <a:lumOff val="35000"/>
                  </a:schemeClr>
                </a:solidFill>
                <a:latin typeface="BLS Text" pitchFamily="2" charset="-34"/>
                <a:cs typeface="BLS Text" pitchFamily="2" charset="-34"/>
              </a:rPr>
              <a:t>profitability regime </a:t>
            </a:r>
            <a:r>
              <a:rPr lang="th-TH" sz="1000" dirty="0">
                <a:solidFill>
                  <a:schemeClr val="tx1">
                    <a:lumMod val="65000"/>
                    <a:lumOff val="35000"/>
                  </a:schemeClr>
                </a:solidFill>
                <a:latin typeface="BLS Text" pitchFamily="2" charset="-34"/>
                <a:cs typeface="BLS Text" pitchFamily="2" charset="-34"/>
              </a:rPr>
              <a:t>ด้วย กล่าวคือ ทั้งกำไร, </a:t>
            </a:r>
            <a:r>
              <a:rPr lang="en-US" sz="1000" dirty="0">
                <a:solidFill>
                  <a:schemeClr val="tx1">
                    <a:lumMod val="65000"/>
                    <a:lumOff val="35000"/>
                  </a:schemeClr>
                </a:solidFill>
                <a:latin typeface="BLS Text" pitchFamily="2" charset="-34"/>
                <a:cs typeface="BLS Text" pitchFamily="2" charset="-34"/>
              </a:rPr>
              <a:t>margin </a:t>
            </a:r>
            <a:r>
              <a:rPr lang="th-TH" sz="1000" dirty="0">
                <a:solidFill>
                  <a:schemeClr val="tx1">
                    <a:lumMod val="65000"/>
                    <a:lumOff val="35000"/>
                  </a:schemeClr>
                </a:solidFill>
                <a:latin typeface="BLS Text" pitchFamily="2" charset="-34"/>
                <a:cs typeface="BLS Text" pitchFamily="2" charset="-34"/>
              </a:rPr>
              <a:t>และคุณภาพผลตอบแทนต่อทุนมักดีขึ้นพร้อมกัน</a:t>
            </a:r>
          </a:p>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ในระดับอุตสาหกรรม พลังงานต้นน้ำ โรงกลั่น และปิโตรเคมี มักเข้าสู่รอบกำไรขาขึ้นอย่างมีนัยสำคัญเมื่อ </a:t>
            </a:r>
            <a:r>
              <a:rPr lang="en-US" sz="1000" b="1" dirty="0">
                <a:solidFill>
                  <a:schemeClr val="tx1">
                    <a:lumMod val="65000"/>
                    <a:lumOff val="35000"/>
                  </a:schemeClr>
                </a:solidFill>
                <a:latin typeface="BLS Text" pitchFamily="2" charset="-34"/>
                <a:cs typeface="BLS Text" pitchFamily="2" charset="-34"/>
              </a:rPr>
              <a:t>US ISM Manufacturing PMI </a:t>
            </a:r>
            <a:r>
              <a:rPr lang="th-TH" sz="1000" b="1" dirty="0">
                <a:solidFill>
                  <a:schemeClr val="tx1">
                    <a:lumMod val="65000"/>
                    <a:lumOff val="35000"/>
                  </a:schemeClr>
                </a:solidFill>
                <a:latin typeface="BLS Text" pitchFamily="2" charset="-34"/>
                <a:cs typeface="BLS Text" pitchFamily="2" charset="-34"/>
              </a:rPr>
              <a:t>ฟื้นตัว </a:t>
            </a:r>
            <a:r>
              <a:rPr lang="th-TH" sz="1000" dirty="0">
                <a:solidFill>
                  <a:schemeClr val="tx1">
                    <a:lumMod val="65000"/>
                    <a:lumOff val="35000"/>
                  </a:schemeClr>
                </a:solidFill>
                <a:latin typeface="BLS Text" pitchFamily="2" charset="-34"/>
                <a:cs typeface="BLS Text" pitchFamily="2" charset="-34"/>
              </a:rPr>
              <a:t>โดยเฉพาะเมื่อ </a:t>
            </a:r>
            <a:r>
              <a:rPr lang="en-US" sz="1000" dirty="0">
                <a:solidFill>
                  <a:schemeClr val="tx1">
                    <a:lumMod val="65000"/>
                    <a:lumOff val="35000"/>
                  </a:schemeClr>
                </a:solidFill>
                <a:latin typeface="BLS Text" pitchFamily="2" charset="-34"/>
                <a:cs typeface="BLS Text" pitchFamily="2" charset="-34"/>
              </a:rPr>
              <a:t>leading indicator </a:t>
            </a:r>
            <a:r>
              <a:rPr lang="th-TH" sz="1000" dirty="0">
                <a:solidFill>
                  <a:schemeClr val="tx1">
                    <a:lumMod val="65000"/>
                    <a:lumOff val="35000"/>
                  </a:schemeClr>
                </a:solidFill>
                <a:latin typeface="BLS Text" pitchFamily="2" charset="-34"/>
                <a:cs typeface="BLS Text" pitchFamily="2" charset="-34"/>
              </a:rPr>
              <a:t>อย่าง </a:t>
            </a:r>
            <a:r>
              <a:rPr lang="en-US" sz="1000" dirty="0">
                <a:solidFill>
                  <a:schemeClr val="tx1">
                    <a:lumMod val="65000"/>
                    <a:lumOff val="35000"/>
                  </a:schemeClr>
                </a:solidFill>
                <a:latin typeface="BLS Text" pitchFamily="2" charset="-34"/>
                <a:cs typeface="BLS Text" pitchFamily="2" charset="-34"/>
              </a:rPr>
              <a:t>US PMI New Orders </a:t>
            </a:r>
            <a:r>
              <a:rPr lang="th-TH" sz="1000" dirty="0">
                <a:solidFill>
                  <a:schemeClr val="tx1">
                    <a:lumMod val="65000"/>
                    <a:lumOff val="35000"/>
                  </a:schemeClr>
                </a:solidFill>
                <a:latin typeface="BLS Text" pitchFamily="2" charset="-34"/>
                <a:cs typeface="BLS Text" pitchFamily="2" charset="-34"/>
              </a:rPr>
              <a:t>กลับมาขยายตัวและทำจุดสูงใหม่ ซึ่งมักส่งสัญญาณล่วงหน้าต่อการฟื้นตัวของ </a:t>
            </a:r>
            <a:r>
              <a:rPr lang="en-US" sz="1000" dirty="0">
                <a:solidFill>
                  <a:schemeClr val="tx1">
                    <a:lumMod val="65000"/>
                    <a:lumOff val="35000"/>
                  </a:schemeClr>
                </a:solidFill>
                <a:latin typeface="BLS Text" pitchFamily="2" charset="-34"/>
                <a:cs typeface="BLS Text" pitchFamily="2" charset="-34"/>
              </a:rPr>
              <a:t>trade volume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industrial demand </a:t>
            </a:r>
            <a:r>
              <a:rPr lang="th-TH" sz="1000" dirty="0">
                <a:solidFill>
                  <a:schemeClr val="tx1">
                    <a:lumMod val="65000"/>
                    <a:lumOff val="35000"/>
                  </a:schemeClr>
                </a:solidFill>
                <a:latin typeface="BLS Text" pitchFamily="2" charset="-34"/>
                <a:cs typeface="BLS Text" pitchFamily="2" charset="-34"/>
              </a:rPr>
              <a:t>สำหรับกลุ่ม </a:t>
            </a:r>
            <a:r>
              <a:rPr lang="en-US" sz="1000" dirty="0">
                <a:solidFill>
                  <a:schemeClr val="tx1">
                    <a:lumMod val="65000"/>
                    <a:lumOff val="35000"/>
                  </a:schemeClr>
                </a:solidFill>
                <a:latin typeface="BLS Text" pitchFamily="2" charset="-34"/>
                <a:cs typeface="BLS Text" pitchFamily="2" charset="-34"/>
              </a:rPr>
              <a:t>upstream </a:t>
            </a:r>
            <a:r>
              <a:rPr lang="th-TH" sz="1000" dirty="0">
                <a:solidFill>
                  <a:schemeClr val="tx1">
                    <a:lumMod val="65000"/>
                    <a:lumOff val="35000"/>
                  </a:schemeClr>
                </a:solidFill>
                <a:latin typeface="BLS Text" pitchFamily="2" charset="-34"/>
                <a:cs typeface="BLS Text" pitchFamily="2" charset="-34"/>
              </a:rPr>
              <a:t>อย่าง </a:t>
            </a:r>
            <a:r>
              <a:rPr lang="en-US" sz="1000" dirty="0">
                <a:solidFill>
                  <a:schemeClr val="tx1">
                    <a:lumMod val="65000"/>
                    <a:lumOff val="35000"/>
                  </a:schemeClr>
                </a:solidFill>
                <a:latin typeface="BLS Text" pitchFamily="2" charset="-34"/>
                <a:cs typeface="BLS Text" pitchFamily="2" charset="-34"/>
              </a:rPr>
              <a:t>PTTEP </a:t>
            </a:r>
            <a:r>
              <a:rPr lang="th-TH" sz="1000" dirty="0">
                <a:solidFill>
                  <a:schemeClr val="tx1">
                    <a:lumMod val="65000"/>
                    <a:lumOff val="35000"/>
                  </a:schemeClr>
                </a:solidFill>
                <a:latin typeface="BLS Text" pitchFamily="2" charset="-34"/>
                <a:cs typeface="BLS Text" pitchFamily="2" charset="-34"/>
              </a:rPr>
              <a:t>ได้แรงหนุนจากราคาน้ำมันดิบ </a:t>
            </a:r>
            <a:r>
              <a:rPr lang="en-US" sz="1000" dirty="0">
                <a:solidFill>
                  <a:schemeClr val="tx1">
                    <a:lumMod val="65000"/>
                    <a:lumOff val="35000"/>
                  </a:schemeClr>
                </a:solidFill>
                <a:latin typeface="BLS Text" pitchFamily="2" charset="-34"/>
                <a:cs typeface="BLS Text" pitchFamily="2" charset="-34"/>
              </a:rPr>
              <a:t>Brent </a:t>
            </a:r>
            <a:r>
              <a:rPr lang="th-TH" sz="1000" dirty="0">
                <a:solidFill>
                  <a:schemeClr val="tx1">
                    <a:lumMod val="65000"/>
                    <a:lumOff val="35000"/>
                  </a:schemeClr>
                </a:solidFill>
                <a:latin typeface="BLS Text" pitchFamily="2" charset="-34"/>
                <a:cs typeface="BLS Text" pitchFamily="2" charset="-34"/>
              </a:rPr>
              <a:t>ที่ในอดีตรอบขาขึ้นของการผลิตโลกมักปรับเพิ่มขึ้นอย่างน้อย 10–15 ดอลลาร์ต่อบาร์เรล หรือราว 0.5 </a:t>
            </a:r>
            <a:r>
              <a:rPr lang="en-US" sz="1000" dirty="0">
                <a:solidFill>
                  <a:schemeClr val="tx1">
                    <a:lumMod val="65000"/>
                    <a:lumOff val="35000"/>
                  </a:schemeClr>
                </a:solidFill>
                <a:latin typeface="BLS Text" pitchFamily="2" charset="-34"/>
                <a:cs typeface="BLS Text" pitchFamily="2" charset="-34"/>
              </a:rPr>
              <a:t>SD </a:t>
            </a:r>
            <a:r>
              <a:rPr lang="th-TH" sz="1000" dirty="0">
                <a:solidFill>
                  <a:schemeClr val="tx1">
                    <a:lumMod val="65000"/>
                    <a:lumOff val="35000"/>
                  </a:schemeClr>
                </a:solidFill>
                <a:latin typeface="BLS Text" pitchFamily="2" charset="-34"/>
                <a:cs typeface="BLS Text" pitchFamily="2" charset="-34"/>
              </a:rPr>
              <a:t>จากฐานเดิม ขึ้นอยู่กับภาวะอุปสงค์–อุปทานในแต่ละรอบ</a:t>
            </a:r>
            <a:endParaRPr lang="th-TH" sz="1000" b="1" dirty="0">
              <a:solidFill>
                <a:schemeClr val="tx1">
                  <a:lumMod val="65000"/>
                  <a:lumOff val="35000"/>
                </a:schemeClr>
              </a:solidFill>
              <a:latin typeface="BLS Text" pitchFamily="2" charset="-34"/>
              <a:cs typeface="BLS Text" pitchFamily="2" charset="-34"/>
            </a:endParaRPr>
          </a:p>
        </p:txBody>
      </p:sp>
    </p:spTree>
    <p:extLst>
      <p:ext uri="{BB962C8B-B14F-4D97-AF65-F5344CB8AC3E}">
        <p14:creationId xmlns:p14="http://schemas.microsoft.com/office/powerpoint/2010/main" val="1392956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2" name="TextBox 1">
            <a:extLst>
              <a:ext uri="{FF2B5EF4-FFF2-40B4-BE49-F238E27FC236}">
                <a16:creationId xmlns:a16="http://schemas.microsoft.com/office/drawing/2014/main" id="{DF7710F9-7B03-D47B-016D-DB8140DA5BDC}"/>
              </a:ext>
            </a:extLst>
          </p:cNvPr>
          <p:cNvSpPr txBox="1"/>
          <p:nvPr/>
        </p:nvSpPr>
        <p:spPr>
          <a:xfrm>
            <a:off x="188640" y="839778"/>
            <a:ext cx="6344324" cy="707886"/>
          </a:xfrm>
          <a:prstGeom prst="rect">
            <a:avLst/>
          </a:prstGeom>
          <a:noFill/>
        </p:spPr>
        <p:txBody>
          <a:bodyPr wrap="square">
            <a:spAutoFit/>
          </a:bodyPr>
          <a:lstStyle/>
          <a:p>
            <a:pPr algn="r"/>
            <a:r>
              <a:rPr lang="th-TH" altLang="en-US" sz="2000" dirty="0">
                <a:solidFill>
                  <a:schemeClr val="accent2"/>
                </a:solidFill>
                <a:latin typeface="BLS Condensed Bold" panose="00000800000000000000" pitchFamily="2" charset="-34"/>
                <a:ea typeface="Tahoma" pitchFamily="34" charset="0"/>
                <a:cs typeface="BLS Condensed Bold" panose="00000800000000000000" pitchFamily="2" charset="-34"/>
              </a:rPr>
              <a:t>จุดเริ่มรอบขาขึ้นใหม่หุ้นวัฏจักรไทย</a:t>
            </a:r>
          </a:p>
          <a:p>
            <a:pPr algn="r"/>
            <a:r>
              <a:rPr lang="th-TH" altLang="en-US" sz="2000" dirty="0">
                <a:solidFill>
                  <a:schemeClr val="accent2"/>
                </a:solidFill>
                <a:latin typeface="BLS Condensed Bold" panose="00000800000000000000" pitchFamily="2" charset="-34"/>
                <a:ea typeface="Tahoma" pitchFamily="34" charset="0"/>
                <a:cs typeface="BLS Condensed Bold" panose="00000800000000000000" pitchFamily="2" charset="-34"/>
              </a:rPr>
              <a:t>กลุ่มปิโตรฯ</a:t>
            </a:r>
          </a:p>
        </p:txBody>
      </p:sp>
      <p:sp>
        <p:nvSpPr>
          <p:cNvPr id="16" name="TextBox 15">
            <a:extLst>
              <a:ext uri="{FF2B5EF4-FFF2-40B4-BE49-F238E27FC236}">
                <a16:creationId xmlns:a16="http://schemas.microsoft.com/office/drawing/2014/main" id="{5BC5EC73-C158-4522-8EA3-0470D38883B7}"/>
              </a:ext>
            </a:extLst>
          </p:cNvPr>
          <p:cNvSpPr txBox="1">
            <a:spLocks noChangeArrowheads="1"/>
          </p:cNvSpPr>
          <p:nvPr/>
        </p:nvSpPr>
        <p:spPr bwMode="auto">
          <a:xfrm>
            <a:off x="382301" y="8491790"/>
            <a:ext cx="31090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600" dirty="0">
                <a:solidFill>
                  <a:srgbClr val="404040"/>
                </a:solidFill>
                <a:latin typeface="BLS Condensed" pitchFamily="2" charset="-34"/>
                <a:cs typeface="BLS Condensed" pitchFamily="2" charset="-34"/>
              </a:rPr>
              <a:t>Source: Bloomberg,</a:t>
            </a:r>
            <a:r>
              <a:rPr lang="th-TH" sz="600" dirty="0">
                <a:solidFill>
                  <a:srgbClr val="404040"/>
                </a:solidFill>
                <a:latin typeface="BLS Condensed" pitchFamily="2" charset="-34"/>
                <a:cs typeface="BLS Condensed" pitchFamily="2" charset="-34"/>
              </a:rPr>
              <a:t> </a:t>
            </a:r>
            <a:r>
              <a:rPr lang="en-US" sz="600" dirty="0" err="1">
                <a:solidFill>
                  <a:srgbClr val="404040"/>
                </a:solidFill>
                <a:latin typeface="BLS Condensed" pitchFamily="2" charset="-34"/>
                <a:cs typeface="BLS Condensed" pitchFamily="2" charset="-34"/>
              </a:rPr>
              <a:t>Bualuang</a:t>
            </a:r>
            <a:r>
              <a:rPr lang="en-US" sz="600" dirty="0">
                <a:solidFill>
                  <a:srgbClr val="404040"/>
                </a:solidFill>
                <a:latin typeface="BLS Condensed" pitchFamily="2" charset="-34"/>
                <a:cs typeface="BLS Condensed" pitchFamily="2" charset="-34"/>
              </a:rPr>
              <a:t> Research </a:t>
            </a:r>
          </a:p>
        </p:txBody>
      </p:sp>
      <p:cxnSp>
        <p:nvCxnSpPr>
          <p:cNvPr id="20" name="Straight Connector 19">
            <a:extLst>
              <a:ext uri="{FF2B5EF4-FFF2-40B4-BE49-F238E27FC236}">
                <a16:creationId xmlns:a16="http://schemas.microsoft.com/office/drawing/2014/main" id="{F4915A1D-57DC-D3FB-CC72-71B4C0BD42F1}"/>
              </a:ext>
            </a:extLst>
          </p:cNvPr>
          <p:cNvCxnSpPr>
            <a:cxnSpLocks/>
          </p:cNvCxnSpPr>
          <p:nvPr/>
        </p:nvCxnSpPr>
        <p:spPr>
          <a:xfrm>
            <a:off x="320593" y="8491790"/>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8392934-E08D-B2BE-90B9-CF95010BBE6A}"/>
              </a:ext>
            </a:extLst>
          </p:cNvPr>
          <p:cNvSpPr txBox="1"/>
          <p:nvPr/>
        </p:nvSpPr>
        <p:spPr>
          <a:xfrm>
            <a:off x="3464359" y="1619672"/>
            <a:ext cx="3188101" cy="2723823"/>
          </a:xfrm>
          <a:prstGeom prst="rect">
            <a:avLst/>
          </a:prstGeom>
          <a:noFill/>
          <a:ln>
            <a:noFill/>
          </a:ln>
        </p:spPr>
        <p:txBody>
          <a:bodyPr wrap="square" rtlCol="0">
            <a:spAutoFit/>
          </a:bodyPr>
          <a:lstStyle/>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ต่ำสุดในช่วงวิกฤตปี 2008 จะช่วยจำกัด </a:t>
            </a:r>
            <a:r>
              <a:rPr lang="en-US" sz="1000" dirty="0">
                <a:solidFill>
                  <a:schemeClr val="tx1">
                    <a:lumMod val="65000"/>
                    <a:lumOff val="35000"/>
                  </a:schemeClr>
                </a:solidFill>
                <a:latin typeface="BLS Text" pitchFamily="2" charset="-34"/>
                <a:cs typeface="BLS Text" pitchFamily="2" charset="-34"/>
              </a:rPr>
              <a:t>downside </a:t>
            </a:r>
            <a:r>
              <a:rPr lang="th-TH" sz="1000" dirty="0">
                <a:solidFill>
                  <a:schemeClr val="tx1">
                    <a:lumMod val="65000"/>
                    <a:lumOff val="35000"/>
                  </a:schemeClr>
                </a:solidFill>
                <a:latin typeface="BLS Text" pitchFamily="2" charset="-34"/>
                <a:cs typeface="BLS Text" pitchFamily="2" charset="-34"/>
              </a:rPr>
              <a:t>ขณะที่ วงจรการผลิตโลกจะเป็นแรงส่งอุปสงค์ให้เพิ่มขึ้น หนุนทิศทางกำไร-</a:t>
            </a:r>
            <a:r>
              <a:rPr lang="en-US" sz="1000" dirty="0">
                <a:solidFill>
                  <a:schemeClr val="tx1">
                    <a:lumMod val="65000"/>
                    <a:lumOff val="35000"/>
                  </a:schemeClr>
                </a:solidFill>
                <a:latin typeface="BLS Text" pitchFamily="2" charset="-34"/>
                <a:cs typeface="BLS Text" pitchFamily="2" charset="-34"/>
              </a:rPr>
              <a:t>ROE </a:t>
            </a:r>
            <a:r>
              <a:rPr lang="th-TH" sz="1000" dirty="0">
                <a:solidFill>
                  <a:schemeClr val="tx1">
                    <a:lumMod val="65000"/>
                    <a:lumOff val="35000"/>
                  </a:schemeClr>
                </a:solidFill>
                <a:latin typeface="BLS Text" pitchFamily="2" charset="-34"/>
                <a:cs typeface="BLS Text" pitchFamily="2" charset="-34"/>
              </a:rPr>
              <a:t>และมีโอกาสเห็นการปรับ </a:t>
            </a:r>
            <a:r>
              <a:rPr lang="en-US" sz="1000" dirty="0">
                <a:solidFill>
                  <a:schemeClr val="tx1">
                    <a:lumMod val="65000"/>
                    <a:lumOff val="35000"/>
                  </a:schemeClr>
                </a:solidFill>
                <a:latin typeface="BLS Text" pitchFamily="2" charset="-34"/>
                <a:cs typeface="BLS Text" pitchFamily="2" charset="-34"/>
              </a:rPr>
              <a:t>PBV </a:t>
            </a:r>
            <a:r>
              <a:rPr lang="th-TH" sz="1000" dirty="0">
                <a:solidFill>
                  <a:schemeClr val="tx1">
                    <a:lumMod val="65000"/>
                    <a:lumOff val="35000"/>
                  </a:schemeClr>
                </a:solidFill>
                <a:latin typeface="BLS Text" pitchFamily="2" charset="-34"/>
                <a:cs typeface="BLS Text" pitchFamily="2" charset="-34"/>
              </a:rPr>
              <a:t>เพิ่มขึ้น</a:t>
            </a:r>
          </a:p>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เบื้องต้น หากส่วนต่าง </a:t>
            </a:r>
            <a:r>
              <a:rPr lang="en-US" sz="1000" b="1" dirty="0">
                <a:solidFill>
                  <a:schemeClr val="tx1">
                    <a:lumMod val="65000"/>
                    <a:lumOff val="35000"/>
                  </a:schemeClr>
                </a:solidFill>
                <a:latin typeface="BLS Text" pitchFamily="2" charset="-34"/>
                <a:cs typeface="BLS Text" pitchFamily="2" charset="-34"/>
              </a:rPr>
              <a:t>HDPE </a:t>
            </a:r>
            <a:r>
              <a:rPr lang="th-TH" sz="1000" b="1" dirty="0">
                <a:solidFill>
                  <a:schemeClr val="tx1">
                    <a:lumMod val="65000"/>
                    <a:lumOff val="35000"/>
                  </a:schemeClr>
                </a:solidFill>
                <a:latin typeface="BLS Text" pitchFamily="2" charset="-34"/>
                <a:cs typeface="BLS Text" pitchFamily="2" charset="-34"/>
              </a:rPr>
              <a:t>ปรับเพิ่มขึ้นทุกๆ 10</a:t>
            </a:r>
            <a:r>
              <a:rPr lang="en-US" sz="1000" b="1" dirty="0">
                <a:solidFill>
                  <a:schemeClr val="tx1">
                    <a:lumMod val="65000"/>
                    <a:lumOff val="35000"/>
                  </a:schemeClr>
                </a:solidFill>
                <a:latin typeface="BLS Text" pitchFamily="2" charset="-34"/>
                <a:cs typeface="BLS Text" pitchFamily="2" charset="-34"/>
              </a:rPr>
              <a:t>%</a:t>
            </a:r>
            <a:r>
              <a:rPr lang="th-TH" sz="1000" b="1" dirty="0">
                <a:solidFill>
                  <a:schemeClr val="tx1">
                    <a:lumMod val="65000"/>
                    <a:lumOff val="35000"/>
                  </a:schemeClr>
                </a:solidFill>
                <a:latin typeface="BLS Text" pitchFamily="2" charset="-34"/>
                <a:cs typeface="BLS Text" pitchFamily="2" charset="-34"/>
              </a:rPr>
              <a:t> จะหนุนกำไรปี 2026 ของ </a:t>
            </a:r>
            <a:r>
              <a:rPr lang="en-US" sz="1000" b="1" dirty="0">
                <a:solidFill>
                  <a:schemeClr val="tx1">
                    <a:lumMod val="65000"/>
                    <a:lumOff val="35000"/>
                  </a:schemeClr>
                </a:solidFill>
                <a:latin typeface="BLS Text" pitchFamily="2" charset="-34"/>
                <a:cs typeface="BLS Text" pitchFamily="2" charset="-34"/>
              </a:rPr>
              <a:t>PTTGC </a:t>
            </a:r>
            <a:r>
              <a:rPr lang="th-TH" sz="1000" b="1" dirty="0">
                <a:solidFill>
                  <a:schemeClr val="tx1">
                    <a:lumMod val="65000"/>
                    <a:lumOff val="35000"/>
                  </a:schemeClr>
                </a:solidFill>
                <a:latin typeface="BLS Text" pitchFamily="2" charset="-34"/>
                <a:cs typeface="BLS Text" pitchFamily="2" charset="-34"/>
              </a:rPr>
              <a:t>ราว </a:t>
            </a:r>
            <a:r>
              <a:rPr lang="en-US" sz="1000" b="1" dirty="0">
                <a:solidFill>
                  <a:schemeClr val="tx1">
                    <a:lumMod val="65000"/>
                    <a:lumOff val="35000"/>
                  </a:schemeClr>
                </a:solidFill>
                <a:latin typeface="BLS Text" pitchFamily="2" charset="-34"/>
                <a:cs typeface="BLS Text" pitchFamily="2" charset="-34"/>
              </a:rPr>
              <a:t>30%</a:t>
            </a:r>
            <a:r>
              <a:rPr lang="th-TH" sz="1000" b="1" dirty="0">
                <a:solidFill>
                  <a:schemeClr val="tx1">
                    <a:lumMod val="65000"/>
                    <a:lumOff val="35000"/>
                  </a:schemeClr>
                </a:solidFill>
                <a:latin typeface="BLS Text" pitchFamily="2" charset="-34"/>
                <a:cs typeface="BLS Text" pitchFamily="2" charset="-34"/>
              </a:rPr>
              <a:t> และ</a:t>
            </a:r>
            <a:r>
              <a:rPr lang="en-US" sz="1000" b="1" dirty="0">
                <a:solidFill>
                  <a:schemeClr val="tx1">
                    <a:lumMod val="65000"/>
                    <a:lumOff val="35000"/>
                  </a:schemeClr>
                </a:solidFill>
                <a:latin typeface="BLS Text" pitchFamily="2" charset="-34"/>
                <a:cs typeface="BLS Text" pitchFamily="2" charset="-34"/>
              </a:rPr>
              <a:t> SCC</a:t>
            </a:r>
            <a:r>
              <a:rPr lang="th-TH" sz="1000" b="1" dirty="0">
                <a:solidFill>
                  <a:schemeClr val="tx1">
                    <a:lumMod val="65000"/>
                    <a:lumOff val="35000"/>
                  </a:schemeClr>
                </a:solidFill>
                <a:latin typeface="BLS Text" pitchFamily="2" charset="-34"/>
                <a:cs typeface="BLS Text" pitchFamily="2" charset="-34"/>
              </a:rPr>
              <a:t> ราว </a:t>
            </a:r>
            <a:r>
              <a:rPr lang="en-US" sz="1000" b="1" dirty="0">
                <a:solidFill>
                  <a:schemeClr val="tx1">
                    <a:lumMod val="65000"/>
                    <a:lumOff val="35000"/>
                  </a:schemeClr>
                </a:solidFill>
                <a:latin typeface="BLS Text" pitchFamily="2" charset="-34"/>
                <a:cs typeface="BLS Text" pitchFamily="2" charset="-34"/>
              </a:rPr>
              <a:t>21%</a:t>
            </a:r>
          </a:p>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ขณะที่ หากอิงวงจรปรับมูลค่าเพิ่มในอดีต (</a:t>
            </a:r>
            <a:r>
              <a:rPr lang="en-US" sz="1000" b="1" dirty="0">
                <a:solidFill>
                  <a:schemeClr val="tx1">
                    <a:lumMod val="65000"/>
                    <a:lumOff val="35000"/>
                  </a:schemeClr>
                </a:solidFill>
                <a:latin typeface="BLS Text" pitchFamily="2" charset="-34"/>
                <a:cs typeface="BLS Text" pitchFamily="2" charset="-34"/>
              </a:rPr>
              <a:t>Valuation re-rating cycle) </a:t>
            </a:r>
            <a:r>
              <a:rPr lang="th-TH" sz="1000" b="1" dirty="0">
                <a:solidFill>
                  <a:schemeClr val="tx1">
                    <a:lumMod val="65000"/>
                    <a:lumOff val="35000"/>
                  </a:schemeClr>
                </a:solidFill>
                <a:latin typeface="BLS Text" pitchFamily="2" charset="-34"/>
                <a:cs typeface="BLS Text" pitchFamily="2" charset="-34"/>
              </a:rPr>
              <a:t>มีโอกาสที่ </a:t>
            </a:r>
            <a:r>
              <a:rPr lang="en-US" sz="1000" b="1" dirty="0">
                <a:solidFill>
                  <a:schemeClr val="tx1">
                    <a:lumMod val="65000"/>
                    <a:lumOff val="35000"/>
                  </a:schemeClr>
                </a:solidFill>
                <a:latin typeface="BLS Text" pitchFamily="2" charset="-34"/>
                <a:cs typeface="BLS Text" pitchFamily="2" charset="-34"/>
              </a:rPr>
              <a:t>PTTGC </a:t>
            </a:r>
            <a:r>
              <a:rPr lang="th-TH" sz="1000" b="1" dirty="0">
                <a:solidFill>
                  <a:schemeClr val="tx1">
                    <a:lumMod val="65000"/>
                    <a:lumOff val="35000"/>
                  </a:schemeClr>
                </a:solidFill>
                <a:latin typeface="BLS Text" pitchFamily="2" charset="-34"/>
                <a:cs typeface="BLS Text" pitchFamily="2" charset="-34"/>
              </a:rPr>
              <a:t>จะถูก</a:t>
            </a:r>
            <a:r>
              <a:rPr lang="en-US" sz="1000" b="1" dirty="0">
                <a:solidFill>
                  <a:schemeClr val="tx1">
                    <a:lumMod val="65000"/>
                    <a:lumOff val="35000"/>
                  </a:schemeClr>
                </a:solidFill>
                <a:latin typeface="BLS Text" pitchFamily="2" charset="-34"/>
                <a:cs typeface="BLS Text" pitchFamily="2" charset="-34"/>
              </a:rPr>
              <a:t> re-rate valuations </a:t>
            </a:r>
            <a:r>
              <a:rPr lang="th-TH" sz="1000" b="1" dirty="0">
                <a:solidFill>
                  <a:schemeClr val="tx1">
                    <a:lumMod val="65000"/>
                    <a:lumOff val="35000"/>
                  </a:schemeClr>
                </a:solidFill>
                <a:latin typeface="BLS Text" pitchFamily="2" charset="-34"/>
                <a:cs typeface="BLS Text" pitchFamily="2" charset="-34"/>
              </a:rPr>
              <a:t>ขึ้น กลับขึ้นมาซื้อขายที่ระดับ -1</a:t>
            </a:r>
            <a:r>
              <a:rPr lang="en-US" sz="1000" b="1" dirty="0">
                <a:solidFill>
                  <a:schemeClr val="tx1">
                    <a:lumMod val="65000"/>
                    <a:lumOff val="35000"/>
                  </a:schemeClr>
                </a:solidFill>
                <a:latin typeface="BLS Text" pitchFamily="2" charset="-34"/>
                <a:cs typeface="BLS Text" pitchFamily="2" charset="-34"/>
              </a:rPr>
              <a:t>SD </a:t>
            </a:r>
            <a:r>
              <a:rPr lang="th-TH" sz="1000" b="1" dirty="0">
                <a:solidFill>
                  <a:schemeClr val="tx1">
                    <a:lumMod val="65000"/>
                    <a:lumOff val="35000"/>
                  </a:schemeClr>
                </a:solidFill>
                <a:latin typeface="BLS Text" pitchFamily="2" charset="-34"/>
                <a:cs typeface="BLS Text" pitchFamily="2" charset="-34"/>
              </a:rPr>
              <a:t>จากระดับ -1.5</a:t>
            </a:r>
            <a:r>
              <a:rPr lang="en-US" sz="1000" b="1" dirty="0">
                <a:solidFill>
                  <a:schemeClr val="tx1">
                    <a:lumMod val="65000"/>
                    <a:lumOff val="35000"/>
                  </a:schemeClr>
                </a:solidFill>
                <a:latin typeface="BLS Text" pitchFamily="2" charset="-34"/>
                <a:cs typeface="BLS Text" pitchFamily="2" charset="-34"/>
              </a:rPr>
              <a:t>SD</a:t>
            </a:r>
            <a:r>
              <a:rPr lang="th-TH" sz="1000" b="1" dirty="0">
                <a:solidFill>
                  <a:schemeClr val="tx1">
                    <a:lumMod val="65000"/>
                    <a:lumOff val="35000"/>
                  </a:schemeClr>
                </a:solidFill>
                <a:latin typeface="BLS Text" pitchFamily="2" charset="-34"/>
                <a:cs typeface="BLS Text" pitchFamily="2" charset="-34"/>
              </a:rPr>
              <a:t> ในปัจจุบัน และอาจทำให้ </a:t>
            </a:r>
            <a:r>
              <a:rPr lang="en-US" sz="1000" b="1" dirty="0">
                <a:solidFill>
                  <a:schemeClr val="tx1">
                    <a:lumMod val="65000"/>
                    <a:lumOff val="35000"/>
                  </a:schemeClr>
                </a:solidFill>
                <a:latin typeface="BLS Text" pitchFamily="2" charset="-34"/>
                <a:cs typeface="BLS Text" pitchFamily="2" charset="-34"/>
              </a:rPr>
              <a:t>Target price </a:t>
            </a:r>
            <a:r>
              <a:rPr lang="th-TH" sz="1000" b="1" dirty="0">
                <a:solidFill>
                  <a:schemeClr val="tx1">
                    <a:lumMod val="65000"/>
                    <a:lumOff val="35000"/>
                  </a:schemeClr>
                </a:solidFill>
                <a:latin typeface="BLS Text" pitchFamily="2" charset="-34"/>
                <a:cs typeface="BLS Text" pitchFamily="2" charset="-34"/>
              </a:rPr>
              <a:t>ของ</a:t>
            </a:r>
            <a:r>
              <a:rPr lang="en-US" sz="1000" b="1" dirty="0">
                <a:solidFill>
                  <a:schemeClr val="tx1">
                    <a:lumMod val="65000"/>
                    <a:lumOff val="35000"/>
                  </a:schemeClr>
                </a:solidFill>
                <a:latin typeface="BLS Text" pitchFamily="2" charset="-34"/>
                <a:cs typeface="BLS Text" pitchFamily="2" charset="-34"/>
              </a:rPr>
              <a:t> PTTGC</a:t>
            </a:r>
            <a:r>
              <a:rPr lang="th-TH" sz="1000" b="1" dirty="0">
                <a:solidFill>
                  <a:schemeClr val="tx1">
                    <a:lumMod val="65000"/>
                    <a:lumOff val="35000"/>
                  </a:schemeClr>
                </a:solidFill>
                <a:latin typeface="BLS Text" pitchFamily="2" charset="-34"/>
                <a:cs typeface="BLS Text" pitchFamily="2" charset="-34"/>
              </a:rPr>
              <a:t> มาอยู่ที่ 41 บาท </a:t>
            </a:r>
          </a:p>
          <a:p>
            <a:pPr algn="thaiDist">
              <a:lnSpc>
                <a:spcPct val="120000"/>
              </a:lnSpc>
              <a:spcBef>
                <a:spcPts val="600"/>
              </a:spcBef>
              <a:buSzPct val="120000"/>
            </a:pPr>
            <a:r>
              <a:rPr lang="th-TH" sz="1000" b="1" dirty="0">
                <a:solidFill>
                  <a:schemeClr val="tx1">
                    <a:lumMod val="65000"/>
                    <a:lumOff val="35000"/>
                  </a:schemeClr>
                </a:solidFill>
                <a:latin typeface="BLS Text" pitchFamily="2" charset="-34"/>
                <a:cs typeface="BLS Text" pitchFamily="2" charset="-34"/>
              </a:rPr>
              <a:t>และหากสงครามคลี่คลาย มีโอกาสที่ </a:t>
            </a:r>
            <a:r>
              <a:rPr lang="en-US" sz="1000" b="1" dirty="0">
                <a:solidFill>
                  <a:schemeClr val="tx1">
                    <a:lumMod val="65000"/>
                    <a:lumOff val="35000"/>
                  </a:schemeClr>
                </a:solidFill>
                <a:latin typeface="BLS Text" pitchFamily="2" charset="-34"/>
                <a:cs typeface="BLS Text" pitchFamily="2" charset="-34"/>
              </a:rPr>
              <a:t>SCC </a:t>
            </a:r>
            <a:r>
              <a:rPr lang="th-TH" sz="1000" b="1" dirty="0">
                <a:solidFill>
                  <a:schemeClr val="tx1">
                    <a:lumMod val="65000"/>
                    <a:lumOff val="35000"/>
                  </a:schemeClr>
                </a:solidFill>
                <a:latin typeface="BLS Text" pitchFamily="2" charset="-34"/>
                <a:cs typeface="BLS Text" pitchFamily="2" charset="-34"/>
              </a:rPr>
              <a:t>จะถูก</a:t>
            </a:r>
            <a:r>
              <a:rPr lang="en-US" sz="1000" b="1" dirty="0">
                <a:solidFill>
                  <a:schemeClr val="tx1">
                    <a:lumMod val="65000"/>
                    <a:lumOff val="35000"/>
                  </a:schemeClr>
                </a:solidFill>
                <a:latin typeface="BLS Text" pitchFamily="2" charset="-34"/>
                <a:cs typeface="BLS Text" pitchFamily="2" charset="-34"/>
              </a:rPr>
              <a:t> re-rate valuations </a:t>
            </a:r>
            <a:r>
              <a:rPr lang="th-TH" sz="1000" b="1" dirty="0">
                <a:solidFill>
                  <a:schemeClr val="tx1">
                    <a:lumMod val="65000"/>
                    <a:lumOff val="35000"/>
                  </a:schemeClr>
                </a:solidFill>
                <a:latin typeface="BLS Text" pitchFamily="2" charset="-34"/>
                <a:cs typeface="BLS Text" pitchFamily="2" charset="-34"/>
              </a:rPr>
              <a:t>ขึ้น กลับขึ้นมาซื้อขายที่ระดับ -1</a:t>
            </a:r>
            <a:r>
              <a:rPr lang="en-US" sz="1000" b="1" dirty="0">
                <a:solidFill>
                  <a:schemeClr val="tx1">
                    <a:lumMod val="65000"/>
                    <a:lumOff val="35000"/>
                  </a:schemeClr>
                </a:solidFill>
                <a:latin typeface="BLS Text" pitchFamily="2" charset="-34"/>
                <a:cs typeface="BLS Text" pitchFamily="2" charset="-34"/>
              </a:rPr>
              <a:t>.5SD </a:t>
            </a:r>
            <a:r>
              <a:rPr lang="th-TH" sz="1000" b="1" dirty="0">
                <a:solidFill>
                  <a:schemeClr val="tx1">
                    <a:lumMod val="65000"/>
                    <a:lumOff val="35000"/>
                  </a:schemeClr>
                </a:solidFill>
                <a:latin typeface="BLS Text" pitchFamily="2" charset="-34"/>
                <a:cs typeface="BLS Text" pitchFamily="2" charset="-34"/>
              </a:rPr>
              <a:t>และอาจทำให้ </a:t>
            </a:r>
            <a:r>
              <a:rPr lang="en-US" sz="1000" b="1" dirty="0">
                <a:solidFill>
                  <a:schemeClr val="tx1">
                    <a:lumMod val="65000"/>
                    <a:lumOff val="35000"/>
                  </a:schemeClr>
                </a:solidFill>
                <a:latin typeface="BLS Text" pitchFamily="2" charset="-34"/>
                <a:cs typeface="BLS Text" pitchFamily="2" charset="-34"/>
              </a:rPr>
              <a:t>Target price </a:t>
            </a:r>
            <a:r>
              <a:rPr lang="th-TH" sz="1000" b="1" dirty="0">
                <a:solidFill>
                  <a:schemeClr val="tx1">
                    <a:lumMod val="65000"/>
                    <a:lumOff val="35000"/>
                  </a:schemeClr>
                </a:solidFill>
                <a:latin typeface="BLS Text" pitchFamily="2" charset="-34"/>
                <a:cs typeface="BLS Text" pitchFamily="2" charset="-34"/>
              </a:rPr>
              <a:t>ของ</a:t>
            </a:r>
            <a:r>
              <a:rPr lang="en-US" sz="1000" b="1" dirty="0">
                <a:solidFill>
                  <a:schemeClr val="tx1">
                    <a:lumMod val="65000"/>
                    <a:lumOff val="35000"/>
                  </a:schemeClr>
                </a:solidFill>
                <a:latin typeface="BLS Text" pitchFamily="2" charset="-34"/>
                <a:cs typeface="BLS Text" pitchFamily="2" charset="-34"/>
              </a:rPr>
              <a:t> SCC</a:t>
            </a:r>
            <a:r>
              <a:rPr lang="th-TH" sz="1000" b="1" dirty="0">
                <a:solidFill>
                  <a:schemeClr val="tx1">
                    <a:lumMod val="65000"/>
                    <a:lumOff val="35000"/>
                  </a:schemeClr>
                </a:solidFill>
                <a:latin typeface="BLS Text" pitchFamily="2" charset="-34"/>
                <a:cs typeface="BLS Text" pitchFamily="2" charset="-34"/>
              </a:rPr>
              <a:t> มาอยู่ที่ </a:t>
            </a:r>
            <a:r>
              <a:rPr lang="en-US" sz="1000" b="1" dirty="0">
                <a:solidFill>
                  <a:schemeClr val="tx1">
                    <a:lumMod val="65000"/>
                    <a:lumOff val="35000"/>
                  </a:schemeClr>
                </a:solidFill>
                <a:latin typeface="BLS Text" pitchFamily="2" charset="-34"/>
                <a:cs typeface="BLS Text" pitchFamily="2" charset="-34"/>
              </a:rPr>
              <a:t>233</a:t>
            </a:r>
            <a:r>
              <a:rPr lang="th-TH" sz="1000" b="1" dirty="0">
                <a:solidFill>
                  <a:schemeClr val="tx1">
                    <a:lumMod val="65000"/>
                    <a:lumOff val="35000"/>
                  </a:schemeClr>
                </a:solidFill>
                <a:latin typeface="BLS Text" pitchFamily="2" charset="-34"/>
                <a:cs typeface="BLS Text" pitchFamily="2" charset="-34"/>
              </a:rPr>
              <a:t> บาท</a:t>
            </a:r>
            <a:endParaRPr lang="th-TH" sz="1000" b="1" dirty="0">
              <a:solidFill>
                <a:schemeClr val="tx1">
                  <a:lumMod val="65000"/>
                  <a:lumOff val="35000"/>
                </a:schemeClr>
              </a:solidFill>
              <a:highlight>
                <a:srgbClr val="FFFF00"/>
              </a:highlight>
              <a:latin typeface="BLS Text" pitchFamily="2" charset="-34"/>
              <a:cs typeface="BLS Text" pitchFamily="2" charset="-34"/>
            </a:endParaRPr>
          </a:p>
        </p:txBody>
      </p:sp>
      <p:sp>
        <p:nvSpPr>
          <p:cNvPr id="11" name="TextBox 10">
            <a:extLst>
              <a:ext uri="{FF2B5EF4-FFF2-40B4-BE49-F238E27FC236}">
                <a16:creationId xmlns:a16="http://schemas.microsoft.com/office/drawing/2014/main" id="{6CCD78C5-8FBD-1A87-2D65-7DC50235179E}"/>
              </a:ext>
            </a:extLst>
          </p:cNvPr>
          <p:cNvSpPr txBox="1"/>
          <p:nvPr/>
        </p:nvSpPr>
        <p:spPr>
          <a:xfrm>
            <a:off x="319628" y="1619672"/>
            <a:ext cx="3095782" cy="2569934"/>
          </a:xfrm>
          <a:prstGeom prst="rect">
            <a:avLst/>
          </a:prstGeom>
          <a:noFill/>
          <a:ln>
            <a:noFill/>
          </a:ln>
        </p:spPr>
        <p:txBody>
          <a:bodyPr wrap="square" rtlCol="0">
            <a:spAutoFit/>
          </a:bodyPr>
          <a:lstStyle/>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วงจรการผลิตโลก ผ่าน </a:t>
            </a:r>
            <a:r>
              <a:rPr lang="en-US" sz="1000" dirty="0">
                <a:solidFill>
                  <a:schemeClr val="tx1">
                    <a:lumMod val="65000"/>
                    <a:lumOff val="35000"/>
                  </a:schemeClr>
                </a:solidFill>
                <a:latin typeface="BLS Text" pitchFamily="2" charset="-34"/>
                <a:cs typeface="BLS Text" pitchFamily="2" charset="-34"/>
              </a:rPr>
              <a:t>US ISM manufacturing PMI </a:t>
            </a:r>
            <a:r>
              <a:rPr lang="th-TH" sz="1000" dirty="0">
                <a:solidFill>
                  <a:schemeClr val="tx1">
                    <a:lumMod val="65000"/>
                    <a:lumOff val="35000"/>
                  </a:schemeClr>
                </a:solidFill>
                <a:latin typeface="BLS Text" pitchFamily="2" charset="-34"/>
                <a:cs typeface="BLS Text" pitchFamily="2" charset="-34"/>
              </a:rPr>
              <a:t>มีแนวโน้มฟื้นตัวต่อเนื่อง หลัง </a:t>
            </a:r>
            <a:r>
              <a:rPr lang="en-US" sz="1000" dirty="0">
                <a:solidFill>
                  <a:schemeClr val="tx1">
                    <a:lumMod val="65000"/>
                    <a:lumOff val="35000"/>
                  </a:schemeClr>
                </a:solidFill>
                <a:latin typeface="BLS Text" pitchFamily="2" charset="-34"/>
                <a:cs typeface="BLS Text" pitchFamily="2" charset="-34"/>
              </a:rPr>
              <a:t>leading indicator </a:t>
            </a:r>
            <a:r>
              <a:rPr lang="th-TH" sz="1000" dirty="0">
                <a:solidFill>
                  <a:schemeClr val="tx1">
                    <a:lumMod val="65000"/>
                    <a:lumOff val="35000"/>
                  </a:schemeClr>
                </a:solidFill>
                <a:latin typeface="BLS Text" pitchFamily="2" charset="-34"/>
                <a:cs typeface="BLS Text" pitchFamily="2" charset="-34"/>
              </a:rPr>
              <a:t>อย่าง ดัชนียอดคำสั่งซื้อใหม่ </a:t>
            </a:r>
            <a:r>
              <a:rPr lang="en-US" sz="1000" dirty="0">
                <a:solidFill>
                  <a:schemeClr val="tx1">
                    <a:lumMod val="65000"/>
                    <a:lumOff val="35000"/>
                  </a:schemeClr>
                </a:solidFill>
                <a:latin typeface="BLS Text" pitchFamily="2" charset="-34"/>
                <a:cs typeface="BLS Text" pitchFamily="2" charset="-34"/>
              </a:rPr>
              <a:t>US PMI new order </a:t>
            </a:r>
            <a:r>
              <a:rPr lang="th-TH" sz="1000" dirty="0">
                <a:solidFill>
                  <a:schemeClr val="tx1">
                    <a:lumMod val="65000"/>
                    <a:lumOff val="35000"/>
                  </a:schemeClr>
                </a:solidFill>
                <a:latin typeface="BLS Text" pitchFamily="2" charset="-34"/>
                <a:cs typeface="BLS Text" pitchFamily="2" charset="-34"/>
              </a:rPr>
              <a:t>กลับมาขยายตัวทำจุดสูงสุดในรอบ 4 ปี  คาดหนุนทิศทางค่าการกลั่น และส่วนต่างปิโตรฯ ทยอยฟื้นตัวต่อ </a:t>
            </a:r>
          </a:p>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เราชอบกลุ่มปิโตรฯ โดยเฉพาะสาย </a:t>
            </a:r>
            <a:r>
              <a:rPr lang="en-US" sz="1000" dirty="0">
                <a:solidFill>
                  <a:schemeClr val="tx1">
                    <a:lumMod val="65000"/>
                    <a:lumOff val="35000"/>
                  </a:schemeClr>
                </a:solidFill>
                <a:latin typeface="BLS Text" pitchFamily="2" charset="-34"/>
                <a:cs typeface="BLS Text" pitchFamily="2" charset="-34"/>
              </a:rPr>
              <a:t>HDPE </a:t>
            </a:r>
            <a:r>
              <a:rPr lang="th-TH" sz="1000" dirty="0">
                <a:solidFill>
                  <a:schemeClr val="tx1">
                    <a:lumMod val="65000"/>
                    <a:lumOff val="35000"/>
                  </a:schemeClr>
                </a:solidFill>
                <a:latin typeface="BLS Text" pitchFamily="2" charset="-34"/>
                <a:cs typeface="BLS Text" pitchFamily="2" charset="-34"/>
              </a:rPr>
              <a:t>อย่าง </a:t>
            </a:r>
            <a:r>
              <a:rPr lang="en-US" sz="1000" dirty="0">
                <a:solidFill>
                  <a:schemeClr val="tx1">
                    <a:lumMod val="65000"/>
                    <a:lumOff val="35000"/>
                  </a:schemeClr>
                </a:solidFill>
                <a:latin typeface="BLS Text" pitchFamily="2" charset="-34"/>
                <a:cs typeface="BLS Text" pitchFamily="2" charset="-34"/>
              </a:rPr>
              <a:t>PTTGC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SCC </a:t>
            </a:r>
            <a:r>
              <a:rPr lang="th-TH" sz="1000" dirty="0">
                <a:solidFill>
                  <a:schemeClr val="tx1">
                    <a:lumMod val="65000"/>
                    <a:lumOff val="35000"/>
                  </a:schemeClr>
                </a:solidFill>
                <a:latin typeface="BLS Text" pitchFamily="2" charset="-34"/>
                <a:cs typeface="BLS Text" pitchFamily="2" charset="-34"/>
              </a:rPr>
              <a:t>จากความเสี่ยงต่อผลตอบแทน (</a:t>
            </a:r>
            <a:r>
              <a:rPr lang="en-US" sz="1000" dirty="0">
                <a:solidFill>
                  <a:schemeClr val="tx1">
                    <a:lumMod val="65000"/>
                    <a:lumOff val="35000"/>
                  </a:schemeClr>
                </a:solidFill>
                <a:latin typeface="BLS Text" pitchFamily="2" charset="-34"/>
                <a:cs typeface="BLS Text" pitchFamily="2" charset="-34"/>
              </a:rPr>
              <a:t>risk-reward) </a:t>
            </a:r>
            <a:r>
              <a:rPr lang="th-TH" sz="1000" dirty="0">
                <a:solidFill>
                  <a:schemeClr val="tx1">
                    <a:lumMod val="65000"/>
                    <a:lumOff val="35000"/>
                  </a:schemeClr>
                </a:solidFill>
                <a:latin typeface="BLS Text" pitchFamily="2" charset="-34"/>
                <a:cs typeface="BLS Text" pitchFamily="2" charset="-34"/>
              </a:rPr>
              <a:t>ที่คุ้มค่าที่สุด ความเสี่ยงอุปทานยังอยู่ในระดับต่ำ ส่วนต่างผลิตภัณฑ์หลักอย่าง </a:t>
            </a:r>
            <a:r>
              <a:rPr lang="en-US" sz="1000" dirty="0">
                <a:solidFill>
                  <a:schemeClr val="tx1">
                    <a:lumMod val="65000"/>
                    <a:lumOff val="35000"/>
                  </a:schemeClr>
                </a:solidFill>
                <a:latin typeface="BLS Text" pitchFamily="2" charset="-34"/>
                <a:cs typeface="BLS Text" pitchFamily="2" charset="-34"/>
              </a:rPr>
              <a:t>HDPE</a:t>
            </a:r>
            <a:r>
              <a:rPr lang="th-TH" sz="1000" dirty="0">
                <a:solidFill>
                  <a:schemeClr val="tx1">
                    <a:lumMod val="65000"/>
                    <a:lumOff val="35000"/>
                  </a:schemeClr>
                </a:solidFill>
                <a:latin typeface="BLS Text" pitchFamily="2" charset="-34"/>
                <a:cs typeface="BLS Text" pitchFamily="2" charset="-34"/>
              </a:rPr>
              <a:t> อยู่ต่ำกว่าจุดคุ้มทุน (</a:t>
            </a:r>
            <a:r>
              <a:rPr lang="en-US" sz="1000" dirty="0">
                <a:solidFill>
                  <a:schemeClr val="tx1">
                    <a:lumMod val="65000"/>
                    <a:lumOff val="35000"/>
                  </a:schemeClr>
                </a:solidFill>
                <a:latin typeface="BLS Text" pitchFamily="2" charset="-34"/>
                <a:cs typeface="BLS Text" pitchFamily="2" charset="-34"/>
              </a:rPr>
              <a:t>Breakeven) </a:t>
            </a:r>
            <a:r>
              <a:rPr lang="th-TH" sz="1000" dirty="0">
                <a:solidFill>
                  <a:schemeClr val="tx1">
                    <a:lumMod val="65000"/>
                    <a:lumOff val="35000"/>
                  </a:schemeClr>
                </a:solidFill>
                <a:latin typeface="BLS Text" pitchFamily="2" charset="-34"/>
                <a:cs typeface="BLS Text" pitchFamily="2" charset="-34"/>
              </a:rPr>
              <a:t>จะลดการขยายการผลิตใหม่ นโยบาย“</a:t>
            </a:r>
            <a:r>
              <a:rPr lang="en-US" sz="1000" dirty="0">
                <a:solidFill>
                  <a:schemeClr val="tx1">
                    <a:lumMod val="65000"/>
                    <a:lumOff val="35000"/>
                  </a:schemeClr>
                </a:solidFill>
                <a:latin typeface="BLS Text" pitchFamily="2" charset="-34"/>
                <a:cs typeface="BLS Text" pitchFamily="2" charset="-34"/>
              </a:rPr>
              <a:t>Anti-involution” </a:t>
            </a:r>
            <a:r>
              <a:rPr lang="th-TH" sz="1000" dirty="0">
                <a:solidFill>
                  <a:schemeClr val="tx1">
                    <a:lumMod val="65000"/>
                    <a:lumOff val="35000"/>
                  </a:schemeClr>
                </a:solidFill>
                <a:latin typeface="BLS Text" pitchFamily="2" charset="-34"/>
                <a:cs typeface="BLS Text" pitchFamily="2" charset="-34"/>
              </a:rPr>
              <a:t>ของจีน ญี่ปุ่น และเกาหลีใต้ มีเป้าหมายจำกัดปัญหากำลังการผลิตส่วนเกินเพิ่มเติม ระดับ </a:t>
            </a:r>
            <a:r>
              <a:rPr lang="en-US" sz="1000" dirty="0">
                <a:solidFill>
                  <a:schemeClr val="tx1">
                    <a:lumMod val="65000"/>
                    <a:lumOff val="35000"/>
                  </a:schemeClr>
                </a:solidFill>
                <a:latin typeface="BLS Text" pitchFamily="2" charset="-34"/>
                <a:cs typeface="BLS Text" pitchFamily="2" charset="-34"/>
              </a:rPr>
              <a:t>Valuations </a:t>
            </a:r>
            <a:r>
              <a:rPr lang="th-TH" sz="1000" dirty="0">
                <a:solidFill>
                  <a:schemeClr val="tx1">
                    <a:lumMod val="65000"/>
                    <a:lumOff val="35000"/>
                  </a:schemeClr>
                </a:solidFill>
                <a:latin typeface="BLS Text" pitchFamily="2" charset="-34"/>
                <a:cs typeface="BLS Text" pitchFamily="2" charset="-34"/>
              </a:rPr>
              <a:t>อยู่ในภาวะถูกมากใกล้เคียงกับระดับ</a:t>
            </a:r>
            <a:endParaRPr lang="en-US" sz="1000" dirty="0">
              <a:solidFill>
                <a:schemeClr val="tx1">
                  <a:lumMod val="65000"/>
                  <a:lumOff val="35000"/>
                </a:schemeClr>
              </a:solidFill>
              <a:highlight>
                <a:srgbClr val="FFFF00"/>
              </a:highlight>
              <a:latin typeface="BLS Text" pitchFamily="2" charset="-34"/>
              <a:cs typeface="BLS Text" pitchFamily="2" charset="-34"/>
            </a:endParaRPr>
          </a:p>
        </p:txBody>
      </p:sp>
      <p:pic>
        <p:nvPicPr>
          <p:cNvPr id="3" name="Picture 2">
            <a:extLst>
              <a:ext uri="{FF2B5EF4-FFF2-40B4-BE49-F238E27FC236}">
                <a16:creationId xmlns:a16="http://schemas.microsoft.com/office/drawing/2014/main" id="{BBC7AA9A-071F-DF80-6746-E0407C5BE82A}"/>
              </a:ext>
            </a:extLst>
          </p:cNvPr>
          <p:cNvPicPr>
            <a:picLocks noChangeAspect="1"/>
          </p:cNvPicPr>
          <p:nvPr/>
        </p:nvPicPr>
        <p:blipFill>
          <a:blip r:embed="rId7"/>
          <a:stretch>
            <a:fillRect/>
          </a:stretch>
        </p:blipFill>
        <p:spPr>
          <a:xfrm>
            <a:off x="188640" y="4437857"/>
            <a:ext cx="3690193" cy="3994407"/>
          </a:xfrm>
          <a:prstGeom prst="rect">
            <a:avLst/>
          </a:prstGeom>
        </p:spPr>
      </p:pic>
      <p:pic>
        <p:nvPicPr>
          <p:cNvPr id="21" name="Picture 20">
            <a:extLst>
              <a:ext uri="{FF2B5EF4-FFF2-40B4-BE49-F238E27FC236}">
                <a16:creationId xmlns:a16="http://schemas.microsoft.com/office/drawing/2014/main" id="{E2F2A267-F5CE-B3A5-25E0-38DF78BB7B57}"/>
              </a:ext>
            </a:extLst>
          </p:cNvPr>
          <p:cNvPicPr>
            <a:picLocks noChangeAspect="1"/>
          </p:cNvPicPr>
          <p:nvPr/>
        </p:nvPicPr>
        <p:blipFill>
          <a:blip r:embed="rId8"/>
          <a:stretch>
            <a:fillRect/>
          </a:stretch>
        </p:blipFill>
        <p:spPr>
          <a:xfrm>
            <a:off x="4141460" y="4706217"/>
            <a:ext cx="2383884" cy="1593975"/>
          </a:xfrm>
          <a:prstGeom prst="rect">
            <a:avLst/>
          </a:prstGeom>
        </p:spPr>
      </p:pic>
      <p:pic>
        <p:nvPicPr>
          <p:cNvPr id="22" name="Picture 21">
            <a:extLst>
              <a:ext uri="{FF2B5EF4-FFF2-40B4-BE49-F238E27FC236}">
                <a16:creationId xmlns:a16="http://schemas.microsoft.com/office/drawing/2014/main" id="{C0AC35F0-51FD-67FF-BEA9-7306F5F225F2}"/>
              </a:ext>
            </a:extLst>
          </p:cNvPr>
          <p:cNvPicPr>
            <a:picLocks noChangeAspect="1"/>
          </p:cNvPicPr>
          <p:nvPr/>
        </p:nvPicPr>
        <p:blipFill>
          <a:blip r:embed="rId9"/>
          <a:stretch>
            <a:fillRect/>
          </a:stretch>
        </p:blipFill>
        <p:spPr>
          <a:xfrm>
            <a:off x="3861048" y="6372200"/>
            <a:ext cx="1368152" cy="1368152"/>
          </a:xfrm>
          <a:prstGeom prst="rect">
            <a:avLst/>
          </a:prstGeom>
        </p:spPr>
      </p:pic>
      <p:pic>
        <p:nvPicPr>
          <p:cNvPr id="23" name="Picture 22">
            <a:extLst>
              <a:ext uri="{FF2B5EF4-FFF2-40B4-BE49-F238E27FC236}">
                <a16:creationId xmlns:a16="http://schemas.microsoft.com/office/drawing/2014/main" id="{81F5E272-B1C8-B461-AD2E-1A1A50C767E3}"/>
              </a:ext>
            </a:extLst>
          </p:cNvPr>
          <p:cNvPicPr>
            <a:picLocks noChangeAspect="1"/>
          </p:cNvPicPr>
          <p:nvPr/>
        </p:nvPicPr>
        <p:blipFill>
          <a:blip r:embed="rId10"/>
          <a:stretch>
            <a:fillRect/>
          </a:stretch>
        </p:blipFill>
        <p:spPr>
          <a:xfrm>
            <a:off x="5301208" y="6372200"/>
            <a:ext cx="1231756" cy="1371600"/>
          </a:xfrm>
          <a:prstGeom prst="rect">
            <a:avLst/>
          </a:prstGeom>
        </p:spPr>
      </p:pic>
      <p:sp>
        <p:nvSpPr>
          <p:cNvPr id="8" name="TextBox 7">
            <a:extLst>
              <a:ext uri="{FF2B5EF4-FFF2-40B4-BE49-F238E27FC236}">
                <a16:creationId xmlns:a16="http://schemas.microsoft.com/office/drawing/2014/main" id="{7452BD30-B07B-167E-7B30-987CF50B75D0}"/>
              </a:ext>
            </a:extLst>
          </p:cNvPr>
          <p:cNvSpPr txBox="1"/>
          <p:nvPr/>
        </p:nvSpPr>
        <p:spPr>
          <a:xfrm>
            <a:off x="286492" y="4292853"/>
            <a:ext cx="6126480"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1</a:t>
            </a:r>
            <a:r>
              <a:rPr lang="en-US" sz="800" b="1" dirty="0">
                <a:solidFill>
                  <a:schemeClr val="tx1">
                    <a:lumMod val="95000"/>
                    <a:lumOff val="5000"/>
                  </a:schemeClr>
                </a:solidFill>
                <a:latin typeface="BLS Condensed" pitchFamily="2" charset="-34"/>
                <a:ea typeface="Tahoma" pitchFamily="34" charset="0"/>
                <a:cs typeface="BLS Condensed" pitchFamily="2" charset="-34"/>
              </a:rPr>
              <a:t>5: Sensitivity </a:t>
            </a:r>
            <a:r>
              <a:rPr lang="th-TH" sz="800" b="1" dirty="0">
                <a:solidFill>
                  <a:schemeClr val="tx1">
                    <a:lumMod val="95000"/>
                    <a:lumOff val="5000"/>
                  </a:schemeClr>
                </a:solidFill>
                <a:latin typeface="BLS Condensed" pitchFamily="2" charset="-34"/>
                <a:ea typeface="Tahoma" pitchFamily="34" charset="0"/>
                <a:cs typeface="BLS Condensed" pitchFamily="2" charset="-34"/>
              </a:rPr>
              <a:t>ของราคาผลิตภัณฑ์ต่อประมาณการณ์กำไรและ</a:t>
            </a:r>
            <a:r>
              <a:rPr lang="en-US" sz="800" b="1" dirty="0">
                <a:solidFill>
                  <a:schemeClr val="tx1">
                    <a:lumMod val="95000"/>
                    <a:lumOff val="5000"/>
                  </a:schemeClr>
                </a:solidFill>
                <a:latin typeface="BLS Condensed" pitchFamily="2" charset="-34"/>
                <a:ea typeface="Tahoma" pitchFamily="34" charset="0"/>
                <a:cs typeface="BLS Condensed" pitchFamily="2" charset="-34"/>
              </a:rPr>
              <a:t> target price</a:t>
            </a:r>
            <a:r>
              <a:rPr lang="th-TH" sz="800" b="1" dirty="0">
                <a:solidFill>
                  <a:schemeClr val="tx1">
                    <a:lumMod val="95000"/>
                    <a:lumOff val="5000"/>
                  </a:schemeClr>
                </a:solidFill>
                <a:latin typeface="BLS Condensed" pitchFamily="2" charset="-34"/>
                <a:ea typeface="Tahoma" pitchFamily="34" charset="0"/>
                <a:cs typeface="BLS Condensed" pitchFamily="2" charset="-34"/>
              </a:rPr>
              <a:t> ของกลุ่มปิโตรฯ สาย </a:t>
            </a:r>
            <a:r>
              <a:rPr lang="en-US" sz="800" b="1" dirty="0">
                <a:solidFill>
                  <a:schemeClr val="tx1">
                    <a:lumMod val="95000"/>
                    <a:lumOff val="5000"/>
                  </a:schemeClr>
                </a:solidFill>
                <a:latin typeface="BLS Condensed" pitchFamily="2" charset="-34"/>
                <a:ea typeface="Tahoma" pitchFamily="34" charset="0"/>
                <a:cs typeface="BLS Condensed" pitchFamily="2" charset="-34"/>
              </a:rPr>
              <a:t>HDPE</a:t>
            </a:r>
          </a:p>
        </p:txBody>
      </p:sp>
      <p:cxnSp>
        <p:nvCxnSpPr>
          <p:cNvPr id="13" name="Straight Connector 12">
            <a:extLst>
              <a:ext uri="{FF2B5EF4-FFF2-40B4-BE49-F238E27FC236}">
                <a16:creationId xmlns:a16="http://schemas.microsoft.com/office/drawing/2014/main" id="{9A60492C-0973-F9C4-35C6-172E035FE8A3}"/>
              </a:ext>
            </a:extLst>
          </p:cNvPr>
          <p:cNvCxnSpPr/>
          <p:nvPr/>
        </p:nvCxnSpPr>
        <p:spPr>
          <a:xfrm>
            <a:off x="305146" y="4283968"/>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1072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atercolor of trees in the fog&#10;&#10;Description automatically generated">
            <a:extLst>
              <a:ext uri="{FF2B5EF4-FFF2-40B4-BE49-F238E27FC236}">
                <a16:creationId xmlns:a16="http://schemas.microsoft.com/office/drawing/2014/main" id="{12900066-8F13-7E4F-EEFE-B0323EB1A50D}"/>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7" r="8181" b="3959"/>
          <a:stretch/>
        </p:blipFill>
        <p:spPr>
          <a:xfrm>
            <a:off x="0" y="1"/>
            <a:ext cx="6858000" cy="8844454"/>
          </a:xfrm>
          <a:prstGeom prst="rect">
            <a:avLst/>
          </a:prstGeom>
        </p:spPr>
      </p:pic>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8EC5674-54E7-E10C-3FD1-6C6B19C2A914}"/>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28A0BF02-5214-05AE-B03A-4D2810D4FB22}"/>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6" name="TextBox 5">
            <a:extLst>
              <a:ext uri="{FF2B5EF4-FFF2-40B4-BE49-F238E27FC236}">
                <a16:creationId xmlns:a16="http://schemas.microsoft.com/office/drawing/2014/main" id="{DDFF7484-5537-9D50-9DAB-CC290CCFEF29}"/>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2" name="TextBox 1">
            <a:extLst>
              <a:ext uri="{FF2B5EF4-FFF2-40B4-BE49-F238E27FC236}">
                <a16:creationId xmlns:a16="http://schemas.microsoft.com/office/drawing/2014/main" id="{DF7710F9-7B03-D47B-016D-DB8140DA5BDC}"/>
              </a:ext>
            </a:extLst>
          </p:cNvPr>
          <p:cNvSpPr txBox="1"/>
          <p:nvPr/>
        </p:nvSpPr>
        <p:spPr>
          <a:xfrm>
            <a:off x="188640" y="755576"/>
            <a:ext cx="6344324" cy="646331"/>
          </a:xfrm>
          <a:prstGeom prst="rect">
            <a:avLst/>
          </a:prstGeom>
          <a:noFill/>
        </p:spPr>
        <p:txBody>
          <a:bodyPr wrap="square">
            <a:spAutoFit/>
          </a:bodyPr>
          <a:lstStyle/>
          <a:p>
            <a:r>
              <a:rPr lang="en-US" altLang="en-US" sz="3600" dirty="0">
                <a:solidFill>
                  <a:schemeClr val="accent2"/>
                </a:solidFill>
                <a:latin typeface="BLS Condensed Bold" panose="00000800000000000000" pitchFamily="2" charset="-34"/>
                <a:ea typeface="Tahoma" pitchFamily="34" charset="0"/>
                <a:cs typeface="BLS Condensed Bold" panose="00000800000000000000" pitchFamily="2" charset="-34"/>
              </a:rPr>
              <a:t>Appendix</a:t>
            </a:r>
            <a:endParaRPr lang="th-TH" altLang="en-US" sz="3600" dirty="0">
              <a:solidFill>
                <a:schemeClr val="accent2"/>
              </a:solidFill>
              <a:latin typeface="BLS Condensed Bold" panose="00000800000000000000" pitchFamily="2" charset="-34"/>
              <a:ea typeface="Tahoma" pitchFamily="34" charset="0"/>
              <a:cs typeface="BLS Condensed Bold" panose="00000800000000000000" pitchFamily="2" charset="-34"/>
            </a:endParaRPr>
          </a:p>
        </p:txBody>
      </p:sp>
      <p:sp>
        <p:nvSpPr>
          <p:cNvPr id="8" name="TextBox 7">
            <a:extLst>
              <a:ext uri="{FF2B5EF4-FFF2-40B4-BE49-F238E27FC236}">
                <a16:creationId xmlns:a16="http://schemas.microsoft.com/office/drawing/2014/main" id="{7452BD30-B07B-167E-7B30-987CF50B75D0}"/>
              </a:ext>
            </a:extLst>
          </p:cNvPr>
          <p:cNvSpPr txBox="1"/>
          <p:nvPr/>
        </p:nvSpPr>
        <p:spPr>
          <a:xfrm>
            <a:off x="260648" y="2443698"/>
            <a:ext cx="6126480" cy="215444"/>
          </a:xfrm>
          <a:prstGeom prst="rect">
            <a:avLst/>
          </a:prstGeom>
          <a:noFill/>
        </p:spPr>
        <p:txBody>
          <a:bodyPr wrap="square" rtlCol="0">
            <a:spAutoFit/>
          </a:bodyPr>
          <a:lstStyle/>
          <a:p>
            <a:r>
              <a:rPr lang="en-US" sz="800" b="1" dirty="0">
                <a:solidFill>
                  <a:schemeClr val="tx1">
                    <a:lumMod val="95000"/>
                    <a:lumOff val="5000"/>
                  </a:schemeClr>
                </a:solidFill>
                <a:latin typeface="BLS Condensed" pitchFamily="2" charset="-34"/>
                <a:ea typeface="Tahoma" pitchFamily="34" charset="0"/>
                <a:cs typeface="BLS Condensed" pitchFamily="2" charset="-34"/>
              </a:rPr>
              <a:t>Sensitivity </a:t>
            </a:r>
            <a:r>
              <a:rPr lang="th-TH" sz="800" b="1" dirty="0">
                <a:solidFill>
                  <a:schemeClr val="tx1">
                    <a:lumMod val="95000"/>
                    <a:lumOff val="5000"/>
                  </a:schemeClr>
                </a:solidFill>
                <a:latin typeface="BLS Condensed" pitchFamily="2" charset="-34"/>
                <a:ea typeface="Tahoma" pitchFamily="34" charset="0"/>
                <a:cs typeface="BLS Condensed" pitchFamily="2" charset="-34"/>
              </a:rPr>
              <a:t>ของราคาผลิตภัณฑ์ต่อประมาณการณ์กำไรและ</a:t>
            </a:r>
            <a:r>
              <a:rPr lang="en-US" sz="800" b="1" dirty="0">
                <a:solidFill>
                  <a:schemeClr val="tx1">
                    <a:lumMod val="95000"/>
                    <a:lumOff val="5000"/>
                  </a:schemeClr>
                </a:solidFill>
                <a:latin typeface="BLS Condensed" pitchFamily="2" charset="-34"/>
                <a:ea typeface="Tahoma" pitchFamily="34" charset="0"/>
                <a:cs typeface="BLS Condensed" pitchFamily="2" charset="-34"/>
              </a:rPr>
              <a:t> target price</a:t>
            </a:r>
            <a:r>
              <a:rPr lang="th-TH" sz="800" b="1" dirty="0">
                <a:solidFill>
                  <a:schemeClr val="tx1">
                    <a:lumMod val="95000"/>
                    <a:lumOff val="5000"/>
                  </a:schemeClr>
                </a:solidFill>
                <a:latin typeface="BLS Condensed" pitchFamily="2" charset="-34"/>
                <a:ea typeface="Tahoma" pitchFamily="34" charset="0"/>
                <a:cs typeface="BLS Condensed" pitchFamily="2" charset="-34"/>
              </a:rPr>
              <a:t> ของแต่ละกลุ่ม</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sp>
        <p:nvSpPr>
          <p:cNvPr id="16" name="TextBox 15">
            <a:extLst>
              <a:ext uri="{FF2B5EF4-FFF2-40B4-BE49-F238E27FC236}">
                <a16:creationId xmlns:a16="http://schemas.microsoft.com/office/drawing/2014/main" id="{5BC5EC73-C158-4522-8EA3-0470D38883B7}"/>
              </a:ext>
            </a:extLst>
          </p:cNvPr>
          <p:cNvSpPr txBox="1">
            <a:spLocks noChangeArrowheads="1"/>
          </p:cNvSpPr>
          <p:nvPr/>
        </p:nvSpPr>
        <p:spPr bwMode="auto">
          <a:xfrm>
            <a:off x="382301" y="8059742"/>
            <a:ext cx="31090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600" dirty="0">
                <a:solidFill>
                  <a:srgbClr val="404040"/>
                </a:solidFill>
                <a:latin typeface="BLS Condensed" pitchFamily="2" charset="-34"/>
                <a:cs typeface="BLS Condensed" pitchFamily="2" charset="-34"/>
              </a:rPr>
              <a:t>Source: Bloomberg,</a:t>
            </a:r>
            <a:r>
              <a:rPr lang="th-TH" sz="600" dirty="0">
                <a:solidFill>
                  <a:srgbClr val="404040"/>
                </a:solidFill>
                <a:latin typeface="BLS Condensed" pitchFamily="2" charset="-34"/>
                <a:cs typeface="BLS Condensed" pitchFamily="2" charset="-34"/>
              </a:rPr>
              <a:t> </a:t>
            </a:r>
            <a:r>
              <a:rPr lang="en-US" sz="600" dirty="0" err="1">
                <a:solidFill>
                  <a:srgbClr val="404040"/>
                </a:solidFill>
                <a:latin typeface="BLS Condensed" pitchFamily="2" charset="-34"/>
                <a:cs typeface="BLS Condensed" pitchFamily="2" charset="-34"/>
              </a:rPr>
              <a:t>Bualuang</a:t>
            </a:r>
            <a:r>
              <a:rPr lang="en-US" sz="600" dirty="0">
                <a:solidFill>
                  <a:srgbClr val="404040"/>
                </a:solidFill>
                <a:latin typeface="BLS Condensed" pitchFamily="2" charset="-34"/>
                <a:cs typeface="BLS Condensed" pitchFamily="2" charset="-34"/>
              </a:rPr>
              <a:t> Research </a:t>
            </a:r>
          </a:p>
        </p:txBody>
      </p:sp>
      <p:cxnSp>
        <p:nvCxnSpPr>
          <p:cNvPr id="20" name="Straight Connector 19">
            <a:extLst>
              <a:ext uri="{FF2B5EF4-FFF2-40B4-BE49-F238E27FC236}">
                <a16:creationId xmlns:a16="http://schemas.microsoft.com/office/drawing/2014/main" id="{F4915A1D-57DC-D3FB-CC72-71B4C0BD42F1}"/>
              </a:ext>
            </a:extLst>
          </p:cNvPr>
          <p:cNvCxnSpPr>
            <a:cxnSpLocks/>
          </p:cNvCxnSpPr>
          <p:nvPr/>
        </p:nvCxnSpPr>
        <p:spPr>
          <a:xfrm>
            <a:off x="320593" y="8059742"/>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A60492C-0973-F9C4-35C6-172E035FE8A3}"/>
              </a:ext>
            </a:extLst>
          </p:cNvPr>
          <p:cNvCxnSpPr/>
          <p:nvPr/>
        </p:nvCxnSpPr>
        <p:spPr>
          <a:xfrm>
            <a:off x="305146" y="2434813"/>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214599F-E676-DEFC-256F-1A7B5A437082}"/>
              </a:ext>
            </a:extLst>
          </p:cNvPr>
          <p:cNvSpPr txBox="1"/>
          <p:nvPr/>
        </p:nvSpPr>
        <p:spPr>
          <a:xfrm>
            <a:off x="188640" y="1331640"/>
            <a:ext cx="3240360" cy="1015663"/>
          </a:xfrm>
          <a:prstGeom prst="rect">
            <a:avLst/>
          </a:prstGeom>
          <a:noFill/>
          <a:ln>
            <a:noFill/>
          </a:ln>
        </p:spPr>
        <p:txBody>
          <a:bodyPr wrap="square" rtlCol="0">
            <a:spAutoFit/>
          </a:bodyPr>
          <a:lstStyle/>
          <a:p>
            <a:pPr algn="thaiDist">
              <a:lnSpc>
                <a:spcPct val="120000"/>
              </a:lnSpc>
              <a:spcBef>
                <a:spcPts val="600"/>
              </a:spcBef>
              <a:buSzPct val="120000"/>
            </a:pPr>
            <a:r>
              <a:rPr lang="en-US" sz="1000" dirty="0">
                <a:solidFill>
                  <a:schemeClr val="tx1">
                    <a:lumMod val="65000"/>
                    <a:lumOff val="35000"/>
                  </a:schemeClr>
                </a:solidFill>
                <a:latin typeface="BLS Text" pitchFamily="2" charset="-34"/>
                <a:cs typeface="BLS Text" pitchFamily="2" charset="-34"/>
              </a:rPr>
              <a:t>Sensitivity </a:t>
            </a:r>
            <a:r>
              <a:rPr lang="th-TH" sz="1000" dirty="0">
                <a:solidFill>
                  <a:schemeClr val="tx1">
                    <a:lumMod val="65000"/>
                    <a:lumOff val="35000"/>
                  </a:schemeClr>
                </a:solidFill>
                <a:latin typeface="BLS Text" pitchFamily="2" charset="-34"/>
                <a:cs typeface="BLS Text" pitchFamily="2" charset="-34"/>
              </a:rPr>
              <a:t>ของราคาและกำไรแต่ละกลุ่ม: วงจรการผลิตโลก ผ่าน </a:t>
            </a:r>
            <a:r>
              <a:rPr lang="en-US" sz="1000" dirty="0">
                <a:solidFill>
                  <a:schemeClr val="tx1">
                    <a:lumMod val="65000"/>
                    <a:lumOff val="35000"/>
                  </a:schemeClr>
                </a:solidFill>
                <a:latin typeface="BLS Text" pitchFamily="2" charset="-34"/>
                <a:cs typeface="BLS Text" pitchFamily="2" charset="-34"/>
              </a:rPr>
              <a:t>US ISM manufacturing PMI </a:t>
            </a:r>
            <a:r>
              <a:rPr lang="th-TH" sz="1000" dirty="0">
                <a:solidFill>
                  <a:schemeClr val="tx1">
                    <a:lumMod val="65000"/>
                    <a:lumOff val="35000"/>
                  </a:schemeClr>
                </a:solidFill>
                <a:latin typeface="BLS Text" pitchFamily="2" charset="-34"/>
                <a:cs typeface="BLS Text" pitchFamily="2" charset="-34"/>
              </a:rPr>
              <a:t>มีแนวโน้มฟื้นตัวต่อเนื่อง หลัง </a:t>
            </a:r>
            <a:r>
              <a:rPr lang="en-US" sz="1000" dirty="0">
                <a:solidFill>
                  <a:schemeClr val="tx1">
                    <a:lumMod val="65000"/>
                    <a:lumOff val="35000"/>
                  </a:schemeClr>
                </a:solidFill>
                <a:latin typeface="BLS Text" pitchFamily="2" charset="-34"/>
                <a:cs typeface="BLS Text" pitchFamily="2" charset="-34"/>
              </a:rPr>
              <a:t>leading indicator </a:t>
            </a:r>
            <a:r>
              <a:rPr lang="th-TH" sz="1000" dirty="0">
                <a:solidFill>
                  <a:schemeClr val="tx1">
                    <a:lumMod val="65000"/>
                    <a:lumOff val="35000"/>
                  </a:schemeClr>
                </a:solidFill>
                <a:latin typeface="BLS Text" pitchFamily="2" charset="-34"/>
                <a:cs typeface="BLS Text" pitchFamily="2" charset="-34"/>
              </a:rPr>
              <a:t>อย่าง ดัชนียอดคำสั่งซื้อใหม่ </a:t>
            </a:r>
            <a:r>
              <a:rPr lang="en-US" sz="1000" dirty="0">
                <a:solidFill>
                  <a:schemeClr val="tx1">
                    <a:lumMod val="65000"/>
                    <a:lumOff val="35000"/>
                  </a:schemeClr>
                </a:solidFill>
                <a:latin typeface="BLS Text" pitchFamily="2" charset="-34"/>
                <a:cs typeface="BLS Text" pitchFamily="2" charset="-34"/>
              </a:rPr>
              <a:t>US PMI new order </a:t>
            </a:r>
            <a:r>
              <a:rPr lang="th-TH" sz="1000" dirty="0">
                <a:solidFill>
                  <a:schemeClr val="tx1">
                    <a:lumMod val="65000"/>
                    <a:lumOff val="35000"/>
                  </a:schemeClr>
                </a:solidFill>
                <a:latin typeface="BLS Text" pitchFamily="2" charset="-34"/>
                <a:cs typeface="BLS Text" pitchFamily="2" charset="-34"/>
              </a:rPr>
              <a:t>กลับมาขยายตัวทำจุดสูงสุดในรอบ 4 ปี  คาดหนุน</a:t>
            </a:r>
            <a:endParaRPr lang="en-US" sz="1000" dirty="0">
              <a:solidFill>
                <a:schemeClr val="tx1">
                  <a:lumMod val="65000"/>
                  <a:lumOff val="35000"/>
                </a:schemeClr>
              </a:solidFill>
              <a:latin typeface="BLS Text" pitchFamily="2" charset="-34"/>
              <a:cs typeface="BLS Text" pitchFamily="2" charset="-34"/>
            </a:endParaRPr>
          </a:p>
        </p:txBody>
      </p:sp>
      <p:pic>
        <p:nvPicPr>
          <p:cNvPr id="17" name="Picture 16">
            <a:extLst>
              <a:ext uri="{FF2B5EF4-FFF2-40B4-BE49-F238E27FC236}">
                <a16:creationId xmlns:a16="http://schemas.microsoft.com/office/drawing/2014/main" id="{1355C6F5-21EB-D902-D950-E57F240787F6}"/>
              </a:ext>
            </a:extLst>
          </p:cNvPr>
          <p:cNvPicPr>
            <a:picLocks noChangeAspect="1"/>
          </p:cNvPicPr>
          <p:nvPr/>
        </p:nvPicPr>
        <p:blipFill>
          <a:blip r:embed="rId7"/>
          <a:stretch>
            <a:fillRect/>
          </a:stretch>
        </p:blipFill>
        <p:spPr>
          <a:xfrm>
            <a:off x="281858" y="2689256"/>
            <a:ext cx="5235374" cy="3498278"/>
          </a:xfrm>
          <a:prstGeom prst="rect">
            <a:avLst/>
          </a:prstGeom>
        </p:spPr>
      </p:pic>
      <p:pic>
        <p:nvPicPr>
          <p:cNvPr id="24" name="Picture 23">
            <a:extLst>
              <a:ext uri="{FF2B5EF4-FFF2-40B4-BE49-F238E27FC236}">
                <a16:creationId xmlns:a16="http://schemas.microsoft.com/office/drawing/2014/main" id="{3E62CD36-B95F-9D2B-9195-B04673D8C388}"/>
              </a:ext>
            </a:extLst>
          </p:cNvPr>
          <p:cNvPicPr>
            <a:picLocks noChangeAspect="1"/>
          </p:cNvPicPr>
          <p:nvPr/>
        </p:nvPicPr>
        <p:blipFill>
          <a:blip r:embed="rId8"/>
          <a:stretch>
            <a:fillRect/>
          </a:stretch>
        </p:blipFill>
        <p:spPr>
          <a:xfrm>
            <a:off x="281858" y="6327854"/>
            <a:ext cx="3939230" cy="1587872"/>
          </a:xfrm>
          <a:prstGeom prst="rect">
            <a:avLst/>
          </a:prstGeom>
        </p:spPr>
      </p:pic>
      <p:sp>
        <p:nvSpPr>
          <p:cNvPr id="25" name="TextBox 24">
            <a:extLst>
              <a:ext uri="{FF2B5EF4-FFF2-40B4-BE49-F238E27FC236}">
                <a16:creationId xmlns:a16="http://schemas.microsoft.com/office/drawing/2014/main" id="{F0EC64AB-6C8F-A413-B074-64B15F935959}"/>
              </a:ext>
            </a:extLst>
          </p:cNvPr>
          <p:cNvSpPr txBox="1"/>
          <p:nvPr/>
        </p:nvSpPr>
        <p:spPr>
          <a:xfrm>
            <a:off x="3455122" y="1318573"/>
            <a:ext cx="3240360" cy="1015663"/>
          </a:xfrm>
          <a:prstGeom prst="rect">
            <a:avLst/>
          </a:prstGeom>
          <a:noFill/>
          <a:ln>
            <a:noFill/>
          </a:ln>
        </p:spPr>
        <p:txBody>
          <a:bodyPr wrap="square" rtlCol="0">
            <a:spAutoFit/>
          </a:bodyPr>
          <a:lstStyle/>
          <a:p>
            <a:pPr algn="thaiDist">
              <a:lnSpc>
                <a:spcPct val="120000"/>
              </a:lnSpc>
              <a:spcBef>
                <a:spcPts val="600"/>
              </a:spcBef>
              <a:buSzPct val="120000"/>
            </a:pPr>
            <a:r>
              <a:rPr lang="th-TH" sz="1000" dirty="0">
                <a:solidFill>
                  <a:schemeClr val="tx1">
                    <a:lumMod val="65000"/>
                    <a:lumOff val="35000"/>
                  </a:schemeClr>
                </a:solidFill>
                <a:latin typeface="BLS Text" pitchFamily="2" charset="-34"/>
                <a:cs typeface="BLS Text" pitchFamily="2" charset="-34"/>
              </a:rPr>
              <a:t>รอบ 4 ปี  คาดหนุนทิศทางค่าการกลั่น และส่วนต่างปิโตรฯ ทยอยฟื้นตัวต่อ ทั้งนี้ เราประเมิน </a:t>
            </a:r>
            <a:r>
              <a:rPr lang="en-US" sz="1000" dirty="0">
                <a:solidFill>
                  <a:schemeClr val="tx1">
                    <a:lumMod val="65000"/>
                    <a:lumOff val="35000"/>
                  </a:schemeClr>
                </a:solidFill>
                <a:latin typeface="BLS Text" pitchFamily="2" charset="-34"/>
                <a:cs typeface="BLS Text" pitchFamily="2" charset="-34"/>
              </a:rPr>
              <a:t>sensitivity </a:t>
            </a:r>
            <a:r>
              <a:rPr lang="th-TH" sz="1000" dirty="0">
                <a:solidFill>
                  <a:schemeClr val="tx1">
                    <a:lumMod val="65000"/>
                    <a:lumOff val="35000"/>
                  </a:schemeClr>
                </a:solidFill>
                <a:latin typeface="BLS Text" pitchFamily="2" charset="-34"/>
                <a:cs typeface="BLS Text" pitchFamily="2" charset="-34"/>
              </a:rPr>
              <a:t>หากค่าการกลั่น และส่วนต่างปิโตรฯ เพิ่มขึ้นทุกๆ 10% จะหนุนกำไรปี 2026 ของ </a:t>
            </a:r>
            <a:r>
              <a:rPr lang="en-US" sz="1000" dirty="0">
                <a:solidFill>
                  <a:schemeClr val="tx1">
                    <a:lumMod val="65000"/>
                    <a:lumOff val="35000"/>
                  </a:schemeClr>
                </a:solidFill>
                <a:latin typeface="BLS Text" pitchFamily="2" charset="-34"/>
                <a:cs typeface="BLS Text" pitchFamily="2" charset="-34"/>
              </a:rPr>
              <a:t>TOP </a:t>
            </a:r>
            <a:r>
              <a:rPr lang="th-TH" sz="1000" dirty="0">
                <a:solidFill>
                  <a:schemeClr val="tx1">
                    <a:lumMod val="65000"/>
                    <a:lumOff val="35000"/>
                  </a:schemeClr>
                </a:solidFill>
                <a:latin typeface="BLS Text" pitchFamily="2" charset="-34"/>
                <a:cs typeface="BLS Text" pitchFamily="2" charset="-34"/>
              </a:rPr>
              <a:t>ราว 12%, </a:t>
            </a:r>
            <a:r>
              <a:rPr lang="en-US" sz="1000" dirty="0">
                <a:solidFill>
                  <a:schemeClr val="tx1">
                    <a:lumMod val="65000"/>
                    <a:lumOff val="35000"/>
                  </a:schemeClr>
                </a:solidFill>
                <a:latin typeface="BLS Text" pitchFamily="2" charset="-34"/>
                <a:cs typeface="BLS Text" pitchFamily="2" charset="-34"/>
              </a:rPr>
              <a:t>SPRC 36%, PTTGC 30%, SCC 21% </a:t>
            </a:r>
            <a:r>
              <a:rPr lang="th-TH" sz="1000" dirty="0">
                <a:solidFill>
                  <a:schemeClr val="tx1">
                    <a:lumMod val="65000"/>
                    <a:lumOff val="35000"/>
                  </a:schemeClr>
                </a:solidFill>
                <a:latin typeface="BLS Text" pitchFamily="2" charset="-34"/>
                <a:cs typeface="BLS Text" pitchFamily="2" charset="-34"/>
              </a:rPr>
              <a:t>และ </a:t>
            </a:r>
            <a:r>
              <a:rPr lang="en-US" sz="1000" dirty="0">
                <a:solidFill>
                  <a:schemeClr val="tx1">
                    <a:lumMod val="65000"/>
                    <a:lumOff val="35000"/>
                  </a:schemeClr>
                </a:solidFill>
                <a:latin typeface="BLS Text" pitchFamily="2" charset="-34"/>
                <a:cs typeface="BLS Text" pitchFamily="2" charset="-34"/>
              </a:rPr>
              <a:t>IVL 20% </a:t>
            </a:r>
          </a:p>
        </p:txBody>
      </p:sp>
    </p:spTree>
    <p:extLst>
      <p:ext uri="{BB962C8B-B14F-4D97-AF65-F5344CB8AC3E}">
        <p14:creationId xmlns:p14="http://schemas.microsoft.com/office/powerpoint/2010/main" val="834942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13</a:t>
            </a:fld>
            <a:endParaRPr lang="en-US">
              <a:latin typeface="BLS" panose="00000500000000000000" pitchFamily="2" charset="-34"/>
              <a:cs typeface="BLS" panose="00000500000000000000" pitchFamily="2" charset="-34"/>
            </a:endParaRPr>
          </a:p>
        </p:txBody>
      </p:sp>
      <p:grpSp>
        <p:nvGrpSpPr>
          <p:cNvPr id="11" name="Group 156"/>
          <p:cNvGrpSpPr>
            <a:grpSpLocks/>
          </p:cNvGrpSpPr>
          <p:nvPr/>
        </p:nvGrpSpPr>
        <p:grpSpPr bwMode="auto">
          <a:xfrm>
            <a:off x="3374529" y="6536080"/>
            <a:ext cx="708025" cy="781050"/>
            <a:chOff x="1800" y="1440"/>
            <a:chExt cx="1539" cy="1800"/>
          </a:xfrm>
        </p:grpSpPr>
        <p:pic>
          <p:nvPicPr>
            <p:cNvPr id="17" name="Picture 1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0"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6"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0"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4"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6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3"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6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6"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7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0"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6" y="2880"/>
              <a:ext cx="323" cy="36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extBox 31"/>
          <p:cNvSpPr txBox="1"/>
          <p:nvPr/>
        </p:nvSpPr>
        <p:spPr>
          <a:xfrm>
            <a:off x="297858" y="611560"/>
            <a:ext cx="6235106" cy="338554"/>
          </a:xfrm>
          <a:prstGeom prst="rect">
            <a:avLst/>
          </a:prstGeom>
          <a:noFill/>
        </p:spPr>
        <p:txBody>
          <a:bodyPr wrap="square" rtlCol="0">
            <a:spAutoFit/>
          </a:bodyPr>
          <a:lstStyle/>
          <a:p>
            <a:r>
              <a:rPr lang="en-US" sz="1600" b="1" err="1">
                <a:solidFill>
                  <a:srgbClr val="404040"/>
                </a:solidFill>
                <a:latin typeface="BLS Condensed Bold" pitchFamily="2" charset="-34"/>
                <a:cs typeface="BLS Condensed Bold" pitchFamily="2" charset="-34"/>
              </a:rPr>
              <a:t>Bualuang</a:t>
            </a:r>
            <a:r>
              <a:rPr lang="en-US" sz="1600" b="1">
                <a:solidFill>
                  <a:srgbClr val="404040"/>
                </a:solidFill>
                <a:latin typeface="BLS Condensed Bold" pitchFamily="2" charset="-34"/>
                <a:cs typeface="BLS Condensed Bold" pitchFamily="2" charset="-34"/>
              </a:rPr>
              <a:t> Securities Public Company Limited</a:t>
            </a:r>
            <a:endParaRPr lang="en-US" sz="1600">
              <a:solidFill>
                <a:srgbClr val="404040"/>
              </a:solidFill>
              <a:latin typeface="BLS Condensed Bold" pitchFamily="2" charset="-34"/>
              <a:ea typeface="Tahoma" pitchFamily="34" charset="0"/>
              <a:cs typeface="BLS Condensed Bold" pitchFamily="2" charset="-34"/>
            </a:endParaRPr>
          </a:p>
        </p:txBody>
      </p:sp>
      <p:sp>
        <p:nvSpPr>
          <p:cNvPr id="12" name="Text Box 155"/>
          <p:cNvSpPr txBox="1">
            <a:spLocks noChangeArrowheads="1"/>
          </p:cNvSpPr>
          <p:nvPr/>
        </p:nvSpPr>
        <p:spPr bwMode="auto">
          <a:xfrm>
            <a:off x="4737844" y="624260"/>
            <a:ext cx="1644650" cy="319087"/>
          </a:xfrm>
          <a:prstGeom prst="rect">
            <a:avLst/>
          </a:prstGeom>
          <a:solidFill>
            <a:srgbClr val="002060"/>
          </a:solidFill>
          <a:ln w="9525">
            <a:solidFill>
              <a:srgbClr val="00206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a:ln>
                  <a:noFill/>
                </a:ln>
                <a:solidFill>
                  <a:srgbClr val="FFFFFF"/>
                </a:solidFill>
                <a:effectLst/>
                <a:latin typeface="BLS Condensed Bold" pitchFamily="2" charset="-34"/>
                <a:ea typeface="Arial" pitchFamily="34" charset="0"/>
                <a:cs typeface="BLS Condensed Bold" pitchFamily="2" charset="-34"/>
              </a:rPr>
              <a:t>DISCLAIMER</a:t>
            </a:r>
            <a:endParaRPr kumimoji="0" lang="en-US" sz="1800" b="0" i="0" u="none" strike="noStrike" cap="none" normalizeH="0" baseline="0">
              <a:ln>
                <a:noFill/>
              </a:ln>
              <a:solidFill>
                <a:schemeClr val="tx1"/>
              </a:solidFill>
              <a:effectLst/>
              <a:latin typeface="BLS Condensed Bold" pitchFamily="2" charset="-34"/>
              <a:cs typeface="BLS Condensed Bold" pitchFamily="2" charset="-34"/>
            </a:endParaRPr>
          </a:p>
        </p:txBody>
      </p:sp>
      <p:sp>
        <p:nvSpPr>
          <p:cNvPr id="35" name="Rectangle 34"/>
          <p:cNvSpPr/>
          <p:nvPr/>
        </p:nvSpPr>
        <p:spPr>
          <a:xfrm>
            <a:off x="294066" y="1043608"/>
            <a:ext cx="6235106" cy="36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97858" y="1187624"/>
            <a:ext cx="6231314" cy="3539430"/>
          </a:xfrm>
          <a:prstGeom prst="rect">
            <a:avLst/>
          </a:prstGeom>
          <a:noFill/>
        </p:spPr>
        <p:txBody>
          <a:bodyPr wrap="square" rtlCol="0">
            <a:spAutoFit/>
          </a:bodyPr>
          <a:lstStyle/>
          <a:p>
            <a:pPr algn="just"/>
            <a:r>
              <a:rPr lang="en-GB" sz="800" dirty="0">
                <a:solidFill>
                  <a:srgbClr val="404040"/>
                </a:solidFill>
                <a:latin typeface="BLS" pitchFamily="2" charset="-34"/>
                <a:cs typeface="BLS" pitchFamily="2" charset="-34"/>
              </a:rPr>
              <a:t>BUALUANG SECURITIES PUBLIC COMPANY LIMITED (BLS) is a subsidiary of BANGKOK BANK PUBLIC COMPANY LIMITED (BBL). This document is produced based upon sources believed to be reliable but their accuracy, completeness or correctness is not guaranteed. The statements or expressions of opinion herein were arrived at after due and careful consideration to use as information for investment. Expressions of opinion contained herein are subject to change without notice. This document is not, and should not be construed as, an offer or the solicitation of an offer to buy or sell any securities. The use of any information shall be at the sole discretion and risk of the user.</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BE IN RELATIONSHIPS WITH THE SECURITIES IN THIS REPORT. “Opinions, projections and other information contained in this report are based upon sources believed to be accurate including the draft prospectus, but no responsibility is accepted for any loss occasioned by reliance placed upon the contents hereof. </a:t>
            </a:r>
            <a:r>
              <a:rPr lang="en-GB" sz="800" dirty="0" err="1">
                <a:solidFill>
                  <a:srgbClr val="404040"/>
                </a:solidFill>
                <a:latin typeface="BLS" pitchFamily="2" charset="-34"/>
                <a:cs typeface="BLS" pitchFamily="2" charset="-34"/>
              </a:rPr>
              <a:t>Bualuang</a:t>
            </a:r>
            <a:r>
              <a:rPr lang="en-GB" sz="800" dirty="0">
                <a:solidFill>
                  <a:srgbClr val="404040"/>
                </a:solidFill>
                <a:latin typeface="BLS" pitchFamily="2" charset="-34"/>
                <a:cs typeface="BLS" pitchFamily="2" charset="-34"/>
              </a:rPr>
              <a:t> Securities Public Company Limited may from time to time perform investment, advisory or other services for companies mentioned in this report, as well as dealing (as principal or otherwise) in, or otherwise being interested in, any securities mentioned herein, This report does not constitute a solicitation to buy or sell any securities”. Investors should carefully read details in the prospectus before making investment decision.</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ACT AS MARKET MAKER AND ISSUER OF DWs, AND ISSUER OF STRUCTURED NOTES ON THESE SECURITIES. The company may prepare the research reports on those underlying securities. Investors should carefully read the details of the derivative warrants and structured notes in the prospectus before making investment decisions.</a:t>
            </a: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r>
              <a:rPr lang="en-US" sz="800" dirty="0">
                <a:solidFill>
                  <a:srgbClr val="404040"/>
                </a:solidFill>
                <a:latin typeface="BLS" pitchFamily="2" charset="-34"/>
                <a:cs typeface="BLS" pitchFamily="2" charset="-34"/>
              </a:rPr>
              <a:t>BUALUANG SECURITIES PUBLIC COMPANY LIMITED IS OR MAY BE AN UNDERWRITER/CO-UNDERWRITER/JOINT LEAD IN RESPECT OF THE INITIAL PUBLIC OFFERING (IPO) OF SECURITIES.</a:t>
            </a:r>
          </a:p>
        </p:txBody>
      </p:sp>
      <p:graphicFrame>
        <p:nvGraphicFramePr>
          <p:cNvPr id="36" name="Table 35"/>
          <p:cNvGraphicFramePr>
            <a:graphicFrameLocks noGrp="1"/>
          </p:cNvGraphicFramePr>
          <p:nvPr/>
        </p:nvGraphicFramePr>
        <p:xfrm>
          <a:off x="388937" y="4923329"/>
          <a:ext cx="5993557" cy="920750"/>
        </p:xfrm>
        <a:graphic>
          <a:graphicData uri="http://schemas.openxmlformats.org/drawingml/2006/table">
            <a:tbl>
              <a:tblPr firstRow="1" firstCol="1" bandRow="1">
                <a:tableStyleId>{5C22544A-7EE6-4342-B048-85BDC9FD1C3A}</a:tableStyleId>
              </a:tblPr>
              <a:tblGrid>
                <a:gridCol w="2541183">
                  <a:extLst>
                    <a:ext uri="{9D8B030D-6E8A-4147-A177-3AD203B41FA5}">
                      <a16:colId xmlns:a16="http://schemas.microsoft.com/office/drawing/2014/main" val="20000"/>
                    </a:ext>
                  </a:extLst>
                </a:gridCol>
                <a:gridCol w="3452374">
                  <a:extLst>
                    <a:ext uri="{9D8B030D-6E8A-4147-A177-3AD203B41FA5}">
                      <a16:colId xmlns:a16="http://schemas.microsoft.com/office/drawing/2014/main" val="20001"/>
                    </a:ext>
                  </a:extLst>
                </a:gridCol>
              </a:tblGrid>
              <a:tr h="411537">
                <a:tc>
                  <a:txBody>
                    <a:bodyPr/>
                    <a:lstStyle/>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Financial Advisor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tabLst>
                          <a:tab pos="2743200" algn="ctr"/>
                          <a:tab pos="5486400" algn="r"/>
                        </a:tabLst>
                      </a:pPr>
                      <a:r>
                        <a:rPr lang="en-US" sz="800" dirty="0">
                          <a:solidFill>
                            <a:srgbClr val="404040"/>
                          </a:solidFill>
                          <a:effectLst/>
                          <a:latin typeface="BLS" pitchFamily="2" charset="-34"/>
                          <a:cs typeface="BLS" pitchFamily="2" charset="-34"/>
                        </a:rPr>
                        <a:t>Lead 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Co-underwriter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9213">
                <a:tc>
                  <a:txBody>
                    <a:bodyPr/>
                    <a:lstStyle/>
                    <a:p>
                      <a:pPr algn="l">
                        <a:lnSpc>
                          <a:spcPts val="1320"/>
                        </a:lnSpc>
                        <a:spcBef>
                          <a:spcPts val="0"/>
                        </a:spcBef>
                        <a:spcAft>
                          <a:spcPts val="0"/>
                        </a:spcAft>
                      </a:pPr>
                      <a:endParaRPr lang="en-US" sz="800" b="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500"/>
                        </a:lnSpc>
                        <a:spcBef>
                          <a:spcPts val="0"/>
                        </a:spcBef>
                        <a:spcAft>
                          <a:spcPts val="0"/>
                        </a:spcAft>
                        <a:tabLst>
                          <a:tab pos="1266825" algn="l"/>
                        </a:tabLst>
                      </a:pPr>
                      <a:endParaRPr lang="en-US" sz="700" b="0" dirty="0">
                        <a:solidFill>
                          <a:srgbClr val="404040"/>
                        </a:solidFill>
                        <a:effectLst/>
                        <a:latin typeface="BLS" pitchFamily="2" charset="-34"/>
                        <a:ea typeface="Times New Roman"/>
                        <a:cs typeface="BLS" pitchFamily="2" charset="-34"/>
                      </a:endParaRPr>
                    </a:p>
                    <a:p>
                      <a:pPr algn="just">
                        <a:lnSpc>
                          <a:spcPts val="500"/>
                        </a:lnSpc>
                        <a:spcBef>
                          <a:spcPts val="0"/>
                        </a:spcBef>
                        <a:spcAft>
                          <a:spcPts val="0"/>
                        </a:spcAft>
                        <a:tabLst>
                          <a:tab pos="1266825" algn="l"/>
                        </a:tabLst>
                      </a:pPr>
                      <a:endParaRPr lang="en-US" sz="20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37" name="Table 36"/>
          <p:cNvGraphicFramePr>
            <a:graphicFrameLocks noGrp="1"/>
          </p:cNvGraphicFramePr>
          <p:nvPr/>
        </p:nvGraphicFramePr>
        <p:xfrm>
          <a:off x="404664" y="6291481"/>
          <a:ext cx="6353174" cy="1219200"/>
        </p:xfrm>
        <a:graphic>
          <a:graphicData uri="http://schemas.openxmlformats.org/drawingml/2006/table">
            <a:tbl>
              <a:tblPr firstRow="1" firstCol="1" bandRow="1">
                <a:tableStyleId>{5C22544A-7EE6-4342-B048-85BDC9FD1C3A}</a:tableStyleId>
              </a:tblPr>
              <a:tblGrid>
                <a:gridCol w="2278152">
                  <a:extLst>
                    <a:ext uri="{9D8B030D-6E8A-4147-A177-3AD203B41FA5}">
                      <a16:colId xmlns:a16="http://schemas.microsoft.com/office/drawing/2014/main" val="20000"/>
                    </a:ext>
                  </a:extLst>
                </a:gridCol>
                <a:gridCol w="2037511">
                  <a:extLst>
                    <a:ext uri="{9D8B030D-6E8A-4147-A177-3AD203B41FA5}">
                      <a16:colId xmlns:a16="http://schemas.microsoft.com/office/drawing/2014/main" val="20001"/>
                    </a:ext>
                  </a:extLst>
                </a:gridCol>
                <a:gridCol w="2037511">
                  <a:extLst>
                    <a:ext uri="{9D8B030D-6E8A-4147-A177-3AD203B41FA5}">
                      <a16:colId xmlns:a16="http://schemas.microsoft.com/office/drawing/2014/main" val="20002"/>
                    </a:ext>
                  </a:extLst>
                </a:gridCol>
              </a:tblGrid>
              <a:tr h="215900">
                <a:tc>
                  <a:txBody>
                    <a:bodyPr/>
                    <a:lstStyle/>
                    <a:p>
                      <a:pPr algn="ctr">
                        <a:spcBef>
                          <a:spcPts val="300"/>
                        </a:spcBef>
                        <a:spcAft>
                          <a:spcPts val="0"/>
                        </a:spcAft>
                      </a:pPr>
                      <a:r>
                        <a:rPr lang="en-US" sz="800">
                          <a:solidFill>
                            <a:srgbClr val="404040"/>
                          </a:solidFill>
                          <a:effectLst/>
                          <a:latin typeface="BLS" pitchFamily="2" charset="-34"/>
                          <a:cs typeface="BLS" pitchFamily="2" charset="-34"/>
                        </a:rPr>
                        <a:t>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Description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0"/>
                  </a:ext>
                </a:extLst>
              </a:tr>
              <a:tr h="161925">
                <a:tc>
                  <a:txBody>
                    <a:bodyPr/>
                    <a:lstStyle/>
                    <a:p>
                      <a:pPr algn="ctr">
                        <a:spcAft>
                          <a:spcPts val="0"/>
                        </a:spcAft>
                      </a:pPr>
                      <a:r>
                        <a:rPr lang="en-US" sz="800">
                          <a:solidFill>
                            <a:srgbClr val="404040"/>
                          </a:solidFill>
                          <a:effectLst/>
                          <a:latin typeface="BLS" pitchFamily="2" charset="-34"/>
                          <a:cs typeface="BLS" pitchFamily="2" charset="-34"/>
                        </a:rPr>
                        <a:t>90 – 100</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Excellent</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1"/>
                  </a:ext>
                </a:extLst>
              </a:tr>
              <a:tr h="161925">
                <a:tc>
                  <a:txBody>
                    <a:bodyPr/>
                    <a:lstStyle/>
                    <a:p>
                      <a:pPr algn="ctr">
                        <a:spcAft>
                          <a:spcPts val="0"/>
                        </a:spcAft>
                      </a:pPr>
                      <a:r>
                        <a:rPr lang="en-US" sz="800">
                          <a:solidFill>
                            <a:srgbClr val="404040"/>
                          </a:solidFill>
                          <a:effectLst/>
                          <a:latin typeface="BLS" pitchFamily="2" charset="-34"/>
                          <a:cs typeface="BLS" pitchFamily="2" charset="-34"/>
                        </a:rPr>
                        <a:t>80 – 89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Very 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2"/>
                  </a:ext>
                </a:extLst>
              </a:tr>
              <a:tr h="161925">
                <a:tc>
                  <a:txBody>
                    <a:bodyPr/>
                    <a:lstStyle/>
                    <a:p>
                      <a:pPr algn="ctr">
                        <a:spcAft>
                          <a:spcPts val="0"/>
                        </a:spcAft>
                      </a:pPr>
                      <a:r>
                        <a:rPr lang="en-US" sz="800">
                          <a:solidFill>
                            <a:srgbClr val="404040"/>
                          </a:solidFill>
                          <a:effectLst/>
                          <a:latin typeface="BLS" pitchFamily="2" charset="-34"/>
                          <a:cs typeface="BLS" pitchFamily="2" charset="-34"/>
                        </a:rPr>
                        <a:t>70 – 79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3"/>
                  </a:ext>
                </a:extLst>
              </a:tr>
              <a:tr h="161925">
                <a:tc>
                  <a:txBody>
                    <a:bodyPr/>
                    <a:lstStyle/>
                    <a:p>
                      <a:pPr algn="ctr">
                        <a:spcAft>
                          <a:spcPts val="0"/>
                        </a:spcAft>
                      </a:pPr>
                      <a:r>
                        <a:rPr lang="en-US" sz="800">
                          <a:solidFill>
                            <a:srgbClr val="404040"/>
                          </a:solidFill>
                          <a:effectLst/>
                          <a:latin typeface="BLS" pitchFamily="2" charset="-34"/>
                          <a:cs typeface="BLS" pitchFamily="2" charset="-34"/>
                        </a:rPr>
                        <a:t>60 – 69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Satisfactory</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4"/>
                  </a:ext>
                </a:extLst>
              </a:tr>
              <a:tr h="161925">
                <a:tc>
                  <a:txBody>
                    <a:bodyPr/>
                    <a:lstStyle/>
                    <a:p>
                      <a:pPr algn="ctr">
                        <a:spcAft>
                          <a:spcPts val="0"/>
                        </a:spcAft>
                      </a:pPr>
                      <a:r>
                        <a:rPr lang="en-US" sz="800">
                          <a:solidFill>
                            <a:srgbClr val="404040"/>
                          </a:solidFill>
                          <a:effectLst/>
                          <a:latin typeface="BLS" pitchFamily="2" charset="-34"/>
                          <a:cs typeface="BLS" pitchFamily="2" charset="-34"/>
                        </a:rPr>
                        <a:t>50 – 59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Pass</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5"/>
                  </a:ext>
                </a:extLst>
              </a:tr>
              <a:tr h="193675">
                <a:tc>
                  <a:txBody>
                    <a:bodyPr/>
                    <a:lstStyle/>
                    <a:p>
                      <a:pPr algn="ctr">
                        <a:spcBef>
                          <a:spcPts val="300"/>
                        </a:spcBef>
                        <a:spcAft>
                          <a:spcPts val="0"/>
                        </a:spcAft>
                      </a:pPr>
                      <a:r>
                        <a:rPr lang="en-US" sz="800">
                          <a:solidFill>
                            <a:srgbClr val="404040"/>
                          </a:solidFill>
                          <a:effectLst/>
                          <a:latin typeface="BLS" pitchFamily="2" charset="-34"/>
                          <a:cs typeface="BLS" pitchFamily="2" charset="-34"/>
                        </a:rPr>
                        <a:t>Below 50</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No logo given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N/A</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6"/>
                  </a:ext>
                </a:extLst>
              </a:tr>
            </a:tbl>
          </a:graphicData>
        </a:graphic>
      </p:graphicFrame>
      <p:sp>
        <p:nvSpPr>
          <p:cNvPr id="38" name="TextBox 37"/>
          <p:cNvSpPr txBox="1"/>
          <p:nvPr/>
        </p:nvSpPr>
        <p:spPr>
          <a:xfrm>
            <a:off x="404664" y="6001157"/>
            <a:ext cx="5977830" cy="215444"/>
          </a:xfrm>
          <a:prstGeom prst="rect">
            <a:avLst/>
          </a:prstGeom>
          <a:noFill/>
        </p:spPr>
        <p:txBody>
          <a:bodyPr wrap="square" rtlCol="0">
            <a:spAutoFit/>
          </a:bodyPr>
          <a:lstStyle/>
          <a:p>
            <a:pPr algn="just"/>
            <a:r>
              <a:rPr lang="en-US" sz="800" b="1">
                <a:solidFill>
                  <a:srgbClr val="404040"/>
                </a:solidFill>
                <a:latin typeface="BLS" pitchFamily="2" charset="-34"/>
                <a:cs typeface="BLS" pitchFamily="2" charset="-34"/>
              </a:rPr>
              <a:t>CG Rating</a:t>
            </a:r>
          </a:p>
        </p:txBody>
      </p:sp>
      <p:sp>
        <p:nvSpPr>
          <p:cNvPr id="39" name="TextBox 38"/>
          <p:cNvSpPr txBox="1"/>
          <p:nvPr/>
        </p:nvSpPr>
        <p:spPr>
          <a:xfrm>
            <a:off x="1052736" y="7875657"/>
            <a:ext cx="4752528" cy="584775"/>
          </a:xfrm>
          <a:prstGeom prst="rect">
            <a:avLst/>
          </a:prstGeom>
          <a:noFill/>
        </p:spPr>
        <p:txBody>
          <a:bodyPr wrap="square" rtlCol="0">
            <a:spAutoFit/>
          </a:bodyPr>
          <a:lstStyle/>
          <a:p>
            <a:pPr algn="ctr"/>
            <a:r>
              <a:rPr lang="en-US" sz="800" b="1">
                <a:latin typeface="BLS" pitchFamily="2" charset="-34"/>
                <a:cs typeface="BLS" pitchFamily="2" charset="-34"/>
              </a:rPr>
              <a:t>Thailand's Private Sector Collective Action Coalition Against Corruption </a:t>
            </a:r>
            <a:r>
              <a:rPr lang="en-US" sz="800" b="1" err="1">
                <a:latin typeface="BLS" pitchFamily="2" charset="-34"/>
                <a:cs typeface="BLS" pitchFamily="2" charset="-34"/>
              </a:rPr>
              <a:t>programme</a:t>
            </a:r>
            <a:r>
              <a:rPr lang="en-US" sz="800" b="1">
                <a:latin typeface="BLS" pitchFamily="2" charset="-34"/>
                <a:cs typeface="BLS" pitchFamily="2" charset="-34"/>
              </a:rPr>
              <a:t> (Thai CAC) under Thai Institute of Directors</a:t>
            </a:r>
          </a:p>
          <a:p>
            <a:pPr marL="171450" indent="-171450" algn="ctr">
              <a:buFont typeface="Arial" pitchFamily="34" charset="0"/>
              <a:buChar char="•"/>
            </a:pPr>
            <a:r>
              <a:rPr lang="en-US" sz="800">
                <a:latin typeface="BLS" pitchFamily="2" charset="-34"/>
                <a:cs typeface="BLS" pitchFamily="2" charset="-34"/>
              </a:rPr>
              <a:t>companies that have </a:t>
            </a:r>
            <a:r>
              <a:rPr lang="en-US" sz="800" b="1">
                <a:latin typeface="BLS" pitchFamily="2" charset="-34"/>
                <a:cs typeface="BLS" pitchFamily="2" charset="-34"/>
              </a:rPr>
              <a:t>declared</a:t>
            </a:r>
            <a:r>
              <a:rPr lang="en-US" sz="800">
                <a:latin typeface="BLS" pitchFamily="2" charset="-34"/>
                <a:cs typeface="BLS" pitchFamily="2" charset="-34"/>
              </a:rPr>
              <a:t> their intention to join CAC, and</a:t>
            </a:r>
          </a:p>
          <a:p>
            <a:pPr marL="171450" indent="-171450" algn="ctr">
              <a:buFont typeface="Arial" pitchFamily="34" charset="0"/>
              <a:buChar char="•"/>
            </a:pPr>
            <a:r>
              <a:rPr lang="en-US" sz="800">
                <a:latin typeface="BLS" pitchFamily="2" charset="-34"/>
                <a:cs typeface="BLS" pitchFamily="2" charset="-34"/>
              </a:rPr>
              <a:t>companies </a:t>
            </a:r>
            <a:r>
              <a:rPr lang="en-US" sz="800" b="1">
                <a:latin typeface="BLS" pitchFamily="2" charset="-34"/>
                <a:cs typeface="BLS" pitchFamily="2" charset="-34"/>
              </a:rPr>
              <a:t>certified</a:t>
            </a:r>
            <a:r>
              <a:rPr lang="en-US" sz="800">
                <a:latin typeface="BLS" pitchFamily="2" charset="-34"/>
                <a:cs typeface="BLS" pitchFamily="2" charset="-34"/>
              </a:rPr>
              <a:t> by CAC.</a:t>
            </a:r>
            <a:endParaRPr lang="en-US" sz="800">
              <a:solidFill>
                <a:srgbClr val="404040"/>
              </a:solidFill>
              <a:latin typeface="BLS" pitchFamily="2" charset="-34"/>
              <a:cs typeface="BLS" pitchFamily="2" charset="-34"/>
            </a:endParaRPr>
          </a:p>
        </p:txBody>
      </p:sp>
      <p:pic>
        <p:nvPicPr>
          <p:cNvPr id="1026" name="Picture 2">
            <a:extLst>
              <a:ext uri="{FF2B5EF4-FFF2-40B4-BE49-F238E27FC236}">
                <a16:creationId xmlns:a16="http://schemas.microsoft.com/office/drawing/2014/main" id="{0E5D63DB-D9DE-7124-6220-F449B2D45F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37" y="3631607"/>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2FADF063-618E-2A0B-B0CC-F9AEA43EBA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9F434746-9B89-59A7-88CF-4D5439A09315}"/>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CC043B-0591-672D-2174-7401EDDCA5CE}"/>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2531F109-D890-A9D4-6394-29EC9D37B88A}"/>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329149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14</a:t>
            </a:fld>
            <a:endParaRPr lang="en-US" dirty="0">
              <a:latin typeface="BLS" panose="00000500000000000000" pitchFamily="2" charset="-34"/>
              <a:cs typeface="BLS" panose="00000500000000000000" pitchFamily="2" charset="-34"/>
            </a:endParaRPr>
          </a:p>
        </p:txBody>
      </p:sp>
      <p:sp>
        <p:nvSpPr>
          <p:cNvPr id="12" name="Text Box 155"/>
          <p:cNvSpPr txBox="1">
            <a:spLocks noChangeArrowheads="1"/>
          </p:cNvSpPr>
          <p:nvPr/>
        </p:nvSpPr>
        <p:spPr bwMode="auto">
          <a:xfrm>
            <a:off x="297858" y="62426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CORPORATE GOVERNANCE REPORT DISCLAIMER</a:t>
            </a:r>
          </a:p>
        </p:txBody>
      </p:sp>
      <p:sp>
        <p:nvSpPr>
          <p:cNvPr id="13" name="TextBox 12"/>
          <p:cNvSpPr txBox="1"/>
          <p:nvPr/>
        </p:nvSpPr>
        <p:spPr>
          <a:xfrm>
            <a:off x="297858" y="1043608"/>
            <a:ext cx="6231314" cy="3293209"/>
          </a:xfrm>
          <a:prstGeom prst="rect">
            <a:avLst/>
          </a:prstGeom>
          <a:noFill/>
        </p:spPr>
        <p:txBody>
          <a:bodyPr wrap="square" rtlCol="0">
            <a:spAutoFit/>
          </a:bodyPr>
          <a:lstStyle/>
          <a:p>
            <a:pPr algn="just"/>
            <a:r>
              <a:rPr lang="en-GB" sz="800">
                <a:solidFill>
                  <a:srgbClr val="404040"/>
                </a:solidFill>
                <a:latin typeface="BLS" pitchFamily="2" charset="-34"/>
                <a:cs typeface="BLS" pitchFamily="2" charset="-34"/>
              </a:rPr>
              <a:t>This research report was prepared by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Public Company Limited and refers to research prepared by Morgan Stanley. Morgan Stanley does not warrant or guarantee the accuracy or completeness of its research reports. Morgan Stanley reserves copyright and other proprietary rights in the material reproduced in this report. Morgan Stanley is under no obligation to inform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or you if the views or information referred to or reproduced in this research report change.</a:t>
            </a:r>
          </a:p>
          <a:p>
            <a:pPr algn="just"/>
            <a:endParaRPr lang="en-US" sz="800">
              <a:solidFill>
                <a:srgbClr val="404040"/>
              </a:solidFill>
              <a:latin typeface="BLS" pitchFamily="2" charset="-34"/>
              <a:cs typeface="BLS" pitchFamily="2" charset="-34"/>
            </a:endParaRPr>
          </a:p>
          <a:p>
            <a:pPr algn="just"/>
            <a:r>
              <a:rPr lang="en-GB" sz="800" b="1">
                <a:solidFill>
                  <a:srgbClr val="404040"/>
                </a:solidFill>
                <a:latin typeface="BLS" pitchFamily="2" charset="-34"/>
                <a:cs typeface="BLS" pitchFamily="2" charset="-34"/>
              </a:rPr>
              <a:t>Corporate Governance Report disclaimer</a:t>
            </a:r>
          </a:p>
          <a:p>
            <a:pPr algn="just"/>
            <a:endParaRPr lang="en-US" sz="400" b="1">
              <a:solidFill>
                <a:srgbClr val="404040"/>
              </a:solidFill>
              <a:latin typeface="BLS" pitchFamily="2" charset="-34"/>
              <a:cs typeface="BLS" pitchFamily="2" charset="-34"/>
            </a:endParaRPr>
          </a:p>
          <a:p>
            <a:pPr algn="just"/>
            <a:r>
              <a:rPr lang="en-US" sz="800">
                <a:solidFill>
                  <a:srgbClr val="404040"/>
                </a:solidFill>
                <a:latin typeface="BLS" pitchFamily="2" charset="-34"/>
                <a:cs typeface="BLS" pitchFamily="2" charset="-34"/>
              </a:rPr>
              <a:t>The disclosure of the survey result of the Thai Institute of Directors Association (IOD) regarding corporate governance is made pursuant to the policy of the Office of the Securities and Exchange Commission. The IOD survey is based on the information of a company listed on the Stock Exchange of Thailand and the Market for Alternative Investment disclosed to the public and able to be accessed by a general public investor. The result, therefore, is from the perspective of a third party. It is not an evaluation of operation and is not based on inside information.</a:t>
            </a:r>
          </a:p>
          <a:p>
            <a:pPr algn="just"/>
            <a:r>
              <a:rPr lang="en-US" sz="800">
                <a:solidFill>
                  <a:srgbClr val="404040"/>
                </a:solidFill>
                <a:latin typeface="BLS" pitchFamily="2" charset="-34"/>
                <a:cs typeface="BLS" pitchFamily="2" charset="-34"/>
              </a:rPr>
              <a:t>The survey result is as of the date appearing in the Corporate Governance Report of Thai Listed Companies. As a result, the survey result may be changed after that date.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nor certifies the accuracy of such survey results.</a:t>
            </a:r>
          </a:p>
          <a:p>
            <a:pPr algn="just"/>
            <a:r>
              <a:rPr lang="en-US" sz="800">
                <a:solidFill>
                  <a:srgbClr val="404040"/>
                </a:solidFill>
                <a:latin typeface="BLS" pitchFamily="2" charset="-34"/>
                <a:cs typeface="BLS" pitchFamily="2" charset="-34"/>
              </a:rPr>
              <a:t> </a:t>
            </a:r>
          </a:p>
          <a:p>
            <a:pPr algn="just"/>
            <a:r>
              <a:rPr lang="en-US" sz="800">
                <a:solidFill>
                  <a:srgbClr val="404040"/>
                </a:solidFill>
                <a:latin typeface="BLS" pitchFamily="2" charset="-34"/>
                <a:cs typeface="BLS" pitchFamily="2" charset="-34"/>
              </a:rPr>
              <a:t>“Disclaimer: The disclosure of the Anti-Corruption Progress Indicators of a listed company on the Stock Exchange of Thailand, which is assessed by the relevant institution as disclosed by the Office of the Securities and Exchange Commission, is made in order to comply with the policy and sustainable development plan for the listed companies. The relevant institution made this assessment based on the information received from the listed company, as stipulated in the form for the assessment of Anti-corruption, which refers to the Annual Registration Statement (Form 56-1), Annual Report (Form 56-2), or other relevant documents or reports of such listed company. The assessment result is therefore made from the perspective of a third party. It is not an assessment of operation and is not based on any inside information. Since this assessment is only the assessment result as of the date appearing in the assessment result, it may be changed after that date or when there is any change to the relevant information. Nevertheless,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verifies, nor certifies the accuracy and completeness of the assessment result.”</a:t>
            </a:r>
          </a:p>
        </p:txBody>
      </p:sp>
      <p:sp>
        <p:nvSpPr>
          <p:cNvPr id="33" name="Text Box 155"/>
          <p:cNvSpPr txBox="1">
            <a:spLocks noChangeArrowheads="1"/>
          </p:cNvSpPr>
          <p:nvPr/>
        </p:nvSpPr>
        <p:spPr bwMode="auto">
          <a:xfrm>
            <a:off x="294066" y="457200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BUALUANG RESEARCH – RECOMMENDATION FRAMEWORK</a:t>
            </a:r>
          </a:p>
        </p:txBody>
      </p:sp>
      <p:sp>
        <p:nvSpPr>
          <p:cNvPr id="34" name="TextBox 33"/>
          <p:cNvSpPr txBox="1"/>
          <p:nvPr/>
        </p:nvSpPr>
        <p:spPr>
          <a:xfrm>
            <a:off x="294066" y="5004048"/>
            <a:ext cx="3121345" cy="1323439"/>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STOCK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BUY:</a:t>
            </a:r>
            <a:r>
              <a:rPr lang="en-US" sz="800">
                <a:solidFill>
                  <a:srgbClr val="404040"/>
                </a:solidFill>
                <a:latin typeface="BLS" pitchFamily="2" charset="-34"/>
                <a:cs typeface="BLS" pitchFamily="2" charset="-34"/>
              </a:rPr>
              <a:t> Expected positive total returns of 15% or more over the next 12 months.</a:t>
            </a:r>
          </a:p>
          <a:p>
            <a:r>
              <a:rPr lang="en-US" sz="800" b="1">
                <a:solidFill>
                  <a:srgbClr val="404040"/>
                </a:solidFill>
                <a:latin typeface="BLS" pitchFamily="2" charset="-34"/>
                <a:cs typeface="BLS" pitchFamily="2" charset="-34"/>
              </a:rPr>
              <a:t>HOLD:</a:t>
            </a:r>
            <a:r>
              <a:rPr lang="en-US" sz="800">
                <a:solidFill>
                  <a:srgbClr val="404040"/>
                </a:solidFill>
                <a:latin typeface="BLS" pitchFamily="2" charset="-34"/>
                <a:cs typeface="BLS" pitchFamily="2" charset="-34"/>
              </a:rPr>
              <a:t> Expected total returns of between -15% and +15% over the next 12 months.</a:t>
            </a:r>
          </a:p>
          <a:p>
            <a:r>
              <a:rPr lang="en-US" sz="800" b="1">
                <a:solidFill>
                  <a:srgbClr val="404040"/>
                </a:solidFill>
                <a:latin typeface="BLS" pitchFamily="2" charset="-34"/>
                <a:cs typeface="BLS" pitchFamily="2" charset="-34"/>
              </a:rPr>
              <a:t>SELL:</a:t>
            </a:r>
            <a:r>
              <a:rPr lang="en-US" sz="800">
                <a:solidFill>
                  <a:srgbClr val="404040"/>
                </a:solidFill>
                <a:latin typeface="BLS" pitchFamily="2" charset="-34"/>
                <a:cs typeface="BLS" pitchFamily="2" charset="-34"/>
              </a:rPr>
              <a:t> Expected negative total returns of 15% or more over the next 12 months.</a:t>
            </a:r>
          </a:p>
          <a:p>
            <a:r>
              <a:rPr lang="en-US" sz="800" b="1">
                <a:solidFill>
                  <a:srgbClr val="404040"/>
                </a:solidFill>
                <a:latin typeface="BLS" pitchFamily="2" charset="-34"/>
                <a:cs typeface="BLS" pitchFamily="2" charset="-34"/>
              </a:rPr>
              <a:t>TRADING BUY:</a:t>
            </a:r>
            <a:r>
              <a:rPr lang="en-US" sz="800">
                <a:solidFill>
                  <a:srgbClr val="404040"/>
                </a:solidFill>
                <a:latin typeface="BLS" pitchFamily="2" charset="-34"/>
                <a:cs typeface="BLS" pitchFamily="2" charset="-34"/>
              </a:rPr>
              <a:t> Expected positive total returns of 15% or more over the next 3 months.</a:t>
            </a:r>
          </a:p>
        </p:txBody>
      </p:sp>
      <p:sp>
        <p:nvSpPr>
          <p:cNvPr id="40" name="TextBox 39"/>
          <p:cNvSpPr txBox="1"/>
          <p:nvPr/>
        </p:nvSpPr>
        <p:spPr>
          <a:xfrm>
            <a:off x="3403999" y="5006935"/>
            <a:ext cx="3121345" cy="1446550"/>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SECTOR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OVERWEIGHT:</a:t>
            </a:r>
            <a:r>
              <a:rPr lang="en-US" sz="800">
                <a:solidFill>
                  <a:srgbClr val="404040"/>
                </a:solidFill>
                <a:latin typeface="BLS" pitchFamily="2" charset="-34"/>
                <a:cs typeface="BLS" pitchFamily="2" charset="-34"/>
              </a:rPr>
              <a:t> The industry, as defined by the analyst's coverage universe, is expected to outperform the relevant primary market index over the next 12 months.</a:t>
            </a:r>
          </a:p>
          <a:p>
            <a:r>
              <a:rPr lang="en-US" sz="800" b="1">
                <a:solidFill>
                  <a:srgbClr val="404040"/>
                </a:solidFill>
                <a:latin typeface="BLS" pitchFamily="2" charset="-34"/>
                <a:cs typeface="BLS" pitchFamily="2" charset="-34"/>
              </a:rPr>
              <a:t>NEUTRAL:</a:t>
            </a:r>
            <a:r>
              <a:rPr lang="en-US" sz="800">
                <a:solidFill>
                  <a:srgbClr val="404040"/>
                </a:solidFill>
                <a:latin typeface="BLS" pitchFamily="2" charset="-34"/>
                <a:cs typeface="BLS" pitchFamily="2" charset="-34"/>
              </a:rPr>
              <a:t> The industry, as defined by the analyst's coverage universe, is expected to perform in line with the relevant primary market index over the next 12 months.</a:t>
            </a:r>
          </a:p>
          <a:p>
            <a:r>
              <a:rPr lang="en-US" sz="800" b="1">
                <a:solidFill>
                  <a:srgbClr val="404040"/>
                </a:solidFill>
                <a:latin typeface="BLS" pitchFamily="2" charset="-34"/>
                <a:cs typeface="BLS" pitchFamily="2" charset="-34"/>
              </a:rPr>
              <a:t>UNDERWEIGHT:</a:t>
            </a:r>
            <a:r>
              <a:rPr lang="en-US" sz="800">
                <a:solidFill>
                  <a:srgbClr val="404040"/>
                </a:solidFill>
                <a:latin typeface="BLS" pitchFamily="2" charset="-34"/>
                <a:cs typeface="BLS" pitchFamily="2" charset="-34"/>
              </a:rPr>
              <a:t> The industry, as defined by the analyst's coverage universe, is expected to underperform the relevant primary market index over the next 12 months.</a:t>
            </a:r>
          </a:p>
        </p:txBody>
      </p:sp>
      <p:pic>
        <p:nvPicPr>
          <p:cNvPr id="2" name="Picture 2">
            <a:extLst>
              <a:ext uri="{FF2B5EF4-FFF2-40B4-BE49-F238E27FC236}">
                <a16:creationId xmlns:a16="http://schemas.microsoft.com/office/drawing/2014/main" id="{68EBA98D-DAEB-71F6-F8D5-DDD9F3BDD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7E2E67D1-A25A-2469-0444-85CC17E609CB}"/>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FD7DE02-ED03-5EC3-18A3-C3FFFC2FDA4D}"/>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13DF9989-335C-A019-5306-81DB174F4CC4}"/>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2177988180"/>
      </p:ext>
    </p:extLst>
  </p:cSld>
  <p:clrMapOvr>
    <a:masterClrMapping/>
  </p:clrMapOvr>
</p:sld>
</file>

<file path=ppt/theme/theme1.xml><?xml version="1.0" encoding="utf-8"?>
<a:theme xmlns:a="http://schemas.openxmlformats.org/drawingml/2006/main" name="Office Theme">
  <a:themeElements>
    <a:clrScheme name="BLS">
      <a:dk1>
        <a:sysClr val="windowText" lastClr="000000"/>
      </a:dk1>
      <a:lt1>
        <a:sysClr val="window" lastClr="FFFFFF"/>
      </a:lt1>
      <a:dk2>
        <a:srgbClr val="1F497D"/>
      </a:dk2>
      <a:lt2>
        <a:srgbClr val="EEECE1"/>
      </a:lt2>
      <a:accent1>
        <a:srgbClr val="215968"/>
      </a:accent1>
      <a:accent2>
        <a:srgbClr val="A17D3D"/>
      </a:accent2>
      <a:accent3>
        <a:srgbClr val="AC1D3F"/>
      </a:accent3>
      <a:accent4>
        <a:srgbClr val="162A4C"/>
      </a:accent4>
      <a:accent5>
        <a:srgbClr val="A6A6A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143325</TotalTime>
  <Words>5522</Words>
  <Application>Microsoft Office PowerPoint</Application>
  <PresentationFormat>On-screen Show (4:3)</PresentationFormat>
  <Paragraphs>272</Paragraphs>
  <Slides>14</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Aharoni</vt:lpstr>
      <vt:lpstr>Arial</vt:lpstr>
      <vt:lpstr>BLS</vt:lpstr>
      <vt:lpstr>BLS Bold</vt:lpstr>
      <vt:lpstr>BLS Condensed</vt:lpstr>
      <vt:lpstr>BLS Condensed </vt:lpstr>
      <vt:lpstr>BLS Condensed Bold</vt:lpstr>
      <vt:lpstr>BLS Text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sfsdfds</dc:title>
  <dc:creator>Nuttimas Akarapanuvitaya</dc:creator>
  <cp:lastModifiedBy>Piriyapon Kongvanich</cp:lastModifiedBy>
  <cp:revision>4561</cp:revision>
  <cp:lastPrinted>2024-11-19T12:54:25Z</cp:lastPrinted>
  <dcterms:created xsi:type="dcterms:W3CDTF">2019-01-16T11:18:39Z</dcterms:created>
  <dcterms:modified xsi:type="dcterms:W3CDTF">2026-03-23T13:09:29Z</dcterms:modified>
</cp:coreProperties>
</file>